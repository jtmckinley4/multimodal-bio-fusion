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8e05c2c3ab409a" Type="http://schemas.openxmlformats.org/officeDocument/2006/relationships/officeDocument" Target="ppt/presentation.xml"/><Relationship Id="Rc07cc8163c264db7" Type="http://schemas.openxmlformats.org/officeDocument/2006/relationships/extended-properties" Target="docProps/app.xml"/><Relationship Id="Rea83520a97974f13"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57723644659e4a85"/>
  </p:sldMasterIdLst>
  <p:notesMasterIdLst>
    <p:notesMasterId xmlns:r="http://schemas.openxmlformats.org/officeDocument/2006/relationships" r:id="Rd080156eba934ca8"/>
  </p:notesMasterIdLst>
  <p:sldIdLst>
    <p:sldId xmlns:r="http://schemas.openxmlformats.org/officeDocument/2006/relationships" id="256" r:id="Rf66942e1fd034df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cb3ab3c72a542c1" Type="http://schemas.openxmlformats.org/officeDocument/2006/relationships/theme" Target="theme/theme1.xml"/><Relationship Id="R57723644659e4a85" Type="http://schemas.openxmlformats.org/officeDocument/2006/relationships/slideMaster" Target="slideMasters/slideMaster1.xml"/><Relationship Id="R7671dbd8de444995" Type="http://schemas.openxmlformats.org/officeDocument/2006/relationships/tableStyles" Target="tableStyles.xml"/><Relationship Id="R89e992a9b87f43fb" Type="http://schemas.openxmlformats.org/officeDocument/2006/relationships/viewProps" Target="viewProps.xml"/><Relationship Id="Rd080156eba934ca8" Type="http://schemas.openxmlformats.org/officeDocument/2006/relationships/notesMaster" Target="notesMasters/notesMaster1.xml"/><Relationship Id="Re9dbfbab44844740" Type="http://schemas.openxmlformats.org/officeDocument/2006/relationships/presProps" Target="presProps.xml"/><Relationship Id="Rf66942e1fd034df0"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b10ff31b5690482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7b06b97763248d5" Type="http://schemas.openxmlformats.org/officeDocument/2006/relationships/slide" Target="../slides/slide1.xml"/><Relationship Id="Ra8262587a47a4c6d"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scope</a:t>
            </a:r>
          </a:p>
          <a:p xmlns:a="http://schemas.openxmlformats.org/drawingml/2006/main">
            <a:r>
              <a:t>The project studies how to choose biological inputs and pretrained models, and when and how fusion is useful. The first case study concerns mRNA-stability prediction. The current nucleotide encoder is DNA-pretrained Nucleotide Transformer 500M human reference. Its paired protein sequence is obtained by translation; it is not an independent measurement of protein abundance. Additional RNA encoders are a proposed extension, not the current baseline.</a:t>
            </a:r>
          </a:p>
          <a:p xmlns:a="http://schemas.openxmlformats.org/drawingml/2006/main">
            <a:r>
              <a:t/>
            </a:r>
          </a:p>
          <a:p xmlns:a="http://schemas.openxmlformats.org/drawingml/2006/main">
            <a:r>
              <a:t>Research questions and experimental interpretation</a:t>
            </a:r>
          </a:p>
          <a:p xmlns:a="http://schemas.openxmlformats.org/drawingml/2006/main">
            <a:r>
              <a:t>The six questions connect a working definition of alignment, relationships across representations, useful encoder layers, complementarity among RNA encoders, fusion comparisons and biological use cases. These synthesize project discussions and Mina's directions; they are not verbatim quotations from her. The expanded research questions and proposed next experiments await explicit approval from Mina Basirat, our research advisor.</a:t>
            </a:r>
          </a:p>
          <a:p xmlns:a="http://schemas.openxmlformats.org/drawingml/2006/main">
            <a:r>
              <a:t/>
            </a:r>
          </a:p>
          <a:p xmlns:a="http://schemas.openxmlformats.org/drawingml/2006/main">
            <a:r>
              <a:t>The earlier-layer hypothesis is proposed for testing, not a result. Before the comparison, define the predictive metric, acceptable tolerance, data split, layer-selection procedure and uncertainty analysis. Select layers using training/validation data and reserve the test set for final evaluation. Matching final-layer predictive performance would support use of an earlier representation for this task. A claim of computational savings additionally requires stopping encoder computation at the selected layer and measuring actual runtime and memory; extracting an earlier representation after a full forward pass does not establish those savings.</a:t>
            </a:r>
          </a:p>
          <a:p xmlns:a="http://schemas.openxmlformats.org/drawingml/2006/main">
            <a:r>
              <a:t/>
            </a:r>
          </a:p>
          <a:p xmlns:a="http://schemas.openxmlformats.org/drawingml/2006/main">
            <a:r>
              <a:t>PCA and variance-direction analyses support the questions about representation relationships and layer utility. Similarity, retrieval and predictive probes answer different questions; similarity alone does not establish useful information for a biological task or a fusion gain. Comparisons of encoder and tokenization choices should account for architecture, pretraining data, objectives and model size. Swapping a complete encoder does not isolate a tokenization effect.</a:t>
            </a:r>
          </a:p>
          <a:p xmlns:a="http://schemas.openxmlformats.org/drawingml/2006/main">
            <a:r>
              <a:t/>
            </a:r>
          </a:p>
          <a:p xmlns:a="http://schemas.openxmlformats.org/drawingml/2006/main">
            <a:r>
              <a:t>Methods and priorities</a:t>
            </a:r>
          </a:p>
          <a:p xmlns:a="http://schemas.openxmlformats.org/drawingml/2006/main">
            <a:r>
              <a:t>Coupled Mamba is the architecture priority recorded in the project, with cross-attention and concatenation plus MLP providing comparisons. BioLangFusion supplies methodology to adapt and test on this use case. Compare models using matched data, splits, tuning conditions and evaluation metrics, while recording seeds, checkpoint versions, runs, uncertainty and computational cost. Same-modality RNA fusion should be compared with the strongest constituent encoder. Other long-sequence architectures, including the Hyena direction mentioned in the meeting, are lower-priority extensions. The exact architecture intended by the meeting note 'hyena couple model' still needs clarification.</a:t>
            </a:r>
          </a:p>
          <a:p xmlns:a="http://schemas.openxmlformats.org/drawingml/2006/main">
            <a:r>
              <a:t/>
            </a:r>
          </a:p>
          <a:p xmlns:a="http://schemas.openxmlformats.org/drawingml/2006/main">
            <a:r>
              <a:t>Current status and next review</a:t>
            </a:r>
          </a:p>
          <a:p xmlns:a="http://schemas.openxmlformats.org/drawingml/2006/main">
            <a:r>
              <a:t>The team completed the initial six-paper review by September 21, 2026. Further reading and discussion continue alongside Stage 1 interpretation. Exploratory notebooks contain predictive probes, representation comparisons and a synonymous-sequence control; producing runs and evaluation assumptions remain under review. Stage 1 manuscript writing has begun in Overleaf, according to the team's update. The October 5 review is intended to refine the working definition of alignment and agree on subsequent experiments. These canvas updates do not change or validate notebook results.</a:t>
            </a:r>
          </a:p>
          <a:p xmlns:a="http://schemas.openxmlformats.org/drawingml/2006/main">
            <a:r>
              <a:t/>
            </a:r>
          </a:p>
          <a:p xmlns:a="http://schemas.openxmlformats.org/drawingml/2006/main">
            <a:r>
              <a:t>Primary readings</a:t>
            </a:r>
          </a:p>
          <a:p xmlns:a="http://schemas.openxmlformats.org/drawingml/2006/main">
            <a:r>
              <a:t>IsoFormer: https://proceedings.neurips.cc/paper_files/paper/2024/hash/8f6b3692297e49e5d5c91ba00281379c-Abstract-Conference.html</a:t>
            </a:r>
          </a:p>
          <a:p xmlns:a="http://schemas.openxmlformats.org/drawingml/2006/main">
            <a:r>
              <a:t>BioLangFusion version 1: https://arxiv.org/abs/2506.08936v1</a:t>
            </a:r>
          </a:p>
          <a:p xmlns:a="http://schemas.openxmlformats.org/drawingml/2006/main">
            <a:r>
              <a:t>Coupled Mamba: https://proceedings.neurips.cc/paper_files/paper/2024/hash/6e09c213ac18d6375704a4f3ea75c4f8-Abstract-Conference.html</a:t>
            </a:r>
          </a:p>
          <a:p xmlns:a="http://schemas.openxmlformats.org/drawingml/2006/main">
            <a:r>
              <a:t>Alignment: https://proceedings.mlr.press/v267/tjandrasuwita25a.html</a:t>
            </a:r>
          </a:p>
          <a:p xmlns:a="http://schemas.openxmlformats.org/drawingml/2006/main">
            <a:r>
              <a:t>LucaOne: https://www.nature.com/articles/s42256-025-01044-4</a:t>
            </a:r>
          </a:p>
          <a:p xmlns:a="http://schemas.openxmlformats.org/drawingml/2006/main">
            <a:r>
              <a:t>Central Dogma Transformer version 2: https://arxiv.org/abs/2601.01089v2</a:t>
            </a:r>
          </a:p>
          <a:p xmlns:a="http://schemas.openxmlformats.org/drawingml/2006/main">
            <a:r>
              <a:t>Nucleotide Transformer: https://doi.org/10.1038/s41592-024-02523-z</a:t>
            </a:r>
          </a:p>
          <a:p xmlns:a="http://schemas.openxmlformats.org/drawingml/2006/main">
            <a:r>
              <a:t>ESM-2: https://doi.org/10.1126/science.ade2574</a:t>
            </a:r>
          </a:p>
          <a:p xmlns:a="http://schemas.openxmlformats.org/drawingml/2006/main">
            <a:r>
              <a:t>Dataset source: https://github.com/Sanofi-Public/CodonBERT/tree/master/benchmarks/CodonBERT/data/fine-tune</a:t>
            </a:r>
          </a:p>
          <a:p xmlns:a="http://schemas.openxmlformats.org/drawingml/2006/main">
            <a:r>
              <a:t/>
            </a:r>
          </a:p>
          <a:p xmlns:a="http://schemas.openxmlformats.org/drawingml/2006/main">
            <a:r>
              <a:t>Course context and AI assistance</a:t>
            </a:r>
          </a:p>
          <a:p xmlns:a="http://schemas.openxmlformats.org/drawingml/2006/main">
            <a:r>
              <a:t>The course Research Canvas template supplies the nine fields. The annotated bibliography provides fuller source summaries and limitations. OpenAI Codex assisted with wording and PowerPoint layout, using project records, course materials and cited papers for source checks. Structural and visual checks were used to inspect the document's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d97453d580e417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ec61d3a31bb44c9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18a8f6fee9b464e"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7054d4e600d4dc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642c8c4fb794c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f768650dcb444f6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8005e40a189f48c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a477073931454d1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b1ee70bef9dc4dfa"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4e8a9dc24adc474a"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e3aa6662c760489a"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4B1E8-E950-777D-E42E-6F26AF04BE72}"/>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F6B179EA-F4BB-DF50-1A36-814785FA3B0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50E2911-6BBE-071F-6B9B-E598D83A7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B35CD71-1D5B-4A16-51A6-04F7AE0AC4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8DB30E6-5586-E36D-D372-8D882E8ED4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453FAD-6C6F-D30F-0F82-FD120A6548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A13DE71-C511-5162-5A83-B5AB83E8019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F2FB2E7-004C-CDE9-5AF9-AB0F3BB38A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8980B719-25FB-908F-4C67-C014BF8EA4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C3A2B5-4142-13AF-EBFA-4B0AE74499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D17283-6B38-C7A5-51F4-925433604363}"/>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CE0A726-3B81-0B2C-6D36-D71495F54BC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0D5DA7E-6B60-3E09-311F-F29CC5E696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409F4E8-949B-69D4-8522-8B9575BE91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223135-A8B4-5F4B-34AC-F95EFD7417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B40313-8C95-156A-82CC-53E9F607838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0EDC11B-5BF6-1851-7C7F-621A6704743A}"/>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F257003-C7E5-F79F-C112-7D50781F684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635EAD2-5CB0-F889-98D9-BDDB98F3E4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D59CB0B5-DA34-5D72-3AD8-CD48ED0419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1210E1E-564B-17BD-FD4B-1E57C0A404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694264-0A45-0B15-BB82-CE693DEFD3C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47CB3BB-B5BA-1D4E-1F34-414E792257B6}"/>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D12B126-6775-E3FB-95F1-1669DA8192C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F264021-07B0-2AAC-C295-187824214CA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BF80AEA-1B15-B276-2269-C0126131E96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7317DD9-E80F-ADFA-6863-90429A8F26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8" name="Footer Placeholder 7">
            <a:extLst xmlns:a="http://schemas.openxmlformats.org/drawingml/2006/main">
              <a:ext uri="{FF2B5EF4-FFF2-40B4-BE49-F238E27FC236}">
                <a16:creationId xmlns:a16="http://schemas.microsoft.com/office/drawing/2014/main" id="{C206FA72-E5FB-FF41-F347-3FCB25D61C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DE95DC7-1109-3B16-5125-C780D49FA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F6F11B-0B68-A9F7-55B3-75EEAD6FE6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E0686970-D915-1F3D-49FC-C9C50B1347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4" name="Footer Placeholder 3">
            <a:extLst xmlns:a="http://schemas.openxmlformats.org/drawingml/2006/main">
              <a:ext uri="{FF2B5EF4-FFF2-40B4-BE49-F238E27FC236}">
                <a16:creationId xmlns:a16="http://schemas.microsoft.com/office/drawing/2014/main" id="{93D1DB21-0F53-D662-FB7C-DD4B101AB5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9695F53-55C4-D52C-A988-B928A3C98A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9838273-693A-8F83-B9D3-D8ACEE1FC3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3" name="Footer Placeholder 2">
            <a:extLst xmlns:a="http://schemas.openxmlformats.org/drawingml/2006/main">
              <a:ext uri="{FF2B5EF4-FFF2-40B4-BE49-F238E27FC236}">
                <a16:creationId xmlns:a16="http://schemas.microsoft.com/office/drawing/2014/main" id="{9483FD30-02D0-3D20-0BF4-E018CB2B7A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CCA1EDA-366B-85F2-531D-290262F206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214729-E748-CBFF-F458-8D5D0422F3A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B6727A2-212B-C5C2-CEC1-F4354FB0DD9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02A3206-FB5E-A4D9-9D56-81A04DC0A58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0868DE-ED70-7E9D-EA16-3C781063FE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5A12F0BB-67F9-F2FC-4207-CE48A5B2C0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244251-0019-92E4-7FF7-4BB7FEDC98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2C9F55-5C5A-B40C-3E11-B7A35E523D2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560B6BB-018C-BA63-F95D-6E02A6920318}"/>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D5C1E0A-CA15-D689-689F-5216BECFF22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93735A6-3EC6-EA5E-846C-E89003505D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3CC4E9FE-AD13-26EF-5E2E-D7D6622453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D7081F-8940-C661-E04A-F7EA1AA63D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C28D3C-C043-658A-46EE-BFEF55B5D9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1E00483-CD2C-E887-32E6-E90BE549CE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702355-3C0D-39A3-800A-1B21F92C54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EF8A2A9-1ECF-DCBC-4B5F-FE2B2B52C8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2A7C487-C88C-738B-4BBD-71AF63E4B2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D3EEB3-01FF-4ED5-BBAD-EB8EE9FC1C8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66D1942-B64B-3C43-8D3F-01FD3D257F5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75E6809-71F7-7A01-E5D7-2BA083C1BA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98B39588-2898-9E31-6BB9-1AB272CDF5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104869-4D2A-8FBA-678F-85A34F890B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Masters/_rels/slideMaster1.xml.rels><?xml version='1.0' encoding='UTF-8' standalone='yes'?>
<Relationships xmlns="http://schemas.openxmlformats.org/package/2006/relationships"><Relationship Id="R096ba37196064a27" Type="http://schemas.openxmlformats.org/officeDocument/2006/relationships/slideLayout" Target="../slideLayouts/slideLayout6.xml"/><Relationship Id="R2a47db5b640a4811" Type="http://schemas.openxmlformats.org/officeDocument/2006/relationships/slideLayout" Target="../slideLayouts/slideLayout11.xml"/><Relationship Id="R388ea93bea284894" Type="http://schemas.openxmlformats.org/officeDocument/2006/relationships/slideLayout" Target="../slideLayouts/slideLayout5.xml"/><Relationship Id="R5b4599510eb94584" Type="http://schemas.openxmlformats.org/officeDocument/2006/relationships/slideLayout" Target="../slideLayouts/slideLayout3.xml"/><Relationship Id="R77e490524746430a" Type="http://schemas.openxmlformats.org/officeDocument/2006/relationships/slideLayout" Target="../slideLayouts/slideLayout4.xml"/><Relationship Id="R848a3fbc34844282" Type="http://schemas.openxmlformats.org/officeDocument/2006/relationships/theme" Target="theme/theme2.xml"/><Relationship Id="R96292efc588540da" Type="http://schemas.openxmlformats.org/officeDocument/2006/relationships/slideLayout" Target="../slideLayouts/slideLayout8.xml"/><Relationship Id="R98616cd690b440f9" Type="http://schemas.openxmlformats.org/officeDocument/2006/relationships/slideLayout" Target="../slideLayouts/slideLayout1.xml"/><Relationship Id="Ra75acde6c95648cb" Type="http://schemas.openxmlformats.org/officeDocument/2006/relationships/slideLayout" Target="../slideLayouts/slideLayout2.xml"/><Relationship Id="Rac357f72795a477e" Type="http://schemas.openxmlformats.org/officeDocument/2006/relationships/slideLayout" Target="../slideLayouts/slideLayout9.xml"/><Relationship Id="Rd71927fbcd7144f5" Type="http://schemas.openxmlformats.org/officeDocument/2006/relationships/slideLayout" Target="../slideLayouts/slideLayout10.xml"/><Relationship Id="Rfa01a3427d5a4cfe" Type="http://schemas.openxmlformats.org/officeDocument/2006/relationships/slideLayout" Target="../slideLayouts/slideLayout7.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C2991F6-0DDA-D3AB-868C-50039F89425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A1C33D1-37FD-391D-E5CC-755923B6B72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0935B66-9806-E07C-0BE2-AF6AB1197C3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FB631A9-17C3-88E9-8097-D02CB247F02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737C3B-DA5D-401A-FB4B-DE760204231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7AB5D3F-E013-4628-A6EB-1353171E182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616cd690b440f9"/>
    <p:sldLayoutId xmlns:r="http://schemas.openxmlformats.org/officeDocument/2006/relationships" id="2147483650" r:id="Ra75acde6c95648cb"/>
    <p:sldLayoutId xmlns:r="http://schemas.openxmlformats.org/officeDocument/2006/relationships" id="2147483651" r:id="R5b4599510eb94584"/>
    <p:sldLayoutId xmlns:r="http://schemas.openxmlformats.org/officeDocument/2006/relationships" id="2147483652" r:id="R77e490524746430a"/>
    <p:sldLayoutId xmlns:r="http://schemas.openxmlformats.org/officeDocument/2006/relationships" id="2147483653" r:id="R388ea93bea284894"/>
    <p:sldLayoutId xmlns:r="http://schemas.openxmlformats.org/officeDocument/2006/relationships" id="2147483654" r:id="R096ba37196064a27"/>
    <p:sldLayoutId xmlns:r="http://schemas.openxmlformats.org/officeDocument/2006/relationships" id="2147483655" r:id="Rfa01a3427d5a4cfe"/>
    <p:sldLayoutId xmlns:r="http://schemas.openxmlformats.org/officeDocument/2006/relationships" id="2147483656" r:id="R96292efc588540da"/>
    <p:sldLayoutId xmlns:r="http://schemas.openxmlformats.org/officeDocument/2006/relationships" id="2147483657" r:id="Rac357f72795a477e"/>
    <p:sldLayoutId xmlns:r="http://schemas.openxmlformats.org/officeDocument/2006/relationships" id="2147483658" r:id="Rd71927fbcd7144f5"/>
    <p:sldLayoutId xmlns:r="http://schemas.openxmlformats.org/officeDocument/2006/relationships" id="2147483659" r:id="R2a47db5b640a481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2eda10fd1234533" Type="http://schemas.openxmlformats.org/officeDocument/2006/relationships/notesSlide" Target="../notesSlides/notesSlide1.xml"/><Relationship Id="Rb453c64eab614121" Type="http://schemas.openxmlformats.org/officeDocument/2006/relationships/slideLayout" Target="../slideLayouts/slideLayout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Google Shape;109;p2"/>
          <p:cNvGraphicFramePr/>
          <p:nvPr/>
        </p:nvGraphicFramePr>
        <p:xfrm>
          <a:off xmlns:a="http://schemas.openxmlformats.org/drawingml/2006/main" x="316522" y="201336"/>
          <a:ext xmlns:a="http://schemas.openxmlformats.org/drawingml/2006/main" cx="11558956" cy="6520139"/>
        </p:xfrm>
        <a:graphic xmlns:a="http://schemas.openxmlformats.org/drawingml/2006/main">
          <a:graphicData uri="http://schemas.openxmlformats.org/drawingml/2006/table">
            <a:tbl>
              <a:tblPr firstRow="1" bandRow="1"/>
              <a:tblGrid>
                <a:gridCol w="2266119"/>
                <a:gridCol w="3814939"/>
                <a:gridCol w="2214891"/>
                <a:gridCol w="2319628"/>
                <a:gridCol w="943379"/>
              </a:tblGrid>
              <a:tr h="2782778">
                <a:tc rowSpan="2">
                  <a:txBody>
                    <a:bodyPr wrap="square">
                      <a:noAutofit/>
                    </a:bodyPr>
                    <a:lstStyle/>
                    <a:p>
                      <a:pPr algn="l">
                        <a:spcBef>
                          <a:spcPts val="0"/>
                        </a:spcBef>
                        <a:spcAft>
                          <a:spcPts val="350"/>
                        </a:spcAft>
                        <a:buNone/>
                      </a:pPr>
                      <a:r>
                        <a:rPr sz="850" b="1">
                          <a:solidFill>
                            <a:srgbClr val="000000"/>
                          </a:solidFill>
                          <a:latin typeface="Calibri"/>
                          <a:ea typeface="Calibri"/>
                          <a:cs typeface="Calibri"/>
                        </a:rPr>
                        <a:t>Key Literature</a:t>
                      </a:r>
                    </a:p>
                    <a:p>
                      <a:pPr algn="l">
                        <a:spcBef>
                          <a:spcPts val="200"/>
                        </a:spcBef>
                        <a:spcAft>
                          <a:spcPts val="200"/>
                        </a:spcAft>
                        <a:buNone/>
                      </a:pPr>
                      <a:r>
                        <a:rPr sz="850" b="0">
                          <a:solidFill>
                            <a:srgbClr val="000000"/>
                          </a:solidFill>
                          <a:latin typeface="Calibri"/>
                          <a:ea typeface="Calibri"/>
                          <a:cs typeface="Calibri"/>
                        </a:rPr>
                        <a:t>Dalla-Torre et al. (2025), Nucleotide Transformer; Lin et al. (2023), ESM-2: provenance of our frozen encoders.</a:t>
                      </a:r>
                    </a:p>
                    <a:p>
                      <a:pPr algn="l">
                        <a:spcBef>
                          <a:spcPts val="200"/>
                        </a:spcBef>
                        <a:spcAft>
                          <a:spcPts val="200"/>
                        </a:spcAft>
                        <a:buNone/>
                      </a:pPr>
                      <a:r>
                        <a:rPr sz="850" b="0">
                          <a:solidFill>
                            <a:srgbClr val="000000"/>
                          </a:solidFill>
                          <a:latin typeface="Calibri"/>
                          <a:ea typeface="Calibri"/>
                          <a:cs typeface="Calibri"/>
                        </a:rPr>
                        <a:t>Mollaysa et al. (2025), BioLangFusion v1: frozen, position-aware fusion; preprint.</a:t>
                      </a:r>
                    </a:p>
                    <a:p>
                      <a:pPr algn="l">
                        <a:spcBef>
                          <a:spcPts val="200"/>
                        </a:spcBef>
                        <a:spcAft>
                          <a:spcPts val="200"/>
                        </a:spcAft>
                        <a:buNone/>
                      </a:pPr>
                      <a:r>
                        <a:rPr sz="850" b="0">
                          <a:solidFill>
                            <a:srgbClr val="000000"/>
                          </a:solidFill>
                          <a:latin typeface="Calibri"/>
                          <a:ea typeface="Calibri"/>
                          <a:cs typeface="Calibri"/>
                        </a:rPr>
                        <a:t>Garau-Luis et al. (2024), IsoFormer: multimodal cross-attention and fine-tuning.</a:t>
                      </a:r>
                    </a:p>
                    <a:p>
                      <a:pPr algn="l">
                        <a:spcBef>
                          <a:spcPts val="200"/>
                        </a:spcBef>
                        <a:spcAft>
                          <a:spcPts val="200"/>
                        </a:spcAft>
                        <a:buNone/>
                      </a:pPr>
                      <a:r>
                        <a:rPr sz="850" b="0">
                          <a:solidFill>
                            <a:srgbClr val="000000"/>
                          </a:solidFill>
                          <a:latin typeface="Calibri"/>
                          <a:ea typeface="Calibri"/>
                          <a:cs typeface="Calibri"/>
                        </a:rPr>
                        <a:t>Li et al. (2024), Coupled Mamba: coupled state-space fusion; our architecture priority.</a:t>
                      </a:r>
                    </a:p>
                    <a:p>
                      <a:pPr algn="l">
                        <a:spcBef>
                          <a:spcPts val="200"/>
                        </a:spcBef>
                        <a:spcAft>
                          <a:spcPts val="200"/>
                        </a:spcAft>
                        <a:buNone/>
                      </a:pPr>
                      <a:r>
                        <a:rPr sz="850" b="0">
                          <a:solidFill>
                            <a:srgbClr val="000000"/>
                          </a:solidFill>
                          <a:latin typeface="Calibri"/>
                          <a:ea typeface="Calibri"/>
                          <a:cs typeface="Calibri"/>
                        </a:rPr>
                        <a:t>Tjandrasuwita et al. (2025): alignment, task information and predictive performance.</a:t>
                      </a:r>
                    </a:p>
                    <a:p>
                      <a:pPr algn="l">
                        <a:spcBef>
                          <a:spcPts val="200"/>
                        </a:spcBef>
                        <a:spcAft>
                          <a:spcPts val="200"/>
                        </a:spcAft>
                        <a:buNone/>
                      </a:pPr>
                      <a:r>
                        <a:rPr sz="850" b="0">
                          <a:solidFill>
                            <a:srgbClr val="000000"/>
                          </a:solidFill>
                          <a:latin typeface="Calibri"/>
                          <a:ea typeface="Calibri"/>
                          <a:cs typeface="Calibri"/>
                        </a:rPr>
                        <a:t>He et al. (2025), LucaOne: unified nucleic-acid/protein pretraining.</a:t>
                      </a:r>
                    </a:p>
                    <a:p>
                      <a:pPr algn="l">
                        <a:spcBef>
                          <a:spcPts val="200"/>
                        </a:spcBef>
                        <a:spcAft>
                          <a:spcPts val="200"/>
                        </a:spcAft>
                        <a:buNone/>
                      </a:pPr>
                      <a:r>
                        <a:rPr sz="850" b="0">
                          <a:solidFill>
                            <a:srgbClr val="000000"/>
                          </a:solidFill>
                          <a:latin typeface="Calibri"/>
                          <a:ea typeface="Calibri"/>
                          <a:cs typeface="Calibri"/>
                        </a:rPr>
                        <a:t>Ota (2026), Central Dogma Transformer v2: directional fusion; preprint.</a:t>
                      </a:r>
                    </a:p>
                    <a:p>
                      <a:pPr algn="l">
                        <a:spcBef>
                          <a:spcPts val="200"/>
                        </a:spcBef>
                        <a:spcAft>
                          <a:spcPts val="200"/>
                        </a:spcAft>
                        <a:buNone/>
                      </a:pPr>
                      <a:r>
                        <a:rPr sz="850" b="0">
                          <a:solidFill>
                            <a:srgbClr val="000000"/>
                          </a:solidFill>
                          <a:latin typeface="Calibri"/>
                          <a:ea typeface="Calibri"/>
                          <a:cs typeface="Calibri"/>
                        </a:rPr>
                        <a:t>Full references and limitations appear in our annotated bibliography.</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a:txBody>
                    <a:bodyPr wrap="square">
                      <a:noAutofit/>
                    </a:bodyPr>
                    <a:lstStyle/>
                    <a:p>
                      <a:pPr algn="l">
                        <a:spcBef>
                          <a:spcPts val="0"/>
                        </a:spcBef>
                        <a:spcAft>
                          <a:spcPts val="350"/>
                        </a:spcAft>
                      </a:pPr>
                      <a:r>
                        <a:rPr sz="950" b="1">
                          <a:solidFill>
                            <a:srgbClr val="000000"/>
                          </a:solidFill>
                          <a:latin typeface="Calibri"/>
                          <a:ea typeface="Calibri"/>
                          <a:cs typeface="Calibri"/>
                        </a:rPr>
                        <a:t>Relevance / Significance</a:t>
                      </a:r>
                    </a:p>
                    <a:p>
                      <a:pPr algn="l">
                        <a:spcBef>
                          <a:spcPts val="200"/>
                        </a:spcBef>
                        <a:spcAft>
                          <a:spcPts val="200"/>
                        </a:spcAft>
                      </a:pPr>
                      <a:r>
                        <a:rPr sz="950" b="0">
                          <a:solidFill>
                            <a:srgbClr val="000000"/>
                          </a:solidFill>
                          <a:latin typeface="Calibri"/>
                          <a:ea typeface="Calibri"/>
                          <a:cs typeface="Calibri"/>
                        </a:rPr>
                        <a:t>Our broader aim is to develop a method for choosing biological inputs and pretrained models, then deciding when and how combining their representations is useful.</a:t>
                      </a:r>
                    </a:p>
                    <a:p>
                      <a:pPr algn="l">
                        <a:spcBef>
                          <a:spcPts val="200"/>
                        </a:spcBef>
                        <a:spcAft>
                          <a:spcPts val="200"/>
                        </a:spcAft>
                      </a:pPr>
                      <a:r>
                        <a:rPr sz="950" b="0">
                          <a:solidFill>
                            <a:srgbClr val="000000"/>
                          </a:solidFill>
                          <a:latin typeface="Calibri"/>
                          <a:ea typeface="Calibri"/>
                          <a:cs typeface="Calibri"/>
                        </a:rPr>
                        <a:t>We compare twelve frozen DNA, RNA and protein encoders, four per modality, on mRNA stability, where every input derives from one coding sequence, and on GTEx transcript expression, where DNA, transcript and protein are distinct inputs. Frozen encoders let us investigate reusable features without retraining the foundation models.</a:t>
                      </a:r>
                    </a:p>
                    <a:p>
                      <a:pPr algn="l">
                        <a:spcBef>
                          <a:spcPts val="200"/>
                        </a:spcBef>
                        <a:spcAft>
                          <a:spcPts val="200"/>
                        </a:spcAft>
                      </a:pPr>
                      <a:r>
                        <a:rPr sz="950" b="0">
                          <a:solidFill>
                            <a:srgbClr val="000000"/>
                          </a:solidFill>
                          <a:latin typeface="Calibri"/>
                          <a:ea typeface="Calibri"/>
                          <a:cs typeface="Calibri"/>
                        </a:rPr>
                        <a:t>The intended practical use is to help a research team select models for a defined biological prediction task and prioritize sequences for later laboratory testing. Further case studies would test how well the approach transfers.</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rowSpan="2">
                  <a:txBody>
                    <a:bodyPr wrap="square">
                      <a:noAutofit/>
                    </a:bodyPr>
                    <a:lstStyle/>
                    <a:p>
                      <a:pPr algn="l">
                        <a:spcBef>
                          <a:spcPts val="0"/>
                        </a:spcBef>
                        <a:spcAft>
                          <a:spcPts val="350"/>
                        </a:spcAft>
                      </a:pPr>
                      <a:r>
                        <a:rPr sz="900" b="1">
                          <a:solidFill>
                            <a:srgbClr val="000000"/>
                          </a:solidFill>
                          <a:latin typeface="Calibri"/>
                          <a:ea typeface="Calibri"/>
                          <a:cs typeface="Calibri"/>
                        </a:rPr>
                        <a:t>Research Questions / Hypotheses</a:t>
                      </a:r>
                    </a:p>
                    <a:p>
                      <a:pPr algn="l">
                        <a:spcBef>
                          <a:spcPts val="200"/>
                        </a:spcBef>
                        <a:spcAft>
                          <a:spcPts val="200"/>
                        </a:spcAft>
                      </a:pPr>
                      <a:r>
                        <a:rPr sz="900" b="0">
                          <a:solidFill>
                            <a:srgbClr val="000000"/>
                          </a:solidFill>
                          <a:latin typeface="Calibri"/>
                          <a:ea typeface="Calibri"/>
                          <a:cs typeface="Calibri"/>
                        </a:rPr>
                        <a:t>RQ1: What should alignment mean for biological foundation models, and how should it be measured?</a:t>
                      </a:r>
                    </a:p>
                    <a:p>
                      <a:pPr algn="l">
                        <a:spcBef>
                          <a:spcPts val="200"/>
                        </a:spcBef>
                        <a:spcAft>
                          <a:spcPts val="200"/>
                        </a:spcAft>
                      </a:pPr>
                      <a:r>
                        <a:rPr sz="900" b="0">
                          <a:solidFill>
                            <a:srgbClr val="000000"/>
                          </a:solidFill>
                          <a:latin typeface="Calibri"/>
                          <a:ea typeface="Calibri"/>
                          <a:cs typeface="Calibri"/>
                        </a:rPr>
                        <a:t>RQ2: Which biologically relevant relationships can representations recover across modalities?</a:t>
                      </a:r>
                    </a:p>
                    <a:p>
                      <a:pPr algn="l">
                        <a:spcBef>
                          <a:spcPts val="200"/>
                        </a:spcBef>
                        <a:spcAft>
                          <a:spcPts val="200"/>
                        </a:spcAft>
                      </a:pPr>
                      <a:r>
                        <a:rPr sz="900" b="0">
                          <a:solidFill>
                            <a:srgbClr val="000000"/>
                          </a:solidFill>
                          <a:latin typeface="Calibri"/>
                          <a:ea typeface="Calibri"/>
                          <a:cs typeface="Calibri"/>
                        </a:rPr>
                        <a:t>RQ3: Which encoder layers support useful prediction and fusion, and is full depth necessary?</a:t>
                      </a:r>
                    </a:p>
                    <a:p>
                      <a:pPr algn="l">
                        <a:spcBef>
                          <a:spcPts val="200"/>
                        </a:spcBef>
                        <a:spcAft>
                          <a:spcPts val="200"/>
                        </a:spcAft>
                      </a:pPr>
                      <a:r>
                        <a:rPr sz="900" b="0">
                          <a:solidFill>
                            <a:srgbClr val="000000"/>
                          </a:solidFill>
                          <a:latin typeface="Calibri"/>
                          <a:ea typeface="Calibri"/>
                          <a:cs typeface="Calibri"/>
                        </a:rPr>
                        <a:t>RQ4: Can combining several DNA, RNA or protein models improve prediction over the strongest individual model?</a:t>
                      </a:r>
                    </a:p>
                    <a:p>
                      <a:pPr algn="l">
                        <a:spcBef>
                          <a:spcPts val="200"/>
                        </a:spcBef>
                        <a:spcAft>
                          <a:spcPts val="200"/>
                        </a:spcAft>
                      </a:pPr>
                      <a:r>
                        <a:rPr sz="900" b="0">
                          <a:solidFill>
                            <a:srgbClr val="000000"/>
                          </a:solidFill>
                          <a:latin typeface="Calibri"/>
                          <a:ea typeface="Calibri"/>
                          <a:cs typeface="Calibri"/>
                        </a:rPr>
                        <a:t>RQ5: How do Coupled Mamba and cross-attention compare with simple fusion in performance and computational cost?</a:t>
                      </a:r>
                    </a:p>
                    <a:p>
                      <a:pPr algn="l">
                        <a:spcBef>
                          <a:spcPts val="200"/>
                        </a:spcBef>
                        <a:spcAft>
                          <a:spcPts val="200"/>
                        </a:spcAft>
                      </a:pPr>
                      <a:r>
                        <a:rPr sz="900" b="0">
                          <a:solidFill>
                            <a:srgbClr val="000000"/>
                          </a:solidFill>
                          <a:latin typeface="Calibri"/>
                          <a:ea typeface="Calibri"/>
                          <a:cs typeface="Calibri"/>
                        </a:rPr>
                        <a:t>RQ6: Which biological inputs and model combinations best support a defined laboratory prediction or sequence-design task?</a:t>
                      </a:r>
                    </a:p>
                    <a:p>
                      <a:pPr algn="l">
                        <a:spcBef>
                          <a:spcPts val="200"/>
                        </a:spcBef>
                        <a:spcAft>
                          <a:spcPts val="200"/>
                        </a:spcAft>
                      </a:pPr>
                      <a:r>
                        <a:rPr sz="900" b="0">
                          <a:solidFill>
                            <a:srgbClr val="000000"/>
                          </a:solidFill>
                          <a:latin typeface="Calibri"/>
                          <a:ea typeface="Calibri"/>
                          <a:cs typeface="Calibri"/>
                        </a:rPr>
                        <a:t>Working hypothesis: For mRNA-stability prediction, at least one earlier encoder layer will match final-layer predictive performance within a predefined tolerance under the same evaluation protocol.</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a:txBody>
                    <a:bodyPr wrap="square">
                      <a:noAutofit/>
                    </a:bodyPr>
                    <a:lstStyle/>
                    <a:p>
                      <a:pPr algn="l">
                        <a:spcBef>
                          <a:spcPts val="0"/>
                        </a:spcBef>
                        <a:spcAft>
                          <a:spcPts val="350"/>
                        </a:spcAft>
                      </a:pPr>
                      <a:r>
                        <a:rPr sz="900" b="1">
                          <a:solidFill>
                            <a:srgbClr val="000000"/>
                          </a:solidFill>
                          <a:latin typeface="Calibri"/>
                          <a:ea typeface="Calibri"/>
                          <a:cs typeface="Calibri"/>
                        </a:rPr>
                        <a:t>Results / Current Status</a:t>
                      </a:r>
                    </a:p>
                    <a:p>
                      <a:pPr algn="l">
                        <a:spcBef>
                          <a:spcPts val="200"/>
                        </a:spcBef>
                        <a:spcAft>
                          <a:spcPts val="200"/>
                        </a:spcAft>
                      </a:pPr>
                      <a:r>
                        <a:rPr sz="900" b="0">
                          <a:solidFill>
                            <a:srgbClr val="000000"/>
                          </a:solidFill>
                          <a:latin typeface="Calibri"/>
                          <a:ea typeface="Calibri"/>
                          <a:cs typeface="Calibri"/>
                        </a:rPr>
                        <a:t>The team completed the initial six-paper review by September 21; continued discussion connects the papers to the notebook.</a:t>
                      </a:r>
                    </a:p>
                    <a:p>
                      <a:pPr algn="l">
                        <a:spcBef>
                          <a:spcPts val="200"/>
                        </a:spcBef>
                        <a:spcAft>
                          <a:spcPts val="200"/>
                        </a:spcAft>
                      </a:pPr>
                      <a:r>
                        <a:rPr sz="900" b="0">
                          <a:solidFill>
                            <a:srgbClr val="000000"/>
                          </a:solidFill>
                          <a:latin typeface="Calibri"/>
                          <a:ea typeface="Calibri"/>
                          <a:cs typeface="Calibri"/>
                        </a:rPr>
                        <a:t>Stage 1 is complete across two notebooks: probes, geometry, a composition control, attention nulls and published-split comparisons for twelve encoders on two datasets.</a:t>
                      </a:r>
                    </a:p>
                    <a:p>
                      <a:pPr algn="l">
                        <a:spcBef>
                          <a:spcPts val="200"/>
                        </a:spcBef>
                        <a:spcAft>
                          <a:spcPts val="200"/>
                        </a:spcAft>
                      </a:pPr>
                      <a:r>
                        <a:rPr sz="900" b="0">
                          <a:solidFill>
                            <a:srgbClr val="000000"/>
                          </a:solidFill>
                          <a:latin typeface="Calibri"/>
                          <a:ea typeface="Calibri"/>
                          <a:cs typeface="Calibri"/>
                        </a:rPr>
                        <a:t>Codon-level RNA and protein encoders predict stability best (R² 0.11 to 0.14), and most agreement involving DNA encoders is composition. On GTEx, RNA and protein encoders lead, and transcript lengths alone match all encoders combined (R² 0.24).</a:t>
                      </a:r>
                    </a:p>
                    <a:p>
                      <a:pPr algn="l">
                        <a:spcBef>
                          <a:spcPts val="200"/>
                        </a:spcBef>
                        <a:spcAft>
                          <a:spcPts val="200"/>
                        </a:spcAft>
                      </a:pPr>
                      <a:r>
                        <a:rPr sz="900" b="0">
                          <a:solidFill>
                            <a:srgbClr val="000000"/>
                          </a:solidFill>
                          <a:latin typeface="Calibri"/>
                          <a:ea typeface="Calibri"/>
                          <a:cs typeface="Calibri"/>
                        </a:rPr>
                        <a:t>October 7 review: present Stage 1 and the proposed Stage 2 alignment decision, then agree on the first Stage 3 fusion comparison.</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rowSpan="2">
                  <a:txBody>
                    <a:bodyPr wrap="square">
                      <a:noAutofit/>
                    </a:bodyPr>
                    <a:lstStyle/>
                    <a:p>
                      <a:pPr algn="l">
                        <a:spcBef>
                          <a:spcPts val="0"/>
                        </a:spcBef>
                        <a:spcAft>
                          <a:spcPts val="350"/>
                        </a:spcAft>
                        <a:buNone/>
                      </a:pPr>
                      <a:r>
                        <a:rPr sz="900" b="1">
                          <a:solidFill>
                            <a:srgbClr val="000000"/>
                          </a:solidFill>
                          <a:latin typeface="Calibri"/>
                          <a:ea typeface="Calibri"/>
                          <a:cs typeface="Calibri"/>
                        </a:rPr>
                        <a:t>Audience</a:t>
                      </a:r>
                    </a:p>
                    <a:p>
                      <a:pPr algn="l">
                        <a:spcBef>
                          <a:spcPts val="200"/>
                        </a:spcBef>
                        <a:spcAft>
                          <a:spcPts val="200"/>
                        </a:spcAft>
                        <a:buNone/>
                      </a:pPr>
                      <a:r>
                        <a:rPr sz="900" b="0">
                          <a:solidFill>
                            <a:srgbClr val="000000"/>
                          </a:solidFill>
                          <a:latin typeface="Calibri"/>
                          <a:ea typeface="Calibri"/>
                          <a:cs typeface="Calibri"/>
                        </a:rPr>
                        <a:t>Biological ML researchers</a:t>
                      </a:r>
                    </a:p>
                    <a:p>
                      <a:pPr algn="l">
                        <a:spcBef>
                          <a:spcPts val="200"/>
                        </a:spcBef>
                        <a:spcAft>
                          <a:spcPts val="200"/>
                        </a:spcAft>
                        <a:buNone/>
                      </a:pPr>
                      <a:r>
                        <a:rPr sz="900" b="0">
                          <a:solidFill>
                            <a:srgbClr val="000000"/>
                          </a:solidFill>
                          <a:latin typeface="Calibri"/>
                          <a:ea typeface="Calibri"/>
                          <a:cs typeface="Calibri"/>
                        </a:rPr>
                        <a:t>Computational biology collaborators</a:t>
                      </a:r>
                    </a:p>
                    <a:p>
                      <a:pPr algn="l">
                        <a:spcBef>
                          <a:spcPts val="200"/>
                        </a:spcBef>
                        <a:spcAft>
                          <a:spcPts val="200"/>
                        </a:spcAft>
                        <a:buNone/>
                      </a:pPr>
                      <a:r>
                        <a:rPr sz="900" b="0">
                          <a:solidFill>
                            <a:srgbClr val="000000"/>
                          </a:solidFill>
                          <a:latin typeface="Calibri"/>
                          <a:ea typeface="Calibri"/>
                          <a:cs typeface="Calibri"/>
                        </a:rPr>
                        <a:t>Researchers choosing sequence models</a:t>
                      </a:r>
                    </a:p>
                    <a:p>
                      <a:pPr algn="l">
                        <a:spcBef>
                          <a:spcPts val="200"/>
                        </a:spcBef>
                        <a:spcAft>
                          <a:spcPts val="200"/>
                        </a:spcAft>
                        <a:buNone/>
                      </a:pPr>
                      <a:r>
                        <a:rPr sz="900" b="0">
                          <a:solidFill>
                            <a:srgbClr val="000000"/>
                          </a:solidFill>
                          <a:latin typeface="Calibri"/>
                          <a:ea typeface="Calibri"/>
                          <a:cs typeface="Calibri"/>
                        </a:rPr>
                        <a:t>UCF research group and capstone reviewers</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r>
              <a:tr h="1831943">
                <a:tc vMerge="1">
                  <a:txBody>
                    <a:bodyPr/>
                    <a:lstStyle/>
                    <a:p>
                      <a:endParaRPr/>
                    </a:p>
                  </a:txBody>
                  <a:tcPr marL="91440" marR="91440" marT="45720" marB="45720">
                    <a:lnT w="28575" cmpd="sng">
                      <a:solidFill>
                        <a:schemeClr val="dk1"/>
                      </a:solidFill>
                      <a:prstDash val="solid"/>
                    </a:lnT>
                  </a:tcPr>
                </a:tc>
                <a:tc>
                  <a:txBody>
                    <a:bodyPr wrap="square">
                      <a:noAutofit/>
                    </a:bodyPr>
                    <a:lstStyle/>
                    <a:p>
                      <a:pPr algn="l">
                        <a:spcBef>
                          <a:spcPts val="0"/>
                        </a:spcBef>
                        <a:spcAft>
                          <a:spcPts val="350"/>
                        </a:spcAft>
                      </a:pPr>
                      <a:r>
                        <a:rPr sz="950" b="1">
                          <a:solidFill>
                            <a:srgbClr val="000000"/>
                          </a:solidFill>
                          <a:latin typeface="Calibri"/>
                          <a:ea typeface="Calibri"/>
                          <a:cs typeface="Calibri"/>
                        </a:rPr>
                        <a:t>Originality / Novelty</a:t>
                      </a:r>
                    </a:p>
                    <a:p>
                      <a:pPr algn="l">
                        <a:spcBef>
                          <a:spcPts val="200"/>
                        </a:spcBef>
                        <a:spcAft>
                          <a:spcPts val="200"/>
                        </a:spcAft>
                      </a:pPr>
                      <a:r>
                        <a:rPr sz="950" b="0">
                          <a:solidFill>
                            <a:srgbClr val="000000"/>
                          </a:solidFill>
                          <a:latin typeface="Calibri"/>
                          <a:ea typeface="Calibri"/>
                          <a:cs typeface="Calibri"/>
                        </a:rPr>
                        <a:t>Our intended contribution is an evidence-based route from a biological question to choices of input, encoder, layer and fusion method.</a:t>
                      </a:r>
                    </a:p>
                    <a:p>
                      <a:pPr algn="l">
                        <a:spcBef>
                          <a:spcPts val="200"/>
                        </a:spcBef>
                        <a:spcAft>
                          <a:spcPts val="200"/>
                        </a:spcAft>
                      </a:pPr>
                      <a:r>
                        <a:rPr sz="950" b="0">
                          <a:solidFill>
                            <a:srgbClr val="000000"/>
                          </a:solidFill>
                          <a:latin typeface="Calibri"/>
                          <a:ea typeface="Calibri"/>
                          <a:cs typeface="Calibri"/>
                        </a:rPr>
                        <a:t>We will test whether representation diagnostics help explain predictive gains and computational trade-offs in matched comparisons.</a:t>
                      </a:r>
                    </a:p>
                    <a:p>
                      <a:pPr algn="l">
                        <a:spcBef>
                          <a:spcPts val="200"/>
                        </a:spcBef>
                        <a:spcAft>
                          <a:spcPts val="200"/>
                        </a:spcAft>
                      </a:pPr>
                      <a:r>
                        <a:rPr sz="950" b="0">
                          <a:solidFill>
                            <a:srgbClr val="000000"/>
                          </a:solidFill>
                          <a:latin typeface="Calibri"/>
                          <a:ea typeface="Calibri"/>
                          <a:cs typeface="Calibri"/>
                        </a:rPr>
                        <a:t>The analysis will distinguish biological correspondence, embedding similarity and useful information for the prediction task, beginning with one defined case study.</a:t>
                      </a:r>
                    </a:p>
                  </a:txBody>
                  <a:tcPr marL="50800" marR="50800" marT="38100" marB="29258" anchor="t">
                    <a:lnR w="28575" cmpd="sng">
                      <a:solidFill>
                        <a:schemeClr val="dk1"/>
                      </a:solidFill>
                      <a:prstDash val="solid"/>
                    </a:lnR>
                    <a:lnT w="28575" cmpd="sng">
                      <a:solidFill>
                        <a:schemeClr val="dk1"/>
                      </a:solidFill>
                      <a:prstDash val="solid"/>
                    </a:lnT>
                    <a:lnB w="28575" cmpd="sng">
                      <a:solidFill>
                        <a:schemeClr val="dk1"/>
                      </a:solidFill>
                      <a:prstDash val="solid"/>
                    </a:lnB>
                  </a:tcPr>
                </a:tc>
                <a:tc v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c>
                  <a:txBody>
                    <a:bodyPr wrap="square">
                      <a:noAutofit/>
                    </a:bodyPr>
                    <a:lstStyle/>
                    <a:p>
                      <a:pPr algn="l">
                        <a:spcBef>
                          <a:spcPts val="0"/>
                        </a:spcBef>
                        <a:spcAft>
                          <a:spcPts val="350"/>
                        </a:spcAft>
                      </a:pPr>
                      <a:r>
                        <a:rPr sz="900" b="1">
                          <a:solidFill>
                            <a:srgbClr val="000000"/>
                          </a:solidFill>
                          <a:latin typeface="Calibri"/>
                          <a:ea typeface="Calibri"/>
                          <a:cs typeface="Calibri"/>
                        </a:rPr>
                        <a:t>Planned Contributions</a:t>
                      </a:r>
                    </a:p>
                    <a:p>
                      <a:pPr algn="l">
                        <a:spcBef>
                          <a:spcPts val="200"/>
                        </a:spcBef>
                        <a:spcAft>
                          <a:spcPts val="200"/>
                        </a:spcAft>
                      </a:pPr>
                      <a:r>
                        <a:rPr sz="900" b="0">
                          <a:solidFill>
                            <a:srgbClr val="000000"/>
                          </a:solidFill>
                          <a:latin typeface="Calibri"/>
                          <a:ea typeface="Calibri"/>
                          <a:cs typeface="Calibri"/>
                        </a:rPr>
                        <a:t>A reproducible case study with traceable data, settings, runs and results.</a:t>
                      </a:r>
                    </a:p>
                    <a:p>
                      <a:pPr algn="l">
                        <a:spcBef>
                          <a:spcPts val="200"/>
                        </a:spcBef>
                        <a:spcAft>
                          <a:spcPts val="200"/>
                        </a:spcAft>
                      </a:pPr>
                      <a:r>
                        <a:rPr sz="900" b="0">
                          <a:solidFill>
                            <a:srgbClr val="000000"/>
                          </a:solidFill>
                          <a:latin typeface="Calibri"/>
                          <a:ea typeface="Calibri"/>
                          <a:cs typeface="Calibri"/>
                        </a:rPr>
                        <a:t>Layer, model and fusion comparisons reporting prediction quality, uncertainty and computational cost.</a:t>
                      </a:r>
                    </a:p>
                    <a:p>
                      <a:pPr algn="l">
                        <a:spcBef>
                          <a:spcPts val="200"/>
                        </a:spcBef>
                        <a:spcAft>
                          <a:spcPts val="200"/>
                        </a:spcAft>
                      </a:pPr>
                      <a:r>
                        <a:rPr sz="900" b="0">
                          <a:solidFill>
                            <a:srgbClr val="000000"/>
                          </a:solidFill>
                          <a:latin typeface="Calibri"/>
                          <a:ea typeface="Calibri"/>
                          <a:cs typeface="Calibri"/>
                        </a:rPr>
                        <a:t>Evidence for model-selection decisions, including unsuccessful hypotheses and limits on transfer.</a:t>
                      </a:r>
                    </a:p>
                    <a:p>
                      <a:pPr algn="l">
                        <a:spcBef>
                          <a:spcPts val="200"/>
                        </a:spcBef>
                        <a:spcAft>
                          <a:spcPts val="200"/>
                        </a:spcAft>
                      </a:pPr>
                      <a:r>
                        <a:rPr sz="900" b="0">
                          <a:solidFill>
                            <a:srgbClr val="000000"/>
                          </a:solidFill>
                          <a:latin typeface="Calibri"/>
                          <a:ea typeface="Calibri"/>
                          <a:cs typeface="Calibri"/>
                        </a:rPr>
                        <a:t>A living manuscript linking results, biological interpretation and subsequent experiments.</a:t>
                      </a:r>
                    </a:p>
                  </a:txBody>
                  <a:tcPr marL="50800" marR="50800" marT="38100" marB="29258" anchor="t">
                    <a:lnR w="28575" cmpd="sng">
                      <a:solidFill>
                        <a:schemeClr val="dk1"/>
                      </a:solidFill>
                      <a:prstDash val="solid"/>
                    </a:lnR>
                    <a:lnT w="28575" cmpd="sng">
                      <a:solidFill>
                        <a:schemeClr val="dk1"/>
                      </a:solidFill>
                      <a:prstDash val="solid"/>
                    </a:lnT>
                    <a:lnB w="28575" cmpd="sng">
                      <a:solidFill>
                        <a:schemeClr val="dk1"/>
                      </a:solidFill>
                      <a:prstDash val="solid"/>
                    </a:lnB>
                  </a:tcPr>
                </a:tc>
                <a:tc v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r>
              <a:tr h="1524374">
                <a:tc gridSpan="3">
                  <a:txBody>
                    <a:bodyPr wrap="square">
                      <a:noAutofit/>
                    </a:bodyPr>
                    <a:lstStyle/>
                    <a:p>
                      <a:pPr algn="l">
                        <a:spcBef>
                          <a:spcPts val="0"/>
                        </a:spcBef>
                        <a:spcAft>
                          <a:spcPts val="350"/>
                        </a:spcAft>
                      </a:pPr>
                      <a:r>
                        <a:rPr sz="950" b="1">
                          <a:solidFill>
                            <a:srgbClr val="000000"/>
                          </a:solidFill>
                          <a:latin typeface="Calibri"/>
                          <a:ea typeface="Calibri"/>
                          <a:cs typeface="Calibri"/>
                        </a:rPr>
                        <a:t>Key Collaborators</a:t>
                      </a:r>
                    </a:p>
                    <a:p>
                      <a:pPr algn="l">
                        <a:spcBef>
                          <a:spcPts val="200"/>
                        </a:spcBef>
                        <a:spcAft>
                          <a:spcPts val="200"/>
                        </a:spcAft>
                      </a:pPr>
                      <a:r>
                        <a:rPr sz="950" b="0">
                          <a:solidFill>
                            <a:srgbClr val="000000"/>
                          </a:solidFill>
                          <a:latin typeface="Calibri"/>
                          <a:ea typeface="Calibri"/>
                          <a:cs typeface="Calibri"/>
                        </a:rPr>
                        <a:t>Research team: Julian McKinley and Chase Di Maria Breisinger, UCF. We share development, analysis and interpretation.</a:t>
                      </a:r>
                    </a:p>
                    <a:p>
                      <a:pPr algn="l">
                        <a:spcBef>
                          <a:spcPts val="200"/>
                        </a:spcBef>
                        <a:spcAft>
                          <a:spcPts val="200"/>
                        </a:spcAft>
                      </a:pPr>
                      <a:r>
                        <a:rPr sz="950" b="0">
                          <a:solidFill>
                            <a:srgbClr val="000000"/>
                          </a:solidFill>
                          <a:latin typeface="Calibri"/>
                          <a:ea typeface="Calibri"/>
                          <a:cs typeface="Calibri"/>
                        </a:rPr>
                        <a:t>Research advisor: Mina Basirat, PhD, within the Complex Adaptive Systems Laboratory led by Prof. Ivan Garibay.</a:t>
                      </a:r>
                    </a:p>
                    <a:p>
                      <a:pPr algn="l">
                        <a:spcBef>
                          <a:spcPts val="200"/>
                        </a:spcBef>
                        <a:spcAft>
                          <a:spcPts val="200"/>
                        </a:spcAft>
                      </a:pPr>
                      <a:r>
                        <a:rPr sz="950" b="0">
                          <a:solidFill>
                            <a:srgbClr val="000000"/>
                          </a:solidFill>
                          <a:latin typeface="Calibri"/>
                          <a:ea typeface="Calibri"/>
                          <a:cs typeface="Calibri"/>
                        </a:rPr>
                        <a:t>Shared work: connect biological understanding, notebook evidence and paper methods; record decisions and unresolved questions for discussion with Mina and the team.</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hMerge="1">
                  <a:txBody>
                    <a:bodyPr/>
                    <a:lstStyle/>
                    <a:p>
                      <a:endParaRPr/>
                    </a:p>
                  </a:txBody>
                  <a:tcPr marL="91440" marR="91440" marT="45720" marB="45720"/>
                </a:tc>
                <a:tc hMerge="1">
                  <a:txBody>
                    <a:bodyPr/>
                    <a:lstStyle/>
                    <a:p>
                      <a:endParaRPr/>
                    </a:p>
                  </a:txBody>
                  <a:tcPr marL="91440" marR="91440" marT="45720" marB="45720"/>
                </a:tc>
                <a:tc gridSpan="2">
                  <a:txBody>
                    <a:bodyPr wrap="square">
                      <a:noAutofit/>
                    </a:bodyPr>
                    <a:lstStyle/>
                    <a:p>
                      <a:pPr algn="l">
                        <a:spcBef>
                          <a:spcPts val="0"/>
                        </a:spcBef>
                        <a:spcAft>
                          <a:spcPts val="350"/>
                        </a:spcAft>
                      </a:pPr>
                      <a:r>
                        <a:rPr sz="850" b="1">
                          <a:solidFill>
                            <a:srgbClr val="000000"/>
                          </a:solidFill>
                          <a:latin typeface="Calibri"/>
                          <a:ea typeface="Calibri"/>
                          <a:cs typeface="Calibri"/>
                        </a:rPr>
                        <a:t>Methods</a:t>
                      </a:r>
                    </a:p>
                    <a:p>
                      <a:pPr algn="l">
                        <a:spcBef>
                          <a:spcPts val="200"/>
                        </a:spcBef>
                        <a:spcAft>
                          <a:spcPts val="200"/>
                        </a:spcAft>
                      </a:pPr>
                      <a:r>
                        <a:rPr sz="850" b="0">
                          <a:solidFill>
                            <a:srgbClr val="000000"/>
                          </a:solidFill>
                          <a:latin typeface="Calibri"/>
                          <a:ea typeface="Calibri"/>
                          <a:cs typeface="Calibri"/>
                        </a:rPr>
                        <a:t>Audit assay labels, sequence regions, duplicates and train/test splits.</a:t>
                      </a:r>
                    </a:p>
                    <a:p>
                      <a:pPr algn="l">
                        <a:spcBef>
                          <a:spcPts val="200"/>
                        </a:spcBef>
                        <a:spcAft>
                          <a:spcPts val="200"/>
                        </a:spcAft>
                      </a:pPr>
                      <a:r>
                        <a:rPr sz="850" b="0">
                          <a:solidFill>
                            <a:srgbClr val="000000"/>
                          </a:solidFill>
                          <a:latin typeface="Calibri"/>
                          <a:ea typeface="Calibri"/>
                          <a:cs typeface="Calibri"/>
                        </a:rPr>
                        <a:t>Twelve frozen encoders, four per modality: linear probes, layer-wise CKA, PCA bands, CCA retrieval and a composition control on stability and GTEx data.</a:t>
                      </a:r>
                    </a:p>
                    <a:p>
                      <a:pPr algn="l">
                        <a:spcBef>
                          <a:spcPts val="200"/>
                        </a:spcBef>
                        <a:spcAft>
                          <a:spcPts val="200"/>
                        </a:spcAft>
                      </a:pPr>
                      <a:r>
                        <a:rPr sz="850" b="0">
                          <a:solidFill>
                            <a:srgbClr val="000000"/>
                          </a:solidFill>
                          <a:latin typeface="Calibri"/>
                          <a:ea typeface="Calibri"/>
                          <a:cs typeface="Calibri"/>
                        </a:rPr>
                        <a:t>Adapt BioLangFusion and IsoFormer on their datasets; compare single models, concatenation + MLP, Coupled Mamba and cross-attention under matched evaluation.</a:t>
                      </a:r>
                    </a:p>
                    <a:p>
                      <a:pPr algn="l">
                        <a:spcBef>
                          <a:spcPts val="200"/>
                        </a:spcBef>
                        <a:spcAft>
                          <a:spcPts val="200"/>
                        </a:spcAft>
                      </a:pPr>
                      <a:r>
                        <a:rPr sz="850" b="0">
                          <a:solidFill>
                            <a:srgbClr val="000000"/>
                          </a:solidFill>
                          <a:latin typeface="Calibri"/>
                          <a:ea typeface="Calibri"/>
                          <a:cs typeface="Calibri"/>
                        </a:rPr>
                        <a:t>Predefine tolerance; record versions, seeds, repeat runs, uncertainty and measured cost.</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h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r>
              <a:tr h="381000">
                <a:tc gridSpan="5">
                  <a:txBody>
                    <a:bodyPr wrap="square">
                      <a:noAutofit/>
                    </a:bodyPr>
                    <a:lstStyle/>
                    <a:p>
                      <a:pPr algn="l">
                        <a:spcBef>
                          <a:spcPts val="0"/>
                        </a:spcBef>
                        <a:spcAft>
                          <a:spcPts val="100"/>
                        </a:spcAft>
                      </a:pPr>
                      <a:r>
                        <a:rPr sz="750" b="1">
                          <a:solidFill>
                            <a:srgbClr val="000000"/>
                          </a:solidFill>
                          <a:latin typeface="Calibri"/>
                          <a:ea typeface="Calibri"/>
                          <a:cs typeface="Calibri"/>
                        </a:rPr>
                        <a:t>multimodal-bio-fusion: Choosing and Fusing Biological Foundation Models | Team research canvas | UCF CAP 6942</a:t>
                      </a:r>
                    </a:p>
                    <a:p>
                      <a:pPr algn="l">
                        <a:spcBef>
                          <a:spcPts val="0"/>
                        </a:spcBef>
                        <a:spcAft>
                          <a:spcPts val="100"/>
                        </a:spcAft>
                      </a:pPr>
                      <a:r>
                        <a:rPr sz="750" b="0">
                          <a:solidFill>
                            <a:srgbClr val="000000"/>
                          </a:solidFill>
                          <a:latin typeface="Calibri"/>
                          <a:ea typeface="Calibri"/>
                          <a:cs typeface="Calibri"/>
                        </a:rPr>
                        <a:t>The expanded research questions and proposed next experiments await explicit approval from Mina Basirat, our research advisor.</a:t>
                      </a:r>
                    </a:p>
                    <a:p>
                      <a:pPr algn="l">
                        <a:spcBef>
                          <a:spcPts val="0"/>
                        </a:spcBef>
                        <a:spcAft>
                          <a:spcPts val="0"/>
                        </a:spcAft>
                      </a:pPr>
                      <a:r>
                        <a:rPr sz="750" b="0">
                          <a:solidFill>
                            <a:srgbClr val="000000"/>
                          </a:solidFill>
                          <a:latin typeface="Calibri"/>
                          <a:ea typeface="Calibri"/>
                          <a:cs typeface="Calibri"/>
                        </a:rPr>
                        <a:t>AI assistance: OpenAI Codex assisted with wording and layout; Claude assisted with the DNA-scope revision and the October 3 status update; source checks used project records, course materials and cited papers.</a:t>
                      </a:r>
                    </a:p>
                  </a:txBody>
                  <a:tcPr marL="52660" marR="52660" marT="12700" marB="12700" anchor="t">
                    <a:lnL w="9525" cmpd="sng">
                      <a:solidFill>
                        <a:srgbClr val="000000">
                          <a:alpha val="0"/>
                        </a:srgbClr>
                      </a:solidFill>
                      <a:prstDash val="solid"/>
                    </a:lnL>
                    <a:lnR w="9525" cmpd="sng">
                      <a:solidFill>
                        <a:srgbClr val="000000">
                          <a:alpha val="0"/>
                        </a:srgbClr>
                      </a:solidFill>
                      <a:prstDash val="solid"/>
                    </a:lnR>
                    <a:lnT w="28575" cmpd="sng">
                      <a:solidFill>
                        <a:schemeClr val="dk1"/>
                      </a:solidFill>
                      <a:prstDash val="solid"/>
                    </a:lnT>
                    <a:lnB w="9525" cmpd="sng">
                      <a:solidFill>
                        <a:srgbClr val="000000">
                          <a:alpha val="0"/>
                        </a:srgbClr>
                      </a:solidFill>
                      <a:prstDash val="solid"/>
                    </a:lnB>
                  </a:tcPr>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lnL w="9525" cmpd="sng">
                      <a:solidFill>
                        <a:srgbClr val="000000">
                          <a:alpha val="0"/>
                        </a:srgbClr>
                      </a:solidFill>
                      <a:prstDash val="solid"/>
                    </a:lnL>
                    <a:lnT w="28575" cmpd="sng">
                      <a:solidFill>
                        <a:schemeClr val="dk1"/>
                      </a:solidFill>
                      <a:prstDash val="solid"/>
                    </a:lnT>
                  </a:tcPr>
                </a:tc>
                <a:tc hMerge="1">
                  <a:txBody>
                    <a:bodyPr/>
                    <a:lstStyle/>
                    <a:p>
                      <a:endParaRPr/>
                    </a:p>
                  </a:txBody>
                  <a:tcPr marL="91440" marR="91440" marT="45720" marB="45720">
                    <a:lnL w="9525" cmpd="sng">
                      <a:solidFill>
                        <a:srgbClr val="000000">
                          <a:alpha val="0"/>
                        </a:srgbClr>
                      </a:solidFill>
                      <a:prstDash val="solid"/>
                    </a:lnL>
                  </a:tcPr>
                </a:tc>
              </a:tr>
            </a:tbl>
          </a:graphicData>
        </a:graphic>
      </p:graphicFrame>
      <p:sp>
        <p:nvSpPr>
          <p:cNvPr id="2" name="Slide Number Placeholder 1">
            <a:extLst xmlns:a="http://schemas.openxmlformats.org/drawingml/2006/main">
              <a:ext uri="{FF2B5EF4-FFF2-40B4-BE49-F238E27FC236}">
                <a16:creationId xmlns:a16="http://schemas.microsoft.com/office/drawing/2014/main" id="{BF048FD9-E2BB-4712-BF77-19BEB5B20C11}"/>
              </a:ext>
            </a:extLst>
          </p:cNvPr>
          <p:cNvSpPr>
            <a:spLocks xmlns:a="http://schemas.openxmlformats.org/drawingml/2006/main" noGrp="1"/>
          </p:cNvSpPr>
          <p:nvPr>
            <p:ph type="sldNum" idx="12"/>
          </p:nvPr>
        </p:nvSpPr>
        <p:spPr/>
        <p:txBody>
          <a:bodyPr xmlns:a="http://schemas.openxmlformats.org/drawingml/2006/main">
            <a:normAutofit/>
          </a:bodyPr>
          <a:lstStyle xmlns:a="http://schemas.openxmlformats.org/drawingml/2006/main"/>
          <a:p xmlns:a="http://schemas.openxmlformats.org/drawingml/2006/main">
            <a:pPr>
              <a:spcAft>
                <a:spcPts val="500"/>
              </a:spcAft>
              <a:buNone/>
            </a:pPr>
            <a:fld id="{69ADA83D-DF77-AA76-6DA0-7A70CD7A4D20}" type="slidenum">
              <a:rPr>
                <a:solidFill>
                  <a:srgbClr val="FFFFFF"/>
                </a:solidFill>
              </a:rPr>
              <a:t/>
            </a:fld>
            <a:endParaRPr>
              <a:solidFill>
                <a:srgbClr val="FFFFFF"/>
              </a:solidFill>
            </a:endParaRPr>
          </a:p>
        </p:txBody>
      </p:sp>
    </p:spTree>
    <p:extLst>
      <p:ext uri="{BB962C8B-B14F-4D97-AF65-F5344CB8AC3E}">
        <p14:creationId xmlns:p14="http://schemas.microsoft.com/office/powerpoint/2010/main" val="59267398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2026-09-27T04:21:33.2560000Z</dcterms:created>
  <dcterms:modified xsi:type="dcterms:W3CDTF">2026-09-27T04:21:33.2560000Z</dcterms:modified>
</coreProperties>
</file>