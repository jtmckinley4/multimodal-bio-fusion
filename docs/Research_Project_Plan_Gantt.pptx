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973df2838e104121" Type="http://schemas.openxmlformats.org/officeDocument/2006/relationships/officeDocument" Target="ppt/presentation.xml"/><Relationship Id="Rd937c4f8d3c346d5" Type="http://schemas.openxmlformats.org/officeDocument/2006/relationships/extended-properties" Target="docProps/app.xml"/><Relationship Id="Rec0bff5dd90b45a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a38b75706f493e"/>
  </p:sldMasterIdLst>
  <p:notesMasterIdLst>
    <p:notesMasterId xmlns:r="http://schemas.openxmlformats.org/officeDocument/2006/relationships" r:id="R32e8536ebd5844f2"/>
  </p:notesMasterIdLst>
  <p:sldIdLst>
    <p:sldId xmlns:r="http://schemas.openxmlformats.org/officeDocument/2006/relationships" id="256" r:id="R31cdde5dac1d4adf"/>
    <p:sldId xmlns:r="http://schemas.openxmlformats.org/officeDocument/2006/relationships" id="257" r:id="R9d5ad6c125424019"/>
    <p:sldId xmlns:r="http://schemas.openxmlformats.org/officeDocument/2006/relationships" id="258" r:id="R2f07565cddd544be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c45d6c52b5e477a" Type="http://schemas.openxmlformats.org/officeDocument/2006/relationships/tableStyles" Target="tableStyles.xml"/><Relationship Id="R2cbfae302eed4cc7" Type="http://schemas.openxmlformats.org/officeDocument/2006/relationships/theme" Target="theme/theme1.xml"/><Relationship Id="R2f07565cddd544be" Type="http://schemas.openxmlformats.org/officeDocument/2006/relationships/slide" Target="slides/slide3.xml"/><Relationship Id="R31cdde5dac1d4adf" Type="http://schemas.openxmlformats.org/officeDocument/2006/relationships/slide" Target="slides/slide1.xml"/><Relationship Id="R32e8536ebd5844f2" Type="http://schemas.openxmlformats.org/officeDocument/2006/relationships/notesMaster" Target="notesMasters/notesMaster1.xml"/><Relationship Id="R9d5ad6c125424019" Type="http://schemas.openxmlformats.org/officeDocument/2006/relationships/slide" Target="slides/slide2.xml"/><Relationship Id="Ra9f48024d7c14e7c" Type="http://schemas.openxmlformats.org/officeDocument/2006/relationships/presProps" Target="presProps.xml"/><Relationship Id="Rc86f4db93065457a" Type="http://schemas.openxmlformats.org/officeDocument/2006/relationships/viewProps" Target="viewProps.xml"/><Relationship Id="Rcfa38b75706f493e" Type="http://schemas.openxmlformats.org/officeDocument/2006/relationships/slideMaster" Target="slideMasters/slideMaster1.xml"/></Relationships>
</file>

<file path=ppt/notesMasters/_rels/notesMaster1.xml.rels><?xml version='1.0' encoding='UTF-8' standalone='yes'?>
<Relationships xmlns="http://schemas.openxmlformats.org/package/2006/relationships"><Relationship Id="R994cc7e7a527464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165bbb066014e37" Type="http://schemas.openxmlformats.org/officeDocument/2006/relationships/notesMaster" Target="../notesMasters/notesMaster1.xml"/><Relationship Id="Rb54eec95c8b442d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7d45a98b8424a28" Type="http://schemas.openxmlformats.org/officeDocument/2006/relationships/notesMaster" Target="../notesMasters/notesMaster1.xml"/><Relationship Id="R99d574f9237f463c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fb5fe6fea5749d6" Type="http://schemas.openxmlformats.org/officeDocument/2006/relationships/notesMaster" Target="../notesMasters/notesMaster1.xml"/><Relationship Id="Ra9487a36515d42a1" Type="http://schemas.openxmlformats.org/officeDocument/2006/relationships/slide" Target="../slides/slide3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Biological Foundation Models | Research Project Plan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Initial six-paper review</a:t>
            </a:r>
          </a:p>
          <a:p xmlns:a="http://schemas.openxmlformats.org/drawingml/2006/main">
            <a:r>
              <a:t>2026-09-07 to 2026-09-21; Complete.</a:t>
            </a:r>
          </a:p>
          <a:p xmlns:a="http://schemas.openxmlformats.org/drawingml/2006/main">
            <a:r>
              <a:t>Expected outcome: Complete the initial six-paper review and retain paper notes for continued interpretation and discussion.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7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7 review and working alignment definition</a:t>
            </a:r>
          </a:p>
          <a:p xmlns:a="http://schemas.openxmlformats.org/drawingml/2006/main">
            <a:r>
              <a:t>2026-10-07 to 2026-10-07;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2 | Experiments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writing and coordination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30. Research coordination and decision review</a:t>
            </a:r>
          </a:p>
          <a:p xmlns:a="http://schemas.openxmlformats.org/drawingml/2006/main">
            <a:r>
              <a:t>2026-09-14 to 2027-03-31; In progress.</a:t>
            </a:r>
          </a:p>
          <a:p xmlns:a="http://schemas.openxmlformats.org/drawingml/2006/main">
            <a:r>
              <a:t>Expected outcome: Maintain the questions, decisions and follow-ups from regular team and advisor discussions. Confirm future meeting dates with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32. Maintain and revise the living Overleaf manuscript</a:t>
            </a:r>
          </a:p>
          <a:p xmlns:a="http://schemas.openxmlformats.org/drawingml/2006/main">
            <a:r>
              <a:t>2026-09-26 to 2027-03-31; In progress.</a:t>
            </a:r>
          </a:p>
          <a:p xmlns:a="http://schemas.openxmlformats.org/drawingml/2006/main">
            <a:r>
              <a:t>Expected outcome: Update methods, figures, claims, citations and open questions as research changes. Writing begins with Stage 1 and continues through review, new experiments and later consolidation.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CAP6942 | Course deliverables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33. Bibliography, canvas and project-plan submissions</a:t>
            </a:r>
          </a:p>
          <a:p xmlns:a="http://schemas.openxmlformats.org/drawingml/2006/main">
            <a:r>
              <a:t>2026-09-26 to 2026-09-27; In progress.</a:t>
            </a:r>
          </a:p>
          <a:p xmlns:a="http://schemas.openxmlformats.org/drawingml/2006/main">
            <a:r>
              <a:t>Expected outcome: Submit the annotated bibliography and Research Canvas for Team Assignment 1, and the research project plan for Team Assignment 2. Both are due September 27 at 23:59 Eastern.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34. Prepare final report, presentation and video</a:t>
            </a:r>
          </a:p>
          <a:p xmlns:a="http://schemas.openxmlformats.org/drawingml/2006/main">
            <a:r>
              <a:t>2026-11-16 to 2026-12-06; Planned.</a:t>
            </a:r>
          </a:p>
          <a:p xmlns:a="http://schemas.openxmlformats.org/drawingml/2006/main">
            <a:r>
              <a:t>Expected outcome: Adapt the evolving manuscript and evidence to the course report, presentation and video requirements. Rehearse explanations and incorporate teammate and advisor feedback.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35. Course rehearsal checkpoint</a:t>
            </a:r>
          </a:p>
          <a:p xmlns:a="http://schemas.openxmlformats.org/drawingml/2006/main">
            <a:r>
              <a:t>2026-12-01 to 2026-12-01; Planned.</a:t>
            </a:r>
          </a:p>
          <a:p xmlns:a="http://schemas.openxmlformats.org/drawingml/2006/main">
            <a:r>
              <a:t>Expected outcome: Rehearse the scientific account and record corrections; confirm the course’s exact instructions in WebCourses.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36. Final course report checkpoint</a:t>
            </a:r>
          </a:p>
          <a:p xmlns:a="http://schemas.openxmlformats.org/drawingml/2006/main">
            <a:r>
              <a:t>2026-12-07 to 2026-12-07; Planned.</a:t>
            </a:r>
          </a:p>
          <a:p xmlns:a="http://schemas.openxmlformats.org/drawingml/2006/main">
            <a:r>
              <a:t>Expected outcome: Review evidence, attribution and AI disclosure; confirm and complete the required course submission.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37. Course presentation and video checkpoint</a:t>
            </a:r>
          </a:p>
          <a:p xmlns:a="http://schemas.openxmlformats.org/drawingml/2006/main">
            <a:r>
              <a:t>2026-12-08 to 2026-12-08; Planned.</a:t>
            </a:r>
          </a:p>
          <a:p xmlns:a="http://schemas.openxmlformats.org/drawingml/2006/main">
            <a:r>
              <a:t>Expected outcome: Deliver the course presentation/video using the reviewed evidence and acknowledged limitations.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continuation | Provisional January to March 2027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38. Further experiments and external validation</a:t>
            </a:r>
          </a:p>
          <a:p xmlns:a="http://schemas.openxmlformats.org/drawingml/2006/main">
            <a:r>
              <a:t>2027-01-04 to 2027-02-28; Conditional.</a:t>
            </a:r>
          </a:p>
          <a:p xmlns:a="http://schemas.openxmlformats.org/drawingml/2006/main">
            <a:r>
              <a:t>Expected outcome: Select and run extensions justified by the reviewed evidence, biological relevance, collaborators and available resources.</a:t>
            </a:r>
          </a:p>
          <a:p xmlns:a="http://schemas.openxmlformats.org/drawingml/2006/main">
            <a:r>
              <a:t>Prerequisites: 29.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39. Consolidate manuscript and review publication readiness</a:t>
            </a:r>
          </a:p>
          <a:p xmlns:a="http://schemas.openxmlformats.org/drawingml/2006/main">
            <a:r>
              <a:t>2027-02-01 to 2027-03-31; Planned.</a:t>
            </a:r>
          </a:p>
          <a:p xmlns:a="http://schemas.openxmlformats.org/drawingml/2006/main">
            <a:r>
              <a:t>Expected outcome: Refine the manuscript already underway, integrate additional evidence and seek group feedback. Venue, submission date and final research end remain undecided.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40. March research review and next-step decision</a:t>
            </a:r>
          </a:p>
          <a:p xmlns:a="http://schemas.openxmlformats.org/drawingml/2006/main">
            <a:r>
              <a:t>2027-03-31 to 2027-03-31; Planned.</a:t>
            </a:r>
          </a:p>
          <a:p xmlns:a="http://schemas.openxmlformats.org/drawingml/2006/main">
            <a:r>
              <a:t>Expected outcome: Review the evidence and decide whether to extend the experiments, revise the manuscript, prepare a submission or change direction. Adjust the timeline to the chosen next steps.</a:t>
            </a:r>
          </a:p>
          <a:p xmlns:a="http://schemas.openxmlformats.org/drawingml/2006/main">
            <a:r>
              <a:t>Prerequisites: 39.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  <ns0:p xmlns:ns0="http://schemas.openxmlformats.org/drawingml/2006/main"/>
          <a:p xmlns:a="http://schemas.openxmlformats.org/drawingml/2006/main">
            <a:r>
              <a:t>Planning example: Mélot-Chesnel, Designing Trustworthy Generative AI Agents for Collaborative Decision Making (2026), section 4 and Figure 1, explicitly schedules reconsidering questions and hypotheses between studies. This informed retaining time for interpretation and revision. https://doi.org/10.3233/FAIA260562</a:t>
            </a:r>
          </a:p>
          <ns0:p xmlns:ns0="http://schemas.openxmlformats.org/drawingml/2006/main"/>
          <a:p xmlns:a="http://schemas.openxmlformats.org/drawingml/2006/main">
            <a:r>
              <a:t>Planning example: UQ AGRC7617, Sequential mid-project assessment, uses a proposal and Gantt with supervisor discussion, followed by AI feedback on mature drafts. This illustrates review within planning. https://course-profiles.uq.edu.au/course-profiles/AGRC7617-62151-7660</a:t>
            </a:r>
          </a:p>
          <ns0:p xmlns:ns0="http://schemas.openxmlformats.org/drawingml/2006/main"/>
          <a:p xmlns:a="http://schemas.openxmlformats.org/drawingml/2006/main">
            <a:r>
              <a:t>These examples informed the September 27 planning discussion. They do not establish CAP6942 requirements or measured AI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Study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 and reproducibility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Early implementation, writing and collaboration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7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10. Draft Stage 1 methods and findings in Overleaf</a:t>
            </a:r>
          </a:p>
          <a:p xmlns:a="http://schemas.openxmlformats.org/drawingml/2006/main">
            <a:r>
              <a:t>2026-09-26 to 2026-10-04; In progress.</a:t>
            </a:r>
          </a:p>
          <a:p xmlns:a="http://schemas.openxmlformats.org/drawingml/2006/main">
            <a:r>
              <a:t>Expected outcome: Join Mina’s project, draft Stage 1 background/methods, attach supported figures and annotate unresolved claims. This is the first writing increment of the living manuscript.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11. Clarify the lab tokenizer and benchmark opportunity</a:t>
            </a:r>
          </a:p>
          <a:p xmlns:a="http://schemas.openxmlformats.org/drawingml/2006/main">
            <a:r>
              <a:t>2026-09-28 to 2026-10-05; Planned.</a:t>
            </a:r>
          </a:p>
          <a:p xmlns:a="http://schemas.openxmlformats.org/drawingml/2006/main">
            <a:r>
              <a:t>Expected outcome: Ask Julian for the exact group, tokenizer/paper and intended benchmark task. Establish inputs, access, comparison unit and collaborators before promising a shared experiment.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review and follow-up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12. Prepare the Oct 7 evidence and question set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Assemble the explainable pipeline, source-linked findings, unresolved results, BioLangFusion pilot status and alignment-definition proposal. Distinguish established evidence from open hypotheses.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7 review and working alignment definition</a:t>
            </a:r>
          </a:p>
          <a:p xmlns:a="http://schemas.openxmlformats.org/drawingml/2006/main">
            <a:r>
              <a:t>2026-10-07 to 2026-10-07;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2 | Experiments,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Core comparison sequence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Repeated runs,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Optional comparisons | Subject to scope and feasibility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  <ns0:p xmlns:ns0="http://schemas.openxmlformats.org/drawingml/2006/main"/>
          <a:p xmlns:a="http://schemas.openxmlformats.org/drawingml/2006/main">
            <a:r>
              <a:t>Planning example: Mélot-Chesnel, Designing Trustworthy Generative AI Agents for Collaborative Decision Making (2026), section 4 and Figure 1, explicitly schedules reconsidering questions and hypotheses between studies. This informed retaining time for interpretation and revision. https://doi.org/10.3233/FAIA260562</a:t>
            </a:r>
          </a:p>
          <ns0:p xmlns:ns0="http://schemas.openxmlformats.org/drawingml/2006/main"/>
          <a:p xmlns:a="http://schemas.openxmlformats.org/drawingml/2006/main">
            <a:r>
              <a:t>Planning example: UQ AGRC7617, Sequential mid-project assessment, uses a proposal and Gantt with supervisor discussion, followed by AI feedback on mature drafts. This illustrates review within planning. https://course-profiles.uq.edu.au/course-profiles/AGRC7617-62151-7660</a:t>
            </a:r>
          </a:p>
          <ns0:p xmlns:ns0="http://schemas.openxmlformats.org/drawingml/2006/main"/>
          <a:p xmlns:a="http://schemas.openxmlformats.org/drawingml/2006/main">
            <a:r>
              <a:t>These examples informed the September 27 planning discussion. They do not establish CAP6942 requirements or measured AI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5606df07feb54ccf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8c8fa4dbf254a0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516fe67bfaf44e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127e241674244bc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078de79aa2d4e57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f6cec5512184f5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d12eaca458645d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d26b6c5415654e7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de185142ffa1486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9195155c51834f0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9610807a9cac485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D50471-0901-4031-8F05-F553F5DA330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D58B5D4-0F11-4ED8-ACCB-C5771563704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640D5FE-F90B-44B9-BAD9-D4EC0AA4C0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52EF19-63C3-42A0-9635-40054A0BB6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65AA00-5F52-4591-9F89-BD8DB9473D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C6171C-6B1A-4498-ACDE-BB467882FD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D649E35-5C93-4635-A524-44402B970AB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4A137F-E709-4B82-A3AD-33F7625CC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D389170-5754-48A5-8DFE-4977600A8D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B67BA2-2745-46AA-BC3E-39187EE8CAD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467CD8-E86B-4C4F-84C0-3C905E0045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604BDB1-CCDF-4FBD-A759-7A7F17D920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B95C45-A53F-4629-8646-F4803C92CD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A43E3D-844F-46D8-A39D-8F52431874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9E6E19-B69B-4C88-848A-4A5BC4E18D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3D2580-B2CC-4681-A526-85ADAA1BE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D6B0C6-4B46-4BFB-96E9-6DE1E47B0E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F0EFE-2651-4DAD-BC9C-FED21F78E15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B232A06-3889-4C5D-834E-BEB7BCEDE1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8E0C82-5D24-4FB2-A0A3-E1C901E74E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40CD7FD-B0E5-4B2A-81ED-CF7C3A8AA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B0D819-D8BC-4E3F-B887-D64E3F459A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B5445E-06CC-454D-A80F-77342AF333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16FE63D-3715-4511-85EF-85A98FD209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3AEDC91-2F54-46AE-96A2-FF68AB70286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B8AE1C2-5D7B-4541-8438-47AF5465794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FAB1DD4-3F30-4664-B78F-88EDF8C5CE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1B7B288-E05F-4423-88C9-3C54458863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5BD258D-A082-4923-8B3C-D10EC41362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1246C1-86CA-4F0A-BEDF-D954AA4BB7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18100C5-2F9A-468E-9F79-728FA79674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4CF202A-53FB-4778-970E-918BEF8703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A85E1A8-F7C4-4974-801B-4BCF5D96A4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EB54A0D-6373-4B2C-92C2-A5E3F4E526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9671920-FB39-4E3A-9FAE-CDA7BA1915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41568EE-1391-43C9-9A99-CA18FA73DD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988B4F-AE42-4E16-A764-A893F3197D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F2AA87A-BEA4-435F-9773-CCD4543C7B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90464F-69BD-4995-A642-86C726ED74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D227DE-A76B-4CF8-B373-5F87E00298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59B0FD9-618E-437A-A4F6-55E1F11929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99A26D5-93FB-4588-AFD1-C0A354EE8D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98203A-892E-4FB5-A226-33E4B41C7C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86C27CC-4743-4E19-B8DA-2AD4F3BA859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A856B98-AE27-475E-9684-12E431714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C8C4FE6-2793-4921-8E64-97AA2D4679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707B094-F06E-479F-B35D-CFACDC66F5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2D270C9-8D19-4F0B-97CF-E282CA508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603E5A5-C957-47CA-B639-C89B2C3EDD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98151E-8731-45B2-9F09-5CA2215184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89DFE78-4304-411E-AC94-37DB028770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D1F9AD5-236D-43ED-8103-25BD9D2318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040C95B-B4CE-47E3-B18A-87B68EA600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6765DEA-A6E6-4B48-8133-A2AD3485C1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D050C12-4963-468A-B5B2-5A5FFF8510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8457F7-41EB-4560-A76D-AFBADA1340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388894-ADE6-4593-9B41-E7770480AF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285ABC6-5748-454D-B68C-DC4BA39542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d266be0a1284e61" Type="http://schemas.openxmlformats.org/officeDocument/2006/relationships/slideLayout" Target="../slideLayouts/slideLayout3.xml"/><Relationship Id="R3136394fdd464025" Type="http://schemas.openxmlformats.org/officeDocument/2006/relationships/slideLayout" Target="../slideLayouts/slideLayout1.xml"/><Relationship Id="R44a03bba378d4104" Type="http://schemas.openxmlformats.org/officeDocument/2006/relationships/slideLayout" Target="../slideLayouts/slideLayout10.xml"/><Relationship Id="R4702a775611d43ad" Type="http://schemas.openxmlformats.org/officeDocument/2006/relationships/slideLayout" Target="../slideLayouts/slideLayout8.xml"/><Relationship Id="R4b8283b5ea094e36" Type="http://schemas.openxmlformats.org/officeDocument/2006/relationships/slideLayout" Target="../slideLayouts/slideLayout11.xml"/><Relationship Id="R5e03566e1b8348f9" Type="http://schemas.openxmlformats.org/officeDocument/2006/relationships/slideLayout" Target="../slideLayouts/slideLayout5.xml"/><Relationship Id="Ra309db37da2a4a43" Type="http://schemas.openxmlformats.org/officeDocument/2006/relationships/slideLayout" Target="../slideLayouts/slideLayout6.xml"/><Relationship Id="Rbaed0f216b1a4b6e" Type="http://schemas.openxmlformats.org/officeDocument/2006/relationships/slideLayout" Target="../slideLayouts/slideLayout2.xml"/><Relationship Id="Rbb645bffa0074ac0" Type="http://schemas.openxmlformats.org/officeDocument/2006/relationships/slideLayout" Target="../slideLayouts/slideLayout4.xml"/><Relationship Id="Rd25689cf6b294a32" Type="http://schemas.openxmlformats.org/officeDocument/2006/relationships/theme" Target="theme/theme2.xml"/><Relationship Id="Rd4117fb882554ffa" Type="http://schemas.openxmlformats.org/officeDocument/2006/relationships/slideLayout" Target="../slideLayouts/slideLayout7.xml"/><Relationship Id="Rfee0c545bc1446ea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15B4157-E165-444D-87D1-D1FDC3346B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E37DDE-C668-4999-AFF6-3B02624EC8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0BB946D-3A16-4314-9C16-BCCD841C232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193750-DF12-4E38-BED1-2FDD1C95BA7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3C852F-F0CF-4B23-915E-CDA9F47EA9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36394fdd464025"/>
    <p:sldLayoutId xmlns:r="http://schemas.openxmlformats.org/officeDocument/2006/relationships" id="2147483650" r:id="Rbaed0f216b1a4b6e"/>
    <p:sldLayoutId xmlns:r="http://schemas.openxmlformats.org/officeDocument/2006/relationships" id="2147483651" r:id="R1d266be0a1284e61"/>
    <p:sldLayoutId xmlns:r="http://schemas.openxmlformats.org/officeDocument/2006/relationships" id="2147483652" r:id="Rbb645bffa0074ac0"/>
    <p:sldLayoutId xmlns:r="http://schemas.openxmlformats.org/officeDocument/2006/relationships" id="2147483653" r:id="R5e03566e1b8348f9"/>
    <p:sldLayoutId xmlns:r="http://schemas.openxmlformats.org/officeDocument/2006/relationships" id="2147483654" r:id="Ra309db37da2a4a43"/>
    <p:sldLayoutId xmlns:r="http://schemas.openxmlformats.org/officeDocument/2006/relationships" id="2147483655" r:id="Rd4117fb882554ffa"/>
    <p:sldLayoutId xmlns:r="http://schemas.openxmlformats.org/officeDocument/2006/relationships" id="2147483656" r:id="R4702a775611d43ad"/>
    <p:sldLayoutId xmlns:r="http://schemas.openxmlformats.org/officeDocument/2006/relationships" id="2147483657" r:id="Rfee0c545bc1446ea"/>
    <p:sldLayoutId xmlns:r="http://schemas.openxmlformats.org/officeDocument/2006/relationships" id="2147483658" r:id="R44a03bba378d4104"/>
    <p:sldLayoutId xmlns:r="http://schemas.openxmlformats.org/officeDocument/2006/relationships" id="2147483659" r:id="R4b8283b5ea094e3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3841a64afa64fcd" Type="http://schemas.openxmlformats.org/officeDocument/2006/relationships/slideLayout" Target="../slideLayouts/slideLayout7.xml"/><Relationship Id="R23fe9f1998694f0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b2b94f060cc4e8c" Type="http://schemas.openxmlformats.org/officeDocument/2006/relationships/slideLayout" Target="../slideLayouts/slideLayout1.xml"/><Relationship Id="Rd5cbb3028e62482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d3a45033c6944d2" Type="http://schemas.openxmlformats.org/officeDocument/2006/relationships/notesSlide" Target="../notesSlides/notesSlide3.xml"/><Relationship Id="R54df92619ec443cb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5" name="Title">
            <a:extLst xmlns:a="http://schemas.openxmlformats.org/drawingml/2006/main">
              <a:ext uri="{FF2B5EF4-FFF2-40B4-BE49-F238E27FC236}">
                <a16:creationId xmlns:a16="http://schemas.microsoft.com/office/drawing/2014/main" id="{EA4880F2-507E-4B9C-810C-68EADD19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multimodal-bio-fusion | Research Project Plan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A26E904-DD01-4F4C-BF80-87F80F75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Weekly schedule for fall 2026, with a provisional continuation through March 2027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A5EEEF2E-FCDD-4FAF-9F53-9AE0B3F9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5B134E7B-309F-43D8-AFD3-43179C2F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191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C1DDB809-015C-44EA-923A-3B7ECCEC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Week 2026-09-07">
            <a:extLst xmlns:a="http://schemas.openxmlformats.org/drawingml/2006/main">
              <a:ext uri="{FF2B5EF4-FFF2-40B4-BE49-F238E27FC236}">
                <a16:creationId xmlns:a16="http://schemas.microsoft.com/office/drawing/2014/main" id="{D257F1F8-A79B-4FBE-AA63-66C17D52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9/7</a:t>
            </a:r>
          </a:p>
        </p:txBody>
      </p:sp>
      <p:sp>
        <p:nvSpPr>
          <p:cNvPr id="7" name="Week 2026-09-14">
            <a:extLst xmlns:a="http://schemas.openxmlformats.org/drawingml/2006/main">
              <a:ext uri="{FF2B5EF4-FFF2-40B4-BE49-F238E27FC236}">
                <a16:creationId xmlns:a16="http://schemas.microsoft.com/office/drawing/2014/main" id="{D1438395-44D6-41C0-B2E9-CB039FFB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9/14</a:t>
            </a:r>
          </a:p>
        </p:txBody>
      </p:sp>
      <p:sp>
        <p:nvSpPr>
          <p:cNvPr id="8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A8557C8E-69A7-4EC8-9217-691D04B2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9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744918BB-B9E1-47BF-A329-610C8A1D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10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A2339EB2-623A-492E-A54E-EE8552A7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1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CBD33B9F-9FE7-4808-ADF0-9B54AAFA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12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32D5CC87-585F-48E5-9F6A-5997C35D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13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FEDE6624-777D-4825-BB8E-B093FCD9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14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E75CA6AC-2B59-4648-ACDA-FF077BFA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15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2EA1C60B-20BB-4BE6-8FE0-D6C38B6D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16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A0AFD29C-3AAA-456A-9B36-80C939D1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17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3D10F673-4CB0-41B6-9003-AF4E118F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18" name="Week 2026-11-30">
            <a:extLst xmlns:a="http://schemas.openxmlformats.org/drawingml/2006/main">
              <a:ext uri="{FF2B5EF4-FFF2-40B4-BE49-F238E27FC236}">
                <a16:creationId xmlns:a16="http://schemas.microsoft.com/office/drawing/2014/main" id="{3010FB29-764C-4A5E-A863-AE970E4C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11/30</a:t>
            </a:r>
          </a:p>
        </p:txBody>
      </p:sp>
      <p:sp>
        <p:nvSpPr>
          <p:cNvPr id="19" name="Week 2026-12-07">
            <a:extLst xmlns:a="http://schemas.openxmlformats.org/drawingml/2006/main">
              <a:ext uri="{FF2B5EF4-FFF2-40B4-BE49-F238E27FC236}">
                <a16:creationId xmlns:a16="http://schemas.microsoft.com/office/drawing/2014/main" id="{F3FE6820-E9DE-4888-9242-F5ECFA96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12/7</a:t>
            </a:r>
          </a:p>
        </p:txBody>
      </p:sp>
      <p:sp>
        <p:nvSpPr>
          <p:cNvPr id="20" name="Week 2026-12-14">
            <a:extLst xmlns:a="http://schemas.openxmlformats.org/drawingml/2006/main">
              <a:ext uri="{FF2B5EF4-FFF2-40B4-BE49-F238E27FC236}">
                <a16:creationId xmlns:a16="http://schemas.microsoft.com/office/drawing/2014/main" id="{136DAE93-8E63-4B9A-BB64-810F3F01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12/14</a:t>
            </a:r>
          </a:p>
        </p:txBody>
      </p:sp>
      <p:sp>
        <p:nvSpPr>
          <p:cNvPr id="21" name="Week 2026-12-21">
            <a:extLst xmlns:a="http://schemas.openxmlformats.org/drawingml/2006/main">
              <a:ext uri="{FF2B5EF4-FFF2-40B4-BE49-F238E27FC236}">
                <a16:creationId xmlns:a16="http://schemas.microsoft.com/office/drawing/2014/main" id="{834F3B8E-D77A-4211-815F-5E7DB2F9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12/21</a:t>
            </a:r>
          </a:p>
        </p:txBody>
      </p:sp>
      <p:sp>
        <p:nvSpPr>
          <p:cNvPr id="22" name="Week 2026-12-28">
            <a:extLst xmlns:a="http://schemas.openxmlformats.org/drawingml/2006/main">
              <a:ext uri="{FF2B5EF4-FFF2-40B4-BE49-F238E27FC236}">
                <a16:creationId xmlns:a16="http://schemas.microsoft.com/office/drawing/2014/main" id="{EE9C8C03-5C74-4805-A821-661B479F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12/28</a:t>
            </a:r>
          </a:p>
        </p:txBody>
      </p:sp>
      <p:sp>
        <p:nvSpPr>
          <p:cNvPr id="23" name="Week 2027-01-01">
            <a:extLst xmlns:a="http://schemas.openxmlformats.org/drawingml/2006/main">
              <a:ext uri="{FF2B5EF4-FFF2-40B4-BE49-F238E27FC236}">
                <a16:creationId xmlns:a16="http://schemas.microsoft.com/office/drawing/2014/main" id="{AB6FB304-58D4-4602-9B02-7B15D84F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24" name="Week 2027-02-01">
            <a:extLst xmlns:a="http://schemas.openxmlformats.org/drawingml/2006/main">
              <a:ext uri="{FF2B5EF4-FFF2-40B4-BE49-F238E27FC236}">
                <a16:creationId xmlns:a16="http://schemas.microsoft.com/office/drawing/2014/main" id="{6E28B8F0-C558-40BB-8754-FC885084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Feb</a:t>
            </a:r>
          </a:p>
        </p:txBody>
      </p:sp>
      <p:sp>
        <p:nvSpPr>
          <p:cNvPr id="25" name="Week 2027-03-01">
            <a:extLst xmlns:a="http://schemas.openxmlformats.org/drawingml/2006/main">
              <a:ext uri="{FF2B5EF4-FFF2-40B4-BE49-F238E27FC236}">
                <a16:creationId xmlns:a16="http://schemas.microsoft.com/office/drawing/2014/main" id="{598FF916-38A6-4FA7-9685-086E3886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511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1180DE2B-B1F2-4D2D-B720-5AA03A8B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2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A9CAE2D-7D6E-42C6-BE20-D0A5672D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13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45F845AF-4E43-4B00-A0A1-AFAB674E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4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6BBFE1F1-78D9-4E32-B446-FF4F8DE3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15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6A969DCA-4996-46E0-AB95-5BB8918C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6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7B87BBED-08EF-4B8E-8961-38E46052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7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9C104601-4299-4E2C-A87A-1024EA2B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16D7CC4F-E977-46C9-BA66-3BDD5868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19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987CEA0-0D29-4B87-82A9-304F9A37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615315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0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4B0C0306-318A-455F-8830-9C842F9A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1150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521" name="Date stamp">
            <a:extLst xmlns:a="http://schemas.openxmlformats.org/drawingml/2006/main">
              <a:ext uri="{FF2B5EF4-FFF2-40B4-BE49-F238E27FC236}">
                <a16:creationId xmlns:a16="http://schemas.microsoft.com/office/drawing/2014/main" id="{E9F2EE4C-07E9-4A22-BC9F-708A8887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1150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20, 2026</a:t>
            </a:r>
          </a:p>
        </p:txBody>
      </p:sp>
      <p:sp>
        <p:nvSpPr>
          <p:cNvPr id="522" name="Footer 1">
            <a:extLst xmlns:a="http://schemas.openxmlformats.org/drawingml/2006/main">
              <a:ext uri="{FF2B5EF4-FFF2-40B4-BE49-F238E27FC236}">
                <a16:creationId xmlns:a16="http://schemas.microsoft.com/office/drawing/2014/main" id="{FD06992D-F20A-48A3-8E82-835D5E11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37222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AI supports literature study, coding, analysis and writing. Review and interpretation are included in the scheduled work.</a:t>
            </a:r>
          </a:p>
        </p:txBody>
      </p:sp>
      <p:sp>
        <p:nvSpPr>
          <p:cNvPr id="523" name="Footer 2">
            <a:extLst xmlns:a="http://schemas.openxmlformats.org/drawingml/2006/main">
              <a:ext uri="{FF2B5EF4-FFF2-40B4-BE49-F238E27FC236}">
                <a16:creationId xmlns:a16="http://schemas.microsoft.com/office/drawing/2014/main" id="{A3E4BFCE-ACF5-4E7F-A533-25AF8BD7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913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Columns show week starting dates, then months in 2027. Course dates follow the syllabus schedule. Research completion remains open.</a:t>
            </a:r>
          </a:p>
        </p:txBody>
      </p:sp>
      <p:sp>
        <p:nvSpPr>
          <p:cNvPr id="524" name="Page">
            <a:extLst xmlns:a="http://schemas.openxmlformats.org/drawingml/2006/main">
              <a:ext uri="{FF2B5EF4-FFF2-40B4-BE49-F238E27FC236}">
                <a16:creationId xmlns:a16="http://schemas.microsoft.com/office/drawing/2014/main" id="{EA07A163-829D-491F-92CB-76B0A096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001" name="Section Stages 1 and 2 | Representation analysis and defining alignm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02" name="Section title Stages 1 and 2 | Representation analysis and defining alignm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1 and 2 | Representation analysis and defining alignment</a:t>
            </a:r>
          </a:p>
        </p:txBody>
      </p:sp>
      <p:sp>
        <p:nvSpPr>
          <p:cNvPr id="5003" name="Week rule 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4" name="Week rule 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5" name="Week rule 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6" name="Week rule 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7" name="Week rule 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8" name="Week rule 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9" name="Week rule 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0" name="Week rule 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1" name="Week rule 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2" name="Week rule 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3" name="Week rule 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4" name="Week rule 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5" name="Week rule 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6" name="Week rule 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7" name="Week rule 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8" name="Week rule 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9" name="Week rule 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0" name="Week rule 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1" name="Week rule 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2" name="Week rule 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3" name="Task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48590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Initial six-paper review</a:t>
            </a:r>
          </a:p>
        </p:txBody>
      </p:sp>
      <p:sp>
        <p:nvSpPr>
          <p:cNvPr id="5024" name="Statu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48590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25" name="Bar 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52194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6" name="Bar 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52194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7" name="Bar 0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521941"/>
            <a:ext cx="4256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8" name="Row rule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66275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9" name="Row tint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662757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30" name="Week rule 1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1" name="Week rule 1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2" name="Week rule 1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3" name="Week rule 1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4" name="Week rule 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5" name="Week rule 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6" name="Week rule 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7" name="Week rule 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8" name="Week rule 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9" name="Week rule 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0" name="Week rule 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1" name="Week rule 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2" name="Week rule 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3" name="Week rule 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4" name="Week rule 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5" name="Week rule 1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6" name="Week rule 1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7" name="Week rule 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8" name="Week rule 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9" name="Week rule 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0" name="Task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66275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Paper discussion, data checks and interpretation</a:t>
            </a:r>
          </a:p>
        </p:txBody>
      </p:sp>
      <p:sp>
        <p:nvSpPr>
          <p:cNvPr id="5051" name="Statu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66275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052" name="Bar 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69879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3" name="Bar 1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69879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4" name="Bar 1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698798"/>
            <a:ext cx="127707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5" name="Row rule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83961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6" name="Week rule 2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7" name="Week rule 2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8" name="Week rule 2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9" name="Week rule 2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0" name="Week rule 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1" name="Week rule 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2" name="Week rule 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3" name="Week rule 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4" name="Week rule 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5" name="Week rule 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6" name="Week rule 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7" name="Week rule 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8" name="Week rule 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9" name="Week rule 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0" name="Week rule 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1" name="Week rule 2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2" name="Week rule 2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3" name="Week rule 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4" name="Week rule 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5" name="Week rule 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6" name="Task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83961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BioLangFusion/IsoFormer comparisons with DNA</a:t>
            </a:r>
          </a:p>
        </p:txBody>
      </p:sp>
      <p:sp>
        <p:nvSpPr>
          <p:cNvPr id="5077" name="Statu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3961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78" name="Bar 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875655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79" name="Row rule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1647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0" name="Row tint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16471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81" name="Week rule 3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2" name="Week rule 3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3" name="Week rule 3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4" name="Week rule 3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5" name="Week rule 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6" name="Week rule 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7" name="Week rule 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8" name="Week rule 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9" name="Week rule 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0" name="Week rule 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1" name="Week rule 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2" name="Week rule 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3" name="Week rule 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4" name="Week rule 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5" name="Week rule 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6" name="Week rule 3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7" name="Week rule 3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8" name="Week rule 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9" name="Week rule 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0" name="Week rule 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1" name="Task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16471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 7 review and working alignment definition</a:t>
            </a:r>
          </a:p>
        </p:txBody>
      </p:sp>
      <p:sp>
        <p:nvSpPr>
          <p:cNvPr id="5102" name="Statu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16471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03" name="Mileston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3783" y="2057274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04" name="Row rul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9332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5" name="Week rule 4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6" name="Week rule 4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7" name="Week rule 4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8" name="Week rule 4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9" name="Week rule 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0" name="Week rule 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1" name="Week rule 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2" name="Week rule 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3" name="Week rule 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4" name="Week rule 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5" name="Week rule 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6" name="Week rule 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7" name="Week rule 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8" name="Week rule 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9" name="Week rule 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0" name="Week rule 4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1" name="Week rule 4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2" name="Week rule 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3" name="Week rule 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4" name="Week rule 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5" name="Task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193328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Feedback revisions and comparison protocol</a:t>
            </a:r>
          </a:p>
        </p:txBody>
      </p:sp>
      <p:sp>
        <p:nvSpPr>
          <p:cNvPr id="5126" name="Statu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93328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27" name="Bar 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693" y="2229369"/>
            <a:ext cx="17027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28" name="Row rule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7018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9" name="Section Stages 3 and 4 | The research plan first, then the fusion design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70185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30" name="Section title Stages 3 and 4 | The research plan first, then the fusion design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370185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3 and 4 | The research plan first, then the fusion designs</a:t>
            </a:r>
          </a:p>
        </p:txBody>
      </p:sp>
      <p:sp>
        <p:nvSpPr>
          <p:cNvPr id="5131" name="Row tint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0210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32" name="Week rule 5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3" name="Week rule 5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4" name="Week rule 5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5" name="Week rule 5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6" name="Week rule 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7" name="Week rule 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8" name="Week rule 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9" name="Week rule 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0" name="Week rule 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1" name="Week rule 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2" name="Week rule 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3" name="Week rule 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4" name="Week rule 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5" name="Week rule 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6" name="Week rule 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7" name="Week rule 5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8" name="Week rule 5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9" name="Week rule 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0" name="Week rule 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1" name="Week rule 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2" name="Task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7021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Baselines and BioLangFusion reproduction (plan item 1)</a:t>
            </a:r>
          </a:p>
        </p:txBody>
      </p:sp>
      <p:sp>
        <p:nvSpPr>
          <p:cNvPr id="5153" name="Statu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7021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154" name="Bar 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7555" y="2606251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5" name="Bar 5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60625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6" name="Bar 5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60625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7" name="Row rule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4706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8" name="Week rule 6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9" name="Week rule 6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0" name="Week rule 6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1" name="Week rule 6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2" name="Week rule 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3" name="Week rule 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4" name="Week rule 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5" name="Week rule 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6" name="Week rule 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7" name="Week rule 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8" name="Week rule 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9" name="Week rule 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0" name="Week rule 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1" name="Week rule 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2" name="Week rule 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3" name="Week rule 6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4" name="Week rule 6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5" name="Week rule 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6" name="Week rule 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7" name="Week rule 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8" name="Task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4706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Encoder swaps, LucaOne, IsoFormer (plan items 1 and 2)</a:t>
            </a:r>
          </a:p>
        </p:txBody>
      </p:sp>
      <p:sp>
        <p:nvSpPr>
          <p:cNvPr id="5179" name="Statu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4706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180" name="Bar 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1" name="Bar 6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2" name="Bar 6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3" name="Bar 6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4" name="Row rule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2392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5" name="Row tint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23924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6" name="Week rule 7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7" name="Week rule 7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8" name="Week rule 7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9" name="Week rule 7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0" name="Week rule 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1" name="Week rule 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2" name="Week rule 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3" name="Week rule 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4" name="Week rule 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5" name="Week rule 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6" name="Week rule 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7" name="Week rule 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8" name="Week rule 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9" name="Week rule 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0" name="Week rule 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1" name="Week rule 7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2" name="Week rule 7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3" name="Week rule 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4" name="Week rule 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5" name="Week rule 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6" name="Task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92392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Half-life and translation efficiency (plan items 3 and 4)</a:t>
            </a:r>
          </a:p>
        </p:txBody>
      </p:sp>
      <p:sp>
        <p:nvSpPr>
          <p:cNvPr id="5207" name="Statu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2392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208" name="Bar 7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09" name="Bar 7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0" name="Bar 7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1" name="Bar 7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2" name="Row rule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078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3" name="Week rule 8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4" name="Week rule 8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5" name="Week rule 8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6" name="Week rule 8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7" name="Week rule 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8" name="Week rule 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9" name="Week rule 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0" name="Week rule 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1" name="Week rule 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2" name="Week rule 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3" name="Week rule 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4" name="Week rule 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5" name="Week rule 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6" name="Week rule 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7" name="Week rule 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8" name="Week rule 8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9" name="Week rule 8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0" name="Week rule 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1" name="Week rule 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2" name="Week rule 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3" name="Task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100781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Controls with mRFP, repeated runs and synthesis</a:t>
            </a:r>
          </a:p>
        </p:txBody>
      </p:sp>
      <p:sp>
        <p:nvSpPr>
          <p:cNvPr id="5234" name="Statu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00781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235" name="Bar 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6" name="Bar 8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7" name="Bar 8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8" name="Bar 8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9" name="Bar 8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0" name="Bar 8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1" name="Bar 8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2" name="Row rule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7763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3" name="Row tint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77638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4" name="Week rule 9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5" name="Week rule 9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6" name="Week rule 9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7" name="Week rule 9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8" name="Week rule 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9" name="Week rule 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0" name="Week rule 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1" name="Week rule 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2" name="Week rule 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3" name="Week rule 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4" name="Week rule 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5" name="Week rule 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6" name="Week rule 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7" name="Week rule 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8" name="Week rule 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9" name="Week rule 9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0" name="Week rule 9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1" name="Week rule 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2" name="Week rule 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3" name="Week rule 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4" name="Task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77638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Coupled Mamba, cross-attention, alignment ablation</a:t>
            </a:r>
          </a:p>
        </p:txBody>
      </p:sp>
      <p:sp>
        <p:nvSpPr>
          <p:cNvPr id="5265" name="Statu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77638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266" name="Bar 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313679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67" name="Bar 9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313679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68" name="Row rule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5449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9" name="Week rule 1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0" name="Week rule 1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1" name="Week rule 1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2" name="Week rule 1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3" name="Week rule 1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4" name="Week rule 1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5" name="Week rule 1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6" name="Week rule 1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7" name="Week rule 1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8" name="Week rule 1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9" name="Week rule 1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0" name="Week rule 1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1" name="Week rule 1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2" name="Week rule 1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3" name="Week rule 1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4" name="Week rule 1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5" name="Week rule 1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6" name="Week rule 1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7" name="Week rule 1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8" name="Week rule 1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9" name="Task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54495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layer and tokenizer comparisons</a:t>
            </a:r>
          </a:p>
        </p:txBody>
      </p:sp>
      <p:sp>
        <p:nvSpPr>
          <p:cNvPr id="5290" name="Statu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54495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291" name="Bar 1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7555" y="3490536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2" name="Bar 1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3" name="Bar 10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4" name="Bar 10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5" name="Bar 10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6" name="Bar 10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7" name="Row rule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3135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8" name="Section Research writing and coordinat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31352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99" name="Section title Research writing and coordinat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631352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writing and coordination</a:t>
            </a:r>
          </a:p>
        </p:txBody>
      </p:sp>
      <p:sp>
        <p:nvSpPr>
          <p:cNvPr id="5300" name="Row tint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31377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01" name="Week rule 11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2" name="Week rule 11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3" name="Week rule 11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4" name="Week rule 11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5" name="Week rule 1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6" name="Week rule 1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7" name="Week rule 1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8" name="Week rule 1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9" name="Week rule 1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0" name="Week rule 1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1" name="Week rule 1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2" name="Week rule 1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3" name="Week rule 1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4" name="Week rule 1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5" name="Week rule 1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6" name="Week rule 11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7" name="Week rule 11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8" name="Week rule 1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9" name="Week rule 1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20" name="Week rule 1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21" name="Task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83137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Team coordination and research decisions</a:t>
            </a:r>
          </a:p>
        </p:txBody>
      </p:sp>
      <p:sp>
        <p:nvSpPr>
          <p:cNvPr id="5322" name="Statu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3137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323" name="Bar 1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4" name="Bar 11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5" name="Bar 11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6" name="Bar 11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7" name="Bar 11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8" name="Bar 11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9" name="Bar 11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0" name="Bar 11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1" name="Bar 11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2" name="Bar 11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3" name="Bar 11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4" name="Bar 11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5" name="Bar 11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6" name="Bar 11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7" name="Bar 11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8" name="Bar 11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9" name="Bar 11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0" name="Bar 11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1" name="Bar 11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2" name="Row rule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823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3" name="Week rule 12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4" name="Week rule 12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5" name="Week rule 12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6" name="Week rule 12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7" name="Week rule 1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8" name="Week rule 1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9" name="Week rule 1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0" name="Week rule 1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1" name="Week rule 1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2" name="Week rule 1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3" name="Week rule 1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4" name="Week rule 1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5" name="Week rule 1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6" name="Week rule 1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7" name="Week rule 1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8" name="Week rule 12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9" name="Week rule 12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0" name="Week rule 1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1" name="Week rule 1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2" name="Week rule 1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3" name="Task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00823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Living Overleaf manuscript</a:t>
            </a:r>
          </a:p>
        </p:txBody>
      </p:sp>
      <p:sp>
        <p:nvSpPr>
          <p:cNvPr id="5364" name="Statu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0823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365" name="Bar 1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1863" y="4044275"/>
            <a:ext cx="8513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6" name="Bar 12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7" name="Bar 12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8" name="Bar 12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9" name="Bar 12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0" name="Bar 12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1" name="Bar 12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2" name="Bar 12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3" name="Bar 12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4" name="Bar 12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5" name="Bar 12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6" name="Bar 12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7" name="Bar 12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8" name="Bar 12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9" name="Bar 12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0" name="Bar 12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1" name="Bar 12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2" name="Bar 12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3" name="Row rule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18509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4" name="Section CAP6942 | Course deliverabl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185091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5" name="Section title CAP6942 | Course deliverabl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185091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CAP6942 | Course deliverables</a:t>
            </a:r>
          </a:p>
        </p:txBody>
      </p:sp>
      <p:sp>
        <p:nvSpPr>
          <p:cNvPr id="5386" name="Row tint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85116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7" name="Week rule 13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8" name="Week rule 13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9" name="Week rule 13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0" name="Week rule 13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1" name="Week rule 1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2" name="Week rule 1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3" name="Week rule 1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4" name="Week rule 1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5" name="Week rule 1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6" name="Week rule 1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7" name="Week rule 1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8" name="Week rule 1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9" name="Week rule 1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0" name="Week rule 1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1" name="Week rule 1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2" name="Week rule 13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3" name="Week rule 13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4" name="Week rule 1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5" name="Week rule 1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6" name="Week rule 1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7" name="Task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385116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Bibliography, Research Canvas and project plan | Sep 27</a:t>
            </a:r>
          </a:p>
        </p:txBody>
      </p:sp>
      <p:sp>
        <p:nvSpPr>
          <p:cNvPr id="5408" name="Statu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85116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409" name="Bar 1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1863" y="4421157"/>
            <a:ext cx="8513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10" name="Row rule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6197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1" name="Week rule 14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2" name="Week rule 14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3" name="Week rule 14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4" name="Week rule 14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5" name="Week rule 1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6" name="Week rule 1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7" name="Week rule 1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8" name="Week rule 1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9" name="Week rule 1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0" name="Week rule 1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1" name="Week rule 1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2" name="Week rule 1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3" name="Week rule 1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4" name="Week rule 1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5" name="Week rule 1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6" name="Week rule 14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7" name="Week rule 14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8" name="Week rule 1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9" name="Week rule 1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0" name="Week rule 1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1" name="Task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561973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Prepare final report, presentation and video</a:t>
            </a:r>
          </a:p>
        </p:txBody>
      </p:sp>
      <p:sp>
        <p:nvSpPr>
          <p:cNvPr id="5432" name="Statu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61973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33" name="Bar 1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4" name="Bar 14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5" name="Bar 14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6" name="Row rule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883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7" name="Row tint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8830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8" name="Week rule 15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9" name="Week rule 15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0" name="Week rule 15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1" name="Week rule 15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2" name="Week rule 1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3" name="Week rule 1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4" name="Week rule 1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5" name="Week rule 1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6" name="Week rule 1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7" name="Week rule 1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8" name="Week rule 1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9" name="Week rule 1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0" name="Week rule 1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1" name="Week rule 1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2" name="Week rule 1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3" name="Week rule 15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4" name="Week rule 15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5" name="Week rule 1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6" name="Week rule 1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7" name="Week rule 1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8" name="Task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883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Rehearsal | Dec 1</a:t>
            </a:r>
          </a:p>
        </p:txBody>
      </p:sp>
      <p:sp>
        <p:nvSpPr>
          <p:cNvPr id="5459" name="Statu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3883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60" name="Mileston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5086" y="4779633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61" name="Row rul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1568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2" name="Week rule 16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3" name="Week rule 16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4" name="Week rule 16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5" name="Week rule 16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6" name="Week rule 1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7" name="Week rule 1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8" name="Week rule 1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9" name="Week rule 1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0" name="Week rule 1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1" name="Week rule 1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2" name="Week rule 1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3" name="Week rule 1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4" name="Week rule 1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5" name="Week rule 1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6" name="Week rule 1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7" name="Week rule 16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8" name="Week rule 16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9" name="Week rule 1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0" name="Week rule 1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1" name="Week rule 1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2" name="Task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1568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Final report | Dec 7</a:t>
            </a:r>
          </a:p>
        </p:txBody>
      </p:sp>
      <p:sp>
        <p:nvSpPr>
          <p:cNvPr id="5483" name="Statu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91568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84" name="Mileston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0501" y="495649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85" name="Row rul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9254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6" name="Row tint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92544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87" name="Week rule 17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8" name="Week rule 17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9" name="Week rule 17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0" name="Week rule 17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1" name="Week rule 1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2" name="Week rule 1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3" name="Week rule 1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4" name="Week rule 1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5" name="Week rule 1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6" name="Week rule 1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7" name="Week rule 1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8" name="Week rule 1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9" name="Week rule 1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0" name="Week rule 1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1" name="Week rule 1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2" name="Week rule 17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3" name="Week rule 17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4" name="Week rule 1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5" name="Week rule 1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6" name="Week rule 1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7" name="Task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09254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Presentation and video | Dec 8</a:t>
            </a:r>
          </a:p>
        </p:txBody>
      </p:sp>
      <p:sp>
        <p:nvSpPr>
          <p:cNvPr id="5508" name="Status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254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509" name="Milestone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3070" y="5133347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10" name="Row rule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26940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1" name="Section Research continuation | Provisional January to March 202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269401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12" name="Section title Research continuation | Provisional January to March 202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269401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continuation | Provisional January to March 2027</a:t>
            </a:r>
          </a:p>
        </p:txBody>
      </p:sp>
      <p:sp>
        <p:nvSpPr>
          <p:cNvPr id="5513" name="Week rule 18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4" name="Week rule 18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5" name="Week rule 18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6" name="Week rule 18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7" name="Week rule 1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8" name="Week rule 1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9" name="Week rule 1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0" name="Week rule 1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1" name="Week rule 1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2" name="Week rule 1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3" name="Week rule 1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4" name="Week rule 1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5" name="Week rule 1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6" name="Week rule 1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7" name="Week rule 1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8" name="Week rule 18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9" name="Week rule 18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0" name="Week rule 1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1" name="Week rule 1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2" name="Week rule 1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3" name="Task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469426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Further experiments, structure and external validation</a:t>
            </a:r>
          </a:p>
        </p:txBody>
      </p:sp>
      <p:sp>
        <p:nvSpPr>
          <p:cNvPr id="5534" name="Status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469426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535" name="Bar 1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505467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6" name="Row rule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4628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7" name="Row tint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46283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38" name="Week rule 19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9" name="Week rule 19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0" name="Week rule 19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1" name="Week rule 19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2" name="Week rule 1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3" name="Week rule 1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4" name="Week rule 1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5" name="Week rule 1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6" name="Week rule 1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7" name="Week rule 1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8" name="Week rule 1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9" name="Week rule 1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0" name="Week rule 1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1" name="Week rule 1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2" name="Week rule 1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3" name="Week rule 19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4" name="Week rule 19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5" name="Week rule 1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6" name="Week rule 1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7" name="Week rule 1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8" name="Task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646283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Multi-teacher distillation (plan item 7)</a:t>
            </a:r>
          </a:p>
        </p:txBody>
      </p:sp>
      <p:sp>
        <p:nvSpPr>
          <p:cNvPr id="5559" name="Status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646283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560" name="Bar 1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682324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1" name="Row rule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82314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2" name="Week rule 2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3" name="Week rule 2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4" name="Week rule 2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5" name="Week rule 2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6" name="Week rule 2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7" name="Week rule 2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8" name="Week rule 2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9" name="Week rule 2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0" name="Week rule 2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1" name="Week rule 2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2" name="Week rule 2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3" name="Week rule 2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4" name="Week rule 2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5" name="Week rule 2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6" name="Week rule 2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7" name="Week rule 2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8" name="Week rule 2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9" name="Week rule 2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0" name="Week rule 2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1" name="Week rule 2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2" name="Task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82314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Manuscript consolidation and March review</a:t>
            </a:r>
          </a:p>
        </p:txBody>
      </p:sp>
      <p:sp>
        <p:nvSpPr>
          <p:cNvPr id="5583" name="Status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82314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584" name="Bar 2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859181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5" name="Bar 2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859181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6" name="Milestone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3785" y="5863943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7" name="Row rule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9999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3046235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1" name="Title">
            <a:extLst xmlns:a="http://schemas.openxmlformats.org/drawingml/2006/main">
              <a:ext uri="{FF2B5EF4-FFF2-40B4-BE49-F238E27FC236}">
                <a16:creationId xmlns:a16="http://schemas.microsoft.com/office/drawing/2014/main" id="{58B9296E-5E14-4E81-9481-BFDBCAE2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1 and 2 | Representation Analysis and Defining Alignment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2820F1B-BBB4-4FFC-A2EB-E677D5B6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 1 analyses are complete for twelve encoders on two datasets. Stage 2, the alignment decision, is drafted for the October 7 review.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CB5A2AB6-ACF7-4A31-BD65-45865747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29516F3C-0294-4D5A-875D-0A7E1E1B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973EA8A8-3943-41CF-9DF9-F8508B68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816CD67F-8C10-4D8D-879F-86079E0D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7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42DC6325-BD99-4832-BAC5-ABD477B0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8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37FB57EB-53AE-4EA1-9E32-D0AAD0A3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9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FED1ED19-42D2-48B2-BAA2-DCC9FF56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0" name="Section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86730882-7DD2-4013-B0B7-960B178B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Section title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7C7AF690-0014-46C1-95F8-EA8ECE2C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Study and interpretation</a:t>
            </a:r>
          </a:p>
        </p:txBody>
      </p:sp>
      <p:sp>
        <p:nvSpPr>
          <p:cNvPr id="12" name="Task 0">
            <a:extLst xmlns:a="http://schemas.openxmlformats.org/drawingml/2006/main">
              <a:ext uri="{FF2B5EF4-FFF2-40B4-BE49-F238E27FC236}">
                <a16:creationId xmlns:a16="http://schemas.microsoft.com/office/drawing/2014/main" id="{5E80A84C-A1C8-4C6E-A9A7-A42518BA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144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2. Paper discussion and notebook walkthrough</a:t>
            </a:r>
          </a:p>
        </p:txBody>
      </p:sp>
      <p:sp>
        <p:nvSpPr>
          <p:cNvPr id="13" name="Status 0">
            <a:extLst xmlns:a="http://schemas.openxmlformats.org/drawingml/2006/main">
              <a:ext uri="{FF2B5EF4-FFF2-40B4-BE49-F238E27FC236}">
                <a16:creationId xmlns:a16="http://schemas.microsoft.com/office/drawing/2014/main" id="{04ABB8B1-C265-451F-AAF6-771321CF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144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" name="Dates 0">
            <a:extLst xmlns:a="http://schemas.openxmlformats.org/drawingml/2006/main">
              <a:ext uri="{FF2B5EF4-FFF2-40B4-BE49-F238E27FC236}">
                <a16:creationId xmlns:a16="http://schemas.microsoft.com/office/drawing/2014/main" id="{14682879-5663-4AA5-AE1E-E5B8F093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144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15" name="Week rule 0 2026-09-21">
            <a:extLst xmlns:a="http://schemas.openxmlformats.org/drawingml/2006/main">
              <a:ext uri="{FF2B5EF4-FFF2-40B4-BE49-F238E27FC236}">
                <a16:creationId xmlns:a16="http://schemas.microsoft.com/office/drawing/2014/main" id="{0974C055-97E6-4363-B0E2-6E3956E8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Week rule 0 2026-09-28">
            <a:extLst xmlns:a="http://schemas.openxmlformats.org/drawingml/2006/main">
              <a:ext uri="{FF2B5EF4-FFF2-40B4-BE49-F238E27FC236}">
                <a16:creationId xmlns:a16="http://schemas.microsoft.com/office/drawing/2014/main" id="{27571280-B0B1-4F38-8E6F-6FFCF4E1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Week rule 0 2026-10-05">
            <a:extLst xmlns:a="http://schemas.openxmlformats.org/drawingml/2006/main">
              <a:ext uri="{FF2B5EF4-FFF2-40B4-BE49-F238E27FC236}">
                <a16:creationId xmlns:a16="http://schemas.microsoft.com/office/drawing/2014/main" id="{F56BFEA7-0122-45A4-962B-3A210C9A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Bar 0 0">
            <a:extLst xmlns:a="http://schemas.openxmlformats.org/drawingml/2006/main">
              <a:ext uri="{FF2B5EF4-FFF2-40B4-BE49-F238E27FC236}">
                <a16:creationId xmlns:a16="http://schemas.microsoft.com/office/drawing/2014/main" id="{BCFF6B03-F2CC-4EFE-B5AC-1484C31C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58591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Row rule 0">
            <a:extLst xmlns:a="http://schemas.openxmlformats.org/drawingml/2006/main">
              <a:ext uri="{FF2B5EF4-FFF2-40B4-BE49-F238E27FC236}">
                <a16:creationId xmlns:a16="http://schemas.microsoft.com/office/drawing/2014/main" id="{E226DBD5-75A4-4AE1-A273-131C1B54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Row tint 1">
            <a:extLst xmlns:a="http://schemas.openxmlformats.org/drawingml/2006/main">
              <a:ext uri="{FF2B5EF4-FFF2-40B4-BE49-F238E27FC236}">
                <a16:creationId xmlns:a16="http://schemas.microsoft.com/office/drawing/2014/main" id="{366380BD-FE1C-470A-972E-6E15F517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Task 1">
            <a:extLst xmlns:a="http://schemas.openxmlformats.org/drawingml/2006/main">
              <a:ext uri="{FF2B5EF4-FFF2-40B4-BE49-F238E27FC236}">
                <a16:creationId xmlns:a16="http://schemas.microsoft.com/office/drawing/2014/main" id="{CF0E05F0-2296-480F-A70F-64856EE1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621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6. Interpret representation metrics and pilot results</a:t>
            </a:r>
          </a:p>
        </p:txBody>
      </p:sp>
      <p:sp>
        <p:nvSpPr>
          <p:cNvPr id="22" name="Status 1">
            <a:extLst xmlns:a="http://schemas.openxmlformats.org/drawingml/2006/main">
              <a:ext uri="{FF2B5EF4-FFF2-40B4-BE49-F238E27FC236}">
                <a16:creationId xmlns:a16="http://schemas.microsoft.com/office/drawing/2014/main" id="{49BD2F84-B39A-499C-875B-5EE3F1D0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621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23" name="Dates 1">
            <a:extLst xmlns:a="http://schemas.openxmlformats.org/drawingml/2006/main">
              <a:ext uri="{FF2B5EF4-FFF2-40B4-BE49-F238E27FC236}">
                <a16:creationId xmlns:a16="http://schemas.microsoft.com/office/drawing/2014/main" id="{E578AD4E-A72E-4380-A4DF-A1B3238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621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24" name="Week rule 1 2026-09-21">
            <a:extLst xmlns:a="http://schemas.openxmlformats.org/drawingml/2006/main">
              <a:ext uri="{FF2B5EF4-FFF2-40B4-BE49-F238E27FC236}">
                <a16:creationId xmlns:a16="http://schemas.microsoft.com/office/drawing/2014/main" id="{6D46318F-20C1-450B-84D8-EFC5CEDD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Week rule 1 2026-09-28">
            <a:extLst xmlns:a="http://schemas.openxmlformats.org/drawingml/2006/main">
              <a:ext uri="{FF2B5EF4-FFF2-40B4-BE49-F238E27FC236}">
                <a16:creationId xmlns:a16="http://schemas.microsoft.com/office/drawing/2014/main" id="{2A36C8ED-EC83-411B-A13C-189767DE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Week rule 1 2026-10-05">
            <a:extLst xmlns:a="http://schemas.openxmlformats.org/drawingml/2006/main">
              <a:ext uri="{FF2B5EF4-FFF2-40B4-BE49-F238E27FC236}">
                <a16:creationId xmlns:a16="http://schemas.microsoft.com/office/drawing/2014/main" id="{1D75FB64-4881-40E1-A2D5-0247CF29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Bar 1 0">
            <a:extLst xmlns:a="http://schemas.openxmlformats.org/drawingml/2006/main">
              <a:ext uri="{FF2B5EF4-FFF2-40B4-BE49-F238E27FC236}">
                <a16:creationId xmlns:a16="http://schemas.microsoft.com/office/drawing/2014/main" id="{DD4FD363-AADF-416D-A75E-8D2B7AD5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83356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" name="Row rule 1">
            <a:extLst xmlns:a="http://schemas.openxmlformats.org/drawingml/2006/main">
              <a:ext uri="{FF2B5EF4-FFF2-40B4-BE49-F238E27FC236}">
                <a16:creationId xmlns:a16="http://schemas.microsoft.com/office/drawing/2014/main" id="{DDF300E5-4790-4DD7-9BD4-3056B0D1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097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Task 2">
            <a:extLst xmlns:a="http://schemas.openxmlformats.org/drawingml/2006/main">
              <a:ext uri="{FF2B5EF4-FFF2-40B4-BE49-F238E27FC236}">
                <a16:creationId xmlns:a16="http://schemas.microsoft.com/office/drawing/2014/main" id="{A33A8936-E846-4024-80B2-6028297E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09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7. Draft a measurable definition of alignment</a:t>
            </a:r>
          </a:p>
        </p:txBody>
      </p:sp>
      <p:sp>
        <p:nvSpPr>
          <p:cNvPr id="30" name="Status 2">
            <a:extLst xmlns:a="http://schemas.openxmlformats.org/drawingml/2006/main">
              <a:ext uri="{FF2B5EF4-FFF2-40B4-BE49-F238E27FC236}">
                <a16:creationId xmlns:a16="http://schemas.microsoft.com/office/drawing/2014/main" id="{AD228153-277E-4B3C-97E5-FE13FD8C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009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31" name="Dates 2">
            <a:extLst xmlns:a="http://schemas.openxmlformats.org/drawingml/2006/main">
              <a:ext uri="{FF2B5EF4-FFF2-40B4-BE49-F238E27FC236}">
                <a16:creationId xmlns:a16="http://schemas.microsoft.com/office/drawing/2014/main" id="{53A4AE4F-BC90-4239-A83A-6E512E27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009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32" name="Week rule 2 2026-09-21">
            <a:extLst xmlns:a="http://schemas.openxmlformats.org/drawingml/2006/main">
              <a:ext uri="{FF2B5EF4-FFF2-40B4-BE49-F238E27FC236}">
                <a16:creationId xmlns:a16="http://schemas.microsoft.com/office/drawing/2014/main" id="{5BCA0E6A-B5CE-4EB9-A523-C737C834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Week rule 2 2026-09-28">
            <a:extLst xmlns:a="http://schemas.openxmlformats.org/drawingml/2006/main">
              <a:ext uri="{FF2B5EF4-FFF2-40B4-BE49-F238E27FC236}">
                <a16:creationId xmlns:a16="http://schemas.microsoft.com/office/drawing/2014/main" id="{623C7377-EA9B-4586-9D5D-46BC01B5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Week rule 2 2026-10-05">
            <a:extLst xmlns:a="http://schemas.openxmlformats.org/drawingml/2006/main">
              <a:ext uri="{FF2B5EF4-FFF2-40B4-BE49-F238E27FC236}">
                <a16:creationId xmlns:a16="http://schemas.microsoft.com/office/drawing/2014/main" id="{F152D31C-6550-4CC8-8D09-AD889997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Bar 2 0">
            <a:extLst xmlns:a="http://schemas.openxmlformats.org/drawingml/2006/main">
              <a:ext uri="{FF2B5EF4-FFF2-40B4-BE49-F238E27FC236}">
                <a16:creationId xmlns:a16="http://schemas.microsoft.com/office/drawing/2014/main" id="{F49C613B-373F-467D-B841-AA1F19D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08121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6" name="Row rule 2">
            <a:extLst xmlns:a="http://schemas.openxmlformats.org/drawingml/2006/main">
              <a:ext uri="{FF2B5EF4-FFF2-40B4-BE49-F238E27FC236}">
                <a16:creationId xmlns:a16="http://schemas.microsoft.com/office/drawing/2014/main" id="{F1B05D6A-4C37-4B08-B088-C0CE8A87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Section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11F2E2B6-D14B-4F87-A9ED-6761CE6A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" name="Section title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73A1A4CE-0F61-4527-AF82-F43464D1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5742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Data and reproducibility</a:t>
            </a:r>
          </a:p>
        </p:txBody>
      </p:sp>
      <p:sp>
        <p:nvSpPr>
          <p:cNvPr id="39" name="Row tint 3">
            <a:extLst xmlns:a="http://schemas.openxmlformats.org/drawingml/2006/main">
              <a:ext uri="{FF2B5EF4-FFF2-40B4-BE49-F238E27FC236}">
                <a16:creationId xmlns:a16="http://schemas.microsoft.com/office/drawing/2014/main" id="{18F85BD9-AF67-407F-8BE5-F3CB41C3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4860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0" name="Task 3">
            <a:extLst xmlns:a="http://schemas.openxmlformats.org/drawingml/2006/main">
              <a:ext uri="{FF2B5EF4-FFF2-40B4-BE49-F238E27FC236}">
                <a16:creationId xmlns:a16="http://schemas.microsoft.com/office/drawing/2014/main" id="{8A97B9F8-D07A-479E-A329-7E269591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4860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3. Data labels, sequence regions and duplicates</a:t>
            </a:r>
          </a:p>
        </p:txBody>
      </p:sp>
      <p:sp>
        <p:nvSpPr>
          <p:cNvPr id="41" name="Status 3">
            <a:extLst xmlns:a="http://schemas.openxmlformats.org/drawingml/2006/main">
              <a:ext uri="{FF2B5EF4-FFF2-40B4-BE49-F238E27FC236}">
                <a16:creationId xmlns:a16="http://schemas.microsoft.com/office/drawing/2014/main" id="{0E90AC25-59A0-4524-A56C-CDBB3CB7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860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42" name="Dates 3">
            <a:extLst xmlns:a="http://schemas.openxmlformats.org/drawingml/2006/main">
              <a:ext uri="{FF2B5EF4-FFF2-40B4-BE49-F238E27FC236}">
                <a16:creationId xmlns:a16="http://schemas.microsoft.com/office/drawing/2014/main" id="{543F51A9-ED8C-443F-9B16-CF236C0D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4860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43" name="Week rule 3 2026-09-21">
            <a:extLst xmlns:a="http://schemas.openxmlformats.org/drawingml/2006/main">
              <a:ext uri="{FF2B5EF4-FFF2-40B4-BE49-F238E27FC236}">
                <a16:creationId xmlns:a16="http://schemas.microsoft.com/office/drawing/2014/main" id="{955DA5DC-DA69-4E52-8DC7-4451DE04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Week rule 3 2026-09-28">
            <a:extLst xmlns:a="http://schemas.openxmlformats.org/drawingml/2006/main">
              <a:ext uri="{FF2B5EF4-FFF2-40B4-BE49-F238E27FC236}">
                <a16:creationId xmlns:a16="http://schemas.microsoft.com/office/drawing/2014/main" id="{2D29E9DA-0F31-4F51-8B29-61A401C6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" name="Week rule 3 2026-10-05">
            <a:extLst xmlns:a="http://schemas.openxmlformats.org/drawingml/2006/main">
              <a:ext uri="{FF2B5EF4-FFF2-40B4-BE49-F238E27FC236}">
                <a16:creationId xmlns:a16="http://schemas.microsoft.com/office/drawing/2014/main" id="{C9FFDCE8-EB91-4DF2-8738-F4D322FD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" name="Bar 3 0">
            <a:extLst xmlns:a="http://schemas.openxmlformats.org/drawingml/2006/main">
              <a:ext uri="{FF2B5EF4-FFF2-40B4-BE49-F238E27FC236}">
                <a16:creationId xmlns:a16="http://schemas.microsoft.com/office/drawing/2014/main" id="{7F916FDC-68D6-4CBC-9881-7E4937BE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55746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7" name="Row rule 3">
            <a:extLst xmlns:a="http://schemas.openxmlformats.org/drawingml/2006/main">
              <a:ext uri="{FF2B5EF4-FFF2-40B4-BE49-F238E27FC236}">
                <a16:creationId xmlns:a16="http://schemas.microsoft.com/office/drawing/2014/main" id="{EF6A65B1-6F9C-4664-848F-CE67CF0D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336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Task 4">
            <a:extLst xmlns:a="http://schemas.openxmlformats.org/drawingml/2006/main">
              <a:ext uri="{FF2B5EF4-FFF2-40B4-BE49-F238E27FC236}">
                <a16:creationId xmlns:a16="http://schemas.microsoft.com/office/drawing/2014/main" id="{7B5F18B9-8928-4489-9582-38C633E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336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4. Train/test separation and preprocessing</a:t>
            </a:r>
          </a:p>
        </p:txBody>
      </p:sp>
      <p:sp>
        <p:nvSpPr>
          <p:cNvPr id="49" name="Status 4">
            <a:extLst xmlns:a="http://schemas.openxmlformats.org/drawingml/2006/main">
              <a:ext uri="{FF2B5EF4-FFF2-40B4-BE49-F238E27FC236}">
                <a16:creationId xmlns:a16="http://schemas.microsoft.com/office/drawing/2014/main" id="{02154963-20BA-4205-A010-D4DC5AE3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336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" name="Dates 4">
            <a:extLst xmlns:a="http://schemas.openxmlformats.org/drawingml/2006/main">
              <a:ext uri="{FF2B5EF4-FFF2-40B4-BE49-F238E27FC236}">
                <a16:creationId xmlns:a16="http://schemas.microsoft.com/office/drawing/2014/main" id="{8AAD25D2-D764-4863-A3BB-B4FE94AE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336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51" name="Week rule 4 2026-09-21">
            <a:extLst xmlns:a="http://schemas.openxmlformats.org/drawingml/2006/main">
              <a:ext uri="{FF2B5EF4-FFF2-40B4-BE49-F238E27FC236}">
                <a16:creationId xmlns:a16="http://schemas.microsoft.com/office/drawing/2014/main" id="{6FE76740-B8F7-4DC6-ABF7-58096F04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" name="Week rule 4 2026-09-28">
            <a:extLst xmlns:a="http://schemas.openxmlformats.org/drawingml/2006/main">
              <a:ext uri="{FF2B5EF4-FFF2-40B4-BE49-F238E27FC236}">
                <a16:creationId xmlns:a16="http://schemas.microsoft.com/office/drawing/2014/main" id="{1CBB6203-9B7D-4743-9B03-6E63170B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" name="Week rule 4 2026-10-05">
            <a:extLst xmlns:a="http://schemas.openxmlformats.org/drawingml/2006/main">
              <a:ext uri="{FF2B5EF4-FFF2-40B4-BE49-F238E27FC236}">
                <a16:creationId xmlns:a16="http://schemas.microsoft.com/office/drawing/2014/main" id="{268AA3A0-BD2F-47D3-B786-4D3994F5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Bar 4 0">
            <a:extLst xmlns:a="http://schemas.openxmlformats.org/drawingml/2006/main">
              <a:ext uri="{FF2B5EF4-FFF2-40B4-BE49-F238E27FC236}">
                <a16:creationId xmlns:a16="http://schemas.microsoft.com/office/drawing/2014/main" id="{7BE16C3F-1662-4EA8-AFEE-50B94DD1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80511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" name="Row rule 4">
            <a:extLst xmlns:a="http://schemas.openxmlformats.org/drawingml/2006/main">
              <a:ext uri="{FF2B5EF4-FFF2-40B4-BE49-F238E27FC236}">
                <a16:creationId xmlns:a16="http://schemas.microsoft.com/office/drawing/2014/main" id="{272596E3-BED4-4994-9999-09A60423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" name="Row tint 5">
            <a:extLst xmlns:a="http://schemas.openxmlformats.org/drawingml/2006/main">
              <a:ext uri="{FF2B5EF4-FFF2-40B4-BE49-F238E27FC236}">
                <a16:creationId xmlns:a16="http://schemas.microsoft.com/office/drawing/2014/main" id="{9AD3D4DE-AEA2-4EFB-8EC5-9E15634A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" name="Task 5">
            <a:extLst xmlns:a="http://schemas.openxmlformats.org/drawingml/2006/main">
              <a:ext uri="{FF2B5EF4-FFF2-40B4-BE49-F238E27FC236}">
                <a16:creationId xmlns:a16="http://schemas.microsoft.com/office/drawing/2014/main" id="{FBF3E053-31AF-4B3A-BEC5-617A1C33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9813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5. Run history, seeds and reproducibility</a:t>
            </a:r>
          </a:p>
        </p:txBody>
      </p:sp>
      <p:sp>
        <p:nvSpPr>
          <p:cNvPr id="58" name="Status 5">
            <a:extLst xmlns:a="http://schemas.openxmlformats.org/drawingml/2006/main">
              <a:ext uri="{FF2B5EF4-FFF2-40B4-BE49-F238E27FC236}">
                <a16:creationId xmlns:a16="http://schemas.microsoft.com/office/drawing/2014/main" id="{E344F87F-155D-46A0-AB94-8DBC9624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813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9" name="Dates 5">
            <a:extLst xmlns:a="http://schemas.openxmlformats.org/drawingml/2006/main">
              <a:ext uri="{FF2B5EF4-FFF2-40B4-BE49-F238E27FC236}">
                <a16:creationId xmlns:a16="http://schemas.microsoft.com/office/drawing/2014/main" id="{618CA022-F210-422A-9470-C838F3D4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9813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60" name="Week rule 5 2026-09-21">
            <a:extLst xmlns:a="http://schemas.openxmlformats.org/drawingml/2006/main">
              <a:ext uri="{FF2B5EF4-FFF2-40B4-BE49-F238E27FC236}">
                <a16:creationId xmlns:a16="http://schemas.microsoft.com/office/drawing/2014/main" id="{D71D999D-2418-4FD4-83FB-B9C8C4F9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1" name="Week rule 5 2026-09-28">
            <a:extLst xmlns:a="http://schemas.openxmlformats.org/drawingml/2006/main">
              <a:ext uri="{FF2B5EF4-FFF2-40B4-BE49-F238E27FC236}">
                <a16:creationId xmlns:a16="http://schemas.microsoft.com/office/drawing/2014/main" id="{297C668C-7410-4803-B0DB-09F5D16F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Week rule 5 2026-10-05">
            <a:extLst xmlns:a="http://schemas.openxmlformats.org/drawingml/2006/main">
              <a:ext uri="{FF2B5EF4-FFF2-40B4-BE49-F238E27FC236}">
                <a16:creationId xmlns:a16="http://schemas.microsoft.com/office/drawing/2014/main" id="{ABDF4312-A124-4D70-9C08-099FA0B9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3" name="Bar 5 0">
            <a:extLst xmlns:a="http://schemas.openxmlformats.org/drawingml/2006/main">
              <a:ext uri="{FF2B5EF4-FFF2-40B4-BE49-F238E27FC236}">
                <a16:creationId xmlns:a16="http://schemas.microsoft.com/office/drawing/2014/main" id="{FE3E5DF4-B98F-4FCC-8A2D-407A7442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05276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4" name="Row rule 5">
            <a:extLst xmlns:a="http://schemas.openxmlformats.org/drawingml/2006/main">
              <a:ext uri="{FF2B5EF4-FFF2-40B4-BE49-F238E27FC236}">
                <a16:creationId xmlns:a16="http://schemas.microsoft.com/office/drawing/2014/main" id="{B193B3E2-8AAD-460B-B03B-AFA5EA63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5" name="Section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F1D88B7D-F333-4866-84CB-0CA36E73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6" name="Section title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B2D6C172-5541-43B2-96AE-006E055A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89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Early implementation, writing and collaboration</a:t>
            </a:r>
          </a:p>
        </p:txBody>
      </p:sp>
      <p:sp>
        <p:nvSpPr>
          <p:cNvPr id="67" name="Task 6">
            <a:extLst xmlns:a="http://schemas.openxmlformats.org/drawingml/2006/main">
              <a:ext uri="{FF2B5EF4-FFF2-40B4-BE49-F238E27FC236}">
                <a16:creationId xmlns:a16="http://schemas.microsoft.com/office/drawing/2014/main" id="{1107A618-70AB-4FBD-A6D9-A6946456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575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8. Map BioLangFusion/IsoFormer inputs incl. DNA</a:t>
            </a:r>
          </a:p>
        </p:txBody>
      </p:sp>
      <p:sp>
        <p:nvSpPr>
          <p:cNvPr id="68" name="Status 6">
            <a:extLst xmlns:a="http://schemas.openxmlformats.org/drawingml/2006/main">
              <a:ext uri="{FF2B5EF4-FFF2-40B4-BE49-F238E27FC236}">
                <a16:creationId xmlns:a16="http://schemas.microsoft.com/office/drawing/2014/main" id="{4B1A4D4B-3F36-47B7-8407-FD0FB0B4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575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69" name="Dates 6">
            <a:extLst xmlns:a="http://schemas.openxmlformats.org/drawingml/2006/main">
              <a:ext uri="{FF2B5EF4-FFF2-40B4-BE49-F238E27FC236}">
                <a16:creationId xmlns:a16="http://schemas.microsoft.com/office/drawing/2014/main" id="{302FB208-3E06-4CF2-B6AA-56CD927F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575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9/28-10/2</a:t>
            </a:r>
          </a:p>
        </p:txBody>
      </p:sp>
      <p:sp>
        <p:nvSpPr>
          <p:cNvPr id="70" name="Week rule 6 2026-09-21">
            <a:extLst xmlns:a="http://schemas.openxmlformats.org/drawingml/2006/main">
              <a:ext uri="{FF2B5EF4-FFF2-40B4-BE49-F238E27FC236}">
                <a16:creationId xmlns:a16="http://schemas.microsoft.com/office/drawing/2014/main" id="{A919E0BB-BA35-4EC1-AACD-AD7F46C0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1" name="Week rule 6 2026-09-28">
            <a:extLst xmlns:a="http://schemas.openxmlformats.org/drawingml/2006/main">
              <a:ext uri="{FF2B5EF4-FFF2-40B4-BE49-F238E27FC236}">
                <a16:creationId xmlns:a16="http://schemas.microsoft.com/office/drawing/2014/main" id="{D1D7734B-2145-4B78-913A-9256970B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2" name="Week rule 6 2026-10-05">
            <a:extLst xmlns:a="http://schemas.openxmlformats.org/drawingml/2006/main">
              <a:ext uri="{FF2B5EF4-FFF2-40B4-BE49-F238E27FC236}">
                <a16:creationId xmlns:a16="http://schemas.microsoft.com/office/drawing/2014/main" id="{6F83F414-BB2B-4DC8-93DB-73E37539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3" name="Bar 6 0">
            <a:extLst xmlns:a="http://schemas.openxmlformats.org/drawingml/2006/main">
              <a:ext uri="{FF2B5EF4-FFF2-40B4-BE49-F238E27FC236}">
                <a16:creationId xmlns:a16="http://schemas.microsoft.com/office/drawing/2014/main" id="{4965704C-396E-4278-9F85-B4434892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529013"/>
            <a:ext cx="1306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4" name="Row rule 6">
            <a:extLst xmlns:a="http://schemas.openxmlformats.org/drawingml/2006/main">
              <a:ext uri="{FF2B5EF4-FFF2-40B4-BE49-F238E27FC236}">
                <a16:creationId xmlns:a16="http://schemas.microsoft.com/office/drawing/2014/main" id="{1656A88B-3D95-495F-B088-7FE5B1F9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5" name="Row tint 7">
            <a:extLst xmlns:a="http://schemas.openxmlformats.org/drawingml/2006/main">
              <a:ext uri="{FF2B5EF4-FFF2-40B4-BE49-F238E27FC236}">
                <a16:creationId xmlns:a16="http://schemas.microsoft.com/office/drawing/2014/main" id="{754B57A9-EDC3-4AE4-B6A6-AD441774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6" name="Task 7">
            <a:extLst xmlns:a="http://schemas.openxmlformats.org/drawingml/2006/main">
              <a:ext uri="{FF2B5EF4-FFF2-40B4-BE49-F238E27FC236}">
                <a16:creationId xmlns:a16="http://schemas.microsoft.com/office/drawing/2014/main" id="{BE6DED01-CAC1-44C9-AB9A-9D2346B3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7052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9. Published-split comparisons for both datasets</a:t>
            </a:r>
          </a:p>
        </p:txBody>
      </p:sp>
      <p:sp>
        <p:nvSpPr>
          <p:cNvPr id="77" name="Status 7">
            <a:extLst xmlns:a="http://schemas.openxmlformats.org/drawingml/2006/main">
              <a:ext uri="{FF2B5EF4-FFF2-40B4-BE49-F238E27FC236}">
                <a16:creationId xmlns:a16="http://schemas.microsoft.com/office/drawing/2014/main" id="{1C95D57B-BE4A-40C4-8923-5B5B09CD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7052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78" name="Dates 7">
            <a:extLst xmlns:a="http://schemas.openxmlformats.org/drawingml/2006/main">
              <a:ext uri="{FF2B5EF4-FFF2-40B4-BE49-F238E27FC236}">
                <a16:creationId xmlns:a16="http://schemas.microsoft.com/office/drawing/2014/main" id="{FC8FFE9F-C46F-49B9-80D4-F36D9824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7052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10/1-10/3</a:t>
            </a:r>
          </a:p>
        </p:txBody>
      </p:sp>
      <p:sp>
        <p:nvSpPr>
          <p:cNvPr id="79" name="Week rule 7 2026-09-21">
            <a:extLst xmlns:a="http://schemas.openxmlformats.org/drawingml/2006/main">
              <a:ext uri="{FF2B5EF4-FFF2-40B4-BE49-F238E27FC236}">
                <a16:creationId xmlns:a16="http://schemas.microsoft.com/office/drawing/2014/main" id="{061BC52C-C4B9-402E-B472-F4789EF6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0" name="Week rule 7 2026-09-28">
            <a:extLst xmlns:a="http://schemas.openxmlformats.org/drawingml/2006/main">
              <a:ext uri="{FF2B5EF4-FFF2-40B4-BE49-F238E27FC236}">
                <a16:creationId xmlns:a16="http://schemas.microsoft.com/office/drawing/2014/main" id="{9243383D-E5F6-424A-88DE-0E793694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1" name="Week rule 7 2026-10-05">
            <a:extLst xmlns:a="http://schemas.openxmlformats.org/drawingml/2006/main">
              <a:ext uri="{FF2B5EF4-FFF2-40B4-BE49-F238E27FC236}">
                <a16:creationId xmlns:a16="http://schemas.microsoft.com/office/drawing/2014/main" id="{933818FD-8F2A-4DC5-BEB3-549B0FF4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2" name="Bar 7 0">
            <a:extLst xmlns:a="http://schemas.openxmlformats.org/drawingml/2006/main">
              <a:ext uri="{FF2B5EF4-FFF2-40B4-BE49-F238E27FC236}">
                <a16:creationId xmlns:a16="http://schemas.microsoft.com/office/drawing/2014/main" id="{558BF6F5-5E81-4C2E-A4E8-F91914C9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651" y="3776663"/>
            <a:ext cx="7837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3" name="Row rule 7">
            <a:extLst xmlns:a="http://schemas.openxmlformats.org/drawingml/2006/main">
              <a:ext uri="{FF2B5EF4-FFF2-40B4-BE49-F238E27FC236}">
                <a16:creationId xmlns:a16="http://schemas.microsoft.com/office/drawing/2014/main" id="{FD506E0F-4FA2-4029-814B-F532C1DD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9528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4" name="Task 8">
            <a:extLst xmlns:a="http://schemas.openxmlformats.org/drawingml/2006/main">
              <a:ext uri="{FF2B5EF4-FFF2-40B4-BE49-F238E27FC236}">
                <a16:creationId xmlns:a16="http://schemas.microsoft.com/office/drawing/2014/main" id="{EAE66BBE-DC6D-4CFF-9F0F-98F473FE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9528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10. Write Stage 1 methods and findings in Overleaf</a:t>
            </a:r>
          </a:p>
        </p:txBody>
      </p:sp>
      <p:sp>
        <p:nvSpPr>
          <p:cNvPr id="85" name="Status 8">
            <a:extLst xmlns:a="http://schemas.openxmlformats.org/drawingml/2006/main">
              <a:ext uri="{FF2B5EF4-FFF2-40B4-BE49-F238E27FC236}">
                <a16:creationId xmlns:a16="http://schemas.microsoft.com/office/drawing/2014/main" id="{8D4F6715-8F51-425F-B164-B124A9DF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9528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86" name="Dates 8">
            <a:extLst xmlns:a="http://schemas.openxmlformats.org/drawingml/2006/main">
              <a:ext uri="{FF2B5EF4-FFF2-40B4-BE49-F238E27FC236}">
                <a16:creationId xmlns:a16="http://schemas.microsoft.com/office/drawing/2014/main" id="{A7216BFC-B513-4FFB-ACB9-E470C9A5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9528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9/26-10/7</a:t>
            </a:r>
          </a:p>
        </p:txBody>
      </p:sp>
      <p:sp>
        <p:nvSpPr>
          <p:cNvPr id="87" name="Week rule 8 2026-09-21">
            <a:extLst xmlns:a="http://schemas.openxmlformats.org/drawingml/2006/main">
              <a:ext uri="{FF2B5EF4-FFF2-40B4-BE49-F238E27FC236}">
                <a16:creationId xmlns:a16="http://schemas.microsoft.com/office/drawing/2014/main" id="{077B92AF-E742-4A57-AE2E-4D30B24B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8" name="Week rule 8 2026-09-28">
            <a:extLst xmlns:a="http://schemas.openxmlformats.org/drawingml/2006/main">
              <a:ext uri="{FF2B5EF4-FFF2-40B4-BE49-F238E27FC236}">
                <a16:creationId xmlns:a16="http://schemas.microsoft.com/office/drawing/2014/main" id="{D13E4F06-4048-4024-9B3F-252014EE3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9" name="Week rule 8 2026-10-05">
            <a:extLst xmlns:a="http://schemas.openxmlformats.org/drawingml/2006/main">
              <a:ext uri="{FF2B5EF4-FFF2-40B4-BE49-F238E27FC236}">
                <a16:creationId xmlns:a16="http://schemas.microsoft.com/office/drawing/2014/main" id="{C20BF075-33D3-46C6-AB93-A54A86BE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0" name="Bar 8 0">
            <a:extLst xmlns:a="http://schemas.openxmlformats.org/drawingml/2006/main">
              <a:ext uri="{FF2B5EF4-FFF2-40B4-BE49-F238E27FC236}">
                <a16:creationId xmlns:a16="http://schemas.microsoft.com/office/drawing/2014/main" id="{BC394C3D-4342-4439-A2A3-5FACEBC5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365" y="4024313"/>
            <a:ext cx="31350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1" name="Row rule 8">
            <a:extLst xmlns:a="http://schemas.openxmlformats.org/drawingml/2006/main">
              <a:ext uri="{FF2B5EF4-FFF2-40B4-BE49-F238E27FC236}">
                <a16:creationId xmlns:a16="http://schemas.microsoft.com/office/drawing/2014/main" id="{CA2557C8-707C-4BC6-B343-68ABE935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2" name="Row tint 9">
            <a:extLst xmlns:a="http://schemas.openxmlformats.org/drawingml/2006/main">
              <a:ext uri="{FF2B5EF4-FFF2-40B4-BE49-F238E27FC236}">
                <a16:creationId xmlns:a16="http://schemas.microsoft.com/office/drawing/2014/main" id="{1D3EC465-3193-4E04-98BB-51257930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3" name="Task 9">
            <a:extLst xmlns:a="http://schemas.openxmlformats.org/drawingml/2006/main">
              <a:ext uri="{FF2B5EF4-FFF2-40B4-BE49-F238E27FC236}">
                <a16:creationId xmlns:a16="http://schemas.microsoft.com/office/drawing/2014/main" id="{8608C576-DD03-4920-ADCF-4E82D832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2005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11. Clarify the lab tokenizer and benchmark opportunity</a:t>
            </a:r>
          </a:p>
        </p:txBody>
      </p:sp>
      <p:sp>
        <p:nvSpPr>
          <p:cNvPr id="94" name="Status 9">
            <a:extLst xmlns:a="http://schemas.openxmlformats.org/drawingml/2006/main">
              <a:ext uri="{FF2B5EF4-FFF2-40B4-BE49-F238E27FC236}">
                <a16:creationId xmlns:a16="http://schemas.microsoft.com/office/drawing/2014/main" id="{C3D056EA-31FC-4F82-BAB8-AC03E28D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005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95" name="Dates 9">
            <a:extLst xmlns:a="http://schemas.openxmlformats.org/drawingml/2006/main">
              <a:ext uri="{FF2B5EF4-FFF2-40B4-BE49-F238E27FC236}">
                <a16:creationId xmlns:a16="http://schemas.microsoft.com/office/drawing/2014/main" id="{85FEB189-5BC6-462C-82DD-43291224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2005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9/28-10/5</a:t>
            </a:r>
          </a:p>
        </p:txBody>
      </p:sp>
      <p:sp>
        <p:nvSpPr>
          <p:cNvPr id="96" name="Week rule 9 2026-09-21">
            <a:extLst xmlns:a="http://schemas.openxmlformats.org/drawingml/2006/main">
              <a:ext uri="{FF2B5EF4-FFF2-40B4-BE49-F238E27FC236}">
                <a16:creationId xmlns:a16="http://schemas.microsoft.com/office/drawing/2014/main" id="{189E6E2A-66FF-4AB1-B29C-4FE3505A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7" name="Week rule 9 2026-09-28">
            <a:extLst xmlns:a="http://schemas.openxmlformats.org/drawingml/2006/main">
              <a:ext uri="{FF2B5EF4-FFF2-40B4-BE49-F238E27FC236}">
                <a16:creationId xmlns:a16="http://schemas.microsoft.com/office/drawing/2014/main" id="{E0A3D6BE-984C-4BBC-909D-E6B17D60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8" name="Week rule 9 2026-10-05">
            <a:extLst xmlns:a="http://schemas.openxmlformats.org/drawingml/2006/main">
              <a:ext uri="{FF2B5EF4-FFF2-40B4-BE49-F238E27FC236}">
                <a16:creationId xmlns:a16="http://schemas.microsoft.com/office/drawing/2014/main" id="{4CFCFAE1-C94A-4090-9DAB-2CE87948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9" name="Bar 9 0">
            <a:extLst xmlns:a="http://schemas.openxmlformats.org/drawingml/2006/main">
              <a:ext uri="{FF2B5EF4-FFF2-40B4-BE49-F238E27FC236}">
                <a16:creationId xmlns:a16="http://schemas.microsoft.com/office/drawing/2014/main" id="{0369ABD2-E1FD-4E3C-A307-78B3CEAD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71963"/>
            <a:ext cx="209368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0" name="Row rule 9">
            <a:extLst xmlns:a="http://schemas.openxmlformats.org/drawingml/2006/main">
              <a:ext uri="{FF2B5EF4-FFF2-40B4-BE49-F238E27FC236}">
                <a16:creationId xmlns:a16="http://schemas.microsoft.com/office/drawing/2014/main" id="{ED4CA3F4-E5A6-414A-B4E9-7F585664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1" name="Section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7FB7E455-D03E-4BFF-BEEC-3C0F3F63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2" name="Section title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EEE58CEC-BF69-42A2-B55B-D9FFAF9E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4481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October 7 review and follow-up</a:t>
            </a:r>
          </a:p>
        </p:txBody>
      </p:sp>
      <p:sp>
        <p:nvSpPr>
          <p:cNvPr id="103" name="Task 10">
            <a:extLst xmlns:a="http://schemas.openxmlformats.org/drawingml/2006/main">
              <a:ext uri="{FF2B5EF4-FFF2-40B4-BE49-F238E27FC236}">
                <a16:creationId xmlns:a16="http://schemas.microsoft.com/office/drawing/2014/main" id="{58296BB8-A1C1-4922-8118-C5D46340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676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12. Prepare evidence and questions for Mina</a:t>
            </a:r>
          </a:p>
        </p:txBody>
      </p:sp>
      <p:sp>
        <p:nvSpPr>
          <p:cNvPr id="104" name="Status 10">
            <a:extLst xmlns:a="http://schemas.openxmlformats.org/drawingml/2006/main">
              <a:ext uri="{FF2B5EF4-FFF2-40B4-BE49-F238E27FC236}">
                <a16:creationId xmlns:a16="http://schemas.microsoft.com/office/drawing/2014/main" id="{332CE47F-5706-4ED5-BFC2-38BC63D0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676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05" name="Dates 10">
            <a:extLst xmlns:a="http://schemas.openxmlformats.org/drawingml/2006/main">
              <a:ext uri="{FF2B5EF4-FFF2-40B4-BE49-F238E27FC236}">
                <a16:creationId xmlns:a16="http://schemas.microsoft.com/office/drawing/2014/main" id="{65223890-7293-4BE9-883E-F75803B1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676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10/1-10/6</a:t>
            </a:r>
          </a:p>
        </p:txBody>
      </p:sp>
      <p:sp>
        <p:nvSpPr>
          <p:cNvPr id="106" name="Week rule 10 2026-09-21">
            <a:extLst xmlns:a="http://schemas.openxmlformats.org/drawingml/2006/main">
              <a:ext uri="{FF2B5EF4-FFF2-40B4-BE49-F238E27FC236}">
                <a16:creationId xmlns:a16="http://schemas.microsoft.com/office/drawing/2014/main" id="{E7119877-CA11-4253-A462-3A22A3E8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7" name="Week rule 10 2026-09-28">
            <a:extLst xmlns:a="http://schemas.openxmlformats.org/drawingml/2006/main">
              <a:ext uri="{FF2B5EF4-FFF2-40B4-BE49-F238E27FC236}">
                <a16:creationId xmlns:a16="http://schemas.microsoft.com/office/drawing/2014/main" id="{68251185-484A-41CB-94AA-4A3DCF0B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8" name="Week rule 10 2026-10-05">
            <a:extLst xmlns:a="http://schemas.openxmlformats.org/drawingml/2006/main">
              <a:ext uri="{FF2B5EF4-FFF2-40B4-BE49-F238E27FC236}">
                <a16:creationId xmlns:a16="http://schemas.microsoft.com/office/drawing/2014/main" id="{247413CD-020D-4C66-BDB1-CA1D313C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9" name="Bar 10 0">
            <a:extLst xmlns:a="http://schemas.openxmlformats.org/drawingml/2006/main">
              <a:ext uri="{FF2B5EF4-FFF2-40B4-BE49-F238E27FC236}">
                <a16:creationId xmlns:a16="http://schemas.microsoft.com/office/drawing/2014/main" id="{8514FBCA-0077-404E-AE99-EE5C471B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651" y="4748213"/>
            <a:ext cx="15675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0" name="Row rule 10">
            <a:extLst xmlns:a="http://schemas.openxmlformats.org/drawingml/2006/main">
              <a:ext uri="{FF2B5EF4-FFF2-40B4-BE49-F238E27FC236}">
                <a16:creationId xmlns:a16="http://schemas.microsoft.com/office/drawing/2014/main" id="{9CB37BA3-D198-4489-B5BD-3140BAE6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1" name="Row tint 11">
            <a:extLst xmlns:a="http://schemas.openxmlformats.org/drawingml/2006/main">
              <a:ext uri="{FF2B5EF4-FFF2-40B4-BE49-F238E27FC236}">
                <a16:creationId xmlns:a16="http://schemas.microsoft.com/office/drawing/2014/main" id="{BC10C0E9-ED1D-461E-8027-B64AD798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2" name="Task 11">
            <a:extLst xmlns:a="http://schemas.openxmlformats.org/drawingml/2006/main">
              <a:ext uri="{FF2B5EF4-FFF2-40B4-BE49-F238E27FC236}">
                <a16:creationId xmlns:a16="http://schemas.microsoft.com/office/drawing/2014/main" id="{08D86C99-1E68-4C6D-94AE-A9888CBD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244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13. Review with Mina and working alignment definition</a:t>
            </a:r>
          </a:p>
        </p:txBody>
      </p:sp>
      <p:sp>
        <p:nvSpPr>
          <p:cNvPr id="113" name="Status 11">
            <a:extLst xmlns:a="http://schemas.openxmlformats.org/drawingml/2006/main">
              <a:ext uri="{FF2B5EF4-FFF2-40B4-BE49-F238E27FC236}">
                <a16:creationId xmlns:a16="http://schemas.microsoft.com/office/drawing/2014/main" id="{8D6DB1BA-6020-42E8-9835-31175B8B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244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14" name="Dates 11">
            <a:extLst xmlns:a="http://schemas.openxmlformats.org/drawingml/2006/main">
              <a:ext uri="{FF2B5EF4-FFF2-40B4-BE49-F238E27FC236}">
                <a16:creationId xmlns:a16="http://schemas.microsoft.com/office/drawing/2014/main" id="{29319D34-71D8-4640-9AF8-9C5F5EE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244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10/7</a:t>
            </a:r>
          </a:p>
        </p:txBody>
      </p:sp>
      <p:sp>
        <p:nvSpPr>
          <p:cNvPr id="115" name="Week rule 11 2026-09-21">
            <a:extLst xmlns:a="http://schemas.openxmlformats.org/drawingml/2006/main">
              <a:ext uri="{FF2B5EF4-FFF2-40B4-BE49-F238E27FC236}">
                <a16:creationId xmlns:a16="http://schemas.microsoft.com/office/drawing/2014/main" id="{380DFAB4-CB2B-46D3-A6ED-C2C05F25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6" name="Week rule 11 2026-09-28">
            <a:extLst xmlns:a="http://schemas.openxmlformats.org/drawingml/2006/main">
              <a:ext uri="{FF2B5EF4-FFF2-40B4-BE49-F238E27FC236}">
                <a16:creationId xmlns:a16="http://schemas.microsoft.com/office/drawing/2014/main" id="{2B49DA09-7995-4A79-BDFD-8E32F003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7" name="Week rule 11 2026-10-05">
            <a:extLst xmlns:a="http://schemas.openxmlformats.org/drawingml/2006/main">
              <a:ext uri="{FF2B5EF4-FFF2-40B4-BE49-F238E27FC236}">
                <a16:creationId xmlns:a16="http://schemas.microsoft.com/office/drawing/2014/main" id="{8B261F23-0E62-42D0-AA5A-3FDA5B6E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8" name="Milestone 13">
            <a:extLst xmlns:a="http://schemas.openxmlformats.org/drawingml/2006/main">
              <a:ext uri="{FF2B5EF4-FFF2-40B4-BE49-F238E27FC236}">
                <a16:creationId xmlns:a16="http://schemas.microsoft.com/office/drawing/2014/main" id="{47EA266F-71B3-4CA1-A5DB-0AD161C5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197" y="50006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9" name="Row rule 11">
            <a:extLst xmlns:a="http://schemas.openxmlformats.org/drawingml/2006/main">
              <a:ext uri="{FF2B5EF4-FFF2-40B4-BE49-F238E27FC236}">
                <a16:creationId xmlns:a16="http://schemas.microsoft.com/office/drawing/2014/main" id="{2A3CE56E-6CE3-4528-81A8-89A2F89C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720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0" name="Task 12">
            <a:extLst xmlns:a="http://schemas.openxmlformats.org/drawingml/2006/main">
              <a:ext uri="{FF2B5EF4-FFF2-40B4-BE49-F238E27FC236}">
                <a16:creationId xmlns:a16="http://schemas.microsoft.com/office/drawing/2014/main" id="{BF559E00-278D-4D0A-8649-053274B6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720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14. Revise Stage 1 claims, figures and methods</a:t>
            </a:r>
          </a:p>
        </p:txBody>
      </p:sp>
      <p:sp>
        <p:nvSpPr>
          <p:cNvPr id="121" name="Status 12">
            <a:extLst xmlns:a="http://schemas.openxmlformats.org/drawingml/2006/main">
              <a:ext uri="{FF2B5EF4-FFF2-40B4-BE49-F238E27FC236}">
                <a16:creationId xmlns:a16="http://schemas.microsoft.com/office/drawing/2014/main" id="{37891DC7-8AB7-4698-AD03-D120A928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720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22" name="Dates 12">
            <a:extLst xmlns:a="http://schemas.openxmlformats.org/drawingml/2006/main">
              <a:ext uri="{FF2B5EF4-FFF2-40B4-BE49-F238E27FC236}">
                <a16:creationId xmlns:a16="http://schemas.microsoft.com/office/drawing/2014/main" id="{703B7FED-9B04-4933-AB45-104E6597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720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10/8-10/11</a:t>
            </a:r>
          </a:p>
        </p:txBody>
      </p:sp>
      <p:sp>
        <p:nvSpPr>
          <p:cNvPr id="123" name="Week rule 12 2026-09-21">
            <a:extLst xmlns:a="http://schemas.openxmlformats.org/drawingml/2006/main">
              <a:ext uri="{FF2B5EF4-FFF2-40B4-BE49-F238E27FC236}">
                <a16:creationId xmlns:a16="http://schemas.microsoft.com/office/drawing/2014/main" id="{60657371-283F-4438-AD56-A95A1D3D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4" name="Week rule 12 2026-09-28">
            <a:extLst xmlns:a="http://schemas.openxmlformats.org/drawingml/2006/main">
              <a:ext uri="{FF2B5EF4-FFF2-40B4-BE49-F238E27FC236}">
                <a16:creationId xmlns:a16="http://schemas.microsoft.com/office/drawing/2014/main" id="{F1580A82-D362-4886-90A6-143B8836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5" name="Week rule 12 2026-10-05">
            <a:extLst xmlns:a="http://schemas.openxmlformats.org/drawingml/2006/main">
              <a:ext uri="{FF2B5EF4-FFF2-40B4-BE49-F238E27FC236}">
                <a16:creationId xmlns:a16="http://schemas.microsoft.com/office/drawing/2014/main" id="{75010D56-582A-4987-993B-8076419F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6" name="Bar 12 0">
            <a:extLst xmlns:a="http://schemas.openxmlformats.org/drawingml/2006/main">
              <a:ext uri="{FF2B5EF4-FFF2-40B4-BE49-F238E27FC236}">
                <a16:creationId xmlns:a16="http://schemas.microsoft.com/office/drawing/2014/main" id="{6763E3BC-FFDB-4A37-B9E3-C2F02A5B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6451" y="5243513"/>
            <a:ext cx="10450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7" name="Row rule 12">
            <a:extLst xmlns:a="http://schemas.openxmlformats.org/drawingml/2006/main">
              <a:ext uri="{FF2B5EF4-FFF2-40B4-BE49-F238E27FC236}">
                <a16:creationId xmlns:a16="http://schemas.microsoft.com/office/drawing/2014/main" id="{FC37E477-43E0-49DA-A6D7-E91C30CB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8" name="Row tint 13">
            <a:extLst xmlns:a="http://schemas.openxmlformats.org/drawingml/2006/main">
              <a:ext uri="{FF2B5EF4-FFF2-40B4-BE49-F238E27FC236}">
                <a16:creationId xmlns:a16="http://schemas.microsoft.com/office/drawing/2014/main" id="{D1601F06-4425-4D17-B0B5-5F6DBA13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9" name="Task 13">
            <a:extLst xmlns:a="http://schemas.openxmlformats.org/drawingml/2006/main">
              <a:ext uri="{FF2B5EF4-FFF2-40B4-BE49-F238E27FC236}">
                <a16:creationId xmlns:a16="http://schemas.microsoft.com/office/drawing/2014/main" id="{D2144D97-2F5D-46CF-934B-0C01A46E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4197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15. Specify the next matched comparison</a:t>
            </a:r>
          </a:p>
        </p:txBody>
      </p:sp>
      <p:sp>
        <p:nvSpPr>
          <p:cNvPr id="130" name="Status 13">
            <a:extLst xmlns:a="http://schemas.openxmlformats.org/drawingml/2006/main">
              <a:ext uri="{FF2B5EF4-FFF2-40B4-BE49-F238E27FC236}">
                <a16:creationId xmlns:a16="http://schemas.microsoft.com/office/drawing/2014/main" id="{C66AA3FF-8332-41B1-941A-0E8CB291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4197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31" name="Dates 13">
            <a:extLst xmlns:a="http://schemas.openxmlformats.org/drawingml/2006/main">
              <a:ext uri="{FF2B5EF4-FFF2-40B4-BE49-F238E27FC236}">
                <a16:creationId xmlns:a16="http://schemas.microsoft.com/office/drawing/2014/main" id="{6AB89CDE-9C3F-4B86-AC01-79F9022A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4197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10/8-10/11</a:t>
            </a:r>
          </a:p>
        </p:txBody>
      </p:sp>
      <p:sp>
        <p:nvSpPr>
          <p:cNvPr id="132" name="Week rule 13 2026-09-21">
            <a:extLst xmlns:a="http://schemas.openxmlformats.org/drawingml/2006/main">
              <a:ext uri="{FF2B5EF4-FFF2-40B4-BE49-F238E27FC236}">
                <a16:creationId xmlns:a16="http://schemas.microsoft.com/office/drawing/2014/main" id="{EE69BBB7-46C7-4D84-9FB7-0A6018C7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3" name="Week rule 13 2026-09-28">
            <a:extLst xmlns:a="http://schemas.openxmlformats.org/drawingml/2006/main">
              <a:ext uri="{FF2B5EF4-FFF2-40B4-BE49-F238E27FC236}">
                <a16:creationId xmlns:a16="http://schemas.microsoft.com/office/drawing/2014/main" id="{5F4621E9-77C7-43FD-911A-A32C8248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4" name="Week rule 13 2026-10-05">
            <a:extLst xmlns:a="http://schemas.openxmlformats.org/drawingml/2006/main">
              <a:ext uri="{FF2B5EF4-FFF2-40B4-BE49-F238E27FC236}">
                <a16:creationId xmlns:a16="http://schemas.microsoft.com/office/drawing/2014/main" id="{E5894A6B-6340-417A-8A3D-6B6AEC53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5" name="Bar 13 0">
            <a:extLst xmlns:a="http://schemas.openxmlformats.org/drawingml/2006/main">
              <a:ext uri="{FF2B5EF4-FFF2-40B4-BE49-F238E27FC236}">
                <a16:creationId xmlns:a16="http://schemas.microsoft.com/office/drawing/2014/main" id="{949D4054-B953-433F-9A59-79AAFDB8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6451" y="5491163"/>
            <a:ext cx="10450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6" name="Row rule 13">
            <a:extLst xmlns:a="http://schemas.openxmlformats.org/drawingml/2006/main">
              <a:ext uri="{FF2B5EF4-FFF2-40B4-BE49-F238E27FC236}">
                <a16:creationId xmlns:a16="http://schemas.microsoft.com/office/drawing/2014/main" id="{56543474-FCE5-4015-BE33-62956D5D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673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7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FCE90F28-A2FB-4069-BC37-57612F1D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8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076AB04-93E1-4567-9A44-9F8FA814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139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5B3A2664-3B7D-42E4-9320-2C98D069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0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2CE459B6-DEB0-412E-A788-29AE066E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1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F27CCD18-5481-492E-A947-DE3F4EA9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2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947E6E90-5596-4D28-9E67-313BD839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43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AE4C3283-B933-4E72-82D8-51C15829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4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AB1CD595-7544-469F-8256-7FE6523E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45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E688A77E-3C7B-4566-96A9-B26A9972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6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F49CABAD-7A27-4C75-9F18-5C4D2A6A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147" name="Date stamp">
            <a:extLst xmlns:a="http://schemas.openxmlformats.org/drawingml/2006/main">
              <a:ext uri="{FF2B5EF4-FFF2-40B4-BE49-F238E27FC236}">
                <a16:creationId xmlns:a16="http://schemas.microsoft.com/office/drawing/2014/main" id="{F3EF7702-B48F-4E8E-83A9-E0D9E8DF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20, 2026</a:t>
            </a:r>
          </a:p>
        </p:txBody>
      </p:sp>
      <p:sp>
        <p:nvSpPr>
          <p:cNvPr id="148" name="Footer 1">
            <a:extLst xmlns:a="http://schemas.openxmlformats.org/drawingml/2006/main">
              <a:ext uri="{FF2B5EF4-FFF2-40B4-BE49-F238E27FC236}">
                <a16:creationId xmlns:a16="http://schemas.microsoft.com/office/drawing/2014/main" id="{02C19714-DA7F-465F-8155-55B3AC82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October 7 milestone: agree what alignment means for this study, how to measure it, and the first Stage 3 fusion comparison.</a:t>
            </a:r>
          </a:p>
        </p:txBody>
      </p:sp>
      <p:sp>
        <p:nvSpPr>
          <p:cNvPr id="149" name="Footer 2">
            <a:extLst xmlns:a="http://schemas.openxmlformats.org/drawingml/2006/main">
              <a:ext uri="{FF2B5EF4-FFF2-40B4-BE49-F238E27FC236}">
                <a16:creationId xmlns:a16="http://schemas.microsoft.com/office/drawing/2014/main" id="{4A68017A-A952-4625-BCAE-87EA9750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The following week is reserved for feedback and corrections. Continued study informs the experiments and manuscript.</a:t>
            </a:r>
          </a:p>
        </p:txBody>
      </p:sp>
      <p:sp>
        <p:nvSpPr>
          <p:cNvPr id="150" name="Page">
            <a:extLst xmlns:a="http://schemas.openxmlformats.org/drawingml/2006/main">
              <a:ext uri="{FF2B5EF4-FFF2-40B4-BE49-F238E27FC236}">
                <a16:creationId xmlns:a16="http://schemas.microsoft.com/office/drawing/2014/main" id="{577AFB4D-4F1B-496A-ACFE-8DD2EB7C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024009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4" name="Title">
            <a:extLst xmlns:a="http://schemas.openxmlformats.org/drawingml/2006/main">
              <a:ext uri="{FF2B5EF4-FFF2-40B4-BE49-F238E27FC236}">
                <a16:creationId xmlns:a16="http://schemas.microsoft.com/office/drawing/2014/main" id="{90513592-B61D-466C-9272-5F443516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3 and 4 | Fusion Experiments, Evaluation and Revision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37ED397-6B14-47AD-A8CF-07F20FB6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Comparison schedule with the research plan first: its baselines, control and datasets, then the project's fusion designs from January.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698B6E1D-B398-4E30-BAEB-882792CE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4BAD35A8-80AB-46B0-ACE7-11C42299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6C80C196-45B7-404D-A8DF-A6EE829D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0BF201B5-FB6C-4E0B-9ECD-C5F907DB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210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D2B5D12F-9C2A-4896-A2A5-865E50DC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1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8A3F67C0-6065-4174-A593-9A2207A7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212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7202B8DF-008E-47F8-94D1-14EBF93C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3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CC1F3AE9-9636-4CD1-BB3F-D896E5C1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214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83A4B281-1096-49EF-905E-0EB458D8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5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5EA9DE9D-EBD8-44E6-A82E-900FB6D1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216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0C0E0BF3-7E42-41E4-A1A4-F48A6904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7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4AC8451C-4FA9-4D69-B7F6-79A70224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218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4198B37-7CBF-4DA8-8040-BD432690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9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C67AF67B-2431-48DD-921B-AC661E1D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220" name="Date stamp">
            <a:extLst xmlns:a="http://schemas.openxmlformats.org/drawingml/2006/main">
              <a:ext uri="{FF2B5EF4-FFF2-40B4-BE49-F238E27FC236}">
                <a16:creationId xmlns:a16="http://schemas.microsoft.com/office/drawing/2014/main" id="{8DA0DB20-034D-40CC-AD91-18F8F4FA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20, 2026</a:t>
            </a:r>
          </a:p>
        </p:txBody>
      </p:sp>
      <p:sp>
        <p:nvSpPr>
          <p:cNvPr id="221" name="Footer 1">
            <a:extLst xmlns:a="http://schemas.openxmlformats.org/drawingml/2006/main">
              <a:ext uri="{FF2B5EF4-FFF2-40B4-BE49-F238E27FC236}">
                <a16:creationId xmlns:a16="http://schemas.microsoft.com/office/drawing/2014/main" id="{4265C70D-72FB-4FD2-B93A-59B01BEE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Each comparison includes implementation, controlled runs, interpretation, revision and an update to the manuscript.</a:t>
            </a:r>
          </a:p>
        </p:txBody>
      </p:sp>
      <p:sp>
        <p:nvSpPr>
          <p:cNvPr id="222" name="Footer 2">
            <a:extLst xmlns:a="http://schemas.openxmlformats.org/drawingml/2006/main">
              <a:ext uri="{FF2B5EF4-FFF2-40B4-BE49-F238E27FC236}">
                <a16:creationId xmlns:a16="http://schemas.microsoft.com/office/drawing/2014/main" id="{C14B75ED-B014-48D5-ADA0-A3F91BB2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AI assistance: OpenAI Codex helped organize this plan; Claude assisted with the DNA-scope revision and the October status updates. Dates and task descriptions were checked against course materials and project notes.</a:t>
            </a:r>
          </a:p>
        </p:txBody>
      </p:sp>
      <p:sp>
        <p:nvSpPr>
          <p:cNvPr id="223" name="Page">
            <a:extLst xmlns:a="http://schemas.openxmlformats.org/drawingml/2006/main">
              <a:ext uri="{FF2B5EF4-FFF2-40B4-BE49-F238E27FC236}">
                <a16:creationId xmlns:a16="http://schemas.microsoft.com/office/drawing/2014/main" id="{9F0B9AB2-7FC2-4CBC-B806-3DE074FE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588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5589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5590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5591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5592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5593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5594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5595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5596" name="Week 2026-11-30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11/30</a:t>
            </a:r>
          </a:p>
        </p:txBody>
      </p:sp>
      <p:sp>
        <p:nvSpPr>
          <p:cNvPr id="5597" name="Week 2026-12-07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12/7</a:t>
            </a:r>
          </a:p>
        </p:txBody>
      </p:sp>
      <p:sp>
        <p:nvSpPr>
          <p:cNvPr id="5598" name="Week 2026-12-14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12/14</a:t>
            </a:r>
          </a:p>
        </p:txBody>
      </p:sp>
      <p:sp>
        <p:nvSpPr>
          <p:cNvPr id="5599" name="Month 2027-01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5600" name="Month 2027-0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Feb</a:t>
            </a:r>
          </a:p>
        </p:txBody>
      </p:sp>
      <p:sp>
        <p:nvSpPr>
          <p:cNvPr id="5601" name="Month 2027-03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5602" name="Section The research plan first: baselines, control and dataset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03" name="Section title The research plan first: baselines, control and dataset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research plan first: baselines, control and datasets</a:t>
            </a:r>
          </a:p>
        </p:txBody>
      </p:sp>
      <p:sp>
        <p:nvSpPr>
          <p:cNvPr id="5604" name="Week rule 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5" name="Week rule 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6" name="Week rule 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7" name="Week rule 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8" name="Week rule 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9" name="Week rule 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0" name="Week rule 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1" name="Week rule 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2" name="Week rule 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3" name="Week rule 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4" name="Week rule 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5" name="Week rule 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6" name="Week rule 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7" name="Week rule 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8" name="Task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0495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16. Harden single-model and simple-fusion baselines</a:t>
            </a:r>
          </a:p>
        </p:txBody>
      </p:sp>
      <p:sp>
        <p:nvSpPr>
          <p:cNvPr id="5619" name="Statu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0495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620" name="Date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0495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10/6-10/11</a:t>
            </a:r>
          </a:p>
        </p:txBody>
      </p:sp>
      <p:sp>
        <p:nvSpPr>
          <p:cNvPr id="5621" name="Bar 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889" y="1559858"/>
            <a:ext cx="328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22" name="Row rule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954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3" name="Row tint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9542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24" name="Week rule 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5" name="Week rule 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6" name="Week rule 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7" name="Week rule 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8" name="Week rule 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9" name="Week rule 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0" name="Week rule 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1" name="Week rule 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2" name="Week rule 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3" name="Week rule 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4" name="Week rule 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5" name="Week rule 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6" name="Week rule 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7" name="Week rule 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8" name="Task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1954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17. Reproduce BioLangFusion, five datasets (item 1, Phase A)</a:t>
            </a:r>
          </a:p>
        </p:txBody>
      </p:sp>
      <p:sp>
        <p:nvSpPr>
          <p:cNvPr id="5639" name="Statu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1954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640" name="Date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1954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10/12-10/25</a:t>
            </a:r>
          </a:p>
        </p:txBody>
      </p:sp>
      <p:sp>
        <p:nvSpPr>
          <p:cNvPr id="5641" name="Bar 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774450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42" name="Row rule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93413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3" name="Week rule 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4" name="Week rule 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5" name="Week rule 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6" name="Week rule 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7" name="Week rule 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8" name="Week rule 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9" name="Week rule 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0" name="Week rule 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1" name="Week rule 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2" name="Week rule 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3" name="Week rule 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4" name="Week rule 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5" name="Week rule 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6" name="Week rule 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7" name="Task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93413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18. Diagnostics and controls, mRFP in parallel (item 5)</a:t>
            </a:r>
          </a:p>
        </p:txBody>
      </p:sp>
      <p:sp>
        <p:nvSpPr>
          <p:cNvPr id="5658" name="Statu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3413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659" name="Date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93413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10/12-10/18</a:t>
            </a:r>
          </a:p>
        </p:txBody>
      </p:sp>
      <p:sp>
        <p:nvSpPr>
          <p:cNvPr id="5660" name="Bar 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989042"/>
            <a:ext cx="383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61" name="Row rule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872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2" name="Row tint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8726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63" name="Week rule 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4" name="Week rule 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5" name="Week rule 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6" name="Week rule 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7" name="Week rule 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8" name="Week rule 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9" name="Week rule 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0" name="Week rule 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1" name="Week rule 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2" name="Week rule 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3" name="Week rule 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4" name="Week rule 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5" name="Week rule 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6" name="Week rule 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7" name="Task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148726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19. Interpret baselines and revise the next experiment</a:t>
            </a:r>
          </a:p>
        </p:txBody>
      </p:sp>
      <p:sp>
        <p:nvSpPr>
          <p:cNvPr id="5678" name="Statu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48726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679" name="Date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148726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10/19-10/25</a:t>
            </a:r>
          </a:p>
        </p:txBody>
      </p:sp>
      <p:sp>
        <p:nvSpPr>
          <p:cNvPr id="5680" name="Bar 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203634"/>
            <a:ext cx="383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81" name="Row rul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6331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2" name="Week rule 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3" name="Week rule 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4" name="Week rule 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5" name="Week rule 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6" name="Week rule 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7" name="Week rule 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8" name="Week rule 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9" name="Week rule 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0" name="Week rule 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1" name="Week rule 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2" name="Week rule 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3" name="Week rule 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4" name="Week rule 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5" name="Week rule 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6" name="Task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363318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24. Encoder swaps in the reproduction (item 1, Phase B)</a:t>
            </a:r>
          </a:p>
        </p:txBody>
      </p:sp>
      <p:sp>
        <p:nvSpPr>
          <p:cNvPr id="5697" name="Statu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363318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698" name="Date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363318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10/20-11/8</a:t>
            </a:r>
          </a:p>
        </p:txBody>
      </p:sp>
      <p:sp>
        <p:nvSpPr>
          <p:cNvPr id="5699" name="Bar 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418226"/>
            <a:ext cx="1149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00" name="Row rule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791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1" name="Row tint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7910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02" name="Week rule 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3" name="Week rule 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4" name="Week rule 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5" name="Week rule 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6" name="Week rule 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7" name="Week rule 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8" name="Week rule 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9" name="Week rule 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0" name="Week rule 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1" name="Week rule 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2" name="Week rule 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3" name="Week rule 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4" name="Week rule 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5" name="Week rule 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6" name="Task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7791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41. LucaOne frozen baseline, stability and GTEx (item 2)</a:t>
            </a:r>
          </a:p>
        </p:txBody>
      </p:sp>
      <p:sp>
        <p:nvSpPr>
          <p:cNvPr id="5717" name="Statu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7791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18" name="Date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57791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11/9-11/22</a:t>
            </a:r>
          </a:p>
        </p:txBody>
      </p:sp>
      <p:sp>
        <p:nvSpPr>
          <p:cNvPr id="5719" name="Bar 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632818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20" name="Row rule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9250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1" name="Week rule 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2" name="Week rule 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3" name="Week rule 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4" name="Week rule 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5" name="Week rule 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6" name="Week rule 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7" name="Week rule 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8" name="Week rule 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9" name="Week rule 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0" name="Week rule 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1" name="Week rule 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2" name="Week rule 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3" name="Week rule 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4" name="Week rule 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5" name="Task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9250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44. IsoFormer reproduced on GTEx (baseline)</a:t>
            </a:r>
          </a:p>
        </p:txBody>
      </p:sp>
      <p:sp>
        <p:nvSpPr>
          <p:cNvPr id="5736" name="Statu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9250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37" name="Date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9250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11/9-11/22</a:t>
            </a:r>
          </a:p>
        </p:txBody>
      </p:sp>
      <p:sp>
        <p:nvSpPr>
          <p:cNvPr id="5738" name="Bar 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847410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39" name="Row rule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709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0" name="Row tint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7094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41" name="Week rule 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2" name="Week rule 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3" name="Week rule 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4" name="Week rule 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5" name="Week rule 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6" name="Week rule 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7" name="Week rule 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8" name="Week rule 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9" name="Week rule 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0" name="Week rule 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1" name="Week rule 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2" name="Week rule 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3" name="Week rule 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4" name="Week rule 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5" name="Task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00709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42. Half-life and translation efficiency (items 3 and 4)</a:t>
            </a:r>
          </a:p>
        </p:txBody>
      </p:sp>
      <p:sp>
        <p:nvSpPr>
          <p:cNvPr id="5756" name="Statu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00709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57" name="Date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00709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11/23-12/20</a:t>
            </a:r>
          </a:p>
        </p:txBody>
      </p:sp>
      <p:sp>
        <p:nvSpPr>
          <p:cNvPr id="5758" name="Bar 7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062002"/>
            <a:ext cx="153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59" name="Row rule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168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0" name="Section Repeated runs, interpretation and revis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1686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61" name="Section title Repeated runs, interpretation and revis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1686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Repeated runs, interpretation and revision</a:t>
            </a:r>
          </a:p>
        </p:txBody>
      </p:sp>
      <p:sp>
        <p:nvSpPr>
          <p:cNvPr id="5762" name="Week rule 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3" name="Week rule 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4" name="Week rule 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5" name="Week rule 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6" name="Week rule 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7" name="Week rule 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8" name="Week rule 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9" name="Week rule 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0" name="Week rule 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1" name="Week rule 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2" name="Week rule 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3" name="Week rule 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4" name="Week rule 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5" name="Week rule 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6" name="Task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40761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28. Repeat runs, quantify uncertainty and revise claims</a:t>
            </a:r>
          </a:p>
        </p:txBody>
      </p:sp>
      <p:sp>
        <p:nvSpPr>
          <p:cNvPr id="5777" name="Statu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40761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78" name="Date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40761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10/12-11/22</a:t>
            </a:r>
          </a:p>
        </p:txBody>
      </p:sp>
      <p:sp>
        <p:nvSpPr>
          <p:cNvPr id="5779" name="Bar 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495669"/>
            <a:ext cx="2298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80" name="Row rule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5535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1" name="Row tint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55353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82" name="Week rule 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3" name="Week rule 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4" name="Week rule 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5" name="Week rule 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6" name="Week rule 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7" name="Week rule 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8" name="Week rule 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9" name="Week rule 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0" name="Week rule 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1" name="Week rule 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2" name="Week rule 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3" name="Week rule 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4" name="Week rule 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5" name="Week rule 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6" name="Task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655353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29. Synthesize findings, limitations and next steps</a:t>
            </a:r>
          </a:p>
        </p:txBody>
      </p:sp>
      <p:sp>
        <p:nvSpPr>
          <p:cNvPr id="5797" name="Statu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55353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798" name="Date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655353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11/16-11/29</a:t>
            </a:r>
          </a:p>
        </p:txBody>
      </p:sp>
      <p:sp>
        <p:nvSpPr>
          <p:cNvPr id="5799" name="Bar 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710261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00" name="Row rule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6994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1" name="Section The project's fusion designs, after the baselin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69945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02" name="Section title The project's fusion designs, after the baselin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869945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project's fusion designs, after the baselines</a:t>
            </a:r>
          </a:p>
        </p:txBody>
      </p:sp>
      <p:sp>
        <p:nvSpPr>
          <p:cNvPr id="5803" name="Week rule 1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4" name="Week rule 1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5" name="Week rule 1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6" name="Week rule 1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7" name="Week rule 1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8" name="Week rule 1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9" name="Week rule 1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0" name="Week rule 1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1" name="Week rule 1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2" name="Week rule 1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3" name="Week rule 1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4" name="Week rule 1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5" name="Week rule 1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6" name="Week rule 1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7" name="Task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08902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20. Prepare Coupled Mamba inputs and feasibility tests</a:t>
            </a:r>
          </a:p>
        </p:txBody>
      </p:sp>
      <p:sp>
        <p:nvSpPr>
          <p:cNvPr id="5818" name="Statu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08902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19" name="Date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08902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1/4-1/17</a:t>
            </a:r>
          </a:p>
        </p:txBody>
      </p:sp>
      <p:sp>
        <p:nvSpPr>
          <p:cNvPr id="5820" name="Bar 1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143928"/>
            <a:ext cx="21382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21" name="Row rule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0361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2" name="Row tint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03612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23" name="Week rule 1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4" name="Week rule 1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5" name="Week rule 1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6" name="Week rule 1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7" name="Week rule 1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8" name="Week rule 1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9" name="Week rule 1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0" name="Week rule 1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1" name="Week rule 1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2" name="Week rule 1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3" name="Week rule 1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4" name="Week rule 1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5" name="Week rule 1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6" name="Week rule 1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7" name="Task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30361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21. Compare Coupled Mamba with the plan's baselines</a:t>
            </a:r>
          </a:p>
        </p:txBody>
      </p:sp>
      <p:sp>
        <p:nvSpPr>
          <p:cNvPr id="5838" name="Statu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30361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39" name="Date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30361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1/18-2/7</a:t>
            </a:r>
          </a:p>
        </p:txBody>
      </p:sp>
      <p:sp>
        <p:nvSpPr>
          <p:cNvPr id="5840" name="Bar 1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9995" y="4358520"/>
            <a:ext cx="32073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41" name="Row rule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1820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2" name="Week rule 1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3" name="Week rule 1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4" name="Week rule 1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5" name="Week rule 1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6" name="Week rule 1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7" name="Week rule 1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8" name="Week rule 1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9" name="Week rule 1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0" name="Week rule 1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1" name="Week rule 1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2" name="Week rule 1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3" name="Week rule 1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4" name="Week rule 1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5" name="Week rule 1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6" name="Task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51820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25. IsoFormer-style cross-attention fusion</a:t>
            </a:r>
          </a:p>
        </p:txBody>
      </p:sp>
      <p:sp>
        <p:nvSpPr>
          <p:cNvPr id="5857" name="Statu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51820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58" name="Date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51820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2/8-2/28</a:t>
            </a:r>
          </a:p>
        </p:txBody>
      </p:sp>
      <p:sp>
        <p:nvSpPr>
          <p:cNvPr id="5859" name="Bar 1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0727" y="4573112"/>
            <a:ext cx="32073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0" name="Row rule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279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1" name="Section Optional comparisons | Subject to scope and feasibil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2796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2" name="Section title Optional comparisons | Subject to scope and feasibil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2796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comparisons | Subject to scope and feasibility</a:t>
            </a:r>
          </a:p>
        </p:txBody>
      </p:sp>
      <p:sp>
        <p:nvSpPr>
          <p:cNvPr id="5863" name="Row tint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51871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4" name="Week rule 1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5" name="Week rule 1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6" name="Week rule 1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7" name="Week rule 1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8" name="Week rule 1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9" name="Week rule 1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0" name="Week rule 1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1" name="Week rule 1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2" name="Week rule 1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3" name="Week rule 1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4" name="Week rule 1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5" name="Week rule 1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6" name="Week rule 1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7" name="Week rule 1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8" name="Task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51871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22. Layer depth and PCA/variance comparisons</a:t>
            </a:r>
          </a:p>
        </p:txBody>
      </p:sp>
      <p:sp>
        <p:nvSpPr>
          <p:cNvPr id="5879" name="Statu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51871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880" name="Date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51871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10/19-11/1</a:t>
            </a:r>
          </a:p>
        </p:txBody>
      </p:sp>
      <p:sp>
        <p:nvSpPr>
          <p:cNvPr id="5881" name="Bar 1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006779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2" name="Row rule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6646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3" name="Week rule 1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4" name="Week rule 1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5" name="Week rule 1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6" name="Week rule 1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7" name="Week rule 1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8" name="Week rule 1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9" name="Week rule 1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0" name="Week rule 1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1" name="Week rule 1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2" name="Week rule 1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3" name="Week rule 1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4" name="Week rule 1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5" name="Week rule 1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6" name="Week rule 1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7" name="Task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66463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23. Alignment-objective ablation</a:t>
            </a:r>
          </a:p>
        </p:txBody>
      </p:sp>
      <p:sp>
        <p:nvSpPr>
          <p:cNvPr id="5898" name="Statu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66463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899" name="Date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66463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2/8-2/21</a:t>
            </a:r>
          </a:p>
        </p:txBody>
      </p:sp>
      <p:sp>
        <p:nvSpPr>
          <p:cNvPr id="5900" name="Bar 1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0727" y="5221371"/>
            <a:ext cx="21382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1" name="Row rule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8105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2" name="Row tint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81055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903" name="Week rule 1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4" name="Week rule 1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5" name="Week rule 1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6" name="Week rule 1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7" name="Week rule 1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8" name="Week rule 1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9" name="Week rule 1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0" name="Week rule 1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1" name="Week rule 1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2" name="Week rule 1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3" name="Week rule 1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4" name="Week rule 1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5" name="Week rule 1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6" name="Week rule 1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7" name="Task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381055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26. Agree tokenizer benchmark scope and protocol</a:t>
            </a:r>
          </a:p>
        </p:txBody>
      </p:sp>
      <p:sp>
        <p:nvSpPr>
          <p:cNvPr id="5918" name="Statu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81055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919" name="Date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381055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10/6-10/18</a:t>
            </a:r>
          </a:p>
        </p:txBody>
      </p:sp>
      <p:sp>
        <p:nvSpPr>
          <p:cNvPr id="5920" name="Bar 1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889" y="5435963"/>
            <a:ext cx="711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1" name="Row rul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59564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2" name="Week rule 1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3" name="Week rule 1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4" name="Week rule 1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5" name="Week rule 1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6" name="Week rule 1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7" name="Week rule 1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8" name="Week rule 1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9" name="Week rule 1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0" name="Week rule 1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1" name="Week rule 1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2" name="Week rule 1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3" name="Week rule 1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4" name="Week rule 1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5" name="Week rule 1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6" name="Task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595647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27. Lab-tokenizer benchmark pilot</a:t>
            </a:r>
          </a:p>
        </p:txBody>
      </p:sp>
      <p:sp>
        <p:nvSpPr>
          <p:cNvPr id="5937" name="Statu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595647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938" name="Date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595647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11/2-11/15</a:t>
            </a:r>
          </a:p>
        </p:txBody>
      </p:sp>
      <p:sp>
        <p:nvSpPr>
          <p:cNvPr id="5939" name="Bar 1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650555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40" name="Row rul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810239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151603772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2026-09-27T03:31:25.9170000Z</dcterms:created>
  <dcterms:modified xsi:type="dcterms:W3CDTF">2026-09-27T03:31:25.9170000Z</dcterms:modified>
</coreProperties>
</file>