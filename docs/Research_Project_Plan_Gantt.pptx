
<file path=[Content_Types].xml><?xml version="1.0" encoding="utf-8"?>
<Types xmlns="http://schemas.openxmlformats.org/package/2006/content-types"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Masters/theme/theme3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Masters/theme/theme2.xml" ContentType="application/vnd.openxmlformats-officedocument.theme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973df2838e104121" Type="http://schemas.openxmlformats.org/officeDocument/2006/relationships/officeDocument" Target="ppt/presentation.xml"/><Relationship Id="Rd937c4f8d3c346d5" Type="http://schemas.openxmlformats.org/officeDocument/2006/relationships/extended-properties" Target="docProps/app.xml"/><Relationship Id="Rec0bff5dd90b45a4" Type="http://schemas.openxmlformats.org/package/2006/relationships/metadata/core-properties" Target="docProps/core.xml"/></Relationships>
</file>

<file path=ppt/presentation.xml><?xml version="1.0" encoding="utf-8"?>
<p:presentation xmlns:p="http://schemas.openxmlformats.org/presentationml/2006/main">
  <p:sldMasterIdLst>
    <p:sldMasterId xmlns:r="http://schemas.openxmlformats.org/officeDocument/2006/relationships" id="2147483648" r:id="Rcfa38b75706f493e"/>
  </p:sldMasterIdLst>
  <p:notesMasterIdLst>
    <p:notesMasterId xmlns:r="http://schemas.openxmlformats.org/officeDocument/2006/relationships" r:id="R32e8536ebd5844f2"/>
  </p:notesMasterIdLst>
  <p:sldIdLst>
    <p:sldId xmlns:r="http://schemas.openxmlformats.org/officeDocument/2006/relationships" id="256" r:id="R31cdde5dac1d4adf"/>
    <p:sldId xmlns:r="http://schemas.openxmlformats.org/officeDocument/2006/relationships" id="257" r:id="R9d5ad6c125424019"/>
    <p:sldId xmlns:r="http://schemas.openxmlformats.org/officeDocument/2006/relationships" id="258" r:id="R2f07565cddd544be"/>
  </p:sldIdLst>
  <p:sldSz cx="12191695" cy="6858000"/>
  <p:notesSz cx="6858000" cy="9144000"/>
  <p:defaultTextStyle>
    <a:defPPr xmlns:a="http://schemas.openxmlformats.org/drawingml/2006/main">
      <a:buNone/>
    </a:defPPr>
    <a:lvl1pPr xmlns:a="http://schemas.openxmlformats.org/drawingml/2006/main" marL="0" algn="l" defTabSz="457200">
      <a:buNone/>
      <a:defRPr sz="1800" kern="1200">
        <a:solidFill>
          <a:schemeClr val="tx1"/>
        </a:solidFill>
        <a:latin typeface="+mn-lt"/>
        <a:ea typeface="+mn-lt"/>
        <a:cs typeface="+mn-lt"/>
      </a:defRPr>
    </a:lvl1pPr>
    <a:lvl2pPr xmlns:a="http://schemas.openxmlformats.org/drawingml/2006/main" marL="457200" algn="l" defTabSz="457200">
      <a:buNone/>
      <a:defRPr sz="1800" kern="1200">
        <a:solidFill>
          <a:schemeClr val="tx1"/>
        </a:solidFill>
        <a:latin typeface="+mn-lt"/>
        <a:ea typeface="+mn-lt"/>
        <a:cs typeface="+mn-lt"/>
      </a:defRPr>
    </a:lvl2pPr>
    <a:lvl3pPr xmlns:a="http://schemas.openxmlformats.org/drawingml/2006/main" marL="914400" algn="l" defTabSz="457200">
      <a:buNone/>
      <a:defRPr sz="1800" kern="1200">
        <a:solidFill>
          <a:schemeClr val="tx1"/>
        </a:solidFill>
        <a:latin typeface="+mn-lt"/>
        <a:ea typeface="+mn-lt"/>
        <a:cs typeface="+mn-lt"/>
      </a:defRPr>
    </a:lvl3pPr>
    <a:lvl4pPr xmlns:a="http://schemas.openxmlformats.org/drawingml/2006/main" marL="1371600" algn="l" defTabSz="457200">
      <a:buNone/>
      <a:defRPr sz="1800" kern="1200">
        <a:solidFill>
          <a:schemeClr val="tx1"/>
        </a:solidFill>
        <a:latin typeface="+mn-lt"/>
        <a:ea typeface="+mn-lt"/>
        <a:cs typeface="+mn-lt"/>
      </a:defRPr>
    </a:lvl4pPr>
    <a:lvl5pPr xmlns:a="http://schemas.openxmlformats.org/drawingml/2006/main" marL="1828800" algn="l" defTabSz="457200">
      <a:buNone/>
      <a:defRPr sz="1800" kern="1200">
        <a:solidFill>
          <a:schemeClr val="tx1"/>
        </a:solidFill>
        <a:latin typeface="+mn-lt"/>
        <a:ea typeface="+mn-lt"/>
        <a:cs typeface="+mn-lt"/>
      </a:defRPr>
    </a:lvl5pPr>
    <a:lvl6pPr xmlns:a="http://schemas.openxmlformats.org/drawingml/2006/main" marL="2286000" algn="l" defTabSz="457200">
      <a:buNone/>
      <a:defRPr sz="1800" kern="1200">
        <a:solidFill>
          <a:schemeClr val="tx1"/>
        </a:solidFill>
        <a:latin typeface="+mn-lt"/>
        <a:ea typeface="+mn-lt"/>
        <a:cs typeface="+mn-lt"/>
      </a:defRPr>
    </a:lvl6pPr>
    <a:lvl7pPr xmlns:a="http://schemas.openxmlformats.org/drawingml/2006/main" marL="2743200" algn="l" defTabSz="457200">
      <a:buNone/>
      <a:defRPr sz="1800" kern="1200">
        <a:solidFill>
          <a:schemeClr val="tx1"/>
        </a:solidFill>
        <a:latin typeface="+mn-lt"/>
        <a:ea typeface="+mn-lt"/>
        <a:cs typeface="+mn-lt"/>
      </a:defRPr>
    </a:lvl7pPr>
    <a:lvl8pPr xmlns:a="http://schemas.openxmlformats.org/drawingml/2006/main" marL="3200400" algn="l" defTabSz="457200">
      <a:buNone/>
      <a:defRPr sz="1800" kern="1200">
        <a:solidFill>
          <a:schemeClr val="tx1"/>
        </a:solidFill>
        <a:latin typeface="+mn-lt"/>
        <a:ea typeface="+mn-lt"/>
        <a:cs typeface="+mn-lt"/>
      </a:defRPr>
    </a:lvl8pPr>
    <a:lvl9pPr xmlns:a="http://schemas.openxmlformats.org/drawingml/2006/main" marL="3657600" algn="l" defTabSz="457200">
      <a:buNone/>
      <a:defRPr sz="1800" kern="1200">
        <a:solidFill>
          <a:schemeClr val="tx1"/>
        </a:solidFill>
        <a:latin typeface="+mn-lt"/>
        <a:ea typeface="+mn-lt"/>
        <a:cs typeface="+mn-lt"/>
      </a:defRPr>
    </a:lvl9pPr>
  </p:defaultTextStyle>
</p:presentation>
</file>

<file path=ppt/presProps.xml><?xml version="1.0" encoding="utf-8"?>
<p:presentationPr xmlns:p="http://schemas.openxmlformats.org/presentationml/2006/main">
  <p:extLst>
    <p:ext xmlns:p14="http://schemas.microsoft.com/office/powerpoint/2010/main" uri="{E76CE94A-603C-4142-B9EB-6D1370010A27}">
      <p14:discardImageEditData val="0"/>
    </p:ext>
    <p:ext xmlns:p14="http://schemas.microsoft.com/office/powerpoint/2010/main" uri="{D31A062A-798A-4329-ABDD-BBA856620510}">
      <p14:defaultImageDpi val="32767"/>
    </p:ext>
    <p:ext xmlns:p15="http://schemas.microsoft.com/office/powerpoint/2012/main" uri="{FD5EFAAD-0ECE-453E-9831-46B23BE46B34}">
      <p15:chartTrackingRefBased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p="http://schemas.openxmlformats.org/presentationml/2006/main">
  <p:slideViewPr>
    <p:cSldViewPr snapToGrid="0" snapToObjects="1">
      <p:cViewPr>
        <p:scale>
          <a:sx xmlns:a="http://schemas.openxmlformats.org/drawingml/2006/main" n="1" d="1"/>
          <a:sy xmlns:a="http://schemas.openxmlformats.org/drawingml/2006/main" n="1" d="1"/>
        </p:scale>
        <p:origin x="0" y="0"/>
      </p:cViewPr>
      <p:guideLst/>
    </p:cSldViewPr>
  </p:slideViewPr>
  <p:gridSpacing cx="76200" cy="76200"/>
</p:viewPr>
</file>

<file path=ppt/_rels/presentation.xml.rels><?xml version='1.0' encoding='UTF-8' standalone='yes'?>
<Relationships xmlns="http://schemas.openxmlformats.org/package/2006/relationships"><Relationship Id="R2c45d6c52b5e477a" Type="http://schemas.openxmlformats.org/officeDocument/2006/relationships/tableStyles" Target="tableStyles.xml"/><Relationship Id="R2cbfae302eed4cc7" Type="http://schemas.openxmlformats.org/officeDocument/2006/relationships/theme" Target="theme/theme1.xml"/><Relationship Id="R2f07565cddd544be" Type="http://schemas.openxmlformats.org/officeDocument/2006/relationships/slide" Target="slides/slide3.xml"/><Relationship Id="R31cdde5dac1d4adf" Type="http://schemas.openxmlformats.org/officeDocument/2006/relationships/slide" Target="slides/slide1.xml"/><Relationship Id="R32e8536ebd5844f2" Type="http://schemas.openxmlformats.org/officeDocument/2006/relationships/notesMaster" Target="notesMasters/notesMaster1.xml"/><Relationship Id="R9d5ad6c125424019" Type="http://schemas.openxmlformats.org/officeDocument/2006/relationships/slide" Target="slides/slide2.xml"/><Relationship Id="Ra9f48024d7c14e7c" Type="http://schemas.openxmlformats.org/officeDocument/2006/relationships/presProps" Target="presProps.xml"/><Relationship Id="Rc86f4db93065457a" Type="http://schemas.openxmlformats.org/officeDocument/2006/relationships/viewProps" Target="viewProps.xml"/><Relationship Id="Rcfa38b75706f493e" Type="http://schemas.openxmlformats.org/officeDocument/2006/relationships/slideMaster" Target="slideMasters/slideMaster1.xml"/></Relationships>
</file>

<file path=ppt/notesMasters/_rels/notesMaster1.xml.rels><?xml version='1.0' encoding='UTF-8' standalone='yes'?>
<Relationships xmlns="http://schemas.openxmlformats.org/package/2006/relationships"><Relationship Id="R994cc7e7a5274643" Type="http://schemas.openxmlformats.org/officeDocument/2006/relationships/theme" Target="theme/theme3.xml"/></Relationships>
</file>

<file path=ppt/notesMasters/notesMaster1.xml><?xml version="1.0" encoding="utf-8"?>
<p:notes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Header Placeholder"/>
          <p:cNvSpPr/>
          <p:nvPr>
            <p:ph type="hdr" sz="quarter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Date Placeholder"/>
          <p:cNvSpPr/>
          <p:nvPr>
            <p:ph type="dt" sz="quarter" idx="1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Image Placeholder"/>
          <p:cNvSpPr/>
          <p:nvPr>
            <p:ph type="sldImg" idx="2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5" name="Notes Placeholder"/>
          <p:cNvSpPr/>
          <p:nvPr>
            <p:ph type="body" sz="quarter" idx="3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Footer Placeholder"/>
          <p:cNvSpPr/>
          <p:nvPr>
            <p:ph type="ftr" sz="quarter" idx="4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" name="Slide Number Placeholder"/>
          <p:cNvSpPr/>
          <p:nvPr>
            <p:ph type="sldNum" sz="quarter" idx="5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xmlns:a="http://schemas.openxmlformats.org/drawingml/2006/main" marL="0" algn="l" defTabSz="914400" rtl="0" eaLnBrk="1" latinLnBrk="0" hangingPunct="1">
      <a:defRPr sz="1200" kern="1200"/>
    </a:lvl1pPr>
  </p:notesStyle>
</p:notesMaster>
</file>

<file path=ppt/notesMasters/theme/theme3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>
          <a:solidFill>
            <a:schemeClr val="phClr">
              <a:shade val="95000"/>
              <a:satMod val="105000"/>
            </a:schemeClr>
          </a:solidFill>
          <a:prstDash val="solid"/>
        </a:ln>
        <a:ln w="25400">
          <a:solidFill>
            <a:schemeClr val="phClr"/>
          </a:solidFill>
          <a:prstDash val="solid"/>
        </a:ln>
        <a:ln w="38100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notesSlides/_rels/notesSlide1.xml.rels><?xml version='1.0' encoding='UTF-8' standalone='yes'?>
<Relationships xmlns="http://schemas.openxmlformats.org/package/2006/relationships"><Relationship Id="Rb165bbb066014e37" Type="http://schemas.openxmlformats.org/officeDocument/2006/relationships/notesMaster" Target="../notesMasters/notesMaster1.xml"/><Relationship Id="Rb54eec95c8b442dd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07d45a98b8424a28" Type="http://schemas.openxmlformats.org/officeDocument/2006/relationships/notesMaster" Target="../notesMasters/notesMaster1.xml"/><Relationship Id="R99d574f9237f463c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2fb5fe6fea5749d6" Type="http://schemas.openxmlformats.org/officeDocument/2006/relationships/notesMaster" Target="../notesMasters/notesMaster1.xml"/><Relationship Id="Ra9487a36515d42a1" Type="http://schemas.openxmlformats.org/officeDocument/2006/relationships/slide" Target="../slides/slide3.xml"/></Relationships>
</file>

<file path=ppt/notesSlides/notesSlide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Biological Foundation Models | Research Project Plan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The initial six-paper review was completed by September 21. Continued discussion and scientific interpretation remain active.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Dates beyond current work are planning windows. September 21 start dates for ongoing tasks are approximate anchors, not reconstructed activity logs.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October 7 is the next planned Mina meeting. The Stage 1 milestone is a working definition of alignment and a decision about the next matched comparison. Specify the objects being aligned, biological question, unit, metric and reference, and what the result can support.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Stage 1 includes early fusion prototyping to develop understanding. Stage 2 is the proposed structured comparison programme following the review. Feedback may change its scope and timing.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The Coupled Mamba priority follows the project README and the September 23 meeting. Optional comparisons are candidates, and the team will select a feasible subset.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Research coordination began September 14. Stage 1 manuscript drafting is underway in Overleaf and continues as methods and findings change.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The September 27 deadline covers the bibliography and Research Canvas assignment and the research project plan assignment. December 1, 7 and 8 course dates follow the Fall 2026 CAP6942 schedule; WebCourses controls any changes.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January to March is a provisional continuation window. The research end and publication submission date have not been set.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The lab tokenizer and collaborating group still need to be identified. Clarifying the opportunity precedes committing to a benchmark.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AI supports literature study, implementation, analysis and writing. Source checking, experiment interpretation and research decisions are included in each relevant work package.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AI assistance: OpenAI Codex assisted with organizing and wording this research plan. Dates and task descriptions were compared with the course schedule, project README and team meeting notes.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Stage 1 | Understanding, reproducibility and alignment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1. Initial six-paper review</a:t>
            </a:r>
          </a:p>
          <a:p xmlns:a="http://schemas.openxmlformats.org/drawingml/2006/main">
            <a:r>
              <a:t>2026-09-07 to 2026-09-21; Complete.</a:t>
            </a:r>
          </a:p>
          <a:p xmlns:a="http://schemas.openxmlformats.org/drawingml/2006/main">
            <a:r>
              <a:t>Expected outcome: Complete the initial six-paper review and retain paper notes for continued interpretation and discussion.</a:t>
            </a:r>
          </a:p>
          <a:p xmlns:a="http://schemas.openxmlformats.org/drawingml/2006/main">
            <a:r>
              <a:t>Prerequisites: None specified.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2. Continue paper synthesis and notebook walkthrough</a:t>
            </a:r>
          </a:p>
          <a:p xmlns:a="http://schemas.openxmlformats.org/drawingml/2006/main">
            <a:r>
              <a:t>2026-09-21 to 2026-10-05; In progress.</a:t>
            </a:r>
          </a:p>
          <a:p xmlns:a="http://schemas.openxmlformats.org/drawingml/2006/main">
            <a:r>
              <a:t>Expected outcome: Explain biological inputs, frozen encoders, pooling, probes and metrics; connect each retained result to the relevant paper and its limitations.</a:t>
            </a:r>
          </a:p>
          <a:p xmlns:a="http://schemas.openxmlformats.org/drawingml/2006/main">
            <a:r>
              <a:t>Prerequisites: None specified.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3. Check label meaning, sequence regions and duplicates</a:t>
            </a:r>
          </a:p>
          <a:p xmlns:a="http://schemas.openxmlformats.org/drawingml/2006/main">
            <a:r>
              <a:t>2026-09-21 to 2026-10-04; In progress.</a:t>
            </a:r>
          </a:p>
          <a:p xmlns:a="http://schemas.openxmlformats.org/drawingml/2006/main">
            <a:r>
              <a:t>Expected outcome: Record assay/target provenance, retained rows, sequence regions, duplicates and translation assumptions before drawing biological conclusions.</a:t>
            </a:r>
          </a:p>
          <a:p xmlns:a="http://schemas.openxmlformats.org/drawingml/2006/main">
            <a:r>
              <a:t>Prerequisites: None specified.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4. Check train/test separation and preprocessing</a:t>
            </a:r>
          </a:p>
          <a:p xmlns:a="http://schemas.openxmlformats.org/drawingml/2006/main">
            <a:r>
              <a:t>2026-09-21 to 2026-10-04; In progress.</a:t>
            </a:r>
          </a:p>
          <a:p xmlns:a="http://schemas.openxmlformats.org/drawingml/2006/main">
            <a:r>
              <a:t>Expected outcome: Identify evaluation unit; check whether duplicate or related sequences cross train/test boundaries and whether fitted preprocessing uses training data only. Document what the split can support.</a:t>
            </a:r>
          </a:p>
          <a:p xmlns:a="http://schemas.openxmlformats.org/drawingml/2006/main">
            <a:r>
              <a:t>Prerequisites: None specified.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5. Trace runs, seeds and reproducibility evidence</a:t>
            </a:r>
          </a:p>
          <a:p xmlns:a="http://schemas.openxmlformats.org/drawingml/2006/main">
            <a:r>
              <a:t>2026-09-21 to 2026-10-04; In progress.</a:t>
            </a:r>
          </a:p>
          <a:p xmlns:a="http://schemas.openxmlformats.org/drawingml/2006/main">
            <a:r>
              <a:t>Expected outcome: Link selected outputs to notebook, data, model revisions, environment, split and seed settings. Compare reruns and investigate differences in results.</a:t>
            </a:r>
          </a:p>
          <a:p xmlns:a="http://schemas.openxmlformats.org/drawingml/2006/main">
            <a:r>
              <a:t>Prerequisites: None specified.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6. Interpret representation metrics and pilot findings</a:t>
            </a:r>
          </a:p>
          <a:p xmlns:a="http://schemas.openxmlformats.org/drawingml/2006/main">
            <a:r>
              <a:t>2026-09-21 to 2026-10-04; In progress.</a:t>
            </a:r>
          </a:p>
          <a:p xmlns:a="http://schemas.openxmlformats.org/drawingml/2006/main">
            <a:r>
              <a:t>Expected outcome: Explain what CKA, neighborhood, CCA/retrieval and predictive probes measure; distinguish observations from explanations. Prepare PCA/variance and layer-choice questions for Mina.</a:t>
            </a:r>
          </a:p>
          <a:p xmlns:a="http://schemas.openxmlformats.org/drawingml/2006/main">
            <a:r>
              <a:t>Prerequisites: None specified.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7. Draft an operational definition of alignment</a:t>
            </a:r>
          </a:p>
          <a:p xmlns:a="http://schemas.openxmlformats.org/drawingml/2006/main">
            <a:r>
              <a:t>2026-09-21 to 2026-10-04; In progress.</a:t>
            </a:r>
          </a:p>
          <a:p xmlns:a="http://schemas.openxmlformats.org/drawingml/2006/main">
            <a:r>
              <a:t>Expected outcome: Define objects being related, biological correspondence versus representation similarity, sample/position unit, metric, reference or null, and permitted conclusions. Keep useful fusion as a separate test.</a:t>
            </a:r>
          </a:p>
          <a:p xmlns:a="http://schemas.openxmlformats.org/drawingml/2006/main">
            <a:r>
              <a:t>Prerequisites: None specified.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8. Map BioLangFusion methods to our inputs</a:t>
            </a:r>
          </a:p>
          <a:p xmlns:a="http://schemas.openxmlformats.org/drawingml/2006/main">
            <a:r>
              <a:t>2026-09-28 to 2026-09-30; Planned.</a:t>
            </a:r>
          </a:p>
          <a:p xmlns:a="http://schemas.openxmlformats.org/drawingml/2006/main">
            <a:r>
              <a:t>Expected outcome: Compare paper and local checkpoints, tokenization, sequence regions, codon mapping, pooling, labels, splits and metrics. Document the changes needed to adapt the method to our inputs.</a:t>
            </a:r>
          </a:p>
          <a:p xmlns:a="http://schemas.openxmlformats.org/drawingml/2006/main">
            <a:r>
              <a:t>Prerequisites: None specified.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9. Build and check a BioLangFusion methods pilot</a:t>
            </a:r>
          </a:p>
          <a:p xmlns:a="http://schemas.openxmlformats.org/drawingml/2006/main">
            <a:r>
              <a:t>2026-10-01 to 2026-10-04; Planned.</a:t>
            </a:r>
          </a:p>
          <a:p xmlns:a="http://schemas.openxmlformats.org/drawingml/2006/main">
            <a:r>
              <a:t>Expected outcome: Test input/feature correspondence and selected simple fusion methods in a small prototype. Compare outputs with controls and bring feasibility findings and deviations from the paper to the October 7 review.</a:t>
            </a:r>
          </a:p>
          <a:p xmlns:a="http://schemas.openxmlformats.org/drawingml/2006/main">
            <a:r>
              <a:t>Prerequisites: 8.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13. Oct 7 review and working alignment definition</a:t>
            </a:r>
          </a:p>
          <a:p xmlns:a="http://schemas.openxmlformats.org/drawingml/2006/main">
            <a:r>
              <a:t>2026-10-07 to 2026-10-07; Planned.</a:t>
            </a:r>
          </a:p>
          <a:p xmlns:a="http://schemas.openxmlformats.org/drawingml/2006/main">
            <a:r>
              <a:t>Expected outcome: Review evidence with Mina and agree a working definition of alignment, its measurements and limits, and the next comparison. Record remaining questions and required revisions.</a:t>
            </a:r>
          </a:p>
          <a:p xmlns:a="http://schemas.openxmlformats.org/drawingml/2006/main">
            <a:r>
              <a:t>Prerequisites: 2, 3, 4, 5, 6, 7, 9, 10, 12.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14. Revise Stage 1 claims, figures and methods</a:t>
            </a:r>
          </a:p>
          <a:p xmlns:a="http://schemas.openxmlformats.org/drawingml/2006/main">
            <a:r>
              <a:t>2026-10-06 to 2026-10-11; Planned.</a:t>
            </a:r>
          </a:p>
          <a:p xmlns:a="http://schemas.openxmlformats.org/drawingml/2006/main">
            <a:r>
              <a:t>Expected outcome: Incorporate Mina’s feedback in the notebook explanations and manuscript; correct unsupported interpretations and identify specific reruns or experiments needed.</a:t>
            </a:r>
          </a:p>
          <a:p xmlns:a="http://schemas.openxmlformats.org/drawingml/2006/main">
            <a:r>
              <a:t>Prerequisites: 13.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15. Specify the first matched comparison protocol</a:t>
            </a:r>
          </a:p>
          <a:p xmlns:a="http://schemas.openxmlformats.org/drawingml/2006/main">
            <a:r>
              <a:t>2026-10-06 to 2026-10-11; Planned.</a:t>
            </a:r>
          </a:p>
          <a:p xmlns:a="http://schemas.openxmlformats.org/drawingml/2006/main">
            <a:r>
              <a:t>Expected outcome: Set biological question, target, evaluation unit, data exclusions, checkpoints, preprocessing, metrics, seeds, tuning budget and success/stop criteria. Architecture priority remains Coupled Mamba; details follow the review.</a:t>
            </a:r>
          </a:p>
          <a:p xmlns:a="http://schemas.openxmlformats.org/drawingml/2006/main">
            <a:r>
              <a:t>Prerequisites: 13.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Stage 2 | Experiments and interpretation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16. Harden single-model and simple-fusion baselines</a:t>
            </a:r>
          </a:p>
          <a:p xmlns:a="http://schemas.openxmlformats.org/drawingml/2006/main">
            <a:r>
              <a:t>2026-10-06 to 2026-10-11; Planned.</a:t>
            </a:r>
          </a:p>
          <a:p xmlns:a="http://schemas.openxmlformats.org/drawingml/2006/main">
            <a:r>
              <a:t>Expected outcome: Prepare comparable single-encoder and concatenation + MLP predictors, input tests and controlled configurations. Keep the original linear concatenation probe distinct. Final comparisons use protocol 15.</a:t>
            </a:r>
          </a:p>
          <a:p xmlns:a="http://schemas.openxmlformats.org/drawingml/2006/main">
            <a:r>
              <a:t>Prerequisites: 13.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17. Run matched BioLangFusion-style comparisons</a:t>
            </a:r>
          </a:p>
          <a:p xmlns:a="http://schemas.openxmlformats.org/drawingml/2006/main">
            <a:r>
              <a:t>2026-10-12 to 2026-10-18; Planned.</a:t>
            </a:r>
          </a:p>
          <a:p xmlns:a="http://schemas.openxmlformats.org/drawingml/2006/main">
            <a:r>
              <a:t>Expected outcome: Compare selected paper-inspired fusion methods and unimodal baselines on the same evaluation data, with adaptations and resources reported. Preserve null or negative results.</a:t>
            </a:r>
          </a:p>
          <a:p xmlns:a="http://schemas.openxmlformats.org/drawingml/2006/main">
            <a:r>
              <a:t>Prerequisites: 9, 15, 16.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20. Prepare Coupled Mamba inputs and feasibility tests</a:t>
            </a:r>
          </a:p>
          <a:p xmlns:a="http://schemas.openxmlformats.org/drawingml/2006/main">
            <a:r>
              <a:t>2026-10-12 to 2026-10-25; Planned.</a:t>
            </a:r>
          </a:p>
          <a:p xmlns:a="http://schemas.openxmlformats.org/drawingml/2006/main">
            <a:r>
              <a:t>Expected outcome: Implement the prioritized architecture with explicit sequence/feature correspondence; test dimensions, controlled cases and resource feasibility while baseline analysis proceeds.</a:t>
            </a:r>
          </a:p>
          <a:p xmlns:a="http://schemas.openxmlformats.org/drawingml/2006/main">
            <a:r>
              <a:t>Prerequisites: 15, 16.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21. Evaluate Coupled Mamba against matched baselines</a:t>
            </a:r>
          </a:p>
          <a:p xmlns:a="http://schemas.openxmlformats.org/drawingml/2006/main">
            <a:r>
              <a:t>2026-10-26 to 2026-11-08; Planned.</a:t>
            </a:r>
          </a:p>
          <a:p xmlns:a="http://schemas.openxmlformats.org/drawingml/2006/main">
            <a:r>
              <a:t>Expected outcome: Compare predictive performance, uncertainty, runtime and memory under the matched evaluation protocol. Interpret gains, losses or unchanged performance against the baseline.</a:t>
            </a:r>
          </a:p>
          <a:p xmlns:a="http://schemas.openxmlformats.org/drawingml/2006/main">
            <a:r>
              <a:t>Prerequisites: 19, 20.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18. Repeat diagnostics and null/control comparisons</a:t>
            </a:r>
          </a:p>
          <a:p xmlns:a="http://schemas.openxmlformats.org/drawingml/2006/main">
            <a:r>
              <a:t>2026-10-12 to 2026-10-18; Planned.</a:t>
            </a:r>
          </a:p>
          <a:p xmlns:a="http://schemas.openxmlformats.org/drawingml/2006/main">
            <a:r>
              <a:t>Expected outcome: Check label/feature controls, synonymous-input behavior and representation diagnostics under the agreed evaluation. Test whether the claimed signal survives the relevant nulls.</a:t>
            </a:r>
          </a:p>
          <a:p xmlns:a="http://schemas.openxmlformats.org/drawingml/2006/main">
            <a:r>
              <a:t>Prerequisites: 14, 15, 16.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19. Interpret baseline findings and revise the next experiment</a:t>
            </a:r>
          </a:p>
          <a:p xmlns:a="http://schemas.openxmlformats.org/drawingml/2006/main">
            <a:r>
              <a:t>2026-10-19 to 2026-10-25; Planned.</a:t>
            </a:r>
          </a:p>
          <a:p xmlns:a="http://schemas.openxmlformats.org/drawingml/2006/main">
            <a:r>
              <a:t>Expected outcome: Compare effect sizes, variation and failure cases; distinguish geometry from predictive complementarity. Revise the question and manuscript before choosing additional complexity.</a:t>
            </a:r>
          </a:p>
          <a:p xmlns:a="http://schemas.openxmlformats.org/drawingml/2006/main">
            <a:r>
              <a:t>Prerequisites: 17, 18.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28. Repeat runs, estimate uncertainty and revise interpretations</a:t>
            </a:r>
          </a:p>
          <a:p xmlns:a="http://schemas.openxmlformats.org/drawingml/2006/main">
            <a:r>
              <a:t>2026-10-12 to 2026-11-22; Planned.</a:t>
            </a:r>
          </a:p>
          <a:p xmlns:a="http://schemas.openxmlformats.org/drawingml/2006/main">
            <a:r>
              <a:t>Expected outcome: Repeat selected configurations as results arrive; investigate variation, leakage or contradictory findings, and revise claims. This spans the experiment cycle rather than following implementation as a single final check.</a:t>
            </a:r>
          </a:p>
          <a:p xmlns:a="http://schemas.openxmlformats.org/drawingml/2006/main">
            <a:r>
              <a:t>Prerequisites: 15, 16.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29. Synthesize evidence, limitations and next decisions</a:t>
            </a:r>
          </a:p>
          <a:p xmlns:a="http://schemas.openxmlformats.org/drawingml/2006/main">
            <a:r>
              <a:t>2026-11-16 to 2026-11-29; Planned.</a:t>
            </a:r>
          </a:p>
          <a:p xmlns:a="http://schemas.openxmlformats.org/drawingml/2006/main">
            <a:r>
              <a:t>Expected outcome: Build a comparison table with sources/runs, uncertainty, resource costs, negative findings and scope limits. Review which conclusions are supported and which further experiments are justified.</a:t>
            </a:r>
          </a:p>
          <a:p xmlns:a="http://schemas.openxmlformats.org/drawingml/2006/main">
            <a:r>
              <a:t>Prerequisites: 19, 21.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22. Candidate layer and PCA/variance comparisons</a:t>
            </a:r>
          </a:p>
          <a:p xmlns:a="http://schemas.openxmlformats.org/drawingml/2006/main">
            <a:r>
              <a:t>2026-10-19 to 2026-11-01; Conditional.</a:t>
            </a:r>
          </a:p>
          <a:p xmlns:a="http://schemas.openxmlformats.org/drawingml/2006/main">
            <a:r>
              <a:t>Expected outcome: After choosing the relevant encoder/layer question, compare selected representations or variance subspaces. Fit any reduction within training data and separate using an earlier layer from truncating or retraining a model.</a:t>
            </a:r>
          </a:p>
          <a:p xmlns:a="http://schemas.openxmlformats.org/drawingml/2006/main">
            <a:r>
              <a:t>Prerequisites: 18.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23. Candidate alignment-objective ablation</a:t>
            </a:r>
          </a:p>
          <a:p xmlns:a="http://schemas.openxmlformats.org/drawingml/2006/main">
            <a:r>
              <a:t>2026-11-02 to 2026-11-08; Conditional.</a:t>
            </a:r>
          </a:p>
          <a:p xmlns:a="http://schemas.openxmlformats.org/drawingml/2006/main">
            <a:r>
              <a:t>Expected outcome: If selected, compare the same fusion setup with and without the specified alignment objective under matched tuning. The pilot’s alignment/error association is not evidence that the loss must help or hurt.</a:t>
            </a:r>
          </a:p>
          <a:p xmlns:a="http://schemas.openxmlformats.org/drawingml/2006/main">
            <a:r>
              <a:t>Prerequisites: 19, 20.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24. Candidate additional RNA-encoder comparisons</a:t>
            </a:r>
          </a:p>
          <a:p xmlns:a="http://schemas.openxmlformats.org/drawingml/2006/main">
            <a:r>
              <a:t>2026-11-09 to 2026-11-15; Conditional.</a:t>
            </a:r>
          </a:p>
          <a:p xmlns:a="http://schemas.openxmlformats.org/drawingml/2006/main">
            <a:r>
              <a:t>Expected outcome: If selected, compare individual checkpoints and combinations while controlling downstream capacity, input coverage and tuning. Different pretraining corpora alone do not establish complementarity.</a:t>
            </a:r>
          </a:p>
          <a:p xmlns:a="http://schemas.openxmlformats.org/drawingml/2006/main">
            <a:r>
              <a:t>Prerequisites: 19.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25. Candidate IsoFormer-style fusion comparison</a:t>
            </a:r>
          </a:p>
          <a:p xmlns:a="http://schemas.openxmlformats.org/drawingml/2006/main">
            <a:r>
              <a:t>2026-11-09 to 2026-11-15; Conditional.</a:t>
            </a:r>
          </a:p>
          <a:p xmlns:a="http://schemas.openxmlformats.org/drawingml/2006/main">
            <a:r>
              <a:t>Expected outcome: Evaluate the second-priority cross-attention candidate only if the reviewed research question and resource budget justify it. Report relevant differences from IsoFormer’s fine-tuning regime.</a:t>
            </a:r>
          </a:p>
          <a:p xmlns:a="http://schemas.openxmlformats.org/drawingml/2006/main">
            <a:r>
              <a:t>Prerequisites: 21.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26. Agree tokenizer benchmark feasibility and protocol</a:t>
            </a:r>
          </a:p>
          <a:p xmlns:a="http://schemas.openxmlformats.org/drawingml/2006/main">
            <a:r>
              <a:t>2026-10-06 to 2026-10-18; Conditional.</a:t>
            </a:r>
          </a:p>
          <a:p xmlns:a="http://schemas.openxmlformats.org/drawingml/2006/main">
            <a:r>
              <a:t>Expected outcome: With the identified lab group, agree a shared task, data, tokenizer version, access and fair comparison protocol.</a:t>
            </a:r>
          </a:p>
          <a:p xmlns:a="http://schemas.openxmlformats.org/drawingml/2006/main">
            <a:r>
              <a:t>Prerequisites: 11, 13.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27. Candidate lab-tokenizer benchmark pilot</a:t>
            </a:r>
          </a:p>
          <a:p xmlns:a="http://schemas.openxmlformats.org/drawingml/2006/main">
            <a:r>
              <a:t>2026-11-02 to 2026-11-15; Conditional.</a:t>
            </a:r>
          </a:p>
          <a:p xmlns:a="http://schemas.openxmlformats.org/drawingml/2006/main">
            <a:r>
              <a:t>Expected outcome: Run only after collaborators agree scope and access and a matched protocol exists. Keep tokenizer effects separate from model capacity, training data and downstream evaluation differences.</a:t>
            </a:r>
          </a:p>
          <a:p xmlns:a="http://schemas.openxmlformats.org/drawingml/2006/main">
            <a:r>
              <a:t>Prerequisites: 26.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Research writing and coordination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30. Research coordination and decision review</a:t>
            </a:r>
          </a:p>
          <a:p xmlns:a="http://schemas.openxmlformats.org/drawingml/2006/main">
            <a:r>
              <a:t>2026-09-14 to 2027-03-31; In progress.</a:t>
            </a:r>
          </a:p>
          <a:p xmlns:a="http://schemas.openxmlformats.org/drawingml/2006/main">
            <a:r>
              <a:t>Expected outcome: Maintain the questions, decisions and follow-ups from regular team and advisor discussions. Confirm future meeting dates with Mina.</a:t>
            </a:r>
          </a:p>
          <a:p xmlns:a="http://schemas.openxmlformats.org/drawingml/2006/main">
            <a:r>
              <a:t>Prerequisites: None specified.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32. Maintain and revise the living Overleaf manuscript</a:t>
            </a:r>
          </a:p>
          <a:p xmlns:a="http://schemas.openxmlformats.org/drawingml/2006/main">
            <a:r>
              <a:t>2026-09-26 to 2027-03-31; In progress.</a:t>
            </a:r>
          </a:p>
          <a:p xmlns:a="http://schemas.openxmlformats.org/drawingml/2006/main">
            <a:r>
              <a:t>Expected outcome: Update methods, figures, claims, citations and open questions as research changes. Writing begins with Stage 1 and continues through review, new experiments and later consolidation.</a:t>
            </a:r>
          </a:p>
          <a:p xmlns:a="http://schemas.openxmlformats.org/drawingml/2006/main">
            <a:r>
              <a:t>Prerequisites: None specified.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CAP6942 | Course deliverables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33. Bibliography, canvas and project-plan submissions</a:t>
            </a:r>
          </a:p>
          <a:p xmlns:a="http://schemas.openxmlformats.org/drawingml/2006/main">
            <a:r>
              <a:t>2026-09-26 to 2026-09-27; In progress.</a:t>
            </a:r>
          </a:p>
          <a:p xmlns:a="http://schemas.openxmlformats.org/drawingml/2006/main">
            <a:r>
              <a:t>Expected outcome: Submit the annotated bibliography and Research Canvas for Team Assignment 1, and the research project plan for Team Assignment 2. Both are due September 27 at 23:59 Eastern.</a:t>
            </a:r>
          </a:p>
          <a:p xmlns:a="http://schemas.openxmlformats.org/drawingml/2006/main">
            <a:r>
              <a:t>Prerequisites: None specified.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34. Prepare final report, presentation and video</a:t>
            </a:r>
          </a:p>
          <a:p xmlns:a="http://schemas.openxmlformats.org/drawingml/2006/main">
            <a:r>
              <a:t>2026-11-16 to 2026-12-06; Planned.</a:t>
            </a:r>
          </a:p>
          <a:p xmlns:a="http://schemas.openxmlformats.org/drawingml/2006/main">
            <a:r>
              <a:t>Expected outcome: Adapt the evolving manuscript and evidence to the course report, presentation and video requirements. Rehearse explanations and incorporate teammate and advisor feedback.</a:t>
            </a:r>
          </a:p>
          <a:p xmlns:a="http://schemas.openxmlformats.org/drawingml/2006/main">
            <a:r>
              <a:t>Prerequisites: None specified.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35. Course rehearsal checkpoint</a:t>
            </a:r>
          </a:p>
          <a:p xmlns:a="http://schemas.openxmlformats.org/drawingml/2006/main">
            <a:r>
              <a:t>2026-12-01 to 2026-12-01; Planned.</a:t>
            </a:r>
          </a:p>
          <a:p xmlns:a="http://schemas.openxmlformats.org/drawingml/2006/main">
            <a:r>
              <a:t>Expected outcome: Rehearse the scientific account and record corrections; confirm the course’s exact instructions in WebCourses.</a:t>
            </a:r>
          </a:p>
          <a:p xmlns:a="http://schemas.openxmlformats.org/drawingml/2006/main">
            <a:r>
              <a:t>Prerequisites: None specified.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36. Final course report checkpoint</a:t>
            </a:r>
          </a:p>
          <a:p xmlns:a="http://schemas.openxmlformats.org/drawingml/2006/main">
            <a:r>
              <a:t>2026-12-07 to 2026-12-07; Planned.</a:t>
            </a:r>
          </a:p>
          <a:p xmlns:a="http://schemas.openxmlformats.org/drawingml/2006/main">
            <a:r>
              <a:t>Expected outcome: Review evidence, attribution and AI disclosure; confirm and complete the required course submission.</a:t>
            </a:r>
          </a:p>
          <a:p xmlns:a="http://schemas.openxmlformats.org/drawingml/2006/main">
            <a:r>
              <a:t>Prerequisites: 34, 35.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37. Course presentation and video checkpoint</a:t>
            </a:r>
          </a:p>
          <a:p xmlns:a="http://schemas.openxmlformats.org/drawingml/2006/main">
            <a:r>
              <a:t>2026-12-08 to 2026-12-08; Planned.</a:t>
            </a:r>
          </a:p>
          <a:p xmlns:a="http://schemas.openxmlformats.org/drawingml/2006/main">
            <a:r>
              <a:t>Expected outcome: Deliver the course presentation/video using the reviewed evidence and acknowledged limitations.</a:t>
            </a:r>
          </a:p>
          <a:p xmlns:a="http://schemas.openxmlformats.org/drawingml/2006/main">
            <a:r>
              <a:t>Prerequisites: 34, 35.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Research continuation | Provisional January to March 2027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38. Further experiments and external validation</a:t>
            </a:r>
          </a:p>
          <a:p xmlns:a="http://schemas.openxmlformats.org/drawingml/2006/main">
            <a:r>
              <a:t>2027-01-04 to 2027-02-28; Conditional.</a:t>
            </a:r>
          </a:p>
          <a:p xmlns:a="http://schemas.openxmlformats.org/drawingml/2006/main">
            <a:r>
              <a:t>Expected outcome: Select and run extensions justified by the reviewed evidence, biological relevance, collaborators and available resources.</a:t>
            </a:r>
          </a:p>
          <a:p xmlns:a="http://schemas.openxmlformats.org/drawingml/2006/main">
            <a:r>
              <a:t>Prerequisites: 29.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39. Consolidate manuscript and review publication readiness</a:t>
            </a:r>
          </a:p>
          <a:p xmlns:a="http://schemas.openxmlformats.org/drawingml/2006/main">
            <a:r>
              <a:t>2027-02-01 to 2027-03-31; Planned.</a:t>
            </a:r>
          </a:p>
          <a:p xmlns:a="http://schemas.openxmlformats.org/drawingml/2006/main">
            <a:r>
              <a:t>Expected outcome: Refine the manuscript already underway, integrate additional evidence and seek group feedback. Venue, submission date and final research end remain undecided.</a:t>
            </a:r>
          </a:p>
          <a:p xmlns:a="http://schemas.openxmlformats.org/drawingml/2006/main">
            <a:r>
              <a:t>Prerequisites: None specified.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40. March research review and next-step decision</a:t>
            </a:r>
          </a:p>
          <a:p xmlns:a="http://schemas.openxmlformats.org/drawingml/2006/main">
            <a:r>
              <a:t>2027-03-31 to 2027-03-31; Planned.</a:t>
            </a:r>
          </a:p>
          <a:p xmlns:a="http://schemas.openxmlformats.org/drawingml/2006/main">
            <a:r>
              <a:t>Expected outcome: Review the evidence and decide whether to extend the experiments, revise the manuscript, prepare a submission or change direction. Adjust the timeline to the chosen next steps.</a:t>
            </a:r>
          </a:p>
          <a:p xmlns:a="http://schemas.openxmlformats.org/drawingml/2006/main">
            <a:r>
              <a:t>Prerequisites: 39.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Sources: Fall 2026 CAP6942 Schedule.pdf; project README.md; team meeting and schedule corrections supplied September 26, 2026.</a:t>
            </a:r>
          </a:p>
          <ns0:p xmlns:ns0="http://schemas.openxmlformats.org/drawingml/2006/main"/>
          <a:p xmlns:a="http://schemas.openxmlformats.org/drawingml/2006/main">
            <a:r>
              <a:t>Planning example: Mélot-Chesnel, Designing Trustworthy Generative AI Agents for Collaborative Decision Making (2026), section 4 and Figure 1, explicitly schedules reconsidering questions and hypotheses between studies. This informed retaining time for interpretation and revision. https://doi.org/10.3233/FAIA260562</a:t>
            </a:r>
          </a:p>
          <ns0:p xmlns:ns0="http://schemas.openxmlformats.org/drawingml/2006/main"/>
          <a:p xmlns:a="http://schemas.openxmlformats.org/drawingml/2006/main">
            <a:r>
              <a:t>Planning example: UQ AGRC7617, Sequential mid-project assessment, uses a proposal and Gantt with supervisor discussion, followed by AI feedback on mature drafts. This illustrates review within planning. https://course-profiles.uq.edu.au/course-profiles/AGRC7617-62151-7660</a:t>
            </a:r>
          </a:p>
          <ns0:p xmlns:ns0="http://schemas.openxmlformats.org/drawingml/2006/main"/>
          <a:p xmlns:a="http://schemas.openxmlformats.org/drawingml/2006/main">
            <a:r>
              <a:t>These examples informed the September 27 planning discussion. They do not establish CAP6942 requirements or measured AI time savings.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Stage 1 | Understanding, Reproducibility and Alignment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The initial six-paper review was completed by September 21. Continued discussion and scientific interpretation remain active.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Dates beyond current work are planning windows. September 21 start dates for ongoing tasks are approximate anchors, not reconstructed activity logs.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October 7 is the next planned Mina meeting. The Stage 1 milestone is a working definition of alignment and a decision about the next matched comparison. Specify the objects being aligned, biological question, unit, metric and reference, and what the result can support.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Stage 1 includes early fusion prototyping to develop understanding. Stage 2 is the proposed structured comparison programme following the review. Feedback may change its scope and timing.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The Coupled Mamba priority follows the project README and the September 23 meeting. Optional comparisons are candidates, and the team will select a feasible subset.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Research coordination began September 14. Stage 1 manuscript drafting is underway in Overleaf and continues as methods and findings change.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The September 27 deadline covers the bibliography and Research Canvas assignment and the research project plan assignment. December 1, 7 and 8 course dates follow the Fall 2026 CAP6942 schedule; WebCourses controls any changes.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January to March is a provisional continuation window. The research end and publication submission date have not been set.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The lab tokenizer and collaborating group still need to be identified. Clarifying the opportunity precedes committing to a benchmark.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AI supports literature study, implementation, analysis and writing. Source checking, experiment interpretation and research decisions are included in each relevant work package.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AI assistance: OpenAI Codex assisted with organizing and wording this research plan. Dates and task descriptions were compared with the course schedule, project README and team meeting notes.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Study and interpretation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2. Continue paper synthesis and notebook walkthrough</a:t>
            </a:r>
          </a:p>
          <a:p xmlns:a="http://schemas.openxmlformats.org/drawingml/2006/main">
            <a:r>
              <a:t>2026-09-21 to 2026-10-05; In progress.</a:t>
            </a:r>
          </a:p>
          <a:p xmlns:a="http://schemas.openxmlformats.org/drawingml/2006/main">
            <a:r>
              <a:t>Expected outcome: Explain biological inputs, frozen encoders, pooling, probes and metrics; connect each retained result to the relevant paper and its limitations.</a:t>
            </a:r>
          </a:p>
          <a:p xmlns:a="http://schemas.openxmlformats.org/drawingml/2006/main">
            <a:r>
              <a:t>Prerequisites: None specified.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6. Interpret representation metrics and pilot findings</a:t>
            </a:r>
          </a:p>
          <a:p xmlns:a="http://schemas.openxmlformats.org/drawingml/2006/main">
            <a:r>
              <a:t>2026-09-21 to 2026-10-04; In progress.</a:t>
            </a:r>
          </a:p>
          <a:p xmlns:a="http://schemas.openxmlformats.org/drawingml/2006/main">
            <a:r>
              <a:t>Expected outcome: Explain what CKA, neighborhood, CCA/retrieval and predictive probes measure; distinguish observations from explanations. Prepare PCA/variance and layer-choice questions for Mina.</a:t>
            </a:r>
          </a:p>
          <a:p xmlns:a="http://schemas.openxmlformats.org/drawingml/2006/main">
            <a:r>
              <a:t>Prerequisites: None specified.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7. Draft an operational definition of alignment</a:t>
            </a:r>
          </a:p>
          <a:p xmlns:a="http://schemas.openxmlformats.org/drawingml/2006/main">
            <a:r>
              <a:t>2026-09-21 to 2026-10-04; In progress.</a:t>
            </a:r>
          </a:p>
          <a:p xmlns:a="http://schemas.openxmlformats.org/drawingml/2006/main">
            <a:r>
              <a:t>Expected outcome: Define objects being related, biological correspondence versus representation similarity, sample/position unit, metric, reference or null, and permitted conclusions. Keep useful fusion as a separate test.</a:t>
            </a:r>
          </a:p>
          <a:p xmlns:a="http://schemas.openxmlformats.org/drawingml/2006/main">
            <a:r>
              <a:t>Prerequisites: None specified.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Data and reproducibility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3. Check label meaning, sequence regions and duplicates</a:t>
            </a:r>
          </a:p>
          <a:p xmlns:a="http://schemas.openxmlformats.org/drawingml/2006/main">
            <a:r>
              <a:t>2026-09-21 to 2026-10-04; In progress.</a:t>
            </a:r>
          </a:p>
          <a:p xmlns:a="http://schemas.openxmlformats.org/drawingml/2006/main">
            <a:r>
              <a:t>Expected outcome: Record assay/target provenance, retained rows, sequence regions, duplicates and translation assumptions before drawing biological conclusions.</a:t>
            </a:r>
          </a:p>
          <a:p xmlns:a="http://schemas.openxmlformats.org/drawingml/2006/main">
            <a:r>
              <a:t>Prerequisites: None specified.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4. Check train/test separation and preprocessing</a:t>
            </a:r>
          </a:p>
          <a:p xmlns:a="http://schemas.openxmlformats.org/drawingml/2006/main">
            <a:r>
              <a:t>2026-09-21 to 2026-10-04; In progress.</a:t>
            </a:r>
          </a:p>
          <a:p xmlns:a="http://schemas.openxmlformats.org/drawingml/2006/main">
            <a:r>
              <a:t>Expected outcome: Identify evaluation unit; check whether duplicate or related sequences cross train/test boundaries and whether fitted preprocessing uses training data only. Document what the split can support.</a:t>
            </a:r>
          </a:p>
          <a:p xmlns:a="http://schemas.openxmlformats.org/drawingml/2006/main">
            <a:r>
              <a:t>Prerequisites: None specified.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5. Trace runs, seeds and reproducibility evidence</a:t>
            </a:r>
          </a:p>
          <a:p xmlns:a="http://schemas.openxmlformats.org/drawingml/2006/main">
            <a:r>
              <a:t>2026-09-21 to 2026-10-04; In progress.</a:t>
            </a:r>
          </a:p>
          <a:p xmlns:a="http://schemas.openxmlformats.org/drawingml/2006/main">
            <a:r>
              <a:t>Expected outcome: Link selected outputs to notebook, data, model revisions, environment, split and seed settings. Compare reruns and investigate differences in results.</a:t>
            </a:r>
          </a:p>
          <a:p xmlns:a="http://schemas.openxmlformats.org/drawingml/2006/main">
            <a:r>
              <a:t>Prerequisites: None specified.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Early implementation, writing and collaboration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8. Map BioLangFusion methods to our inputs</a:t>
            </a:r>
          </a:p>
          <a:p xmlns:a="http://schemas.openxmlformats.org/drawingml/2006/main">
            <a:r>
              <a:t>2026-09-28 to 2026-09-30; Planned.</a:t>
            </a:r>
          </a:p>
          <a:p xmlns:a="http://schemas.openxmlformats.org/drawingml/2006/main">
            <a:r>
              <a:t>Expected outcome: Compare paper and local checkpoints, tokenization, sequence regions, codon mapping, pooling, labels, splits and metrics. Document the changes needed to adapt the method to our inputs.</a:t>
            </a:r>
          </a:p>
          <a:p xmlns:a="http://schemas.openxmlformats.org/drawingml/2006/main">
            <a:r>
              <a:t>Prerequisites: None specified.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9. Build and check a BioLangFusion methods pilot</a:t>
            </a:r>
          </a:p>
          <a:p xmlns:a="http://schemas.openxmlformats.org/drawingml/2006/main">
            <a:r>
              <a:t>2026-10-01 to 2026-10-04; Planned.</a:t>
            </a:r>
          </a:p>
          <a:p xmlns:a="http://schemas.openxmlformats.org/drawingml/2006/main">
            <a:r>
              <a:t>Expected outcome: Test input/feature correspondence and selected simple fusion methods in a small prototype. Compare outputs with controls and bring feasibility findings and deviations from the paper to the October 7 review.</a:t>
            </a:r>
          </a:p>
          <a:p xmlns:a="http://schemas.openxmlformats.org/drawingml/2006/main">
            <a:r>
              <a:t>Prerequisites: 8.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10. Draft Stage 1 methods and findings in Overleaf</a:t>
            </a:r>
          </a:p>
          <a:p xmlns:a="http://schemas.openxmlformats.org/drawingml/2006/main">
            <a:r>
              <a:t>2026-09-26 to 2026-10-04; In progress.</a:t>
            </a:r>
          </a:p>
          <a:p xmlns:a="http://schemas.openxmlformats.org/drawingml/2006/main">
            <a:r>
              <a:t>Expected outcome: Join Mina’s project, draft Stage 1 background/methods, attach supported figures and annotate unresolved claims. This is the first writing increment of the living manuscript.</a:t>
            </a:r>
          </a:p>
          <a:p xmlns:a="http://schemas.openxmlformats.org/drawingml/2006/main">
            <a:r>
              <a:t>Prerequisites: None specified.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11. Clarify the lab tokenizer and benchmark opportunity</a:t>
            </a:r>
          </a:p>
          <a:p xmlns:a="http://schemas.openxmlformats.org/drawingml/2006/main">
            <a:r>
              <a:t>2026-09-28 to 2026-10-05; Planned.</a:t>
            </a:r>
          </a:p>
          <a:p xmlns:a="http://schemas.openxmlformats.org/drawingml/2006/main">
            <a:r>
              <a:t>Expected outcome: Ask Julian for the exact group, tokenizer/paper and intended benchmark task. Establish inputs, access, comparison unit and collaborators before promising a shared experiment.</a:t>
            </a:r>
          </a:p>
          <a:p xmlns:a="http://schemas.openxmlformats.org/drawingml/2006/main">
            <a:r>
              <a:t>Prerequisites: None specified.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October 7 review and follow-up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12. Prepare the Oct 7 evidence and question set</a:t>
            </a:r>
          </a:p>
          <a:p xmlns:a="http://schemas.openxmlformats.org/drawingml/2006/main">
            <a:r>
              <a:t>2026-10-01 to 2026-10-04; Planned.</a:t>
            </a:r>
          </a:p>
          <a:p xmlns:a="http://schemas.openxmlformats.org/drawingml/2006/main">
            <a:r>
              <a:t>Expected outcome: Assemble the explainable pipeline, source-linked findings, unresolved results, BioLangFusion pilot status and alignment-definition proposal. Distinguish established evidence from open hypotheses.</a:t>
            </a:r>
          </a:p>
          <a:p xmlns:a="http://schemas.openxmlformats.org/drawingml/2006/main">
            <a:r>
              <a:t>Prerequisites: None specified.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13. Oct 7 review and working alignment definition</a:t>
            </a:r>
          </a:p>
          <a:p xmlns:a="http://schemas.openxmlformats.org/drawingml/2006/main">
            <a:r>
              <a:t>2026-10-07 to 2026-10-07; Planned.</a:t>
            </a:r>
          </a:p>
          <a:p xmlns:a="http://schemas.openxmlformats.org/drawingml/2006/main">
            <a:r>
              <a:t>Expected outcome: Review evidence with Mina and agree a working definition of alignment, its measurements and limits, and the next comparison. Record remaining questions and required revisions.</a:t>
            </a:r>
          </a:p>
          <a:p xmlns:a="http://schemas.openxmlformats.org/drawingml/2006/main">
            <a:r>
              <a:t>Prerequisites: 2, 3, 4, 5, 6, 7, 9, 10, 12.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14. Revise Stage 1 claims, figures and methods</a:t>
            </a:r>
          </a:p>
          <a:p xmlns:a="http://schemas.openxmlformats.org/drawingml/2006/main">
            <a:r>
              <a:t>2026-10-06 to 2026-10-11; Planned.</a:t>
            </a:r>
          </a:p>
          <a:p xmlns:a="http://schemas.openxmlformats.org/drawingml/2006/main">
            <a:r>
              <a:t>Expected outcome: Incorporate Mina’s feedback in the notebook explanations and manuscript; correct unsupported interpretations and identify specific reruns or experiments needed.</a:t>
            </a:r>
          </a:p>
          <a:p xmlns:a="http://schemas.openxmlformats.org/drawingml/2006/main">
            <a:r>
              <a:t>Prerequisites: 13.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15. Specify the first matched comparison protocol</a:t>
            </a:r>
          </a:p>
          <a:p xmlns:a="http://schemas.openxmlformats.org/drawingml/2006/main">
            <a:r>
              <a:t>2026-10-06 to 2026-10-11; Planned.</a:t>
            </a:r>
          </a:p>
          <a:p xmlns:a="http://schemas.openxmlformats.org/drawingml/2006/main">
            <a:r>
              <a:t>Expected outcome: Set biological question, target, evaluation unit, data exclusions, checkpoints, preprocessing, metrics, seeds, tuning budget and success/stop criteria. Architecture priority remains Coupled Mamba; details follow the review.</a:t>
            </a:r>
          </a:p>
          <a:p xmlns:a="http://schemas.openxmlformats.org/drawingml/2006/main">
            <a:r>
              <a:t>Prerequisites: 13.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Sources: Fall 2026 CAP6942 Schedule.pdf; project README.md; team meeting and schedule corrections supplied September 26, 2026.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Stage 2 | Experiments, Interpretation and Revision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The initial six-paper review was completed by September 21. Continued discussion and scientific interpretation remain active.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Dates beyond current work are planning windows. September 21 start dates for ongoing tasks are approximate anchors, not reconstructed activity logs.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October 7 is the next planned Mina meeting. The Stage 1 milestone is a working definition of alignment and a decision about the next matched comparison. Specify the objects being aligned, biological question, unit, metric and reference, and what the result can support.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Stage 1 includes early fusion prototyping to develop understanding. Stage 2 is the proposed structured comparison programme following the review. Feedback may change its scope and timing.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The Coupled Mamba priority follows the project README and the September 23 meeting. Optional comparisons are candidates, and the team will select a feasible subset.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Research coordination began September 14. Stage 1 manuscript drafting is underway in Overleaf and continues as methods and findings change.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The September 27 deadline covers the bibliography and Research Canvas assignment and the research project plan assignment. December 1, 7 and 8 course dates follow the Fall 2026 CAP6942 schedule; WebCourses controls any changes.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January to March is a provisional continuation window. The research end and publication submission date have not been set.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The lab tokenizer and collaborating group still need to be identified. Clarifying the opportunity precedes committing to a benchmark.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AI supports literature study, implementation, analysis and writing. Source checking, experiment interpretation and research decisions are included in each relevant work package.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AI assistance: OpenAI Codex assisted with organizing and wording this research plan. Dates and task descriptions were compared with the course schedule, project README and team meeting notes.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Core comparison sequence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16. Harden single-model and simple-fusion baselines</a:t>
            </a:r>
          </a:p>
          <a:p xmlns:a="http://schemas.openxmlformats.org/drawingml/2006/main">
            <a:r>
              <a:t>2026-10-06 to 2026-10-11; Planned.</a:t>
            </a:r>
          </a:p>
          <a:p xmlns:a="http://schemas.openxmlformats.org/drawingml/2006/main">
            <a:r>
              <a:t>Expected outcome: Prepare comparable single-encoder and concatenation + MLP predictors, input tests and controlled configurations. Keep the original linear concatenation probe distinct. Final comparisons use protocol 15.</a:t>
            </a:r>
          </a:p>
          <a:p xmlns:a="http://schemas.openxmlformats.org/drawingml/2006/main">
            <a:r>
              <a:t>Prerequisites: 13.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17. Run matched BioLangFusion-style comparisons</a:t>
            </a:r>
          </a:p>
          <a:p xmlns:a="http://schemas.openxmlformats.org/drawingml/2006/main">
            <a:r>
              <a:t>2026-10-12 to 2026-10-18; Planned.</a:t>
            </a:r>
          </a:p>
          <a:p xmlns:a="http://schemas.openxmlformats.org/drawingml/2006/main">
            <a:r>
              <a:t>Expected outcome: Compare selected paper-inspired fusion methods and unimodal baselines on the same evaluation data, with adaptations and resources reported. Preserve null or negative results.</a:t>
            </a:r>
          </a:p>
          <a:p xmlns:a="http://schemas.openxmlformats.org/drawingml/2006/main">
            <a:r>
              <a:t>Prerequisites: 9, 15, 16.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18. Repeat diagnostics and null/control comparisons</a:t>
            </a:r>
          </a:p>
          <a:p xmlns:a="http://schemas.openxmlformats.org/drawingml/2006/main">
            <a:r>
              <a:t>2026-10-12 to 2026-10-18; Planned.</a:t>
            </a:r>
          </a:p>
          <a:p xmlns:a="http://schemas.openxmlformats.org/drawingml/2006/main">
            <a:r>
              <a:t>Expected outcome: Check label/feature controls, synonymous-input behavior and representation diagnostics under the agreed evaluation. Test whether the claimed signal survives the relevant nulls.</a:t>
            </a:r>
          </a:p>
          <a:p xmlns:a="http://schemas.openxmlformats.org/drawingml/2006/main">
            <a:r>
              <a:t>Prerequisites: 14, 15, 16.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19. Interpret baseline findings and revise the next experiment</a:t>
            </a:r>
          </a:p>
          <a:p xmlns:a="http://schemas.openxmlformats.org/drawingml/2006/main">
            <a:r>
              <a:t>2026-10-19 to 2026-10-25; Planned.</a:t>
            </a:r>
          </a:p>
          <a:p xmlns:a="http://schemas.openxmlformats.org/drawingml/2006/main">
            <a:r>
              <a:t>Expected outcome: Compare effect sizes, variation and failure cases; distinguish geometry from predictive complementarity. Revise the question and manuscript before choosing additional complexity.</a:t>
            </a:r>
          </a:p>
          <a:p xmlns:a="http://schemas.openxmlformats.org/drawingml/2006/main">
            <a:r>
              <a:t>Prerequisites: 17, 18.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20. Prepare Coupled Mamba inputs and feasibility tests</a:t>
            </a:r>
          </a:p>
          <a:p xmlns:a="http://schemas.openxmlformats.org/drawingml/2006/main">
            <a:r>
              <a:t>2026-10-12 to 2026-10-25; Planned.</a:t>
            </a:r>
          </a:p>
          <a:p xmlns:a="http://schemas.openxmlformats.org/drawingml/2006/main">
            <a:r>
              <a:t>Expected outcome: Implement the prioritized architecture with explicit sequence/feature correspondence; test dimensions, controlled cases and resource feasibility while baseline analysis proceeds.</a:t>
            </a:r>
          </a:p>
          <a:p xmlns:a="http://schemas.openxmlformats.org/drawingml/2006/main">
            <a:r>
              <a:t>Prerequisites: 15, 16.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21. Evaluate Coupled Mamba against matched baselines</a:t>
            </a:r>
          </a:p>
          <a:p xmlns:a="http://schemas.openxmlformats.org/drawingml/2006/main">
            <a:r>
              <a:t>2026-10-26 to 2026-11-08; Planned.</a:t>
            </a:r>
          </a:p>
          <a:p xmlns:a="http://schemas.openxmlformats.org/drawingml/2006/main">
            <a:r>
              <a:t>Expected outcome: Compare predictive performance, uncertainty, runtime and memory under the matched evaluation protocol. Interpret gains, losses or unchanged performance against the baseline.</a:t>
            </a:r>
          </a:p>
          <a:p xmlns:a="http://schemas.openxmlformats.org/drawingml/2006/main">
            <a:r>
              <a:t>Prerequisites: 19, 20.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Repeated runs, interpretation and revision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28. Repeat runs, estimate uncertainty and revise interpretations</a:t>
            </a:r>
          </a:p>
          <a:p xmlns:a="http://schemas.openxmlformats.org/drawingml/2006/main">
            <a:r>
              <a:t>2026-10-12 to 2026-11-22; Planned.</a:t>
            </a:r>
          </a:p>
          <a:p xmlns:a="http://schemas.openxmlformats.org/drawingml/2006/main">
            <a:r>
              <a:t>Expected outcome: Repeat selected configurations as results arrive; investigate variation, leakage or contradictory findings, and revise claims. This spans the experiment cycle rather than following implementation as a single final check.</a:t>
            </a:r>
          </a:p>
          <a:p xmlns:a="http://schemas.openxmlformats.org/drawingml/2006/main">
            <a:r>
              <a:t>Prerequisites: 15, 16.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29. Synthesize evidence, limitations and next decisions</a:t>
            </a:r>
          </a:p>
          <a:p xmlns:a="http://schemas.openxmlformats.org/drawingml/2006/main">
            <a:r>
              <a:t>2026-11-16 to 2026-11-29; Planned.</a:t>
            </a:r>
          </a:p>
          <a:p xmlns:a="http://schemas.openxmlformats.org/drawingml/2006/main">
            <a:r>
              <a:t>Expected outcome: Build a comparison table with sources/runs, uncertainty, resource costs, negative findings and scope limits. Review which conclusions are supported and which further experiments are justified.</a:t>
            </a:r>
          </a:p>
          <a:p xmlns:a="http://schemas.openxmlformats.org/drawingml/2006/main">
            <a:r>
              <a:t>Prerequisites: 19, 21.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Optional comparisons | Subject to scope and feasibility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22. Candidate layer and PCA/variance comparisons</a:t>
            </a:r>
          </a:p>
          <a:p xmlns:a="http://schemas.openxmlformats.org/drawingml/2006/main">
            <a:r>
              <a:t>2026-10-19 to 2026-11-01; Conditional.</a:t>
            </a:r>
          </a:p>
          <a:p xmlns:a="http://schemas.openxmlformats.org/drawingml/2006/main">
            <a:r>
              <a:t>Expected outcome: After choosing the relevant encoder/layer question, compare selected representations or variance subspaces. Fit any reduction within training data and separate using an earlier layer from truncating or retraining a model.</a:t>
            </a:r>
          </a:p>
          <a:p xmlns:a="http://schemas.openxmlformats.org/drawingml/2006/main">
            <a:r>
              <a:t>Prerequisites: 18.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23. Candidate alignment-objective ablation</a:t>
            </a:r>
          </a:p>
          <a:p xmlns:a="http://schemas.openxmlformats.org/drawingml/2006/main">
            <a:r>
              <a:t>2026-11-02 to 2026-11-08; Conditional.</a:t>
            </a:r>
          </a:p>
          <a:p xmlns:a="http://schemas.openxmlformats.org/drawingml/2006/main">
            <a:r>
              <a:t>Expected outcome: If selected, compare the same fusion setup with and without the specified alignment objective under matched tuning. The pilot’s alignment/error association is not evidence that the loss must help or hurt.</a:t>
            </a:r>
          </a:p>
          <a:p xmlns:a="http://schemas.openxmlformats.org/drawingml/2006/main">
            <a:r>
              <a:t>Prerequisites: 19, 20.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24. Candidate additional RNA-encoder comparisons</a:t>
            </a:r>
          </a:p>
          <a:p xmlns:a="http://schemas.openxmlformats.org/drawingml/2006/main">
            <a:r>
              <a:t>2026-11-09 to 2026-11-15; Conditional.</a:t>
            </a:r>
          </a:p>
          <a:p xmlns:a="http://schemas.openxmlformats.org/drawingml/2006/main">
            <a:r>
              <a:t>Expected outcome: If selected, compare individual checkpoints and combinations while controlling downstream capacity, input coverage and tuning. Different pretraining corpora alone do not establish complementarity.</a:t>
            </a:r>
          </a:p>
          <a:p xmlns:a="http://schemas.openxmlformats.org/drawingml/2006/main">
            <a:r>
              <a:t>Prerequisites: 19.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25. Candidate IsoFormer-style fusion comparison</a:t>
            </a:r>
          </a:p>
          <a:p xmlns:a="http://schemas.openxmlformats.org/drawingml/2006/main">
            <a:r>
              <a:t>2026-11-09 to 2026-11-15; Conditional.</a:t>
            </a:r>
          </a:p>
          <a:p xmlns:a="http://schemas.openxmlformats.org/drawingml/2006/main">
            <a:r>
              <a:t>Expected outcome: Evaluate the second-priority cross-attention candidate only if the reviewed research question and resource budget justify it. Report relevant differences from IsoFormer’s fine-tuning regime.</a:t>
            </a:r>
          </a:p>
          <a:p xmlns:a="http://schemas.openxmlformats.org/drawingml/2006/main">
            <a:r>
              <a:t>Prerequisites: 21.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26. Agree tokenizer benchmark feasibility and protocol</a:t>
            </a:r>
          </a:p>
          <a:p xmlns:a="http://schemas.openxmlformats.org/drawingml/2006/main">
            <a:r>
              <a:t>2026-10-06 to 2026-10-18; Conditional.</a:t>
            </a:r>
          </a:p>
          <a:p xmlns:a="http://schemas.openxmlformats.org/drawingml/2006/main">
            <a:r>
              <a:t>Expected outcome: With the identified lab group, agree a shared task, data, tokenizer version, access and fair comparison protocol.</a:t>
            </a:r>
          </a:p>
          <a:p xmlns:a="http://schemas.openxmlformats.org/drawingml/2006/main">
            <a:r>
              <a:t>Prerequisites: 11, 13.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27. Candidate lab-tokenizer benchmark pilot</a:t>
            </a:r>
          </a:p>
          <a:p xmlns:a="http://schemas.openxmlformats.org/drawingml/2006/main">
            <a:r>
              <a:t>2026-11-02 to 2026-11-15; Conditional.</a:t>
            </a:r>
          </a:p>
          <a:p xmlns:a="http://schemas.openxmlformats.org/drawingml/2006/main">
            <a:r>
              <a:t>Expected outcome: Run only after collaborators agree scope and access and a matched protocol exists. Keep tokenizer effects separate from model capacity, training data and downstream evaluation differences.</a:t>
            </a:r>
          </a:p>
          <a:p xmlns:a="http://schemas.openxmlformats.org/drawingml/2006/main">
            <a:r>
              <a:t>Prerequisites: 26.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Sources: Fall 2026 CAP6942 Schedule.pdf; project README.md; team meeting and schedule corrections supplied September 26, 2026.</a:t>
            </a:r>
          </a:p>
          <ns0:p xmlns:ns0="http://schemas.openxmlformats.org/drawingml/2006/main"/>
          <a:p xmlns:a="http://schemas.openxmlformats.org/drawingml/2006/main">
            <a:r>
              <a:t>Planning example: Mélot-Chesnel, Designing Trustworthy Generative AI Agents for Collaborative Decision Making (2026), section 4 and Figure 1, explicitly schedules reconsidering questions and hypotheses between studies. This informed retaining time for interpretation and revision. https://doi.org/10.3233/FAIA260562</a:t>
            </a:r>
          </a:p>
          <ns0:p xmlns:ns0="http://schemas.openxmlformats.org/drawingml/2006/main"/>
          <a:p xmlns:a="http://schemas.openxmlformats.org/drawingml/2006/main">
            <a:r>
              <a:t>Planning example: UQ AGRC7617, Sequential mid-project assessment, uses a proposal and Gantt with supervisor discussion, followed by AI feedback on mature drafts. This illustrates review within planning. https://course-profiles.uq.edu.au/course-profiles/AGRC7617-62151-7660</a:t>
            </a:r>
          </a:p>
          <ns0:p xmlns:ns0="http://schemas.openxmlformats.org/drawingml/2006/main"/>
          <a:p xmlns:a="http://schemas.openxmlformats.org/drawingml/2006/main">
            <a:r>
              <a:t>These examples informed the September 27 planning discussion. They do not establish CAP6942 requirements or measured AI time savings.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slideLayouts/_rels/slideLayout1.xml.rels><?xml version='1.0' encoding='UTF-8' standalone='yes'?>
<Relationships xmlns="http://schemas.openxmlformats.org/package/2006/relationships"><Relationship Id="R5606df07feb54ccf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f8c8fa4dbf254a0b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9516fe67bfaf44e9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127e241674244bce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f078de79aa2d4e57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4f6cec5512184f5a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1d12eaca458645db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d26b6c5415654e7f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de185142ffa14865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9195155c51834f0a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9610807a9cac4859" Type="http://schemas.openxmlformats.org/officeDocument/2006/relationships/slideMaster" Target="../slideMasters/slideMaster1.xml"/></Relationships>
</file>

<file path=ppt/slideLayouts/slideLayout1.xml><?xml version="1.0" encoding="utf-8"?>
<p:sldLayout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CFD50471-0901-4031-8F05-F553F5DA3305}"/>
              </a:ext>
            </a:extLst>
          </p:cNvPr>
          <p:cNvSpPr>
            <a:spLocks xmlns:a="http://schemas.openxmlformats.org/drawingml/2006/main" noGrp="1"/>
          </p:cNvSpPr>
          <p:nvPr>
            <p:ph type="ctrTitle" idx="0"/>
          </p:nvPr>
        </p:nvSpPr>
        <p:spPr>
          <a:xfrm xmlns:a="http://schemas.openxmlformats.org/drawingml/2006/main">
            <a:off x="685800" y="2130425"/>
            <a:ext cx="7772400" cy="1470025"/>
          </a:xfr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Click to edit Master title style</a:t>
            </a:r>
            <a:endParaRPr/>
          </a:p>
        </p:txBody>
      </p:sp>
      <p:sp>
        <p:nvSpPr>
          <p:cNvPr id="3" name="Subtitle 2">
            <a:extLst xmlns:a="http://schemas.openxmlformats.org/drawingml/2006/main">
              <a:ext uri="{FF2B5EF4-FFF2-40B4-BE49-F238E27FC236}">
                <a16:creationId xmlns:a16="http://schemas.microsoft.com/office/drawing/2014/main" id="{5D58B5D4-0F11-4ED8-ACCB-C57715637049}"/>
              </a:ext>
            </a:extLst>
          </p:cNvPr>
          <p:cNvSpPr>
            <a:spLocks xmlns:a="http://schemas.openxmlformats.org/drawingml/2006/main" noGrp="1"/>
          </p:cNvSpPr>
          <p:nvPr>
            <p:ph type="subTitle" idx="1"/>
          </p:nvPr>
        </p:nvSpPr>
        <p:spPr>
          <a:xfrm xmlns:a="http://schemas.openxmlformats.org/drawingml/2006/main">
            <a:off x="1371600" y="3886200"/>
            <a:ext cx="6400800" cy="1752600"/>
          </a:xfrm>
        </p:spPr>
        <p:txBody>
          <a:bodyPr xmlns:a="http://schemas.openxmlformats.org/drawingml/2006/main"/>
          <a:lstStyle xmlns:a="http://schemas.openxmlformats.org/drawingml/2006/main"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 xmlns:a="http://schemas.openxmlformats.org/drawingml/2006/main">
            <a:r>
              <a:t>Click to edit Master subtitle style</a:t>
            </a:r>
            <a:endParaRPr/>
          </a:p>
        </p:txBody>
      </p:sp>
      <p:sp>
        <p:nvSpPr>
          <p:cNvPr id="4" name="Date Placeholder 3">
            <a:extLst xmlns:a="http://schemas.openxmlformats.org/drawingml/2006/main">
              <a:ext uri="{FF2B5EF4-FFF2-40B4-BE49-F238E27FC236}">
                <a16:creationId xmlns:a16="http://schemas.microsoft.com/office/drawing/2014/main" id="{4640D5FE-F90B-44B9-BAD9-D4EC0AA4C0BD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5BCAD085-E8A6-8845-BD4E-CB4CCA059FC4}" type="datetimeFigureOut">
              <a:t>1/27/13</a:t>
            </a:fld>
            <a:endParaRPr/>
          </a:p>
        </p:txBody>
      </p:sp>
      <p:sp>
        <p:nvSpPr>
          <p:cNvPr id="5" name="Footer Placeholder 4">
            <a:extLst xmlns:a="http://schemas.openxmlformats.org/drawingml/2006/main">
              <a:ext uri="{FF2B5EF4-FFF2-40B4-BE49-F238E27FC236}">
                <a16:creationId xmlns:a16="http://schemas.microsoft.com/office/drawing/2014/main" id="{E352EF19-63C3-42A0-9635-40054A0BB635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6" name="Slide Number Placeholder 5">
            <a:extLst xmlns:a="http://schemas.openxmlformats.org/drawingml/2006/main">
              <a:ext uri="{FF2B5EF4-FFF2-40B4-BE49-F238E27FC236}">
                <a16:creationId xmlns:a16="http://schemas.microsoft.com/office/drawing/2014/main" id="{FA65AA00-5F52-4591-9F89-BD8DB9473D2A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C1FF6DA9-008F-8B48-92A6-B652298478BF}" type="slidenum">
              <a:t>‹#›</a:t>
            </a:fld>
            <a:endParaRPr/>
          </a:p>
        </p:txBody>
      </p:sp>
    </p:spTree>
  </p:cSld>
</p:sldLayout>
</file>

<file path=ppt/slideLayouts/slideLayout2.xml><?xml version="1.0" encoding="utf-8"?>
<p:sldLayout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9AC6171C-6B1A-4498-ACDE-BB467882FD13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Click to edit Master title style</a:t>
            </a:r>
            <a:endParaRPr/>
          </a:p>
        </p:txBody>
      </p:sp>
      <p:sp>
        <p:nvSpPr>
          <p:cNvPr id="3" name="Content Placeholder 2">
            <a:extLst xmlns:a="http://schemas.openxmlformats.org/drawingml/2006/main">
              <a:ext uri="{FF2B5EF4-FFF2-40B4-BE49-F238E27FC236}">
                <a16:creationId xmlns:a16="http://schemas.microsoft.com/office/drawing/2014/main" id="{8D649E35-5C93-4635-A524-44402B970AB4}"/>
              </a:ext>
            </a:extLst>
          </p:cNvPr>
          <p:cNvSpPr>
            <a:spLocks xmlns:a="http://schemas.openxmlformats.org/drawingml/2006/main" noGrp="1"/>
          </p:cNvSpPr>
          <p:nvPr>
            <p:ph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lvl="0">
              <a:buNone/>
            </a:pPr>
            <a:r>
              <a:t>Click to edit Master text styles</a:t>
            </a:r>
          </a:p>
          <a:p xmlns:a="http://schemas.openxmlformats.org/drawingml/2006/main">
            <a:pPr lvl="1">
              <a:buNone/>
            </a:pPr>
            <a:r>
              <a:t>Second level</a:t>
            </a:r>
          </a:p>
          <a:p xmlns:a="http://schemas.openxmlformats.org/drawingml/2006/main">
            <a:pPr lvl="2">
              <a:buNone/>
            </a:pPr>
            <a:r>
              <a:t>Third level</a:t>
            </a:r>
          </a:p>
          <a:p xmlns:a="http://schemas.openxmlformats.org/drawingml/2006/main">
            <a:pPr lvl="3">
              <a:buNone/>
            </a:pPr>
            <a:r>
              <a:t>Fourth level</a:t>
            </a:r>
          </a:p>
          <a:p xmlns:a="http://schemas.openxmlformats.org/drawingml/2006/main">
            <a:pPr lvl="4">
              <a:buNone/>
            </a:pPr>
            <a:r>
              <a:t>Fifth level</a:t>
            </a:r>
            <a:endParaRPr/>
          </a:p>
        </p:txBody>
      </p:sp>
      <p:sp>
        <p:nvSpPr>
          <p:cNvPr id="4" name="Date Placeholder 3">
            <a:extLst xmlns:a="http://schemas.openxmlformats.org/drawingml/2006/main">
              <a:ext uri="{FF2B5EF4-FFF2-40B4-BE49-F238E27FC236}">
                <a16:creationId xmlns:a16="http://schemas.microsoft.com/office/drawing/2014/main" id="{DD4A137F-E709-4B82-A3AD-33F7625CCCD0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5BCAD085-E8A6-8845-BD4E-CB4CCA059FC4}" type="datetimeFigureOut">
              <a:t>1/27/13</a:t>
            </a:fld>
            <a:endParaRPr/>
          </a:p>
        </p:txBody>
      </p:sp>
      <p:sp>
        <p:nvSpPr>
          <p:cNvPr id="5" name="Footer Placeholder 4">
            <a:extLst xmlns:a="http://schemas.openxmlformats.org/drawingml/2006/main">
              <a:ext uri="{FF2B5EF4-FFF2-40B4-BE49-F238E27FC236}">
                <a16:creationId xmlns:a16="http://schemas.microsoft.com/office/drawing/2014/main" id="{DD389170-5754-48A5-8DFE-4977600A8DB9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6" name="Slide Number Placeholder 5">
            <a:extLst xmlns:a="http://schemas.openxmlformats.org/drawingml/2006/main">
              <a:ext uri="{FF2B5EF4-FFF2-40B4-BE49-F238E27FC236}">
                <a16:creationId xmlns:a16="http://schemas.microsoft.com/office/drawing/2014/main" id="{DBB67BA2-2745-46AA-BC3E-39187EE8CAD5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C1FF6DA9-008F-8B48-92A6-B652298478BF}" type="slidenum">
              <a:t>‹#›</a:t>
            </a:fld>
            <a:endParaRPr/>
          </a:p>
        </p:txBody>
      </p:sp>
    </p:spTree>
  </p:cSld>
</p:sldLayout>
</file>

<file path=ppt/slideLayouts/slideLayout3.xml><?xml version="1.0" encoding="utf-8"?>
<p:sldLayout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72467CD8-E86B-4C4F-84C0-3C905E004527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722313" y="4406900"/>
            <a:ext cx="7772400" cy="1362075"/>
          </a:xfrm>
        </p:spPr>
        <p:txBody>
          <a:bodyPr xmlns:a="http://schemas.openxmlformats.org/drawingml/2006/main" anchor="t"/>
          <a:lstStyle xmlns:a="http://schemas.openxmlformats.org/drawingml/2006/main">
            <a:lvl1pPr algn="l">
              <a:buNone/>
              <a:defRPr sz="4000" b="1" cap="all"/>
            </a:lvl1pPr>
          </a:lstStyle>
          <a:p xmlns:a="http://schemas.openxmlformats.org/drawingml/2006/main">
            <a:r>
              <a:t>Click to edit Master title style</a:t>
            </a:r>
            <a:endParaRPr/>
          </a:p>
        </p:txBody>
      </p:sp>
      <p:sp>
        <p:nvSpPr>
          <p:cNvPr id="3" name="Text Placeholder 2">
            <a:extLst xmlns:a="http://schemas.openxmlformats.org/drawingml/2006/main">
              <a:ext uri="{FF2B5EF4-FFF2-40B4-BE49-F238E27FC236}">
                <a16:creationId xmlns:a16="http://schemas.microsoft.com/office/drawing/2014/main" id="{0604BDB1-CCDF-4FBD-A759-7A7F17D92040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722313" y="2906713"/>
            <a:ext cx="7772400" cy="1500187"/>
          </a:xfrm>
        </p:spPr>
        <p:txBody>
          <a:bodyPr xmlns:a="http://schemas.openxmlformats.org/drawingml/2006/main" anchor="b"/>
          <a:lstStyle xmlns:a="http://schemas.openxmlformats.org/drawingml/2006/main"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 xmlns:a="http://schemas.openxmlformats.org/drawingml/2006/main">
            <a:pPr lvl="0">
              <a:buNone/>
            </a:pPr>
            <a:r>
              <a:t>Click to edit Master text styles</a:t>
            </a:r>
          </a:p>
        </p:txBody>
      </p:sp>
      <p:sp>
        <p:nvSpPr>
          <p:cNvPr id="4" name="Date Placeholder 3">
            <a:extLst xmlns:a="http://schemas.openxmlformats.org/drawingml/2006/main">
              <a:ext uri="{FF2B5EF4-FFF2-40B4-BE49-F238E27FC236}">
                <a16:creationId xmlns:a16="http://schemas.microsoft.com/office/drawing/2014/main" id="{B6B95C45-A53F-4629-8646-F4803C92CD38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5BCAD085-E8A6-8845-BD4E-CB4CCA059FC4}" type="datetimeFigureOut">
              <a:t>1/27/13</a:t>
            </a:fld>
            <a:endParaRPr/>
          </a:p>
        </p:txBody>
      </p:sp>
      <p:sp>
        <p:nvSpPr>
          <p:cNvPr id="5" name="Footer Placeholder 4">
            <a:extLst xmlns:a="http://schemas.openxmlformats.org/drawingml/2006/main">
              <a:ext uri="{FF2B5EF4-FFF2-40B4-BE49-F238E27FC236}">
                <a16:creationId xmlns:a16="http://schemas.microsoft.com/office/drawing/2014/main" id="{96A43E3D-844F-46D8-A39D-8F52431874AD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6" name="Slide Number Placeholder 5">
            <a:extLst xmlns:a="http://schemas.openxmlformats.org/drawingml/2006/main">
              <a:ext uri="{FF2B5EF4-FFF2-40B4-BE49-F238E27FC236}">
                <a16:creationId xmlns:a16="http://schemas.microsoft.com/office/drawing/2014/main" id="{CE9E6E19-B69B-4C88-848A-4A5BC4E18D6E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C1FF6DA9-008F-8B48-92A6-B652298478BF}" type="slidenum">
              <a:t>‹#›</a:t>
            </a:fld>
            <a:endParaRPr/>
          </a:p>
        </p:txBody>
      </p:sp>
    </p:spTree>
  </p:cSld>
</p:sldLayout>
</file>

<file path=ppt/slideLayouts/slideLayout4.xml><?xml version="1.0" encoding="utf-8"?>
<p:sldLayout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B43D2580-B2CC-4681-A526-85ADAA1BE72C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Click to edit Master title style</a:t>
            </a:r>
            <a:endParaRPr/>
          </a:p>
        </p:txBody>
      </p:sp>
      <p:sp>
        <p:nvSpPr>
          <p:cNvPr id="3" name="Content Placeholder 2">
            <a:extLst xmlns:a="http://schemas.openxmlformats.org/drawingml/2006/main">
              <a:ext uri="{FF2B5EF4-FFF2-40B4-BE49-F238E27FC236}">
                <a16:creationId xmlns:a16="http://schemas.microsoft.com/office/drawing/2014/main" id="{F7D6B0C6-4B46-4BFB-96E9-6DE1E47B0E7E}"/>
              </a:ext>
            </a:extLst>
          </p:cNvPr>
          <p:cNvSpPr>
            <a:spLocks xmlns:a="http://schemas.openxmlformats.org/drawingml/2006/main" noGrp="1"/>
          </p:cNvSpPr>
          <p:nvPr>
            <p:ph idx="1"/>
          </p:nvPr>
        </p:nvSpPr>
        <p:spPr>
          <a:xfrm xmlns:a="http://schemas.openxmlformats.org/drawingml/2006/main">
            <a:off x="457200" y="1600200"/>
            <a:ext cx="4038600" cy="4525963"/>
          </a:xfrm>
        </p:spPr>
        <p:txBody>
          <a:bodyPr xmlns:a="http://schemas.openxmlformats.org/drawingml/2006/main"/>
          <a:lstStyle xmlns:a="http://schemas.openxmlformats.org/drawingml/2006/main">
            <a:lvl1pPr>
              <a:buNone/>
              <a:defRPr sz="2800"/>
            </a:lvl1pPr>
            <a:lvl2pPr>
              <a:buNone/>
              <a:defRPr sz="2400"/>
            </a:lvl2pPr>
            <a:lvl3pPr>
              <a:buNone/>
              <a:defRPr sz="2000"/>
            </a:lvl3pPr>
            <a:lvl4pPr>
              <a:buNone/>
              <a:defRPr sz="1800"/>
            </a:lvl4pPr>
            <a:lvl5pPr>
              <a:buNone/>
              <a:defRPr sz="1800"/>
            </a:lvl5pPr>
            <a:lvl6pPr>
              <a:buNone/>
              <a:defRPr sz="1800"/>
            </a:lvl6pPr>
            <a:lvl7pPr>
              <a:buNone/>
              <a:defRPr sz="1800"/>
            </a:lvl7pPr>
            <a:lvl8pPr>
              <a:buNone/>
              <a:defRPr sz="1800"/>
            </a:lvl8pPr>
            <a:lvl9pPr>
              <a:buNone/>
              <a:defRPr sz="1800"/>
            </a:lvl9pPr>
          </a:lstStyle>
          <a:p xmlns:a="http://schemas.openxmlformats.org/drawingml/2006/main">
            <a:pPr lvl="0">
              <a:buNone/>
            </a:pPr>
            <a:r>
              <a:t>Click to edit Master text styles</a:t>
            </a:r>
          </a:p>
          <a:p xmlns:a="http://schemas.openxmlformats.org/drawingml/2006/main">
            <a:pPr lvl="1">
              <a:buNone/>
            </a:pPr>
            <a:r>
              <a:t>Second level</a:t>
            </a:r>
          </a:p>
          <a:p xmlns:a="http://schemas.openxmlformats.org/drawingml/2006/main">
            <a:pPr lvl="2">
              <a:buNone/>
            </a:pPr>
            <a:r>
              <a:t>Third level</a:t>
            </a:r>
          </a:p>
          <a:p xmlns:a="http://schemas.openxmlformats.org/drawingml/2006/main">
            <a:pPr lvl="3">
              <a:buNone/>
            </a:pPr>
            <a:r>
              <a:t>Fourth level</a:t>
            </a:r>
          </a:p>
          <a:p xmlns:a="http://schemas.openxmlformats.org/drawingml/2006/main">
            <a:pPr lvl="4">
              <a:buNone/>
            </a:pPr>
            <a:r>
              <a:t>Fifth level</a:t>
            </a:r>
            <a:endParaRPr/>
          </a:p>
        </p:txBody>
      </p:sp>
      <p:sp>
        <p:nvSpPr>
          <p:cNvPr id="4" name="Content Placeholder 3">
            <a:extLst xmlns:a="http://schemas.openxmlformats.org/drawingml/2006/main">
              <a:ext uri="{FF2B5EF4-FFF2-40B4-BE49-F238E27FC236}">
                <a16:creationId xmlns:a16="http://schemas.microsoft.com/office/drawing/2014/main" id="{789F0EFE-2651-4DAD-BC9C-FED21F78E152}"/>
              </a:ext>
            </a:extLst>
          </p:cNvPr>
          <p:cNvSpPr>
            <a:spLocks xmlns:a="http://schemas.openxmlformats.org/drawingml/2006/main" noGrp="1"/>
          </p:cNvSpPr>
          <p:nvPr>
            <p:ph idx="2"/>
          </p:nvPr>
        </p:nvSpPr>
        <p:spPr>
          <a:xfrm xmlns:a="http://schemas.openxmlformats.org/drawingml/2006/main">
            <a:off x="4648200" y="1600200"/>
            <a:ext cx="4038600" cy="4525963"/>
          </a:xfrm>
        </p:spPr>
        <p:txBody>
          <a:bodyPr xmlns:a="http://schemas.openxmlformats.org/drawingml/2006/main"/>
          <a:lstStyle xmlns:a="http://schemas.openxmlformats.org/drawingml/2006/main">
            <a:lvl1pPr>
              <a:buNone/>
              <a:defRPr sz="2800"/>
            </a:lvl1pPr>
            <a:lvl2pPr>
              <a:buNone/>
              <a:defRPr sz="2400"/>
            </a:lvl2pPr>
            <a:lvl3pPr>
              <a:buNone/>
              <a:defRPr sz="2000"/>
            </a:lvl3pPr>
            <a:lvl4pPr>
              <a:buNone/>
              <a:defRPr sz="1800"/>
            </a:lvl4pPr>
            <a:lvl5pPr>
              <a:buNone/>
              <a:defRPr sz="1800"/>
            </a:lvl5pPr>
            <a:lvl6pPr>
              <a:buNone/>
              <a:defRPr sz="1800"/>
            </a:lvl6pPr>
            <a:lvl7pPr>
              <a:buNone/>
              <a:defRPr sz="1800"/>
            </a:lvl7pPr>
            <a:lvl8pPr>
              <a:buNone/>
              <a:defRPr sz="1800"/>
            </a:lvl8pPr>
            <a:lvl9pPr>
              <a:buNone/>
              <a:defRPr sz="1800"/>
            </a:lvl9pPr>
          </a:lstStyle>
          <a:p xmlns:a="http://schemas.openxmlformats.org/drawingml/2006/main">
            <a:pPr lvl="0">
              <a:buNone/>
            </a:pPr>
            <a:r>
              <a:t>Click to edit Master text styles</a:t>
            </a:r>
          </a:p>
          <a:p xmlns:a="http://schemas.openxmlformats.org/drawingml/2006/main">
            <a:pPr lvl="1">
              <a:buNone/>
            </a:pPr>
            <a:r>
              <a:t>Second level</a:t>
            </a:r>
          </a:p>
          <a:p xmlns:a="http://schemas.openxmlformats.org/drawingml/2006/main">
            <a:pPr lvl="2">
              <a:buNone/>
            </a:pPr>
            <a:r>
              <a:t>Third level</a:t>
            </a:r>
          </a:p>
          <a:p xmlns:a="http://schemas.openxmlformats.org/drawingml/2006/main">
            <a:pPr lvl="3">
              <a:buNone/>
            </a:pPr>
            <a:r>
              <a:t>Fourth level</a:t>
            </a:r>
          </a:p>
          <a:p xmlns:a="http://schemas.openxmlformats.org/drawingml/2006/main">
            <a:pPr lvl="4">
              <a:buNone/>
            </a:pPr>
            <a:r>
              <a:t>Fifth level</a:t>
            </a:r>
            <a:endParaRPr/>
          </a:p>
        </p:txBody>
      </p:sp>
      <p:sp>
        <p:nvSpPr>
          <p:cNvPr id="5" name="Date Placeholder 4">
            <a:extLst xmlns:a="http://schemas.openxmlformats.org/drawingml/2006/main">
              <a:ext uri="{FF2B5EF4-FFF2-40B4-BE49-F238E27FC236}">
                <a16:creationId xmlns:a16="http://schemas.microsoft.com/office/drawing/2014/main" id="{8B232A06-3889-4C5D-834E-BEB7BCEDE1E0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5BCAD085-E8A6-8845-BD4E-CB4CCA059FC4}" type="datetimeFigureOut">
              <a:t>1/27/13</a:t>
            </a:fld>
            <a:endParaRPr/>
          </a:p>
        </p:txBody>
      </p:sp>
      <p:sp>
        <p:nvSpPr>
          <p:cNvPr id="6" name="Footer Placeholder 5">
            <a:extLst xmlns:a="http://schemas.openxmlformats.org/drawingml/2006/main">
              <a:ext uri="{FF2B5EF4-FFF2-40B4-BE49-F238E27FC236}">
                <a16:creationId xmlns:a16="http://schemas.microsoft.com/office/drawing/2014/main" id="{328E0C82-5D24-4FB2-A0A3-E1C901E74E95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7" name="Slide Number Placeholder 6">
            <a:extLst xmlns:a="http://schemas.openxmlformats.org/drawingml/2006/main">
              <a:ext uri="{FF2B5EF4-FFF2-40B4-BE49-F238E27FC236}">
                <a16:creationId xmlns:a16="http://schemas.microsoft.com/office/drawing/2014/main" id="{B40CD7FD-B0E5-4B2A-81ED-CF7C3A8AAD1B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C1FF6DA9-008F-8B48-92A6-B652298478BF}" type="slidenum">
              <a:t>‹#›</a:t>
            </a:fld>
            <a:endParaRPr/>
          </a:p>
        </p:txBody>
      </p:sp>
    </p:spTree>
  </p:cSld>
</p:sldLayout>
</file>

<file path=ppt/slideLayouts/slideLayout5.xml><?xml version="1.0" encoding="utf-8"?>
<p:sldLayout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6CB0D819-D8BC-4E3F-B887-D64E3F459AB2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/>
        <p:txBody>
          <a:bodyPr xmlns:a="http://schemas.openxmlformats.org/drawingml/2006/main"/>
          <a:lstStyle xmlns:a="http://schemas.openxmlformats.org/drawingml/2006/main">
            <a:lvl1pPr>
              <a:buNone/>
              <a:defRPr/>
            </a:lvl1pPr>
          </a:lstStyle>
          <a:p xmlns:a="http://schemas.openxmlformats.org/drawingml/2006/main">
            <a:r>
              <a:t>Click to edit Master title style</a:t>
            </a:r>
            <a:endParaRPr/>
          </a:p>
        </p:txBody>
      </p:sp>
      <p:sp>
        <p:nvSpPr>
          <p:cNvPr id="3" name="Text Placeholder 2">
            <a:extLst xmlns:a="http://schemas.openxmlformats.org/drawingml/2006/main">
              <a:ext uri="{FF2B5EF4-FFF2-40B4-BE49-F238E27FC236}">
                <a16:creationId xmlns:a16="http://schemas.microsoft.com/office/drawing/2014/main" id="{6BB5445E-06CC-454D-A80F-77342AF333F5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457200" y="1535113"/>
            <a:ext cx="4040188" cy="639762"/>
          </a:xfrm>
        </p:spPr>
        <p:txBody>
          <a:bodyPr xmlns:a="http://schemas.openxmlformats.org/drawingml/2006/main" anchor="b"/>
          <a:lstStyle xmlns:a="http://schemas.openxmlformats.org/drawingml/2006/main"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 xmlns:a="http://schemas.openxmlformats.org/drawingml/2006/main">
            <a:pPr lvl="0">
              <a:buNone/>
            </a:pPr>
            <a:r>
              <a:t>Click to edit Master text styles</a:t>
            </a:r>
          </a:p>
        </p:txBody>
      </p:sp>
      <p:sp>
        <p:nvSpPr>
          <p:cNvPr id="4" name="Content Placeholder 3">
            <a:extLst xmlns:a="http://schemas.openxmlformats.org/drawingml/2006/main">
              <a:ext uri="{FF2B5EF4-FFF2-40B4-BE49-F238E27FC236}">
                <a16:creationId xmlns:a16="http://schemas.microsoft.com/office/drawing/2014/main" id="{E16FE63D-3715-4511-85EF-85A98FD20941}"/>
              </a:ext>
            </a:extLst>
          </p:cNvPr>
          <p:cNvSpPr>
            <a:spLocks xmlns:a="http://schemas.openxmlformats.org/drawingml/2006/main" noGrp="1"/>
          </p:cNvSpPr>
          <p:nvPr>
            <p:ph idx="2"/>
          </p:nvPr>
        </p:nvSpPr>
        <p:spPr>
          <a:xfrm xmlns:a="http://schemas.openxmlformats.org/drawingml/2006/main">
            <a:off x="457200" y="2174875"/>
            <a:ext cx="4040188" cy="3951288"/>
          </a:xfrm>
        </p:spPr>
        <p:txBody>
          <a:bodyPr xmlns:a="http://schemas.openxmlformats.org/drawingml/2006/main"/>
          <a:lstStyle xmlns:a="http://schemas.openxmlformats.org/drawingml/2006/main">
            <a:lvl1pPr>
              <a:buNone/>
              <a:defRPr sz="2400"/>
            </a:lvl1pPr>
            <a:lvl2pPr>
              <a:buNone/>
              <a:defRPr sz="2000"/>
            </a:lvl2pPr>
            <a:lvl3pPr>
              <a:buNone/>
              <a:defRPr sz="1800"/>
            </a:lvl3pPr>
            <a:lvl4pPr>
              <a:buNone/>
              <a:defRPr sz="1600"/>
            </a:lvl4pPr>
            <a:lvl5pPr>
              <a:buNone/>
              <a:defRPr sz="1600"/>
            </a:lvl5pPr>
            <a:lvl6pPr>
              <a:buNone/>
              <a:defRPr sz="1600"/>
            </a:lvl6pPr>
            <a:lvl7pPr>
              <a:buNone/>
              <a:defRPr sz="1600"/>
            </a:lvl7pPr>
            <a:lvl8pPr>
              <a:buNone/>
              <a:defRPr sz="1600"/>
            </a:lvl8pPr>
            <a:lvl9pPr>
              <a:buNone/>
              <a:defRPr sz="1600"/>
            </a:lvl9pPr>
          </a:lstStyle>
          <a:p xmlns:a="http://schemas.openxmlformats.org/drawingml/2006/main">
            <a:pPr lvl="0">
              <a:buNone/>
            </a:pPr>
            <a:r>
              <a:t>Click to edit Master text styles</a:t>
            </a:r>
          </a:p>
          <a:p xmlns:a="http://schemas.openxmlformats.org/drawingml/2006/main">
            <a:pPr lvl="1">
              <a:buNone/>
            </a:pPr>
            <a:r>
              <a:t>Second level</a:t>
            </a:r>
          </a:p>
          <a:p xmlns:a="http://schemas.openxmlformats.org/drawingml/2006/main">
            <a:pPr lvl="2">
              <a:buNone/>
            </a:pPr>
            <a:r>
              <a:t>Third level</a:t>
            </a:r>
          </a:p>
          <a:p xmlns:a="http://schemas.openxmlformats.org/drawingml/2006/main">
            <a:pPr lvl="3">
              <a:buNone/>
            </a:pPr>
            <a:r>
              <a:t>Fourth level</a:t>
            </a:r>
          </a:p>
          <a:p xmlns:a="http://schemas.openxmlformats.org/drawingml/2006/main">
            <a:pPr lvl="4">
              <a:buNone/>
            </a:pPr>
            <a:r>
              <a:t>Fifth level</a:t>
            </a:r>
            <a:endParaRPr/>
          </a:p>
        </p:txBody>
      </p:sp>
      <p:sp>
        <p:nvSpPr>
          <p:cNvPr id="5" name="Text Placeholder 4">
            <a:extLst xmlns:a="http://schemas.openxmlformats.org/drawingml/2006/main">
              <a:ext uri="{FF2B5EF4-FFF2-40B4-BE49-F238E27FC236}">
                <a16:creationId xmlns:a16="http://schemas.microsoft.com/office/drawing/2014/main" id="{33AEDC91-2F54-46AE-96A2-FF68AB702865}"/>
              </a:ext>
            </a:extLst>
          </p:cNvPr>
          <p:cNvSpPr>
            <a:spLocks xmlns:a="http://schemas.openxmlformats.org/drawingml/2006/main" noGrp="1"/>
          </p:cNvSpPr>
          <p:nvPr>
            <p:ph type="body" idx="3"/>
          </p:nvPr>
        </p:nvSpPr>
        <p:spPr>
          <a:xfrm xmlns:a="http://schemas.openxmlformats.org/drawingml/2006/main">
            <a:off x="4645025" y="1535113"/>
            <a:ext cx="4041775" cy="639762"/>
          </a:xfrm>
        </p:spPr>
        <p:txBody>
          <a:bodyPr xmlns:a="http://schemas.openxmlformats.org/drawingml/2006/main" anchor="b"/>
          <a:lstStyle xmlns:a="http://schemas.openxmlformats.org/drawingml/2006/main"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 xmlns:a="http://schemas.openxmlformats.org/drawingml/2006/main">
            <a:pPr lvl="0">
              <a:buNone/>
            </a:pPr>
            <a:r>
              <a:t>Click to edit Master text styles</a:t>
            </a:r>
          </a:p>
        </p:txBody>
      </p:sp>
      <p:sp>
        <p:nvSpPr>
          <p:cNvPr id="6" name="Content Placeholder 5">
            <a:extLst xmlns:a="http://schemas.openxmlformats.org/drawingml/2006/main">
              <a:ext uri="{FF2B5EF4-FFF2-40B4-BE49-F238E27FC236}">
                <a16:creationId xmlns:a16="http://schemas.microsoft.com/office/drawing/2014/main" id="{1B8AE1C2-5D7B-4541-8438-47AF54657947}"/>
              </a:ext>
            </a:extLst>
          </p:cNvPr>
          <p:cNvSpPr>
            <a:spLocks xmlns:a="http://schemas.openxmlformats.org/drawingml/2006/main" noGrp="1"/>
          </p:cNvSpPr>
          <p:nvPr>
            <p:ph idx="4"/>
          </p:nvPr>
        </p:nvSpPr>
        <p:spPr>
          <a:xfrm xmlns:a="http://schemas.openxmlformats.org/drawingml/2006/main">
            <a:off x="4645025" y="2174875"/>
            <a:ext cx="4041775" cy="3951288"/>
          </a:xfrm>
        </p:spPr>
        <p:txBody>
          <a:bodyPr xmlns:a="http://schemas.openxmlformats.org/drawingml/2006/main"/>
          <a:lstStyle xmlns:a="http://schemas.openxmlformats.org/drawingml/2006/main">
            <a:lvl1pPr>
              <a:buNone/>
              <a:defRPr sz="2400"/>
            </a:lvl1pPr>
            <a:lvl2pPr>
              <a:buNone/>
              <a:defRPr sz="2000"/>
            </a:lvl2pPr>
            <a:lvl3pPr>
              <a:buNone/>
              <a:defRPr sz="1800"/>
            </a:lvl3pPr>
            <a:lvl4pPr>
              <a:buNone/>
              <a:defRPr sz="1600"/>
            </a:lvl4pPr>
            <a:lvl5pPr>
              <a:buNone/>
              <a:defRPr sz="1600"/>
            </a:lvl5pPr>
            <a:lvl6pPr>
              <a:buNone/>
              <a:defRPr sz="1600"/>
            </a:lvl6pPr>
            <a:lvl7pPr>
              <a:buNone/>
              <a:defRPr sz="1600"/>
            </a:lvl7pPr>
            <a:lvl8pPr>
              <a:buNone/>
              <a:defRPr sz="1600"/>
            </a:lvl8pPr>
            <a:lvl9pPr>
              <a:buNone/>
              <a:defRPr sz="1600"/>
            </a:lvl9pPr>
          </a:lstStyle>
          <a:p xmlns:a="http://schemas.openxmlformats.org/drawingml/2006/main">
            <a:pPr lvl="0">
              <a:buNone/>
            </a:pPr>
            <a:r>
              <a:t>Click to edit Master text styles</a:t>
            </a:r>
          </a:p>
          <a:p xmlns:a="http://schemas.openxmlformats.org/drawingml/2006/main">
            <a:pPr lvl="1">
              <a:buNone/>
            </a:pPr>
            <a:r>
              <a:t>Second level</a:t>
            </a:r>
          </a:p>
          <a:p xmlns:a="http://schemas.openxmlformats.org/drawingml/2006/main">
            <a:pPr lvl="2">
              <a:buNone/>
            </a:pPr>
            <a:r>
              <a:t>Third level</a:t>
            </a:r>
          </a:p>
          <a:p xmlns:a="http://schemas.openxmlformats.org/drawingml/2006/main">
            <a:pPr lvl="3">
              <a:buNone/>
            </a:pPr>
            <a:r>
              <a:t>Fourth level</a:t>
            </a:r>
          </a:p>
          <a:p xmlns:a="http://schemas.openxmlformats.org/drawingml/2006/main">
            <a:pPr lvl="4">
              <a:buNone/>
            </a:pPr>
            <a:r>
              <a:t>Fifth level</a:t>
            </a:r>
            <a:endParaRPr/>
          </a:p>
        </p:txBody>
      </p:sp>
      <p:sp>
        <p:nvSpPr>
          <p:cNvPr id="7" name="Date Placeholder 6">
            <a:extLst xmlns:a="http://schemas.openxmlformats.org/drawingml/2006/main">
              <a:ext uri="{FF2B5EF4-FFF2-40B4-BE49-F238E27FC236}">
                <a16:creationId xmlns:a16="http://schemas.microsoft.com/office/drawing/2014/main" id="{9FAB1DD4-3F30-4664-B78F-88EDF8C5CE2F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5BCAD085-E8A6-8845-BD4E-CB4CCA059FC4}" type="datetimeFigureOut">
              <a:t>1/27/13</a:t>
            </a:fld>
            <a:endParaRPr/>
          </a:p>
        </p:txBody>
      </p:sp>
      <p:sp>
        <p:nvSpPr>
          <p:cNvPr id="8" name="Footer Placeholder 7">
            <a:extLst xmlns:a="http://schemas.openxmlformats.org/drawingml/2006/main">
              <a:ext uri="{FF2B5EF4-FFF2-40B4-BE49-F238E27FC236}">
                <a16:creationId xmlns:a16="http://schemas.microsoft.com/office/drawing/2014/main" id="{C1B7B288-E05F-4423-88C9-3C5445886310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9" name="Slide Number Placeholder 8">
            <a:extLst xmlns:a="http://schemas.openxmlformats.org/drawingml/2006/main">
              <a:ext uri="{FF2B5EF4-FFF2-40B4-BE49-F238E27FC236}">
                <a16:creationId xmlns:a16="http://schemas.microsoft.com/office/drawing/2014/main" id="{35BD258D-A082-4923-8B3C-D10EC41362C3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C1FF6DA9-008F-8B48-92A6-B652298478BF}" type="slidenum">
              <a:t>‹#›</a:t>
            </a:fld>
            <a:endParaRPr/>
          </a:p>
        </p:txBody>
      </p:sp>
    </p:spTree>
  </p:cSld>
</p:sldLayout>
</file>

<file path=ppt/slideLayouts/slideLayout6.xml><?xml version="1.0" encoding="utf-8"?>
<p:sldLayout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891246C1-86CA-4F0A-BEDF-D954AA4BB747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Click to edit Master title style</a:t>
            </a:r>
            <a:endParaRPr/>
          </a:p>
        </p:txBody>
      </p:sp>
      <p:sp>
        <p:nvSpPr>
          <p:cNvPr id="3" name="Date Placeholder 2">
            <a:extLst xmlns:a="http://schemas.openxmlformats.org/drawingml/2006/main">
              <a:ext uri="{FF2B5EF4-FFF2-40B4-BE49-F238E27FC236}">
                <a16:creationId xmlns:a16="http://schemas.microsoft.com/office/drawing/2014/main" id="{C18100C5-2F9A-468E-9F79-728FA79674E1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5BCAD085-E8A6-8845-BD4E-CB4CCA059FC4}" type="datetimeFigureOut">
              <a:t>1/27/13</a:t>
            </a:fld>
            <a:endParaRPr/>
          </a:p>
        </p:txBody>
      </p:sp>
      <p:sp>
        <p:nvSpPr>
          <p:cNvPr id="4" name="Footer Placeholder 3">
            <a:extLst xmlns:a="http://schemas.openxmlformats.org/drawingml/2006/main">
              <a:ext uri="{FF2B5EF4-FFF2-40B4-BE49-F238E27FC236}">
                <a16:creationId xmlns:a16="http://schemas.microsoft.com/office/drawing/2014/main" id="{E4CF202A-53FB-4778-970E-918BEF87039A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5" name="Slide Number Placeholder 4">
            <a:extLst xmlns:a="http://schemas.openxmlformats.org/drawingml/2006/main">
              <a:ext uri="{FF2B5EF4-FFF2-40B4-BE49-F238E27FC236}">
                <a16:creationId xmlns:a16="http://schemas.microsoft.com/office/drawing/2014/main" id="{AA85E1A8-F7C4-4974-801B-4BCF5D96A46A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C1FF6DA9-008F-8B48-92A6-B652298478BF}" type="slidenum">
              <a:t>‹#›</a:t>
            </a:fld>
            <a:endParaRPr/>
          </a:p>
        </p:txBody>
      </p:sp>
    </p:spTree>
  </p:cSld>
</p:sldLayout>
</file>

<file path=ppt/slideLayouts/slideLayout7.xml><?xml version="1.0" encoding="utf-8"?>
<p:sldLayout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Date Placeholder 1">
            <a:extLst xmlns:a="http://schemas.openxmlformats.org/drawingml/2006/main">
              <a:ext uri="{FF2B5EF4-FFF2-40B4-BE49-F238E27FC236}">
                <a16:creationId xmlns:a16="http://schemas.microsoft.com/office/drawing/2014/main" id="{8EB54A0D-6373-4B2C-92C2-A5E3F4E52611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5BCAD085-E8A6-8845-BD4E-CB4CCA059FC4}" type="datetimeFigureOut">
              <a:t>1/27/13</a:t>
            </a:fld>
            <a:endParaRPr/>
          </a:p>
        </p:txBody>
      </p:sp>
      <p:sp>
        <p:nvSpPr>
          <p:cNvPr id="3" name="Footer Placeholder 2">
            <a:extLst xmlns:a="http://schemas.openxmlformats.org/drawingml/2006/main">
              <a:ext uri="{FF2B5EF4-FFF2-40B4-BE49-F238E27FC236}">
                <a16:creationId xmlns:a16="http://schemas.microsoft.com/office/drawing/2014/main" id="{C9671920-FB39-4E3A-9FAE-CDA7BA19157D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4" name="Slide Number Placeholder 3">
            <a:extLst xmlns:a="http://schemas.openxmlformats.org/drawingml/2006/main">
              <a:ext uri="{FF2B5EF4-FFF2-40B4-BE49-F238E27FC236}">
                <a16:creationId xmlns:a16="http://schemas.microsoft.com/office/drawing/2014/main" id="{141568EE-1391-43C9-9A99-CA18FA73DD16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C1FF6DA9-008F-8B48-92A6-B652298478BF}" type="slidenum">
              <a:t>‹#›</a:t>
            </a:fld>
            <a:endParaRPr/>
          </a:p>
        </p:txBody>
      </p:sp>
    </p:spTree>
  </p:cSld>
</p:sldLayout>
</file>

<file path=ppt/slideLayouts/slideLayout8.xml><?xml version="1.0" encoding="utf-8"?>
<p:sldLayout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05988B4F-AE42-4E16-A764-A893F3197D8F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457200" y="273050"/>
            <a:ext cx="3008313" cy="1162050"/>
          </a:xfrm>
        </p:spPr>
        <p:txBody>
          <a:bodyPr xmlns:a="http://schemas.openxmlformats.org/drawingml/2006/main" anchor="b"/>
          <a:lstStyle xmlns:a="http://schemas.openxmlformats.org/drawingml/2006/main">
            <a:lvl1pPr algn="l">
              <a:buNone/>
              <a:defRPr sz="2000" b="1"/>
            </a:lvl1pPr>
          </a:lstStyle>
          <a:p xmlns:a="http://schemas.openxmlformats.org/drawingml/2006/main">
            <a:r>
              <a:t>Click to edit Master title style</a:t>
            </a:r>
            <a:endParaRPr/>
          </a:p>
        </p:txBody>
      </p:sp>
      <p:sp>
        <p:nvSpPr>
          <p:cNvPr id="3" name="Content Placeholder 2">
            <a:extLst xmlns:a="http://schemas.openxmlformats.org/drawingml/2006/main">
              <a:ext uri="{FF2B5EF4-FFF2-40B4-BE49-F238E27FC236}">
                <a16:creationId xmlns:a16="http://schemas.microsoft.com/office/drawing/2014/main" id="{3F2AA87A-BEA4-435F-9773-CCD4543C7BDF}"/>
              </a:ext>
            </a:extLst>
          </p:cNvPr>
          <p:cNvSpPr>
            <a:spLocks xmlns:a="http://schemas.openxmlformats.org/drawingml/2006/main" noGrp="1"/>
          </p:cNvSpPr>
          <p:nvPr>
            <p:ph idx="1"/>
          </p:nvPr>
        </p:nvSpPr>
        <p:spPr>
          <a:xfrm xmlns:a="http://schemas.openxmlformats.org/drawingml/2006/main">
            <a:off x="3575050" y="273050"/>
            <a:ext cx="5111750" cy="5853113"/>
          </a:xfrm>
        </p:spPr>
        <p:txBody>
          <a:bodyPr xmlns:a="http://schemas.openxmlformats.org/drawingml/2006/main"/>
          <a:lstStyle xmlns:a="http://schemas.openxmlformats.org/drawingml/2006/main">
            <a:lvl1pPr>
              <a:buNone/>
              <a:defRPr sz="3200"/>
            </a:lvl1pPr>
            <a:lvl2pPr>
              <a:buNone/>
              <a:defRPr sz="2800"/>
            </a:lvl2pPr>
            <a:lvl3pPr>
              <a:buNone/>
              <a:defRPr sz="2400"/>
            </a:lvl3pPr>
            <a:lvl4pPr>
              <a:buNone/>
              <a:defRPr sz="2000"/>
            </a:lvl4pPr>
            <a:lvl5pPr>
              <a:buNone/>
              <a:defRPr sz="2000"/>
            </a:lvl5pPr>
            <a:lvl6pPr>
              <a:buNone/>
              <a:defRPr sz="2000"/>
            </a:lvl6pPr>
            <a:lvl7pPr>
              <a:buNone/>
              <a:defRPr sz="2000"/>
            </a:lvl7pPr>
            <a:lvl8pPr>
              <a:buNone/>
              <a:defRPr sz="2000"/>
            </a:lvl8pPr>
            <a:lvl9pPr>
              <a:buNone/>
              <a:defRPr sz="2000"/>
            </a:lvl9pPr>
          </a:lstStyle>
          <a:p xmlns:a="http://schemas.openxmlformats.org/drawingml/2006/main">
            <a:pPr lvl="0">
              <a:buNone/>
            </a:pPr>
            <a:r>
              <a:t>Click to edit Master text styles</a:t>
            </a:r>
          </a:p>
          <a:p xmlns:a="http://schemas.openxmlformats.org/drawingml/2006/main">
            <a:pPr lvl="1">
              <a:buNone/>
            </a:pPr>
            <a:r>
              <a:t>Second level</a:t>
            </a:r>
          </a:p>
          <a:p xmlns:a="http://schemas.openxmlformats.org/drawingml/2006/main">
            <a:pPr lvl="2">
              <a:buNone/>
            </a:pPr>
            <a:r>
              <a:t>Third level</a:t>
            </a:r>
          </a:p>
          <a:p xmlns:a="http://schemas.openxmlformats.org/drawingml/2006/main">
            <a:pPr lvl="3">
              <a:buNone/>
            </a:pPr>
            <a:r>
              <a:t>Fourth level</a:t>
            </a:r>
          </a:p>
          <a:p xmlns:a="http://schemas.openxmlformats.org/drawingml/2006/main">
            <a:pPr lvl="4">
              <a:buNone/>
            </a:pPr>
            <a:r>
              <a:t>Fifth level</a:t>
            </a:r>
            <a:endParaRPr/>
          </a:p>
        </p:txBody>
      </p:sp>
      <p:sp>
        <p:nvSpPr>
          <p:cNvPr id="4" name="Text Placeholder 3">
            <a:extLst xmlns:a="http://schemas.openxmlformats.org/drawingml/2006/main">
              <a:ext uri="{FF2B5EF4-FFF2-40B4-BE49-F238E27FC236}">
                <a16:creationId xmlns:a16="http://schemas.microsoft.com/office/drawing/2014/main" id="{5890464F-69BD-4995-A642-86C726ED74F7}"/>
              </a:ext>
            </a:extLst>
          </p:cNvPr>
          <p:cNvSpPr>
            <a:spLocks xmlns:a="http://schemas.openxmlformats.org/drawingml/2006/main" noGrp="1"/>
          </p:cNvSpPr>
          <p:nvPr>
            <p:ph type="body" idx="2"/>
          </p:nvPr>
        </p:nvSpPr>
        <p:spPr>
          <a:xfrm xmlns:a="http://schemas.openxmlformats.org/drawingml/2006/main">
            <a:off x="457200" y="1435100"/>
            <a:ext cx="3008313" cy="4691063"/>
          </a:xfrm>
        </p:spPr>
        <p:txBody>
          <a:bodyPr xmlns:a="http://schemas.openxmlformats.org/drawingml/2006/main"/>
          <a:lstStyle xmlns:a="http://schemas.openxmlformats.org/drawingml/2006/main"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 xmlns:a="http://schemas.openxmlformats.org/drawingml/2006/main">
            <a:pPr lvl="0">
              <a:buNone/>
            </a:pPr>
            <a:r>
              <a:t>Click to edit Master text styles</a:t>
            </a:r>
          </a:p>
        </p:txBody>
      </p:sp>
      <p:sp>
        <p:nvSpPr>
          <p:cNvPr id="5" name="Date Placeholder 4">
            <a:extLst xmlns:a="http://schemas.openxmlformats.org/drawingml/2006/main">
              <a:ext uri="{FF2B5EF4-FFF2-40B4-BE49-F238E27FC236}">
                <a16:creationId xmlns:a16="http://schemas.microsoft.com/office/drawing/2014/main" id="{FBD227DE-A76B-4CF8-B373-5F87E002987C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5BCAD085-E8A6-8845-BD4E-CB4CCA059FC4}" type="datetimeFigureOut">
              <a:t>1/27/13</a:t>
            </a:fld>
            <a:endParaRPr/>
          </a:p>
        </p:txBody>
      </p:sp>
      <p:sp>
        <p:nvSpPr>
          <p:cNvPr id="6" name="Footer Placeholder 5">
            <a:extLst xmlns:a="http://schemas.openxmlformats.org/drawingml/2006/main">
              <a:ext uri="{FF2B5EF4-FFF2-40B4-BE49-F238E27FC236}">
                <a16:creationId xmlns:a16="http://schemas.microsoft.com/office/drawing/2014/main" id="{559B0FD9-618E-437A-A4F6-55E1F11929E3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7" name="Slide Number Placeholder 6">
            <a:extLst xmlns:a="http://schemas.openxmlformats.org/drawingml/2006/main">
              <a:ext uri="{FF2B5EF4-FFF2-40B4-BE49-F238E27FC236}">
                <a16:creationId xmlns:a16="http://schemas.microsoft.com/office/drawing/2014/main" id="{399A26D5-93FB-4588-AFD1-C0A354EE8D02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C1FF6DA9-008F-8B48-92A6-B652298478BF}" type="slidenum">
              <a:t>‹#›</a:t>
            </a:fld>
            <a:endParaRPr/>
          </a:p>
        </p:txBody>
      </p:sp>
    </p:spTree>
  </p:cSld>
</p:sldLayout>
</file>

<file path=ppt/slideLayouts/slideLayout9.xml><?xml version="1.0" encoding="utf-8"?>
<p:sldLayout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AE98203A-892E-4FB5-A226-33E4B41C7CD2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1792288" y="4800600"/>
            <a:ext cx="5486400" cy="566738"/>
          </a:xfrm>
        </p:spPr>
        <p:txBody>
          <a:bodyPr xmlns:a="http://schemas.openxmlformats.org/drawingml/2006/main" anchor="b"/>
          <a:lstStyle xmlns:a="http://schemas.openxmlformats.org/drawingml/2006/main">
            <a:lvl1pPr algn="l">
              <a:buNone/>
              <a:defRPr sz="2000" b="1"/>
            </a:lvl1pPr>
          </a:lstStyle>
          <a:p xmlns:a="http://schemas.openxmlformats.org/drawingml/2006/main">
            <a:r>
              <a:t>Click to edit Master title style</a:t>
            </a:r>
            <a:endParaRPr/>
          </a:p>
        </p:txBody>
      </p:sp>
      <p:sp>
        <p:nvSpPr>
          <p:cNvPr id="3" name="Picture Placeholder 2">
            <a:extLst xmlns:a="http://schemas.openxmlformats.org/drawingml/2006/main">
              <a:ext uri="{FF2B5EF4-FFF2-40B4-BE49-F238E27FC236}">
                <a16:creationId xmlns:a16="http://schemas.microsoft.com/office/drawing/2014/main" id="{E86C27CC-4743-4E19-B8DA-2AD4F3BA8599}"/>
              </a:ext>
            </a:extLst>
          </p:cNvPr>
          <p:cNvSpPr>
            <a:spLocks xmlns:a="http://schemas.openxmlformats.org/drawingml/2006/main" noGrp="1"/>
          </p:cNvSpPr>
          <p:nvPr>
            <p:ph type="pic" idx="1"/>
          </p:nvPr>
        </p:nvSpPr>
        <p:spPr>
          <a:xfrm xmlns:a="http://schemas.openxmlformats.org/drawingml/2006/main">
            <a:off x="1792288" y="612775"/>
            <a:ext cx="5486400" cy="4114800"/>
          </a:xfrm>
        </p:spPr>
        <p:txBody>
          <a:bodyPr xmlns:a="http://schemas.openxmlformats.org/drawingml/2006/main"/>
          <a:lstStyle xmlns:a="http://schemas.openxmlformats.org/drawingml/2006/main"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 xmlns:a="http://schemas.openxmlformats.org/drawingml/2006/main">
            <a:endParaRPr/>
          </a:p>
        </p:txBody>
      </p:sp>
      <p:sp>
        <p:nvSpPr>
          <p:cNvPr id="4" name="Text Placeholder 3">
            <a:extLst xmlns:a="http://schemas.openxmlformats.org/drawingml/2006/main">
              <a:ext uri="{FF2B5EF4-FFF2-40B4-BE49-F238E27FC236}">
                <a16:creationId xmlns:a16="http://schemas.microsoft.com/office/drawing/2014/main" id="{1A856B98-AE27-475E-9684-12E431714435}"/>
              </a:ext>
            </a:extLst>
          </p:cNvPr>
          <p:cNvSpPr>
            <a:spLocks xmlns:a="http://schemas.openxmlformats.org/drawingml/2006/main" noGrp="1"/>
          </p:cNvSpPr>
          <p:nvPr>
            <p:ph type="body" idx="2"/>
          </p:nvPr>
        </p:nvSpPr>
        <p:spPr>
          <a:xfrm xmlns:a="http://schemas.openxmlformats.org/drawingml/2006/main">
            <a:off x="1792288" y="5367338"/>
            <a:ext cx="5486400" cy="804862"/>
          </a:xfrm>
        </p:spPr>
        <p:txBody>
          <a:bodyPr xmlns:a="http://schemas.openxmlformats.org/drawingml/2006/main"/>
          <a:lstStyle xmlns:a="http://schemas.openxmlformats.org/drawingml/2006/main"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 xmlns:a="http://schemas.openxmlformats.org/drawingml/2006/main">
            <a:pPr lvl="0">
              <a:buNone/>
            </a:pPr>
            <a:r>
              <a:t>Click to edit Master text styles</a:t>
            </a:r>
          </a:p>
        </p:txBody>
      </p:sp>
      <p:sp>
        <p:nvSpPr>
          <p:cNvPr id="5" name="Date Placeholder 4">
            <a:extLst xmlns:a="http://schemas.openxmlformats.org/drawingml/2006/main">
              <a:ext uri="{FF2B5EF4-FFF2-40B4-BE49-F238E27FC236}">
                <a16:creationId xmlns:a16="http://schemas.microsoft.com/office/drawing/2014/main" id="{1C8C4FE6-2793-4921-8E64-97AA2D4679BD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5BCAD085-E8A6-8845-BD4E-CB4CCA059FC4}" type="datetimeFigureOut">
              <a:t>1/27/13</a:t>
            </a:fld>
            <a:endParaRPr/>
          </a:p>
        </p:txBody>
      </p:sp>
      <p:sp>
        <p:nvSpPr>
          <p:cNvPr id="6" name="Footer Placeholder 5">
            <a:extLst xmlns:a="http://schemas.openxmlformats.org/drawingml/2006/main">
              <a:ext uri="{FF2B5EF4-FFF2-40B4-BE49-F238E27FC236}">
                <a16:creationId xmlns:a16="http://schemas.microsoft.com/office/drawing/2014/main" id="{F707B094-F06E-479F-B35D-CFACDC66F5D6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7" name="Slide Number Placeholder 6">
            <a:extLst xmlns:a="http://schemas.openxmlformats.org/drawingml/2006/main">
              <a:ext uri="{FF2B5EF4-FFF2-40B4-BE49-F238E27FC236}">
                <a16:creationId xmlns:a16="http://schemas.microsoft.com/office/drawing/2014/main" id="{22D270C9-8D19-4F0B-97CF-E282CA5084E8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C1FF6DA9-008F-8B48-92A6-B652298478BF}" type="slidenum">
              <a:t>‹#›</a:t>
            </a:fld>
            <a:endParaRPr/>
          </a:p>
        </p:txBody>
      </p:sp>
    </p:spTree>
  </p:cSld>
</p:sldLayout>
</file>

<file path=ppt/slideLayouts/slideLayout10.xml><?xml version="1.0" encoding="utf-8"?>
<p:sldLayout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0603E5A5-C957-47CA-B639-C89B2C3EDD2D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Click to edit Master title style</a:t>
            </a:r>
            <a:endParaRPr/>
          </a:p>
        </p:txBody>
      </p:sp>
      <p:sp>
        <p:nvSpPr>
          <p:cNvPr id="3" name="Vertical Text Placeholder 2">
            <a:extLst xmlns:a="http://schemas.openxmlformats.org/drawingml/2006/main">
              <a:ext uri="{FF2B5EF4-FFF2-40B4-BE49-F238E27FC236}">
                <a16:creationId xmlns:a16="http://schemas.microsoft.com/office/drawing/2014/main" id="{3698151E-8731-45B2-9F09-5CA2215184E9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 vert="eaVert"/>
          <a:lstStyle xmlns:a="http://schemas.openxmlformats.org/drawingml/2006/main"/>
          <a:p xmlns:a="http://schemas.openxmlformats.org/drawingml/2006/main">
            <a:pPr lvl="0">
              <a:buNone/>
            </a:pPr>
            <a:r>
              <a:t>Click to edit Master text styles</a:t>
            </a:r>
          </a:p>
          <a:p xmlns:a="http://schemas.openxmlformats.org/drawingml/2006/main">
            <a:pPr lvl="1">
              <a:buNone/>
            </a:pPr>
            <a:r>
              <a:t>Second level</a:t>
            </a:r>
          </a:p>
          <a:p xmlns:a="http://schemas.openxmlformats.org/drawingml/2006/main">
            <a:pPr lvl="2">
              <a:buNone/>
            </a:pPr>
            <a:r>
              <a:t>Third level</a:t>
            </a:r>
          </a:p>
          <a:p xmlns:a="http://schemas.openxmlformats.org/drawingml/2006/main">
            <a:pPr lvl="3">
              <a:buNone/>
            </a:pPr>
            <a:r>
              <a:t>Fourth level</a:t>
            </a:r>
          </a:p>
          <a:p xmlns:a="http://schemas.openxmlformats.org/drawingml/2006/main">
            <a:pPr lvl="4">
              <a:buNone/>
            </a:pPr>
            <a:r>
              <a:t>Fifth level</a:t>
            </a:r>
            <a:endParaRPr/>
          </a:p>
        </p:txBody>
      </p:sp>
      <p:sp>
        <p:nvSpPr>
          <p:cNvPr id="4" name="Date Placeholder 3">
            <a:extLst xmlns:a="http://schemas.openxmlformats.org/drawingml/2006/main">
              <a:ext uri="{FF2B5EF4-FFF2-40B4-BE49-F238E27FC236}">
                <a16:creationId xmlns:a16="http://schemas.microsoft.com/office/drawing/2014/main" id="{789DFE78-4304-411E-AC94-37DB028770B5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5BCAD085-E8A6-8845-BD4E-CB4CCA059FC4}" type="datetimeFigureOut">
              <a:t>1/27/13</a:t>
            </a:fld>
            <a:endParaRPr/>
          </a:p>
        </p:txBody>
      </p:sp>
      <p:sp>
        <p:nvSpPr>
          <p:cNvPr id="5" name="Footer Placeholder 4">
            <a:extLst xmlns:a="http://schemas.openxmlformats.org/drawingml/2006/main">
              <a:ext uri="{FF2B5EF4-FFF2-40B4-BE49-F238E27FC236}">
                <a16:creationId xmlns:a16="http://schemas.microsoft.com/office/drawing/2014/main" id="{BD1F9AD5-236D-43ED-8103-25BD9D23185F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6" name="Slide Number Placeholder 5">
            <a:extLst xmlns:a="http://schemas.openxmlformats.org/drawingml/2006/main">
              <a:ext uri="{FF2B5EF4-FFF2-40B4-BE49-F238E27FC236}">
                <a16:creationId xmlns:a16="http://schemas.microsoft.com/office/drawing/2014/main" id="{2040C95B-B4CE-47E3-B18A-87B68EA60002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C1FF6DA9-008F-8B48-92A6-B652298478BF}" type="slidenum">
              <a:t>‹#›</a:t>
            </a:fld>
            <a:endParaRPr/>
          </a:p>
        </p:txBody>
      </p:sp>
    </p:spTree>
  </p:cSld>
</p:sldLayout>
</file>

<file path=ppt/slideLayouts/slideLayout11.xml><?xml version="1.0" encoding="utf-8"?>
<p:sldLayout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Vertical Title 1">
            <a:extLst xmlns:a="http://schemas.openxmlformats.org/drawingml/2006/main">
              <a:ext uri="{FF2B5EF4-FFF2-40B4-BE49-F238E27FC236}">
                <a16:creationId xmlns:a16="http://schemas.microsoft.com/office/drawing/2014/main" id="{36765DEA-A6E6-4B48-8133-A2AD3485C1DB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6629400" y="274638"/>
            <a:ext cx="2057400" cy="5851525"/>
          </a:xfrm>
        </p:spPr>
        <p:txBody>
          <a:bodyPr xmlns:a="http://schemas.openxmlformats.org/drawingml/2006/main" vert="eaVert"/>
          <a:lstStyle xmlns:a="http://schemas.openxmlformats.org/drawingml/2006/main"/>
          <a:p xmlns:a="http://schemas.openxmlformats.org/drawingml/2006/main">
            <a:r>
              <a:t>Click to edit Master title style</a:t>
            </a:r>
            <a:endParaRPr/>
          </a:p>
        </p:txBody>
      </p:sp>
      <p:sp>
        <p:nvSpPr>
          <p:cNvPr id="3" name="Vertical Text Placeholder 2">
            <a:extLst xmlns:a="http://schemas.openxmlformats.org/drawingml/2006/main">
              <a:ext uri="{FF2B5EF4-FFF2-40B4-BE49-F238E27FC236}">
                <a16:creationId xmlns:a16="http://schemas.microsoft.com/office/drawing/2014/main" id="{DD050C12-4963-468A-B5B2-5A5FFF851017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457200" y="274638"/>
            <a:ext cx="6019800" cy="5851525"/>
          </a:xfrm>
        </p:spPr>
        <p:txBody>
          <a:bodyPr xmlns:a="http://schemas.openxmlformats.org/drawingml/2006/main" vert="eaVert"/>
          <a:lstStyle xmlns:a="http://schemas.openxmlformats.org/drawingml/2006/main"/>
          <a:p xmlns:a="http://schemas.openxmlformats.org/drawingml/2006/main">
            <a:pPr lvl="0">
              <a:buNone/>
            </a:pPr>
            <a:r>
              <a:t>Click to edit Master text styles</a:t>
            </a:r>
          </a:p>
          <a:p xmlns:a="http://schemas.openxmlformats.org/drawingml/2006/main">
            <a:pPr lvl="1">
              <a:buNone/>
            </a:pPr>
            <a:r>
              <a:t>Second level</a:t>
            </a:r>
          </a:p>
          <a:p xmlns:a="http://schemas.openxmlformats.org/drawingml/2006/main">
            <a:pPr lvl="2">
              <a:buNone/>
            </a:pPr>
            <a:r>
              <a:t>Third level</a:t>
            </a:r>
          </a:p>
          <a:p xmlns:a="http://schemas.openxmlformats.org/drawingml/2006/main">
            <a:pPr lvl="3">
              <a:buNone/>
            </a:pPr>
            <a:r>
              <a:t>Fourth level</a:t>
            </a:r>
          </a:p>
          <a:p xmlns:a="http://schemas.openxmlformats.org/drawingml/2006/main">
            <a:pPr lvl="4">
              <a:buNone/>
            </a:pPr>
            <a:r>
              <a:t>Fifth level</a:t>
            </a:r>
            <a:endParaRPr/>
          </a:p>
        </p:txBody>
      </p:sp>
      <p:sp>
        <p:nvSpPr>
          <p:cNvPr id="4" name="Date Placeholder 3">
            <a:extLst xmlns:a="http://schemas.openxmlformats.org/drawingml/2006/main">
              <a:ext uri="{FF2B5EF4-FFF2-40B4-BE49-F238E27FC236}">
                <a16:creationId xmlns:a16="http://schemas.microsoft.com/office/drawing/2014/main" id="{1A8457F7-41EB-4560-A76D-AFBADA1340CC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5BCAD085-E8A6-8845-BD4E-CB4CCA059FC4}" type="datetimeFigureOut">
              <a:t>1/27/13</a:t>
            </a:fld>
            <a:endParaRPr/>
          </a:p>
        </p:txBody>
      </p:sp>
      <p:sp>
        <p:nvSpPr>
          <p:cNvPr id="5" name="Footer Placeholder 4">
            <a:extLst xmlns:a="http://schemas.openxmlformats.org/drawingml/2006/main">
              <a:ext uri="{FF2B5EF4-FFF2-40B4-BE49-F238E27FC236}">
                <a16:creationId xmlns:a16="http://schemas.microsoft.com/office/drawing/2014/main" id="{AA388894-ADE6-4593-9B41-E7770480AF32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6" name="Slide Number Placeholder 5">
            <a:extLst xmlns:a="http://schemas.openxmlformats.org/drawingml/2006/main">
              <a:ext uri="{FF2B5EF4-FFF2-40B4-BE49-F238E27FC236}">
                <a16:creationId xmlns:a16="http://schemas.microsoft.com/office/drawing/2014/main" id="{A285ABC6-5748-454D-B68C-DC4BA395429E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C1FF6DA9-008F-8B48-92A6-B652298478BF}" type="slidenum">
              <a:t>‹#›</a:t>
            </a:fld>
            <a:endParaRPr/>
          </a:p>
        </p:txBody>
      </p:sp>
    </p:spTree>
  </p:cSld>
</p:sldLayout>
</file>

<file path=ppt/slideMasters/_rels/slideMaster1.xml.rels><?xml version='1.0' encoding='UTF-8' standalone='yes'?>
<Relationships xmlns="http://schemas.openxmlformats.org/package/2006/relationships"><Relationship Id="R1d266be0a1284e61" Type="http://schemas.openxmlformats.org/officeDocument/2006/relationships/slideLayout" Target="../slideLayouts/slideLayout3.xml"/><Relationship Id="R3136394fdd464025" Type="http://schemas.openxmlformats.org/officeDocument/2006/relationships/slideLayout" Target="../slideLayouts/slideLayout1.xml"/><Relationship Id="R44a03bba378d4104" Type="http://schemas.openxmlformats.org/officeDocument/2006/relationships/slideLayout" Target="../slideLayouts/slideLayout10.xml"/><Relationship Id="R4702a775611d43ad" Type="http://schemas.openxmlformats.org/officeDocument/2006/relationships/slideLayout" Target="../slideLayouts/slideLayout8.xml"/><Relationship Id="R4b8283b5ea094e36" Type="http://schemas.openxmlformats.org/officeDocument/2006/relationships/slideLayout" Target="../slideLayouts/slideLayout11.xml"/><Relationship Id="R5e03566e1b8348f9" Type="http://schemas.openxmlformats.org/officeDocument/2006/relationships/slideLayout" Target="../slideLayouts/slideLayout5.xml"/><Relationship Id="Ra309db37da2a4a43" Type="http://schemas.openxmlformats.org/officeDocument/2006/relationships/slideLayout" Target="../slideLayouts/slideLayout6.xml"/><Relationship Id="Rbaed0f216b1a4b6e" Type="http://schemas.openxmlformats.org/officeDocument/2006/relationships/slideLayout" Target="../slideLayouts/slideLayout2.xml"/><Relationship Id="Rbb645bffa0074ac0" Type="http://schemas.openxmlformats.org/officeDocument/2006/relationships/slideLayout" Target="../slideLayouts/slideLayout4.xml"/><Relationship Id="Rd25689cf6b294a32" Type="http://schemas.openxmlformats.org/officeDocument/2006/relationships/theme" Target="theme/theme2.xml"/><Relationship Id="Rd4117fb882554ffa" Type="http://schemas.openxmlformats.org/officeDocument/2006/relationships/slideLayout" Target="../slideLayouts/slideLayout7.xml"/><Relationship Id="Rfee0c545bc1446ea" Type="http://schemas.openxmlformats.org/officeDocument/2006/relationships/slideLayout" Target="../slideLayouts/slideLayout9.xml"/></Relationships>
</file>

<file path=ppt/slideMasters/slideMaster1.xml><?xml version="1.0" encoding="utf-8"?>
<p:sld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Placeholder 1">
            <a:extLst xmlns:a="http://schemas.openxmlformats.org/drawingml/2006/main">
              <a:ext uri="{FF2B5EF4-FFF2-40B4-BE49-F238E27FC236}">
                <a16:creationId xmlns:a16="http://schemas.microsoft.com/office/drawing/2014/main" id="{315B4157-E165-444D-87D1-D1FDC3346B67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457200" y="274638"/>
            <a:ext cx="8229600" cy="11430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>
            <a:normAutofit/>
          </a:bodyPr>
          <a:lstStyle xmlns:a="http://schemas.openxmlformats.org/drawingml/2006/main"/>
          <a:p xmlns:a="http://schemas.openxmlformats.org/drawingml/2006/main">
            <a:r>
              <a:t>Click to edit Master title style</a:t>
            </a:r>
            <a:endParaRPr/>
          </a:p>
        </p:txBody>
      </p:sp>
      <p:sp>
        <p:nvSpPr>
          <p:cNvPr id="3" name="Text Placeholder 2">
            <a:extLst xmlns:a="http://schemas.openxmlformats.org/drawingml/2006/main">
              <a:ext uri="{FF2B5EF4-FFF2-40B4-BE49-F238E27FC236}">
                <a16:creationId xmlns:a16="http://schemas.microsoft.com/office/drawing/2014/main" id="{ABE37DDE-C668-4999-AFF6-3B02624EC824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457200" y="1600200"/>
            <a:ext cx="8229600" cy="4525963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>
            <a:normAutofit/>
          </a:bodyPr>
          <a:lstStyle xmlns:a="http://schemas.openxmlformats.org/drawingml/2006/main"/>
          <a:p xmlns:a="http://schemas.openxmlformats.org/drawingml/2006/main">
            <a:pPr lvl="0">
              <a:buNone/>
            </a:pPr>
            <a:r>
              <a:t>Click to edit Master text styles</a:t>
            </a:r>
          </a:p>
          <a:p xmlns:a="http://schemas.openxmlformats.org/drawingml/2006/main">
            <a:pPr lvl="1">
              <a:buNone/>
            </a:pPr>
            <a:r>
              <a:t>Second level</a:t>
            </a:r>
          </a:p>
          <a:p xmlns:a="http://schemas.openxmlformats.org/drawingml/2006/main">
            <a:pPr lvl="2">
              <a:buNone/>
            </a:pPr>
            <a:r>
              <a:t>Third level</a:t>
            </a:r>
          </a:p>
          <a:p xmlns:a="http://schemas.openxmlformats.org/drawingml/2006/main">
            <a:pPr lvl="3">
              <a:buNone/>
            </a:pPr>
            <a:r>
              <a:t>Fourth level</a:t>
            </a:r>
          </a:p>
          <a:p xmlns:a="http://schemas.openxmlformats.org/drawingml/2006/main">
            <a:pPr lvl="4">
              <a:buNone/>
            </a:pPr>
            <a:r>
              <a:t>Fifth level</a:t>
            </a:r>
            <a:endParaRPr/>
          </a:p>
        </p:txBody>
      </p:sp>
      <p:sp>
        <p:nvSpPr>
          <p:cNvPr id="4" name="Date Placeholder 3">
            <a:extLst xmlns:a="http://schemas.openxmlformats.org/drawingml/2006/main">
              <a:ext uri="{FF2B5EF4-FFF2-40B4-BE49-F238E27FC236}">
                <a16:creationId xmlns:a16="http://schemas.microsoft.com/office/drawing/2014/main" id="{10BB946D-3A16-4314-9C16-BCCD841C2324}"/>
              </a:ext>
            </a:extLst>
          </p:cNvPr>
          <p:cNvSpPr>
            <a:spLocks xmlns:a="http://schemas.openxmlformats.org/drawingml/2006/main" noGrp="1"/>
          </p:cNvSpPr>
          <p:nvPr>
            <p:ph type="dt" idx="2"/>
          </p:nvPr>
        </p:nvSpPr>
        <p:spPr>
          <a:xfrm xmlns:a="http://schemas.openxmlformats.org/drawingml/2006/main">
            <a:off x="457200" y="6356350"/>
            <a:ext cx="2133600" cy="3651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/>
          <a:lstStyle xmlns:a="http://schemas.openxmlformats.org/drawingml/2006/main">
            <a:lvl1pPr algn="l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 xmlns:a="http://schemas.openxmlformats.org/drawingml/2006/main">
            <a:fld id="{5BCAD085-E8A6-8845-BD4E-CB4CCA059FC4}" type="datetimeFigureOut">
              <a:t>1/27/13</a:t>
            </a:fld>
            <a:endParaRPr/>
          </a:p>
        </p:txBody>
      </p:sp>
      <p:sp>
        <p:nvSpPr>
          <p:cNvPr id="5" name="Footer Placeholder 4">
            <a:extLst xmlns:a="http://schemas.openxmlformats.org/drawingml/2006/main">
              <a:ext uri="{FF2B5EF4-FFF2-40B4-BE49-F238E27FC236}">
                <a16:creationId xmlns:a16="http://schemas.microsoft.com/office/drawing/2014/main" id="{96193750-DF12-4E38-BED1-2FDD1C95BA73}"/>
              </a:ext>
            </a:extLst>
          </p:cNvPr>
          <p:cNvSpPr>
            <a:spLocks xmlns:a="http://schemas.openxmlformats.org/drawingml/2006/main" noGrp="1"/>
          </p:cNvSpPr>
          <p:nvPr>
            <p:ph type="ftr" idx="3"/>
          </p:nvPr>
        </p:nvSpPr>
        <p:spPr>
          <a:xfrm xmlns:a="http://schemas.openxmlformats.org/drawingml/2006/main">
            <a:off x="3124200" y="6356350"/>
            <a:ext cx="2895600" cy="3651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/>
          <a:lstStyle xmlns:a="http://schemas.openxmlformats.org/drawingml/2006/main">
            <a:lvl1pPr algn="ctr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 xmlns:a="http://schemas.openxmlformats.org/drawingml/2006/main">
            <a:endParaRPr/>
          </a:p>
        </p:txBody>
      </p:sp>
      <p:sp>
        <p:nvSpPr>
          <p:cNvPr id="6" name="Slide Number Placeholder 5">
            <a:extLst xmlns:a="http://schemas.openxmlformats.org/drawingml/2006/main">
              <a:ext uri="{FF2B5EF4-FFF2-40B4-BE49-F238E27FC236}">
                <a16:creationId xmlns:a16="http://schemas.microsoft.com/office/drawing/2014/main" id="{EB3C852F-F0CF-4B23-915E-CDA9F47EA9E3}"/>
              </a:ext>
            </a:extLst>
          </p:cNvPr>
          <p:cNvSpPr>
            <a:spLocks xmlns:a="http://schemas.openxmlformats.org/drawingml/2006/main" noGrp="1"/>
          </p:cNvSpPr>
          <p:nvPr>
            <p:ph type="sldNum" idx="4"/>
          </p:nvPr>
        </p:nvSpPr>
        <p:spPr>
          <a:xfrm xmlns:a="http://schemas.openxmlformats.org/drawingml/2006/main">
            <a:off x="6553200" y="6356350"/>
            <a:ext cx="2133600" cy="3651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/>
          <a:lstStyle xmlns:a="http://schemas.openxmlformats.org/drawingml/2006/main">
            <a:lvl1pPr algn="r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 xmlns:a="http://schemas.openxmlformats.org/drawingml/2006/main">
            <a:fld id="{C1FF6DA9-008F-8B48-92A6-B652298478BF}" type="slidenum">
              <a:t>‹#›</a:t>
            </a:fld>
            <a:endParaRPr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3136394fdd464025"/>
    <p:sldLayoutId xmlns:r="http://schemas.openxmlformats.org/officeDocument/2006/relationships" id="2147483650" r:id="Rbaed0f216b1a4b6e"/>
    <p:sldLayoutId xmlns:r="http://schemas.openxmlformats.org/officeDocument/2006/relationships" id="2147483651" r:id="R1d266be0a1284e61"/>
    <p:sldLayoutId xmlns:r="http://schemas.openxmlformats.org/officeDocument/2006/relationships" id="2147483652" r:id="Rbb645bffa0074ac0"/>
    <p:sldLayoutId xmlns:r="http://schemas.openxmlformats.org/officeDocument/2006/relationships" id="2147483653" r:id="R5e03566e1b8348f9"/>
    <p:sldLayoutId xmlns:r="http://schemas.openxmlformats.org/officeDocument/2006/relationships" id="2147483654" r:id="Ra309db37da2a4a43"/>
    <p:sldLayoutId xmlns:r="http://schemas.openxmlformats.org/officeDocument/2006/relationships" id="2147483655" r:id="Rd4117fb882554ffa"/>
    <p:sldLayoutId xmlns:r="http://schemas.openxmlformats.org/officeDocument/2006/relationships" id="2147483656" r:id="R4702a775611d43ad"/>
    <p:sldLayoutId xmlns:r="http://schemas.openxmlformats.org/officeDocument/2006/relationships" id="2147483657" r:id="Rfee0c545bc1446ea"/>
    <p:sldLayoutId xmlns:r="http://schemas.openxmlformats.org/officeDocument/2006/relationships" id="2147483658" r:id="R44a03bba378d4104"/>
    <p:sldLayoutId xmlns:r="http://schemas.openxmlformats.org/officeDocument/2006/relationships" id="2147483659" r:id="R4b8283b5ea094e36"/>
  </p:sldLayoutIdLst>
  <p:txStyles>
    <p:titleStyle>
      <a:lvl1pPr xmlns:a="http://schemas.openxmlformats.org/drawingml/2006/main" algn="ctr" defTabSz="457200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xmlns:a="http://schemas.openxmlformats.org/drawingml/2006/main" marL="342900" indent="-342900" algn="l" defTabSz="457200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742950" indent="-285750" algn="l" defTabSz="457200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1143000" indent="-228600" algn="l" defTabSz="457200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600200" indent="-228600" algn="l" defTabSz="457200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2057400" indent="-228600" algn="l" defTabSz="457200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514600" indent="-228600" algn="l" defTabSz="457200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971800" indent="-228600" algn="l" defTabSz="457200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429000" indent="-228600" algn="l" defTabSz="457200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886200" indent="-228600" algn="l" defTabSz="457200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xmlns:a="http://schemas.openxmlformats.org/drawingml/2006/main" marL="0" algn="l" defTabSz="4572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457200" algn="l" defTabSz="4572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914400" algn="l" defTabSz="4572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371600" algn="l" defTabSz="4572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1828800" algn="l" defTabSz="4572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286000" algn="l" defTabSz="4572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743200" algn="l" defTabSz="4572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200400" algn="l" defTabSz="4572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657600" algn="l" defTabSz="4572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Masters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>
          <a:solidFill>
            <a:schemeClr val="phClr">
              <a:shade val="95000"/>
              <a:satMod val="105000"/>
            </a:schemeClr>
          </a:solidFill>
          <a:prstDash val="solid"/>
        </a:ln>
        <a:ln w="25400">
          <a:solidFill>
            <a:schemeClr val="phClr"/>
          </a:solidFill>
          <a:prstDash val="solid"/>
        </a:ln>
        <a:ln w="38100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slides/_rels/slide1.xml.rels><?xml version='1.0' encoding='UTF-8' standalone='yes'?>
<Relationships xmlns="http://schemas.openxmlformats.org/package/2006/relationships"><Relationship Id="R23841a64afa64fcd" Type="http://schemas.openxmlformats.org/officeDocument/2006/relationships/slideLayout" Target="../slideLayouts/slideLayout7.xml"/><Relationship Id="R23fe9f1998694f03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6b2b94f060cc4e8c" Type="http://schemas.openxmlformats.org/officeDocument/2006/relationships/slideLayout" Target="../slideLayouts/slideLayout1.xml"/><Relationship Id="Rd5cbb3028e62482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2d3a45033c6944d2" Type="http://schemas.openxmlformats.org/officeDocument/2006/relationships/notesSlide" Target="../notesSlides/notesSlide3.xml"/><Relationship Id="R54df92619ec443cb" Type="http://schemas.openxmlformats.org/officeDocument/2006/relationships/slideLayout" Target="../slideLayouts/slideLayout1.xml"/></Relationships>
</file>

<file path=ppt/slides/slide1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525" name="Title">
            <a:extLst xmlns:a="http://schemas.openxmlformats.org/drawingml/2006/main">
              <a:ext uri="{FF2B5EF4-FFF2-40B4-BE49-F238E27FC236}">
                <a16:creationId xmlns:a16="http://schemas.microsoft.com/office/drawing/2014/main" id="{EA4880F2-507E-4B9C-810C-68EADD19970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5750" y="161925"/>
            <a:ext cx="116014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38100" tIns="0" rIns="3810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defRPr sz="2100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pPr>
            <a:r>
              <a:rPr sz="2100" b="1">
                <a:solidFill>
                  <a:srgbClr val="111111"/>
                </a:solidFill>
                <a:latin typeface="Arial"/>
                <a:ea typeface="Arial"/>
                <a:cs typeface="Arial"/>
              </a:rPr>
              <a:t>multimodal-bio-fusion | Research Project Plan</a:t>
            </a:r>
          </a:p>
        </p:txBody>
      </p:sp>
      <p:sp>
        <p:nvSpPr>
          <p:cNvPr id="2" name="Subtitle">
            <a:extLst xmlns:a="http://schemas.openxmlformats.org/drawingml/2006/main">
              <a:ext uri="{FF2B5EF4-FFF2-40B4-BE49-F238E27FC236}">
                <a16:creationId xmlns:a16="http://schemas.microsoft.com/office/drawing/2014/main" id="{1A26E904-DD01-4F4C-BF80-87F80F75EE2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5750" y="581025"/>
            <a:ext cx="116014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38100" tIns="0" rIns="3810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111111"/>
                </a:solidFill>
                <a:latin typeface="Arial"/>
                <a:ea typeface="Arial"/>
                <a:cs typeface="Arial"/>
              </a:defRPr>
            </a:pPr>
            <a:r>
              <a:rPr sz="1050" b="0">
                <a:solidFill>
                  <a:srgbClr val="111111"/>
                </a:solidFill>
                <a:latin typeface="Arial"/>
                <a:ea typeface="Arial"/>
                <a:cs typeface="Arial"/>
              </a:rPr>
              <a:t>Weekly schedule for fall 2026, with a provisional continuation through March 2027</a:t>
            </a:r>
          </a:p>
        </p:txBody>
      </p:sp>
      <p:sp>
        <p:nvSpPr>
          <p:cNvPr id="3" name="Column header">
            <a:extLst xmlns:a="http://schemas.openxmlformats.org/drawingml/2006/main">
              <a:ext uri="{FF2B5EF4-FFF2-40B4-BE49-F238E27FC236}">
                <a16:creationId xmlns:a16="http://schemas.microsoft.com/office/drawing/2014/main" id="{A5EEEF2E-FCDD-4FAF-9F53-9AE0B3F9724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3850" y="990600"/>
            <a:ext cx="11525250" cy="2952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4D4"/>
          </a:solidFill>
          <a:ln xmlns:a="http://schemas.openxmlformats.org/drawingml/2006/main" w="0">
            <a:noFill/>
          </a:ln>
        </p:spPr>
        <p:txBody xmlns:a="http://schemas.openxmlformats.org/drawingml/2006/main">
          <a:bodyPr/>
          <a:p/>
        </p:txBody>
      </p:sp>
      <p:sp>
        <p:nvSpPr>
          <p:cNvPr id="4" name="Task header">
            <a:extLst xmlns:a="http://schemas.openxmlformats.org/drawingml/2006/main">
              <a:ext uri="{FF2B5EF4-FFF2-40B4-BE49-F238E27FC236}">
                <a16:creationId xmlns:a16="http://schemas.microsoft.com/office/drawing/2014/main" id="{5B134E7B-309F-43D8-AFD3-43179C2F728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3850" y="990600"/>
            <a:ext cx="4191000" cy="2952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38100" tIns="0" rIns="3810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pPr>
            <a:r>
              <a:rPr sz="1050" b="1">
                <a:solidFill>
                  <a:srgbClr val="111111"/>
                </a:solidFill>
                <a:latin typeface="Arial"/>
                <a:ea typeface="Arial"/>
                <a:cs typeface="Arial"/>
              </a:rPr>
              <a:t>Task / research outcome</a:t>
            </a:r>
          </a:p>
        </p:txBody>
      </p:sp>
      <p:sp>
        <p:nvSpPr>
          <p:cNvPr id="5" name="Status header">
            <a:extLst xmlns:a="http://schemas.openxmlformats.org/drawingml/2006/main">
              <a:ext uri="{FF2B5EF4-FFF2-40B4-BE49-F238E27FC236}">
                <a16:creationId xmlns:a16="http://schemas.microsoft.com/office/drawing/2014/main" id="{C1DDB809-015C-44EA-923A-3B7ECCEC2E8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14850" y="990600"/>
            <a:ext cx="838200" cy="2952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38100" tIns="0" rIns="3810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defRPr sz="900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pPr>
            <a:r>
              <a:rPr sz="900" b="1">
                <a:solidFill>
                  <a:srgbClr val="111111"/>
                </a:solidFill>
                <a:latin typeface="Arial"/>
                <a:ea typeface="Arial"/>
                <a:cs typeface="Arial"/>
              </a:rPr>
              <a:t>Status</a:t>
            </a:r>
          </a:p>
        </p:txBody>
      </p:sp>
      <p:sp>
        <p:nvSpPr>
          <p:cNvPr id="6" name="Week 2026-09-07">
            <a:extLst xmlns:a="http://schemas.openxmlformats.org/drawingml/2006/main">
              <a:ext uri="{FF2B5EF4-FFF2-40B4-BE49-F238E27FC236}">
                <a16:creationId xmlns:a16="http://schemas.microsoft.com/office/drawing/2014/main" id="{D257F1F8-A79B-4FBE-AA63-66C17D523D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53050" y="990600"/>
            <a:ext cx="297984" cy="2952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38100" tIns="0" rIns="3810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defRPr sz="788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111111"/>
                </a:solidFill>
                <a:latin typeface="Arial"/>
                <a:ea typeface="Arial"/>
                <a:cs typeface="Arial"/>
              </a:rPr>
              <a:t>9/7</a:t>
            </a:r>
          </a:p>
        </p:txBody>
      </p:sp>
      <p:sp>
        <p:nvSpPr>
          <p:cNvPr id="7" name="Week 2026-09-14">
            <a:extLst xmlns:a="http://schemas.openxmlformats.org/drawingml/2006/main">
              <a:ext uri="{FF2B5EF4-FFF2-40B4-BE49-F238E27FC236}">
                <a16:creationId xmlns:a16="http://schemas.microsoft.com/office/drawing/2014/main" id="{D1438395-44D6-41C0-B2E9-CB039FFBCF1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51034" y="990600"/>
            <a:ext cx="297984" cy="2952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38100" tIns="0" rIns="3810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defRPr sz="788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111111"/>
                </a:solidFill>
                <a:latin typeface="Arial"/>
                <a:ea typeface="Arial"/>
                <a:cs typeface="Arial"/>
              </a:rPr>
              <a:t>9/14</a:t>
            </a:r>
          </a:p>
        </p:txBody>
      </p:sp>
      <p:sp>
        <p:nvSpPr>
          <p:cNvPr id="8" name="Week 2026-09-21">
            <a:extLst xmlns:a="http://schemas.openxmlformats.org/drawingml/2006/main">
              <a:ext uri="{FF2B5EF4-FFF2-40B4-BE49-F238E27FC236}">
                <a16:creationId xmlns:a16="http://schemas.microsoft.com/office/drawing/2014/main" id="{A8557C8E-69A7-4EC8-9217-691D04B2AE2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49018" y="990600"/>
            <a:ext cx="297984" cy="2952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38100" tIns="0" rIns="3810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defRPr sz="788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111111"/>
                </a:solidFill>
                <a:latin typeface="Arial"/>
                <a:ea typeface="Arial"/>
                <a:cs typeface="Arial"/>
              </a:rPr>
              <a:t>9/21</a:t>
            </a:r>
          </a:p>
        </p:txBody>
      </p:sp>
      <p:sp>
        <p:nvSpPr>
          <p:cNvPr id="9" name="Week 2026-09-28">
            <a:extLst xmlns:a="http://schemas.openxmlformats.org/drawingml/2006/main">
              <a:ext uri="{FF2B5EF4-FFF2-40B4-BE49-F238E27FC236}">
                <a16:creationId xmlns:a16="http://schemas.microsoft.com/office/drawing/2014/main" id="{744918BB-B9E1-47BF-A329-610C8A1DB64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47002" y="990600"/>
            <a:ext cx="297984" cy="2952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38100" tIns="0" rIns="3810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defRPr sz="788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111111"/>
                </a:solidFill>
                <a:latin typeface="Arial"/>
                <a:ea typeface="Arial"/>
                <a:cs typeface="Arial"/>
              </a:rPr>
              <a:t>9/28</a:t>
            </a:r>
          </a:p>
        </p:txBody>
      </p:sp>
      <p:sp>
        <p:nvSpPr>
          <p:cNvPr id="10" name="Week 2026-10-05">
            <a:extLst xmlns:a="http://schemas.openxmlformats.org/drawingml/2006/main">
              <a:ext uri="{FF2B5EF4-FFF2-40B4-BE49-F238E27FC236}">
                <a16:creationId xmlns:a16="http://schemas.microsoft.com/office/drawing/2014/main" id="{A2339EB2-623A-492E-A54E-EE8552A7554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44986" y="990600"/>
            <a:ext cx="297984" cy="2952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38100" tIns="0" rIns="3810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defRPr sz="788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111111"/>
                </a:solidFill>
                <a:latin typeface="Arial"/>
                <a:ea typeface="Arial"/>
                <a:cs typeface="Arial"/>
              </a:rPr>
              <a:t>10/5</a:t>
            </a:r>
          </a:p>
        </p:txBody>
      </p:sp>
      <p:sp>
        <p:nvSpPr>
          <p:cNvPr id="11" name="Week 2026-10-12">
            <a:extLst xmlns:a="http://schemas.openxmlformats.org/drawingml/2006/main">
              <a:ext uri="{FF2B5EF4-FFF2-40B4-BE49-F238E27FC236}">
                <a16:creationId xmlns:a16="http://schemas.microsoft.com/office/drawing/2014/main" id="{CBD33B9F-9FE7-4808-ADF0-9B54AAFA3B9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42970" y="990600"/>
            <a:ext cx="297984" cy="2952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38100" tIns="0" rIns="3810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defRPr sz="788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111111"/>
                </a:solidFill>
                <a:latin typeface="Arial"/>
                <a:ea typeface="Arial"/>
                <a:cs typeface="Arial"/>
              </a:rPr>
              <a:t>10/12</a:t>
            </a:r>
          </a:p>
        </p:txBody>
      </p:sp>
      <p:sp>
        <p:nvSpPr>
          <p:cNvPr id="12" name="Week 2026-10-19">
            <a:extLst xmlns:a="http://schemas.openxmlformats.org/drawingml/2006/main">
              <a:ext uri="{FF2B5EF4-FFF2-40B4-BE49-F238E27FC236}">
                <a16:creationId xmlns:a16="http://schemas.microsoft.com/office/drawing/2014/main" id="{32D5CC87-585F-48E5-9F6A-5997C35D41E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40954" y="990600"/>
            <a:ext cx="297984" cy="2952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38100" tIns="0" rIns="3810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defRPr sz="788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111111"/>
                </a:solidFill>
                <a:latin typeface="Arial"/>
                <a:ea typeface="Arial"/>
                <a:cs typeface="Arial"/>
              </a:rPr>
              <a:t>10/19</a:t>
            </a:r>
          </a:p>
        </p:txBody>
      </p:sp>
      <p:sp>
        <p:nvSpPr>
          <p:cNvPr id="13" name="Week 2026-10-26">
            <a:extLst xmlns:a="http://schemas.openxmlformats.org/drawingml/2006/main">
              <a:ext uri="{FF2B5EF4-FFF2-40B4-BE49-F238E27FC236}">
                <a16:creationId xmlns:a16="http://schemas.microsoft.com/office/drawing/2014/main" id="{FEDE6624-777D-4825-BB8E-B093FCD9F2F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38938" y="990600"/>
            <a:ext cx="297984" cy="2952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38100" tIns="0" rIns="3810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defRPr sz="788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111111"/>
                </a:solidFill>
                <a:latin typeface="Arial"/>
                <a:ea typeface="Arial"/>
                <a:cs typeface="Arial"/>
              </a:rPr>
              <a:t>10/26</a:t>
            </a:r>
          </a:p>
        </p:txBody>
      </p:sp>
      <p:sp>
        <p:nvSpPr>
          <p:cNvPr id="14" name="Week 2026-11-02">
            <a:extLst xmlns:a="http://schemas.openxmlformats.org/drawingml/2006/main">
              <a:ext uri="{FF2B5EF4-FFF2-40B4-BE49-F238E27FC236}">
                <a16:creationId xmlns:a16="http://schemas.microsoft.com/office/drawing/2014/main" id="{E75CA6AC-2B59-4648-ACDA-FF077BFADDF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36922" y="990600"/>
            <a:ext cx="297984" cy="2952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38100" tIns="0" rIns="3810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defRPr sz="788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111111"/>
                </a:solidFill>
                <a:latin typeface="Arial"/>
                <a:ea typeface="Arial"/>
                <a:cs typeface="Arial"/>
              </a:rPr>
              <a:t>11/2</a:t>
            </a:r>
          </a:p>
        </p:txBody>
      </p:sp>
      <p:sp>
        <p:nvSpPr>
          <p:cNvPr id="15" name="Week 2026-11-09">
            <a:extLst xmlns:a="http://schemas.openxmlformats.org/drawingml/2006/main">
              <a:ext uri="{FF2B5EF4-FFF2-40B4-BE49-F238E27FC236}">
                <a16:creationId xmlns:a16="http://schemas.microsoft.com/office/drawing/2014/main" id="{2EA1C60B-20BB-4BE6-8FE0-D6C38B6D0E6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34906" y="990600"/>
            <a:ext cx="297984" cy="2952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38100" tIns="0" rIns="3810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defRPr sz="788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111111"/>
                </a:solidFill>
                <a:latin typeface="Arial"/>
                <a:ea typeface="Arial"/>
                <a:cs typeface="Arial"/>
              </a:rPr>
              <a:t>11/9</a:t>
            </a:r>
          </a:p>
        </p:txBody>
      </p:sp>
      <p:sp>
        <p:nvSpPr>
          <p:cNvPr id="16" name="Week 2026-11-16">
            <a:extLst xmlns:a="http://schemas.openxmlformats.org/drawingml/2006/main">
              <a:ext uri="{FF2B5EF4-FFF2-40B4-BE49-F238E27FC236}">
                <a16:creationId xmlns:a16="http://schemas.microsoft.com/office/drawing/2014/main" id="{A0AFD29C-3AAA-456A-9B36-80C939D166F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32889" y="990600"/>
            <a:ext cx="297984" cy="2952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38100" tIns="0" rIns="3810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defRPr sz="788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111111"/>
                </a:solidFill>
                <a:latin typeface="Arial"/>
                <a:ea typeface="Arial"/>
                <a:cs typeface="Arial"/>
              </a:rPr>
              <a:t>11/16</a:t>
            </a:r>
          </a:p>
        </p:txBody>
      </p:sp>
      <p:sp>
        <p:nvSpPr>
          <p:cNvPr id="17" name="Week 2026-11-23">
            <a:extLst xmlns:a="http://schemas.openxmlformats.org/drawingml/2006/main">
              <a:ext uri="{FF2B5EF4-FFF2-40B4-BE49-F238E27FC236}">
                <a16:creationId xmlns:a16="http://schemas.microsoft.com/office/drawing/2014/main" id="{3D10F673-4CB0-41B6-9003-AF4E118FCD7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30873" y="990600"/>
            <a:ext cx="297984" cy="2952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38100" tIns="0" rIns="3810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defRPr sz="788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111111"/>
                </a:solidFill>
                <a:latin typeface="Arial"/>
                <a:ea typeface="Arial"/>
                <a:cs typeface="Arial"/>
              </a:rPr>
              <a:t>11/23</a:t>
            </a:r>
          </a:p>
        </p:txBody>
      </p:sp>
      <p:sp>
        <p:nvSpPr>
          <p:cNvPr id="18" name="Week 2026-11-30">
            <a:extLst xmlns:a="http://schemas.openxmlformats.org/drawingml/2006/main">
              <a:ext uri="{FF2B5EF4-FFF2-40B4-BE49-F238E27FC236}">
                <a16:creationId xmlns:a16="http://schemas.microsoft.com/office/drawing/2014/main" id="{3010FB29-764C-4A5E-A863-AE970E4C725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28857" y="990600"/>
            <a:ext cx="297984" cy="2952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38100" tIns="0" rIns="3810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defRPr sz="788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111111"/>
                </a:solidFill>
                <a:latin typeface="Arial"/>
                <a:ea typeface="Arial"/>
                <a:cs typeface="Arial"/>
              </a:rPr>
              <a:t>11/30</a:t>
            </a:r>
          </a:p>
        </p:txBody>
      </p:sp>
      <p:sp>
        <p:nvSpPr>
          <p:cNvPr id="19" name="Week 2026-12-07">
            <a:extLst xmlns:a="http://schemas.openxmlformats.org/drawingml/2006/main">
              <a:ext uri="{FF2B5EF4-FFF2-40B4-BE49-F238E27FC236}">
                <a16:creationId xmlns:a16="http://schemas.microsoft.com/office/drawing/2014/main" id="{F3FE6820-E9DE-4888-9242-F5ECFA96851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26841" y="990600"/>
            <a:ext cx="297984" cy="2952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38100" tIns="0" rIns="3810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defRPr sz="788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111111"/>
                </a:solidFill>
                <a:latin typeface="Arial"/>
                <a:ea typeface="Arial"/>
                <a:cs typeface="Arial"/>
              </a:rPr>
              <a:t>12/7</a:t>
            </a:r>
          </a:p>
        </p:txBody>
      </p:sp>
      <p:sp>
        <p:nvSpPr>
          <p:cNvPr id="20" name="Week 2026-12-14">
            <a:extLst xmlns:a="http://schemas.openxmlformats.org/drawingml/2006/main">
              <a:ext uri="{FF2B5EF4-FFF2-40B4-BE49-F238E27FC236}">
                <a16:creationId xmlns:a16="http://schemas.microsoft.com/office/drawing/2014/main" id="{136DAE93-8E63-4B9A-BB64-810F3F017CA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4825" y="990600"/>
            <a:ext cx="297984" cy="2952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38100" tIns="0" rIns="3810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defRPr sz="788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111111"/>
                </a:solidFill>
                <a:latin typeface="Arial"/>
                <a:ea typeface="Arial"/>
                <a:cs typeface="Arial"/>
              </a:rPr>
              <a:t>12/14</a:t>
            </a:r>
          </a:p>
        </p:txBody>
      </p:sp>
      <p:sp>
        <p:nvSpPr>
          <p:cNvPr id="21" name="Week 2026-12-21">
            <a:extLst xmlns:a="http://schemas.openxmlformats.org/drawingml/2006/main">
              <a:ext uri="{FF2B5EF4-FFF2-40B4-BE49-F238E27FC236}">
                <a16:creationId xmlns:a16="http://schemas.microsoft.com/office/drawing/2014/main" id="{834F3B8E-D77A-4211-815F-5E7DB2F9E63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822809" y="990600"/>
            <a:ext cx="297984" cy="2952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38100" tIns="0" rIns="3810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defRPr sz="788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111111"/>
                </a:solidFill>
                <a:latin typeface="Arial"/>
                <a:ea typeface="Arial"/>
                <a:cs typeface="Arial"/>
              </a:rPr>
              <a:t>12/21</a:t>
            </a:r>
          </a:p>
        </p:txBody>
      </p:sp>
      <p:sp>
        <p:nvSpPr>
          <p:cNvPr id="22" name="Week 2026-12-28">
            <a:extLst xmlns:a="http://schemas.openxmlformats.org/drawingml/2006/main">
              <a:ext uri="{FF2B5EF4-FFF2-40B4-BE49-F238E27FC236}">
                <a16:creationId xmlns:a16="http://schemas.microsoft.com/office/drawing/2014/main" id="{EE9C8C03-5C74-4805-A821-661B479F55C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120793" y="990600"/>
            <a:ext cx="297984" cy="2952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38100" tIns="0" rIns="3810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defRPr sz="788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111111"/>
                </a:solidFill>
                <a:latin typeface="Arial"/>
                <a:ea typeface="Arial"/>
                <a:cs typeface="Arial"/>
              </a:rPr>
              <a:t>12/28</a:t>
            </a:r>
          </a:p>
        </p:txBody>
      </p:sp>
      <p:sp>
        <p:nvSpPr>
          <p:cNvPr id="23" name="Week 2027-01-01">
            <a:extLst xmlns:a="http://schemas.openxmlformats.org/drawingml/2006/main">
              <a:ext uri="{FF2B5EF4-FFF2-40B4-BE49-F238E27FC236}">
                <a16:creationId xmlns:a16="http://schemas.microsoft.com/office/drawing/2014/main" id="{AB6FB304-58D4-4602-9B02-7B15D84F2B2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18777" y="990600"/>
            <a:ext cx="476774" cy="2952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38100" tIns="0" rIns="3810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defRPr sz="788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111111"/>
                </a:solidFill>
                <a:latin typeface="Arial"/>
                <a:ea typeface="Arial"/>
                <a:cs typeface="Arial"/>
              </a:rPr>
              <a:t>Jan</a:t>
            </a:r>
          </a:p>
        </p:txBody>
      </p:sp>
      <p:sp>
        <p:nvSpPr>
          <p:cNvPr id="24" name="Week 2027-02-01">
            <a:extLst xmlns:a="http://schemas.openxmlformats.org/drawingml/2006/main">
              <a:ext uri="{FF2B5EF4-FFF2-40B4-BE49-F238E27FC236}">
                <a16:creationId xmlns:a16="http://schemas.microsoft.com/office/drawing/2014/main" id="{6E28B8F0-C558-40BB-8754-FC88508483A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95551" y="990600"/>
            <a:ext cx="476774" cy="2952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38100" tIns="0" rIns="3810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defRPr sz="788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111111"/>
                </a:solidFill>
                <a:latin typeface="Arial"/>
                <a:ea typeface="Arial"/>
                <a:cs typeface="Arial"/>
              </a:rPr>
              <a:t>Feb</a:t>
            </a:r>
          </a:p>
        </p:txBody>
      </p:sp>
      <p:sp>
        <p:nvSpPr>
          <p:cNvPr id="25" name="Week 2027-03-01">
            <a:extLst xmlns:a="http://schemas.openxmlformats.org/drawingml/2006/main">
              <a:ext uri="{FF2B5EF4-FFF2-40B4-BE49-F238E27FC236}">
                <a16:creationId xmlns:a16="http://schemas.microsoft.com/office/drawing/2014/main" id="{598FF916-38A6-4FA7-9685-086E38862DB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72326" y="990600"/>
            <a:ext cx="476774" cy="2952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38100" tIns="0" rIns="3810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defRPr sz="788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111111"/>
                </a:solidFill>
                <a:latin typeface="Arial"/>
                <a:ea typeface="Arial"/>
                <a:cs typeface="Arial"/>
              </a:rPr>
              <a:t>Mar</a:t>
            </a:r>
          </a:p>
        </p:txBody>
      </p:sp>
      <p:sp>
        <p:nvSpPr>
          <p:cNvPr id="511" name="Legend swatch Complete">
            <a:extLst xmlns:a="http://schemas.openxmlformats.org/drawingml/2006/main">
              <a:ext uri="{FF2B5EF4-FFF2-40B4-BE49-F238E27FC236}">
                <a16:creationId xmlns:a16="http://schemas.microsoft.com/office/drawing/2014/main" id="{1180DE2B-B1F2-4D2D-B720-5AA03A8B374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3850" y="6153150"/>
            <a:ext cx="219075" cy="95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595959"/>
          </a:solidFill>
          <a:ln xmlns:a="http://schemas.openxmlformats.org/drawingml/2006/main" w="0">
            <a:noFill/>
          </a:ln>
        </p:spPr>
        <p:txBody xmlns:a="http://schemas.openxmlformats.org/drawingml/2006/main">
          <a:bodyPr/>
          <a:p/>
        </p:txBody>
      </p:sp>
      <p:sp>
        <p:nvSpPr>
          <p:cNvPr id="512" name="Legend Complete">
            <a:extLst xmlns:a="http://schemas.openxmlformats.org/drawingml/2006/main">
              <a:ext uri="{FF2B5EF4-FFF2-40B4-BE49-F238E27FC236}">
                <a16:creationId xmlns:a16="http://schemas.microsoft.com/office/drawing/2014/main" id="{DA9CAE2D-7D6E-42C6-BE20-D0A5672D2EE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0075" y="6115050"/>
            <a:ext cx="1285875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38100" tIns="0" rIns="3810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defRPr sz="863" b="0">
                <a:solidFill>
                  <a:srgbClr val="111111"/>
                </a:solidFill>
                <a:latin typeface="Arial"/>
                <a:ea typeface="Arial"/>
                <a:cs typeface="Arial"/>
              </a:defRPr>
            </a:pPr>
            <a:r>
              <a:rPr sz="863" b="0">
                <a:solidFill>
                  <a:srgbClr val="111111"/>
                </a:solidFill>
                <a:latin typeface="Arial"/>
                <a:ea typeface="Arial"/>
                <a:cs typeface="Arial"/>
              </a:rPr>
              <a:t>Complete</a:t>
            </a:r>
          </a:p>
        </p:txBody>
      </p:sp>
      <p:sp>
        <p:nvSpPr>
          <p:cNvPr id="513" name="Legend swatch In progress">
            <a:extLst xmlns:a="http://schemas.openxmlformats.org/drawingml/2006/main">
              <a:ext uri="{FF2B5EF4-FFF2-40B4-BE49-F238E27FC236}">
                <a16:creationId xmlns:a16="http://schemas.microsoft.com/office/drawing/2014/main" id="{45F845AF-4E43-4B00-A0A1-AFAB674E331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914525" y="6153150"/>
            <a:ext cx="219075" cy="95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CA323"/>
          </a:solidFill>
          <a:ln xmlns:a="http://schemas.openxmlformats.org/drawingml/2006/main" w="0">
            <a:noFill/>
          </a:ln>
        </p:spPr>
        <p:txBody xmlns:a="http://schemas.openxmlformats.org/drawingml/2006/main">
          <a:bodyPr/>
          <a:p/>
        </p:txBody>
      </p:sp>
      <p:sp>
        <p:nvSpPr>
          <p:cNvPr id="514" name="Legend In progress">
            <a:extLst xmlns:a="http://schemas.openxmlformats.org/drawingml/2006/main">
              <a:ext uri="{FF2B5EF4-FFF2-40B4-BE49-F238E27FC236}">
                <a16:creationId xmlns:a16="http://schemas.microsoft.com/office/drawing/2014/main" id="{6BBFE1F1-78D9-4E32-B446-FF4F8DE3A35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190750" y="6115050"/>
            <a:ext cx="1285875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38100" tIns="0" rIns="3810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defRPr sz="863" b="0">
                <a:solidFill>
                  <a:srgbClr val="111111"/>
                </a:solidFill>
                <a:latin typeface="Arial"/>
                <a:ea typeface="Arial"/>
                <a:cs typeface="Arial"/>
              </a:defRPr>
            </a:pPr>
            <a:r>
              <a:rPr sz="863" b="0">
                <a:solidFill>
                  <a:srgbClr val="111111"/>
                </a:solidFill>
                <a:latin typeface="Arial"/>
                <a:ea typeface="Arial"/>
                <a:cs typeface="Arial"/>
              </a:rPr>
              <a:t>In progress</a:t>
            </a:r>
          </a:p>
        </p:txBody>
      </p:sp>
      <p:sp>
        <p:nvSpPr>
          <p:cNvPr id="515" name="Legend swatch Planned">
            <a:extLst xmlns:a="http://schemas.openxmlformats.org/drawingml/2006/main">
              <a:ext uri="{FF2B5EF4-FFF2-40B4-BE49-F238E27FC236}">
                <a16:creationId xmlns:a16="http://schemas.microsoft.com/office/drawing/2014/main" id="{6A969DCA-4996-46E0-AB95-5BB8918CDBF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05200" y="6153150"/>
            <a:ext cx="219075" cy="95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7BEC4"/>
          </a:solidFill>
          <a:ln xmlns:a="http://schemas.openxmlformats.org/drawingml/2006/main" w="0">
            <a:noFill/>
          </a:ln>
        </p:spPr>
        <p:txBody xmlns:a="http://schemas.openxmlformats.org/drawingml/2006/main">
          <a:bodyPr/>
          <a:p/>
        </p:txBody>
      </p:sp>
      <p:sp>
        <p:nvSpPr>
          <p:cNvPr id="516" name="Legend Planned">
            <a:extLst xmlns:a="http://schemas.openxmlformats.org/drawingml/2006/main">
              <a:ext uri="{FF2B5EF4-FFF2-40B4-BE49-F238E27FC236}">
                <a16:creationId xmlns:a16="http://schemas.microsoft.com/office/drawing/2014/main" id="{7B87BBED-08EF-4B8E-8961-38E46052577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781425" y="6115050"/>
            <a:ext cx="1285875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38100" tIns="0" rIns="3810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defRPr sz="863" b="0">
                <a:solidFill>
                  <a:srgbClr val="111111"/>
                </a:solidFill>
                <a:latin typeface="Arial"/>
                <a:ea typeface="Arial"/>
                <a:cs typeface="Arial"/>
              </a:defRPr>
            </a:pPr>
            <a:r>
              <a:rPr sz="863" b="0">
                <a:solidFill>
                  <a:srgbClr val="111111"/>
                </a:solidFill>
                <a:latin typeface="Arial"/>
                <a:ea typeface="Arial"/>
                <a:cs typeface="Arial"/>
              </a:rPr>
              <a:t>Planned</a:t>
            </a:r>
          </a:p>
        </p:txBody>
      </p:sp>
      <p:sp>
        <p:nvSpPr>
          <p:cNvPr id="517" name="Legend swatch Conditional">
            <a:extLst xmlns:a="http://schemas.openxmlformats.org/drawingml/2006/main">
              <a:ext uri="{FF2B5EF4-FFF2-40B4-BE49-F238E27FC236}">
                <a16:creationId xmlns:a16="http://schemas.microsoft.com/office/drawing/2014/main" id="{9C104601-4299-4E2C-A87A-1024EA2BF00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95875" y="6153150"/>
            <a:ext cx="219075" cy="95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666666"/>
            </a:solidFill>
          </a:ln>
        </p:spPr>
        <p:txBody xmlns:a="http://schemas.openxmlformats.org/drawingml/2006/main">
          <a:bodyPr/>
          <a:p/>
        </p:txBody>
      </p:sp>
      <p:sp>
        <p:nvSpPr>
          <p:cNvPr id="518" name="Legend Conditional">
            <a:extLst xmlns:a="http://schemas.openxmlformats.org/drawingml/2006/main">
              <a:ext uri="{FF2B5EF4-FFF2-40B4-BE49-F238E27FC236}">
                <a16:creationId xmlns:a16="http://schemas.microsoft.com/office/drawing/2014/main" id="{16D7CC4F-E977-46C9-BA66-3BDD5868D11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72100" y="6115050"/>
            <a:ext cx="1285875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38100" tIns="0" rIns="3810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defRPr sz="863" b="0">
                <a:solidFill>
                  <a:srgbClr val="111111"/>
                </a:solidFill>
                <a:latin typeface="Arial"/>
                <a:ea typeface="Arial"/>
                <a:cs typeface="Arial"/>
              </a:defRPr>
            </a:pPr>
            <a:r>
              <a:rPr sz="863" b="0">
                <a:solidFill>
                  <a:srgbClr val="111111"/>
                </a:solidFill>
                <a:latin typeface="Arial"/>
                <a:ea typeface="Arial"/>
                <a:cs typeface="Arial"/>
              </a:rPr>
              <a:t>Conditional</a:t>
            </a:r>
          </a:p>
        </p:txBody>
      </p:sp>
      <p:sp>
        <p:nvSpPr>
          <p:cNvPr id="519" name="Milestone legend">
            <a:extLst xmlns:a="http://schemas.openxmlformats.org/drawingml/2006/main">
              <a:ext uri="{FF2B5EF4-FFF2-40B4-BE49-F238E27FC236}">
                <a16:creationId xmlns:a16="http://schemas.microsoft.com/office/drawing/2014/main" id="{F987CEA0-0D29-4B87-82A9-304F9A377EA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43725" y="6153150"/>
            <a:ext cx="95250" cy="95250"/>
          </a:xfrm>
          <a:prstGeom xmlns:a="http://schemas.openxmlformats.org/drawingml/2006/main" prst="diamond">
            <a:avLst/>
          </a:prstGeom>
          <a:solidFill xmlns:a="http://schemas.openxmlformats.org/drawingml/2006/main">
            <a:srgbClr val="111111"/>
          </a:solidFill>
          <a:ln xmlns:a="http://schemas.openxmlformats.org/drawingml/2006/main" w="0">
            <a:noFill/>
          </a:ln>
        </p:spPr>
        <p:txBody xmlns:a="http://schemas.openxmlformats.org/drawingml/2006/main">
          <a:bodyPr/>
          <a:p/>
        </p:txBody>
      </p:sp>
      <p:sp>
        <p:nvSpPr>
          <p:cNvPr id="520" name="Milestone legend text">
            <a:extLst xmlns:a="http://schemas.openxmlformats.org/drawingml/2006/main">
              <a:ext uri="{FF2B5EF4-FFF2-40B4-BE49-F238E27FC236}">
                <a16:creationId xmlns:a16="http://schemas.microsoft.com/office/drawing/2014/main" id="{4B0C0306-318A-455F-8830-9C842F9A510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86600" y="6115050"/>
            <a:ext cx="17145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38100" tIns="0" rIns="3810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defRPr sz="863" b="0">
                <a:solidFill>
                  <a:srgbClr val="111111"/>
                </a:solidFill>
                <a:latin typeface="Arial"/>
                <a:ea typeface="Arial"/>
                <a:cs typeface="Arial"/>
              </a:defRPr>
            </a:pPr>
            <a:r>
              <a:rPr sz="863" b="0">
                <a:solidFill>
                  <a:srgbClr val="111111"/>
                </a:solidFill>
                <a:latin typeface="Arial"/>
                <a:ea typeface="Arial"/>
                <a:cs typeface="Arial"/>
              </a:rPr>
              <a:t>Milestone / deadline</a:t>
            </a:r>
          </a:p>
        </p:txBody>
      </p:sp>
      <p:sp>
        <p:nvSpPr>
          <p:cNvPr id="521" name="Date stamp">
            <a:extLst xmlns:a="http://schemas.openxmlformats.org/drawingml/2006/main">
              <a:ext uri="{FF2B5EF4-FFF2-40B4-BE49-F238E27FC236}">
                <a16:creationId xmlns:a16="http://schemas.microsoft.com/office/drawing/2014/main" id="{E9F2EE4C-07E9-4A22-BC9F-708A88873CA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810750" y="6115050"/>
            <a:ext cx="2000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38100" tIns="0" rIns="38100" bIns="0" anchor="ctr">
            <a:noAutofit/>
          </a:bodyPr>
          <a:lstStyle xmlns:a="http://schemas.openxmlformats.org/drawingml/2006/main"/>
          <a:p xmlns:a="http://schemas.openxmlformats.org/drawingml/2006/main">
            <a:pPr algn="r">
              <a:defRPr sz="863" b="0">
                <a:solidFill>
                  <a:srgbClr val="111111"/>
                </a:solidFill>
                <a:latin typeface="Arial"/>
                <a:ea typeface="Arial"/>
                <a:cs typeface="Arial"/>
              </a:defRPr>
            </a:pPr>
            <a:r>
              <a:rPr sz="863" b="0">
                <a:solidFill>
                  <a:srgbClr val="111111"/>
                </a:solidFill>
                <a:latin typeface="Arial"/>
                <a:ea typeface="Arial"/>
                <a:cs typeface="Arial"/>
              </a:rPr>
              <a:t>As of Oct 15, 2026</a:t>
            </a:r>
          </a:p>
        </p:txBody>
      </p:sp>
      <p:sp>
        <p:nvSpPr>
          <p:cNvPr id="522" name="Footer 1">
            <a:extLst xmlns:a="http://schemas.openxmlformats.org/drawingml/2006/main">
              <a:ext uri="{FF2B5EF4-FFF2-40B4-BE49-F238E27FC236}">
                <a16:creationId xmlns:a16="http://schemas.microsoft.com/office/drawing/2014/main" id="{FD06992D-F20A-48A3-8E82-835D5E1181F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3850" y="6372225"/>
            <a:ext cx="11525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38100" tIns="0" rIns="3810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defRPr sz="900" b="0">
                <a:solidFill>
                  <a:srgbClr val="222222"/>
                </a:solidFill>
                <a:latin typeface="Arial"/>
                <a:ea typeface="Arial"/>
                <a:cs typeface="Arial"/>
              </a:defRPr>
            </a:pPr>
            <a:r>
              <a:rPr sz="900" b="0">
                <a:solidFill>
                  <a:srgbClr val="222222"/>
                </a:solidFill>
                <a:latin typeface="Arial"/>
                <a:ea typeface="Arial"/>
                <a:cs typeface="Arial"/>
              </a:rPr>
              <a:t>AI supports literature study, coding, analysis and writing. Review and interpretation are included in the scheduled work.</a:t>
            </a:r>
          </a:p>
        </p:txBody>
      </p:sp>
      <p:sp>
        <p:nvSpPr>
          <p:cNvPr id="523" name="Footer 2">
            <a:extLst xmlns:a="http://schemas.openxmlformats.org/drawingml/2006/main">
              <a:ext uri="{FF2B5EF4-FFF2-40B4-BE49-F238E27FC236}">
                <a16:creationId xmlns:a16="http://schemas.microsoft.com/office/drawing/2014/main" id="{A3E4BFCE-ACF5-4E7F-A533-25AF8BD7307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3850" y="6591300"/>
            <a:ext cx="1128712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38100" tIns="0" rIns="3810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defRPr sz="840" b="0">
                <a:solidFill>
                  <a:srgbClr val="444444"/>
                </a:solidFill>
                <a:latin typeface="Arial"/>
                <a:ea typeface="Arial"/>
                <a:cs typeface="Arial"/>
              </a:defRPr>
            </a:pPr>
            <a:r>
              <a:rPr sz="840" b="0">
                <a:solidFill>
                  <a:srgbClr val="444444"/>
                </a:solidFill>
                <a:latin typeface="Arial"/>
                <a:ea typeface="Arial"/>
                <a:cs typeface="Arial"/>
              </a:rPr>
              <a:t>Columns show week starting dates, then months in 2027. Course dates follow the syllabus schedule. Research completion remains open.</a:t>
            </a:r>
          </a:p>
        </p:txBody>
      </p:sp>
      <p:sp>
        <p:nvSpPr>
          <p:cNvPr id="524" name="Page">
            <a:extLst xmlns:a="http://schemas.openxmlformats.org/drawingml/2006/main">
              <a:ext uri="{FF2B5EF4-FFF2-40B4-BE49-F238E27FC236}">
                <a16:creationId xmlns:a16="http://schemas.microsoft.com/office/drawing/2014/main" id="{EA07A163-829D-491F-92CB-76B0A096844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620500" y="6600825"/>
            <a:ext cx="228600" cy="1619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38100" tIns="0" rIns="38100" bIns="0" anchor="ctr">
            <a:noAutofit/>
          </a:bodyPr>
          <a:lstStyle xmlns:a="http://schemas.openxmlformats.org/drawingml/2006/main"/>
          <a:p xmlns:a="http://schemas.openxmlformats.org/drawingml/2006/main">
            <a:pPr algn="r">
              <a:defRPr sz="750" b="0">
                <a:solidFill>
                  <a:srgbClr val="111111"/>
                </a:solidFill>
                <a:latin typeface="Arial"/>
                <a:ea typeface="Arial"/>
                <a:cs typeface="Arial"/>
              </a:defRPr>
            </a:pPr>
            <a:r>
              <a:rPr sz="750" b="0">
                <a:solidFill>
                  <a:srgbClr val="111111"/>
                </a:solidFill>
                <a:latin typeface="Arial"/>
                <a:ea typeface="Arial"/>
                <a:cs typeface="Arial"/>
              </a:rPr>
              <a:t>1</a:t>
            </a:r>
          </a:p>
        </p:txBody>
      </p:sp>
      <p:sp>
        <p:nvSpPr>
          <p:cNvPr id="5001" name="Section Stages 1 and 2 | Representation analysis and defining alignment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3850" y="1285875"/>
            <a:ext cx="11525250" cy="2000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DE4EA"/>
          </a:solidFill>
          <a:ln xmlns:a="http://schemas.openxmlformats.org/drawingml/2006/main" w="0">
            <a:noFill/>
          </a:ln>
        </p:spPr>
        <p:txBody xmlns:a="http://schemas.openxmlformats.org/drawingml/2006/main">
          <a:bodyPr/>
          <a:p/>
        </p:txBody>
      </p:sp>
      <p:sp>
        <p:nvSpPr>
          <p:cNvPr id="5002" name="Section title Stages 1 and 2 | Representation analysis and defining alignment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2425" y="1285875"/>
            <a:ext cx="11468100" cy="2000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38100" tIns="0" rIns="3810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pPr>
            <a:r>
              <a:rPr sz="1050" b="1">
                <a:solidFill>
                  <a:srgbClr val="111111"/>
                </a:solidFill>
                <a:latin typeface="Arial"/>
                <a:ea typeface="Arial"/>
                <a:cs typeface="Arial"/>
              </a:rPr>
              <a:t>Stages 1 and 2 | Representation analysis and defining alignment</a:t>
            </a:r>
          </a:p>
        </p:txBody>
      </p:sp>
      <p:sp>
        <p:nvSpPr>
          <p:cNvPr id="5003" name="Week rule 0 2026-09-07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53050" y="1485900"/>
            <a:ext cx="0" cy="176857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3">
            <a:solidFill>
              <a:srgbClr val="DADADA"/>
            </a:solidFill>
          </a:ln>
        </p:spPr>
        <p:txBody xmlns:a="http://schemas.openxmlformats.org/drawingml/2006/main">
          <a:bodyPr/>
          <a:p/>
        </p:txBody>
      </p:sp>
      <p:sp>
        <p:nvSpPr>
          <p:cNvPr id="5004" name="Week rule 0 2026-09-14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51034" y="1485900"/>
            <a:ext cx="0" cy="176857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3">
            <a:solidFill>
              <a:srgbClr val="DADADA"/>
            </a:solidFill>
          </a:ln>
        </p:spPr>
        <p:txBody xmlns:a="http://schemas.openxmlformats.org/drawingml/2006/main">
          <a:bodyPr/>
          <a:p/>
        </p:txBody>
      </p:sp>
      <p:sp>
        <p:nvSpPr>
          <p:cNvPr id="5005" name="Week rule 0 2026-09-21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49018" y="1485900"/>
            <a:ext cx="0" cy="176857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3">
            <a:solidFill>
              <a:srgbClr val="DADADA"/>
            </a:solidFill>
          </a:ln>
        </p:spPr>
        <p:txBody xmlns:a="http://schemas.openxmlformats.org/drawingml/2006/main">
          <a:bodyPr/>
          <a:p/>
        </p:txBody>
      </p:sp>
      <p:sp>
        <p:nvSpPr>
          <p:cNvPr id="5006" name="Week rule 0 2026-09-28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47002" y="1485900"/>
            <a:ext cx="0" cy="176857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3">
            <a:solidFill>
              <a:srgbClr val="DADADA"/>
            </a:solidFill>
          </a:ln>
        </p:spPr>
        <p:txBody xmlns:a="http://schemas.openxmlformats.org/drawingml/2006/main">
          <a:bodyPr/>
          <a:p/>
        </p:txBody>
      </p:sp>
      <p:sp>
        <p:nvSpPr>
          <p:cNvPr id="5007" name="Week rule 0 2026-10-05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44986" y="1485900"/>
            <a:ext cx="0" cy="176857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3">
            <a:solidFill>
              <a:srgbClr val="DADADA"/>
            </a:solidFill>
          </a:ln>
        </p:spPr>
        <p:txBody xmlns:a="http://schemas.openxmlformats.org/drawingml/2006/main">
          <a:bodyPr/>
          <a:p/>
        </p:txBody>
      </p:sp>
      <p:sp>
        <p:nvSpPr>
          <p:cNvPr id="5008" name="Week rule 0 2026-10-12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42970" y="1485900"/>
            <a:ext cx="0" cy="176857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3">
            <a:solidFill>
              <a:srgbClr val="DADADA"/>
            </a:solidFill>
          </a:ln>
        </p:spPr>
        <p:txBody xmlns:a="http://schemas.openxmlformats.org/drawingml/2006/main">
          <a:bodyPr/>
          <a:p/>
        </p:txBody>
      </p:sp>
      <p:sp>
        <p:nvSpPr>
          <p:cNvPr id="5009" name="Week rule 0 2026-10-19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40954" y="1485900"/>
            <a:ext cx="0" cy="176857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3">
            <a:solidFill>
              <a:srgbClr val="DADADA"/>
            </a:solidFill>
          </a:ln>
        </p:spPr>
        <p:txBody xmlns:a="http://schemas.openxmlformats.org/drawingml/2006/main">
          <a:bodyPr/>
          <a:p/>
        </p:txBody>
      </p:sp>
      <p:sp>
        <p:nvSpPr>
          <p:cNvPr id="5010" name="Week rule 0 2026-10-26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38938" y="1485900"/>
            <a:ext cx="0" cy="176857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3">
            <a:solidFill>
              <a:srgbClr val="DADADA"/>
            </a:solidFill>
          </a:ln>
        </p:spPr>
        <p:txBody xmlns:a="http://schemas.openxmlformats.org/drawingml/2006/main">
          <a:bodyPr/>
          <a:p/>
        </p:txBody>
      </p:sp>
      <p:sp>
        <p:nvSpPr>
          <p:cNvPr id="5011" name="Week rule 0 2026-11-02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36922" y="1485900"/>
            <a:ext cx="0" cy="176857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3">
            <a:solidFill>
              <a:srgbClr val="DADADA"/>
            </a:solidFill>
          </a:ln>
        </p:spPr>
        <p:txBody xmlns:a="http://schemas.openxmlformats.org/drawingml/2006/main">
          <a:bodyPr/>
          <a:p/>
        </p:txBody>
      </p:sp>
      <p:sp>
        <p:nvSpPr>
          <p:cNvPr id="5012" name="Week rule 0 2026-11-09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34906" y="1485900"/>
            <a:ext cx="0" cy="176857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3">
            <a:solidFill>
              <a:srgbClr val="DADADA"/>
            </a:solidFill>
          </a:ln>
        </p:spPr>
        <p:txBody xmlns:a="http://schemas.openxmlformats.org/drawingml/2006/main">
          <a:bodyPr/>
          <a:p/>
        </p:txBody>
      </p:sp>
      <p:sp>
        <p:nvSpPr>
          <p:cNvPr id="5013" name="Week rule 0 2026-11-16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32890" y="1485900"/>
            <a:ext cx="0" cy="176857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3">
            <a:solidFill>
              <a:srgbClr val="DADADA"/>
            </a:solidFill>
          </a:ln>
        </p:spPr>
        <p:txBody xmlns:a="http://schemas.openxmlformats.org/drawingml/2006/main">
          <a:bodyPr/>
          <a:p/>
        </p:txBody>
      </p:sp>
      <p:sp>
        <p:nvSpPr>
          <p:cNvPr id="5014" name="Week rule 0 2026-11-23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30874" y="1485900"/>
            <a:ext cx="0" cy="176857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3">
            <a:solidFill>
              <a:srgbClr val="DADADA"/>
            </a:solidFill>
          </a:ln>
        </p:spPr>
        <p:txBody xmlns:a="http://schemas.openxmlformats.org/drawingml/2006/main">
          <a:bodyPr/>
          <a:p/>
        </p:txBody>
      </p:sp>
      <p:sp>
        <p:nvSpPr>
          <p:cNvPr id="5015" name="Week rule 0 2026-11-30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28858" y="1485900"/>
            <a:ext cx="0" cy="176857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3">
            <a:solidFill>
              <a:srgbClr val="DADADA"/>
            </a:solidFill>
          </a:ln>
        </p:spPr>
        <p:txBody xmlns:a="http://schemas.openxmlformats.org/drawingml/2006/main">
          <a:bodyPr/>
          <a:p/>
        </p:txBody>
      </p:sp>
      <p:sp>
        <p:nvSpPr>
          <p:cNvPr id="5016" name="Week rule 0 2026-12-07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26842" y="1485900"/>
            <a:ext cx="0" cy="176857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3">
            <a:solidFill>
              <a:srgbClr val="DADADA"/>
            </a:solidFill>
          </a:ln>
        </p:spPr>
        <p:txBody xmlns:a="http://schemas.openxmlformats.org/drawingml/2006/main">
          <a:bodyPr/>
          <a:p/>
        </p:txBody>
      </p:sp>
      <p:sp>
        <p:nvSpPr>
          <p:cNvPr id="5017" name="Week rule 0 2026-12-14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4826" y="1485900"/>
            <a:ext cx="0" cy="176857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3">
            <a:solidFill>
              <a:srgbClr val="DADADA"/>
            </a:solidFill>
          </a:ln>
        </p:spPr>
        <p:txBody xmlns:a="http://schemas.openxmlformats.org/drawingml/2006/main">
          <a:bodyPr/>
          <a:p/>
        </p:txBody>
      </p:sp>
      <p:sp>
        <p:nvSpPr>
          <p:cNvPr id="5018" name="Week rule 0 2026-12-21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822810" y="1485900"/>
            <a:ext cx="0" cy="176857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3">
            <a:solidFill>
              <a:srgbClr val="DADADA"/>
            </a:solidFill>
          </a:ln>
        </p:spPr>
        <p:txBody xmlns:a="http://schemas.openxmlformats.org/drawingml/2006/main">
          <a:bodyPr/>
          <a:p/>
        </p:txBody>
      </p:sp>
      <p:sp>
        <p:nvSpPr>
          <p:cNvPr id="5019" name="Week rule 0 2026-12-28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120794" y="1485900"/>
            <a:ext cx="0" cy="176857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3">
            <a:solidFill>
              <a:srgbClr val="DADADA"/>
            </a:solidFill>
          </a:ln>
        </p:spPr>
        <p:txBody xmlns:a="http://schemas.openxmlformats.org/drawingml/2006/main">
          <a:bodyPr/>
          <a:p/>
        </p:txBody>
      </p:sp>
      <p:sp>
        <p:nvSpPr>
          <p:cNvPr id="5020" name="Week rule 0 2027-01-04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18778" y="1485900"/>
            <a:ext cx="0" cy="176857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3">
            <a:solidFill>
              <a:srgbClr val="DADADA"/>
            </a:solidFill>
          </a:ln>
        </p:spPr>
        <p:txBody xmlns:a="http://schemas.openxmlformats.org/drawingml/2006/main">
          <a:bodyPr/>
          <a:p/>
        </p:txBody>
      </p:sp>
      <p:sp>
        <p:nvSpPr>
          <p:cNvPr id="5021" name="Week rule 0 2027-02-01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95552" y="1485900"/>
            <a:ext cx="0" cy="176857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3">
            <a:solidFill>
              <a:srgbClr val="DADADA"/>
            </a:solidFill>
          </a:ln>
        </p:spPr>
        <p:txBody xmlns:a="http://schemas.openxmlformats.org/drawingml/2006/main">
          <a:bodyPr/>
          <a:p/>
        </p:txBody>
      </p:sp>
      <p:sp>
        <p:nvSpPr>
          <p:cNvPr id="5022" name="Week rule 0 2027-03-01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72326" y="1485900"/>
            <a:ext cx="0" cy="176857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3">
            <a:solidFill>
              <a:srgbClr val="DADADA"/>
            </a:solidFill>
          </a:ln>
        </p:spPr>
        <p:txBody xmlns:a="http://schemas.openxmlformats.org/drawingml/2006/main">
          <a:bodyPr/>
          <a:p/>
        </p:txBody>
      </p:sp>
      <p:sp>
        <p:nvSpPr>
          <p:cNvPr id="5023" name="Task 0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2425" y="1485900"/>
            <a:ext cx="4152900" cy="176857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38100" tIns="0" rIns="3810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defRPr sz="938" b="0">
                <a:solidFill>
                  <a:srgbClr val="111111"/>
                </a:solidFill>
                <a:latin typeface="Arial"/>
                <a:ea typeface="Arial"/>
                <a:cs typeface="Arial"/>
              </a:defRPr>
            </a:pPr>
            <a:r>
              <a:rPr sz="938" b="0">
                <a:solidFill>
                  <a:srgbClr val="111111"/>
                </a:solidFill>
                <a:latin typeface="Arial"/>
                <a:ea typeface="Arial"/>
                <a:cs typeface="Arial"/>
              </a:rPr>
              <a:t>Initial six-paper review</a:t>
            </a:r>
          </a:p>
        </p:txBody>
      </p:sp>
      <p:sp>
        <p:nvSpPr>
          <p:cNvPr id="5024" name="Status 0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14850" y="1485900"/>
            <a:ext cx="838200" cy="176857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38100" tIns="0" rIns="3810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defRPr sz="848" b="0">
                <a:solidFill>
                  <a:srgbClr val="111111"/>
                </a:solidFill>
                <a:latin typeface="Arial"/>
                <a:ea typeface="Arial"/>
                <a:cs typeface="Arial"/>
              </a:defRPr>
            </a:pPr>
            <a:r>
              <a:rPr sz="848" b="0">
                <a:solidFill>
                  <a:srgbClr val="111111"/>
                </a:solidFill>
                <a:latin typeface="Arial"/>
                <a:ea typeface="Arial"/>
                <a:cs typeface="Arial"/>
              </a:rPr>
              <a:t>Complete</a:t>
            </a:r>
          </a:p>
        </p:txBody>
      </p:sp>
      <p:sp>
        <p:nvSpPr>
          <p:cNvPr id="5025" name="Bar 0 0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53050" y="1521941"/>
            <a:ext cx="297984" cy="1047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595959"/>
          </a:solidFill>
          <a:ln xmlns:a="http://schemas.openxmlformats.org/drawingml/2006/main" w="0">
            <a:noFill/>
          </a:ln>
        </p:spPr>
        <p:txBody xmlns:a="http://schemas.openxmlformats.org/drawingml/2006/main">
          <a:bodyPr/>
          <a:p/>
        </p:txBody>
      </p:sp>
      <p:sp>
        <p:nvSpPr>
          <p:cNvPr id="5026" name="Bar 0 1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51034" y="1521941"/>
            <a:ext cx="297984" cy="1047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595959"/>
          </a:solidFill>
          <a:ln xmlns:a="http://schemas.openxmlformats.org/drawingml/2006/main" w="0">
            <a:noFill/>
          </a:ln>
        </p:spPr>
        <p:txBody xmlns:a="http://schemas.openxmlformats.org/drawingml/2006/main">
          <a:bodyPr/>
          <a:p/>
        </p:txBody>
      </p:sp>
      <p:sp>
        <p:nvSpPr>
          <p:cNvPr id="5027" name="Bar 0 2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49018" y="1521941"/>
            <a:ext cx="42569" cy="1047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595959"/>
          </a:solidFill>
          <a:ln xmlns:a="http://schemas.openxmlformats.org/drawingml/2006/main" w="0">
            <a:noFill/>
          </a:ln>
        </p:spPr>
        <p:txBody xmlns:a="http://schemas.openxmlformats.org/drawingml/2006/main">
          <a:bodyPr/>
          <a:p/>
        </p:txBody>
      </p:sp>
      <p:sp>
        <p:nvSpPr>
          <p:cNvPr id="5028" name="Row rule 0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3850" y="1662757"/>
            <a:ext cx="115252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3">
            <a:solidFill>
              <a:srgbClr val="DADADA"/>
            </a:solidFill>
          </a:ln>
        </p:spPr>
        <p:txBody xmlns:a="http://schemas.openxmlformats.org/drawingml/2006/main">
          <a:bodyPr/>
          <a:p/>
        </p:txBody>
      </p:sp>
      <p:sp>
        <p:nvSpPr>
          <p:cNvPr id="5029" name="Row tint 1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3850" y="1662757"/>
            <a:ext cx="11525250" cy="176857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7F7F7"/>
          </a:solidFill>
          <a:ln xmlns:a="http://schemas.openxmlformats.org/drawingml/2006/main" w="0">
            <a:noFill/>
          </a:ln>
        </p:spPr>
        <p:txBody xmlns:a="http://schemas.openxmlformats.org/drawingml/2006/main">
          <a:bodyPr/>
          <a:p/>
        </p:txBody>
      </p:sp>
      <p:sp>
        <p:nvSpPr>
          <p:cNvPr id="5030" name="Week rule 1 2026-09-07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53050" y="1662757"/>
            <a:ext cx="0" cy="176857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3">
            <a:solidFill>
              <a:srgbClr val="DADADA"/>
            </a:solidFill>
          </a:ln>
        </p:spPr>
        <p:txBody xmlns:a="http://schemas.openxmlformats.org/drawingml/2006/main">
          <a:bodyPr/>
          <a:p/>
        </p:txBody>
      </p:sp>
      <p:sp>
        <p:nvSpPr>
          <p:cNvPr id="5031" name="Week rule 1 2026-09-14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51034" y="1662757"/>
            <a:ext cx="0" cy="176857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3">
            <a:solidFill>
              <a:srgbClr val="DADADA"/>
            </a:solidFill>
          </a:ln>
        </p:spPr>
        <p:txBody xmlns:a="http://schemas.openxmlformats.org/drawingml/2006/main">
          <a:bodyPr/>
          <a:p/>
        </p:txBody>
      </p:sp>
      <p:sp>
        <p:nvSpPr>
          <p:cNvPr id="5032" name="Week rule 1 2026-09-21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49018" y="1662757"/>
            <a:ext cx="0" cy="176857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3">
            <a:solidFill>
              <a:srgbClr val="DADADA"/>
            </a:solidFill>
          </a:ln>
        </p:spPr>
        <p:txBody xmlns:a="http://schemas.openxmlformats.org/drawingml/2006/main">
          <a:bodyPr/>
          <a:p/>
        </p:txBody>
      </p:sp>
      <p:sp>
        <p:nvSpPr>
          <p:cNvPr id="5033" name="Week rule 1 2026-09-28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47002" y="1662757"/>
            <a:ext cx="0" cy="176857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3">
            <a:solidFill>
              <a:srgbClr val="DADADA"/>
            </a:solidFill>
          </a:ln>
        </p:spPr>
        <p:txBody xmlns:a="http://schemas.openxmlformats.org/drawingml/2006/main">
          <a:bodyPr/>
          <a:p/>
        </p:txBody>
      </p:sp>
      <p:sp>
        <p:nvSpPr>
          <p:cNvPr id="5034" name="Week rule 1 2026-10-05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44986" y="1662757"/>
            <a:ext cx="0" cy="176857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3">
            <a:solidFill>
              <a:srgbClr val="DADADA"/>
            </a:solidFill>
          </a:ln>
        </p:spPr>
        <p:txBody xmlns:a="http://schemas.openxmlformats.org/drawingml/2006/main">
          <a:bodyPr/>
          <a:p/>
        </p:txBody>
      </p:sp>
      <p:sp>
        <p:nvSpPr>
          <p:cNvPr id="5035" name="Week rule 1 2026-10-12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42970" y="1662757"/>
            <a:ext cx="0" cy="176857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3">
            <a:solidFill>
              <a:srgbClr val="DADADA"/>
            </a:solidFill>
          </a:ln>
        </p:spPr>
        <p:txBody xmlns:a="http://schemas.openxmlformats.org/drawingml/2006/main">
          <a:bodyPr/>
          <a:p/>
        </p:txBody>
      </p:sp>
      <p:sp>
        <p:nvSpPr>
          <p:cNvPr id="5036" name="Week rule 1 2026-10-19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40954" y="1662757"/>
            <a:ext cx="0" cy="176857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3">
            <a:solidFill>
              <a:srgbClr val="DADADA"/>
            </a:solidFill>
          </a:ln>
        </p:spPr>
        <p:txBody xmlns:a="http://schemas.openxmlformats.org/drawingml/2006/main">
          <a:bodyPr/>
          <a:p/>
        </p:txBody>
      </p:sp>
      <p:sp>
        <p:nvSpPr>
          <p:cNvPr id="5037" name="Week rule 1 2026-10-26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38938" y="1662757"/>
            <a:ext cx="0" cy="176857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3">
            <a:solidFill>
              <a:srgbClr val="DADADA"/>
            </a:solidFill>
          </a:ln>
        </p:spPr>
        <p:txBody xmlns:a="http://schemas.openxmlformats.org/drawingml/2006/main">
          <a:bodyPr/>
          <a:p/>
        </p:txBody>
      </p:sp>
      <p:sp>
        <p:nvSpPr>
          <p:cNvPr id="5038" name="Week rule 1 2026-11-02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36922" y="1662757"/>
            <a:ext cx="0" cy="176857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3">
            <a:solidFill>
              <a:srgbClr val="DADADA"/>
            </a:solidFill>
          </a:ln>
        </p:spPr>
        <p:txBody xmlns:a="http://schemas.openxmlformats.org/drawingml/2006/main">
          <a:bodyPr/>
          <a:p/>
        </p:txBody>
      </p:sp>
      <p:sp>
        <p:nvSpPr>
          <p:cNvPr id="5039" name="Week rule 1 2026-11-09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34906" y="1662757"/>
            <a:ext cx="0" cy="176857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3">
            <a:solidFill>
              <a:srgbClr val="DADADA"/>
            </a:solidFill>
          </a:ln>
        </p:spPr>
        <p:txBody xmlns:a="http://schemas.openxmlformats.org/drawingml/2006/main">
          <a:bodyPr/>
          <a:p/>
        </p:txBody>
      </p:sp>
      <p:sp>
        <p:nvSpPr>
          <p:cNvPr id="5040" name="Week rule 1 2026-11-16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32890" y="1662757"/>
            <a:ext cx="0" cy="176857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3">
            <a:solidFill>
              <a:srgbClr val="DADADA"/>
            </a:solidFill>
          </a:ln>
        </p:spPr>
        <p:txBody xmlns:a="http://schemas.openxmlformats.org/drawingml/2006/main">
          <a:bodyPr/>
          <a:p/>
        </p:txBody>
      </p:sp>
      <p:sp>
        <p:nvSpPr>
          <p:cNvPr id="5041" name="Week rule 1 2026-11-23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30874" y="1662757"/>
            <a:ext cx="0" cy="176857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3">
            <a:solidFill>
              <a:srgbClr val="DADADA"/>
            </a:solidFill>
          </a:ln>
        </p:spPr>
        <p:txBody xmlns:a="http://schemas.openxmlformats.org/drawingml/2006/main">
          <a:bodyPr/>
          <a:p/>
        </p:txBody>
      </p:sp>
      <p:sp>
        <p:nvSpPr>
          <p:cNvPr id="5042" name="Week rule 1 2026-11-30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28858" y="1662757"/>
            <a:ext cx="0" cy="176857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3">
            <a:solidFill>
              <a:srgbClr val="DADADA"/>
            </a:solidFill>
          </a:ln>
        </p:spPr>
        <p:txBody xmlns:a="http://schemas.openxmlformats.org/drawingml/2006/main">
          <a:bodyPr/>
          <a:p/>
        </p:txBody>
      </p:sp>
      <p:sp>
        <p:nvSpPr>
          <p:cNvPr id="5043" name="Week rule 1 2026-12-07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26842" y="1662757"/>
            <a:ext cx="0" cy="176857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3">
            <a:solidFill>
              <a:srgbClr val="DADADA"/>
            </a:solidFill>
          </a:ln>
        </p:spPr>
        <p:txBody xmlns:a="http://schemas.openxmlformats.org/drawingml/2006/main">
          <a:bodyPr/>
          <a:p/>
        </p:txBody>
      </p:sp>
      <p:sp>
        <p:nvSpPr>
          <p:cNvPr id="5044" name="Week rule 1 2026-12-14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4826" y="1662757"/>
            <a:ext cx="0" cy="176857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3">
            <a:solidFill>
              <a:srgbClr val="DADADA"/>
            </a:solidFill>
          </a:ln>
        </p:spPr>
        <p:txBody xmlns:a="http://schemas.openxmlformats.org/drawingml/2006/main">
          <a:bodyPr/>
          <a:p/>
        </p:txBody>
      </p:sp>
      <p:sp>
        <p:nvSpPr>
          <p:cNvPr id="5045" name="Week rule 1 2026-12-21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822810" y="1662757"/>
            <a:ext cx="0" cy="176857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3">
            <a:solidFill>
              <a:srgbClr val="DADADA"/>
            </a:solidFill>
          </a:ln>
        </p:spPr>
        <p:txBody xmlns:a="http://schemas.openxmlformats.org/drawingml/2006/main">
          <a:bodyPr/>
          <a:p/>
        </p:txBody>
      </p:sp>
      <p:sp>
        <p:nvSpPr>
          <p:cNvPr id="5046" name="Week rule 1 2026-12-28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120794" y="1662757"/>
            <a:ext cx="0" cy="176857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3">
            <a:solidFill>
              <a:srgbClr val="DADADA"/>
            </a:solidFill>
          </a:ln>
        </p:spPr>
        <p:txBody xmlns:a="http://schemas.openxmlformats.org/drawingml/2006/main">
          <a:bodyPr/>
          <a:p/>
        </p:txBody>
      </p:sp>
      <p:sp>
        <p:nvSpPr>
          <p:cNvPr id="5047" name="Week rule 1 2027-01-04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18778" y="1662757"/>
            <a:ext cx="0" cy="176857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3">
            <a:solidFill>
              <a:srgbClr val="DADADA"/>
            </a:solidFill>
          </a:ln>
        </p:spPr>
        <p:txBody xmlns:a="http://schemas.openxmlformats.org/drawingml/2006/main">
          <a:bodyPr/>
          <a:p/>
        </p:txBody>
      </p:sp>
      <p:sp>
        <p:nvSpPr>
          <p:cNvPr id="5048" name="Week rule 1 2027-02-01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95552" y="1662757"/>
            <a:ext cx="0" cy="176857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3">
            <a:solidFill>
              <a:srgbClr val="DADADA"/>
            </a:solidFill>
          </a:ln>
        </p:spPr>
        <p:txBody xmlns:a="http://schemas.openxmlformats.org/drawingml/2006/main">
          <a:bodyPr/>
          <a:p/>
        </p:txBody>
      </p:sp>
      <p:sp>
        <p:nvSpPr>
          <p:cNvPr id="5049" name="Week rule 1 2027-03-01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72326" y="1662757"/>
            <a:ext cx="0" cy="176857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3">
            <a:solidFill>
              <a:srgbClr val="DADADA"/>
            </a:solidFill>
          </a:ln>
        </p:spPr>
        <p:txBody xmlns:a="http://schemas.openxmlformats.org/drawingml/2006/main">
          <a:bodyPr/>
          <a:p/>
        </p:txBody>
      </p:sp>
      <p:sp>
        <p:nvSpPr>
          <p:cNvPr id="5050" name="Task 1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2425" y="1662757"/>
            <a:ext cx="4152900" cy="176857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38100" tIns="0" rIns="3810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defRPr sz="938" b="0">
                <a:solidFill>
                  <a:srgbClr val="111111"/>
                </a:solidFill>
                <a:latin typeface="Arial"/>
                <a:ea typeface="Arial"/>
                <a:cs typeface="Arial"/>
              </a:defRPr>
            </a:pPr>
            <a:r>
              <a:rPr sz="938" b="0">
                <a:solidFill>
                  <a:srgbClr val="111111"/>
                </a:solidFill>
                <a:latin typeface="Arial"/>
                <a:ea typeface="Arial"/>
                <a:cs typeface="Arial"/>
              </a:rPr>
              <a:t>Paper discussion, data checks and interpretation</a:t>
            </a:r>
          </a:p>
        </p:txBody>
      </p:sp>
      <p:sp>
        <p:nvSpPr>
          <p:cNvPr id="5051" name="Status 1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14850" y="1662757"/>
            <a:ext cx="838200" cy="176857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38100" tIns="0" rIns="3810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defRPr sz="848" b="0">
                <a:solidFill>
                  <a:srgbClr val="111111"/>
                </a:solidFill>
                <a:latin typeface="Arial"/>
                <a:ea typeface="Arial"/>
                <a:cs typeface="Arial"/>
              </a:defRPr>
            </a:pPr>
            <a:r>
              <a:rPr sz="848" b="0">
                <a:solidFill>
                  <a:srgbClr val="111111"/>
                </a:solidFill>
                <a:latin typeface="Arial"/>
                <a:ea typeface="Arial"/>
                <a:cs typeface="Arial"/>
              </a:rPr>
              <a:t>In progress</a:t>
            </a:r>
          </a:p>
        </p:txBody>
      </p:sp>
      <p:sp>
        <p:nvSpPr>
          <p:cNvPr id="5052" name="Bar 1 0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49018" y="1698798"/>
            <a:ext cx="297984" cy="1047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CA323"/>
          </a:solidFill>
          <a:ln xmlns:a="http://schemas.openxmlformats.org/drawingml/2006/main" w="0">
            <a:noFill/>
          </a:ln>
        </p:spPr>
        <p:txBody xmlns:a="http://schemas.openxmlformats.org/drawingml/2006/main">
          <a:bodyPr/>
          <a:p/>
        </p:txBody>
      </p:sp>
      <p:sp>
        <p:nvSpPr>
          <p:cNvPr id="5053" name="Bar 1 1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47002" y="1698798"/>
            <a:ext cx="297984" cy="1047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CA323"/>
          </a:solidFill>
          <a:ln xmlns:a="http://schemas.openxmlformats.org/drawingml/2006/main" w="0">
            <a:noFill/>
          </a:ln>
        </p:spPr>
        <p:txBody xmlns:a="http://schemas.openxmlformats.org/drawingml/2006/main">
          <a:bodyPr/>
          <a:p/>
        </p:txBody>
      </p:sp>
      <p:sp>
        <p:nvSpPr>
          <p:cNvPr id="5054" name="Bar 1 2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44986" y="1698798"/>
            <a:ext cx="127707" cy="1047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CA323"/>
          </a:solidFill>
          <a:ln xmlns:a="http://schemas.openxmlformats.org/drawingml/2006/main" w="0">
            <a:noFill/>
          </a:ln>
        </p:spPr>
        <p:txBody xmlns:a="http://schemas.openxmlformats.org/drawingml/2006/main">
          <a:bodyPr/>
          <a:p/>
        </p:txBody>
      </p:sp>
      <p:sp>
        <p:nvSpPr>
          <p:cNvPr id="5055" name="Row rule 1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3850" y="1839614"/>
            <a:ext cx="115252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3">
            <a:solidFill>
              <a:srgbClr val="DADADA"/>
            </a:solidFill>
          </a:ln>
        </p:spPr>
        <p:txBody xmlns:a="http://schemas.openxmlformats.org/drawingml/2006/main">
          <a:bodyPr/>
          <a:p/>
        </p:txBody>
      </p:sp>
      <p:sp>
        <p:nvSpPr>
          <p:cNvPr id="5056" name="Week rule 2 2026-09-07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53050" y="1839614"/>
            <a:ext cx="0" cy="176857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3">
            <a:solidFill>
              <a:srgbClr val="DADADA"/>
            </a:solidFill>
          </a:ln>
        </p:spPr>
        <p:txBody xmlns:a="http://schemas.openxmlformats.org/drawingml/2006/main">
          <a:bodyPr/>
          <a:p/>
        </p:txBody>
      </p:sp>
      <p:sp>
        <p:nvSpPr>
          <p:cNvPr id="5057" name="Week rule 2 2026-09-14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51034" y="1839614"/>
            <a:ext cx="0" cy="176857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3">
            <a:solidFill>
              <a:srgbClr val="DADADA"/>
            </a:solidFill>
          </a:ln>
        </p:spPr>
        <p:txBody xmlns:a="http://schemas.openxmlformats.org/drawingml/2006/main">
          <a:bodyPr/>
          <a:p/>
        </p:txBody>
      </p:sp>
      <p:sp>
        <p:nvSpPr>
          <p:cNvPr id="5058" name="Week rule 2 2026-09-21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49018" y="1839614"/>
            <a:ext cx="0" cy="176857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3">
            <a:solidFill>
              <a:srgbClr val="DADADA"/>
            </a:solidFill>
          </a:ln>
        </p:spPr>
        <p:txBody xmlns:a="http://schemas.openxmlformats.org/drawingml/2006/main">
          <a:bodyPr/>
          <a:p/>
        </p:txBody>
      </p:sp>
      <p:sp>
        <p:nvSpPr>
          <p:cNvPr id="5059" name="Week rule 2 2026-09-28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47002" y="1839614"/>
            <a:ext cx="0" cy="176857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3">
            <a:solidFill>
              <a:srgbClr val="DADADA"/>
            </a:solidFill>
          </a:ln>
        </p:spPr>
        <p:txBody xmlns:a="http://schemas.openxmlformats.org/drawingml/2006/main">
          <a:bodyPr/>
          <a:p/>
        </p:txBody>
      </p:sp>
      <p:sp>
        <p:nvSpPr>
          <p:cNvPr id="5060" name="Week rule 2 2026-10-05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44986" y="1839614"/>
            <a:ext cx="0" cy="176857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3">
            <a:solidFill>
              <a:srgbClr val="DADADA"/>
            </a:solidFill>
          </a:ln>
        </p:spPr>
        <p:txBody xmlns:a="http://schemas.openxmlformats.org/drawingml/2006/main">
          <a:bodyPr/>
          <a:p/>
        </p:txBody>
      </p:sp>
      <p:sp>
        <p:nvSpPr>
          <p:cNvPr id="5061" name="Week rule 2 2026-10-12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42970" y="1839614"/>
            <a:ext cx="0" cy="176857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3">
            <a:solidFill>
              <a:srgbClr val="DADADA"/>
            </a:solidFill>
          </a:ln>
        </p:spPr>
        <p:txBody xmlns:a="http://schemas.openxmlformats.org/drawingml/2006/main">
          <a:bodyPr/>
          <a:p/>
        </p:txBody>
      </p:sp>
      <p:sp>
        <p:nvSpPr>
          <p:cNvPr id="5062" name="Week rule 2 2026-10-19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40954" y="1839614"/>
            <a:ext cx="0" cy="176857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3">
            <a:solidFill>
              <a:srgbClr val="DADADA"/>
            </a:solidFill>
          </a:ln>
        </p:spPr>
        <p:txBody xmlns:a="http://schemas.openxmlformats.org/drawingml/2006/main">
          <a:bodyPr/>
          <a:p/>
        </p:txBody>
      </p:sp>
      <p:sp>
        <p:nvSpPr>
          <p:cNvPr id="5063" name="Week rule 2 2026-10-26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38938" y="1839614"/>
            <a:ext cx="0" cy="176857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3">
            <a:solidFill>
              <a:srgbClr val="DADADA"/>
            </a:solidFill>
          </a:ln>
        </p:spPr>
        <p:txBody xmlns:a="http://schemas.openxmlformats.org/drawingml/2006/main">
          <a:bodyPr/>
          <a:p/>
        </p:txBody>
      </p:sp>
      <p:sp>
        <p:nvSpPr>
          <p:cNvPr id="5064" name="Week rule 2 2026-11-02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36922" y="1839614"/>
            <a:ext cx="0" cy="176857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3">
            <a:solidFill>
              <a:srgbClr val="DADADA"/>
            </a:solidFill>
          </a:ln>
        </p:spPr>
        <p:txBody xmlns:a="http://schemas.openxmlformats.org/drawingml/2006/main">
          <a:bodyPr/>
          <a:p/>
        </p:txBody>
      </p:sp>
      <p:sp>
        <p:nvSpPr>
          <p:cNvPr id="5065" name="Week rule 2 2026-11-09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34906" y="1839614"/>
            <a:ext cx="0" cy="176857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3">
            <a:solidFill>
              <a:srgbClr val="DADADA"/>
            </a:solidFill>
          </a:ln>
        </p:spPr>
        <p:txBody xmlns:a="http://schemas.openxmlformats.org/drawingml/2006/main">
          <a:bodyPr/>
          <a:p/>
        </p:txBody>
      </p:sp>
      <p:sp>
        <p:nvSpPr>
          <p:cNvPr id="5066" name="Week rule 2 2026-11-16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32890" y="1839614"/>
            <a:ext cx="0" cy="176857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3">
            <a:solidFill>
              <a:srgbClr val="DADADA"/>
            </a:solidFill>
          </a:ln>
        </p:spPr>
        <p:txBody xmlns:a="http://schemas.openxmlformats.org/drawingml/2006/main">
          <a:bodyPr/>
          <a:p/>
        </p:txBody>
      </p:sp>
      <p:sp>
        <p:nvSpPr>
          <p:cNvPr id="5067" name="Week rule 2 2026-11-23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30874" y="1839614"/>
            <a:ext cx="0" cy="176857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3">
            <a:solidFill>
              <a:srgbClr val="DADADA"/>
            </a:solidFill>
          </a:ln>
        </p:spPr>
        <p:txBody xmlns:a="http://schemas.openxmlformats.org/drawingml/2006/main">
          <a:bodyPr/>
          <a:p/>
        </p:txBody>
      </p:sp>
      <p:sp>
        <p:nvSpPr>
          <p:cNvPr id="5068" name="Week rule 2 2026-11-30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28858" y="1839614"/>
            <a:ext cx="0" cy="176857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3">
            <a:solidFill>
              <a:srgbClr val="DADADA"/>
            </a:solidFill>
          </a:ln>
        </p:spPr>
        <p:txBody xmlns:a="http://schemas.openxmlformats.org/drawingml/2006/main">
          <a:bodyPr/>
          <a:p/>
        </p:txBody>
      </p:sp>
      <p:sp>
        <p:nvSpPr>
          <p:cNvPr id="5069" name="Week rule 2 2026-12-07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26842" y="1839614"/>
            <a:ext cx="0" cy="176857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3">
            <a:solidFill>
              <a:srgbClr val="DADADA"/>
            </a:solidFill>
          </a:ln>
        </p:spPr>
        <p:txBody xmlns:a="http://schemas.openxmlformats.org/drawingml/2006/main">
          <a:bodyPr/>
          <a:p/>
        </p:txBody>
      </p:sp>
      <p:sp>
        <p:nvSpPr>
          <p:cNvPr id="5070" name="Week rule 2 2026-12-14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4826" y="1839614"/>
            <a:ext cx="0" cy="176857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3">
            <a:solidFill>
              <a:srgbClr val="DADADA"/>
            </a:solidFill>
          </a:ln>
        </p:spPr>
        <p:txBody xmlns:a="http://schemas.openxmlformats.org/drawingml/2006/main">
          <a:bodyPr/>
          <a:p/>
        </p:txBody>
      </p:sp>
      <p:sp>
        <p:nvSpPr>
          <p:cNvPr id="5071" name="Week rule 2 2026-12-21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822810" y="1839614"/>
            <a:ext cx="0" cy="176857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3">
            <a:solidFill>
              <a:srgbClr val="DADADA"/>
            </a:solidFill>
          </a:ln>
        </p:spPr>
        <p:txBody xmlns:a="http://schemas.openxmlformats.org/drawingml/2006/main">
          <a:bodyPr/>
          <a:p/>
        </p:txBody>
      </p:sp>
      <p:sp>
        <p:nvSpPr>
          <p:cNvPr id="5072" name="Week rule 2 2026-12-28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120794" y="1839614"/>
            <a:ext cx="0" cy="176857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3">
            <a:solidFill>
              <a:srgbClr val="DADADA"/>
            </a:solidFill>
          </a:ln>
        </p:spPr>
        <p:txBody xmlns:a="http://schemas.openxmlformats.org/drawingml/2006/main">
          <a:bodyPr/>
          <a:p/>
        </p:txBody>
      </p:sp>
      <p:sp>
        <p:nvSpPr>
          <p:cNvPr id="5073" name="Week rule 2 2027-01-04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18778" y="1839614"/>
            <a:ext cx="0" cy="176857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3">
            <a:solidFill>
              <a:srgbClr val="DADADA"/>
            </a:solidFill>
          </a:ln>
        </p:spPr>
        <p:txBody xmlns:a="http://schemas.openxmlformats.org/drawingml/2006/main">
          <a:bodyPr/>
          <a:p/>
        </p:txBody>
      </p:sp>
      <p:sp>
        <p:nvSpPr>
          <p:cNvPr id="5074" name="Week rule 2 2027-02-01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95552" y="1839614"/>
            <a:ext cx="0" cy="176857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3">
            <a:solidFill>
              <a:srgbClr val="DADADA"/>
            </a:solidFill>
          </a:ln>
        </p:spPr>
        <p:txBody xmlns:a="http://schemas.openxmlformats.org/drawingml/2006/main">
          <a:bodyPr/>
          <a:p/>
        </p:txBody>
      </p:sp>
      <p:sp>
        <p:nvSpPr>
          <p:cNvPr id="5075" name="Week rule 2 2027-03-01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72326" y="1839614"/>
            <a:ext cx="0" cy="176857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3">
            <a:solidFill>
              <a:srgbClr val="DADADA"/>
            </a:solidFill>
          </a:ln>
        </p:spPr>
        <p:txBody xmlns:a="http://schemas.openxmlformats.org/drawingml/2006/main">
          <a:bodyPr/>
          <a:p/>
        </p:txBody>
      </p:sp>
      <p:sp>
        <p:nvSpPr>
          <p:cNvPr id="5076" name="Task 2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2425" y="1839614"/>
            <a:ext cx="4152900" cy="176857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38100" tIns="0" rIns="3810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defRPr sz="938" b="0">
                <a:solidFill>
                  <a:srgbClr val="111111"/>
                </a:solidFill>
                <a:latin typeface="Arial"/>
                <a:ea typeface="Arial"/>
                <a:cs typeface="Arial"/>
              </a:defRPr>
            </a:pPr>
            <a:r>
              <a:rPr sz="938" b="0">
                <a:solidFill>
                  <a:srgbClr val="111111"/>
                </a:solidFill>
                <a:latin typeface="Arial"/>
                <a:ea typeface="Arial"/>
                <a:cs typeface="Arial"/>
              </a:rPr>
              <a:t>BioLangFusion/IsoFormer comparisons with DNA</a:t>
            </a:r>
          </a:p>
        </p:txBody>
      </p:sp>
      <p:sp>
        <p:nvSpPr>
          <p:cNvPr id="5077" name="Status 2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14850" y="1839614"/>
            <a:ext cx="838200" cy="176857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38100" tIns="0" rIns="3810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defRPr sz="848" b="0">
                <a:solidFill>
                  <a:srgbClr val="111111"/>
                </a:solidFill>
                <a:latin typeface="Arial"/>
                <a:ea typeface="Arial"/>
                <a:cs typeface="Arial"/>
              </a:defRPr>
            </a:pPr>
            <a:r>
              <a:rPr sz="848" b="0">
                <a:solidFill>
                  <a:srgbClr val="111111"/>
                </a:solidFill>
                <a:latin typeface="Arial"/>
                <a:ea typeface="Arial"/>
                <a:cs typeface="Arial"/>
              </a:rPr>
              <a:t>Complete</a:t>
            </a:r>
          </a:p>
        </p:txBody>
      </p:sp>
      <p:sp>
        <p:nvSpPr>
          <p:cNvPr id="5078" name="Bar 2 0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47002" y="1875655"/>
            <a:ext cx="255414" cy="1047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595959"/>
          </a:solidFill>
          <a:ln xmlns:a="http://schemas.openxmlformats.org/drawingml/2006/main" w="0">
            <a:noFill/>
          </a:ln>
        </p:spPr>
        <p:txBody xmlns:a="http://schemas.openxmlformats.org/drawingml/2006/main">
          <a:bodyPr/>
          <a:p/>
        </p:txBody>
      </p:sp>
      <p:sp>
        <p:nvSpPr>
          <p:cNvPr id="5079" name="Row rule 2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3850" y="2016471"/>
            <a:ext cx="115252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3">
            <a:solidFill>
              <a:srgbClr val="DADADA"/>
            </a:solidFill>
          </a:ln>
        </p:spPr>
        <p:txBody xmlns:a="http://schemas.openxmlformats.org/drawingml/2006/main">
          <a:bodyPr/>
          <a:p/>
        </p:txBody>
      </p:sp>
      <p:sp>
        <p:nvSpPr>
          <p:cNvPr id="5080" name="Row tint 3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3850" y="2016471"/>
            <a:ext cx="11525250" cy="176857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7F7F7"/>
          </a:solidFill>
          <a:ln xmlns:a="http://schemas.openxmlformats.org/drawingml/2006/main" w="0">
            <a:noFill/>
          </a:ln>
        </p:spPr>
        <p:txBody xmlns:a="http://schemas.openxmlformats.org/drawingml/2006/main">
          <a:bodyPr/>
          <a:p/>
        </p:txBody>
      </p:sp>
      <p:sp>
        <p:nvSpPr>
          <p:cNvPr id="5081" name="Week rule 3 2026-09-07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53050" y="2016471"/>
            <a:ext cx="0" cy="176857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3">
            <a:solidFill>
              <a:srgbClr val="DADADA"/>
            </a:solidFill>
          </a:ln>
        </p:spPr>
        <p:txBody xmlns:a="http://schemas.openxmlformats.org/drawingml/2006/main">
          <a:bodyPr/>
          <a:p/>
        </p:txBody>
      </p:sp>
      <p:sp>
        <p:nvSpPr>
          <p:cNvPr id="5082" name="Week rule 3 2026-09-14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51034" y="2016471"/>
            <a:ext cx="0" cy="176857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3">
            <a:solidFill>
              <a:srgbClr val="DADADA"/>
            </a:solidFill>
          </a:ln>
        </p:spPr>
        <p:txBody xmlns:a="http://schemas.openxmlformats.org/drawingml/2006/main">
          <a:bodyPr/>
          <a:p/>
        </p:txBody>
      </p:sp>
      <p:sp>
        <p:nvSpPr>
          <p:cNvPr id="5083" name="Week rule 3 2026-09-21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49018" y="2016471"/>
            <a:ext cx="0" cy="176857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3">
            <a:solidFill>
              <a:srgbClr val="DADADA"/>
            </a:solidFill>
          </a:ln>
        </p:spPr>
        <p:txBody xmlns:a="http://schemas.openxmlformats.org/drawingml/2006/main">
          <a:bodyPr/>
          <a:p/>
        </p:txBody>
      </p:sp>
      <p:sp>
        <p:nvSpPr>
          <p:cNvPr id="5084" name="Week rule 3 2026-09-28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47002" y="2016471"/>
            <a:ext cx="0" cy="176857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3">
            <a:solidFill>
              <a:srgbClr val="DADADA"/>
            </a:solidFill>
          </a:ln>
        </p:spPr>
        <p:txBody xmlns:a="http://schemas.openxmlformats.org/drawingml/2006/main">
          <a:bodyPr/>
          <a:p/>
        </p:txBody>
      </p:sp>
      <p:sp>
        <p:nvSpPr>
          <p:cNvPr id="5085" name="Week rule 3 2026-10-05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44986" y="2016471"/>
            <a:ext cx="0" cy="176857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3">
            <a:solidFill>
              <a:srgbClr val="DADADA"/>
            </a:solidFill>
          </a:ln>
        </p:spPr>
        <p:txBody xmlns:a="http://schemas.openxmlformats.org/drawingml/2006/main">
          <a:bodyPr/>
          <a:p/>
        </p:txBody>
      </p:sp>
      <p:sp>
        <p:nvSpPr>
          <p:cNvPr id="5086" name="Week rule 3 2026-10-12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42970" y="2016471"/>
            <a:ext cx="0" cy="176857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3">
            <a:solidFill>
              <a:srgbClr val="DADADA"/>
            </a:solidFill>
          </a:ln>
        </p:spPr>
        <p:txBody xmlns:a="http://schemas.openxmlformats.org/drawingml/2006/main">
          <a:bodyPr/>
          <a:p/>
        </p:txBody>
      </p:sp>
      <p:sp>
        <p:nvSpPr>
          <p:cNvPr id="5087" name="Week rule 3 2026-10-19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40954" y="2016471"/>
            <a:ext cx="0" cy="176857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3">
            <a:solidFill>
              <a:srgbClr val="DADADA"/>
            </a:solidFill>
          </a:ln>
        </p:spPr>
        <p:txBody xmlns:a="http://schemas.openxmlformats.org/drawingml/2006/main">
          <a:bodyPr/>
          <a:p/>
        </p:txBody>
      </p:sp>
      <p:sp>
        <p:nvSpPr>
          <p:cNvPr id="5088" name="Week rule 3 2026-10-26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38938" y="2016471"/>
            <a:ext cx="0" cy="176857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3">
            <a:solidFill>
              <a:srgbClr val="DADADA"/>
            </a:solidFill>
          </a:ln>
        </p:spPr>
        <p:txBody xmlns:a="http://schemas.openxmlformats.org/drawingml/2006/main">
          <a:bodyPr/>
          <a:p/>
        </p:txBody>
      </p:sp>
      <p:sp>
        <p:nvSpPr>
          <p:cNvPr id="5089" name="Week rule 3 2026-11-02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36922" y="2016471"/>
            <a:ext cx="0" cy="176857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3">
            <a:solidFill>
              <a:srgbClr val="DADADA"/>
            </a:solidFill>
          </a:ln>
        </p:spPr>
        <p:txBody xmlns:a="http://schemas.openxmlformats.org/drawingml/2006/main">
          <a:bodyPr/>
          <a:p/>
        </p:txBody>
      </p:sp>
      <p:sp>
        <p:nvSpPr>
          <p:cNvPr id="5090" name="Week rule 3 2026-11-09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34906" y="2016471"/>
            <a:ext cx="0" cy="176857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3">
            <a:solidFill>
              <a:srgbClr val="DADADA"/>
            </a:solidFill>
          </a:ln>
        </p:spPr>
        <p:txBody xmlns:a="http://schemas.openxmlformats.org/drawingml/2006/main">
          <a:bodyPr/>
          <a:p/>
        </p:txBody>
      </p:sp>
      <p:sp>
        <p:nvSpPr>
          <p:cNvPr id="5091" name="Week rule 3 2026-11-16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32890" y="2016471"/>
            <a:ext cx="0" cy="176857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3">
            <a:solidFill>
              <a:srgbClr val="DADADA"/>
            </a:solidFill>
          </a:ln>
        </p:spPr>
        <p:txBody xmlns:a="http://schemas.openxmlformats.org/drawingml/2006/main">
          <a:bodyPr/>
          <a:p/>
        </p:txBody>
      </p:sp>
      <p:sp>
        <p:nvSpPr>
          <p:cNvPr id="5092" name="Week rule 3 2026-11-23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30874" y="2016471"/>
            <a:ext cx="0" cy="176857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3">
            <a:solidFill>
              <a:srgbClr val="DADADA"/>
            </a:solidFill>
          </a:ln>
        </p:spPr>
        <p:txBody xmlns:a="http://schemas.openxmlformats.org/drawingml/2006/main">
          <a:bodyPr/>
          <a:p/>
        </p:txBody>
      </p:sp>
      <p:sp>
        <p:nvSpPr>
          <p:cNvPr id="5093" name="Week rule 3 2026-11-30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28858" y="2016471"/>
            <a:ext cx="0" cy="176857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3">
            <a:solidFill>
              <a:srgbClr val="DADADA"/>
            </a:solidFill>
          </a:ln>
        </p:spPr>
        <p:txBody xmlns:a="http://schemas.openxmlformats.org/drawingml/2006/main">
          <a:bodyPr/>
          <a:p/>
        </p:txBody>
      </p:sp>
      <p:sp>
        <p:nvSpPr>
          <p:cNvPr id="5094" name="Week rule 3 2026-12-07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26842" y="2016471"/>
            <a:ext cx="0" cy="176857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3">
            <a:solidFill>
              <a:srgbClr val="DADADA"/>
            </a:solidFill>
          </a:ln>
        </p:spPr>
        <p:txBody xmlns:a="http://schemas.openxmlformats.org/drawingml/2006/main">
          <a:bodyPr/>
          <a:p/>
        </p:txBody>
      </p:sp>
      <p:sp>
        <p:nvSpPr>
          <p:cNvPr id="5095" name="Week rule 3 2026-12-14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4826" y="2016471"/>
            <a:ext cx="0" cy="176857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3">
            <a:solidFill>
              <a:srgbClr val="DADADA"/>
            </a:solidFill>
          </a:ln>
        </p:spPr>
        <p:txBody xmlns:a="http://schemas.openxmlformats.org/drawingml/2006/main">
          <a:bodyPr/>
          <a:p/>
        </p:txBody>
      </p:sp>
      <p:sp>
        <p:nvSpPr>
          <p:cNvPr id="5096" name="Week rule 3 2026-12-21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822810" y="2016471"/>
            <a:ext cx="0" cy="176857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3">
            <a:solidFill>
              <a:srgbClr val="DADADA"/>
            </a:solidFill>
          </a:ln>
        </p:spPr>
        <p:txBody xmlns:a="http://schemas.openxmlformats.org/drawingml/2006/main">
          <a:bodyPr/>
          <a:p/>
        </p:txBody>
      </p:sp>
      <p:sp>
        <p:nvSpPr>
          <p:cNvPr id="5097" name="Week rule 3 2026-12-28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120794" y="2016471"/>
            <a:ext cx="0" cy="176857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3">
            <a:solidFill>
              <a:srgbClr val="DADADA"/>
            </a:solidFill>
          </a:ln>
        </p:spPr>
        <p:txBody xmlns:a="http://schemas.openxmlformats.org/drawingml/2006/main">
          <a:bodyPr/>
          <a:p/>
        </p:txBody>
      </p:sp>
      <p:sp>
        <p:nvSpPr>
          <p:cNvPr id="5098" name="Week rule 3 2027-01-04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18778" y="2016471"/>
            <a:ext cx="0" cy="176857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3">
            <a:solidFill>
              <a:srgbClr val="DADADA"/>
            </a:solidFill>
          </a:ln>
        </p:spPr>
        <p:txBody xmlns:a="http://schemas.openxmlformats.org/drawingml/2006/main">
          <a:bodyPr/>
          <a:p/>
        </p:txBody>
      </p:sp>
      <p:sp>
        <p:nvSpPr>
          <p:cNvPr id="5099" name="Week rule 3 2027-02-01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95552" y="2016471"/>
            <a:ext cx="0" cy="176857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3">
            <a:solidFill>
              <a:srgbClr val="DADADA"/>
            </a:solidFill>
          </a:ln>
        </p:spPr>
        <p:txBody xmlns:a="http://schemas.openxmlformats.org/drawingml/2006/main">
          <a:bodyPr/>
          <a:p/>
        </p:txBody>
      </p:sp>
      <p:sp>
        <p:nvSpPr>
          <p:cNvPr id="5100" name="Week rule 3 2027-03-01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72326" y="2016471"/>
            <a:ext cx="0" cy="176857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3">
            <a:solidFill>
              <a:srgbClr val="DADADA"/>
            </a:solidFill>
          </a:ln>
        </p:spPr>
        <p:txBody xmlns:a="http://schemas.openxmlformats.org/drawingml/2006/main">
          <a:bodyPr/>
          <a:p/>
        </p:txBody>
      </p:sp>
      <p:sp>
        <p:nvSpPr>
          <p:cNvPr id="5101" name="Task 3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2425" y="2016471"/>
            <a:ext cx="4152900" cy="176857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38100" tIns="0" rIns="3810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defRPr sz="938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pPr>
            <a:r>
              <a:rPr sz="938" b="1">
                <a:solidFill>
                  <a:srgbClr val="111111"/>
                </a:solidFill>
                <a:latin typeface="Arial"/>
                <a:ea typeface="Arial"/>
                <a:cs typeface="Arial"/>
              </a:rPr>
              <a:t>Oct 7 review and working alignment definition</a:t>
            </a:r>
          </a:p>
        </p:txBody>
      </p:sp>
      <p:sp>
        <p:nvSpPr>
          <p:cNvPr id="5102" name="Status 3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14850" y="2016471"/>
            <a:ext cx="838200" cy="176857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38100" tIns="0" rIns="3810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defRPr sz="848" b="0">
                <a:solidFill>
                  <a:srgbClr val="111111"/>
                </a:solidFill>
                <a:latin typeface="Arial"/>
                <a:ea typeface="Arial"/>
                <a:cs typeface="Arial"/>
              </a:defRPr>
            </a:pPr>
            <a:r>
              <a:rPr sz="848" b="0">
                <a:solidFill>
                  <a:srgbClr val="111111"/>
                </a:solidFill>
                <a:latin typeface="Arial"/>
                <a:ea typeface="Arial"/>
                <a:cs typeface="Arial"/>
              </a:rPr>
              <a:t>Planned</a:t>
            </a:r>
          </a:p>
        </p:txBody>
      </p:sp>
      <p:sp>
        <p:nvSpPr>
          <p:cNvPr id="5103" name="Milestone 3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03783" y="2057274"/>
            <a:ext cx="95250" cy="95250"/>
          </a:xfrm>
          <a:prstGeom xmlns:a="http://schemas.openxmlformats.org/drawingml/2006/main" prst="diamond">
            <a:avLst/>
          </a:prstGeom>
          <a:solidFill xmlns:a="http://schemas.openxmlformats.org/drawingml/2006/main">
            <a:srgbClr val="111111"/>
          </a:solidFill>
          <a:ln xmlns:a="http://schemas.openxmlformats.org/drawingml/2006/main" w="0">
            <a:noFill/>
          </a:ln>
        </p:spPr>
        <p:txBody xmlns:a="http://schemas.openxmlformats.org/drawingml/2006/main">
          <a:bodyPr/>
          <a:p/>
        </p:txBody>
      </p:sp>
      <p:sp>
        <p:nvSpPr>
          <p:cNvPr id="5104" name="Row rule 3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3850" y="2193328"/>
            <a:ext cx="115252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3">
            <a:solidFill>
              <a:srgbClr val="DADADA"/>
            </a:solidFill>
          </a:ln>
        </p:spPr>
        <p:txBody xmlns:a="http://schemas.openxmlformats.org/drawingml/2006/main">
          <a:bodyPr/>
          <a:p/>
        </p:txBody>
      </p:sp>
      <p:sp>
        <p:nvSpPr>
          <p:cNvPr id="5105" name="Week rule 4 2026-09-07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53050" y="2193328"/>
            <a:ext cx="0" cy="176857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3">
            <a:solidFill>
              <a:srgbClr val="DADADA"/>
            </a:solidFill>
          </a:ln>
        </p:spPr>
        <p:txBody xmlns:a="http://schemas.openxmlformats.org/drawingml/2006/main">
          <a:bodyPr/>
          <a:p/>
        </p:txBody>
      </p:sp>
      <p:sp>
        <p:nvSpPr>
          <p:cNvPr id="5106" name="Week rule 4 2026-09-14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51034" y="2193328"/>
            <a:ext cx="0" cy="176857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3">
            <a:solidFill>
              <a:srgbClr val="DADADA"/>
            </a:solidFill>
          </a:ln>
        </p:spPr>
        <p:txBody xmlns:a="http://schemas.openxmlformats.org/drawingml/2006/main">
          <a:bodyPr/>
          <a:p/>
        </p:txBody>
      </p:sp>
      <p:sp>
        <p:nvSpPr>
          <p:cNvPr id="5107" name="Week rule 4 2026-09-21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49018" y="2193328"/>
            <a:ext cx="0" cy="176857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3">
            <a:solidFill>
              <a:srgbClr val="DADADA"/>
            </a:solidFill>
          </a:ln>
        </p:spPr>
        <p:txBody xmlns:a="http://schemas.openxmlformats.org/drawingml/2006/main">
          <a:bodyPr/>
          <a:p/>
        </p:txBody>
      </p:sp>
      <p:sp>
        <p:nvSpPr>
          <p:cNvPr id="5108" name="Week rule 4 2026-09-28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47002" y="2193328"/>
            <a:ext cx="0" cy="176857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3">
            <a:solidFill>
              <a:srgbClr val="DADADA"/>
            </a:solidFill>
          </a:ln>
        </p:spPr>
        <p:txBody xmlns:a="http://schemas.openxmlformats.org/drawingml/2006/main">
          <a:bodyPr/>
          <a:p/>
        </p:txBody>
      </p:sp>
      <p:sp>
        <p:nvSpPr>
          <p:cNvPr id="5109" name="Week rule 4 2026-10-05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44986" y="2193328"/>
            <a:ext cx="0" cy="176857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3">
            <a:solidFill>
              <a:srgbClr val="DADADA"/>
            </a:solidFill>
          </a:ln>
        </p:spPr>
        <p:txBody xmlns:a="http://schemas.openxmlformats.org/drawingml/2006/main">
          <a:bodyPr/>
          <a:p/>
        </p:txBody>
      </p:sp>
      <p:sp>
        <p:nvSpPr>
          <p:cNvPr id="5110" name="Week rule 4 2026-10-12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42970" y="2193328"/>
            <a:ext cx="0" cy="176857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3">
            <a:solidFill>
              <a:srgbClr val="DADADA"/>
            </a:solidFill>
          </a:ln>
        </p:spPr>
        <p:txBody xmlns:a="http://schemas.openxmlformats.org/drawingml/2006/main">
          <a:bodyPr/>
          <a:p/>
        </p:txBody>
      </p:sp>
      <p:sp>
        <p:nvSpPr>
          <p:cNvPr id="5111" name="Week rule 4 2026-10-19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40954" y="2193328"/>
            <a:ext cx="0" cy="176857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3">
            <a:solidFill>
              <a:srgbClr val="DADADA"/>
            </a:solidFill>
          </a:ln>
        </p:spPr>
        <p:txBody xmlns:a="http://schemas.openxmlformats.org/drawingml/2006/main">
          <a:bodyPr/>
          <a:p/>
        </p:txBody>
      </p:sp>
      <p:sp>
        <p:nvSpPr>
          <p:cNvPr id="5112" name="Week rule 4 2026-10-26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38938" y="2193328"/>
            <a:ext cx="0" cy="176857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3">
            <a:solidFill>
              <a:srgbClr val="DADADA"/>
            </a:solidFill>
          </a:ln>
        </p:spPr>
        <p:txBody xmlns:a="http://schemas.openxmlformats.org/drawingml/2006/main">
          <a:bodyPr/>
          <a:p/>
        </p:txBody>
      </p:sp>
      <p:sp>
        <p:nvSpPr>
          <p:cNvPr id="5113" name="Week rule 4 2026-11-02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36922" y="2193328"/>
            <a:ext cx="0" cy="176857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3">
            <a:solidFill>
              <a:srgbClr val="DADADA"/>
            </a:solidFill>
          </a:ln>
        </p:spPr>
        <p:txBody xmlns:a="http://schemas.openxmlformats.org/drawingml/2006/main">
          <a:bodyPr/>
          <a:p/>
        </p:txBody>
      </p:sp>
      <p:sp>
        <p:nvSpPr>
          <p:cNvPr id="5114" name="Week rule 4 2026-11-09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34906" y="2193328"/>
            <a:ext cx="0" cy="176857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3">
            <a:solidFill>
              <a:srgbClr val="DADADA"/>
            </a:solidFill>
          </a:ln>
        </p:spPr>
        <p:txBody xmlns:a="http://schemas.openxmlformats.org/drawingml/2006/main">
          <a:bodyPr/>
          <a:p/>
        </p:txBody>
      </p:sp>
      <p:sp>
        <p:nvSpPr>
          <p:cNvPr id="5115" name="Week rule 4 2026-11-16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32890" y="2193328"/>
            <a:ext cx="0" cy="176857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3">
            <a:solidFill>
              <a:srgbClr val="DADADA"/>
            </a:solidFill>
          </a:ln>
        </p:spPr>
        <p:txBody xmlns:a="http://schemas.openxmlformats.org/drawingml/2006/main">
          <a:bodyPr/>
          <a:p/>
        </p:txBody>
      </p:sp>
      <p:sp>
        <p:nvSpPr>
          <p:cNvPr id="5116" name="Week rule 4 2026-11-23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30874" y="2193328"/>
            <a:ext cx="0" cy="176857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3">
            <a:solidFill>
              <a:srgbClr val="DADADA"/>
            </a:solidFill>
          </a:ln>
        </p:spPr>
        <p:txBody xmlns:a="http://schemas.openxmlformats.org/drawingml/2006/main">
          <a:bodyPr/>
          <a:p/>
        </p:txBody>
      </p:sp>
      <p:sp>
        <p:nvSpPr>
          <p:cNvPr id="5117" name="Week rule 4 2026-11-30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28858" y="2193328"/>
            <a:ext cx="0" cy="176857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3">
            <a:solidFill>
              <a:srgbClr val="DADADA"/>
            </a:solidFill>
          </a:ln>
        </p:spPr>
        <p:txBody xmlns:a="http://schemas.openxmlformats.org/drawingml/2006/main">
          <a:bodyPr/>
          <a:p/>
        </p:txBody>
      </p:sp>
      <p:sp>
        <p:nvSpPr>
          <p:cNvPr id="5118" name="Week rule 4 2026-12-07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26842" y="2193328"/>
            <a:ext cx="0" cy="176857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3">
            <a:solidFill>
              <a:srgbClr val="DADADA"/>
            </a:solidFill>
          </a:ln>
        </p:spPr>
        <p:txBody xmlns:a="http://schemas.openxmlformats.org/drawingml/2006/main">
          <a:bodyPr/>
          <a:p/>
        </p:txBody>
      </p:sp>
      <p:sp>
        <p:nvSpPr>
          <p:cNvPr id="5119" name="Week rule 4 2026-12-14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4826" y="2193328"/>
            <a:ext cx="0" cy="176857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3">
            <a:solidFill>
              <a:srgbClr val="DADADA"/>
            </a:solidFill>
          </a:ln>
        </p:spPr>
        <p:txBody xmlns:a="http://schemas.openxmlformats.org/drawingml/2006/main">
          <a:bodyPr/>
          <a:p/>
        </p:txBody>
      </p:sp>
      <p:sp>
        <p:nvSpPr>
          <p:cNvPr id="5120" name="Week rule 4 2026-12-21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822810" y="2193328"/>
            <a:ext cx="0" cy="176857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3">
            <a:solidFill>
              <a:srgbClr val="DADADA"/>
            </a:solidFill>
          </a:ln>
        </p:spPr>
        <p:txBody xmlns:a="http://schemas.openxmlformats.org/drawingml/2006/main">
          <a:bodyPr/>
          <a:p/>
        </p:txBody>
      </p:sp>
      <p:sp>
        <p:nvSpPr>
          <p:cNvPr id="5121" name="Week rule 4 2026-12-28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120794" y="2193328"/>
            <a:ext cx="0" cy="176857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3">
            <a:solidFill>
              <a:srgbClr val="DADADA"/>
            </a:solidFill>
          </a:ln>
        </p:spPr>
        <p:txBody xmlns:a="http://schemas.openxmlformats.org/drawingml/2006/main">
          <a:bodyPr/>
          <a:p/>
        </p:txBody>
      </p:sp>
      <p:sp>
        <p:nvSpPr>
          <p:cNvPr id="5122" name="Week rule 4 2027-01-04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18778" y="2193328"/>
            <a:ext cx="0" cy="176857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3">
            <a:solidFill>
              <a:srgbClr val="DADADA"/>
            </a:solidFill>
          </a:ln>
        </p:spPr>
        <p:txBody xmlns:a="http://schemas.openxmlformats.org/drawingml/2006/main">
          <a:bodyPr/>
          <a:p/>
        </p:txBody>
      </p:sp>
      <p:sp>
        <p:nvSpPr>
          <p:cNvPr id="5123" name="Week rule 4 2027-02-01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95552" y="2193328"/>
            <a:ext cx="0" cy="176857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3">
            <a:solidFill>
              <a:srgbClr val="DADADA"/>
            </a:solidFill>
          </a:ln>
        </p:spPr>
        <p:txBody xmlns:a="http://schemas.openxmlformats.org/drawingml/2006/main">
          <a:bodyPr/>
          <a:p/>
        </p:txBody>
      </p:sp>
      <p:sp>
        <p:nvSpPr>
          <p:cNvPr id="5124" name="Week rule 4 2027-03-01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72326" y="2193328"/>
            <a:ext cx="0" cy="176857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3">
            <a:solidFill>
              <a:srgbClr val="DADADA"/>
            </a:solidFill>
          </a:ln>
        </p:spPr>
        <p:txBody xmlns:a="http://schemas.openxmlformats.org/drawingml/2006/main">
          <a:bodyPr/>
          <a:p/>
        </p:txBody>
      </p:sp>
      <p:sp>
        <p:nvSpPr>
          <p:cNvPr id="5125" name="Task 4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2425" y="2193328"/>
            <a:ext cx="4152900" cy="176857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38100" tIns="0" rIns="3810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defRPr sz="938" b="0">
                <a:solidFill>
                  <a:srgbClr val="111111"/>
                </a:solidFill>
                <a:latin typeface="Arial"/>
                <a:ea typeface="Arial"/>
                <a:cs typeface="Arial"/>
              </a:defRPr>
            </a:pPr>
            <a:r>
              <a:rPr sz="938" b="0">
                <a:solidFill>
                  <a:srgbClr val="111111"/>
                </a:solidFill>
                <a:latin typeface="Arial"/>
                <a:ea typeface="Arial"/>
                <a:cs typeface="Arial"/>
              </a:rPr>
              <a:t>Feedback revisions and comparison protocol</a:t>
            </a:r>
          </a:p>
        </p:txBody>
      </p:sp>
      <p:sp>
        <p:nvSpPr>
          <p:cNvPr id="5126" name="Status 4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14850" y="2193328"/>
            <a:ext cx="838200" cy="176857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38100" tIns="0" rIns="3810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defRPr sz="848" b="0">
                <a:solidFill>
                  <a:srgbClr val="111111"/>
                </a:solidFill>
                <a:latin typeface="Arial"/>
                <a:ea typeface="Arial"/>
                <a:cs typeface="Arial"/>
              </a:defRPr>
            </a:pPr>
            <a:r>
              <a:rPr sz="848" b="0">
                <a:solidFill>
                  <a:srgbClr val="111111"/>
                </a:solidFill>
                <a:latin typeface="Arial"/>
                <a:ea typeface="Arial"/>
                <a:cs typeface="Arial"/>
              </a:rPr>
              <a:t>Planned</a:t>
            </a:r>
          </a:p>
        </p:txBody>
      </p:sp>
      <p:sp>
        <p:nvSpPr>
          <p:cNvPr id="5127" name="Bar 4 0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72693" y="2229369"/>
            <a:ext cx="170276" cy="1047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7BEC4"/>
          </a:solidFill>
          <a:ln xmlns:a="http://schemas.openxmlformats.org/drawingml/2006/main" w="0">
            <a:noFill/>
          </a:ln>
        </p:spPr>
        <p:txBody xmlns:a="http://schemas.openxmlformats.org/drawingml/2006/main">
          <a:bodyPr/>
          <a:p/>
        </p:txBody>
      </p:sp>
      <p:sp>
        <p:nvSpPr>
          <p:cNvPr id="5128" name="Row rule 4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3850" y="2370185"/>
            <a:ext cx="115252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3">
            <a:solidFill>
              <a:srgbClr val="DADADA"/>
            </a:solidFill>
          </a:ln>
        </p:spPr>
        <p:txBody xmlns:a="http://schemas.openxmlformats.org/drawingml/2006/main">
          <a:bodyPr/>
          <a:p/>
        </p:txBody>
      </p:sp>
      <p:sp>
        <p:nvSpPr>
          <p:cNvPr id="5129" name="Section Stages 3 and 4 | The research plan first, then the fusion designs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3850" y="2370185"/>
            <a:ext cx="11525250" cy="2000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DE4EA"/>
          </a:solidFill>
          <a:ln xmlns:a="http://schemas.openxmlformats.org/drawingml/2006/main" w="0">
            <a:noFill/>
          </a:ln>
        </p:spPr>
        <p:txBody xmlns:a="http://schemas.openxmlformats.org/drawingml/2006/main">
          <a:bodyPr/>
          <a:p/>
        </p:txBody>
      </p:sp>
      <p:sp>
        <p:nvSpPr>
          <p:cNvPr id="5130" name="Section title Stages 3 and 4 | The research plan first, then the fusion designs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2425" y="2370185"/>
            <a:ext cx="11468100" cy="2000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38100" tIns="0" rIns="3810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pPr>
            <a:r>
              <a:rPr sz="1050" b="1">
                <a:solidFill>
                  <a:srgbClr val="111111"/>
                </a:solidFill>
                <a:latin typeface="Arial"/>
                <a:ea typeface="Arial"/>
                <a:cs typeface="Arial"/>
              </a:rPr>
              <a:t>Stages 3 and 4 | The research plan first, then the fusion designs</a:t>
            </a:r>
          </a:p>
        </p:txBody>
      </p:sp>
      <p:sp>
        <p:nvSpPr>
          <p:cNvPr id="5131" name="Row tint 5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3850" y="2570210"/>
            <a:ext cx="11525250" cy="176857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7F7F7"/>
          </a:solidFill>
          <a:ln xmlns:a="http://schemas.openxmlformats.org/drawingml/2006/main" w="0">
            <a:noFill/>
          </a:ln>
        </p:spPr>
        <p:txBody xmlns:a="http://schemas.openxmlformats.org/drawingml/2006/main">
          <a:bodyPr/>
          <a:p/>
        </p:txBody>
      </p:sp>
      <p:sp>
        <p:nvSpPr>
          <p:cNvPr id="5132" name="Week rule 5 2026-09-07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53050" y="2570210"/>
            <a:ext cx="0" cy="176857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3">
            <a:solidFill>
              <a:srgbClr val="DADADA"/>
            </a:solidFill>
          </a:ln>
        </p:spPr>
        <p:txBody xmlns:a="http://schemas.openxmlformats.org/drawingml/2006/main">
          <a:bodyPr/>
          <a:p/>
        </p:txBody>
      </p:sp>
      <p:sp>
        <p:nvSpPr>
          <p:cNvPr id="5133" name="Week rule 5 2026-09-14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51034" y="2570210"/>
            <a:ext cx="0" cy="176857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3">
            <a:solidFill>
              <a:srgbClr val="DADADA"/>
            </a:solidFill>
          </a:ln>
        </p:spPr>
        <p:txBody xmlns:a="http://schemas.openxmlformats.org/drawingml/2006/main">
          <a:bodyPr/>
          <a:p/>
        </p:txBody>
      </p:sp>
      <p:sp>
        <p:nvSpPr>
          <p:cNvPr id="5134" name="Week rule 5 2026-09-21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49018" y="2570210"/>
            <a:ext cx="0" cy="176857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3">
            <a:solidFill>
              <a:srgbClr val="DADADA"/>
            </a:solidFill>
          </a:ln>
        </p:spPr>
        <p:txBody xmlns:a="http://schemas.openxmlformats.org/drawingml/2006/main">
          <a:bodyPr/>
          <a:p/>
        </p:txBody>
      </p:sp>
      <p:sp>
        <p:nvSpPr>
          <p:cNvPr id="5135" name="Week rule 5 2026-09-28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47002" y="2570210"/>
            <a:ext cx="0" cy="176857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3">
            <a:solidFill>
              <a:srgbClr val="DADADA"/>
            </a:solidFill>
          </a:ln>
        </p:spPr>
        <p:txBody xmlns:a="http://schemas.openxmlformats.org/drawingml/2006/main">
          <a:bodyPr/>
          <a:p/>
        </p:txBody>
      </p:sp>
      <p:sp>
        <p:nvSpPr>
          <p:cNvPr id="5136" name="Week rule 5 2026-10-05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44986" y="2570210"/>
            <a:ext cx="0" cy="176857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3">
            <a:solidFill>
              <a:srgbClr val="DADADA"/>
            </a:solidFill>
          </a:ln>
        </p:spPr>
        <p:txBody xmlns:a="http://schemas.openxmlformats.org/drawingml/2006/main">
          <a:bodyPr/>
          <a:p/>
        </p:txBody>
      </p:sp>
      <p:sp>
        <p:nvSpPr>
          <p:cNvPr id="5137" name="Week rule 5 2026-10-12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42970" y="2570210"/>
            <a:ext cx="0" cy="176857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3">
            <a:solidFill>
              <a:srgbClr val="DADADA"/>
            </a:solidFill>
          </a:ln>
        </p:spPr>
        <p:txBody xmlns:a="http://schemas.openxmlformats.org/drawingml/2006/main">
          <a:bodyPr/>
          <a:p/>
        </p:txBody>
      </p:sp>
      <p:sp>
        <p:nvSpPr>
          <p:cNvPr id="5138" name="Week rule 5 2026-10-19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40954" y="2570210"/>
            <a:ext cx="0" cy="176857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3">
            <a:solidFill>
              <a:srgbClr val="DADADA"/>
            </a:solidFill>
          </a:ln>
        </p:spPr>
        <p:txBody xmlns:a="http://schemas.openxmlformats.org/drawingml/2006/main">
          <a:bodyPr/>
          <a:p/>
        </p:txBody>
      </p:sp>
      <p:sp>
        <p:nvSpPr>
          <p:cNvPr id="5139" name="Week rule 5 2026-10-26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38938" y="2570210"/>
            <a:ext cx="0" cy="176857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3">
            <a:solidFill>
              <a:srgbClr val="DADADA"/>
            </a:solidFill>
          </a:ln>
        </p:spPr>
        <p:txBody xmlns:a="http://schemas.openxmlformats.org/drawingml/2006/main">
          <a:bodyPr/>
          <a:p/>
        </p:txBody>
      </p:sp>
      <p:sp>
        <p:nvSpPr>
          <p:cNvPr id="5140" name="Week rule 5 2026-11-02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36922" y="2570210"/>
            <a:ext cx="0" cy="176857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3">
            <a:solidFill>
              <a:srgbClr val="DADADA"/>
            </a:solidFill>
          </a:ln>
        </p:spPr>
        <p:txBody xmlns:a="http://schemas.openxmlformats.org/drawingml/2006/main">
          <a:bodyPr/>
          <a:p/>
        </p:txBody>
      </p:sp>
      <p:sp>
        <p:nvSpPr>
          <p:cNvPr id="5141" name="Week rule 5 2026-11-09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34906" y="2570210"/>
            <a:ext cx="0" cy="176857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3">
            <a:solidFill>
              <a:srgbClr val="DADADA"/>
            </a:solidFill>
          </a:ln>
        </p:spPr>
        <p:txBody xmlns:a="http://schemas.openxmlformats.org/drawingml/2006/main">
          <a:bodyPr/>
          <a:p/>
        </p:txBody>
      </p:sp>
      <p:sp>
        <p:nvSpPr>
          <p:cNvPr id="5142" name="Week rule 5 2026-11-16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32890" y="2570210"/>
            <a:ext cx="0" cy="176857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3">
            <a:solidFill>
              <a:srgbClr val="DADADA"/>
            </a:solidFill>
          </a:ln>
        </p:spPr>
        <p:txBody xmlns:a="http://schemas.openxmlformats.org/drawingml/2006/main">
          <a:bodyPr/>
          <a:p/>
        </p:txBody>
      </p:sp>
      <p:sp>
        <p:nvSpPr>
          <p:cNvPr id="5143" name="Week rule 5 2026-11-23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30874" y="2570210"/>
            <a:ext cx="0" cy="176857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3">
            <a:solidFill>
              <a:srgbClr val="DADADA"/>
            </a:solidFill>
          </a:ln>
        </p:spPr>
        <p:txBody xmlns:a="http://schemas.openxmlformats.org/drawingml/2006/main">
          <a:bodyPr/>
          <a:p/>
        </p:txBody>
      </p:sp>
      <p:sp>
        <p:nvSpPr>
          <p:cNvPr id="5144" name="Week rule 5 2026-11-30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28858" y="2570210"/>
            <a:ext cx="0" cy="176857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3">
            <a:solidFill>
              <a:srgbClr val="DADADA"/>
            </a:solidFill>
          </a:ln>
        </p:spPr>
        <p:txBody xmlns:a="http://schemas.openxmlformats.org/drawingml/2006/main">
          <a:bodyPr/>
          <a:p/>
        </p:txBody>
      </p:sp>
      <p:sp>
        <p:nvSpPr>
          <p:cNvPr id="5145" name="Week rule 5 2026-12-07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26842" y="2570210"/>
            <a:ext cx="0" cy="176857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3">
            <a:solidFill>
              <a:srgbClr val="DADADA"/>
            </a:solidFill>
          </a:ln>
        </p:spPr>
        <p:txBody xmlns:a="http://schemas.openxmlformats.org/drawingml/2006/main">
          <a:bodyPr/>
          <a:p/>
        </p:txBody>
      </p:sp>
      <p:sp>
        <p:nvSpPr>
          <p:cNvPr id="5146" name="Week rule 5 2026-12-14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4826" y="2570210"/>
            <a:ext cx="0" cy="176857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3">
            <a:solidFill>
              <a:srgbClr val="DADADA"/>
            </a:solidFill>
          </a:ln>
        </p:spPr>
        <p:txBody xmlns:a="http://schemas.openxmlformats.org/drawingml/2006/main">
          <a:bodyPr/>
          <a:p/>
        </p:txBody>
      </p:sp>
      <p:sp>
        <p:nvSpPr>
          <p:cNvPr id="5147" name="Week rule 5 2026-12-21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822810" y="2570210"/>
            <a:ext cx="0" cy="176857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3">
            <a:solidFill>
              <a:srgbClr val="DADADA"/>
            </a:solidFill>
          </a:ln>
        </p:spPr>
        <p:txBody xmlns:a="http://schemas.openxmlformats.org/drawingml/2006/main">
          <a:bodyPr/>
          <a:p/>
        </p:txBody>
      </p:sp>
      <p:sp>
        <p:nvSpPr>
          <p:cNvPr id="5148" name="Week rule 5 2026-12-28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120794" y="2570210"/>
            <a:ext cx="0" cy="176857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3">
            <a:solidFill>
              <a:srgbClr val="DADADA"/>
            </a:solidFill>
          </a:ln>
        </p:spPr>
        <p:txBody xmlns:a="http://schemas.openxmlformats.org/drawingml/2006/main">
          <a:bodyPr/>
          <a:p/>
        </p:txBody>
      </p:sp>
      <p:sp>
        <p:nvSpPr>
          <p:cNvPr id="5149" name="Week rule 5 2027-01-04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18778" y="2570210"/>
            <a:ext cx="0" cy="176857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3">
            <a:solidFill>
              <a:srgbClr val="DADADA"/>
            </a:solidFill>
          </a:ln>
        </p:spPr>
        <p:txBody xmlns:a="http://schemas.openxmlformats.org/drawingml/2006/main">
          <a:bodyPr/>
          <a:p/>
        </p:txBody>
      </p:sp>
      <p:sp>
        <p:nvSpPr>
          <p:cNvPr id="5150" name="Week rule 5 2027-02-01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95552" y="2570210"/>
            <a:ext cx="0" cy="176857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3">
            <a:solidFill>
              <a:srgbClr val="DADADA"/>
            </a:solidFill>
          </a:ln>
        </p:spPr>
        <p:txBody xmlns:a="http://schemas.openxmlformats.org/drawingml/2006/main">
          <a:bodyPr/>
          <a:p/>
        </p:txBody>
      </p:sp>
      <p:sp>
        <p:nvSpPr>
          <p:cNvPr id="5151" name="Week rule 5 2027-03-01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72326" y="2570210"/>
            <a:ext cx="0" cy="176857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3">
            <a:solidFill>
              <a:srgbClr val="DADADA"/>
            </a:solidFill>
          </a:ln>
        </p:spPr>
        <p:txBody xmlns:a="http://schemas.openxmlformats.org/drawingml/2006/main">
          <a:bodyPr/>
          <a:p/>
        </p:txBody>
      </p:sp>
      <p:sp>
        <p:nvSpPr>
          <p:cNvPr id="5152" name="Task 5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2425" y="2570210"/>
            <a:ext cx="4152900" cy="176857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38100" tIns="0" rIns="3810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defRPr sz="938" b="0">
                <a:solidFill>
                  <a:srgbClr val="111111"/>
                </a:solidFill>
                <a:latin typeface="Arial"/>
                <a:ea typeface="Arial"/>
                <a:cs typeface="Arial"/>
              </a:defRPr>
            </a:pPr>
            <a:r>
              <a:rPr sz="938" b="0">
                <a:solidFill>
                  <a:srgbClr val="111111"/>
                </a:solidFill>
                <a:latin typeface="Arial"/>
                <a:ea typeface="Arial"/>
                <a:cs typeface="Arial"/>
              </a:rPr>
              <a:t>Baselines and BioLangFusion reproduction (plan item 1)</a:t>
            </a:r>
          </a:p>
        </p:txBody>
      </p:sp>
      <p:sp>
        <p:nvSpPr>
          <p:cNvPr id="5153" name="Status 5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14850" y="2570210"/>
            <a:ext cx="838200" cy="176857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38100" tIns="0" rIns="3810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defRPr sz="848" b="0">
                <a:solidFill>
                  <a:srgbClr val="111111"/>
                </a:solidFill>
                <a:latin typeface="Arial"/>
                <a:ea typeface="Arial"/>
                <a:cs typeface="Arial"/>
              </a:defRPr>
            </a:pPr>
            <a:r>
              <a:rPr sz="848" b="0">
                <a:solidFill>
                  <a:srgbClr val="111111"/>
                </a:solidFill>
                <a:latin typeface="Arial"/>
                <a:ea typeface="Arial"/>
                <a:cs typeface="Arial"/>
              </a:rPr>
              <a:t>Planned</a:t>
            </a:r>
          </a:p>
        </p:txBody>
      </p:sp>
      <p:sp>
        <p:nvSpPr>
          <p:cNvPr id="5154" name="Bar 5 0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87555" y="2606251"/>
            <a:ext cx="255414" cy="1047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7BEC4"/>
          </a:solidFill>
          <a:ln xmlns:a="http://schemas.openxmlformats.org/drawingml/2006/main" w="0">
            <a:noFill/>
          </a:ln>
        </p:spPr>
        <p:txBody xmlns:a="http://schemas.openxmlformats.org/drawingml/2006/main">
          <a:bodyPr/>
          <a:p/>
        </p:txBody>
      </p:sp>
      <p:sp>
        <p:nvSpPr>
          <p:cNvPr id="5155" name="Bar 5 1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42970" y="2606251"/>
            <a:ext cx="297984" cy="1047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7BEC4"/>
          </a:solidFill>
          <a:ln xmlns:a="http://schemas.openxmlformats.org/drawingml/2006/main" w="0">
            <a:noFill/>
          </a:ln>
        </p:spPr>
        <p:txBody xmlns:a="http://schemas.openxmlformats.org/drawingml/2006/main">
          <a:bodyPr/>
          <a:p/>
        </p:txBody>
      </p:sp>
      <p:sp>
        <p:nvSpPr>
          <p:cNvPr id="5156" name="Bar 5 2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40954" y="2606251"/>
            <a:ext cx="297984" cy="1047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7BEC4"/>
          </a:solidFill>
          <a:ln xmlns:a="http://schemas.openxmlformats.org/drawingml/2006/main" w="0">
            <a:noFill/>
          </a:ln>
        </p:spPr>
        <p:txBody xmlns:a="http://schemas.openxmlformats.org/drawingml/2006/main">
          <a:bodyPr/>
          <a:p/>
        </p:txBody>
      </p:sp>
      <p:sp>
        <p:nvSpPr>
          <p:cNvPr id="5157" name="Row rule 5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3850" y="2747067"/>
            <a:ext cx="115252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3">
            <a:solidFill>
              <a:srgbClr val="DADADA"/>
            </a:solidFill>
          </a:ln>
        </p:spPr>
        <p:txBody xmlns:a="http://schemas.openxmlformats.org/drawingml/2006/main">
          <a:bodyPr/>
          <a:p/>
        </p:txBody>
      </p:sp>
      <p:sp>
        <p:nvSpPr>
          <p:cNvPr id="5158" name="Week rule 6 2026-09-07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53050" y="2747067"/>
            <a:ext cx="0" cy="176857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3">
            <a:solidFill>
              <a:srgbClr val="DADADA"/>
            </a:solidFill>
          </a:ln>
        </p:spPr>
        <p:txBody xmlns:a="http://schemas.openxmlformats.org/drawingml/2006/main">
          <a:bodyPr/>
          <a:p/>
        </p:txBody>
      </p:sp>
      <p:sp>
        <p:nvSpPr>
          <p:cNvPr id="5159" name="Week rule 6 2026-09-14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51034" y="2747067"/>
            <a:ext cx="0" cy="176857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3">
            <a:solidFill>
              <a:srgbClr val="DADADA"/>
            </a:solidFill>
          </a:ln>
        </p:spPr>
        <p:txBody xmlns:a="http://schemas.openxmlformats.org/drawingml/2006/main">
          <a:bodyPr/>
          <a:p/>
        </p:txBody>
      </p:sp>
      <p:sp>
        <p:nvSpPr>
          <p:cNvPr id="5160" name="Week rule 6 2026-09-21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49018" y="2747067"/>
            <a:ext cx="0" cy="176857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3">
            <a:solidFill>
              <a:srgbClr val="DADADA"/>
            </a:solidFill>
          </a:ln>
        </p:spPr>
        <p:txBody xmlns:a="http://schemas.openxmlformats.org/drawingml/2006/main">
          <a:bodyPr/>
          <a:p/>
        </p:txBody>
      </p:sp>
      <p:sp>
        <p:nvSpPr>
          <p:cNvPr id="5161" name="Week rule 6 2026-09-28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47002" y="2747067"/>
            <a:ext cx="0" cy="176857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3">
            <a:solidFill>
              <a:srgbClr val="DADADA"/>
            </a:solidFill>
          </a:ln>
        </p:spPr>
        <p:txBody xmlns:a="http://schemas.openxmlformats.org/drawingml/2006/main">
          <a:bodyPr/>
          <a:p/>
        </p:txBody>
      </p:sp>
      <p:sp>
        <p:nvSpPr>
          <p:cNvPr id="5162" name="Week rule 6 2026-10-05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44986" y="2747067"/>
            <a:ext cx="0" cy="176857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3">
            <a:solidFill>
              <a:srgbClr val="DADADA"/>
            </a:solidFill>
          </a:ln>
        </p:spPr>
        <p:txBody xmlns:a="http://schemas.openxmlformats.org/drawingml/2006/main">
          <a:bodyPr/>
          <a:p/>
        </p:txBody>
      </p:sp>
      <p:sp>
        <p:nvSpPr>
          <p:cNvPr id="5163" name="Week rule 6 2026-10-12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42970" y="2747067"/>
            <a:ext cx="0" cy="176857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3">
            <a:solidFill>
              <a:srgbClr val="DADADA"/>
            </a:solidFill>
          </a:ln>
        </p:spPr>
        <p:txBody xmlns:a="http://schemas.openxmlformats.org/drawingml/2006/main">
          <a:bodyPr/>
          <a:p/>
        </p:txBody>
      </p:sp>
      <p:sp>
        <p:nvSpPr>
          <p:cNvPr id="5164" name="Week rule 6 2026-10-19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40954" y="2747067"/>
            <a:ext cx="0" cy="176857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3">
            <a:solidFill>
              <a:srgbClr val="DADADA"/>
            </a:solidFill>
          </a:ln>
        </p:spPr>
        <p:txBody xmlns:a="http://schemas.openxmlformats.org/drawingml/2006/main">
          <a:bodyPr/>
          <a:p/>
        </p:txBody>
      </p:sp>
      <p:sp>
        <p:nvSpPr>
          <p:cNvPr id="5165" name="Week rule 6 2026-10-26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38938" y="2747067"/>
            <a:ext cx="0" cy="176857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3">
            <a:solidFill>
              <a:srgbClr val="DADADA"/>
            </a:solidFill>
          </a:ln>
        </p:spPr>
        <p:txBody xmlns:a="http://schemas.openxmlformats.org/drawingml/2006/main">
          <a:bodyPr/>
          <a:p/>
        </p:txBody>
      </p:sp>
      <p:sp>
        <p:nvSpPr>
          <p:cNvPr id="5166" name="Week rule 6 2026-11-02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36922" y="2747067"/>
            <a:ext cx="0" cy="176857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3">
            <a:solidFill>
              <a:srgbClr val="DADADA"/>
            </a:solidFill>
          </a:ln>
        </p:spPr>
        <p:txBody xmlns:a="http://schemas.openxmlformats.org/drawingml/2006/main">
          <a:bodyPr/>
          <a:p/>
        </p:txBody>
      </p:sp>
      <p:sp>
        <p:nvSpPr>
          <p:cNvPr id="5167" name="Week rule 6 2026-11-09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34906" y="2747067"/>
            <a:ext cx="0" cy="176857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3">
            <a:solidFill>
              <a:srgbClr val="DADADA"/>
            </a:solidFill>
          </a:ln>
        </p:spPr>
        <p:txBody xmlns:a="http://schemas.openxmlformats.org/drawingml/2006/main">
          <a:bodyPr/>
          <a:p/>
        </p:txBody>
      </p:sp>
      <p:sp>
        <p:nvSpPr>
          <p:cNvPr id="5168" name="Week rule 6 2026-11-16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32890" y="2747067"/>
            <a:ext cx="0" cy="176857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3">
            <a:solidFill>
              <a:srgbClr val="DADADA"/>
            </a:solidFill>
          </a:ln>
        </p:spPr>
        <p:txBody xmlns:a="http://schemas.openxmlformats.org/drawingml/2006/main">
          <a:bodyPr/>
          <a:p/>
        </p:txBody>
      </p:sp>
      <p:sp>
        <p:nvSpPr>
          <p:cNvPr id="5169" name="Week rule 6 2026-11-23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30874" y="2747067"/>
            <a:ext cx="0" cy="176857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3">
            <a:solidFill>
              <a:srgbClr val="DADADA"/>
            </a:solidFill>
          </a:ln>
        </p:spPr>
        <p:txBody xmlns:a="http://schemas.openxmlformats.org/drawingml/2006/main">
          <a:bodyPr/>
          <a:p/>
        </p:txBody>
      </p:sp>
      <p:sp>
        <p:nvSpPr>
          <p:cNvPr id="5170" name="Week rule 6 2026-11-30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28858" y="2747067"/>
            <a:ext cx="0" cy="176857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3">
            <a:solidFill>
              <a:srgbClr val="DADADA"/>
            </a:solidFill>
          </a:ln>
        </p:spPr>
        <p:txBody xmlns:a="http://schemas.openxmlformats.org/drawingml/2006/main">
          <a:bodyPr/>
          <a:p/>
        </p:txBody>
      </p:sp>
      <p:sp>
        <p:nvSpPr>
          <p:cNvPr id="5171" name="Week rule 6 2026-12-07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26842" y="2747067"/>
            <a:ext cx="0" cy="176857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3">
            <a:solidFill>
              <a:srgbClr val="DADADA"/>
            </a:solidFill>
          </a:ln>
        </p:spPr>
        <p:txBody xmlns:a="http://schemas.openxmlformats.org/drawingml/2006/main">
          <a:bodyPr/>
          <a:p/>
        </p:txBody>
      </p:sp>
      <p:sp>
        <p:nvSpPr>
          <p:cNvPr id="5172" name="Week rule 6 2026-12-14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4826" y="2747067"/>
            <a:ext cx="0" cy="176857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3">
            <a:solidFill>
              <a:srgbClr val="DADADA"/>
            </a:solidFill>
          </a:ln>
        </p:spPr>
        <p:txBody xmlns:a="http://schemas.openxmlformats.org/drawingml/2006/main">
          <a:bodyPr/>
          <a:p/>
        </p:txBody>
      </p:sp>
      <p:sp>
        <p:nvSpPr>
          <p:cNvPr id="5173" name="Week rule 6 2026-12-21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822810" y="2747067"/>
            <a:ext cx="0" cy="176857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3">
            <a:solidFill>
              <a:srgbClr val="DADADA"/>
            </a:solidFill>
          </a:ln>
        </p:spPr>
        <p:txBody xmlns:a="http://schemas.openxmlformats.org/drawingml/2006/main">
          <a:bodyPr/>
          <a:p/>
        </p:txBody>
      </p:sp>
      <p:sp>
        <p:nvSpPr>
          <p:cNvPr id="5174" name="Week rule 6 2026-12-28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120794" y="2747067"/>
            <a:ext cx="0" cy="176857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3">
            <a:solidFill>
              <a:srgbClr val="DADADA"/>
            </a:solidFill>
          </a:ln>
        </p:spPr>
        <p:txBody xmlns:a="http://schemas.openxmlformats.org/drawingml/2006/main">
          <a:bodyPr/>
          <a:p/>
        </p:txBody>
      </p:sp>
      <p:sp>
        <p:nvSpPr>
          <p:cNvPr id="5175" name="Week rule 6 2027-01-04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18778" y="2747067"/>
            <a:ext cx="0" cy="176857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3">
            <a:solidFill>
              <a:srgbClr val="DADADA"/>
            </a:solidFill>
          </a:ln>
        </p:spPr>
        <p:txBody xmlns:a="http://schemas.openxmlformats.org/drawingml/2006/main">
          <a:bodyPr/>
          <a:p/>
        </p:txBody>
      </p:sp>
      <p:sp>
        <p:nvSpPr>
          <p:cNvPr id="5176" name="Week rule 6 2027-02-01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95552" y="2747067"/>
            <a:ext cx="0" cy="176857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3">
            <a:solidFill>
              <a:srgbClr val="DADADA"/>
            </a:solidFill>
          </a:ln>
        </p:spPr>
        <p:txBody xmlns:a="http://schemas.openxmlformats.org/drawingml/2006/main">
          <a:bodyPr/>
          <a:p/>
        </p:txBody>
      </p:sp>
      <p:sp>
        <p:nvSpPr>
          <p:cNvPr id="5177" name="Week rule 6 2027-03-01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72326" y="2747067"/>
            <a:ext cx="0" cy="176857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3">
            <a:solidFill>
              <a:srgbClr val="DADADA"/>
            </a:solidFill>
          </a:ln>
        </p:spPr>
        <p:txBody xmlns:a="http://schemas.openxmlformats.org/drawingml/2006/main">
          <a:bodyPr/>
          <a:p/>
        </p:txBody>
      </p:sp>
      <p:sp>
        <p:nvSpPr>
          <p:cNvPr id="5178" name="Task 6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2425" y="2747067"/>
            <a:ext cx="4152900" cy="176857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38100" tIns="0" rIns="3810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defRPr sz="938" b="0">
                <a:solidFill>
                  <a:srgbClr val="111111"/>
                </a:solidFill>
                <a:latin typeface="Arial"/>
                <a:ea typeface="Arial"/>
                <a:cs typeface="Arial"/>
              </a:defRPr>
            </a:pPr>
            <a:r>
              <a:rPr sz="938" b="0">
                <a:solidFill>
                  <a:srgbClr val="111111"/>
                </a:solidFill>
                <a:latin typeface="Arial"/>
                <a:ea typeface="Arial"/>
                <a:cs typeface="Arial"/>
              </a:rPr>
              <a:t>Encoder swaps, LucaOne, IsoFormer (plan items 1 and 2)</a:t>
            </a:r>
          </a:p>
        </p:txBody>
      </p:sp>
      <p:sp>
        <p:nvSpPr>
          <p:cNvPr id="5179" name="Status 6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14850" y="2747067"/>
            <a:ext cx="838200" cy="176857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38100" tIns="0" rIns="3810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defRPr sz="848" b="0">
                <a:solidFill>
                  <a:srgbClr val="111111"/>
                </a:solidFill>
                <a:latin typeface="Arial"/>
                <a:ea typeface="Arial"/>
                <a:cs typeface="Arial"/>
              </a:defRPr>
            </a:pPr>
            <a:r>
              <a:rPr sz="848" b="0">
                <a:solidFill>
                  <a:srgbClr val="111111"/>
                </a:solidFill>
                <a:latin typeface="Arial"/>
                <a:ea typeface="Arial"/>
                <a:cs typeface="Arial"/>
              </a:rPr>
              <a:t>Planned</a:t>
            </a:r>
          </a:p>
        </p:txBody>
      </p:sp>
      <p:sp>
        <p:nvSpPr>
          <p:cNvPr id="5180" name="Bar 6 0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38938" y="2783108"/>
            <a:ext cx="297984" cy="1047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7BEC4"/>
          </a:solidFill>
          <a:ln xmlns:a="http://schemas.openxmlformats.org/drawingml/2006/main" w="0">
            <a:noFill/>
          </a:ln>
        </p:spPr>
        <p:txBody xmlns:a="http://schemas.openxmlformats.org/drawingml/2006/main">
          <a:bodyPr/>
          <a:p/>
        </p:txBody>
      </p:sp>
      <p:sp>
        <p:nvSpPr>
          <p:cNvPr id="5181" name="Bar 6 1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36922" y="2783108"/>
            <a:ext cx="297984" cy="1047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7BEC4"/>
          </a:solidFill>
          <a:ln xmlns:a="http://schemas.openxmlformats.org/drawingml/2006/main" w="0">
            <a:noFill/>
          </a:ln>
        </p:spPr>
        <p:txBody xmlns:a="http://schemas.openxmlformats.org/drawingml/2006/main">
          <a:bodyPr/>
          <a:p/>
        </p:txBody>
      </p:sp>
      <p:sp>
        <p:nvSpPr>
          <p:cNvPr id="5182" name="Bar 6 2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34906" y="2783108"/>
            <a:ext cx="297984" cy="1047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7BEC4"/>
          </a:solidFill>
          <a:ln xmlns:a="http://schemas.openxmlformats.org/drawingml/2006/main" w="0">
            <a:noFill/>
          </a:ln>
        </p:spPr>
        <p:txBody xmlns:a="http://schemas.openxmlformats.org/drawingml/2006/main">
          <a:bodyPr/>
          <a:p/>
        </p:txBody>
      </p:sp>
      <p:sp>
        <p:nvSpPr>
          <p:cNvPr id="5183" name="Bar 6 3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32890" y="2783108"/>
            <a:ext cx="297984" cy="1047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7BEC4"/>
          </a:solidFill>
          <a:ln xmlns:a="http://schemas.openxmlformats.org/drawingml/2006/main" w="0">
            <a:noFill/>
          </a:ln>
        </p:spPr>
        <p:txBody xmlns:a="http://schemas.openxmlformats.org/drawingml/2006/main">
          <a:bodyPr/>
          <a:p/>
        </p:txBody>
      </p:sp>
      <p:sp>
        <p:nvSpPr>
          <p:cNvPr id="5184" name="Row rule 6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3850" y="2923924"/>
            <a:ext cx="115252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3">
            <a:solidFill>
              <a:srgbClr val="DADADA"/>
            </a:solidFill>
          </a:ln>
        </p:spPr>
        <p:txBody xmlns:a="http://schemas.openxmlformats.org/drawingml/2006/main">
          <a:bodyPr/>
          <a:p/>
        </p:txBody>
      </p:sp>
      <p:sp>
        <p:nvSpPr>
          <p:cNvPr id="5185" name="Row tint 7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3850" y="2923924"/>
            <a:ext cx="11525250" cy="176857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7F7F7"/>
          </a:solidFill>
          <a:ln xmlns:a="http://schemas.openxmlformats.org/drawingml/2006/main" w="0">
            <a:noFill/>
          </a:ln>
        </p:spPr>
        <p:txBody xmlns:a="http://schemas.openxmlformats.org/drawingml/2006/main">
          <a:bodyPr/>
          <a:p/>
        </p:txBody>
      </p:sp>
      <p:sp>
        <p:nvSpPr>
          <p:cNvPr id="5186" name="Week rule 7 2026-09-07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53050" y="2923924"/>
            <a:ext cx="0" cy="176857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3">
            <a:solidFill>
              <a:srgbClr val="DADADA"/>
            </a:solidFill>
          </a:ln>
        </p:spPr>
        <p:txBody xmlns:a="http://schemas.openxmlformats.org/drawingml/2006/main">
          <a:bodyPr/>
          <a:p/>
        </p:txBody>
      </p:sp>
      <p:sp>
        <p:nvSpPr>
          <p:cNvPr id="5187" name="Week rule 7 2026-09-14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51034" y="2923924"/>
            <a:ext cx="0" cy="176857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3">
            <a:solidFill>
              <a:srgbClr val="DADADA"/>
            </a:solidFill>
          </a:ln>
        </p:spPr>
        <p:txBody xmlns:a="http://schemas.openxmlformats.org/drawingml/2006/main">
          <a:bodyPr/>
          <a:p/>
        </p:txBody>
      </p:sp>
      <p:sp>
        <p:nvSpPr>
          <p:cNvPr id="5188" name="Week rule 7 2026-09-21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49018" y="2923924"/>
            <a:ext cx="0" cy="176857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3">
            <a:solidFill>
              <a:srgbClr val="DADADA"/>
            </a:solidFill>
          </a:ln>
        </p:spPr>
        <p:txBody xmlns:a="http://schemas.openxmlformats.org/drawingml/2006/main">
          <a:bodyPr/>
          <a:p/>
        </p:txBody>
      </p:sp>
      <p:sp>
        <p:nvSpPr>
          <p:cNvPr id="5189" name="Week rule 7 2026-09-28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47002" y="2923924"/>
            <a:ext cx="0" cy="176857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3">
            <a:solidFill>
              <a:srgbClr val="DADADA"/>
            </a:solidFill>
          </a:ln>
        </p:spPr>
        <p:txBody xmlns:a="http://schemas.openxmlformats.org/drawingml/2006/main">
          <a:bodyPr/>
          <a:p/>
        </p:txBody>
      </p:sp>
      <p:sp>
        <p:nvSpPr>
          <p:cNvPr id="5190" name="Week rule 7 2026-10-05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44986" y="2923924"/>
            <a:ext cx="0" cy="176857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3">
            <a:solidFill>
              <a:srgbClr val="DADADA"/>
            </a:solidFill>
          </a:ln>
        </p:spPr>
        <p:txBody xmlns:a="http://schemas.openxmlformats.org/drawingml/2006/main">
          <a:bodyPr/>
          <a:p/>
        </p:txBody>
      </p:sp>
      <p:sp>
        <p:nvSpPr>
          <p:cNvPr id="5191" name="Week rule 7 2026-10-12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42970" y="2923924"/>
            <a:ext cx="0" cy="176857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3">
            <a:solidFill>
              <a:srgbClr val="DADADA"/>
            </a:solidFill>
          </a:ln>
        </p:spPr>
        <p:txBody xmlns:a="http://schemas.openxmlformats.org/drawingml/2006/main">
          <a:bodyPr/>
          <a:p/>
        </p:txBody>
      </p:sp>
      <p:sp>
        <p:nvSpPr>
          <p:cNvPr id="5192" name="Week rule 7 2026-10-19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40954" y="2923924"/>
            <a:ext cx="0" cy="176857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3">
            <a:solidFill>
              <a:srgbClr val="DADADA"/>
            </a:solidFill>
          </a:ln>
        </p:spPr>
        <p:txBody xmlns:a="http://schemas.openxmlformats.org/drawingml/2006/main">
          <a:bodyPr/>
          <a:p/>
        </p:txBody>
      </p:sp>
      <p:sp>
        <p:nvSpPr>
          <p:cNvPr id="5193" name="Week rule 7 2026-10-26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38938" y="2923924"/>
            <a:ext cx="0" cy="176857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3">
            <a:solidFill>
              <a:srgbClr val="DADADA"/>
            </a:solidFill>
          </a:ln>
        </p:spPr>
        <p:txBody xmlns:a="http://schemas.openxmlformats.org/drawingml/2006/main">
          <a:bodyPr/>
          <a:p/>
        </p:txBody>
      </p:sp>
      <p:sp>
        <p:nvSpPr>
          <p:cNvPr id="5194" name="Week rule 7 2026-11-02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36922" y="2923924"/>
            <a:ext cx="0" cy="176857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3">
            <a:solidFill>
              <a:srgbClr val="DADADA"/>
            </a:solidFill>
          </a:ln>
        </p:spPr>
        <p:txBody xmlns:a="http://schemas.openxmlformats.org/drawingml/2006/main">
          <a:bodyPr/>
          <a:p/>
        </p:txBody>
      </p:sp>
      <p:sp>
        <p:nvSpPr>
          <p:cNvPr id="5195" name="Week rule 7 2026-11-09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34906" y="2923924"/>
            <a:ext cx="0" cy="176857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3">
            <a:solidFill>
              <a:srgbClr val="DADADA"/>
            </a:solidFill>
          </a:ln>
        </p:spPr>
        <p:txBody xmlns:a="http://schemas.openxmlformats.org/drawingml/2006/main">
          <a:bodyPr/>
          <a:p/>
        </p:txBody>
      </p:sp>
      <p:sp>
        <p:nvSpPr>
          <p:cNvPr id="5196" name="Week rule 7 2026-11-16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32890" y="2923924"/>
            <a:ext cx="0" cy="176857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3">
            <a:solidFill>
              <a:srgbClr val="DADADA"/>
            </a:solidFill>
          </a:ln>
        </p:spPr>
        <p:txBody xmlns:a="http://schemas.openxmlformats.org/drawingml/2006/main">
          <a:bodyPr/>
          <a:p/>
        </p:txBody>
      </p:sp>
      <p:sp>
        <p:nvSpPr>
          <p:cNvPr id="5197" name="Week rule 7 2026-11-23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30874" y="2923924"/>
            <a:ext cx="0" cy="176857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3">
            <a:solidFill>
              <a:srgbClr val="DADADA"/>
            </a:solidFill>
          </a:ln>
        </p:spPr>
        <p:txBody xmlns:a="http://schemas.openxmlformats.org/drawingml/2006/main">
          <a:bodyPr/>
          <a:p/>
        </p:txBody>
      </p:sp>
      <p:sp>
        <p:nvSpPr>
          <p:cNvPr id="5198" name="Week rule 7 2026-11-30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28858" y="2923924"/>
            <a:ext cx="0" cy="176857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3">
            <a:solidFill>
              <a:srgbClr val="DADADA"/>
            </a:solidFill>
          </a:ln>
        </p:spPr>
        <p:txBody xmlns:a="http://schemas.openxmlformats.org/drawingml/2006/main">
          <a:bodyPr/>
          <a:p/>
        </p:txBody>
      </p:sp>
      <p:sp>
        <p:nvSpPr>
          <p:cNvPr id="5199" name="Week rule 7 2026-12-07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26842" y="2923924"/>
            <a:ext cx="0" cy="176857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3">
            <a:solidFill>
              <a:srgbClr val="DADADA"/>
            </a:solidFill>
          </a:ln>
        </p:spPr>
        <p:txBody xmlns:a="http://schemas.openxmlformats.org/drawingml/2006/main">
          <a:bodyPr/>
          <a:p/>
        </p:txBody>
      </p:sp>
      <p:sp>
        <p:nvSpPr>
          <p:cNvPr id="5200" name="Week rule 7 2026-12-14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4826" y="2923924"/>
            <a:ext cx="0" cy="176857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3">
            <a:solidFill>
              <a:srgbClr val="DADADA"/>
            </a:solidFill>
          </a:ln>
        </p:spPr>
        <p:txBody xmlns:a="http://schemas.openxmlformats.org/drawingml/2006/main">
          <a:bodyPr/>
          <a:p/>
        </p:txBody>
      </p:sp>
      <p:sp>
        <p:nvSpPr>
          <p:cNvPr id="5201" name="Week rule 7 2026-12-21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822810" y="2923924"/>
            <a:ext cx="0" cy="176857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3">
            <a:solidFill>
              <a:srgbClr val="DADADA"/>
            </a:solidFill>
          </a:ln>
        </p:spPr>
        <p:txBody xmlns:a="http://schemas.openxmlformats.org/drawingml/2006/main">
          <a:bodyPr/>
          <a:p/>
        </p:txBody>
      </p:sp>
      <p:sp>
        <p:nvSpPr>
          <p:cNvPr id="5202" name="Week rule 7 2026-12-28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120794" y="2923924"/>
            <a:ext cx="0" cy="176857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3">
            <a:solidFill>
              <a:srgbClr val="DADADA"/>
            </a:solidFill>
          </a:ln>
        </p:spPr>
        <p:txBody xmlns:a="http://schemas.openxmlformats.org/drawingml/2006/main">
          <a:bodyPr/>
          <a:p/>
        </p:txBody>
      </p:sp>
      <p:sp>
        <p:nvSpPr>
          <p:cNvPr id="5203" name="Week rule 7 2027-01-04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18778" y="2923924"/>
            <a:ext cx="0" cy="176857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3">
            <a:solidFill>
              <a:srgbClr val="DADADA"/>
            </a:solidFill>
          </a:ln>
        </p:spPr>
        <p:txBody xmlns:a="http://schemas.openxmlformats.org/drawingml/2006/main">
          <a:bodyPr/>
          <a:p/>
        </p:txBody>
      </p:sp>
      <p:sp>
        <p:nvSpPr>
          <p:cNvPr id="5204" name="Week rule 7 2027-02-01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95552" y="2923924"/>
            <a:ext cx="0" cy="176857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3">
            <a:solidFill>
              <a:srgbClr val="DADADA"/>
            </a:solidFill>
          </a:ln>
        </p:spPr>
        <p:txBody xmlns:a="http://schemas.openxmlformats.org/drawingml/2006/main">
          <a:bodyPr/>
          <a:p/>
        </p:txBody>
      </p:sp>
      <p:sp>
        <p:nvSpPr>
          <p:cNvPr id="5205" name="Week rule 7 2027-03-01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72326" y="2923924"/>
            <a:ext cx="0" cy="176857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3">
            <a:solidFill>
              <a:srgbClr val="DADADA"/>
            </a:solidFill>
          </a:ln>
        </p:spPr>
        <p:txBody xmlns:a="http://schemas.openxmlformats.org/drawingml/2006/main">
          <a:bodyPr/>
          <a:p/>
        </p:txBody>
      </p:sp>
      <p:sp>
        <p:nvSpPr>
          <p:cNvPr id="5206" name="Task 7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2425" y="2923924"/>
            <a:ext cx="4152900" cy="176857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38100" tIns="0" rIns="3810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defRPr sz="938" b="0">
                <a:solidFill>
                  <a:srgbClr val="111111"/>
                </a:solidFill>
                <a:latin typeface="Arial"/>
                <a:ea typeface="Arial"/>
                <a:cs typeface="Arial"/>
              </a:defRPr>
            </a:pPr>
            <a:r>
              <a:rPr sz="938" b="0">
                <a:solidFill>
                  <a:srgbClr val="111111"/>
                </a:solidFill>
                <a:latin typeface="Arial"/>
                <a:ea typeface="Arial"/>
                <a:cs typeface="Arial"/>
              </a:rPr>
              <a:t>Half-life and translation efficiency (plan items 3 and 4)</a:t>
            </a:r>
          </a:p>
        </p:txBody>
      </p:sp>
      <p:sp>
        <p:nvSpPr>
          <p:cNvPr id="5207" name="Status 7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14850" y="2923924"/>
            <a:ext cx="838200" cy="176857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38100" tIns="0" rIns="3810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defRPr sz="848" b="0">
                <a:solidFill>
                  <a:srgbClr val="111111"/>
                </a:solidFill>
                <a:latin typeface="Arial"/>
                <a:ea typeface="Arial"/>
                <a:cs typeface="Arial"/>
              </a:defRPr>
            </a:pPr>
            <a:r>
              <a:rPr sz="848" b="0">
                <a:solidFill>
                  <a:srgbClr val="111111"/>
                </a:solidFill>
                <a:latin typeface="Arial"/>
                <a:ea typeface="Arial"/>
                <a:cs typeface="Arial"/>
              </a:rPr>
              <a:t>Planned</a:t>
            </a:r>
          </a:p>
        </p:txBody>
      </p:sp>
      <p:sp>
        <p:nvSpPr>
          <p:cNvPr id="5208" name="Bar 7 0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30874" y="2959965"/>
            <a:ext cx="297984" cy="1047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7BEC4"/>
          </a:solidFill>
          <a:ln xmlns:a="http://schemas.openxmlformats.org/drawingml/2006/main" w="0">
            <a:noFill/>
          </a:ln>
        </p:spPr>
        <p:txBody xmlns:a="http://schemas.openxmlformats.org/drawingml/2006/main">
          <a:bodyPr/>
          <a:p/>
        </p:txBody>
      </p:sp>
      <p:sp>
        <p:nvSpPr>
          <p:cNvPr id="5209" name="Bar 7 1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28858" y="2959965"/>
            <a:ext cx="297984" cy="1047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7BEC4"/>
          </a:solidFill>
          <a:ln xmlns:a="http://schemas.openxmlformats.org/drawingml/2006/main" w="0">
            <a:noFill/>
          </a:ln>
        </p:spPr>
        <p:txBody xmlns:a="http://schemas.openxmlformats.org/drawingml/2006/main">
          <a:bodyPr/>
          <a:p/>
        </p:txBody>
      </p:sp>
      <p:sp>
        <p:nvSpPr>
          <p:cNvPr id="5210" name="Bar 7 2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26842" y="2959965"/>
            <a:ext cx="297984" cy="1047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7BEC4"/>
          </a:solidFill>
          <a:ln xmlns:a="http://schemas.openxmlformats.org/drawingml/2006/main" w="0">
            <a:noFill/>
          </a:ln>
        </p:spPr>
        <p:txBody xmlns:a="http://schemas.openxmlformats.org/drawingml/2006/main">
          <a:bodyPr/>
          <a:p/>
        </p:txBody>
      </p:sp>
      <p:sp>
        <p:nvSpPr>
          <p:cNvPr id="5211" name="Bar 7 3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4826" y="2959965"/>
            <a:ext cx="297984" cy="1047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7BEC4"/>
          </a:solidFill>
          <a:ln xmlns:a="http://schemas.openxmlformats.org/drawingml/2006/main" w="0">
            <a:noFill/>
          </a:ln>
        </p:spPr>
        <p:txBody xmlns:a="http://schemas.openxmlformats.org/drawingml/2006/main">
          <a:bodyPr/>
          <a:p/>
        </p:txBody>
      </p:sp>
      <p:sp>
        <p:nvSpPr>
          <p:cNvPr id="5212" name="Row rule 7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3850" y="3100781"/>
            <a:ext cx="115252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3">
            <a:solidFill>
              <a:srgbClr val="DADADA"/>
            </a:solidFill>
          </a:ln>
        </p:spPr>
        <p:txBody xmlns:a="http://schemas.openxmlformats.org/drawingml/2006/main">
          <a:bodyPr/>
          <a:p/>
        </p:txBody>
      </p:sp>
      <p:sp>
        <p:nvSpPr>
          <p:cNvPr id="5213" name="Week rule 8 2026-09-07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53050" y="3100781"/>
            <a:ext cx="0" cy="176857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3">
            <a:solidFill>
              <a:srgbClr val="DADADA"/>
            </a:solidFill>
          </a:ln>
        </p:spPr>
        <p:txBody xmlns:a="http://schemas.openxmlformats.org/drawingml/2006/main">
          <a:bodyPr/>
          <a:p/>
        </p:txBody>
      </p:sp>
      <p:sp>
        <p:nvSpPr>
          <p:cNvPr id="5214" name="Week rule 8 2026-09-14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51034" y="3100781"/>
            <a:ext cx="0" cy="176857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3">
            <a:solidFill>
              <a:srgbClr val="DADADA"/>
            </a:solidFill>
          </a:ln>
        </p:spPr>
        <p:txBody xmlns:a="http://schemas.openxmlformats.org/drawingml/2006/main">
          <a:bodyPr/>
          <a:p/>
        </p:txBody>
      </p:sp>
      <p:sp>
        <p:nvSpPr>
          <p:cNvPr id="5215" name="Week rule 8 2026-09-21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49018" y="3100781"/>
            <a:ext cx="0" cy="176857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3">
            <a:solidFill>
              <a:srgbClr val="DADADA"/>
            </a:solidFill>
          </a:ln>
        </p:spPr>
        <p:txBody xmlns:a="http://schemas.openxmlformats.org/drawingml/2006/main">
          <a:bodyPr/>
          <a:p/>
        </p:txBody>
      </p:sp>
      <p:sp>
        <p:nvSpPr>
          <p:cNvPr id="5216" name="Week rule 8 2026-09-28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47002" y="3100781"/>
            <a:ext cx="0" cy="176857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3">
            <a:solidFill>
              <a:srgbClr val="DADADA"/>
            </a:solidFill>
          </a:ln>
        </p:spPr>
        <p:txBody xmlns:a="http://schemas.openxmlformats.org/drawingml/2006/main">
          <a:bodyPr/>
          <a:p/>
        </p:txBody>
      </p:sp>
      <p:sp>
        <p:nvSpPr>
          <p:cNvPr id="5217" name="Week rule 8 2026-10-05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44986" y="3100781"/>
            <a:ext cx="0" cy="176857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3">
            <a:solidFill>
              <a:srgbClr val="DADADA"/>
            </a:solidFill>
          </a:ln>
        </p:spPr>
        <p:txBody xmlns:a="http://schemas.openxmlformats.org/drawingml/2006/main">
          <a:bodyPr/>
          <a:p/>
        </p:txBody>
      </p:sp>
      <p:sp>
        <p:nvSpPr>
          <p:cNvPr id="5218" name="Week rule 8 2026-10-12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42970" y="3100781"/>
            <a:ext cx="0" cy="176857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3">
            <a:solidFill>
              <a:srgbClr val="DADADA"/>
            </a:solidFill>
          </a:ln>
        </p:spPr>
        <p:txBody xmlns:a="http://schemas.openxmlformats.org/drawingml/2006/main">
          <a:bodyPr/>
          <a:p/>
        </p:txBody>
      </p:sp>
      <p:sp>
        <p:nvSpPr>
          <p:cNvPr id="5219" name="Week rule 8 2026-10-19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40954" y="3100781"/>
            <a:ext cx="0" cy="176857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3">
            <a:solidFill>
              <a:srgbClr val="DADADA"/>
            </a:solidFill>
          </a:ln>
        </p:spPr>
        <p:txBody xmlns:a="http://schemas.openxmlformats.org/drawingml/2006/main">
          <a:bodyPr/>
          <a:p/>
        </p:txBody>
      </p:sp>
      <p:sp>
        <p:nvSpPr>
          <p:cNvPr id="5220" name="Week rule 8 2026-10-26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38938" y="3100781"/>
            <a:ext cx="0" cy="176857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3">
            <a:solidFill>
              <a:srgbClr val="DADADA"/>
            </a:solidFill>
          </a:ln>
        </p:spPr>
        <p:txBody xmlns:a="http://schemas.openxmlformats.org/drawingml/2006/main">
          <a:bodyPr/>
          <a:p/>
        </p:txBody>
      </p:sp>
      <p:sp>
        <p:nvSpPr>
          <p:cNvPr id="5221" name="Week rule 8 2026-11-02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36922" y="3100781"/>
            <a:ext cx="0" cy="176857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3">
            <a:solidFill>
              <a:srgbClr val="DADADA"/>
            </a:solidFill>
          </a:ln>
        </p:spPr>
        <p:txBody xmlns:a="http://schemas.openxmlformats.org/drawingml/2006/main">
          <a:bodyPr/>
          <a:p/>
        </p:txBody>
      </p:sp>
      <p:sp>
        <p:nvSpPr>
          <p:cNvPr id="5222" name="Week rule 8 2026-11-09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34906" y="3100781"/>
            <a:ext cx="0" cy="176857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3">
            <a:solidFill>
              <a:srgbClr val="DADADA"/>
            </a:solidFill>
          </a:ln>
        </p:spPr>
        <p:txBody xmlns:a="http://schemas.openxmlformats.org/drawingml/2006/main">
          <a:bodyPr/>
          <a:p/>
        </p:txBody>
      </p:sp>
      <p:sp>
        <p:nvSpPr>
          <p:cNvPr id="5223" name="Week rule 8 2026-11-16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32890" y="3100781"/>
            <a:ext cx="0" cy="176857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3">
            <a:solidFill>
              <a:srgbClr val="DADADA"/>
            </a:solidFill>
          </a:ln>
        </p:spPr>
        <p:txBody xmlns:a="http://schemas.openxmlformats.org/drawingml/2006/main">
          <a:bodyPr/>
          <a:p/>
        </p:txBody>
      </p:sp>
      <p:sp>
        <p:nvSpPr>
          <p:cNvPr id="5224" name="Week rule 8 2026-11-23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30874" y="3100781"/>
            <a:ext cx="0" cy="176857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3">
            <a:solidFill>
              <a:srgbClr val="DADADA"/>
            </a:solidFill>
          </a:ln>
        </p:spPr>
        <p:txBody xmlns:a="http://schemas.openxmlformats.org/drawingml/2006/main">
          <a:bodyPr/>
          <a:p/>
        </p:txBody>
      </p:sp>
      <p:sp>
        <p:nvSpPr>
          <p:cNvPr id="5225" name="Week rule 8 2026-11-30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28858" y="3100781"/>
            <a:ext cx="0" cy="176857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3">
            <a:solidFill>
              <a:srgbClr val="DADADA"/>
            </a:solidFill>
          </a:ln>
        </p:spPr>
        <p:txBody xmlns:a="http://schemas.openxmlformats.org/drawingml/2006/main">
          <a:bodyPr/>
          <a:p/>
        </p:txBody>
      </p:sp>
      <p:sp>
        <p:nvSpPr>
          <p:cNvPr id="5226" name="Week rule 8 2026-12-07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26842" y="3100781"/>
            <a:ext cx="0" cy="176857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3">
            <a:solidFill>
              <a:srgbClr val="DADADA"/>
            </a:solidFill>
          </a:ln>
        </p:spPr>
        <p:txBody xmlns:a="http://schemas.openxmlformats.org/drawingml/2006/main">
          <a:bodyPr/>
          <a:p/>
        </p:txBody>
      </p:sp>
      <p:sp>
        <p:nvSpPr>
          <p:cNvPr id="5227" name="Week rule 8 2026-12-14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4826" y="3100781"/>
            <a:ext cx="0" cy="176857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3">
            <a:solidFill>
              <a:srgbClr val="DADADA"/>
            </a:solidFill>
          </a:ln>
        </p:spPr>
        <p:txBody xmlns:a="http://schemas.openxmlformats.org/drawingml/2006/main">
          <a:bodyPr/>
          <a:p/>
        </p:txBody>
      </p:sp>
      <p:sp>
        <p:nvSpPr>
          <p:cNvPr id="5228" name="Week rule 8 2026-12-21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822810" y="3100781"/>
            <a:ext cx="0" cy="176857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3">
            <a:solidFill>
              <a:srgbClr val="DADADA"/>
            </a:solidFill>
          </a:ln>
        </p:spPr>
        <p:txBody xmlns:a="http://schemas.openxmlformats.org/drawingml/2006/main">
          <a:bodyPr/>
          <a:p/>
        </p:txBody>
      </p:sp>
      <p:sp>
        <p:nvSpPr>
          <p:cNvPr id="5229" name="Week rule 8 2026-12-28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120794" y="3100781"/>
            <a:ext cx="0" cy="176857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3">
            <a:solidFill>
              <a:srgbClr val="DADADA"/>
            </a:solidFill>
          </a:ln>
        </p:spPr>
        <p:txBody xmlns:a="http://schemas.openxmlformats.org/drawingml/2006/main">
          <a:bodyPr/>
          <a:p/>
        </p:txBody>
      </p:sp>
      <p:sp>
        <p:nvSpPr>
          <p:cNvPr id="5230" name="Week rule 8 2027-01-04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18778" y="3100781"/>
            <a:ext cx="0" cy="176857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3">
            <a:solidFill>
              <a:srgbClr val="DADADA"/>
            </a:solidFill>
          </a:ln>
        </p:spPr>
        <p:txBody xmlns:a="http://schemas.openxmlformats.org/drawingml/2006/main">
          <a:bodyPr/>
          <a:p/>
        </p:txBody>
      </p:sp>
      <p:sp>
        <p:nvSpPr>
          <p:cNvPr id="5231" name="Week rule 8 2027-02-01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95552" y="3100781"/>
            <a:ext cx="0" cy="176857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3">
            <a:solidFill>
              <a:srgbClr val="DADADA"/>
            </a:solidFill>
          </a:ln>
        </p:spPr>
        <p:txBody xmlns:a="http://schemas.openxmlformats.org/drawingml/2006/main">
          <a:bodyPr/>
          <a:p/>
        </p:txBody>
      </p:sp>
      <p:sp>
        <p:nvSpPr>
          <p:cNvPr id="5232" name="Week rule 8 2027-03-01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72326" y="3100781"/>
            <a:ext cx="0" cy="176857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3">
            <a:solidFill>
              <a:srgbClr val="DADADA"/>
            </a:solidFill>
          </a:ln>
        </p:spPr>
        <p:txBody xmlns:a="http://schemas.openxmlformats.org/drawingml/2006/main">
          <a:bodyPr/>
          <a:p/>
        </p:txBody>
      </p:sp>
      <p:sp>
        <p:nvSpPr>
          <p:cNvPr id="5233" name="Task 8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2425" y="3100781"/>
            <a:ext cx="4152900" cy="176857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38100" tIns="0" rIns="3810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defRPr sz="938" b="0">
                <a:solidFill>
                  <a:srgbClr val="111111"/>
                </a:solidFill>
                <a:latin typeface="Arial"/>
                <a:ea typeface="Arial"/>
                <a:cs typeface="Arial"/>
              </a:defRPr>
            </a:pPr>
            <a:r>
              <a:rPr sz="938" b="0">
                <a:solidFill>
                  <a:srgbClr val="111111"/>
                </a:solidFill>
                <a:latin typeface="Arial"/>
                <a:ea typeface="Arial"/>
                <a:cs typeface="Arial"/>
              </a:rPr>
              <a:t>Controls with mRFP, repeated runs and synthesis</a:t>
            </a:r>
          </a:p>
        </p:txBody>
      </p:sp>
      <p:sp>
        <p:nvSpPr>
          <p:cNvPr id="5234" name="Status 8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14850" y="3100781"/>
            <a:ext cx="838200" cy="176857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38100" tIns="0" rIns="3810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defRPr sz="848" b="0">
                <a:solidFill>
                  <a:srgbClr val="111111"/>
                </a:solidFill>
                <a:latin typeface="Arial"/>
                <a:ea typeface="Arial"/>
                <a:cs typeface="Arial"/>
              </a:defRPr>
            </a:pPr>
            <a:r>
              <a:rPr sz="848" b="0">
                <a:solidFill>
                  <a:srgbClr val="111111"/>
                </a:solidFill>
                <a:latin typeface="Arial"/>
                <a:ea typeface="Arial"/>
                <a:cs typeface="Arial"/>
              </a:rPr>
              <a:t>Planned</a:t>
            </a:r>
          </a:p>
        </p:txBody>
      </p:sp>
      <p:sp>
        <p:nvSpPr>
          <p:cNvPr id="5235" name="Bar 8 0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42970" y="3136822"/>
            <a:ext cx="297984" cy="1047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7BEC4"/>
          </a:solidFill>
          <a:ln xmlns:a="http://schemas.openxmlformats.org/drawingml/2006/main" w="0">
            <a:noFill/>
          </a:ln>
        </p:spPr>
        <p:txBody xmlns:a="http://schemas.openxmlformats.org/drawingml/2006/main">
          <a:bodyPr/>
          <a:p/>
        </p:txBody>
      </p:sp>
      <p:sp>
        <p:nvSpPr>
          <p:cNvPr id="5236" name="Bar 8 1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40954" y="3136822"/>
            <a:ext cx="297984" cy="1047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7BEC4"/>
          </a:solidFill>
          <a:ln xmlns:a="http://schemas.openxmlformats.org/drawingml/2006/main" w="0">
            <a:noFill/>
          </a:ln>
        </p:spPr>
        <p:txBody xmlns:a="http://schemas.openxmlformats.org/drawingml/2006/main">
          <a:bodyPr/>
          <a:p/>
        </p:txBody>
      </p:sp>
      <p:sp>
        <p:nvSpPr>
          <p:cNvPr id="5237" name="Bar 8 2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38938" y="3136822"/>
            <a:ext cx="297984" cy="1047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7BEC4"/>
          </a:solidFill>
          <a:ln xmlns:a="http://schemas.openxmlformats.org/drawingml/2006/main" w="0">
            <a:noFill/>
          </a:ln>
        </p:spPr>
        <p:txBody xmlns:a="http://schemas.openxmlformats.org/drawingml/2006/main">
          <a:bodyPr/>
          <a:p/>
        </p:txBody>
      </p:sp>
      <p:sp>
        <p:nvSpPr>
          <p:cNvPr id="5238" name="Bar 8 3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36922" y="3136822"/>
            <a:ext cx="297984" cy="1047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7BEC4"/>
          </a:solidFill>
          <a:ln xmlns:a="http://schemas.openxmlformats.org/drawingml/2006/main" w="0">
            <a:noFill/>
          </a:ln>
        </p:spPr>
        <p:txBody xmlns:a="http://schemas.openxmlformats.org/drawingml/2006/main">
          <a:bodyPr/>
          <a:p/>
        </p:txBody>
      </p:sp>
      <p:sp>
        <p:nvSpPr>
          <p:cNvPr id="5239" name="Bar 8 4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34906" y="3136822"/>
            <a:ext cx="297984" cy="1047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7BEC4"/>
          </a:solidFill>
          <a:ln xmlns:a="http://schemas.openxmlformats.org/drawingml/2006/main" w="0">
            <a:noFill/>
          </a:ln>
        </p:spPr>
        <p:txBody xmlns:a="http://schemas.openxmlformats.org/drawingml/2006/main">
          <a:bodyPr/>
          <a:p/>
        </p:txBody>
      </p:sp>
      <p:sp>
        <p:nvSpPr>
          <p:cNvPr id="5240" name="Bar 8 5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32890" y="3136822"/>
            <a:ext cx="297984" cy="1047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7BEC4"/>
          </a:solidFill>
          <a:ln xmlns:a="http://schemas.openxmlformats.org/drawingml/2006/main" w="0">
            <a:noFill/>
          </a:ln>
        </p:spPr>
        <p:txBody xmlns:a="http://schemas.openxmlformats.org/drawingml/2006/main">
          <a:bodyPr/>
          <a:p/>
        </p:txBody>
      </p:sp>
      <p:sp>
        <p:nvSpPr>
          <p:cNvPr id="5241" name="Bar 8 6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30874" y="3136822"/>
            <a:ext cx="297984" cy="1047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7BEC4"/>
          </a:solidFill>
          <a:ln xmlns:a="http://schemas.openxmlformats.org/drawingml/2006/main" w="0">
            <a:noFill/>
          </a:ln>
        </p:spPr>
        <p:txBody xmlns:a="http://schemas.openxmlformats.org/drawingml/2006/main">
          <a:bodyPr/>
          <a:p/>
        </p:txBody>
      </p:sp>
      <p:sp>
        <p:nvSpPr>
          <p:cNvPr id="5242" name="Row rule 8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3850" y="3277638"/>
            <a:ext cx="115252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3">
            <a:solidFill>
              <a:srgbClr val="DADADA"/>
            </a:solidFill>
          </a:ln>
        </p:spPr>
        <p:txBody xmlns:a="http://schemas.openxmlformats.org/drawingml/2006/main">
          <a:bodyPr/>
          <a:p/>
        </p:txBody>
      </p:sp>
      <p:sp>
        <p:nvSpPr>
          <p:cNvPr id="5243" name="Row tint 9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3850" y="3277638"/>
            <a:ext cx="11525250" cy="176857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7F7F7"/>
          </a:solidFill>
          <a:ln xmlns:a="http://schemas.openxmlformats.org/drawingml/2006/main" w="0">
            <a:noFill/>
          </a:ln>
        </p:spPr>
        <p:txBody xmlns:a="http://schemas.openxmlformats.org/drawingml/2006/main">
          <a:bodyPr/>
          <a:p/>
        </p:txBody>
      </p:sp>
      <p:sp>
        <p:nvSpPr>
          <p:cNvPr id="5244" name="Week rule 9 2026-09-07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53050" y="3277638"/>
            <a:ext cx="0" cy="176857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3">
            <a:solidFill>
              <a:srgbClr val="DADADA"/>
            </a:solidFill>
          </a:ln>
        </p:spPr>
        <p:txBody xmlns:a="http://schemas.openxmlformats.org/drawingml/2006/main">
          <a:bodyPr/>
          <a:p/>
        </p:txBody>
      </p:sp>
      <p:sp>
        <p:nvSpPr>
          <p:cNvPr id="5245" name="Week rule 9 2026-09-14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51034" y="3277638"/>
            <a:ext cx="0" cy="176857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3">
            <a:solidFill>
              <a:srgbClr val="DADADA"/>
            </a:solidFill>
          </a:ln>
        </p:spPr>
        <p:txBody xmlns:a="http://schemas.openxmlformats.org/drawingml/2006/main">
          <a:bodyPr/>
          <a:p/>
        </p:txBody>
      </p:sp>
      <p:sp>
        <p:nvSpPr>
          <p:cNvPr id="5246" name="Week rule 9 2026-09-21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49018" y="3277638"/>
            <a:ext cx="0" cy="176857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3">
            <a:solidFill>
              <a:srgbClr val="DADADA"/>
            </a:solidFill>
          </a:ln>
        </p:spPr>
        <p:txBody xmlns:a="http://schemas.openxmlformats.org/drawingml/2006/main">
          <a:bodyPr/>
          <a:p/>
        </p:txBody>
      </p:sp>
      <p:sp>
        <p:nvSpPr>
          <p:cNvPr id="5247" name="Week rule 9 2026-09-28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47002" y="3277638"/>
            <a:ext cx="0" cy="176857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3">
            <a:solidFill>
              <a:srgbClr val="DADADA"/>
            </a:solidFill>
          </a:ln>
        </p:spPr>
        <p:txBody xmlns:a="http://schemas.openxmlformats.org/drawingml/2006/main">
          <a:bodyPr/>
          <a:p/>
        </p:txBody>
      </p:sp>
      <p:sp>
        <p:nvSpPr>
          <p:cNvPr id="5248" name="Week rule 9 2026-10-05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44986" y="3277638"/>
            <a:ext cx="0" cy="176857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3">
            <a:solidFill>
              <a:srgbClr val="DADADA"/>
            </a:solidFill>
          </a:ln>
        </p:spPr>
        <p:txBody xmlns:a="http://schemas.openxmlformats.org/drawingml/2006/main">
          <a:bodyPr/>
          <a:p/>
        </p:txBody>
      </p:sp>
      <p:sp>
        <p:nvSpPr>
          <p:cNvPr id="5249" name="Week rule 9 2026-10-12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42970" y="3277638"/>
            <a:ext cx="0" cy="176857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3">
            <a:solidFill>
              <a:srgbClr val="DADADA"/>
            </a:solidFill>
          </a:ln>
        </p:spPr>
        <p:txBody xmlns:a="http://schemas.openxmlformats.org/drawingml/2006/main">
          <a:bodyPr/>
          <a:p/>
        </p:txBody>
      </p:sp>
      <p:sp>
        <p:nvSpPr>
          <p:cNvPr id="5250" name="Week rule 9 2026-10-19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40954" y="3277638"/>
            <a:ext cx="0" cy="176857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3">
            <a:solidFill>
              <a:srgbClr val="DADADA"/>
            </a:solidFill>
          </a:ln>
        </p:spPr>
        <p:txBody xmlns:a="http://schemas.openxmlformats.org/drawingml/2006/main">
          <a:bodyPr/>
          <a:p/>
        </p:txBody>
      </p:sp>
      <p:sp>
        <p:nvSpPr>
          <p:cNvPr id="5251" name="Week rule 9 2026-10-26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38938" y="3277638"/>
            <a:ext cx="0" cy="176857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3">
            <a:solidFill>
              <a:srgbClr val="DADADA"/>
            </a:solidFill>
          </a:ln>
        </p:spPr>
        <p:txBody xmlns:a="http://schemas.openxmlformats.org/drawingml/2006/main">
          <a:bodyPr/>
          <a:p/>
        </p:txBody>
      </p:sp>
      <p:sp>
        <p:nvSpPr>
          <p:cNvPr id="5252" name="Week rule 9 2026-11-02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36922" y="3277638"/>
            <a:ext cx="0" cy="176857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3">
            <a:solidFill>
              <a:srgbClr val="DADADA"/>
            </a:solidFill>
          </a:ln>
        </p:spPr>
        <p:txBody xmlns:a="http://schemas.openxmlformats.org/drawingml/2006/main">
          <a:bodyPr/>
          <a:p/>
        </p:txBody>
      </p:sp>
      <p:sp>
        <p:nvSpPr>
          <p:cNvPr id="5253" name="Week rule 9 2026-11-09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34906" y="3277638"/>
            <a:ext cx="0" cy="176857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3">
            <a:solidFill>
              <a:srgbClr val="DADADA"/>
            </a:solidFill>
          </a:ln>
        </p:spPr>
        <p:txBody xmlns:a="http://schemas.openxmlformats.org/drawingml/2006/main">
          <a:bodyPr/>
          <a:p/>
        </p:txBody>
      </p:sp>
      <p:sp>
        <p:nvSpPr>
          <p:cNvPr id="5254" name="Week rule 9 2026-11-16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32890" y="3277638"/>
            <a:ext cx="0" cy="176857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3">
            <a:solidFill>
              <a:srgbClr val="DADADA"/>
            </a:solidFill>
          </a:ln>
        </p:spPr>
        <p:txBody xmlns:a="http://schemas.openxmlformats.org/drawingml/2006/main">
          <a:bodyPr/>
          <a:p/>
        </p:txBody>
      </p:sp>
      <p:sp>
        <p:nvSpPr>
          <p:cNvPr id="5255" name="Week rule 9 2026-11-23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30874" y="3277638"/>
            <a:ext cx="0" cy="176857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3">
            <a:solidFill>
              <a:srgbClr val="DADADA"/>
            </a:solidFill>
          </a:ln>
        </p:spPr>
        <p:txBody xmlns:a="http://schemas.openxmlformats.org/drawingml/2006/main">
          <a:bodyPr/>
          <a:p/>
        </p:txBody>
      </p:sp>
      <p:sp>
        <p:nvSpPr>
          <p:cNvPr id="5256" name="Week rule 9 2026-11-30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28858" y="3277638"/>
            <a:ext cx="0" cy="176857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3">
            <a:solidFill>
              <a:srgbClr val="DADADA"/>
            </a:solidFill>
          </a:ln>
        </p:spPr>
        <p:txBody xmlns:a="http://schemas.openxmlformats.org/drawingml/2006/main">
          <a:bodyPr/>
          <a:p/>
        </p:txBody>
      </p:sp>
      <p:sp>
        <p:nvSpPr>
          <p:cNvPr id="5257" name="Week rule 9 2026-12-07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26842" y="3277638"/>
            <a:ext cx="0" cy="176857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3">
            <a:solidFill>
              <a:srgbClr val="DADADA"/>
            </a:solidFill>
          </a:ln>
        </p:spPr>
        <p:txBody xmlns:a="http://schemas.openxmlformats.org/drawingml/2006/main">
          <a:bodyPr/>
          <a:p/>
        </p:txBody>
      </p:sp>
      <p:sp>
        <p:nvSpPr>
          <p:cNvPr id="5258" name="Week rule 9 2026-12-14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4826" y="3277638"/>
            <a:ext cx="0" cy="176857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3">
            <a:solidFill>
              <a:srgbClr val="DADADA"/>
            </a:solidFill>
          </a:ln>
        </p:spPr>
        <p:txBody xmlns:a="http://schemas.openxmlformats.org/drawingml/2006/main">
          <a:bodyPr/>
          <a:p/>
        </p:txBody>
      </p:sp>
      <p:sp>
        <p:nvSpPr>
          <p:cNvPr id="5259" name="Week rule 9 2026-12-21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822810" y="3277638"/>
            <a:ext cx="0" cy="176857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3">
            <a:solidFill>
              <a:srgbClr val="DADADA"/>
            </a:solidFill>
          </a:ln>
        </p:spPr>
        <p:txBody xmlns:a="http://schemas.openxmlformats.org/drawingml/2006/main">
          <a:bodyPr/>
          <a:p/>
        </p:txBody>
      </p:sp>
      <p:sp>
        <p:nvSpPr>
          <p:cNvPr id="5260" name="Week rule 9 2026-12-28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120794" y="3277638"/>
            <a:ext cx="0" cy="176857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3">
            <a:solidFill>
              <a:srgbClr val="DADADA"/>
            </a:solidFill>
          </a:ln>
        </p:spPr>
        <p:txBody xmlns:a="http://schemas.openxmlformats.org/drawingml/2006/main">
          <a:bodyPr/>
          <a:p/>
        </p:txBody>
      </p:sp>
      <p:sp>
        <p:nvSpPr>
          <p:cNvPr id="5261" name="Week rule 9 2027-01-04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18778" y="3277638"/>
            <a:ext cx="0" cy="176857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3">
            <a:solidFill>
              <a:srgbClr val="DADADA"/>
            </a:solidFill>
          </a:ln>
        </p:spPr>
        <p:txBody xmlns:a="http://schemas.openxmlformats.org/drawingml/2006/main">
          <a:bodyPr/>
          <a:p/>
        </p:txBody>
      </p:sp>
      <p:sp>
        <p:nvSpPr>
          <p:cNvPr id="5262" name="Week rule 9 2027-02-01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95552" y="3277638"/>
            <a:ext cx="0" cy="176857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3">
            <a:solidFill>
              <a:srgbClr val="DADADA"/>
            </a:solidFill>
          </a:ln>
        </p:spPr>
        <p:txBody xmlns:a="http://schemas.openxmlformats.org/drawingml/2006/main">
          <a:bodyPr/>
          <a:p/>
        </p:txBody>
      </p:sp>
      <p:sp>
        <p:nvSpPr>
          <p:cNvPr id="5263" name="Week rule 9 2027-03-01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72326" y="3277638"/>
            <a:ext cx="0" cy="176857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3">
            <a:solidFill>
              <a:srgbClr val="DADADA"/>
            </a:solidFill>
          </a:ln>
        </p:spPr>
        <p:txBody xmlns:a="http://schemas.openxmlformats.org/drawingml/2006/main">
          <a:bodyPr/>
          <a:p/>
        </p:txBody>
      </p:sp>
      <p:sp>
        <p:nvSpPr>
          <p:cNvPr id="5264" name="Task 9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2425" y="3277638"/>
            <a:ext cx="4152900" cy="176857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38100" tIns="0" rIns="3810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defRPr sz="938" b="0">
                <a:solidFill>
                  <a:srgbClr val="111111"/>
                </a:solidFill>
                <a:latin typeface="Arial"/>
                <a:ea typeface="Arial"/>
                <a:cs typeface="Arial"/>
              </a:defRPr>
            </a:pPr>
            <a:r>
              <a:rPr sz="938" b="0">
                <a:solidFill>
                  <a:srgbClr val="111111"/>
                </a:solidFill>
                <a:latin typeface="Arial"/>
                <a:ea typeface="Arial"/>
                <a:cs typeface="Arial"/>
              </a:rPr>
              <a:t>Coupled Mamba, cross-attention, alignment ablation</a:t>
            </a:r>
          </a:p>
        </p:txBody>
      </p:sp>
      <p:sp>
        <p:nvSpPr>
          <p:cNvPr id="5265" name="Status 9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14850" y="3277638"/>
            <a:ext cx="838200" cy="176857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38100" tIns="0" rIns="3810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defRPr sz="848" b="0">
                <a:solidFill>
                  <a:srgbClr val="111111"/>
                </a:solidFill>
                <a:latin typeface="Arial"/>
                <a:ea typeface="Arial"/>
                <a:cs typeface="Arial"/>
              </a:defRPr>
            </a:pPr>
            <a:r>
              <a:rPr sz="848" b="0">
                <a:solidFill>
                  <a:srgbClr val="111111"/>
                </a:solidFill>
                <a:latin typeface="Arial"/>
                <a:ea typeface="Arial"/>
                <a:cs typeface="Arial"/>
              </a:rPr>
              <a:t>Planned</a:t>
            </a:r>
          </a:p>
        </p:txBody>
      </p:sp>
      <p:sp>
        <p:nvSpPr>
          <p:cNvPr id="5266" name="Bar 9 0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18778" y="3313679"/>
            <a:ext cx="476774" cy="1047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7BEC4"/>
          </a:solidFill>
          <a:ln xmlns:a="http://schemas.openxmlformats.org/drawingml/2006/main" w="0">
            <a:noFill/>
          </a:ln>
        </p:spPr>
        <p:txBody xmlns:a="http://schemas.openxmlformats.org/drawingml/2006/main">
          <a:bodyPr/>
          <a:p/>
        </p:txBody>
      </p:sp>
      <p:sp>
        <p:nvSpPr>
          <p:cNvPr id="5267" name="Bar 9 1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95552" y="3313679"/>
            <a:ext cx="476774" cy="1047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7BEC4"/>
          </a:solidFill>
          <a:ln xmlns:a="http://schemas.openxmlformats.org/drawingml/2006/main" w="0">
            <a:noFill/>
          </a:ln>
        </p:spPr>
        <p:txBody xmlns:a="http://schemas.openxmlformats.org/drawingml/2006/main">
          <a:bodyPr/>
          <a:p/>
        </p:txBody>
      </p:sp>
      <p:sp>
        <p:nvSpPr>
          <p:cNvPr id="5268" name="Row rule 9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3850" y="3454495"/>
            <a:ext cx="115252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3">
            <a:solidFill>
              <a:srgbClr val="DADADA"/>
            </a:solidFill>
          </a:ln>
        </p:spPr>
        <p:txBody xmlns:a="http://schemas.openxmlformats.org/drawingml/2006/main">
          <a:bodyPr/>
          <a:p/>
        </p:txBody>
      </p:sp>
      <p:sp>
        <p:nvSpPr>
          <p:cNvPr id="5269" name="Week rule 10 2026-09-07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53050" y="3454495"/>
            <a:ext cx="0" cy="176857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3">
            <a:solidFill>
              <a:srgbClr val="DADADA"/>
            </a:solidFill>
          </a:ln>
        </p:spPr>
        <p:txBody xmlns:a="http://schemas.openxmlformats.org/drawingml/2006/main">
          <a:bodyPr/>
          <a:p/>
        </p:txBody>
      </p:sp>
      <p:sp>
        <p:nvSpPr>
          <p:cNvPr id="5270" name="Week rule 10 2026-09-14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51034" y="3454495"/>
            <a:ext cx="0" cy="176857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3">
            <a:solidFill>
              <a:srgbClr val="DADADA"/>
            </a:solidFill>
          </a:ln>
        </p:spPr>
        <p:txBody xmlns:a="http://schemas.openxmlformats.org/drawingml/2006/main">
          <a:bodyPr/>
          <a:p/>
        </p:txBody>
      </p:sp>
      <p:sp>
        <p:nvSpPr>
          <p:cNvPr id="5271" name="Week rule 10 2026-09-21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49018" y="3454495"/>
            <a:ext cx="0" cy="176857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3">
            <a:solidFill>
              <a:srgbClr val="DADADA"/>
            </a:solidFill>
          </a:ln>
        </p:spPr>
        <p:txBody xmlns:a="http://schemas.openxmlformats.org/drawingml/2006/main">
          <a:bodyPr/>
          <a:p/>
        </p:txBody>
      </p:sp>
      <p:sp>
        <p:nvSpPr>
          <p:cNvPr id="5272" name="Week rule 10 2026-09-28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47002" y="3454495"/>
            <a:ext cx="0" cy="176857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3">
            <a:solidFill>
              <a:srgbClr val="DADADA"/>
            </a:solidFill>
          </a:ln>
        </p:spPr>
        <p:txBody xmlns:a="http://schemas.openxmlformats.org/drawingml/2006/main">
          <a:bodyPr/>
          <a:p/>
        </p:txBody>
      </p:sp>
      <p:sp>
        <p:nvSpPr>
          <p:cNvPr id="5273" name="Week rule 10 2026-10-05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44986" y="3454495"/>
            <a:ext cx="0" cy="176857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3">
            <a:solidFill>
              <a:srgbClr val="DADADA"/>
            </a:solidFill>
          </a:ln>
        </p:spPr>
        <p:txBody xmlns:a="http://schemas.openxmlformats.org/drawingml/2006/main">
          <a:bodyPr/>
          <a:p/>
        </p:txBody>
      </p:sp>
      <p:sp>
        <p:nvSpPr>
          <p:cNvPr id="5274" name="Week rule 10 2026-10-12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42970" y="3454495"/>
            <a:ext cx="0" cy="176857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3">
            <a:solidFill>
              <a:srgbClr val="DADADA"/>
            </a:solidFill>
          </a:ln>
        </p:spPr>
        <p:txBody xmlns:a="http://schemas.openxmlformats.org/drawingml/2006/main">
          <a:bodyPr/>
          <a:p/>
        </p:txBody>
      </p:sp>
      <p:sp>
        <p:nvSpPr>
          <p:cNvPr id="5275" name="Week rule 10 2026-10-19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40954" y="3454495"/>
            <a:ext cx="0" cy="176857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3">
            <a:solidFill>
              <a:srgbClr val="DADADA"/>
            </a:solidFill>
          </a:ln>
        </p:spPr>
        <p:txBody xmlns:a="http://schemas.openxmlformats.org/drawingml/2006/main">
          <a:bodyPr/>
          <a:p/>
        </p:txBody>
      </p:sp>
      <p:sp>
        <p:nvSpPr>
          <p:cNvPr id="5276" name="Week rule 10 2026-10-26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38938" y="3454495"/>
            <a:ext cx="0" cy="176857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3">
            <a:solidFill>
              <a:srgbClr val="DADADA"/>
            </a:solidFill>
          </a:ln>
        </p:spPr>
        <p:txBody xmlns:a="http://schemas.openxmlformats.org/drawingml/2006/main">
          <a:bodyPr/>
          <a:p/>
        </p:txBody>
      </p:sp>
      <p:sp>
        <p:nvSpPr>
          <p:cNvPr id="5277" name="Week rule 10 2026-11-02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36922" y="3454495"/>
            <a:ext cx="0" cy="176857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3">
            <a:solidFill>
              <a:srgbClr val="DADADA"/>
            </a:solidFill>
          </a:ln>
        </p:spPr>
        <p:txBody xmlns:a="http://schemas.openxmlformats.org/drawingml/2006/main">
          <a:bodyPr/>
          <a:p/>
        </p:txBody>
      </p:sp>
      <p:sp>
        <p:nvSpPr>
          <p:cNvPr id="5278" name="Week rule 10 2026-11-09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34906" y="3454495"/>
            <a:ext cx="0" cy="176857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3">
            <a:solidFill>
              <a:srgbClr val="DADADA"/>
            </a:solidFill>
          </a:ln>
        </p:spPr>
        <p:txBody xmlns:a="http://schemas.openxmlformats.org/drawingml/2006/main">
          <a:bodyPr/>
          <a:p/>
        </p:txBody>
      </p:sp>
      <p:sp>
        <p:nvSpPr>
          <p:cNvPr id="5279" name="Week rule 10 2026-11-16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32890" y="3454495"/>
            <a:ext cx="0" cy="176857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3">
            <a:solidFill>
              <a:srgbClr val="DADADA"/>
            </a:solidFill>
          </a:ln>
        </p:spPr>
        <p:txBody xmlns:a="http://schemas.openxmlformats.org/drawingml/2006/main">
          <a:bodyPr/>
          <a:p/>
        </p:txBody>
      </p:sp>
      <p:sp>
        <p:nvSpPr>
          <p:cNvPr id="5280" name="Week rule 10 2026-11-23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30874" y="3454495"/>
            <a:ext cx="0" cy="176857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3">
            <a:solidFill>
              <a:srgbClr val="DADADA"/>
            </a:solidFill>
          </a:ln>
        </p:spPr>
        <p:txBody xmlns:a="http://schemas.openxmlformats.org/drawingml/2006/main">
          <a:bodyPr/>
          <a:p/>
        </p:txBody>
      </p:sp>
      <p:sp>
        <p:nvSpPr>
          <p:cNvPr id="5281" name="Week rule 10 2026-11-30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28858" y="3454495"/>
            <a:ext cx="0" cy="176857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3">
            <a:solidFill>
              <a:srgbClr val="DADADA"/>
            </a:solidFill>
          </a:ln>
        </p:spPr>
        <p:txBody xmlns:a="http://schemas.openxmlformats.org/drawingml/2006/main">
          <a:bodyPr/>
          <a:p/>
        </p:txBody>
      </p:sp>
      <p:sp>
        <p:nvSpPr>
          <p:cNvPr id="5282" name="Week rule 10 2026-12-07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26842" y="3454495"/>
            <a:ext cx="0" cy="176857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3">
            <a:solidFill>
              <a:srgbClr val="DADADA"/>
            </a:solidFill>
          </a:ln>
        </p:spPr>
        <p:txBody xmlns:a="http://schemas.openxmlformats.org/drawingml/2006/main">
          <a:bodyPr/>
          <a:p/>
        </p:txBody>
      </p:sp>
      <p:sp>
        <p:nvSpPr>
          <p:cNvPr id="5283" name="Week rule 10 2026-12-14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4826" y="3454495"/>
            <a:ext cx="0" cy="176857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3">
            <a:solidFill>
              <a:srgbClr val="DADADA"/>
            </a:solidFill>
          </a:ln>
        </p:spPr>
        <p:txBody xmlns:a="http://schemas.openxmlformats.org/drawingml/2006/main">
          <a:bodyPr/>
          <a:p/>
        </p:txBody>
      </p:sp>
      <p:sp>
        <p:nvSpPr>
          <p:cNvPr id="5284" name="Week rule 10 2026-12-21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822810" y="3454495"/>
            <a:ext cx="0" cy="176857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3">
            <a:solidFill>
              <a:srgbClr val="DADADA"/>
            </a:solidFill>
          </a:ln>
        </p:spPr>
        <p:txBody xmlns:a="http://schemas.openxmlformats.org/drawingml/2006/main">
          <a:bodyPr/>
          <a:p/>
        </p:txBody>
      </p:sp>
      <p:sp>
        <p:nvSpPr>
          <p:cNvPr id="5285" name="Week rule 10 2026-12-28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120794" y="3454495"/>
            <a:ext cx="0" cy="176857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3">
            <a:solidFill>
              <a:srgbClr val="DADADA"/>
            </a:solidFill>
          </a:ln>
        </p:spPr>
        <p:txBody xmlns:a="http://schemas.openxmlformats.org/drawingml/2006/main">
          <a:bodyPr/>
          <a:p/>
        </p:txBody>
      </p:sp>
      <p:sp>
        <p:nvSpPr>
          <p:cNvPr id="5286" name="Week rule 10 2027-01-04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18778" y="3454495"/>
            <a:ext cx="0" cy="176857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3">
            <a:solidFill>
              <a:srgbClr val="DADADA"/>
            </a:solidFill>
          </a:ln>
        </p:spPr>
        <p:txBody xmlns:a="http://schemas.openxmlformats.org/drawingml/2006/main">
          <a:bodyPr/>
          <a:p/>
        </p:txBody>
      </p:sp>
      <p:sp>
        <p:nvSpPr>
          <p:cNvPr id="5287" name="Week rule 10 2027-02-01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95552" y="3454495"/>
            <a:ext cx="0" cy="176857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3">
            <a:solidFill>
              <a:srgbClr val="DADADA"/>
            </a:solidFill>
          </a:ln>
        </p:spPr>
        <p:txBody xmlns:a="http://schemas.openxmlformats.org/drawingml/2006/main">
          <a:bodyPr/>
          <a:p/>
        </p:txBody>
      </p:sp>
      <p:sp>
        <p:nvSpPr>
          <p:cNvPr id="5288" name="Week rule 10 2027-03-01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72326" y="3454495"/>
            <a:ext cx="0" cy="176857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3">
            <a:solidFill>
              <a:srgbClr val="DADADA"/>
            </a:solidFill>
          </a:ln>
        </p:spPr>
        <p:txBody xmlns:a="http://schemas.openxmlformats.org/drawingml/2006/main">
          <a:bodyPr/>
          <a:p/>
        </p:txBody>
      </p:sp>
      <p:sp>
        <p:nvSpPr>
          <p:cNvPr id="5289" name="Task 10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2425" y="3454495"/>
            <a:ext cx="4152900" cy="176857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38100" tIns="0" rIns="3810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defRPr sz="938" b="0">
                <a:solidFill>
                  <a:srgbClr val="111111"/>
                </a:solidFill>
                <a:latin typeface="Arial"/>
                <a:ea typeface="Arial"/>
                <a:cs typeface="Arial"/>
              </a:defRPr>
            </a:pPr>
            <a:r>
              <a:rPr sz="938" b="0">
                <a:solidFill>
                  <a:srgbClr val="111111"/>
                </a:solidFill>
                <a:latin typeface="Arial"/>
                <a:ea typeface="Arial"/>
                <a:cs typeface="Arial"/>
              </a:rPr>
              <a:t>Optional layer and tokenizer comparisons</a:t>
            </a:r>
          </a:p>
        </p:txBody>
      </p:sp>
      <p:sp>
        <p:nvSpPr>
          <p:cNvPr id="5290" name="Status 10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14850" y="3454495"/>
            <a:ext cx="838200" cy="176857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38100" tIns="0" rIns="3810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defRPr sz="848" b="0">
                <a:solidFill>
                  <a:srgbClr val="111111"/>
                </a:solidFill>
                <a:latin typeface="Arial"/>
                <a:ea typeface="Arial"/>
                <a:cs typeface="Arial"/>
              </a:defRPr>
            </a:pPr>
            <a:r>
              <a:rPr sz="848" b="0">
                <a:solidFill>
                  <a:srgbClr val="111111"/>
                </a:solidFill>
                <a:latin typeface="Arial"/>
                <a:ea typeface="Arial"/>
                <a:cs typeface="Arial"/>
              </a:rPr>
              <a:t>Conditional</a:t>
            </a:r>
          </a:p>
        </p:txBody>
      </p:sp>
      <p:sp>
        <p:nvSpPr>
          <p:cNvPr id="5291" name="Bar 10 0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87555" y="3490536"/>
            <a:ext cx="255414" cy="1047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666666"/>
            </a:solidFill>
          </a:ln>
        </p:spPr>
        <p:txBody xmlns:a="http://schemas.openxmlformats.org/drawingml/2006/main">
          <a:bodyPr/>
          <a:p/>
        </p:txBody>
      </p:sp>
      <p:sp>
        <p:nvSpPr>
          <p:cNvPr id="5292" name="Bar 10 1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42970" y="3490536"/>
            <a:ext cx="297984" cy="1047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666666"/>
            </a:solidFill>
          </a:ln>
        </p:spPr>
        <p:txBody xmlns:a="http://schemas.openxmlformats.org/drawingml/2006/main">
          <a:bodyPr/>
          <a:p/>
        </p:txBody>
      </p:sp>
      <p:sp>
        <p:nvSpPr>
          <p:cNvPr id="5293" name="Bar 10 2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40954" y="3490536"/>
            <a:ext cx="297984" cy="1047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666666"/>
            </a:solidFill>
          </a:ln>
        </p:spPr>
        <p:txBody xmlns:a="http://schemas.openxmlformats.org/drawingml/2006/main">
          <a:bodyPr/>
          <a:p/>
        </p:txBody>
      </p:sp>
      <p:sp>
        <p:nvSpPr>
          <p:cNvPr id="5294" name="Bar 10 3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38938" y="3490536"/>
            <a:ext cx="297984" cy="1047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666666"/>
            </a:solidFill>
          </a:ln>
        </p:spPr>
        <p:txBody xmlns:a="http://schemas.openxmlformats.org/drawingml/2006/main">
          <a:bodyPr/>
          <a:p/>
        </p:txBody>
      </p:sp>
      <p:sp>
        <p:nvSpPr>
          <p:cNvPr id="5295" name="Bar 10 4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36922" y="3490536"/>
            <a:ext cx="297984" cy="1047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666666"/>
            </a:solidFill>
          </a:ln>
        </p:spPr>
        <p:txBody xmlns:a="http://schemas.openxmlformats.org/drawingml/2006/main">
          <a:bodyPr/>
          <a:p/>
        </p:txBody>
      </p:sp>
      <p:sp>
        <p:nvSpPr>
          <p:cNvPr id="5296" name="Bar 10 5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34906" y="3490536"/>
            <a:ext cx="297984" cy="1047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666666"/>
            </a:solidFill>
          </a:ln>
        </p:spPr>
        <p:txBody xmlns:a="http://schemas.openxmlformats.org/drawingml/2006/main">
          <a:bodyPr/>
          <a:p/>
        </p:txBody>
      </p:sp>
      <p:sp>
        <p:nvSpPr>
          <p:cNvPr id="5297" name="Row rule 10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3850" y="3631352"/>
            <a:ext cx="115252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3">
            <a:solidFill>
              <a:srgbClr val="DADADA"/>
            </a:solidFill>
          </a:ln>
        </p:spPr>
        <p:txBody xmlns:a="http://schemas.openxmlformats.org/drawingml/2006/main">
          <a:bodyPr/>
          <a:p/>
        </p:txBody>
      </p:sp>
      <p:sp>
        <p:nvSpPr>
          <p:cNvPr id="5298" name="Section Research writing and coordination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3850" y="3631352"/>
            <a:ext cx="11525250" cy="2000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DE4EA"/>
          </a:solidFill>
          <a:ln xmlns:a="http://schemas.openxmlformats.org/drawingml/2006/main" w="0">
            <a:noFill/>
          </a:ln>
        </p:spPr>
        <p:txBody xmlns:a="http://schemas.openxmlformats.org/drawingml/2006/main">
          <a:bodyPr/>
          <a:p/>
        </p:txBody>
      </p:sp>
      <p:sp>
        <p:nvSpPr>
          <p:cNvPr id="5299" name="Section title Research writing and coordination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2425" y="3631352"/>
            <a:ext cx="11468100" cy="2000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38100" tIns="0" rIns="3810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pPr>
            <a:r>
              <a:rPr sz="1050" b="1">
                <a:solidFill>
                  <a:srgbClr val="111111"/>
                </a:solidFill>
                <a:latin typeface="Arial"/>
                <a:ea typeface="Arial"/>
                <a:cs typeface="Arial"/>
              </a:rPr>
              <a:t>Research writing and coordination</a:t>
            </a:r>
          </a:p>
        </p:txBody>
      </p:sp>
      <p:sp>
        <p:nvSpPr>
          <p:cNvPr id="5300" name="Row tint 11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3850" y="3831377"/>
            <a:ext cx="11525250" cy="176857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7F7F7"/>
          </a:solidFill>
          <a:ln xmlns:a="http://schemas.openxmlformats.org/drawingml/2006/main" w="0">
            <a:noFill/>
          </a:ln>
        </p:spPr>
        <p:txBody xmlns:a="http://schemas.openxmlformats.org/drawingml/2006/main">
          <a:bodyPr/>
          <a:p/>
        </p:txBody>
      </p:sp>
      <p:sp>
        <p:nvSpPr>
          <p:cNvPr id="5301" name="Week rule 11 2026-09-07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53050" y="3831377"/>
            <a:ext cx="0" cy="176857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3">
            <a:solidFill>
              <a:srgbClr val="DADADA"/>
            </a:solidFill>
          </a:ln>
        </p:spPr>
        <p:txBody xmlns:a="http://schemas.openxmlformats.org/drawingml/2006/main">
          <a:bodyPr/>
          <a:p/>
        </p:txBody>
      </p:sp>
      <p:sp>
        <p:nvSpPr>
          <p:cNvPr id="5302" name="Week rule 11 2026-09-14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51034" y="3831377"/>
            <a:ext cx="0" cy="176857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3">
            <a:solidFill>
              <a:srgbClr val="DADADA"/>
            </a:solidFill>
          </a:ln>
        </p:spPr>
        <p:txBody xmlns:a="http://schemas.openxmlformats.org/drawingml/2006/main">
          <a:bodyPr/>
          <a:p/>
        </p:txBody>
      </p:sp>
      <p:sp>
        <p:nvSpPr>
          <p:cNvPr id="5303" name="Week rule 11 2026-09-21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49018" y="3831377"/>
            <a:ext cx="0" cy="176857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3">
            <a:solidFill>
              <a:srgbClr val="DADADA"/>
            </a:solidFill>
          </a:ln>
        </p:spPr>
        <p:txBody xmlns:a="http://schemas.openxmlformats.org/drawingml/2006/main">
          <a:bodyPr/>
          <a:p/>
        </p:txBody>
      </p:sp>
      <p:sp>
        <p:nvSpPr>
          <p:cNvPr id="5304" name="Week rule 11 2026-09-28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47002" y="3831377"/>
            <a:ext cx="0" cy="176857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3">
            <a:solidFill>
              <a:srgbClr val="DADADA"/>
            </a:solidFill>
          </a:ln>
        </p:spPr>
        <p:txBody xmlns:a="http://schemas.openxmlformats.org/drawingml/2006/main">
          <a:bodyPr/>
          <a:p/>
        </p:txBody>
      </p:sp>
      <p:sp>
        <p:nvSpPr>
          <p:cNvPr id="5305" name="Week rule 11 2026-10-05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44986" y="3831377"/>
            <a:ext cx="0" cy="176857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3">
            <a:solidFill>
              <a:srgbClr val="DADADA"/>
            </a:solidFill>
          </a:ln>
        </p:spPr>
        <p:txBody xmlns:a="http://schemas.openxmlformats.org/drawingml/2006/main">
          <a:bodyPr/>
          <a:p/>
        </p:txBody>
      </p:sp>
      <p:sp>
        <p:nvSpPr>
          <p:cNvPr id="5306" name="Week rule 11 2026-10-12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42970" y="3831377"/>
            <a:ext cx="0" cy="176857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3">
            <a:solidFill>
              <a:srgbClr val="DADADA"/>
            </a:solidFill>
          </a:ln>
        </p:spPr>
        <p:txBody xmlns:a="http://schemas.openxmlformats.org/drawingml/2006/main">
          <a:bodyPr/>
          <a:p/>
        </p:txBody>
      </p:sp>
      <p:sp>
        <p:nvSpPr>
          <p:cNvPr id="5307" name="Week rule 11 2026-10-19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40954" y="3831377"/>
            <a:ext cx="0" cy="176857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3">
            <a:solidFill>
              <a:srgbClr val="DADADA"/>
            </a:solidFill>
          </a:ln>
        </p:spPr>
        <p:txBody xmlns:a="http://schemas.openxmlformats.org/drawingml/2006/main">
          <a:bodyPr/>
          <a:p/>
        </p:txBody>
      </p:sp>
      <p:sp>
        <p:nvSpPr>
          <p:cNvPr id="5308" name="Week rule 11 2026-10-26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38938" y="3831377"/>
            <a:ext cx="0" cy="176857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3">
            <a:solidFill>
              <a:srgbClr val="DADADA"/>
            </a:solidFill>
          </a:ln>
        </p:spPr>
        <p:txBody xmlns:a="http://schemas.openxmlformats.org/drawingml/2006/main">
          <a:bodyPr/>
          <a:p/>
        </p:txBody>
      </p:sp>
      <p:sp>
        <p:nvSpPr>
          <p:cNvPr id="5309" name="Week rule 11 2026-11-02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36922" y="3831377"/>
            <a:ext cx="0" cy="176857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3">
            <a:solidFill>
              <a:srgbClr val="DADADA"/>
            </a:solidFill>
          </a:ln>
        </p:spPr>
        <p:txBody xmlns:a="http://schemas.openxmlformats.org/drawingml/2006/main">
          <a:bodyPr/>
          <a:p/>
        </p:txBody>
      </p:sp>
      <p:sp>
        <p:nvSpPr>
          <p:cNvPr id="5310" name="Week rule 11 2026-11-09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34906" y="3831377"/>
            <a:ext cx="0" cy="176857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3">
            <a:solidFill>
              <a:srgbClr val="DADADA"/>
            </a:solidFill>
          </a:ln>
        </p:spPr>
        <p:txBody xmlns:a="http://schemas.openxmlformats.org/drawingml/2006/main">
          <a:bodyPr/>
          <a:p/>
        </p:txBody>
      </p:sp>
      <p:sp>
        <p:nvSpPr>
          <p:cNvPr id="5311" name="Week rule 11 2026-11-16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32890" y="3831377"/>
            <a:ext cx="0" cy="176857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3">
            <a:solidFill>
              <a:srgbClr val="DADADA"/>
            </a:solidFill>
          </a:ln>
        </p:spPr>
        <p:txBody xmlns:a="http://schemas.openxmlformats.org/drawingml/2006/main">
          <a:bodyPr/>
          <a:p/>
        </p:txBody>
      </p:sp>
      <p:sp>
        <p:nvSpPr>
          <p:cNvPr id="5312" name="Week rule 11 2026-11-23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30874" y="3831377"/>
            <a:ext cx="0" cy="176857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3">
            <a:solidFill>
              <a:srgbClr val="DADADA"/>
            </a:solidFill>
          </a:ln>
        </p:spPr>
        <p:txBody xmlns:a="http://schemas.openxmlformats.org/drawingml/2006/main">
          <a:bodyPr/>
          <a:p/>
        </p:txBody>
      </p:sp>
      <p:sp>
        <p:nvSpPr>
          <p:cNvPr id="5313" name="Week rule 11 2026-11-30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28858" y="3831377"/>
            <a:ext cx="0" cy="176857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3">
            <a:solidFill>
              <a:srgbClr val="DADADA"/>
            </a:solidFill>
          </a:ln>
        </p:spPr>
        <p:txBody xmlns:a="http://schemas.openxmlformats.org/drawingml/2006/main">
          <a:bodyPr/>
          <a:p/>
        </p:txBody>
      </p:sp>
      <p:sp>
        <p:nvSpPr>
          <p:cNvPr id="5314" name="Week rule 11 2026-12-07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26842" y="3831377"/>
            <a:ext cx="0" cy="176857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3">
            <a:solidFill>
              <a:srgbClr val="DADADA"/>
            </a:solidFill>
          </a:ln>
        </p:spPr>
        <p:txBody xmlns:a="http://schemas.openxmlformats.org/drawingml/2006/main">
          <a:bodyPr/>
          <a:p/>
        </p:txBody>
      </p:sp>
      <p:sp>
        <p:nvSpPr>
          <p:cNvPr id="5315" name="Week rule 11 2026-12-14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4826" y="3831377"/>
            <a:ext cx="0" cy="176857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3">
            <a:solidFill>
              <a:srgbClr val="DADADA"/>
            </a:solidFill>
          </a:ln>
        </p:spPr>
        <p:txBody xmlns:a="http://schemas.openxmlformats.org/drawingml/2006/main">
          <a:bodyPr/>
          <a:p/>
        </p:txBody>
      </p:sp>
      <p:sp>
        <p:nvSpPr>
          <p:cNvPr id="5316" name="Week rule 11 2026-12-21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822810" y="3831377"/>
            <a:ext cx="0" cy="176857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3">
            <a:solidFill>
              <a:srgbClr val="DADADA"/>
            </a:solidFill>
          </a:ln>
        </p:spPr>
        <p:txBody xmlns:a="http://schemas.openxmlformats.org/drawingml/2006/main">
          <a:bodyPr/>
          <a:p/>
        </p:txBody>
      </p:sp>
      <p:sp>
        <p:nvSpPr>
          <p:cNvPr id="5317" name="Week rule 11 2026-12-28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120794" y="3831377"/>
            <a:ext cx="0" cy="176857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3">
            <a:solidFill>
              <a:srgbClr val="DADADA"/>
            </a:solidFill>
          </a:ln>
        </p:spPr>
        <p:txBody xmlns:a="http://schemas.openxmlformats.org/drawingml/2006/main">
          <a:bodyPr/>
          <a:p/>
        </p:txBody>
      </p:sp>
      <p:sp>
        <p:nvSpPr>
          <p:cNvPr id="5318" name="Week rule 11 2027-01-04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18778" y="3831377"/>
            <a:ext cx="0" cy="176857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3">
            <a:solidFill>
              <a:srgbClr val="DADADA"/>
            </a:solidFill>
          </a:ln>
        </p:spPr>
        <p:txBody xmlns:a="http://schemas.openxmlformats.org/drawingml/2006/main">
          <a:bodyPr/>
          <a:p/>
        </p:txBody>
      </p:sp>
      <p:sp>
        <p:nvSpPr>
          <p:cNvPr id="5319" name="Week rule 11 2027-02-01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95552" y="3831377"/>
            <a:ext cx="0" cy="176857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3">
            <a:solidFill>
              <a:srgbClr val="DADADA"/>
            </a:solidFill>
          </a:ln>
        </p:spPr>
        <p:txBody xmlns:a="http://schemas.openxmlformats.org/drawingml/2006/main">
          <a:bodyPr/>
          <a:p/>
        </p:txBody>
      </p:sp>
      <p:sp>
        <p:nvSpPr>
          <p:cNvPr id="5320" name="Week rule 11 2027-03-01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72326" y="3831377"/>
            <a:ext cx="0" cy="176857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3">
            <a:solidFill>
              <a:srgbClr val="DADADA"/>
            </a:solidFill>
          </a:ln>
        </p:spPr>
        <p:txBody xmlns:a="http://schemas.openxmlformats.org/drawingml/2006/main">
          <a:bodyPr/>
          <a:p/>
        </p:txBody>
      </p:sp>
      <p:sp>
        <p:nvSpPr>
          <p:cNvPr id="5321" name="Task 11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2425" y="3831377"/>
            <a:ext cx="4152900" cy="176857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38100" tIns="0" rIns="3810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defRPr sz="938" b="0">
                <a:solidFill>
                  <a:srgbClr val="111111"/>
                </a:solidFill>
                <a:latin typeface="Arial"/>
                <a:ea typeface="Arial"/>
                <a:cs typeface="Arial"/>
              </a:defRPr>
            </a:pPr>
            <a:r>
              <a:rPr sz="938" b="0">
                <a:solidFill>
                  <a:srgbClr val="111111"/>
                </a:solidFill>
                <a:latin typeface="Arial"/>
                <a:ea typeface="Arial"/>
                <a:cs typeface="Arial"/>
              </a:rPr>
              <a:t>Team coordination and research decisions</a:t>
            </a:r>
          </a:p>
        </p:txBody>
      </p:sp>
      <p:sp>
        <p:nvSpPr>
          <p:cNvPr id="5322" name="Status 11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14850" y="3831377"/>
            <a:ext cx="838200" cy="176857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38100" tIns="0" rIns="3810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defRPr sz="848" b="0">
                <a:solidFill>
                  <a:srgbClr val="111111"/>
                </a:solidFill>
                <a:latin typeface="Arial"/>
                <a:ea typeface="Arial"/>
                <a:cs typeface="Arial"/>
              </a:defRPr>
            </a:pPr>
            <a:r>
              <a:rPr sz="848" b="0">
                <a:solidFill>
                  <a:srgbClr val="111111"/>
                </a:solidFill>
                <a:latin typeface="Arial"/>
                <a:ea typeface="Arial"/>
                <a:cs typeface="Arial"/>
              </a:rPr>
              <a:t>In progress</a:t>
            </a:r>
          </a:p>
        </p:txBody>
      </p:sp>
      <p:sp>
        <p:nvSpPr>
          <p:cNvPr id="5323" name="Bar 11 0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51034" y="3867418"/>
            <a:ext cx="297984" cy="1047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CA323"/>
          </a:solidFill>
          <a:ln xmlns:a="http://schemas.openxmlformats.org/drawingml/2006/main" w="0">
            <a:noFill/>
          </a:ln>
        </p:spPr>
        <p:txBody xmlns:a="http://schemas.openxmlformats.org/drawingml/2006/main">
          <a:bodyPr/>
          <a:p/>
        </p:txBody>
      </p:sp>
      <p:sp>
        <p:nvSpPr>
          <p:cNvPr id="5324" name="Bar 11 1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49018" y="3867418"/>
            <a:ext cx="297984" cy="1047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CA323"/>
          </a:solidFill>
          <a:ln xmlns:a="http://schemas.openxmlformats.org/drawingml/2006/main" w="0">
            <a:noFill/>
          </a:ln>
        </p:spPr>
        <p:txBody xmlns:a="http://schemas.openxmlformats.org/drawingml/2006/main">
          <a:bodyPr/>
          <a:p/>
        </p:txBody>
      </p:sp>
      <p:sp>
        <p:nvSpPr>
          <p:cNvPr id="5325" name="Bar 11 2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47002" y="3867418"/>
            <a:ext cx="297984" cy="1047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CA323"/>
          </a:solidFill>
          <a:ln xmlns:a="http://schemas.openxmlformats.org/drawingml/2006/main" w="0">
            <a:noFill/>
          </a:ln>
        </p:spPr>
        <p:txBody xmlns:a="http://schemas.openxmlformats.org/drawingml/2006/main">
          <a:bodyPr/>
          <a:p/>
        </p:txBody>
      </p:sp>
      <p:sp>
        <p:nvSpPr>
          <p:cNvPr id="5326" name="Bar 11 3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44986" y="3867418"/>
            <a:ext cx="297984" cy="1047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CA323"/>
          </a:solidFill>
          <a:ln xmlns:a="http://schemas.openxmlformats.org/drawingml/2006/main" w="0">
            <a:noFill/>
          </a:ln>
        </p:spPr>
        <p:txBody xmlns:a="http://schemas.openxmlformats.org/drawingml/2006/main">
          <a:bodyPr/>
          <a:p/>
        </p:txBody>
      </p:sp>
      <p:sp>
        <p:nvSpPr>
          <p:cNvPr id="5327" name="Bar 11 4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42970" y="3867418"/>
            <a:ext cx="297984" cy="1047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CA323"/>
          </a:solidFill>
          <a:ln xmlns:a="http://schemas.openxmlformats.org/drawingml/2006/main" w="0">
            <a:noFill/>
          </a:ln>
        </p:spPr>
        <p:txBody xmlns:a="http://schemas.openxmlformats.org/drawingml/2006/main">
          <a:bodyPr/>
          <a:p/>
        </p:txBody>
      </p:sp>
      <p:sp>
        <p:nvSpPr>
          <p:cNvPr id="5328" name="Bar 11 5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40954" y="3867418"/>
            <a:ext cx="297984" cy="1047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CA323"/>
          </a:solidFill>
          <a:ln xmlns:a="http://schemas.openxmlformats.org/drawingml/2006/main" w="0">
            <a:noFill/>
          </a:ln>
        </p:spPr>
        <p:txBody xmlns:a="http://schemas.openxmlformats.org/drawingml/2006/main">
          <a:bodyPr/>
          <a:p/>
        </p:txBody>
      </p:sp>
      <p:sp>
        <p:nvSpPr>
          <p:cNvPr id="5329" name="Bar 11 6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38938" y="3867418"/>
            <a:ext cx="297984" cy="1047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CA323"/>
          </a:solidFill>
          <a:ln xmlns:a="http://schemas.openxmlformats.org/drawingml/2006/main" w="0">
            <a:noFill/>
          </a:ln>
        </p:spPr>
        <p:txBody xmlns:a="http://schemas.openxmlformats.org/drawingml/2006/main">
          <a:bodyPr/>
          <a:p/>
        </p:txBody>
      </p:sp>
      <p:sp>
        <p:nvSpPr>
          <p:cNvPr id="5330" name="Bar 11 7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36922" y="3867418"/>
            <a:ext cx="297984" cy="1047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CA323"/>
          </a:solidFill>
          <a:ln xmlns:a="http://schemas.openxmlformats.org/drawingml/2006/main" w="0">
            <a:noFill/>
          </a:ln>
        </p:spPr>
        <p:txBody xmlns:a="http://schemas.openxmlformats.org/drawingml/2006/main">
          <a:bodyPr/>
          <a:p/>
        </p:txBody>
      </p:sp>
      <p:sp>
        <p:nvSpPr>
          <p:cNvPr id="5331" name="Bar 11 8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34906" y="3867418"/>
            <a:ext cx="297984" cy="1047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CA323"/>
          </a:solidFill>
          <a:ln xmlns:a="http://schemas.openxmlformats.org/drawingml/2006/main" w="0">
            <a:noFill/>
          </a:ln>
        </p:spPr>
        <p:txBody xmlns:a="http://schemas.openxmlformats.org/drawingml/2006/main">
          <a:bodyPr/>
          <a:p/>
        </p:txBody>
      </p:sp>
      <p:sp>
        <p:nvSpPr>
          <p:cNvPr id="5332" name="Bar 11 9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32890" y="3867418"/>
            <a:ext cx="297984" cy="1047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CA323"/>
          </a:solidFill>
          <a:ln xmlns:a="http://schemas.openxmlformats.org/drawingml/2006/main" w="0">
            <a:noFill/>
          </a:ln>
        </p:spPr>
        <p:txBody xmlns:a="http://schemas.openxmlformats.org/drawingml/2006/main">
          <a:bodyPr/>
          <a:p/>
        </p:txBody>
      </p:sp>
      <p:sp>
        <p:nvSpPr>
          <p:cNvPr id="5333" name="Bar 11 10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30874" y="3867418"/>
            <a:ext cx="297984" cy="1047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CA323"/>
          </a:solidFill>
          <a:ln xmlns:a="http://schemas.openxmlformats.org/drawingml/2006/main" w="0">
            <a:noFill/>
          </a:ln>
        </p:spPr>
        <p:txBody xmlns:a="http://schemas.openxmlformats.org/drawingml/2006/main">
          <a:bodyPr/>
          <a:p/>
        </p:txBody>
      </p:sp>
      <p:sp>
        <p:nvSpPr>
          <p:cNvPr id="5334" name="Bar 11 11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28858" y="3867418"/>
            <a:ext cx="297984" cy="1047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CA323"/>
          </a:solidFill>
          <a:ln xmlns:a="http://schemas.openxmlformats.org/drawingml/2006/main" w="0">
            <a:noFill/>
          </a:ln>
        </p:spPr>
        <p:txBody xmlns:a="http://schemas.openxmlformats.org/drawingml/2006/main">
          <a:bodyPr/>
          <a:p/>
        </p:txBody>
      </p:sp>
      <p:sp>
        <p:nvSpPr>
          <p:cNvPr id="5335" name="Bar 11 12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26842" y="3867418"/>
            <a:ext cx="297984" cy="1047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CA323"/>
          </a:solidFill>
          <a:ln xmlns:a="http://schemas.openxmlformats.org/drawingml/2006/main" w="0">
            <a:noFill/>
          </a:ln>
        </p:spPr>
        <p:txBody xmlns:a="http://schemas.openxmlformats.org/drawingml/2006/main">
          <a:bodyPr/>
          <a:p/>
        </p:txBody>
      </p:sp>
      <p:sp>
        <p:nvSpPr>
          <p:cNvPr id="5336" name="Bar 11 13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4826" y="3867418"/>
            <a:ext cx="297984" cy="1047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CA323"/>
          </a:solidFill>
          <a:ln xmlns:a="http://schemas.openxmlformats.org/drawingml/2006/main" w="0">
            <a:noFill/>
          </a:ln>
        </p:spPr>
        <p:txBody xmlns:a="http://schemas.openxmlformats.org/drawingml/2006/main">
          <a:bodyPr/>
          <a:p/>
        </p:txBody>
      </p:sp>
      <p:sp>
        <p:nvSpPr>
          <p:cNvPr id="5337" name="Bar 11 14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822810" y="3867418"/>
            <a:ext cx="297984" cy="1047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CA323"/>
          </a:solidFill>
          <a:ln xmlns:a="http://schemas.openxmlformats.org/drawingml/2006/main" w="0">
            <a:noFill/>
          </a:ln>
        </p:spPr>
        <p:txBody xmlns:a="http://schemas.openxmlformats.org/drawingml/2006/main">
          <a:bodyPr/>
          <a:p/>
        </p:txBody>
      </p:sp>
      <p:sp>
        <p:nvSpPr>
          <p:cNvPr id="5338" name="Bar 11 15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120794" y="3867418"/>
            <a:ext cx="297984" cy="1047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CA323"/>
          </a:solidFill>
          <a:ln xmlns:a="http://schemas.openxmlformats.org/drawingml/2006/main" w="0">
            <a:noFill/>
          </a:ln>
        </p:spPr>
        <p:txBody xmlns:a="http://schemas.openxmlformats.org/drawingml/2006/main">
          <a:bodyPr/>
          <a:p/>
        </p:txBody>
      </p:sp>
      <p:sp>
        <p:nvSpPr>
          <p:cNvPr id="5339" name="Bar 11 16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18778" y="3867418"/>
            <a:ext cx="476774" cy="1047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CA323"/>
          </a:solidFill>
          <a:ln xmlns:a="http://schemas.openxmlformats.org/drawingml/2006/main" w="0">
            <a:noFill/>
          </a:ln>
        </p:spPr>
        <p:txBody xmlns:a="http://schemas.openxmlformats.org/drawingml/2006/main">
          <a:bodyPr/>
          <a:p/>
        </p:txBody>
      </p:sp>
      <p:sp>
        <p:nvSpPr>
          <p:cNvPr id="5340" name="Bar 11 17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95552" y="3867418"/>
            <a:ext cx="476774" cy="1047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CA323"/>
          </a:solidFill>
          <a:ln xmlns:a="http://schemas.openxmlformats.org/drawingml/2006/main" w="0">
            <a:noFill/>
          </a:ln>
        </p:spPr>
        <p:txBody xmlns:a="http://schemas.openxmlformats.org/drawingml/2006/main">
          <a:bodyPr/>
          <a:p/>
        </p:txBody>
      </p:sp>
      <p:sp>
        <p:nvSpPr>
          <p:cNvPr id="5341" name="Bar 11 18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72326" y="3867418"/>
            <a:ext cx="476774" cy="1047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CA323"/>
          </a:solidFill>
          <a:ln xmlns:a="http://schemas.openxmlformats.org/drawingml/2006/main" w="0">
            <a:noFill/>
          </a:ln>
        </p:spPr>
        <p:txBody xmlns:a="http://schemas.openxmlformats.org/drawingml/2006/main">
          <a:bodyPr/>
          <a:p/>
        </p:txBody>
      </p:sp>
      <p:sp>
        <p:nvSpPr>
          <p:cNvPr id="5342" name="Row rule 11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3850" y="4008234"/>
            <a:ext cx="115252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3">
            <a:solidFill>
              <a:srgbClr val="DADADA"/>
            </a:solidFill>
          </a:ln>
        </p:spPr>
        <p:txBody xmlns:a="http://schemas.openxmlformats.org/drawingml/2006/main">
          <a:bodyPr/>
          <a:p/>
        </p:txBody>
      </p:sp>
      <p:sp>
        <p:nvSpPr>
          <p:cNvPr id="5343" name="Week rule 12 2026-09-07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53050" y="4008234"/>
            <a:ext cx="0" cy="176857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3">
            <a:solidFill>
              <a:srgbClr val="DADADA"/>
            </a:solidFill>
          </a:ln>
        </p:spPr>
        <p:txBody xmlns:a="http://schemas.openxmlformats.org/drawingml/2006/main">
          <a:bodyPr/>
          <a:p/>
        </p:txBody>
      </p:sp>
      <p:sp>
        <p:nvSpPr>
          <p:cNvPr id="5344" name="Week rule 12 2026-09-14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51034" y="4008234"/>
            <a:ext cx="0" cy="176857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3">
            <a:solidFill>
              <a:srgbClr val="DADADA"/>
            </a:solidFill>
          </a:ln>
        </p:spPr>
        <p:txBody xmlns:a="http://schemas.openxmlformats.org/drawingml/2006/main">
          <a:bodyPr/>
          <a:p/>
        </p:txBody>
      </p:sp>
      <p:sp>
        <p:nvSpPr>
          <p:cNvPr id="5345" name="Week rule 12 2026-09-21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49018" y="4008234"/>
            <a:ext cx="0" cy="176857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3">
            <a:solidFill>
              <a:srgbClr val="DADADA"/>
            </a:solidFill>
          </a:ln>
        </p:spPr>
        <p:txBody xmlns:a="http://schemas.openxmlformats.org/drawingml/2006/main">
          <a:bodyPr/>
          <a:p/>
        </p:txBody>
      </p:sp>
      <p:sp>
        <p:nvSpPr>
          <p:cNvPr id="5346" name="Week rule 12 2026-09-28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47002" y="4008234"/>
            <a:ext cx="0" cy="176857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3">
            <a:solidFill>
              <a:srgbClr val="DADADA"/>
            </a:solidFill>
          </a:ln>
        </p:spPr>
        <p:txBody xmlns:a="http://schemas.openxmlformats.org/drawingml/2006/main">
          <a:bodyPr/>
          <a:p/>
        </p:txBody>
      </p:sp>
      <p:sp>
        <p:nvSpPr>
          <p:cNvPr id="5347" name="Week rule 12 2026-10-05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44986" y="4008234"/>
            <a:ext cx="0" cy="176857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3">
            <a:solidFill>
              <a:srgbClr val="DADADA"/>
            </a:solidFill>
          </a:ln>
        </p:spPr>
        <p:txBody xmlns:a="http://schemas.openxmlformats.org/drawingml/2006/main">
          <a:bodyPr/>
          <a:p/>
        </p:txBody>
      </p:sp>
      <p:sp>
        <p:nvSpPr>
          <p:cNvPr id="5348" name="Week rule 12 2026-10-12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42970" y="4008234"/>
            <a:ext cx="0" cy="176857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3">
            <a:solidFill>
              <a:srgbClr val="DADADA"/>
            </a:solidFill>
          </a:ln>
        </p:spPr>
        <p:txBody xmlns:a="http://schemas.openxmlformats.org/drawingml/2006/main">
          <a:bodyPr/>
          <a:p/>
        </p:txBody>
      </p:sp>
      <p:sp>
        <p:nvSpPr>
          <p:cNvPr id="5349" name="Week rule 12 2026-10-19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40954" y="4008234"/>
            <a:ext cx="0" cy="176857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3">
            <a:solidFill>
              <a:srgbClr val="DADADA"/>
            </a:solidFill>
          </a:ln>
        </p:spPr>
        <p:txBody xmlns:a="http://schemas.openxmlformats.org/drawingml/2006/main">
          <a:bodyPr/>
          <a:p/>
        </p:txBody>
      </p:sp>
      <p:sp>
        <p:nvSpPr>
          <p:cNvPr id="5350" name="Week rule 12 2026-10-26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38938" y="4008234"/>
            <a:ext cx="0" cy="176857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3">
            <a:solidFill>
              <a:srgbClr val="DADADA"/>
            </a:solidFill>
          </a:ln>
        </p:spPr>
        <p:txBody xmlns:a="http://schemas.openxmlformats.org/drawingml/2006/main">
          <a:bodyPr/>
          <a:p/>
        </p:txBody>
      </p:sp>
      <p:sp>
        <p:nvSpPr>
          <p:cNvPr id="5351" name="Week rule 12 2026-11-02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36922" y="4008234"/>
            <a:ext cx="0" cy="176857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3">
            <a:solidFill>
              <a:srgbClr val="DADADA"/>
            </a:solidFill>
          </a:ln>
        </p:spPr>
        <p:txBody xmlns:a="http://schemas.openxmlformats.org/drawingml/2006/main">
          <a:bodyPr/>
          <a:p/>
        </p:txBody>
      </p:sp>
      <p:sp>
        <p:nvSpPr>
          <p:cNvPr id="5352" name="Week rule 12 2026-11-09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34906" y="4008234"/>
            <a:ext cx="0" cy="176857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3">
            <a:solidFill>
              <a:srgbClr val="DADADA"/>
            </a:solidFill>
          </a:ln>
        </p:spPr>
        <p:txBody xmlns:a="http://schemas.openxmlformats.org/drawingml/2006/main">
          <a:bodyPr/>
          <a:p/>
        </p:txBody>
      </p:sp>
      <p:sp>
        <p:nvSpPr>
          <p:cNvPr id="5353" name="Week rule 12 2026-11-16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32890" y="4008234"/>
            <a:ext cx="0" cy="176857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3">
            <a:solidFill>
              <a:srgbClr val="DADADA"/>
            </a:solidFill>
          </a:ln>
        </p:spPr>
        <p:txBody xmlns:a="http://schemas.openxmlformats.org/drawingml/2006/main">
          <a:bodyPr/>
          <a:p/>
        </p:txBody>
      </p:sp>
      <p:sp>
        <p:nvSpPr>
          <p:cNvPr id="5354" name="Week rule 12 2026-11-23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30874" y="4008234"/>
            <a:ext cx="0" cy="176857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3">
            <a:solidFill>
              <a:srgbClr val="DADADA"/>
            </a:solidFill>
          </a:ln>
        </p:spPr>
        <p:txBody xmlns:a="http://schemas.openxmlformats.org/drawingml/2006/main">
          <a:bodyPr/>
          <a:p/>
        </p:txBody>
      </p:sp>
      <p:sp>
        <p:nvSpPr>
          <p:cNvPr id="5355" name="Week rule 12 2026-11-30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28858" y="4008234"/>
            <a:ext cx="0" cy="176857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3">
            <a:solidFill>
              <a:srgbClr val="DADADA"/>
            </a:solidFill>
          </a:ln>
        </p:spPr>
        <p:txBody xmlns:a="http://schemas.openxmlformats.org/drawingml/2006/main">
          <a:bodyPr/>
          <a:p/>
        </p:txBody>
      </p:sp>
      <p:sp>
        <p:nvSpPr>
          <p:cNvPr id="5356" name="Week rule 12 2026-12-07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26842" y="4008234"/>
            <a:ext cx="0" cy="176857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3">
            <a:solidFill>
              <a:srgbClr val="DADADA"/>
            </a:solidFill>
          </a:ln>
        </p:spPr>
        <p:txBody xmlns:a="http://schemas.openxmlformats.org/drawingml/2006/main">
          <a:bodyPr/>
          <a:p/>
        </p:txBody>
      </p:sp>
      <p:sp>
        <p:nvSpPr>
          <p:cNvPr id="5357" name="Week rule 12 2026-12-14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4826" y="4008234"/>
            <a:ext cx="0" cy="176857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3">
            <a:solidFill>
              <a:srgbClr val="DADADA"/>
            </a:solidFill>
          </a:ln>
        </p:spPr>
        <p:txBody xmlns:a="http://schemas.openxmlformats.org/drawingml/2006/main">
          <a:bodyPr/>
          <a:p/>
        </p:txBody>
      </p:sp>
      <p:sp>
        <p:nvSpPr>
          <p:cNvPr id="5358" name="Week rule 12 2026-12-21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822810" y="4008234"/>
            <a:ext cx="0" cy="176857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3">
            <a:solidFill>
              <a:srgbClr val="DADADA"/>
            </a:solidFill>
          </a:ln>
        </p:spPr>
        <p:txBody xmlns:a="http://schemas.openxmlformats.org/drawingml/2006/main">
          <a:bodyPr/>
          <a:p/>
        </p:txBody>
      </p:sp>
      <p:sp>
        <p:nvSpPr>
          <p:cNvPr id="5359" name="Week rule 12 2026-12-28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120794" y="4008234"/>
            <a:ext cx="0" cy="176857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3">
            <a:solidFill>
              <a:srgbClr val="DADADA"/>
            </a:solidFill>
          </a:ln>
        </p:spPr>
        <p:txBody xmlns:a="http://schemas.openxmlformats.org/drawingml/2006/main">
          <a:bodyPr/>
          <a:p/>
        </p:txBody>
      </p:sp>
      <p:sp>
        <p:nvSpPr>
          <p:cNvPr id="5360" name="Week rule 12 2027-01-04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18778" y="4008234"/>
            <a:ext cx="0" cy="176857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3">
            <a:solidFill>
              <a:srgbClr val="DADADA"/>
            </a:solidFill>
          </a:ln>
        </p:spPr>
        <p:txBody xmlns:a="http://schemas.openxmlformats.org/drawingml/2006/main">
          <a:bodyPr/>
          <a:p/>
        </p:txBody>
      </p:sp>
      <p:sp>
        <p:nvSpPr>
          <p:cNvPr id="5361" name="Week rule 12 2027-02-01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95552" y="4008234"/>
            <a:ext cx="0" cy="176857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3">
            <a:solidFill>
              <a:srgbClr val="DADADA"/>
            </a:solidFill>
          </a:ln>
        </p:spPr>
        <p:txBody xmlns:a="http://schemas.openxmlformats.org/drawingml/2006/main">
          <a:bodyPr/>
          <a:p/>
        </p:txBody>
      </p:sp>
      <p:sp>
        <p:nvSpPr>
          <p:cNvPr id="5362" name="Week rule 12 2027-03-01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72326" y="4008234"/>
            <a:ext cx="0" cy="176857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3">
            <a:solidFill>
              <a:srgbClr val="DADADA"/>
            </a:solidFill>
          </a:ln>
        </p:spPr>
        <p:txBody xmlns:a="http://schemas.openxmlformats.org/drawingml/2006/main">
          <a:bodyPr/>
          <a:p/>
        </p:txBody>
      </p:sp>
      <p:sp>
        <p:nvSpPr>
          <p:cNvPr id="5363" name="Task 12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2425" y="4008234"/>
            <a:ext cx="4152900" cy="176857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38100" tIns="0" rIns="3810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defRPr sz="938" b="0">
                <a:solidFill>
                  <a:srgbClr val="111111"/>
                </a:solidFill>
                <a:latin typeface="Arial"/>
                <a:ea typeface="Arial"/>
                <a:cs typeface="Arial"/>
              </a:defRPr>
            </a:pPr>
            <a:r>
              <a:rPr sz="938" b="0">
                <a:solidFill>
                  <a:srgbClr val="111111"/>
                </a:solidFill>
                <a:latin typeface="Arial"/>
                <a:ea typeface="Arial"/>
                <a:cs typeface="Arial"/>
              </a:rPr>
              <a:t>Living Overleaf manuscript</a:t>
            </a:r>
          </a:p>
        </p:txBody>
      </p:sp>
      <p:sp>
        <p:nvSpPr>
          <p:cNvPr id="5364" name="Status 12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14850" y="4008234"/>
            <a:ext cx="838200" cy="176857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38100" tIns="0" rIns="3810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defRPr sz="848" b="0">
                <a:solidFill>
                  <a:srgbClr val="111111"/>
                </a:solidFill>
                <a:latin typeface="Arial"/>
                <a:ea typeface="Arial"/>
                <a:cs typeface="Arial"/>
              </a:defRPr>
            </a:pPr>
            <a:r>
              <a:rPr sz="848" b="0">
                <a:solidFill>
                  <a:srgbClr val="111111"/>
                </a:solidFill>
                <a:latin typeface="Arial"/>
                <a:ea typeface="Arial"/>
                <a:cs typeface="Arial"/>
              </a:rPr>
              <a:t>In progress</a:t>
            </a:r>
          </a:p>
        </p:txBody>
      </p:sp>
      <p:sp>
        <p:nvSpPr>
          <p:cNvPr id="5365" name="Bar 12 0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61863" y="4044275"/>
            <a:ext cx="85138" cy="1047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CA323"/>
          </a:solidFill>
          <a:ln xmlns:a="http://schemas.openxmlformats.org/drawingml/2006/main" w="0">
            <a:noFill/>
          </a:ln>
        </p:spPr>
        <p:txBody xmlns:a="http://schemas.openxmlformats.org/drawingml/2006/main">
          <a:bodyPr/>
          <a:p/>
        </p:txBody>
      </p:sp>
      <p:sp>
        <p:nvSpPr>
          <p:cNvPr id="5366" name="Bar 12 1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47002" y="4044275"/>
            <a:ext cx="297984" cy="1047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CA323"/>
          </a:solidFill>
          <a:ln xmlns:a="http://schemas.openxmlformats.org/drawingml/2006/main" w="0">
            <a:noFill/>
          </a:ln>
        </p:spPr>
        <p:txBody xmlns:a="http://schemas.openxmlformats.org/drawingml/2006/main">
          <a:bodyPr/>
          <a:p/>
        </p:txBody>
      </p:sp>
      <p:sp>
        <p:nvSpPr>
          <p:cNvPr id="5367" name="Bar 12 2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44986" y="4044275"/>
            <a:ext cx="297984" cy="1047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CA323"/>
          </a:solidFill>
          <a:ln xmlns:a="http://schemas.openxmlformats.org/drawingml/2006/main" w="0">
            <a:noFill/>
          </a:ln>
        </p:spPr>
        <p:txBody xmlns:a="http://schemas.openxmlformats.org/drawingml/2006/main">
          <a:bodyPr/>
          <a:p/>
        </p:txBody>
      </p:sp>
      <p:sp>
        <p:nvSpPr>
          <p:cNvPr id="5368" name="Bar 12 3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42970" y="4044275"/>
            <a:ext cx="297984" cy="1047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CA323"/>
          </a:solidFill>
          <a:ln xmlns:a="http://schemas.openxmlformats.org/drawingml/2006/main" w="0">
            <a:noFill/>
          </a:ln>
        </p:spPr>
        <p:txBody xmlns:a="http://schemas.openxmlformats.org/drawingml/2006/main">
          <a:bodyPr/>
          <a:p/>
        </p:txBody>
      </p:sp>
      <p:sp>
        <p:nvSpPr>
          <p:cNvPr id="5369" name="Bar 12 4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40954" y="4044275"/>
            <a:ext cx="297984" cy="1047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CA323"/>
          </a:solidFill>
          <a:ln xmlns:a="http://schemas.openxmlformats.org/drawingml/2006/main" w="0">
            <a:noFill/>
          </a:ln>
        </p:spPr>
        <p:txBody xmlns:a="http://schemas.openxmlformats.org/drawingml/2006/main">
          <a:bodyPr/>
          <a:p/>
        </p:txBody>
      </p:sp>
      <p:sp>
        <p:nvSpPr>
          <p:cNvPr id="5370" name="Bar 12 5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38938" y="4044275"/>
            <a:ext cx="297984" cy="1047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CA323"/>
          </a:solidFill>
          <a:ln xmlns:a="http://schemas.openxmlformats.org/drawingml/2006/main" w="0">
            <a:noFill/>
          </a:ln>
        </p:spPr>
        <p:txBody xmlns:a="http://schemas.openxmlformats.org/drawingml/2006/main">
          <a:bodyPr/>
          <a:p/>
        </p:txBody>
      </p:sp>
      <p:sp>
        <p:nvSpPr>
          <p:cNvPr id="5371" name="Bar 12 6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36922" y="4044275"/>
            <a:ext cx="297984" cy="1047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CA323"/>
          </a:solidFill>
          <a:ln xmlns:a="http://schemas.openxmlformats.org/drawingml/2006/main" w="0">
            <a:noFill/>
          </a:ln>
        </p:spPr>
        <p:txBody xmlns:a="http://schemas.openxmlformats.org/drawingml/2006/main">
          <a:bodyPr/>
          <a:p/>
        </p:txBody>
      </p:sp>
      <p:sp>
        <p:nvSpPr>
          <p:cNvPr id="5372" name="Bar 12 7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34906" y="4044275"/>
            <a:ext cx="297984" cy="1047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CA323"/>
          </a:solidFill>
          <a:ln xmlns:a="http://schemas.openxmlformats.org/drawingml/2006/main" w="0">
            <a:noFill/>
          </a:ln>
        </p:spPr>
        <p:txBody xmlns:a="http://schemas.openxmlformats.org/drawingml/2006/main">
          <a:bodyPr/>
          <a:p/>
        </p:txBody>
      </p:sp>
      <p:sp>
        <p:nvSpPr>
          <p:cNvPr id="5373" name="Bar 12 8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32890" y="4044275"/>
            <a:ext cx="297984" cy="1047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CA323"/>
          </a:solidFill>
          <a:ln xmlns:a="http://schemas.openxmlformats.org/drawingml/2006/main" w="0">
            <a:noFill/>
          </a:ln>
        </p:spPr>
        <p:txBody xmlns:a="http://schemas.openxmlformats.org/drawingml/2006/main">
          <a:bodyPr/>
          <a:p/>
        </p:txBody>
      </p:sp>
      <p:sp>
        <p:nvSpPr>
          <p:cNvPr id="5374" name="Bar 12 9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30874" y="4044275"/>
            <a:ext cx="297984" cy="1047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CA323"/>
          </a:solidFill>
          <a:ln xmlns:a="http://schemas.openxmlformats.org/drawingml/2006/main" w="0">
            <a:noFill/>
          </a:ln>
        </p:spPr>
        <p:txBody xmlns:a="http://schemas.openxmlformats.org/drawingml/2006/main">
          <a:bodyPr/>
          <a:p/>
        </p:txBody>
      </p:sp>
      <p:sp>
        <p:nvSpPr>
          <p:cNvPr id="5375" name="Bar 12 10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28858" y="4044275"/>
            <a:ext cx="297984" cy="1047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CA323"/>
          </a:solidFill>
          <a:ln xmlns:a="http://schemas.openxmlformats.org/drawingml/2006/main" w="0">
            <a:noFill/>
          </a:ln>
        </p:spPr>
        <p:txBody xmlns:a="http://schemas.openxmlformats.org/drawingml/2006/main">
          <a:bodyPr/>
          <a:p/>
        </p:txBody>
      </p:sp>
      <p:sp>
        <p:nvSpPr>
          <p:cNvPr id="5376" name="Bar 12 11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26842" y="4044275"/>
            <a:ext cx="297984" cy="1047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CA323"/>
          </a:solidFill>
          <a:ln xmlns:a="http://schemas.openxmlformats.org/drawingml/2006/main" w="0">
            <a:noFill/>
          </a:ln>
        </p:spPr>
        <p:txBody xmlns:a="http://schemas.openxmlformats.org/drawingml/2006/main">
          <a:bodyPr/>
          <a:p/>
        </p:txBody>
      </p:sp>
      <p:sp>
        <p:nvSpPr>
          <p:cNvPr id="5377" name="Bar 12 12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4826" y="4044275"/>
            <a:ext cx="297984" cy="1047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CA323"/>
          </a:solidFill>
          <a:ln xmlns:a="http://schemas.openxmlformats.org/drawingml/2006/main" w="0">
            <a:noFill/>
          </a:ln>
        </p:spPr>
        <p:txBody xmlns:a="http://schemas.openxmlformats.org/drawingml/2006/main">
          <a:bodyPr/>
          <a:p/>
        </p:txBody>
      </p:sp>
      <p:sp>
        <p:nvSpPr>
          <p:cNvPr id="5378" name="Bar 12 13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822810" y="4044275"/>
            <a:ext cx="297984" cy="1047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CA323"/>
          </a:solidFill>
          <a:ln xmlns:a="http://schemas.openxmlformats.org/drawingml/2006/main" w="0">
            <a:noFill/>
          </a:ln>
        </p:spPr>
        <p:txBody xmlns:a="http://schemas.openxmlformats.org/drawingml/2006/main">
          <a:bodyPr/>
          <a:p/>
        </p:txBody>
      </p:sp>
      <p:sp>
        <p:nvSpPr>
          <p:cNvPr id="5379" name="Bar 12 14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120794" y="4044275"/>
            <a:ext cx="297984" cy="1047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CA323"/>
          </a:solidFill>
          <a:ln xmlns:a="http://schemas.openxmlformats.org/drawingml/2006/main" w="0">
            <a:noFill/>
          </a:ln>
        </p:spPr>
        <p:txBody xmlns:a="http://schemas.openxmlformats.org/drawingml/2006/main">
          <a:bodyPr/>
          <a:p/>
        </p:txBody>
      </p:sp>
      <p:sp>
        <p:nvSpPr>
          <p:cNvPr id="5380" name="Bar 12 15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18778" y="4044275"/>
            <a:ext cx="476774" cy="1047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CA323"/>
          </a:solidFill>
          <a:ln xmlns:a="http://schemas.openxmlformats.org/drawingml/2006/main" w="0">
            <a:noFill/>
          </a:ln>
        </p:spPr>
        <p:txBody xmlns:a="http://schemas.openxmlformats.org/drawingml/2006/main">
          <a:bodyPr/>
          <a:p/>
        </p:txBody>
      </p:sp>
      <p:sp>
        <p:nvSpPr>
          <p:cNvPr id="5381" name="Bar 12 16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95552" y="4044275"/>
            <a:ext cx="476774" cy="1047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CA323"/>
          </a:solidFill>
          <a:ln xmlns:a="http://schemas.openxmlformats.org/drawingml/2006/main" w="0">
            <a:noFill/>
          </a:ln>
        </p:spPr>
        <p:txBody xmlns:a="http://schemas.openxmlformats.org/drawingml/2006/main">
          <a:bodyPr/>
          <a:p/>
        </p:txBody>
      </p:sp>
      <p:sp>
        <p:nvSpPr>
          <p:cNvPr id="5382" name="Bar 12 17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72326" y="4044275"/>
            <a:ext cx="476774" cy="1047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CA323"/>
          </a:solidFill>
          <a:ln xmlns:a="http://schemas.openxmlformats.org/drawingml/2006/main" w="0">
            <a:noFill/>
          </a:ln>
        </p:spPr>
        <p:txBody xmlns:a="http://schemas.openxmlformats.org/drawingml/2006/main">
          <a:bodyPr/>
          <a:p/>
        </p:txBody>
      </p:sp>
      <p:sp>
        <p:nvSpPr>
          <p:cNvPr id="5383" name="Row rule 12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3850" y="4185091"/>
            <a:ext cx="115252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3">
            <a:solidFill>
              <a:srgbClr val="DADADA"/>
            </a:solidFill>
          </a:ln>
        </p:spPr>
        <p:txBody xmlns:a="http://schemas.openxmlformats.org/drawingml/2006/main">
          <a:bodyPr/>
          <a:p/>
        </p:txBody>
      </p:sp>
      <p:sp>
        <p:nvSpPr>
          <p:cNvPr id="5384" name="Section CAP6942 | Course deliverables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3850" y="4185091"/>
            <a:ext cx="11525250" cy="2000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DE4EA"/>
          </a:solidFill>
          <a:ln xmlns:a="http://schemas.openxmlformats.org/drawingml/2006/main" w="0">
            <a:noFill/>
          </a:ln>
        </p:spPr>
        <p:txBody xmlns:a="http://schemas.openxmlformats.org/drawingml/2006/main">
          <a:bodyPr/>
          <a:p/>
        </p:txBody>
      </p:sp>
      <p:sp>
        <p:nvSpPr>
          <p:cNvPr id="5385" name="Section title CAP6942 | Course deliverables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2425" y="4185091"/>
            <a:ext cx="11468100" cy="2000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38100" tIns="0" rIns="3810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pPr>
            <a:r>
              <a:rPr sz="1050" b="1">
                <a:solidFill>
                  <a:srgbClr val="111111"/>
                </a:solidFill>
                <a:latin typeface="Arial"/>
                <a:ea typeface="Arial"/>
                <a:cs typeface="Arial"/>
              </a:rPr>
              <a:t>CAP6942 | Course deliverables</a:t>
            </a:r>
          </a:p>
        </p:txBody>
      </p:sp>
      <p:sp>
        <p:nvSpPr>
          <p:cNvPr id="5386" name="Row tint 13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3850" y="4385116"/>
            <a:ext cx="11525250" cy="176857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7F7F7"/>
          </a:solidFill>
          <a:ln xmlns:a="http://schemas.openxmlformats.org/drawingml/2006/main" w="0">
            <a:noFill/>
          </a:ln>
        </p:spPr>
        <p:txBody xmlns:a="http://schemas.openxmlformats.org/drawingml/2006/main">
          <a:bodyPr/>
          <a:p/>
        </p:txBody>
      </p:sp>
      <p:sp>
        <p:nvSpPr>
          <p:cNvPr id="5387" name="Week rule 13 2026-09-07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53050" y="4385116"/>
            <a:ext cx="0" cy="176857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3">
            <a:solidFill>
              <a:srgbClr val="DADADA"/>
            </a:solidFill>
          </a:ln>
        </p:spPr>
        <p:txBody xmlns:a="http://schemas.openxmlformats.org/drawingml/2006/main">
          <a:bodyPr/>
          <a:p/>
        </p:txBody>
      </p:sp>
      <p:sp>
        <p:nvSpPr>
          <p:cNvPr id="5388" name="Week rule 13 2026-09-14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51034" y="4385116"/>
            <a:ext cx="0" cy="176857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3">
            <a:solidFill>
              <a:srgbClr val="DADADA"/>
            </a:solidFill>
          </a:ln>
        </p:spPr>
        <p:txBody xmlns:a="http://schemas.openxmlformats.org/drawingml/2006/main">
          <a:bodyPr/>
          <a:p/>
        </p:txBody>
      </p:sp>
      <p:sp>
        <p:nvSpPr>
          <p:cNvPr id="5389" name="Week rule 13 2026-09-21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49018" y="4385116"/>
            <a:ext cx="0" cy="176857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3">
            <a:solidFill>
              <a:srgbClr val="DADADA"/>
            </a:solidFill>
          </a:ln>
        </p:spPr>
        <p:txBody xmlns:a="http://schemas.openxmlformats.org/drawingml/2006/main">
          <a:bodyPr/>
          <a:p/>
        </p:txBody>
      </p:sp>
      <p:sp>
        <p:nvSpPr>
          <p:cNvPr id="5390" name="Week rule 13 2026-09-28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47002" y="4385116"/>
            <a:ext cx="0" cy="176857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3">
            <a:solidFill>
              <a:srgbClr val="DADADA"/>
            </a:solidFill>
          </a:ln>
        </p:spPr>
        <p:txBody xmlns:a="http://schemas.openxmlformats.org/drawingml/2006/main">
          <a:bodyPr/>
          <a:p/>
        </p:txBody>
      </p:sp>
      <p:sp>
        <p:nvSpPr>
          <p:cNvPr id="5391" name="Week rule 13 2026-10-05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44986" y="4385116"/>
            <a:ext cx="0" cy="176857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3">
            <a:solidFill>
              <a:srgbClr val="DADADA"/>
            </a:solidFill>
          </a:ln>
        </p:spPr>
        <p:txBody xmlns:a="http://schemas.openxmlformats.org/drawingml/2006/main">
          <a:bodyPr/>
          <a:p/>
        </p:txBody>
      </p:sp>
      <p:sp>
        <p:nvSpPr>
          <p:cNvPr id="5392" name="Week rule 13 2026-10-12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42970" y="4385116"/>
            <a:ext cx="0" cy="176857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3">
            <a:solidFill>
              <a:srgbClr val="DADADA"/>
            </a:solidFill>
          </a:ln>
        </p:spPr>
        <p:txBody xmlns:a="http://schemas.openxmlformats.org/drawingml/2006/main">
          <a:bodyPr/>
          <a:p/>
        </p:txBody>
      </p:sp>
      <p:sp>
        <p:nvSpPr>
          <p:cNvPr id="5393" name="Week rule 13 2026-10-19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40954" y="4385116"/>
            <a:ext cx="0" cy="176857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3">
            <a:solidFill>
              <a:srgbClr val="DADADA"/>
            </a:solidFill>
          </a:ln>
        </p:spPr>
        <p:txBody xmlns:a="http://schemas.openxmlformats.org/drawingml/2006/main">
          <a:bodyPr/>
          <a:p/>
        </p:txBody>
      </p:sp>
      <p:sp>
        <p:nvSpPr>
          <p:cNvPr id="5394" name="Week rule 13 2026-10-26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38938" y="4385116"/>
            <a:ext cx="0" cy="176857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3">
            <a:solidFill>
              <a:srgbClr val="DADADA"/>
            </a:solidFill>
          </a:ln>
        </p:spPr>
        <p:txBody xmlns:a="http://schemas.openxmlformats.org/drawingml/2006/main">
          <a:bodyPr/>
          <a:p/>
        </p:txBody>
      </p:sp>
      <p:sp>
        <p:nvSpPr>
          <p:cNvPr id="5395" name="Week rule 13 2026-11-02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36922" y="4385116"/>
            <a:ext cx="0" cy="176857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3">
            <a:solidFill>
              <a:srgbClr val="DADADA"/>
            </a:solidFill>
          </a:ln>
        </p:spPr>
        <p:txBody xmlns:a="http://schemas.openxmlformats.org/drawingml/2006/main">
          <a:bodyPr/>
          <a:p/>
        </p:txBody>
      </p:sp>
      <p:sp>
        <p:nvSpPr>
          <p:cNvPr id="5396" name="Week rule 13 2026-11-09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34906" y="4385116"/>
            <a:ext cx="0" cy="176857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3">
            <a:solidFill>
              <a:srgbClr val="DADADA"/>
            </a:solidFill>
          </a:ln>
        </p:spPr>
        <p:txBody xmlns:a="http://schemas.openxmlformats.org/drawingml/2006/main">
          <a:bodyPr/>
          <a:p/>
        </p:txBody>
      </p:sp>
      <p:sp>
        <p:nvSpPr>
          <p:cNvPr id="5397" name="Week rule 13 2026-11-16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32890" y="4385116"/>
            <a:ext cx="0" cy="176857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3">
            <a:solidFill>
              <a:srgbClr val="DADADA"/>
            </a:solidFill>
          </a:ln>
        </p:spPr>
        <p:txBody xmlns:a="http://schemas.openxmlformats.org/drawingml/2006/main">
          <a:bodyPr/>
          <a:p/>
        </p:txBody>
      </p:sp>
      <p:sp>
        <p:nvSpPr>
          <p:cNvPr id="5398" name="Week rule 13 2026-11-23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30874" y="4385116"/>
            <a:ext cx="0" cy="176857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3">
            <a:solidFill>
              <a:srgbClr val="DADADA"/>
            </a:solidFill>
          </a:ln>
        </p:spPr>
        <p:txBody xmlns:a="http://schemas.openxmlformats.org/drawingml/2006/main">
          <a:bodyPr/>
          <a:p/>
        </p:txBody>
      </p:sp>
      <p:sp>
        <p:nvSpPr>
          <p:cNvPr id="5399" name="Week rule 13 2026-11-30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28858" y="4385116"/>
            <a:ext cx="0" cy="176857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3">
            <a:solidFill>
              <a:srgbClr val="DADADA"/>
            </a:solidFill>
          </a:ln>
        </p:spPr>
        <p:txBody xmlns:a="http://schemas.openxmlformats.org/drawingml/2006/main">
          <a:bodyPr/>
          <a:p/>
        </p:txBody>
      </p:sp>
      <p:sp>
        <p:nvSpPr>
          <p:cNvPr id="5400" name="Week rule 13 2026-12-07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26842" y="4385116"/>
            <a:ext cx="0" cy="176857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3">
            <a:solidFill>
              <a:srgbClr val="DADADA"/>
            </a:solidFill>
          </a:ln>
        </p:spPr>
        <p:txBody xmlns:a="http://schemas.openxmlformats.org/drawingml/2006/main">
          <a:bodyPr/>
          <a:p/>
        </p:txBody>
      </p:sp>
      <p:sp>
        <p:nvSpPr>
          <p:cNvPr id="5401" name="Week rule 13 2026-12-14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4826" y="4385116"/>
            <a:ext cx="0" cy="176857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3">
            <a:solidFill>
              <a:srgbClr val="DADADA"/>
            </a:solidFill>
          </a:ln>
        </p:spPr>
        <p:txBody xmlns:a="http://schemas.openxmlformats.org/drawingml/2006/main">
          <a:bodyPr/>
          <a:p/>
        </p:txBody>
      </p:sp>
      <p:sp>
        <p:nvSpPr>
          <p:cNvPr id="5402" name="Week rule 13 2026-12-21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822810" y="4385116"/>
            <a:ext cx="0" cy="176857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3">
            <a:solidFill>
              <a:srgbClr val="DADADA"/>
            </a:solidFill>
          </a:ln>
        </p:spPr>
        <p:txBody xmlns:a="http://schemas.openxmlformats.org/drawingml/2006/main">
          <a:bodyPr/>
          <a:p/>
        </p:txBody>
      </p:sp>
      <p:sp>
        <p:nvSpPr>
          <p:cNvPr id="5403" name="Week rule 13 2026-12-28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120794" y="4385116"/>
            <a:ext cx="0" cy="176857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3">
            <a:solidFill>
              <a:srgbClr val="DADADA"/>
            </a:solidFill>
          </a:ln>
        </p:spPr>
        <p:txBody xmlns:a="http://schemas.openxmlformats.org/drawingml/2006/main">
          <a:bodyPr/>
          <a:p/>
        </p:txBody>
      </p:sp>
      <p:sp>
        <p:nvSpPr>
          <p:cNvPr id="5404" name="Week rule 13 2027-01-04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18778" y="4385116"/>
            <a:ext cx="0" cy="176857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3">
            <a:solidFill>
              <a:srgbClr val="DADADA"/>
            </a:solidFill>
          </a:ln>
        </p:spPr>
        <p:txBody xmlns:a="http://schemas.openxmlformats.org/drawingml/2006/main">
          <a:bodyPr/>
          <a:p/>
        </p:txBody>
      </p:sp>
      <p:sp>
        <p:nvSpPr>
          <p:cNvPr id="5405" name="Week rule 13 2027-02-01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95552" y="4385116"/>
            <a:ext cx="0" cy="176857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3">
            <a:solidFill>
              <a:srgbClr val="DADADA"/>
            </a:solidFill>
          </a:ln>
        </p:spPr>
        <p:txBody xmlns:a="http://schemas.openxmlformats.org/drawingml/2006/main">
          <a:bodyPr/>
          <a:p/>
        </p:txBody>
      </p:sp>
      <p:sp>
        <p:nvSpPr>
          <p:cNvPr id="5406" name="Week rule 13 2027-03-01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72326" y="4385116"/>
            <a:ext cx="0" cy="176857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3">
            <a:solidFill>
              <a:srgbClr val="DADADA"/>
            </a:solidFill>
          </a:ln>
        </p:spPr>
        <p:txBody xmlns:a="http://schemas.openxmlformats.org/drawingml/2006/main">
          <a:bodyPr/>
          <a:p/>
        </p:txBody>
      </p:sp>
      <p:sp>
        <p:nvSpPr>
          <p:cNvPr id="5407" name="Task 13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2425" y="4385116"/>
            <a:ext cx="4152900" cy="176857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38100" tIns="0" rIns="3810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defRPr sz="938" b="0">
                <a:solidFill>
                  <a:srgbClr val="111111"/>
                </a:solidFill>
                <a:latin typeface="Arial"/>
                <a:ea typeface="Arial"/>
                <a:cs typeface="Arial"/>
              </a:defRPr>
            </a:pPr>
            <a:r>
              <a:rPr sz="938" b="0">
                <a:solidFill>
                  <a:srgbClr val="111111"/>
                </a:solidFill>
                <a:latin typeface="Arial"/>
                <a:ea typeface="Arial"/>
                <a:cs typeface="Arial"/>
              </a:rPr>
              <a:t>Bibliography, Research Canvas and project plan | Sep 27</a:t>
            </a:r>
          </a:p>
        </p:txBody>
      </p:sp>
      <p:sp>
        <p:nvSpPr>
          <p:cNvPr id="5408" name="Status 13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14850" y="4385116"/>
            <a:ext cx="838200" cy="176857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38100" tIns="0" rIns="3810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defRPr sz="848" b="0">
                <a:solidFill>
                  <a:srgbClr val="111111"/>
                </a:solidFill>
                <a:latin typeface="Arial"/>
                <a:ea typeface="Arial"/>
                <a:cs typeface="Arial"/>
              </a:defRPr>
            </a:pPr>
            <a:r>
              <a:rPr sz="848" b="0">
                <a:solidFill>
                  <a:srgbClr val="111111"/>
                </a:solidFill>
                <a:latin typeface="Arial"/>
                <a:ea typeface="Arial"/>
                <a:cs typeface="Arial"/>
              </a:rPr>
              <a:t>In progress</a:t>
            </a:r>
          </a:p>
        </p:txBody>
      </p:sp>
      <p:sp>
        <p:nvSpPr>
          <p:cNvPr id="5409" name="Bar 13 0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61863" y="4421157"/>
            <a:ext cx="85138" cy="1047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CA323"/>
          </a:solidFill>
          <a:ln xmlns:a="http://schemas.openxmlformats.org/drawingml/2006/main" w="0">
            <a:noFill/>
          </a:ln>
        </p:spPr>
        <p:txBody xmlns:a="http://schemas.openxmlformats.org/drawingml/2006/main">
          <a:bodyPr/>
          <a:p/>
        </p:txBody>
      </p:sp>
      <p:sp>
        <p:nvSpPr>
          <p:cNvPr id="5410" name="Row rule 13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3850" y="4561973"/>
            <a:ext cx="115252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3">
            <a:solidFill>
              <a:srgbClr val="DADADA"/>
            </a:solidFill>
          </a:ln>
        </p:spPr>
        <p:txBody xmlns:a="http://schemas.openxmlformats.org/drawingml/2006/main">
          <a:bodyPr/>
          <a:p/>
        </p:txBody>
      </p:sp>
      <p:sp>
        <p:nvSpPr>
          <p:cNvPr id="5411" name="Week rule 14 2026-09-07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53050" y="4561973"/>
            <a:ext cx="0" cy="176857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3">
            <a:solidFill>
              <a:srgbClr val="DADADA"/>
            </a:solidFill>
          </a:ln>
        </p:spPr>
        <p:txBody xmlns:a="http://schemas.openxmlformats.org/drawingml/2006/main">
          <a:bodyPr/>
          <a:p/>
        </p:txBody>
      </p:sp>
      <p:sp>
        <p:nvSpPr>
          <p:cNvPr id="5412" name="Week rule 14 2026-09-14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51034" y="4561973"/>
            <a:ext cx="0" cy="176857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3">
            <a:solidFill>
              <a:srgbClr val="DADADA"/>
            </a:solidFill>
          </a:ln>
        </p:spPr>
        <p:txBody xmlns:a="http://schemas.openxmlformats.org/drawingml/2006/main">
          <a:bodyPr/>
          <a:p/>
        </p:txBody>
      </p:sp>
      <p:sp>
        <p:nvSpPr>
          <p:cNvPr id="5413" name="Week rule 14 2026-09-21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49018" y="4561973"/>
            <a:ext cx="0" cy="176857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3">
            <a:solidFill>
              <a:srgbClr val="DADADA"/>
            </a:solidFill>
          </a:ln>
        </p:spPr>
        <p:txBody xmlns:a="http://schemas.openxmlformats.org/drawingml/2006/main">
          <a:bodyPr/>
          <a:p/>
        </p:txBody>
      </p:sp>
      <p:sp>
        <p:nvSpPr>
          <p:cNvPr id="5414" name="Week rule 14 2026-09-28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47002" y="4561973"/>
            <a:ext cx="0" cy="176857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3">
            <a:solidFill>
              <a:srgbClr val="DADADA"/>
            </a:solidFill>
          </a:ln>
        </p:spPr>
        <p:txBody xmlns:a="http://schemas.openxmlformats.org/drawingml/2006/main">
          <a:bodyPr/>
          <a:p/>
        </p:txBody>
      </p:sp>
      <p:sp>
        <p:nvSpPr>
          <p:cNvPr id="5415" name="Week rule 14 2026-10-05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44986" y="4561973"/>
            <a:ext cx="0" cy="176857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3">
            <a:solidFill>
              <a:srgbClr val="DADADA"/>
            </a:solidFill>
          </a:ln>
        </p:spPr>
        <p:txBody xmlns:a="http://schemas.openxmlformats.org/drawingml/2006/main">
          <a:bodyPr/>
          <a:p/>
        </p:txBody>
      </p:sp>
      <p:sp>
        <p:nvSpPr>
          <p:cNvPr id="5416" name="Week rule 14 2026-10-12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42970" y="4561973"/>
            <a:ext cx="0" cy="176857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3">
            <a:solidFill>
              <a:srgbClr val="DADADA"/>
            </a:solidFill>
          </a:ln>
        </p:spPr>
        <p:txBody xmlns:a="http://schemas.openxmlformats.org/drawingml/2006/main">
          <a:bodyPr/>
          <a:p/>
        </p:txBody>
      </p:sp>
      <p:sp>
        <p:nvSpPr>
          <p:cNvPr id="5417" name="Week rule 14 2026-10-19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40954" y="4561973"/>
            <a:ext cx="0" cy="176857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3">
            <a:solidFill>
              <a:srgbClr val="DADADA"/>
            </a:solidFill>
          </a:ln>
        </p:spPr>
        <p:txBody xmlns:a="http://schemas.openxmlformats.org/drawingml/2006/main">
          <a:bodyPr/>
          <a:p/>
        </p:txBody>
      </p:sp>
      <p:sp>
        <p:nvSpPr>
          <p:cNvPr id="5418" name="Week rule 14 2026-10-26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38938" y="4561973"/>
            <a:ext cx="0" cy="176857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3">
            <a:solidFill>
              <a:srgbClr val="DADADA"/>
            </a:solidFill>
          </a:ln>
        </p:spPr>
        <p:txBody xmlns:a="http://schemas.openxmlformats.org/drawingml/2006/main">
          <a:bodyPr/>
          <a:p/>
        </p:txBody>
      </p:sp>
      <p:sp>
        <p:nvSpPr>
          <p:cNvPr id="5419" name="Week rule 14 2026-11-02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36922" y="4561973"/>
            <a:ext cx="0" cy="176857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3">
            <a:solidFill>
              <a:srgbClr val="DADADA"/>
            </a:solidFill>
          </a:ln>
        </p:spPr>
        <p:txBody xmlns:a="http://schemas.openxmlformats.org/drawingml/2006/main">
          <a:bodyPr/>
          <a:p/>
        </p:txBody>
      </p:sp>
      <p:sp>
        <p:nvSpPr>
          <p:cNvPr id="5420" name="Week rule 14 2026-11-09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34906" y="4561973"/>
            <a:ext cx="0" cy="176857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3">
            <a:solidFill>
              <a:srgbClr val="DADADA"/>
            </a:solidFill>
          </a:ln>
        </p:spPr>
        <p:txBody xmlns:a="http://schemas.openxmlformats.org/drawingml/2006/main">
          <a:bodyPr/>
          <a:p/>
        </p:txBody>
      </p:sp>
      <p:sp>
        <p:nvSpPr>
          <p:cNvPr id="5421" name="Week rule 14 2026-11-16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32890" y="4561973"/>
            <a:ext cx="0" cy="176857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3">
            <a:solidFill>
              <a:srgbClr val="DADADA"/>
            </a:solidFill>
          </a:ln>
        </p:spPr>
        <p:txBody xmlns:a="http://schemas.openxmlformats.org/drawingml/2006/main">
          <a:bodyPr/>
          <a:p/>
        </p:txBody>
      </p:sp>
      <p:sp>
        <p:nvSpPr>
          <p:cNvPr id="5422" name="Week rule 14 2026-11-23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30874" y="4561973"/>
            <a:ext cx="0" cy="176857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3">
            <a:solidFill>
              <a:srgbClr val="DADADA"/>
            </a:solidFill>
          </a:ln>
        </p:spPr>
        <p:txBody xmlns:a="http://schemas.openxmlformats.org/drawingml/2006/main">
          <a:bodyPr/>
          <a:p/>
        </p:txBody>
      </p:sp>
      <p:sp>
        <p:nvSpPr>
          <p:cNvPr id="5423" name="Week rule 14 2026-11-30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28858" y="4561973"/>
            <a:ext cx="0" cy="176857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3">
            <a:solidFill>
              <a:srgbClr val="DADADA"/>
            </a:solidFill>
          </a:ln>
        </p:spPr>
        <p:txBody xmlns:a="http://schemas.openxmlformats.org/drawingml/2006/main">
          <a:bodyPr/>
          <a:p/>
        </p:txBody>
      </p:sp>
      <p:sp>
        <p:nvSpPr>
          <p:cNvPr id="5424" name="Week rule 14 2026-12-07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26842" y="4561973"/>
            <a:ext cx="0" cy="176857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3">
            <a:solidFill>
              <a:srgbClr val="DADADA"/>
            </a:solidFill>
          </a:ln>
        </p:spPr>
        <p:txBody xmlns:a="http://schemas.openxmlformats.org/drawingml/2006/main">
          <a:bodyPr/>
          <a:p/>
        </p:txBody>
      </p:sp>
      <p:sp>
        <p:nvSpPr>
          <p:cNvPr id="5425" name="Week rule 14 2026-12-14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4826" y="4561973"/>
            <a:ext cx="0" cy="176857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3">
            <a:solidFill>
              <a:srgbClr val="DADADA"/>
            </a:solidFill>
          </a:ln>
        </p:spPr>
        <p:txBody xmlns:a="http://schemas.openxmlformats.org/drawingml/2006/main">
          <a:bodyPr/>
          <a:p/>
        </p:txBody>
      </p:sp>
      <p:sp>
        <p:nvSpPr>
          <p:cNvPr id="5426" name="Week rule 14 2026-12-21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822810" y="4561973"/>
            <a:ext cx="0" cy="176857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3">
            <a:solidFill>
              <a:srgbClr val="DADADA"/>
            </a:solidFill>
          </a:ln>
        </p:spPr>
        <p:txBody xmlns:a="http://schemas.openxmlformats.org/drawingml/2006/main">
          <a:bodyPr/>
          <a:p/>
        </p:txBody>
      </p:sp>
      <p:sp>
        <p:nvSpPr>
          <p:cNvPr id="5427" name="Week rule 14 2026-12-28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120794" y="4561973"/>
            <a:ext cx="0" cy="176857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3">
            <a:solidFill>
              <a:srgbClr val="DADADA"/>
            </a:solidFill>
          </a:ln>
        </p:spPr>
        <p:txBody xmlns:a="http://schemas.openxmlformats.org/drawingml/2006/main">
          <a:bodyPr/>
          <a:p/>
        </p:txBody>
      </p:sp>
      <p:sp>
        <p:nvSpPr>
          <p:cNvPr id="5428" name="Week rule 14 2027-01-04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18778" y="4561973"/>
            <a:ext cx="0" cy="176857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3">
            <a:solidFill>
              <a:srgbClr val="DADADA"/>
            </a:solidFill>
          </a:ln>
        </p:spPr>
        <p:txBody xmlns:a="http://schemas.openxmlformats.org/drawingml/2006/main">
          <a:bodyPr/>
          <a:p/>
        </p:txBody>
      </p:sp>
      <p:sp>
        <p:nvSpPr>
          <p:cNvPr id="5429" name="Week rule 14 2027-02-01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95552" y="4561973"/>
            <a:ext cx="0" cy="176857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3">
            <a:solidFill>
              <a:srgbClr val="DADADA"/>
            </a:solidFill>
          </a:ln>
        </p:spPr>
        <p:txBody xmlns:a="http://schemas.openxmlformats.org/drawingml/2006/main">
          <a:bodyPr/>
          <a:p/>
        </p:txBody>
      </p:sp>
      <p:sp>
        <p:nvSpPr>
          <p:cNvPr id="5430" name="Week rule 14 2027-03-01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72326" y="4561973"/>
            <a:ext cx="0" cy="176857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3">
            <a:solidFill>
              <a:srgbClr val="DADADA"/>
            </a:solidFill>
          </a:ln>
        </p:spPr>
        <p:txBody xmlns:a="http://schemas.openxmlformats.org/drawingml/2006/main">
          <a:bodyPr/>
          <a:p/>
        </p:txBody>
      </p:sp>
      <p:sp>
        <p:nvSpPr>
          <p:cNvPr id="5431" name="Task 14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2425" y="4561973"/>
            <a:ext cx="4152900" cy="176857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38100" tIns="0" rIns="3810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defRPr sz="938" b="0">
                <a:solidFill>
                  <a:srgbClr val="111111"/>
                </a:solidFill>
                <a:latin typeface="Arial"/>
                <a:ea typeface="Arial"/>
                <a:cs typeface="Arial"/>
              </a:defRPr>
            </a:pPr>
            <a:r>
              <a:rPr sz="938" b="0">
                <a:solidFill>
                  <a:srgbClr val="111111"/>
                </a:solidFill>
                <a:latin typeface="Arial"/>
                <a:ea typeface="Arial"/>
                <a:cs typeface="Arial"/>
              </a:rPr>
              <a:t>Prepare final report, presentation and video</a:t>
            </a:r>
          </a:p>
        </p:txBody>
      </p:sp>
      <p:sp>
        <p:nvSpPr>
          <p:cNvPr id="5432" name="Status 14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14850" y="4561973"/>
            <a:ext cx="838200" cy="176857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38100" tIns="0" rIns="3810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defRPr sz="848" b="0">
                <a:solidFill>
                  <a:srgbClr val="111111"/>
                </a:solidFill>
                <a:latin typeface="Arial"/>
                <a:ea typeface="Arial"/>
                <a:cs typeface="Arial"/>
              </a:defRPr>
            </a:pPr>
            <a:r>
              <a:rPr sz="848" b="0">
                <a:solidFill>
                  <a:srgbClr val="111111"/>
                </a:solidFill>
                <a:latin typeface="Arial"/>
                <a:ea typeface="Arial"/>
                <a:cs typeface="Arial"/>
              </a:rPr>
              <a:t>Planned</a:t>
            </a:r>
          </a:p>
        </p:txBody>
      </p:sp>
      <p:sp>
        <p:nvSpPr>
          <p:cNvPr id="5433" name="Bar 14 0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32890" y="4598014"/>
            <a:ext cx="297984" cy="1047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7BEC4"/>
          </a:solidFill>
          <a:ln xmlns:a="http://schemas.openxmlformats.org/drawingml/2006/main" w="0">
            <a:noFill/>
          </a:ln>
        </p:spPr>
        <p:txBody xmlns:a="http://schemas.openxmlformats.org/drawingml/2006/main">
          <a:bodyPr/>
          <a:p/>
        </p:txBody>
      </p:sp>
      <p:sp>
        <p:nvSpPr>
          <p:cNvPr id="5434" name="Bar 14 1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30874" y="4598014"/>
            <a:ext cx="297984" cy="1047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7BEC4"/>
          </a:solidFill>
          <a:ln xmlns:a="http://schemas.openxmlformats.org/drawingml/2006/main" w="0">
            <a:noFill/>
          </a:ln>
        </p:spPr>
        <p:txBody xmlns:a="http://schemas.openxmlformats.org/drawingml/2006/main">
          <a:bodyPr/>
          <a:p/>
        </p:txBody>
      </p:sp>
      <p:sp>
        <p:nvSpPr>
          <p:cNvPr id="5435" name="Bar 14 2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28858" y="4598014"/>
            <a:ext cx="297984" cy="1047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7BEC4"/>
          </a:solidFill>
          <a:ln xmlns:a="http://schemas.openxmlformats.org/drawingml/2006/main" w="0">
            <a:noFill/>
          </a:ln>
        </p:spPr>
        <p:txBody xmlns:a="http://schemas.openxmlformats.org/drawingml/2006/main">
          <a:bodyPr/>
          <a:p/>
        </p:txBody>
      </p:sp>
      <p:sp>
        <p:nvSpPr>
          <p:cNvPr id="5436" name="Row rule 14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3850" y="4738830"/>
            <a:ext cx="115252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3">
            <a:solidFill>
              <a:srgbClr val="DADADA"/>
            </a:solidFill>
          </a:ln>
        </p:spPr>
        <p:txBody xmlns:a="http://schemas.openxmlformats.org/drawingml/2006/main">
          <a:bodyPr/>
          <a:p/>
        </p:txBody>
      </p:sp>
      <p:sp>
        <p:nvSpPr>
          <p:cNvPr id="5437" name="Row tint 15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3850" y="4738830"/>
            <a:ext cx="11525250" cy="176857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7F7F7"/>
          </a:solidFill>
          <a:ln xmlns:a="http://schemas.openxmlformats.org/drawingml/2006/main" w="0">
            <a:noFill/>
          </a:ln>
        </p:spPr>
        <p:txBody xmlns:a="http://schemas.openxmlformats.org/drawingml/2006/main">
          <a:bodyPr/>
          <a:p/>
        </p:txBody>
      </p:sp>
      <p:sp>
        <p:nvSpPr>
          <p:cNvPr id="5438" name="Week rule 15 2026-09-07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53050" y="4738830"/>
            <a:ext cx="0" cy="176857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3">
            <a:solidFill>
              <a:srgbClr val="DADADA"/>
            </a:solidFill>
          </a:ln>
        </p:spPr>
        <p:txBody xmlns:a="http://schemas.openxmlformats.org/drawingml/2006/main">
          <a:bodyPr/>
          <a:p/>
        </p:txBody>
      </p:sp>
      <p:sp>
        <p:nvSpPr>
          <p:cNvPr id="5439" name="Week rule 15 2026-09-14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51034" y="4738830"/>
            <a:ext cx="0" cy="176857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3">
            <a:solidFill>
              <a:srgbClr val="DADADA"/>
            </a:solidFill>
          </a:ln>
        </p:spPr>
        <p:txBody xmlns:a="http://schemas.openxmlformats.org/drawingml/2006/main">
          <a:bodyPr/>
          <a:p/>
        </p:txBody>
      </p:sp>
      <p:sp>
        <p:nvSpPr>
          <p:cNvPr id="5440" name="Week rule 15 2026-09-21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49018" y="4738830"/>
            <a:ext cx="0" cy="176857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3">
            <a:solidFill>
              <a:srgbClr val="DADADA"/>
            </a:solidFill>
          </a:ln>
        </p:spPr>
        <p:txBody xmlns:a="http://schemas.openxmlformats.org/drawingml/2006/main">
          <a:bodyPr/>
          <a:p/>
        </p:txBody>
      </p:sp>
      <p:sp>
        <p:nvSpPr>
          <p:cNvPr id="5441" name="Week rule 15 2026-09-28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47002" y="4738830"/>
            <a:ext cx="0" cy="176857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3">
            <a:solidFill>
              <a:srgbClr val="DADADA"/>
            </a:solidFill>
          </a:ln>
        </p:spPr>
        <p:txBody xmlns:a="http://schemas.openxmlformats.org/drawingml/2006/main">
          <a:bodyPr/>
          <a:p/>
        </p:txBody>
      </p:sp>
      <p:sp>
        <p:nvSpPr>
          <p:cNvPr id="5442" name="Week rule 15 2026-10-05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44986" y="4738830"/>
            <a:ext cx="0" cy="176857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3">
            <a:solidFill>
              <a:srgbClr val="DADADA"/>
            </a:solidFill>
          </a:ln>
        </p:spPr>
        <p:txBody xmlns:a="http://schemas.openxmlformats.org/drawingml/2006/main">
          <a:bodyPr/>
          <a:p/>
        </p:txBody>
      </p:sp>
      <p:sp>
        <p:nvSpPr>
          <p:cNvPr id="5443" name="Week rule 15 2026-10-12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42970" y="4738830"/>
            <a:ext cx="0" cy="176857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3">
            <a:solidFill>
              <a:srgbClr val="DADADA"/>
            </a:solidFill>
          </a:ln>
        </p:spPr>
        <p:txBody xmlns:a="http://schemas.openxmlformats.org/drawingml/2006/main">
          <a:bodyPr/>
          <a:p/>
        </p:txBody>
      </p:sp>
      <p:sp>
        <p:nvSpPr>
          <p:cNvPr id="5444" name="Week rule 15 2026-10-19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40954" y="4738830"/>
            <a:ext cx="0" cy="176857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3">
            <a:solidFill>
              <a:srgbClr val="DADADA"/>
            </a:solidFill>
          </a:ln>
        </p:spPr>
        <p:txBody xmlns:a="http://schemas.openxmlformats.org/drawingml/2006/main">
          <a:bodyPr/>
          <a:p/>
        </p:txBody>
      </p:sp>
      <p:sp>
        <p:nvSpPr>
          <p:cNvPr id="5445" name="Week rule 15 2026-10-26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38938" y="4738830"/>
            <a:ext cx="0" cy="176857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3">
            <a:solidFill>
              <a:srgbClr val="DADADA"/>
            </a:solidFill>
          </a:ln>
        </p:spPr>
        <p:txBody xmlns:a="http://schemas.openxmlformats.org/drawingml/2006/main">
          <a:bodyPr/>
          <a:p/>
        </p:txBody>
      </p:sp>
      <p:sp>
        <p:nvSpPr>
          <p:cNvPr id="5446" name="Week rule 15 2026-11-02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36922" y="4738830"/>
            <a:ext cx="0" cy="176857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3">
            <a:solidFill>
              <a:srgbClr val="DADADA"/>
            </a:solidFill>
          </a:ln>
        </p:spPr>
        <p:txBody xmlns:a="http://schemas.openxmlformats.org/drawingml/2006/main">
          <a:bodyPr/>
          <a:p/>
        </p:txBody>
      </p:sp>
      <p:sp>
        <p:nvSpPr>
          <p:cNvPr id="5447" name="Week rule 15 2026-11-09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34906" y="4738830"/>
            <a:ext cx="0" cy="176857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3">
            <a:solidFill>
              <a:srgbClr val="DADADA"/>
            </a:solidFill>
          </a:ln>
        </p:spPr>
        <p:txBody xmlns:a="http://schemas.openxmlformats.org/drawingml/2006/main">
          <a:bodyPr/>
          <a:p/>
        </p:txBody>
      </p:sp>
      <p:sp>
        <p:nvSpPr>
          <p:cNvPr id="5448" name="Week rule 15 2026-11-16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32890" y="4738830"/>
            <a:ext cx="0" cy="176857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3">
            <a:solidFill>
              <a:srgbClr val="DADADA"/>
            </a:solidFill>
          </a:ln>
        </p:spPr>
        <p:txBody xmlns:a="http://schemas.openxmlformats.org/drawingml/2006/main">
          <a:bodyPr/>
          <a:p/>
        </p:txBody>
      </p:sp>
      <p:sp>
        <p:nvSpPr>
          <p:cNvPr id="5449" name="Week rule 15 2026-11-23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30874" y="4738830"/>
            <a:ext cx="0" cy="176857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3">
            <a:solidFill>
              <a:srgbClr val="DADADA"/>
            </a:solidFill>
          </a:ln>
        </p:spPr>
        <p:txBody xmlns:a="http://schemas.openxmlformats.org/drawingml/2006/main">
          <a:bodyPr/>
          <a:p/>
        </p:txBody>
      </p:sp>
      <p:sp>
        <p:nvSpPr>
          <p:cNvPr id="5450" name="Week rule 15 2026-11-30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28858" y="4738830"/>
            <a:ext cx="0" cy="176857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3">
            <a:solidFill>
              <a:srgbClr val="DADADA"/>
            </a:solidFill>
          </a:ln>
        </p:spPr>
        <p:txBody xmlns:a="http://schemas.openxmlformats.org/drawingml/2006/main">
          <a:bodyPr/>
          <a:p/>
        </p:txBody>
      </p:sp>
      <p:sp>
        <p:nvSpPr>
          <p:cNvPr id="5451" name="Week rule 15 2026-12-07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26842" y="4738830"/>
            <a:ext cx="0" cy="176857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3">
            <a:solidFill>
              <a:srgbClr val="DADADA"/>
            </a:solidFill>
          </a:ln>
        </p:spPr>
        <p:txBody xmlns:a="http://schemas.openxmlformats.org/drawingml/2006/main">
          <a:bodyPr/>
          <a:p/>
        </p:txBody>
      </p:sp>
      <p:sp>
        <p:nvSpPr>
          <p:cNvPr id="5452" name="Week rule 15 2026-12-14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4826" y="4738830"/>
            <a:ext cx="0" cy="176857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3">
            <a:solidFill>
              <a:srgbClr val="DADADA"/>
            </a:solidFill>
          </a:ln>
        </p:spPr>
        <p:txBody xmlns:a="http://schemas.openxmlformats.org/drawingml/2006/main">
          <a:bodyPr/>
          <a:p/>
        </p:txBody>
      </p:sp>
      <p:sp>
        <p:nvSpPr>
          <p:cNvPr id="5453" name="Week rule 15 2026-12-21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822810" y="4738830"/>
            <a:ext cx="0" cy="176857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3">
            <a:solidFill>
              <a:srgbClr val="DADADA"/>
            </a:solidFill>
          </a:ln>
        </p:spPr>
        <p:txBody xmlns:a="http://schemas.openxmlformats.org/drawingml/2006/main">
          <a:bodyPr/>
          <a:p/>
        </p:txBody>
      </p:sp>
      <p:sp>
        <p:nvSpPr>
          <p:cNvPr id="5454" name="Week rule 15 2026-12-28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120794" y="4738830"/>
            <a:ext cx="0" cy="176857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3">
            <a:solidFill>
              <a:srgbClr val="DADADA"/>
            </a:solidFill>
          </a:ln>
        </p:spPr>
        <p:txBody xmlns:a="http://schemas.openxmlformats.org/drawingml/2006/main">
          <a:bodyPr/>
          <a:p/>
        </p:txBody>
      </p:sp>
      <p:sp>
        <p:nvSpPr>
          <p:cNvPr id="5455" name="Week rule 15 2027-01-04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18778" y="4738830"/>
            <a:ext cx="0" cy="176857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3">
            <a:solidFill>
              <a:srgbClr val="DADADA"/>
            </a:solidFill>
          </a:ln>
        </p:spPr>
        <p:txBody xmlns:a="http://schemas.openxmlformats.org/drawingml/2006/main">
          <a:bodyPr/>
          <a:p/>
        </p:txBody>
      </p:sp>
      <p:sp>
        <p:nvSpPr>
          <p:cNvPr id="5456" name="Week rule 15 2027-02-01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95552" y="4738830"/>
            <a:ext cx="0" cy="176857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3">
            <a:solidFill>
              <a:srgbClr val="DADADA"/>
            </a:solidFill>
          </a:ln>
        </p:spPr>
        <p:txBody xmlns:a="http://schemas.openxmlformats.org/drawingml/2006/main">
          <a:bodyPr/>
          <a:p/>
        </p:txBody>
      </p:sp>
      <p:sp>
        <p:nvSpPr>
          <p:cNvPr id="5457" name="Week rule 15 2027-03-01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72326" y="4738830"/>
            <a:ext cx="0" cy="176857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3">
            <a:solidFill>
              <a:srgbClr val="DADADA"/>
            </a:solidFill>
          </a:ln>
        </p:spPr>
        <p:txBody xmlns:a="http://schemas.openxmlformats.org/drawingml/2006/main">
          <a:bodyPr/>
          <a:p/>
        </p:txBody>
      </p:sp>
      <p:sp>
        <p:nvSpPr>
          <p:cNvPr id="5458" name="Task 15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2425" y="4738830"/>
            <a:ext cx="4152900" cy="176857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38100" tIns="0" rIns="3810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defRPr sz="938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pPr>
            <a:r>
              <a:rPr sz="938" b="1">
                <a:solidFill>
                  <a:srgbClr val="111111"/>
                </a:solidFill>
                <a:latin typeface="Arial"/>
                <a:ea typeface="Arial"/>
                <a:cs typeface="Arial"/>
              </a:rPr>
              <a:t>Rehearsal | Dec 1</a:t>
            </a:r>
          </a:p>
        </p:txBody>
      </p:sp>
      <p:sp>
        <p:nvSpPr>
          <p:cNvPr id="5459" name="Status 15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14850" y="4738830"/>
            <a:ext cx="838200" cy="176857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38100" tIns="0" rIns="3810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defRPr sz="848" b="0">
                <a:solidFill>
                  <a:srgbClr val="111111"/>
                </a:solidFill>
                <a:latin typeface="Arial"/>
                <a:ea typeface="Arial"/>
                <a:cs typeface="Arial"/>
              </a:defRPr>
            </a:pPr>
            <a:r>
              <a:rPr sz="848" b="0">
                <a:solidFill>
                  <a:srgbClr val="111111"/>
                </a:solidFill>
                <a:latin typeface="Arial"/>
                <a:ea typeface="Arial"/>
                <a:cs typeface="Arial"/>
              </a:rPr>
              <a:t>Planned</a:t>
            </a:r>
          </a:p>
        </p:txBody>
      </p:sp>
      <p:sp>
        <p:nvSpPr>
          <p:cNvPr id="5460" name="Milestone 15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45086" y="4779633"/>
            <a:ext cx="95250" cy="95250"/>
          </a:xfrm>
          <a:prstGeom xmlns:a="http://schemas.openxmlformats.org/drawingml/2006/main" prst="diamond">
            <a:avLst/>
          </a:prstGeom>
          <a:solidFill xmlns:a="http://schemas.openxmlformats.org/drawingml/2006/main">
            <a:srgbClr val="111111"/>
          </a:solidFill>
          <a:ln xmlns:a="http://schemas.openxmlformats.org/drawingml/2006/main" w="0">
            <a:noFill/>
          </a:ln>
        </p:spPr>
        <p:txBody xmlns:a="http://schemas.openxmlformats.org/drawingml/2006/main">
          <a:bodyPr/>
          <a:p/>
        </p:txBody>
      </p:sp>
      <p:sp>
        <p:nvSpPr>
          <p:cNvPr id="5461" name="Row rule 15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3850" y="4915687"/>
            <a:ext cx="115252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3">
            <a:solidFill>
              <a:srgbClr val="DADADA"/>
            </a:solidFill>
          </a:ln>
        </p:spPr>
        <p:txBody xmlns:a="http://schemas.openxmlformats.org/drawingml/2006/main">
          <a:bodyPr/>
          <a:p/>
        </p:txBody>
      </p:sp>
      <p:sp>
        <p:nvSpPr>
          <p:cNvPr id="5462" name="Week rule 16 2026-09-07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53050" y="4915687"/>
            <a:ext cx="0" cy="176857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3">
            <a:solidFill>
              <a:srgbClr val="DADADA"/>
            </a:solidFill>
          </a:ln>
        </p:spPr>
        <p:txBody xmlns:a="http://schemas.openxmlformats.org/drawingml/2006/main">
          <a:bodyPr/>
          <a:p/>
        </p:txBody>
      </p:sp>
      <p:sp>
        <p:nvSpPr>
          <p:cNvPr id="5463" name="Week rule 16 2026-09-14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51034" y="4915687"/>
            <a:ext cx="0" cy="176857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3">
            <a:solidFill>
              <a:srgbClr val="DADADA"/>
            </a:solidFill>
          </a:ln>
        </p:spPr>
        <p:txBody xmlns:a="http://schemas.openxmlformats.org/drawingml/2006/main">
          <a:bodyPr/>
          <a:p/>
        </p:txBody>
      </p:sp>
      <p:sp>
        <p:nvSpPr>
          <p:cNvPr id="5464" name="Week rule 16 2026-09-21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49018" y="4915687"/>
            <a:ext cx="0" cy="176857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3">
            <a:solidFill>
              <a:srgbClr val="DADADA"/>
            </a:solidFill>
          </a:ln>
        </p:spPr>
        <p:txBody xmlns:a="http://schemas.openxmlformats.org/drawingml/2006/main">
          <a:bodyPr/>
          <a:p/>
        </p:txBody>
      </p:sp>
      <p:sp>
        <p:nvSpPr>
          <p:cNvPr id="5465" name="Week rule 16 2026-09-28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47002" y="4915687"/>
            <a:ext cx="0" cy="176857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3">
            <a:solidFill>
              <a:srgbClr val="DADADA"/>
            </a:solidFill>
          </a:ln>
        </p:spPr>
        <p:txBody xmlns:a="http://schemas.openxmlformats.org/drawingml/2006/main">
          <a:bodyPr/>
          <a:p/>
        </p:txBody>
      </p:sp>
      <p:sp>
        <p:nvSpPr>
          <p:cNvPr id="5466" name="Week rule 16 2026-10-05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44986" y="4915687"/>
            <a:ext cx="0" cy="176857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3">
            <a:solidFill>
              <a:srgbClr val="DADADA"/>
            </a:solidFill>
          </a:ln>
        </p:spPr>
        <p:txBody xmlns:a="http://schemas.openxmlformats.org/drawingml/2006/main">
          <a:bodyPr/>
          <a:p/>
        </p:txBody>
      </p:sp>
      <p:sp>
        <p:nvSpPr>
          <p:cNvPr id="5467" name="Week rule 16 2026-10-12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42970" y="4915687"/>
            <a:ext cx="0" cy="176857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3">
            <a:solidFill>
              <a:srgbClr val="DADADA"/>
            </a:solidFill>
          </a:ln>
        </p:spPr>
        <p:txBody xmlns:a="http://schemas.openxmlformats.org/drawingml/2006/main">
          <a:bodyPr/>
          <a:p/>
        </p:txBody>
      </p:sp>
      <p:sp>
        <p:nvSpPr>
          <p:cNvPr id="5468" name="Week rule 16 2026-10-19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40954" y="4915687"/>
            <a:ext cx="0" cy="176857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3">
            <a:solidFill>
              <a:srgbClr val="DADADA"/>
            </a:solidFill>
          </a:ln>
        </p:spPr>
        <p:txBody xmlns:a="http://schemas.openxmlformats.org/drawingml/2006/main">
          <a:bodyPr/>
          <a:p/>
        </p:txBody>
      </p:sp>
      <p:sp>
        <p:nvSpPr>
          <p:cNvPr id="5469" name="Week rule 16 2026-10-26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38938" y="4915687"/>
            <a:ext cx="0" cy="176857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3">
            <a:solidFill>
              <a:srgbClr val="DADADA"/>
            </a:solidFill>
          </a:ln>
        </p:spPr>
        <p:txBody xmlns:a="http://schemas.openxmlformats.org/drawingml/2006/main">
          <a:bodyPr/>
          <a:p/>
        </p:txBody>
      </p:sp>
      <p:sp>
        <p:nvSpPr>
          <p:cNvPr id="5470" name="Week rule 16 2026-11-02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36922" y="4915687"/>
            <a:ext cx="0" cy="176857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3">
            <a:solidFill>
              <a:srgbClr val="DADADA"/>
            </a:solidFill>
          </a:ln>
        </p:spPr>
        <p:txBody xmlns:a="http://schemas.openxmlformats.org/drawingml/2006/main">
          <a:bodyPr/>
          <a:p/>
        </p:txBody>
      </p:sp>
      <p:sp>
        <p:nvSpPr>
          <p:cNvPr id="5471" name="Week rule 16 2026-11-09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34906" y="4915687"/>
            <a:ext cx="0" cy="176857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3">
            <a:solidFill>
              <a:srgbClr val="DADADA"/>
            </a:solidFill>
          </a:ln>
        </p:spPr>
        <p:txBody xmlns:a="http://schemas.openxmlformats.org/drawingml/2006/main">
          <a:bodyPr/>
          <a:p/>
        </p:txBody>
      </p:sp>
      <p:sp>
        <p:nvSpPr>
          <p:cNvPr id="5472" name="Week rule 16 2026-11-16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32890" y="4915687"/>
            <a:ext cx="0" cy="176857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3">
            <a:solidFill>
              <a:srgbClr val="DADADA"/>
            </a:solidFill>
          </a:ln>
        </p:spPr>
        <p:txBody xmlns:a="http://schemas.openxmlformats.org/drawingml/2006/main">
          <a:bodyPr/>
          <a:p/>
        </p:txBody>
      </p:sp>
      <p:sp>
        <p:nvSpPr>
          <p:cNvPr id="5473" name="Week rule 16 2026-11-23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30874" y="4915687"/>
            <a:ext cx="0" cy="176857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3">
            <a:solidFill>
              <a:srgbClr val="DADADA"/>
            </a:solidFill>
          </a:ln>
        </p:spPr>
        <p:txBody xmlns:a="http://schemas.openxmlformats.org/drawingml/2006/main">
          <a:bodyPr/>
          <a:p/>
        </p:txBody>
      </p:sp>
      <p:sp>
        <p:nvSpPr>
          <p:cNvPr id="5474" name="Week rule 16 2026-11-30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28858" y="4915687"/>
            <a:ext cx="0" cy="176857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3">
            <a:solidFill>
              <a:srgbClr val="DADADA"/>
            </a:solidFill>
          </a:ln>
        </p:spPr>
        <p:txBody xmlns:a="http://schemas.openxmlformats.org/drawingml/2006/main">
          <a:bodyPr/>
          <a:p/>
        </p:txBody>
      </p:sp>
      <p:sp>
        <p:nvSpPr>
          <p:cNvPr id="5475" name="Week rule 16 2026-12-07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26842" y="4915687"/>
            <a:ext cx="0" cy="176857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3">
            <a:solidFill>
              <a:srgbClr val="DADADA"/>
            </a:solidFill>
          </a:ln>
        </p:spPr>
        <p:txBody xmlns:a="http://schemas.openxmlformats.org/drawingml/2006/main">
          <a:bodyPr/>
          <a:p/>
        </p:txBody>
      </p:sp>
      <p:sp>
        <p:nvSpPr>
          <p:cNvPr id="5476" name="Week rule 16 2026-12-14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4826" y="4915687"/>
            <a:ext cx="0" cy="176857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3">
            <a:solidFill>
              <a:srgbClr val="DADADA"/>
            </a:solidFill>
          </a:ln>
        </p:spPr>
        <p:txBody xmlns:a="http://schemas.openxmlformats.org/drawingml/2006/main">
          <a:bodyPr/>
          <a:p/>
        </p:txBody>
      </p:sp>
      <p:sp>
        <p:nvSpPr>
          <p:cNvPr id="5477" name="Week rule 16 2026-12-21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822810" y="4915687"/>
            <a:ext cx="0" cy="176857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3">
            <a:solidFill>
              <a:srgbClr val="DADADA"/>
            </a:solidFill>
          </a:ln>
        </p:spPr>
        <p:txBody xmlns:a="http://schemas.openxmlformats.org/drawingml/2006/main">
          <a:bodyPr/>
          <a:p/>
        </p:txBody>
      </p:sp>
      <p:sp>
        <p:nvSpPr>
          <p:cNvPr id="5478" name="Week rule 16 2026-12-28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120794" y="4915687"/>
            <a:ext cx="0" cy="176857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3">
            <a:solidFill>
              <a:srgbClr val="DADADA"/>
            </a:solidFill>
          </a:ln>
        </p:spPr>
        <p:txBody xmlns:a="http://schemas.openxmlformats.org/drawingml/2006/main">
          <a:bodyPr/>
          <a:p/>
        </p:txBody>
      </p:sp>
      <p:sp>
        <p:nvSpPr>
          <p:cNvPr id="5479" name="Week rule 16 2027-01-04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18778" y="4915687"/>
            <a:ext cx="0" cy="176857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3">
            <a:solidFill>
              <a:srgbClr val="DADADA"/>
            </a:solidFill>
          </a:ln>
        </p:spPr>
        <p:txBody xmlns:a="http://schemas.openxmlformats.org/drawingml/2006/main">
          <a:bodyPr/>
          <a:p/>
        </p:txBody>
      </p:sp>
      <p:sp>
        <p:nvSpPr>
          <p:cNvPr id="5480" name="Week rule 16 2027-02-01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95552" y="4915687"/>
            <a:ext cx="0" cy="176857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3">
            <a:solidFill>
              <a:srgbClr val="DADADA"/>
            </a:solidFill>
          </a:ln>
        </p:spPr>
        <p:txBody xmlns:a="http://schemas.openxmlformats.org/drawingml/2006/main">
          <a:bodyPr/>
          <a:p/>
        </p:txBody>
      </p:sp>
      <p:sp>
        <p:nvSpPr>
          <p:cNvPr id="5481" name="Week rule 16 2027-03-01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72326" y="4915687"/>
            <a:ext cx="0" cy="176857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3">
            <a:solidFill>
              <a:srgbClr val="DADADA"/>
            </a:solidFill>
          </a:ln>
        </p:spPr>
        <p:txBody xmlns:a="http://schemas.openxmlformats.org/drawingml/2006/main">
          <a:bodyPr/>
          <a:p/>
        </p:txBody>
      </p:sp>
      <p:sp>
        <p:nvSpPr>
          <p:cNvPr id="5482" name="Task 16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2425" y="4915687"/>
            <a:ext cx="4152900" cy="176857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38100" tIns="0" rIns="3810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defRPr sz="938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pPr>
            <a:r>
              <a:rPr sz="938" b="1">
                <a:solidFill>
                  <a:srgbClr val="111111"/>
                </a:solidFill>
                <a:latin typeface="Arial"/>
                <a:ea typeface="Arial"/>
                <a:cs typeface="Arial"/>
              </a:rPr>
              <a:t>Final report | Dec 7</a:t>
            </a:r>
          </a:p>
        </p:txBody>
      </p:sp>
      <p:sp>
        <p:nvSpPr>
          <p:cNvPr id="5483" name="Status 16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14850" y="4915687"/>
            <a:ext cx="838200" cy="176857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38100" tIns="0" rIns="3810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defRPr sz="848" b="0">
                <a:solidFill>
                  <a:srgbClr val="111111"/>
                </a:solidFill>
                <a:latin typeface="Arial"/>
                <a:ea typeface="Arial"/>
                <a:cs typeface="Arial"/>
              </a:defRPr>
            </a:pPr>
            <a:r>
              <a:rPr sz="848" b="0">
                <a:solidFill>
                  <a:srgbClr val="111111"/>
                </a:solidFill>
                <a:latin typeface="Arial"/>
                <a:ea typeface="Arial"/>
                <a:cs typeface="Arial"/>
              </a:rPr>
              <a:t>Planned</a:t>
            </a:r>
          </a:p>
        </p:txBody>
      </p:sp>
      <p:sp>
        <p:nvSpPr>
          <p:cNvPr id="5484" name="Milestone 16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00501" y="4956490"/>
            <a:ext cx="95250" cy="95250"/>
          </a:xfrm>
          <a:prstGeom xmlns:a="http://schemas.openxmlformats.org/drawingml/2006/main" prst="diamond">
            <a:avLst/>
          </a:prstGeom>
          <a:solidFill xmlns:a="http://schemas.openxmlformats.org/drawingml/2006/main">
            <a:srgbClr val="111111"/>
          </a:solidFill>
          <a:ln xmlns:a="http://schemas.openxmlformats.org/drawingml/2006/main" w="0">
            <a:noFill/>
          </a:ln>
        </p:spPr>
        <p:txBody xmlns:a="http://schemas.openxmlformats.org/drawingml/2006/main">
          <a:bodyPr/>
          <a:p/>
        </p:txBody>
      </p:sp>
      <p:sp>
        <p:nvSpPr>
          <p:cNvPr id="5485" name="Row rule 16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3850" y="5092544"/>
            <a:ext cx="115252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3">
            <a:solidFill>
              <a:srgbClr val="DADADA"/>
            </a:solidFill>
          </a:ln>
        </p:spPr>
        <p:txBody xmlns:a="http://schemas.openxmlformats.org/drawingml/2006/main">
          <a:bodyPr/>
          <a:p/>
        </p:txBody>
      </p:sp>
      <p:sp>
        <p:nvSpPr>
          <p:cNvPr id="5486" name="Row tint 17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3850" y="5092544"/>
            <a:ext cx="11525250" cy="176857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7F7F7"/>
          </a:solidFill>
          <a:ln xmlns:a="http://schemas.openxmlformats.org/drawingml/2006/main" w="0">
            <a:noFill/>
          </a:ln>
        </p:spPr>
        <p:txBody xmlns:a="http://schemas.openxmlformats.org/drawingml/2006/main">
          <a:bodyPr/>
          <a:p/>
        </p:txBody>
      </p:sp>
      <p:sp>
        <p:nvSpPr>
          <p:cNvPr id="5487" name="Week rule 17 2026-09-07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53050" y="5092544"/>
            <a:ext cx="0" cy="176857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3">
            <a:solidFill>
              <a:srgbClr val="DADADA"/>
            </a:solidFill>
          </a:ln>
        </p:spPr>
        <p:txBody xmlns:a="http://schemas.openxmlformats.org/drawingml/2006/main">
          <a:bodyPr/>
          <a:p/>
        </p:txBody>
      </p:sp>
      <p:sp>
        <p:nvSpPr>
          <p:cNvPr id="5488" name="Week rule 17 2026-09-14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51034" y="5092544"/>
            <a:ext cx="0" cy="176857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3">
            <a:solidFill>
              <a:srgbClr val="DADADA"/>
            </a:solidFill>
          </a:ln>
        </p:spPr>
        <p:txBody xmlns:a="http://schemas.openxmlformats.org/drawingml/2006/main">
          <a:bodyPr/>
          <a:p/>
        </p:txBody>
      </p:sp>
      <p:sp>
        <p:nvSpPr>
          <p:cNvPr id="5489" name="Week rule 17 2026-09-21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49018" y="5092544"/>
            <a:ext cx="0" cy="176857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3">
            <a:solidFill>
              <a:srgbClr val="DADADA"/>
            </a:solidFill>
          </a:ln>
        </p:spPr>
        <p:txBody xmlns:a="http://schemas.openxmlformats.org/drawingml/2006/main">
          <a:bodyPr/>
          <a:p/>
        </p:txBody>
      </p:sp>
      <p:sp>
        <p:nvSpPr>
          <p:cNvPr id="5490" name="Week rule 17 2026-09-28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47002" y="5092544"/>
            <a:ext cx="0" cy="176857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3">
            <a:solidFill>
              <a:srgbClr val="DADADA"/>
            </a:solidFill>
          </a:ln>
        </p:spPr>
        <p:txBody xmlns:a="http://schemas.openxmlformats.org/drawingml/2006/main">
          <a:bodyPr/>
          <a:p/>
        </p:txBody>
      </p:sp>
      <p:sp>
        <p:nvSpPr>
          <p:cNvPr id="5491" name="Week rule 17 2026-10-05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44986" y="5092544"/>
            <a:ext cx="0" cy="176857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3">
            <a:solidFill>
              <a:srgbClr val="DADADA"/>
            </a:solidFill>
          </a:ln>
        </p:spPr>
        <p:txBody xmlns:a="http://schemas.openxmlformats.org/drawingml/2006/main">
          <a:bodyPr/>
          <a:p/>
        </p:txBody>
      </p:sp>
      <p:sp>
        <p:nvSpPr>
          <p:cNvPr id="5492" name="Week rule 17 2026-10-12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42970" y="5092544"/>
            <a:ext cx="0" cy="176857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3">
            <a:solidFill>
              <a:srgbClr val="DADADA"/>
            </a:solidFill>
          </a:ln>
        </p:spPr>
        <p:txBody xmlns:a="http://schemas.openxmlformats.org/drawingml/2006/main">
          <a:bodyPr/>
          <a:p/>
        </p:txBody>
      </p:sp>
      <p:sp>
        <p:nvSpPr>
          <p:cNvPr id="5493" name="Week rule 17 2026-10-19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40954" y="5092544"/>
            <a:ext cx="0" cy="176857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3">
            <a:solidFill>
              <a:srgbClr val="DADADA"/>
            </a:solidFill>
          </a:ln>
        </p:spPr>
        <p:txBody xmlns:a="http://schemas.openxmlformats.org/drawingml/2006/main">
          <a:bodyPr/>
          <a:p/>
        </p:txBody>
      </p:sp>
      <p:sp>
        <p:nvSpPr>
          <p:cNvPr id="5494" name="Week rule 17 2026-10-26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38938" y="5092544"/>
            <a:ext cx="0" cy="176857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3">
            <a:solidFill>
              <a:srgbClr val="DADADA"/>
            </a:solidFill>
          </a:ln>
        </p:spPr>
        <p:txBody xmlns:a="http://schemas.openxmlformats.org/drawingml/2006/main">
          <a:bodyPr/>
          <a:p/>
        </p:txBody>
      </p:sp>
      <p:sp>
        <p:nvSpPr>
          <p:cNvPr id="5495" name="Week rule 17 2026-11-02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36922" y="5092544"/>
            <a:ext cx="0" cy="176857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3">
            <a:solidFill>
              <a:srgbClr val="DADADA"/>
            </a:solidFill>
          </a:ln>
        </p:spPr>
        <p:txBody xmlns:a="http://schemas.openxmlformats.org/drawingml/2006/main">
          <a:bodyPr/>
          <a:p/>
        </p:txBody>
      </p:sp>
      <p:sp>
        <p:nvSpPr>
          <p:cNvPr id="5496" name="Week rule 17 2026-11-09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34906" y="5092544"/>
            <a:ext cx="0" cy="176857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3">
            <a:solidFill>
              <a:srgbClr val="DADADA"/>
            </a:solidFill>
          </a:ln>
        </p:spPr>
        <p:txBody xmlns:a="http://schemas.openxmlformats.org/drawingml/2006/main">
          <a:bodyPr/>
          <a:p/>
        </p:txBody>
      </p:sp>
      <p:sp>
        <p:nvSpPr>
          <p:cNvPr id="5497" name="Week rule 17 2026-11-16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32890" y="5092544"/>
            <a:ext cx="0" cy="176857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3">
            <a:solidFill>
              <a:srgbClr val="DADADA"/>
            </a:solidFill>
          </a:ln>
        </p:spPr>
        <p:txBody xmlns:a="http://schemas.openxmlformats.org/drawingml/2006/main">
          <a:bodyPr/>
          <a:p/>
        </p:txBody>
      </p:sp>
      <p:sp>
        <p:nvSpPr>
          <p:cNvPr id="5498" name="Week rule 17 2026-11-23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30874" y="5092544"/>
            <a:ext cx="0" cy="176857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3">
            <a:solidFill>
              <a:srgbClr val="DADADA"/>
            </a:solidFill>
          </a:ln>
        </p:spPr>
        <p:txBody xmlns:a="http://schemas.openxmlformats.org/drawingml/2006/main">
          <a:bodyPr/>
          <a:p/>
        </p:txBody>
      </p:sp>
      <p:sp>
        <p:nvSpPr>
          <p:cNvPr id="5499" name="Week rule 17 2026-11-30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28858" y="5092544"/>
            <a:ext cx="0" cy="176857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3">
            <a:solidFill>
              <a:srgbClr val="DADADA"/>
            </a:solidFill>
          </a:ln>
        </p:spPr>
        <p:txBody xmlns:a="http://schemas.openxmlformats.org/drawingml/2006/main">
          <a:bodyPr/>
          <a:p/>
        </p:txBody>
      </p:sp>
      <p:sp>
        <p:nvSpPr>
          <p:cNvPr id="5500" name="Week rule 17 2026-12-07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26842" y="5092544"/>
            <a:ext cx="0" cy="176857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3">
            <a:solidFill>
              <a:srgbClr val="DADADA"/>
            </a:solidFill>
          </a:ln>
        </p:spPr>
        <p:txBody xmlns:a="http://schemas.openxmlformats.org/drawingml/2006/main">
          <a:bodyPr/>
          <a:p/>
        </p:txBody>
      </p:sp>
      <p:sp>
        <p:nvSpPr>
          <p:cNvPr id="5501" name="Week rule 17 2026-12-14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4826" y="5092544"/>
            <a:ext cx="0" cy="176857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3">
            <a:solidFill>
              <a:srgbClr val="DADADA"/>
            </a:solidFill>
          </a:ln>
        </p:spPr>
        <p:txBody xmlns:a="http://schemas.openxmlformats.org/drawingml/2006/main">
          <a:bodyPr/>
          <a:p/>
        </p:txBody>
      </p:sp>
      <p:sp>
        <p:nvSpPr>
          <p:cNvPr id="5502" name="Week rule 17 2026-12-21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822810" y="5092544"/>
            <a:ext cx="0" cy="176857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3">
            <a:solidFill>
              <a:srgbClr val="DADADA"/>
            </a:solidFill>
          </a:ln>
        </p:spPr>
        <p:txBody xmlns:a="http://schemas.openxmlformats.org/drawingml/2006/main">
          <a:bodyPr/>
          <a:p/>
        </p:txBody>
      </p:sp>
      <p:sp>
        <p:nvSpPr>
          <p:cNvPr id="5503" name="Week rule 17 2026-12-28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120794" y="5092544"/>
            <a:ext cx="0" cy="176857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3">
            <a:solidFill>
              <a:srgbClr val="DADADA"/>
            </a:solidFill>
          </a:ln>
        </p:spPr>
        <p:txBody xmlns:a="http://schemas.openxmlformats.org/drawingml/2006/main">
          <a:bodyPr/>
          <a:p/>
        </p:txBody>
      </p:sp>
      <p:sp>
        <p:nvSpPr>
          <p:cNvPr id="5504" name="Week rule 17 2027-01-04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18778" y="5092544"/>
            <a:ext cx="0" cy="176857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3">
            <a:solidFill>
              <a:srgbClr val="DADADA"/>
            </a:solidFill>
          </a:ln>
        </p:spPr>
        <p:txBody xmlns:a="http://schemas.openxmlformats.org/drawingml/2006/main">
          <a:bodyPr/>
          <a:p/>
        </p:txBody>
      </p:sp>
      <p:sp>
        <p:nvSpPr>
          <p:cNvPr id="5505" name="Week rule 17 2027-02-01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95552" y="5092544"/>
            <a:ext cx="0" cy="176857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3">
            <a:solidFill>
              <a:srgbClr val="DADADA"/>
            </a:solidFill>
          </a:ln>
        </p:spPr>
        <p:txBody xmlns:a="http://schemas.openxmlformats.org/drawingml/2006/main">
          <a:bodyPr/>
          <a:p/>
        </p:txBody>
      </p:sp>
      <p:sp>
        <p:nvSpPr>
          <p:cNvPr id="5506" name="Week rule 17 2027-03-01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72326" y="5092544"/>
            <a:ext cx="0" cy="176857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3">
            <a:solidFill>
              <a:srgbClr val="DADADA"/>
            </a:solidFill>
          </a:ln>
        </p:spPr>
        <p:txBody xmlns:a="http://schemas.openxmlformats.org/drawingml/2006/main">
          <a:bodyPr/>
          <a:p/>
        </p:txBody>
      </p:sp>
      <p:sp>
        <p:nvSpPr>
          <p:cNvPr id="5507" name="Task 17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2425" y="5092544"/>
            <a:ext cx="4152900" cy="176857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38100" tIns="0" rIns="3810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defRPr sz="938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pPr>
            <a:r>
              <a:rPr sz="938" b="1">
                <a:solidFill>
                  <a:srgbClr val="111111"/>
                </a:solidFill>
                <a:latin typeface="Arial"/>
                <a:ea typeface="Arial"/>
                <a:cs typeface="Arial"/>
              </a:rPr>
              <a:t>Presentation and video | Dec 8</a:t>
            </a:r>
          </a:p>
        </p:txBody>
      </p:sp>
      <p:sp>
        <p:nvSpPr>
          <p:cNvPr id="5508" name="Status 17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14850" y="5092544"/>
            <a:ext cx="838200" cy="176857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38100" tIns="0" rIns="3810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defRPr sz="848" b="0">
                <a:solidFill>
                  <a:srgbClr val="111111"/>
                </a:solidFill>
                <a:latin typeface="Arial"/>
                <a:ea typeface="Arial"/>
                <a:cs typeface="Arial"/>
              </a:defRPr>
            </a:pPr>
            <a:r>
              <a:rPr sz="848" b="0">
                <a:solidFill>
                  <a:srgbClr val="111111"/>
                </a:solidFill>
                <a:latin typeface="Arial"/>
                <a:ea typeface="Arial"/>
                <a:cs typeface="Arial"/>
              </a:rPr>
              <a:t>Planned</a:t>
            </a:r>
          </a:p>
        </p:txBody>
      </p:sp>
      <p:sp>
        <p:nvSpPr>
          <p:cNvPr id="5509" name="Milestone 17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43070" y="5133347"/>
            <a:ext cx="95250" cy="95250"/>
          </a:xfrm>
          <a:prstGeom xmlns:a="http://schemas.openxmlformats.org/drawingml/2006/main" prst="diamond">
            <a:avLst/>
          </a:prstGeom>
          <a:solidFill xmlns:a="http://schemas.openxmlformats.org/drawingml/2006/main">
            <a:srgbClr val="111111"/>
          </a:solidFill>
          <a:ln xmlns:a="http://schemas.openxmlformats.org/drawingml/2006/main" w="0">
            <a:noFill/>
          </a:ln>
        </p:spPr>
        <p:txBody xmlns:a="http://schemas.openxmlformats.org/drawingml/2006/main">
          <a:bodyPr/>
          <a:p/>
        </p:txBody>
      </p:sp>
      <p:sp>
        <p:nvSpPr>
          <p:cNvPr id="5510" name="Row rule 17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3850" y="5269401"/>
            <a:ext cx="115252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3">
            <a:solidFill>
              <a:srgbClr val="DADADA"/>
            </a:solidFill>
          </a:ln>
        </p:spPr>
        <p:txBody xmlns:a="http://schemas.openxmlformats.org/drawingml/2006/main">
          <a:bodyPr/>
          <a:p/>
        </p:txBody>
      </p:sp>
      <p:sp>
        <p:nvSpPr>
          <p:cNvPr id="5511" name="Section Research continuation | Provisional January to March 2027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3850" y="5269401"/>
            <a:ext cx="11525250" cy="2000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DE4EA"/>
          </a:solidFill>
          <a:ln xmlns:a="http://schemas.openxmlformats.org/drawingml/2006/main" w="0">
            <a:noFill/>
          </a:ln>
        </p:spPr>
        <p:txBody xmlns:a="http://schemas.openxmlformats.org/drawingml/2006/main">
          <a:bodyPr/>
          <a:p/>
        </p:txBody>
      </p:sp>
      <p:sp>
        <p:nvSpPr>
          <p:cNvPr id="5512" name="Section title Research continuation | Provisional January to March 2027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2425" y="5269401"/>
            <a:ext cx="11468100" cy="2000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38100" tIns="0" rIns="3810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pPr>
            <a:r>
              <a:rPr sz="1050" b="1">
                <a:solidFill>
                  <a:srgbClr val="111111"/>
                </a:solidFill>
                <a:latin typeface="Arial"/>
                <a:ea typeface="Arial"/>
                <a:cs typeface="Arial"/>
              </a:rPr>
              <a:t>Research continuation | Provisional January to March 2027</a:t>
            </a:r>
          </a:p>
        </p:txBody>
      </p:sp>
      <p:sp>
        <p:nvSpPr>
          <p:cNvPr id="5513" name="Week rule 18 2026-09-07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53050" y="5469426"/>
            <a:ext cx="0" cy="176857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3">
            <a:solidFill>
              <a:srgbClr val="DADADA"/>
            </a:solidFill>
          </a:ln>
        </p:spPr>
        <p:txBody xmlns:a="http://schemas.openxmlformats.org/drawingml/2006/main">
          <a:bodyPr/>
          <a:p/>
        </p:txBody>
      </p:sp>
      <p:sp>
        <p:nvSpPr>
          <p:cNvPr id="5514" name="Week rule 18 2026-09-14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51034" y="5469426"/>
            <a:ext cx="0" cy="176857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3">
            <a:solidFill>
              <a:srgbClr val="DADADA"/>
            </a:solidFill>
          </a:ln>
        </p:spPr>
        <p:txBody xmlns:a="http://schemas.openxmlformats.org/drawingml/2006/main">
          <a:bodyPr/>
          <a:p/>
        </p:txBody>
      </p:sp>
      <p:sp>
        <p:nvSpPr>
          <p:cNvPr id="5515" name="Week rule 18 2026-09-21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49018" y="5469426"/>
            <a:ext cx="0" cy="176857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3">
            <a:solidFill>
              <a:srgbClr val="DADADA"/>
            </a:solidFill>
          </a:ln>
        </p:spPr>
        <p:txBody xmlns:a="http://schemas.openxmlformats.org/drawingml/2006/main">
          <a:bodyPr/>
          <a:p/>
        </p:txBody>
      </p:sp>
      <p:sp>
        <p:nvSpPr>
          <p:cNvPr id="5516" name="Week rule 18 2026-09-28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47002" y="5469426"/>
            <a:ext cx="0" cy="176857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3">
            <a:solidFill>
              <a:srgbClr val="DADADA"/>
            </a:solidFill>
          </a:ln>
        </p:spPr>
        <p:txBody xmlns:a="http://schemas.openxmlformats.org/drawingml/2006/main">
          <a:bodyPr/>
          <a:p/>
        </p:txBody>
      </p:sp>
      <p:sp>
        <p:nvSpPr>
          <p:cNvPr id="5517" name="Week rule 18 2026-10-05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44986" y="5469426"/>
            <a:ext cx="0" cy="176857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3">
            <a:solidFill>
              <a:srgbClr val="DADADA"/>
            </a:solidFill>
          </a:ln>
        </p:spPr>
        <p:txBody xmlns:a="http://schemas.openxmlformats.org/drawingml/2006/main">
          <a:bodyPr/>
          <a:p/>
        </p:txBody>
      </p:sp>
      <p:sp>
        <p:nvSpPr>
          <p:cNvPr id="5518" name="Week rule 18 2026-10-12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42970" y="5469426"/>
            <a:ext cx="0" cy="176857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3">
            <a:solidFill>
              <a:srgbClr val="DADADA"/>
            </a:solidFill>
          </a:ln>
        </p:spPr>
        <p:txBody xmlns:a="http://schemas.openxmlformats.org/drawingml/2006/main">
          <a:bodyPr/>
          <a:p/>
        </p:txBody>
      </p:sp>
      <p:sp>
        <p:nvSpPr>
          <p:cNvPr id="5519" name="Week rule 18 2026-10-19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40954" y="5469426"/>
            <a:ext cx="0" cy="176857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3">
            <a:solidFill>
              <a:srgbClr val="DADADA"/>
            </a:solidFill>
          </a:ln>
        </p:spPr>
        <p:txBody xmlns:a="http://schemas.openxmlformats.org/drawingml/2006/main">
          <a:bodyPr/>
          <a:p/>
        </p:txBody>
      </p:sp>
      <p:sp>
        <p:nvSpPr>
          <p:cNvPr id="5520" name="Week rule 18 2026-10-26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38938" y="5469426"/>
            <a:ext cx="0" cy="176857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3">
            <a:solidFill>
              <a:srgbClr val="DADADA"/>
            </a:solidFill>
          </a:ln>
        </p:spPr>
        <p:txBody xmlns:a="http://schemas.openxmlformats.org/drawingml/2006/main">
          <a:bodyPr/>
          <a:p/>
        </p:txBody>
      </p:sp>
      <p:sp>
        <p:nvSpPr>
          <p:cNvPr id="5521" name="Week rule 18 2026-11-02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36922" y="5469426"/>
            <a:ext cx="0" cy="176857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3">
            <a:solidFill>
              <a:srgbClr val="DADADA"/>
            </a:solidFill>
          </a:ln>
        </p:spPr>
        <p:txBody xmlns:a="http://schemas.openxmlformats.org/drawingml/2006/main">
          <a:bodyPr/>
          <a:p/>
        </p:txBody>
      </p:sp>
      <p:sp>
        <p:nvSpPr>
          <p:cNvPr id="5522" name="Week rule 18 2026-11-09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34906" y="5469426"/>
            <a:ext cx="0" cy="176857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3">
            <a:solidFill>
              <a:srgbClr val="DADADA"/>
            </a:solidFill>
          </a:ln>
        </p:spPr>
        <p:txBody xmlns:a="http://schemas.openxmlformats.org/drawingml/2006/main">
          <a:bodyPr/>
          <a:p/>
        </p:txBody>
      </p:sp>
      <p:sp>
        <p:nvSpPr>
          <p:cNvPr id="5523" name="Week rule 18 2026-11-16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32890" y="5469426"/>
            <a:ext cx="0" cy="176857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3">
            <a:solidFill>
              <a:srgbClr val="DADADA"/>
            </a:solidFill>
          </a:ln>
        </p:spPr>
        <p:txBody xmlns:a="http://schemas.openxmlformats.org/drawingml/2006/main">
          <a:bodyPr/>
          <a:p/>
        </p:txBody>
      </p:sp>
      <p:sp>
        <p:nvSpPr>
          <p:cNvPr id="5524" name="Week rule 18 2026-11-23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30874" y="5469426"/>
            <a:ext cx="0" cy="176857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3">
            <a:solidFill>
              <a:srgbClr val="DADADA"/>
            </a:solidFill>
          </a:ln>
        </p:spPr>
        <p:txBody xmlns:a="http://schemas.openxmlformats.org/drawingml/2006/main">
          <a:bodyPr/>
          <a:p/>
        </p:txBody>
      </p:sp>
      <p:sp>
        <p:nvSpPr>
          <p:cNvPr id="5525" name="Week rule 18 2026-11-30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28858" y="5469426"/>
            <a:ext cx="0" cy="176857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3">
            <a:solidFill>
              <a:srgbClr val="DADADA"/>
            </a:solidFill>
          </a:ln>
        </p:spPr>
        <p:txBody xmlns:a="http://schemas.openxmlformats.org/drawingml/2006/main">
          <a:bodyPr/>
          <a:p/>
        </p:txBody>
      </p:sp>
      <p:sp>
        <p:nvSpPr>
          <p:cNvPr id="5526" name="Week rule 18 2026-12-07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26842" y="5469426"/>
            <a:ext cx="0" cy="176857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3">
            <a:solidFill>
              <a:srgbClr val="DADADA"/>
            </a:solidFill>
          </a:ln>
        </p:spPr>
        <p:txBody xmlns:a="http://schemas.openxmlformats.org/drawingml/2006/main">
          <a:bodyPr/>
          <a:p/>
        </p:txBody>
      </p:sp>
      <p:sp>
        <p:nvSpPr>
          <p:cNvPr id="5527" name="Week rule 18 2026-12-14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4826" y="5469426"/>
            <a:ext cx="0" cy="176857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3">
            <a:solidFill>
              <a:srgbClr val="DADADA"/>
            </a:solidFill>
          </a:ln>
        </p:spPr>
        <p:txBody xmlns:a="http://schemas.openxmlformats.org/drawingml/2006/main">
          <a:bodyPr/>
          <a:p/>
        </p:txBody>
      </p:sp>
      <p:sp>
        <p:nvSpPr>
          <p:cNvPr id="5528" name="Week rule 18 2026-12-21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822810" y="5469426"/>
            <a:ext cx="0" cy="176857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3">
            <a:solidFill>
              <a:srgbClr val="DADADA"/>
            </a:solidFill>
          </a:ln>
        </p:spPr>
        <p:txBody xmlns:a="http://schemas.openxmlformats.org/drawingml/2006/main">
          <a:bodyPr/>
          <a:p/>
        </p:txBody>
      </p:sp>
      <p:sp>
        <p:nvSpPr>
          <p:cNvPr id="5529" name="Week rule 18 2026-12-28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120794" y="5469426"/>
            <a:ext cx="0" cy="176857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3">
            <a:solidFill>
              <a:srgbClr val="DADADA"/>
            </a:solidFill>
          </a:ln>
        </p:spPr>
        <p:txBody xmlns:a="http://schemas.openxmlformats.org/drawingml/2006/main">
          <a:bodyPr/>
          <a:p/>
        </p:txBody>
      </p:sp>
      <p:sp>
        <p:nvSpPr>
          <p:cNvPr id="5530" name="Week rule 18 2027-01-04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18778" y="5469426"/>
            <a:ext cx="0" cy="176857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3">
            <a:solidFill>
              <a:srgbClr val="DADADA"/>
            </a:solidFill>
          </a:ln>
        </p:spPr>
        <p:txBody xmlns:a="http://schemas.openxmlformats.org/drawingml/2006/main">
          <a:bodyPr/>
          <a:p/>
        </p:txBody>
      </p:sp>
      <p:sp>
        <p:nvSpPr>
          <p:cNvPr id="5531" name="Week rule 18 2027-02-01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95552" y="5469426"/>
            <a:ext cx="0" cy="176857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3">
            <a:solidFill>
              <a:srgbClr val="DADADA"/>
            </a:solidFill>
          </a:ln>
        </p:spPr>
        <p:txBody xmlns:a="http://schemas.openxmlformats.org/drawingml/2006/main">
          <a:bodyPr/>
          <a:p/>
        </p:txBody>
      </p:sp>
      <p:sp>
        <p:nvSpPr>
          <p:cNvPr id="5532" name="Week rule 18 2027-03-01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72326" y="5469426"/>
            <a:ext cx="0" cy="176857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3">
            <a:solidFill>
              <a:srgbClr val="DADADA"/>
            </a:solidFill>
          </a:ln>
        </p:spPr>
        <p:txBody xmlns:a="http://schemas.openxmlformats.org/drawingml/2006/main">
          <a:bodyPr/>
          <a:p/>
        </p:txBody>
      </p:sp>
      <p:sp>
        <p:nvSpPr>
          <p:cNvPr id="5533" name="Task 18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2425" y="5469426"/>
            <a:ext cx="4152900" cy="176857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38100" tIns="0" rIns="3810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defRPr sz="938" b="0">
                <a:solidFill>
                  <a:srgbClr val="111111"/>
                </a:solidFill>
                <a:latin typeface="Arial"/>
                <a:ea typeface="Arial"/>
                <a:cs typeface="Arial"/>
              </a:defRPr>
            </a:pPr>
            <a:r>
              <a:rPr sz="938" b="0">
                <a:solidFill>
                  <a:srgbClr val="111111"/>
                </a:solidFill>
                <a:latin typeface="Arial"/>
                <a:ea typeface="Arial"/>
                <a:cs typeface="Arial"/>
              </a:rPr>
              <a:t>Further experiments, structure and external validation</a:t>
            </a:r>
          </a:p>
        </p:txBody>
      </p:sp>
      <p:sp>
        <p:nvSpPr>
          <p:cNvPr id="5534" name="Status 18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14850" y="5469426"/>
            <a:ext cx="838200" cy="176857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38100" tIns="0" rIns="3810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defRPr sz="848" b="0">
                <a:solidFill>
                  <a:srgbClr val="111111"/>
                </a:solidFill>
                <a:latin typeface="Arial"/>
                <a:ea typeface="Arial"/>
                <a:cs typeface="Arial"/>
              </a:defRPr>
            </a:pPr>
            <a:r>
              <a:rPr sz="848" b="0">
                <a:solidFill>
                  <a:srgbClr val="111111"/>
                </a:solidFill>
                <a:latin typeface="Arial"/>
                <a:ea typeface="Arial"/>
                <a:cs typeface="Arial"/>
              </a:rPr>
              <a:t>Conditional</a:t>
            </a:r>
          </a:p>
        </p:txBody>
      </p:sp>
      <p:sp>
        <p:nvSpPr>
          <p:cNvPr id="5535" name="Bar 18 0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72326" y="5505467"/>
            <a:ext cx="476774" cy="1047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666666"/>
            </a:solidFill>
          </a:ln>
        </p:spPr>
        <p:txBody xmlns:a="http://schemas.openxmlformats.org/drawingml/2006/main">
          <a:bodyPr/>
          <a:p/>
        </p:txBody>
      </p:sp>
      <p:sp>
        <p:nvSpPr>
          <p:cNvPr id="5536" name="Row rule 18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3850" y="5646283"/>
            <a:ext cx="115252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3">
            <a:solidFill>
              <a:srgbClr val="DADADA"/>
            </a:solidFill>
          </a:ln>
        </p:spPr>
        <p:txBody xmlns:a="http://schemas.openxmlformats.org/drawingml/2006/main">
          <a:bodyPr/>
          <a:p/>
        </p:txBody>
      </p:sp>
      <p:sp>
        <p:nvSpPr>
          <p:cNvPr id="5537" name="Row tint 19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3850" y="5646283"/>
            <a:ext cx="11525250" cy="176857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7F7F7"/>
          </a:solidFill>
          <a:ln xmlns:a="http://schemas.openxmlformats.org/drawingml/2006/main" w="0">
            <a:noFill/>
          </a:ln>
        </p:spPr>
        <p:txBody xmlns:a="http://schemas.openxmlformats.org/drawingml/2006/main">
          <a:bodyPr/>
          <a:p/>
        </p:txBody>
      </p:sp>
      <p:sp>
        <p:nvSpPr>
          <p:cNvPr id="5538" name="Week rule 19 2026-09-07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53050" y="5646283"/>
            <a:ext cx="0" cy="176857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3">
            <a:solidFill>
              <a:srgbClr val="DADADA"/>
            </a:solidFill>
          </a:ln>
        </p:spPr>
        <p:txBody xmlns:a="http://schemas.openxmlformats.org/drawingml/2006/main">
          <a:bodyPr/>
          <a:p/>
        </p:txBody>
      </p:sp>
      <p:sp>
        <p:nvSpPr>
          <p:cNvPr id="5539" name="Week rule 19 2026-09-14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51034" y="5646283"/>
            <a:ext cx="0" cy="176857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3">
            <a:solidFill>
              <a:srgbClr val="DADADA"/>
            </a:solidFill>
          </a:ln>
        </p:spPr>
        <p:txBody xmlns:a="http://schemas.openxmlformats.org/drawingml/2006/main">
          <a:bodyPr/>
          <a:p/>
        </p:txBody>
      </p:sp>
      <p:sp>
        <p:nvSpPr>
          <p:cNvPr id="5540" name="Week rule 19 2026-09-21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49018" y="5646283"/>
            <a:ext cx="0" cy="176857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3">
            <a:solidFill>
              <a:srgbClr val="DADADA"/>
            </a:solidFill>
          </a:ln>
        </p:spPr>
        <p:txBody xmlns:a="http://schemas.openxmlformats.org/drawingml/2006/main">
          <a:bodyPr/>
          <a:p/>
        </p:txBody>
      </p:sp>
      <p:sp>
        <p:nvSpPr>
          <p:cNvPr id="5541" name="Week rule 19 2026-09-28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47002" y="5646283"/>
            <a:ext cx="0" cy="176857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3">
            <a:solidFill>
              <a:srgbClr val="DADADA"/>
            </a:solidFill>
          </a:ln>
        </p:spPr>
        <p:txBody xmlns:a="http://schemas.openxmlformats.org/drawingml/2006/main">
          <a:bodyPr/>
          <a:p/>
        </p:txBody>
      </p:sp>
      <p:sp>
        <p:nvSpPr>
          <p:cNvPr id="5542" name="Week rule 19 2026-10-05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44986" y="5646283"/>
            <a:ext cx="0" cy="176857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3">
            <a:solidFill>
              <a:srgbClr val="DADADA"/>
            </a:solidFill>
          </a:ln>
        </p:spPr>
        <p:txBody xmlns:a="http://schemas.openxmlformats.org/drawingml/2006/main">
          <a:bodyPr/>
          <a:p/>
        </p:txBody>
      </p:sp>
      <p:sp>
        <p:nvSpPr>
          <p:cNvPr id="5543" name="Week rule 19 2026-10-12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42970" y="5646283"/>
            <a:ext cx="0" cy="176857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3">
            <a:solidFill>
              <a:srgbClr val="DADADA"/>
            </a:solidFill>
          </a:ln>
        </p:spPr>
        <p:txBody xmlns:a="http://schemas.openxmlformats.org/drawingml/2006/main">
          <a:bodyPr/>
          <a:p/>
        </p:txBody>
      </p:sp>
      <p:sp>
        <p:nvSpPr>
          <p:cNvPr id="5544" name="Week rule 19 2026-10-19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40954" y="5646283"/>
            <a:ext cx="0" cy="176857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3">
            <a:solidFill>
              <a:srgbClr val="DADADA"/>
            </a:solidFill>
          </a:ln>
        </p:spPr>
        <p:txBody xmlns:a="http://schemas.openxmlformats.org/drawingml/2006/main">
          <a:bodyPr/>
          <a:p/>
        </p:txBody>
      </p:sp>
      <p:sp>
        <p:nvSpPr>
          <p:cNvPr id="5545" name="Week rule 19 2026-10-26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38938" y="5646283"/>
            <a:ext cx="0" cy="176857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3">
            <a:solidFill>
              <a:srgbClr val="DADADA"/>
            </a:solidFill>
          </a:ln>
        </p:spPr>
        <p:txBody xmlns:a="http://schemas.openxmlformats.org/drawingml/2006/main">
          <a:bodyPr/>
          <a:p/>
        </p:txBody>
      </p:sp>
      <p:sp>
        <p:nvSpPr>
          <p:cNvPr id="5546" name="Week rule 19 2026-11-02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36922" y="5646283"/>
            <a:ext cx="0" cy="176857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3">
            <a:solidFill>
              <a:srgbClr val="DADADA"/>
            </a:solidFill>
          </a:ln>
        </p:spPr>
        <p:txBody xmlns:a="http://schemas.openxmlformats.org/drawingml/2006/main">
          <a:bodyPr/>
          <a:p/>
        </p:txBody>
      </p:sp>
      <p:sp>
        <p:nvSpPr>
          <p:cNvPr id="5547" name="Week rule 19 2026-11-09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34906" y="5646283"/>
            <a:ext cx="0" cy="176857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3">
            <a:solidFill>
              <a:srgbClr val="DADADA"/>
            </a:solidFill>
          </a:ln>
        </p:spPr>
        <p:txBody xmlns:a="http://schemas.openxmlformats.org/drawingml/2006/main">
          <a:bodyPr/>
          <a:p/>
        </p:txBody>
      </p:sp>
      <p:sp>
        <p:nvSpPr>
          <p:cNvPr id="5548" name="Week rule 19 2026-11-16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32890" y="5646283"/>
            <a:ext cx="0" cy="176857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3">
            <a:solidFill>
              <a:srgbClr val="DADADA"/>
            </a:solidFill>
          </a:ln>
        </p:spPr>
        <p:txBody xmlns:a="http://schemas.openxmlformats.org/drawingml/2006/main">
          <a:bodyPr/>
          <a:p/>
        </p:txBody>
      </p:sp>
      <p:sp>
        <p:nvSpPr>
          <p:cNvPr id="5549" name="Week rule 19 2026-11-23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30874" y="5646283"/>
            <a:ext cx="0" cy="176857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3">
            <a:solidFill>
              <a:srgbClr val="DADADA"/>
            </a:solidFill>
          </a:ln>
        </p:spPr>
        <p:txBody xmlns:a="http://schemas.openxmlformats.org/drawingml/2006/main">
          <a:bodyPr/>
          <a:p/>
        </p:txBody>
      </p:sp>
      <p:sp>
        <p:nvSpPr>
          <p:cNvPr id="5550" name="Week rule 19 2026-11-30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28858" y="5646283"/>
            <a:ext cx="0" cy="176857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3">
            <a:solidFill>
              <a:srgbClr val="DADADA"/>
            </a:solidFill>
          </a:ln>
        </p:spPr>
        <p:txBody xmlns:a="http://schemas.openxmlformats.org/drawingml/2006/main">
          <a:bodyPr/>
          <a:p/>
        </p:txBody>
      </p:sp>
      <p:sp>
        <p:nvSpPr>
          <p:cNvPr id="5551" name="Week rule 19 2026-12-07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26842" y="5646283"/>
            <a:ext cx="0" cy="176857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3">
            <a:solidFill>
              <a:srgbClr val="DADADA"/>
            </a:solidFill>
          </a:ln>
        </p:spPr>
        <p:txBody xmlns:a="http://schemas.openxmlformats.org/drawingml/2006/main">
          <a:bodyPr/>
          <a:p/>
        </p:txBody>
      </p:sp>
      <p:sp>
        <p:nvSpPr>
          <p:cNvPr id="5552" name="Week rule 19 2026-12-14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4826" y="5646283"/>
            <a:ext cx="0" cy="176857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3">
            <a:solidFill>
              <a:srgbClr val="DADADA"/>
            </a:solidFill>
          </a:ln>
        </p:spPr>
        <p:txBody xmlns:a="http://schemas.openxmlformats.org/drawingml/2006/main">
          <a:bodyPr/>
          <a:p/>
        </p:txBody>
      </p:sp>
      <p:sp>
        <p:nvSpPr>
          <p:cNvPr id="5553" name="Week rule 19 2026-12-21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822810" y="5646283"/>
            <a:ext cx="0" cy="176857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3">
            <a:solidFill>
              <a:srgbClr val="DADADA"/>
            </a:solidFill>
          </a:ln>
        </p:spPr>
        <p:txBody xmlns:a="http://schemas.openxmlformats.org/drawingml/2006/main">
          <a:bodyPr/>
          <a:p/>
        </p:txBody>
      </p:sp>
      <p:sp>
        <p:nvSpPr>
          <p:cNvPr id="5554" name="Week rule 19 2026-12-28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120794" y="5646283"/>
            <a:ext cx="0" cy="176857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3">
            <a:solidFill>
              <a:srgbClr val="DADADA"/>
            </a:solidFill>
          </a:ln>
        </p:spPr>
        <p:txBody xmlns:a="http://schemas.openxmlformats.org/drawingml/2006/main">
          <a:bodyPr/>
          <a:p/>
        </p:txBody>
      </p:sp>
      <p:sp>
        <p:nvSpPr>
          <p:cNvPr id="5555" name="Week rule 19 2027-01-04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18778" y="5646283"/>
            <a:ext cx="0" cy="176857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3">
            <a:solidFill>
              <a:srgbClr val="DADADA"/>
            </a:solidFill>
          </a:ln>
        </p:spPr>
        <p:txBody xmlns:a="http://schemas.openxmlformats.org/drawingml/2006/main">
          <a:bodyPr/>
          <a:p/>
        </p:txBody>
      </p:sp>
      <p:sp>
        <p:nvSpPr>
          <p:cNvPr id="5556" name="Week rule 19 2027-02-01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95552" y="5646283"/>
            <a:ext cx="0" cy="176857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3">
            <a:solidFill>
              <a:srgbClr val="DADADA"/>
            </a:solidFill>
          </a:ln>
        </p:spPr>
        <p:txBody xmlns:a="http://schemas.openxmlformats.org/drawingml/2006/main">
          <a:bodyPr/>
          <a:p/>
        </p:txBody>
      </p:sp>
      <p:sp>
        <p:nvSpPr>
          <p:cNvPr id="5557" name="Week rule 19 2027-03-01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72326" y="5646283"/>
            <a:ext cx="0" cy="176857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3">
            <a:solidFill>
              <a:srgbClr val="DADADA"/>
            </a:solidFill>
          </a:ln>
        </p:spPr>
        <p:txBody xmlns:a="http://schemas.openxmlformats.org/drawingml/2006/main">
          <a:bodyPr/>
          <a:p/>
        </p:txBody>
      </p:sp>
      <p:sp>
        <p:nvSpPr>
          <p:cNvPr id="5558" name="Task 19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2425" y="5646283"/>
            <a:ext cx="4152900" cy="176857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38100" tIns="0" rIns="3810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defRPr sz="938" b="0">
                <a:solidFill>
                  <a:srgbClr val="111111"/>
                </a:solidFill>
                <a:latin typeface="Arial"/>
                <a:ea typeface="Arial"/>
                <a:cs typeface="Arial"/>
              </a:defRPr>
            </a:pPr>
            <a:r>
              <a:rPr sz="938" b="0">
                <a:solidFill>
                  <a:srgbClr val="111111"/>
                </a:solidFill>
                <a:latin typeface="Arial"/>
                <a:ea typeface="Arial"/>
                <a:cs typeface="Arial"/>
              </a:rPr>
              <a:t>Multi-teacher distillation (plan item 7)</a:t>
            </a:r>
          </a:p>
        </p:txBody>
      </p:sp>
      <p:sp>
        <p:nvSpPr>
          <p:cNvPr id="5559" name="Status 19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14850" y="5646283"/>
            <a:ext cx="838200" cy="176857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38100" tIns="0" rIns="3810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defRPr sz="848" b="0">
                <a:solidFill>
                  <a:srgbClr val="111111"/>
                </a:solidFill>
                <a:latin typeface="Arial"/>
                <a:ea typeface="Arial"/>
                <a:cs typeface="Arial"/>
              </a:defRPr>
            </a:pPr>
            <a:r>
              <a:rPr sz="848" b="0">
                <a:solidFill>
                  <a:srgbClr val="111111"/>
                </a:solidFill>
                <a:latin typeface="Arial"/>
                <a:ea typeface="Arial"/>
                <a:cs typeface="Arial"/>
              </a:rPr>
              <a:t>Conditional</a:t>
            </a:r>
          </a:p>
        </p:txBody>
      </p:sp>
      <p:sp>
        <p:nvSpPr>
          <p:cNvPr id="5560" name="Bar 19 0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72326" y="5682324"/>
            <a:ext cx="476774" cy="1047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666666"/>
            </a:solidFill>
          </a:ln>
        </p:spPr>
        <p:txBody xmlns:a="http://schemas.openxmlformats.org/drawingml/2006/main">
          <a:bodyPr/>
          <a:p/>
        </p:txBody>
      </p:sp>
      <p:sp>
        <p:nvSpPr>
          <p:cNvPr id="5561" name="Row rule 19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3850" y="5823140"/>
            <a:ext cx="115252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3">
            <a:solidFill>
              <a:srgbClr val="DADADA"/>
            </a:solidFill>
          </a:ln>
        </p:spPr>
        <p:txBody xmlns:a="http://schemas.openxmlformats.org/drawingml/2006/main">
          <a:bodyPr/>
          <a:p/>
        </p:txBody>
      </p:sp>
      <p:sp>
        <p:nvSpPr>
          <p:cNvPr id="5562" name="Week rule 20 2026-09-07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53050" y="5823140"/>
            <a:ext cx="0" cy="176857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3">
            <a:solidFill>
              <a:srgbClr val="DADADA"/>
            </a:solidFill>
          </a:ln>
        </p:spPr>
        <p:txBody xmlns:a="http://schemas.openxmlformats.org/drawingml/2006/main">
          <a:bodyPr/>
          <a:p/>
        </p:txBody>
      </p:sp>
      <p:sp>
        <p:nvSpPr>
          <p:cNvPr id="5563" name="Week rule 20 2026-09-14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51034" y="5823140"/>
            <a:ext cx="0" cy="176857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3">
            <a:solidFill>
              <a:srgbClr val="DADADA"/>
            </a:solidFill>
          </a:ln>
        </p:spPr>
        <p:txBody xmlns:a="http://schemas.openxmlformats.org/drawingml/2006/main">
          <a:bodyPr/>
          <a:p/>
        </p:txBody>
      </p:sp>
      <p:sp>
        <p:nvSpPr>
          <p:cNvPr id="5564" name="Week rule 20 2026-09-21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49018" y="5823140"/>
            <a:ext cx="0" cy="176857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3">
            <a:solidFill>
              <a:srgbClr val="DADADA"/>
            </a:solidFill>
          </a:ln>
        </p:spPr>
        <p:txBody xmlns:a="http://schemas.openxmlformats.org/drawingml/2006/main">
          <a:bodyPr/>
          <a:p/>
        </p:txBody>
      </p:sp>
      <p:sp>
        <p:nvSpPr>
          <p:cNvPr id="5565" name="Week rule 20 2026-09-28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47002" y="5823140"/>
            <a:ext cx="0" cy="176857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3">
            <a:solidFill>
              <a:srgbClr val="DADADA"/>
            </a:solidFill>
          </a:ln>
        </p:spPr>
        <p:txBody xmlns:a="http://schemas.openxmlformats.org/drawingml/2006/main">
          <a:bodyPr/>
          <a:p/>
        </p:txBody>
      </p:sp>
      <p:sp>
        <p:nvSpPr>
          <p:cNvPr id="5566" name="Week rule 20 2026-10-05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44986" y="5823140"/>
            <a:ext cx="0" cy="176857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3">
            <a:solidFill>
              <a:srgbClr val="DADADA"/>
            </a:solidFill>
          </a:ln>
        </p:spPr>
        <p:txBody xmlns:a="http://schemas.openxmlformats.org/drawingml/2006/main">
          <a:bodyPr/>
          <a:p/>
        </p:txBody>
      </p:sp>
      <p:sp>
        <p:nvSpPr>
          <p:cNvPr id="5567" name="Week rule 20 2026-10-12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42970" y="5823140"/>
            <a:ext cx="0" cy="176857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3">
            <a:solidFill>
              <a:srgbClr val="DADADA"/>
            </a:solidFill>
          </a:ln>
        </p:spPr>
        <p:txBody xmlns:a="http://schemas.openxmlformats.org/drawingml/2006/main">
          <a:bodyPr/>
          <a:p/>
        </p:txBody>
      </p:sp>
      <p:sp>
        <p:nvSpPr>
          <p:cNvPr id="5568" name="Week rule 20 2026-10-19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40954" y="5823140"/>
            <a:ext cx="0" cy="176857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3">
            <a:solidFill>
              <a:srgbClr val="DADADA"/>
            </a:solidFill>
          </a:ln>
        </p:spPr>
        <p:txBody xmlns:a="http://schemas.openxmlformats.org/drawingml/2006/main">
          <a:bodyPr/>
          <a:p/>
        </p:txBody>
      </p:sp>
      <p:sp>
        <p:nvSpPr>
          <p:cNvPr id="5569" name="Week rule 20 2026-10-26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38938" y="5823140"/>
            <a:ext cx="0" cy="176857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3">
            <a:solidFill>
              <a:srgbClr val="DADADA"/>
            </a:solidFill>
          </a:ln>
        </p:spPr>
        <p:txBody xmlns:a="http://schemas.openxmlformats.org/drawingml/2006/main">
          <a:bodyPr/>
          <a:p/>
        </p:txBody>
      </p:sp>
      <p:sp>
        <p:nvSpPr>
          <p:cNvPr id="5570" name="Week rule 20 2026-11-02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36922" y="5823140"/>
            <a:ext cx="0" cy="176857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3">
            <a:solidFill>
              <a:srgbClr val="DADADA"/>
            </a:solidFill>
          </a:ln>
        </p:spPr>
        <p:txBody xmlns:a="http://schemas.openxmlformats.org/drawingml/2006/main">
          <a:bodyPr/>
          <a:p/>
        </p:txBody>
      </p:sp>
      <p:sp>
        <p:nvSpPr>
          <p:cNvPr id="5571" name="Week rule 20 2026-11-09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34906" y="5823140"/>
            <a:ext cx="0" cy="176857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3">
            <a:solidFill>
              <a:srgbClr val="DADADA"/>
            </a:solidFill>
          </a:ln>
        </p:spPr>
        <p:txBody xmlns:a="http://schemas.openxmlformats.org/drawingml/2006/main">
          <a:bodyPr/>
          <a:p/>
        </p:txBody>
      </p:sp>
      <p:sp>
        <p:nvSpPr>
          <p:cNvPr id="5572" name="Week rule 20 2026-11-16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32890" y="5823140"/>
            <a:ext cx="0" cy="176857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3">
            <a:solidFill>
              <a:srgbClr val="DADADA"/>
            </a:solidFill>
          </a:ln>
        </p:spPr>
        <p:txBody xmlns:a="http://schemas.openxmlformats.org/drawingml/2006/main">
          <a:bodyPr/>
          <a:p/>
        </p:txBody>
      </p:sp>
      <p:sp>
        <p:nvSpPr>
          <p:cNvPr id="5573" name="Week rule 20 2026-11-23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30874" y="5823140"/>
            <a:ext cx="0" cy="176857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3">
            <a:solidFill>
              <a:srgbClr val="DADADA"/>
            </a:solidFill>
          </a:ln>
        </p:spPr>
        <p:txBody xmlns:a="http://schemas.openxmlformats.org/drawingml/2006/main">
          <a:bodyPr/>
          <a:p/>
        </p:txBody>
      </p:sp>
      <p:sp>
        <p:nvSpPr>
          <p:cNvPr id="5574" name="Week rule 20 2026-11-30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28858" y="5823140"/>
            <a:ext cx="0" cy="176857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3">
            <a:solidFill>
              <a:srgbClr val="DADADA"/>
            </a:solidFill>
          </a:ln>
        </p:spPr>
        <p:txBody xmlns:a="http://schemas.openxmlformats.org/drawingml/2006/main">
          <a:bodyPr/>
          <a:p/>
        </p:txBody>
      </p:sp>
      <p:sp>
        <p:nvSpPr>
          <p:cNvPr id="5575" name="Week rule 20 2026-12-07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26842" y="5823140"/>
            <a:ext cx="0" cy="176857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3">
            <a:solidFill>
              <a:srgbClr val="DADADA"/>
            </a:solidFill>
          </a:ln>
        </p:spPr>
        <p:txBody xmlns:a="http://schemas.openxmlformats.org/drawingml/2006/main">
          <a:bodyPr/>
          <a:p/>
        </p:txBody>
      </p:sp>
      <p:sp>
        <p:nvSpPr>
          <p:cNvPr id="5576" name="Week rule 20 2026-12-14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4826" y="5823140"/>
            <a:ext cx="0" cy="176857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3">
            <a:solidFill>
              <a:srgbClr val="DADADA"/>
            </a:solidFill>
          </a:ln>
        </p:spPr>
        <p:txBody xmlns:a="http://schemas.openxmlformats.org/drawingml/2006/main">
          <a:bodyPr/>
          <a:p/>
        </p:txBody>
      </p:sp>
      <p:sp>
        <p:nvSpPr>
          <p:cNvPr id="5577" name="Week rule 20 2026-12-21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822810" y="5823140"/>
            <a:ext cx="0" cy="176857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3">
            <a:solidFill>
              <a:srgbClr val="DADADA"/>
            </a:solidFill>
          </a:ln>
        </p:spPr>
        <p:txBody xmlns:a="http://schemas.openxmlformats.org/drawingml/2006/main">
          <a:bodyPr/>
          <a:p/>
        </p:txBody>
      </p:sp>
      <p:sp>
        <p:nvSpPr>
          <p:cNvPr id="5578" name="Week rule 20 2026-12-28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120794" y="5823140"/>
            <a:ext cx="0" cy="176857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3">
            <a:solidFill>
              <a:srgbClr val="DADADA"/>
            </a:solidFill>
          </a:ln>
        </p:spPr>
        <p:txBody xmlns:a="http://schemas.openxmlformats.org/drawingml/2006/main">
          <a:bodyPr/>
          <a:p/>
        </p:txBody>
      </p:sp>
      <p:sp>
        <p:nvSpPr>
          <p:cNvPr id="5579" name="Week rule 20 2027-01-04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18778" y="5823140"/>
            <a:ext cx="0" cy="176857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3">
            <a:solidFill>
              <a:srgbClr val="DADADA"/>
            </a:solidFill>
          </a:ln>
        </p:spPr>
        <p:txBody xmlns:a="http://schemas.openxmlformats.org/drawingml/2006/main">
          <a:bodyPr/>
          <a:p/>
        </p:txBody>
      </p:sp>
      <p:sp>
        <p:nvSpPr>
          <p:cNvPr id="5580" name="Week rule 20 2027-02-01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95552" y="5823140"/>
            <a:ext cx="0" cy="176857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3">
            <a:solidFill>
              <a:srgbClr val="DADADA"/>
            </a:solidFill>
          </a:ln>
        </p:spPr>
        <p:txBody xmlns:a="http://schemas.openxmlformats.org/drawingml/2006/main">
          <a:bodyPr/>
          <a:p/>
        </p:txBody>
      </p:sp>
      <p:sp>
        <p:nvSpPr>
          <p:cNvPr id="5581" name="Week rule 20 2027-03-01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72326" y="5823140"/>
            <a:ext cx="0" cy="176857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3">
            <a:solidFill>
              <a:srgbClr val="DADADA"/>
            </a:solidFill>
          </a:ln>
        </p:spPr>
        <p:txBody xmlns:a="http://schemas.openxmlformats.org/drawingml/2006/main">
          <a:bodyPr/>
          <a:p/>
        </p:txBody>
      </p:sp>
      <p:sp>
        <p:nvSpPr>
          <p:cNvPr id="5582" name="Task 20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2425" y="5823140"/>
            <a:ext cx="4152900" cy="176857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38100" tIns="0" rIns="3810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defRPr sz="938" b="0">
                <a:solidFill>
                  <a:srgbClr val="111111"/>
                </a:solidFill>
                <a:latin typeface="Arial"/>
                <a:ea typeface="Arial"/>
                <a:cs typeface="Arial"/>
              </a:defRPr>
            </a:pPr>
            <a:r>
              <a:rPr sz="938" b="0">
                <a:solidFill>
                  <a:srgbClr val="111111"/>
                </a:solidFill>
                <a:latin typeface="Arial"/>
                <a:ea typeface="Arial"/>
                <a:cs typeface="Arial"/>
              </a:rPr>
              <a:t>Manuscript consolidation and March review</a:t>
            </a:r>
          </a:p>
        </p:txBody>
      </p:sp>
      <p:sp>
        <p:nvSpPr>
          <p:cNvPr id="5583" name="Status 20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14850" y="5823140"/>
            <a:ext cx="838200" cy="176857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38100" tIns="0" rIns="3810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defRPr sz="848" b="0">
                <a:solidFill>
                  <a:srgbClr val="111111"/>
                </a:solidFill>
                <a:latin typeface="Arial"/>
                <a:ea typeface="Arial"/>
                <a:cs typeface="Arial"/>
              </a:defRPr>
            </a:pPr>
            <a:r>
              <a:rPr sz="848" b="0">
                <a:solidFill>
                  <a:srgbClr val="111111"/>
                </a:solidFill>
                <a:latin typeface="Arial"/>
                <a:ea typeface="Arial"/>
                <a:cs typeface="Arial"/>
              </a:rPr>
              <a:t>Planned</a:t>
            </a:r>
          </a:p>
        </p:txBody>
      </p:sp>
      <p:sp>
        <p:nvSpPr>
          <p:cNvPr id="5584" name="Bar 20 0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95552" y="5859181"/>
            <a:ext cx="476774" cy="1047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7BEC4"/>
          </a:solidFill>
          <a:ln xmlns:a="http://schemas.openxmlformats.org/drawingml/2006/main" w="0">
            <a:noFill/>
          </a:ln>
        </p:spPr>
        <p:txBody xmlns:a="http://schemas.openxmlformats.org/drawingml/2006/main">
          <a:bodyPr/>
          <a:p/>
        </p:txBody>
      </p:sp>
      <p:sp>
        <p:nvSpPr>
          <p:cNvPr id="5585" name="Bar 20 1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72326" y="5859181"/>
            <a:ext cx="476774" cy="1047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7BEC4"/>
          </a:solidFill>
          <a:ln xmlns:a="http://schemas.openxmlformats.org/drawingml/2006/main" w="0">
            <a:noFill/>
          </a:ln>
        </p:spPr>
        <p:txBody xmlns:a="http://schemas.openxmlformats.org/drawingml/2006/main">
          <a:bodyPr/>
          <a:p/>
        </p:txBody>
      </p:sp>
      <p:sp>
        <p:nvSpPr>
          <p:cNvPr id="5586" name="Milestone 20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793785" y="5863943"/>
            <a:ext cx="95250" cy="95250"/>
          </a:xfrm>
          <a:prstGeom xmlns:a="http://schemas.openxmlformats.org/drawingml/2006/main" prst="diamond">
            <a:avLst/>
          </a:prstGeom>
          <a:solidFill xmlns:a="http://schemas.openxmlformats.org/drawingml/2006/main">
            <a:srgbClr val="111111"/>
          </a:solidFill>
          <a:ln xmlns:a="http://schemas.openxmlformats.org/drawingml/2006/main" w="0">
            <a:noFill/>
          </a:ln>
        </p:spPr>
        <p:txBody xmlns:a="http://schemas.openxmlformats.org/drawingml/2006/main">
          <a:bodyPr/>
          <a:p/>
        </p:txBody>
      </p:sp>
      <p:sp>
        <p:nvSpPr>
          <p:cNvPr id="5587" name="Row rule 20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3850" y="5999997"/>
            <a:ext cx="115252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3">
            <a:solidFill>
              <a:srgbClr val="DADADA"/>
            </a:solidFill>
          </a:ln>
        </p:spPr>
        <p:txBody xmlns:a="http://schemas.openxmlformats.org/drawingml/2006/main">
          <a:bodyPr/>
          <a:p/>
        </p:txBody>
      </p:sp>
    </p:spTree>
    <p:extLst>
      <p:ext uri="{BB962C8B-B14F-4D97-AF65-F5344CB8AC3E}">
        <p14:creationId xmlns:p14="http://schemas.microsoft.com/office/powerpoint/2010/main" val="304623512"/>
      </p:ext>
    </p:extLst>
  </p:cSld>
</p:sld>
</file>

<file path=ppt/slides/slide2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51" name="Title">
            <a:extLst xmlns:a="http://schemas.openxmlformats.org/drawingml/2006/main">
              <a:ext uri="{FF2B5EF4-FFF2-40B4-BE49-F238E27FC236}">
                <a16:creationId xmlns:a16="http://schemas.microsoft.com/office/drawing/2014/main" id="{58B9296E-5E14-4E81-9481-BFDBCAE25B8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5750" y="161925"/>
            <a:ext cx="116014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38100" tIns="0" rIns="3810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defRPr sz="2100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pPr>
            <a:r>
              <a:rPr sz="2100" b="1">
                <a:solidFill>
                  <a:srgbClr val="111111"/>
                </a:solidFill>
                <a:latin typeface="Arial"/>
                <a:ea typeface="Arial"/>
                <a:cs typeface="Arial"/>
              </a:rPr>
              <a:t>Stages 1 and 2 | Representation Analysis and Defining Alignment</a:t>
            </a:r>
          </a:p>
        </p:txBody>
      </p:sp>
      <p:sp>
        <p:nvSpPr>
          <p:cNvPr id="2" name="Subtitle">
            <a:extLst xmlns:a="http://schemas.openxmlformats.org/drawingml/2006/main">
              <a:ext uri="{FF2B5EF4-FFF2-40B4-BE49-F238E27FC236}">
                <a16:creationId xmlns:a16="http://schemas.microsoft.com/office/drawing/2014/main" id="{32820F1B-BBB4-4FFC-A2EB-E677D5B6D33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5750" y="581025"/>
            <a:ext cx="116014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38100" tIns="0" rIns="3810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111111"/>
                </a:solidFill>
                <a:latin typeface="Arial"/>
                <a:ea typeface="Arial"/>
                <a:cs typeface="Arial"/>
              </a:defRPr>
            </a:pPr>
            <a:r>
              <a:rPr sz="1050" b="0">
                <a:solidFill>
                  <a:srgbClr val="111111"/>
                </a:solidFill>
                <a:latin typeface="Arial"/>
                <a:ea typeface="Arial"/>
                <a:cs typeface="Arial"/>
              </a:rPr>
              <a:t>Stage 1 analyses are complete for twelve encoders on two datasets. Stage 2, the alignment decision, is drafted for the October 7 review.</a:t>
            </a:r>
          </a:p>
        </p:txBody>
      </p:sp>
      <p:sp>
        <p:nvSpPr>
          <p:cNvPr id="3" name="Column header">
            <a:extLst xmlns:a="http://schemas.openxmlformats.org/drawingml/2006/main">
              <a:ext uri="{FF2B5EF4-FFF2-40B4-BE49-F238E27FC236}">
                <a16:creationId xmlns:a16="http://schemas.microsoft.com/office/drawing/2014/main" id="{CB5A2AB6-ACF7-4A31-BD65-45865747598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3850" y="990600"/>
            <a:ext cx="11525250" cy="2952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4D4"/>
          </a:solidFill>
          <a:ln xmlns:a="http://schemas.openxmlformats.org/drawingml/2006/main" w="0">
            <a:noFill/>
          </a:ln>
        </p:spPr>
        <p:txBody xmlns:a="http://schemas.openxmlformats.org/drawingml/2006/main">
          <a:bodyPr/>
          <a:p/>
        </p:txBody>
      </p:sp>
      <p:sp>
        <p:nvSpPr>
          <p:cNvPr id="4" name="Task header">
            <a:extLst xmlns:a="http://schemas.openxmlformats.org/drawingml/2006/main">
              <a:ext uri="{FF2B5EF4-FFF2-40B4-BE49-F238E27FC236}">
                <a16:creationId xmlns:a16="http://schemas.microsoft.com/office/drawing/2014/main" id="{29516F3C-0294-4D5A-875D-0A7E1E1B204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3850" y="990600"/>
            <a:ext cx="4333875" cy="2952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38100" tIns="0" rIns="3810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pPr>
            <a:r>
              <a:rPr sz="1050" b="1">
                <a:solidFill>
                  <a:srgbClr val="111111"/>
                </a:solidFill>
                <a:latin typeface="Arial"/>
                <a:ea typeface="Arial"/>
                <a:cs typeface="Arial"/>
              </a:rPr>
              <a:t>Task / research outcome</a:t>
            </a:r>
          </a:p>
        </p:txBody>
      </p:sp>
      <p:sp>
        <p:nvSpPr>
          <p:cNvPr id="5" name="Status header">
            <a:extLst xmlns:a="http://schemas.openxmlformats.org/drawingml/2006/main">
              <a:ext uri="{FF2B5EF4-FFF2-40B4-BE49-F238E27FC236}">
                <a16:creationId xmlns:a16="http://schemas.microsoft.com/office/drawing/2014/main" id="{973EA8A8-3943-41CF-9DF9-F8508B6868E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57725" y="990600"/>
            <a:ext cx="838200" cy="2952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38100" tIns="0" rIns="3810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defRPr sz="900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pPr>
            <a:r>
              <a:rPr sz="900" b="1">
                <a:solidFill>
                  <a:srgbClr val="111111"/>
                </a:solidFill>
                <a:latin typeface="Arial"/>
                <a:ea typeface="Arial"/>
                <a:cs typeface="Arial"/>
              </a:rPr>
              <a:t>Status</a:t>
            </a:r>
          </a:p>
        </p:txBody>
      </p:sp>
      <p:sp>
        <p:nvSpPr>
          <p:cNvPr id="6" name="Date header">
            <a:extLst xmlns:a="http://schemas.openxmlformats.org/drawingml/2006/main">
              <a:ext uri="{FF2B5EF4-FFF2-40B4-BE49-F238E27FC236}">
                <a16:creationId xmlns:a16="http://schemas.microsoft.com/office/drawing/2014/main" id="{816CD67F-8C10-4D8D-879F-86079E0D537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95925" y="990600"/>
            <a:ext cx="857250" cy="2952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38100" tIns="0" rIns="3810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defRPr sz="900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pPr>
            <a:r>
              <a:rPr sz="900" b="1">
                <a:solidFill>
                  <a:srgbClr val="111111"/>
                </a:solidFill>
                <a:latin typeface="Arial"/>
                <a:ea typeface="Arial"/>
                <a:cs typeface="Arial"/>
              </a:rPr>
              <a:t>Dates</a:t>
            </a:r>
          </a:p>
        </p:txBody>
      </p:sp>
      <p:sp>
        <p:nvSpPr>
          <p:cNvPr id="7" name="Week 2026-09-21">
            <a:extLst xmlns:a="http://schemas.openxmlformats.org/drawingml/2006/main">
              <a:ext uri="{FF2B5EF4-FFF2-40B4-BE49-F238E27FC236}">
                <a16:creationId xmlns:a16="http://schemas.microsoft.com/office/drawing/2014/main" id="{42DC6325-BD99-4832-BAC5-ABD477B0400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53175" y="990600"/>
            <a:ext cx="1831975" cy="2952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38100" tIns="0" rIns="3810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defRPr sz="900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pPr>
            <a:r>
              <a:rPr sz="900" b="1">
                <a:solidFill>
                  <a:srgbClr val="111111"/>
                </a:solidFill>
                <a:latin typeface="Arial"/>
                <a:ea typeface="Arial"/>
                <a:cs typeface="Arial"/>
              </a:rPr>
              <a:t>9/21</a:t>
            </a:r>
          </a:p>
        </p:txBody>
      </p:sp>
      <p:sp>
        <p:nvSpPr>
          <p:cNvPr id="8" name="Week 2026-09-28">
            <a:extLst xmlns:a="http://schemas.openxmlformats.org/drawingml/2006/main">
              <a:ext uri="{FF2B5EF4-FFF2-40B4-BE49-F238E27FC236}">
                <a16:creationId xmlns:a16="http://schemas.microsoft.com/office/drawing/2014/main" id="{37FB57EB-53AE-4EA1-9E32-D0AAD0A3455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85150" y="990600"/>
            <a:ext cx="1831975" cy="2952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38100" tIns="0" rIns="3810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defRPr sz="900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pPr>
            <a:r>
              <a:rPr sz="900" b="1">
                <a:solidFill>
                  <a:srgbClr val="111111"/>
                </a:solidFill>
                <a:latin typeface="Arial"/>
                <a:ea typeface="Arial"/>
                <a:cs typeface="Arial"/>
              </a:rPr>
              <a:t>9/28</a:t>
            </a:r>
          </a:p>
        </p:txBody>
      </p:sp>
      <p:sp>
        <p:nvSpPr>
          <p:cNvPr id="9" name="Week 2026-10-05">
            <a:extLst xmlns:a="http://schemas.openxmlformats.org/drawingml/2006/main">
              <a:ext uri="{FF2B5EF4-FFF2-40B4-BE49-F238E27FC236}">
                <a16:creationId xmlns:a16="http://schemas.microsoft.com/office/drawing/2014/main" id="{FED1ED19-42D2-48B2-BAA2-DCC9FF56811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17125" y="990600"/>
            <a:ext cx="1831975" cy="2952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38100" tIns="0" rIns="3810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defRPr sz="900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pPr>
            <a:r>
              <a:rPr sz="900" b="1">
                <a:solidFill>
                  <a:srgbClr val="111111"/>
                </a:solidFill>
                <a:latin typeface="Arial"/>
                <a:ea typeface="Arial"/>
                <a:cs typeface="Arial"/>
              </a:rPr>
              <a:t>10/5</a:t>
            </a:r>
          </a:p>
        </p:txBody>
      </p:sp>
      <p:sp>
        <p:nvSpPr>
          <p:cNvPr id="10" name="Section Study and interpretation">
            <a:extLst xmlns:a="http://schemas.openxmlformats.org/drawingml/2006/main">
              <a:ext uri="{FF2B5EF4-FFF2-40B4-BE49-F238E27FC236}">
                <a16:creationId xmlns:a16="http://schemas.microsoft.com/office/drawing/2014/main" id="{86730882-7DD2-4013-B0B7-960B178BAEF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3850" y="1285875"/>
            <a:ext cx="1152525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DE4EA"/>
          </a:solidFill>
          <a:ln xmlns:a="http://schemas.openxmlformats.org/drawingml/2006/main" w="0">
            <a:noFill/>
          </a:ln>
        </p:spPr>
        <p:txBody xmlns:a="http://schemas.openxmlformats.org/drawingml/2006/main">
          <a:bodyPr/>
          <a:p/>
        </p:txBody>
      </p:sp>
      <p:sp>
        <p:nvSpPr>
          <p:cNvPr id="11" name="Section title Study and interpretation">
            <a:extLst xmlns:a="http://schemas.openxmlformats.org/drawingml/2006/main">
              <a:ext uri="{FF2B5EF4-FFF2-40B4-BE49-F238E27FC236}">
                <a16:creationId xmlns:a16="http://schemas.microsoft.com/office/drawing/2014/main" id="{7C7AF690-0014-46C1-95F8-EA8ECE2CFE1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2425" y="1285875"/>
            <a:ext cx="114681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38100" tIns="0" rIns="3810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pPr>
            <a:r>
              <a:rPr sz="1050" b="1">
                <a:solidFill>
                  <a:srgbClr val="111111"/>
                </a:solidFill>
                <a:latin typeface="Arial"/>
                <a:ea typeface="Arial"/>
                <a:cs typeface="Arial"/>
              </a:rPr>
              <a:t>Study and interpretation</a:t>
            </a:r>
          </a:p>
        </p:txBody>
      </p:sp>
      <p:sp>
        <p:nvSpPr>
          <p:cNvPr id="12" name="Task 0">
            <a:extLst xmlns:a="http://schemas.openxmlformats.org/drawingml/2006/main">
              <a:ext uri="{FF2B5EF4-FFF2-40B4-BE49-F238E27FC236}">
                <a16:creationId xmlns:a16="http://schemas.microsoft.com/office/drawing/2014/main" id="{5E80A84C-A1C8-4C6E-A9A7-A42518BA319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2425" y="1514475"/>
            <a:ext cx="4295775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38100" tIns="0" rIns="3810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defRPr sz="960" b="0">
                <a:solidFill>
                  <a:srgbClr val="111111"/>
                </a:solidFill>
                <a:latin typeface="Arial"/>
                <a:ea typeface="Arial"/>
                <a:cs typeface="Arial"/>
              </a:defRPr>
            </a:pPr>
            <a:r>
              <a:rPr sz="960" b="0">
                <a:solidFill>
                  <a:srgbClr val="111111"/>
                </a:solidFill>
                <a:latin typeface="Arial"/>
                <a:ea typeface="Arial"/>
                <a:cs typeface="Arial"/>
              </a:rPr>
              <a:t>2. Paper discussion and notebook walkthrough</a:t>
            </a:r>
          </a:p>
        </p:txBody>
      </p:sp>
      <p:sp>
        <p:nvSpPr>
          <p:cNvPr id="13" name="Status 0">
            <a:extLst xmlns:a="http://schemas.openxmlformats.org/drawingml/2006/main">
              <a:ext uri="{FF2B5EF4-FFF2-40B4-BE49-F238E27FC236}">
                <a16:creationId xmlns:a16="http://schemas.microsoft.com/office/drawing/2014/main" id="{04ABB8B1-C265-451F-AAF6-771321CF4C3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57725" y="1514475"/>
            <a:ext cx="8382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38100" tIns="0" rIns="3810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defRPr sz="848" b="0">
                <a:solidFill>
                  <a:srgbClr val="111111"/>
                </a:solidFill>
                <a:latin typeface="Arial"/>
                <a:ea typeface="Arial"/>
                <a:cs typeface="Arial"/>
              </a:defRPr>
            </a:pPr>
            <a:r>
              <a:rPr sz="848" b="0">
                <a:solidFill>
                  <a:srgbClr val="111111"/>
                </a:solidFill>
                <a:latin typeface="Arial"/>
                <a:ea typeface="Arial"/>
                <a:cs typeface="Arial"/>
              </a:rPr>
              <a:t>In progress</a:t>
            </a:r>
          </a:p>
        </p:txBody>
      </p:sp>
      <p:sp>
        <p:nvSpPr>
          <p:cNvPr id="14" name="Dates 0">
            <a:extLst xmlns:a="http://schemas.openxmlformats.org/drawingml/2006/main">
              <a:ext uri="{FF2B5EF4-FFF2-40B4-BE49-F238E27FC236}">
                <a16:creationId xmlns:a16="http://schemas.microsoft.com/office/drawing/2014/main" id="{14682879-5663-4AA5-AE1E-E5B8F09392E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95925" y="1514475"/>
            <a:ext cx="8572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38100" tIns="0" rIns="3810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defRPr sz="848" b="0">
                <a:solidFill>
                  <a:srgbClr val="111111"/>
                </a:solidFill>
                <a:latin typeface="Arial"/>
                <a:ea typeface="Arial"/>
                <a:cs typeface="Arial"/>
              </a:defRPr>
            </a:pPr>
            <a:r>
              <a:rPr sz="848" b="0">
                <a:solidFill>
                  <a:srgbClr val="111111"/>
                </a:solidFill>
                <a:latin typeface="Arial"/>
                <a:ea typeface="Arial"/>
                <a:cs typeface="Arial"/>
              </a:rPr>
              <a:t>9/21-10/7</a:t>
            </a:r>
          </a:p>
        </p:txBody>
      </p:sp>
      <p:sp>
        <p:nvSpPr>
          <p:cNvPr id="15" name="Week rule 0 2026-09-21">
            <a:extLst xmlns:a="http://schemas.openxmlformats.org/drawingml/2006/main">
              <a:ext uri="{FF2B5EF4-FFF2-40B4-BE49-F238E27FC236}">
                <a16:creationId xmlns:a16="http://schemas.microsoft.com/office/drawing/2014/main" id="{0974C055-97E6-4363-B0E2-6E3956E8BC3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53175" y="1514475"/>
            <a:ext cx="0" cy="24765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3">
            <a:solidFill>
              <a:srgbClr val="DADADA"/>
            </a:solidFill>
          </a:ln>
        </p:spPr>
        <p:txBody xmlns:a="http://schemas.openxmlformats.org/drawingml/2006/main">
          <a:bodyPr/>
          <a:p/>
        </p:txBody>
      </p:sp>
      <p:sp>
        <p:nvSpPr>
          <p:cNvPr id="16" name="Week rule 0 2026-09-28">
            <a:extLst xmlns:a="http://schemas.openxmlformats.org/drawingml/2006/main">
              <a:ext uri="{FF2B5EF4-FFF2-40B4-BE49-F238E27FC236}">
                <a16:creationId xmlns:a16="http://schemas.microsoft.com/office/drawing/2014/main" id="{27571280-B0B1-4F38-8E6F-6FFCF4E1549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85150" y="1514475"/>
            <a:ext cx="0" cy="24765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3">
            <a:solidFill>
              <a:srgbClr val="DADADA"/>
            </a:solidFill>
          </a:ln>
        </p:spPr>
        <p:txBody xmlns:a="http://schemas.openxmlformats.org/drawingml/2006/main">
          <a:bodyPr/>
          <a:p/>
        </p:txBody>
      </p:sp>
      <p:sp>
        <p:nvSpPr>
          <p:cNvPr id="17" name="Week rule 0 2026-10-05">
            <a:extLst xmlns:a="http://schemas.openxmlformats.org/drawingml/2006/main">
              <a:ext uri="{FF2B5EF4-FFF2-40B4-BE49-F238E27FC236}">
                <a16:creationId xmlns:a16="http://schemas.microsoft.com/office/drawing/2014/main" id="{F56BFEA7-0122-45A4-962B-3A210C9AD99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17125" y="1514475"/>
            <a:ext cx="0" cy="24765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3">
            <a:solidFill>
              <a:srgbClr val="DADADA"/>
            </a:solidFill>
          </a:ln>
        </p:spPr>
        <p:txBody xmlns:a="http://schemas.openxmlformats.org/drawingml/2006/main">
          <a:bodyPr/>
          <a:p/>
        </p:txBody>
      </p:sp>
      <p:sp>
        <p:nvSpPr>
          <p:cNvPr id="18" name="Bar 0 0">
            <a:extLst xmlns:a="http://schemas.openxmlformats.org/drawingml/2006/main">
              <a:ext uri="{FF2B5EF4-FFF2-40B4-BE49-F238E27FC236}">
                <a16:creationId xmlns:a16="http://schemas.microsoft.com/office/drawing/2014/main" id="{BCFF6B03-F2CC-4EFE-B5AC-1484C31CC2B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55080" y="1585913"/>
            <a:ext cx="4441371" cy="1047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CA323"/>
          </a:solidFill>
          <a:ln xmlns:a="http://schemas.openxmlformats.org/drawingml/2006/main" w="0">
            <a:noFill/>
          </a:ln>
        </p:spPr>
        <p:txBody xmlns:a="http://schemas.openxmlformats.org/drawingml/2006/main">
          <a:bodyPr/>
          <a:p/>
        </p:txBody>
      </p:sp>
      <p:sp>
        <p:nvSpPr>
          <p:cNvPr id="19" name="Row rule 0">
            <a:extLst xmlns:a="http://schemas.openxmlformats.org/drawingml/2006/main">
              <a:ext uri="{FF2B5EF4-FFF2-40B4-BE49-F238E27FC236}">
                <a16:creationId xmlns:a16="http://schemas.microsoft.com/office/drawing/2014/main" id="{E226DBD5-75A4-4AE1-A273-131C1B542FB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3850" y="1762125"/>
            <a:ext cx="115252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3">
            <a:solidFill>
              <a:srgbClr val="DADADA"/>
            </a:solidFill>
          </a:ln>
        </p:spPr>
        <p:txBody xmlns:a="http://schemas.openxmlformats.org/drawingml/2006/main">
          <a:bodyPr/>
          <a:p/>
        </p:txBody>
      </p:sp>
      <p:sp>
        <p:nvSpPr>
          <p:cNvPr id="20" name="Row tint 1">
            <a:extLst xmlns:a="http://schemas.openxmlformats.org/drawingml/2006/main">
              <a:ext uri="{FF2B5EF4-FFF2-40B4-BE49-F238E27FC236}">
                <a16:creationId xmlns:a16="http://schemas.microsoft.com/office/drawing/2014/main" id="{366380BD-FE1C-470A-972E-6E15F517C2F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3850" y="1762125"/>
            <a:ext cx="11525250" cy="247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7F7F7"/>
          </a:solidFill>
          <a:ln xmlns:a="http://schemas.openxmlformats.org/drawingml/2006/main" w="0">
            <a:noFill/>
          </a:ln>
        </p:spPr>
        <p:txBody xmlns:a="http://schemas.openxmlformats.org/drawingml/2006/main">
          <a:bodyPr/>
          <a:p/>
        </p:txBody>
      </p:sp>
      <p:sp>
        <p:nvSpPr>
          <p:cNvPr id="21" name="Task 1">
            <a:extLst xmlns:a="http://schemas.openxmlformats.org/drawingml/2006/main">
              <a:ext uri="{FF2B5EF4-FFF2-40B4-BE49-F238E27FC236}">
                <a16:creationId xmlns:a16="http://schemas.microsoft.com/office/drawing/2014/main" id="{CF0E05F0-2296-480F-A70F-64856EE1BDB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2425" y="1762125"/>
            <a:ext cx="4295775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38100" tIns="0" rIns="3810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defRPr sz="960" b="0">
                <a:solidFill>
                  <a:srgbClr val="111111"/>
                </a:solidFill>
                <a:latin typeface="Arial"/>
                <a:ea typeface="Arial"/>
                <a:cs typeface="Arial"/>
              </a:defRPr>
            </a:pPr>
            <a:r>
              <a:rPr sz="960" b="0">
                <a:solidFill>
                  <a:srgbClr val="111111"/>
                </a:solidFill>
                <a:latin typeface="Arial"/>
                <a:ea typeface="Arial"/>
                <a:cs typeface="Arial"/>
              </a:rPr>
              <a:t>6. Interpret representation metrics and pilot results</a:t>
            </a:r>
          </a:p>
        </p:txBody>
      </p:sp>
      <p:sp>
        <p:nvSpPr>
          <p:cNvPr id="22" name="Status 1">
            <a:extLst xmlns:a="http://schemas.openxmlformats.org/drawingml/2006/main">
              <a:ext uri="{FF2B5EF4-FFF2-40B4-BE49-F238E27FC236}">
                <a16:creationId xmlns:a16="http://schemas.microsoft.com/office/drawing/2014/main" id="{49BD2F84-B39A-499C-875B-5EE3F1D0243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57725" y="1762125"/>
            <a:ext cx="8382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38100" tIns="0" rIns="3810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defRPr sz="848" b="0">
                <a:solidFill>
                  <a:srgbClr val="111111"/>
                </a:solidFill>
                <a:latin typeface="Arial"/>
                <a:ea typeface="Arial"/>
                <a:cs typeface="Arial"/>
              </a:defRPr>
            </a:pPr>
            <a:r>
              <a:rPr sz="848" b="0">
                <a:solidFill>
                  <a:srgbClr val="111111"/>
                </a:solidFill>
                <a:latin typeface="Arial"/>
                <a:ea typeface="Arial"/>
                <a:cs typeface="Arial"/>
              </a:rPr>
              <a:t>Complete</a:t>
            </a:r>
          </a:p>
        </p:txBody>
      </p:sp>
      <p:sp>
        <p:nvSpPr>
          <p:cNvPr id="23" name="Dates 1">
            <a:extLst xmlns:a="http://schemas.openxmlformats.org/drawingml/2006/main">
              <a:ext uri="{FF2B5EF4-FFF2-40B4-BE49-F238E27FC236}">
                <a16:creationId xmlns:a16="http://schemas.microsoft.com/office/drawing/2014/main" id="{E578AD4E-A72E-4380-A4DF-A1B3238E7A8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95925" y="1762125"/>
            <a:ext cx="8572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38100" tIns="0" rIns="3810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defRPr sz="848" b="0">
                <a:solidFill>
                  <a:srgbClr val="111111"/>
                </a:solidFill>
                <a:latin typeface="Arial"/>
                <a:ea typeface="Arial"/>
                <a:cs typeface="Arial"/>
              </a:defRPr>
            </a:pPr>
            <a:r>
              <a:rPr sz="848" b="0">
                <a:solidFill>
                  <a:srgbClr val="111111"/>
                </a:solidFill>
                <a:latin typeface="Arial"/>
                <a:ea typeface="Arial"/>
                <a:cs typeface="Arial"/>
              </a:rPr>
              <a:t>9/21-10/3</a:t>
            </a:r>
          </a:p>
        </p:txBody>
      </p:sp>
      <p:sp>
        <p:nvSpPr>
          <p:cNvPr id="24" name="Week rule 1 2026-09-21">
            <a:extLst xmlns:a="http://schemas.openxmlformats.org/drawingml/2006/main">
              <a:ext uri="{FF2B5EF4-FFF2-40B4-BE49-F238E27FC236}">
                <a16:creationId xmlns:a16="http://schemas.microsoft.com/office/drawing/2014/main" id="{6D46318F-20C1-450B-84D8-EFC5CEDD750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53175" y="1762125"/>
            <a:ext cx="0" cy="24765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3">
            <a:solidFill>
              <a:srgbClr val="DADADA"/>
            </a:solidFill>
          </a:ln>
        </p:spPr>
        <p:txBody xmlns:a="http://schemas.openxmlformats.org/drawingml/2006/main">
          <a:bodyPr/>
          <a:p/>
        </p:txBody>
      </p:sp>
      <p:sp>
        <p:nvSpPr>
          <p:cNvPr id="25" name="Week rule 1 2026-09-28">
            <a:extLst xmlns:a="http://schemas.openxmlformats.org/drawingml/2006/main">
              <a:ext uri="{FF2B5EF4-FFF2-40B4-BE49-F238E27FC236}">
                <a16:creationId xmlns:a16="http://schemas.microsoft.com/office/drawing/2014/main" id="{2A36C8ED-EC83-411B-A13C-189767DEB28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85150" y="1762125"/>
            <a:ext cx="0" cy="24765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3">
            <a:solidFill>
              <a:srgbClr val="DADADA"/>
            </a:solidFill>
          </a:ln>
        </p:spPr>
        <p:txBody xmlns:a="http://schemas.openxmlformats.org/drawingml/2006/main">
          <a:bodyPr/>
          <a:p/>
        </p:txBody>
      </p:sp>
      <p:sp>
        <p:nvSpPr>
          <p:cNvPr id="26" name="Week rule 1 2026-10-05">
            <a:extLst xmlns:a="http://schemas.openxmlformats.org/drawingml/2006/main">
              <a:ext uri="{FF2B5EF4-FFF2-40B4-BE49-F238E27FC236}">
                <a16:creationId xmlns:a16="http://schemas.microsoft.com/office/drawing/2014/main" id="{1D75FB64-4881-40E1-A2D5-0247CF2910D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17125" y="1762125"/>
            <a:ext cx="0" cy="24765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3">
            <a:solidFill>
              <a:srgbClr val="DADADA"/>
            </a:solidFill>
          </a:ln>
        </p:spPr>
        <p:txBody xmlns:a="http://schemas.openxmlformats.org/drawingml/2006/main">
          <a:bodyPr/>
          <a:p/>
        </p:txBody>
      </p:sp>
      <p:sp>
        <p:nvSpPr>
          <p:cNvPr id="27" name="Bar 1 0">
            <a:extLst xmlns:a="http://schemas.openxmlformats.org/drawingml/2006/main">
              <a:ext uri="{FF2B5EF4-FFF2-40B4-BE49-F238E27FC236}">
                <a16:creationId xmlns:a16="http://schemas.microsoft.com/office/drawing/2014/main" id="{DD4FD363-AADF-416D-A75E-8D2B7AD5946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55080" y="1833563"/>
            <a:ext cx="3396342" cy="1047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595959"/>
          </a:solidFill>
          <a:ln xmlns:a="http://schemas.openxmlformats.org/drawingml/2006/main" w="0">
            <a:noFill/>
          </a:ln>
        </p:spPr>
        <p:txBody xmlns:a="http://schemas.openxmlformats.org/drawingml/2006/main">
          <a:bodyPr/>
          <a:p/>
        </p:txBody>
      </p:sp>
      <p:sp>
        <p:nvSpPr>
          <p:cNvPr id="28" name="Row rule 1">
            <a:extLst xmlns:a="http://schemas.openxmlformats.org/drawingml/2006/main">
              <a:ext uri="{FF2B5EF4-FFF2-40B4-BE49-F238E27FC236}">
                <a16:creationId xmlns:a16="http://schemas.microsoft.com/office/drawing/2014/main" id="{DDF300E5-4790-4DD7-9BD4-3056B0D1966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3850" y="2009775"/>
            <a:ext cx="115252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3">
            <a:solidFill>
              <a:srgbClr val="DADADA"/>
            </a:solidFill>
          </a:ln>
        </p:spPr>
        <p:txBody xmlns:a="http://schemas.openxmlformats.org/drawingml/2006/main">
          <a:bodyPr/>
          <a:p/>
        </p:txBody>
      </p:sp>
      <p:sp>
        <p:nvSpPr>
          <p:cNvPr id="29" name="Task 2">
            <a:extLst xmlns:a="http://schemas.openxmlformats.org/drawingml/2006/main">
              <a:ext uri="{FF2B5EF4-FFF2-40B4-BE49-F238E27FC236}">
                <a16:creationId xmlns:a16="http://schemas.microsoft.com/office/drawing/2014/main" id="{A33A8936-E846-4024-80B2-6028297E2D7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2425" y="2009775"/>
            <a:ext cx="4295775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38100" tIns="0" rIns="3810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defRPr sz="960" b="0">
                <a:solidFill>
                  <a:srgbClr val="111111"/>
                </a:solidFill>
                <a:latin typeface="Arial"/>
                <a:ea typeface="Arial"/>
                <a:cs typeface="Arial"/>
              </a:defRPr>
            </a:pPr>
            <a:r>
              <a:rPr sz="960" b="0">
                <a:solidFill>
                  <a:srgbClr val="111111"/>
                </a:solidFill>
                <a:latin typeface="Arial"/>
                <a:ea typeface="Arial"/>
                <a:cs typeface="Arial"/>
              </a:rPr>
              <a:t>7. Draft a measurable definition of alignment</a:t>
            </a:r>
          </a:p>
        </p:txBody>
      </p:sp>
      <p:sp>
        <p:nvSpPr>
          <p:cNvPr id="30" name="Status 2">
            <a:extLst xmlns:a="http://schemas.openxmlformats.org/drawingml/2006/main">
              <a:ext uri="{FF2B5EF4-FFF2-40B4-BE49-F238E27FC236}">
                <a16:creationId xmlns:a16="http://schemas.microsoft.com/office/drawing/2014/main" id="{AD228153-277E-4B3C-97E5-FE13FD8CB06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57725" y="2009775"/>
            <a:ext cx="8382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38100" tIns="0" rIns="3810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defRPr sz="848" b="0">
                <a:solidFill>
                  <a:srgbClr val="111111"/>
                </a:solidFill>
                <a:latin typeface="Arial"/>
                <a:ea typeface="Arial"/>
                <a:cs typeface="Arial"/>
              </a:defRPr>
            </a:pPr>
            <a:r>
              <a:rPr sz="848" b="0">
                <a:solidFill>
                  <a:srgbClr val="111111"/>
                </a:solidFill>
                <a:latin typeface="Arial"/>
                <a:ea typeface="Arial"/>
                <a:cs typeface="Arial"/>
              </a:rPr>
              <a:t>In progress</a:t>
            </a:r>
          </a:p>
        </p:txBody>
      </p:sp>
      <p:sp>
        <p:nvSpPr>
          <p:cNvPr id="31" name="Dates 2">
            <a:extLst xmlns:a="http://schemas.openxmlformats.org/drawingml/2006/main">
              <a:ext uri="{FF2B5EF4-FFF2-40B4-BE49-F238E27FC236}">
                <a16:creationId xmlns:a16="http://schemas.microsoft.com/office/drawing/2014/main" id="{53A4AE4F-BC90-4239-A83A-6E512E27466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95925" y="2009775"/>
            <a:ext cx="8572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38100" tIns="0" rIns="3810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defRPr sz="848" b="0">
                <a:solidFill>
                  <a:srgbClr val="111111"/>
                </a:solidFill>
                <a:latin typeface="Arial"/>
                <a:ea typeface="Arial"/>
                <a:cs typeface="Arial"/>
              </a:defRPr>
            </a:pPr>
            <a:r>
              <a:rPr sz="848" b="0">
                <a:solidFill>
                  <a:srgbClr val="111111"/>
                </a:solidFill>
                <a:latin typeface="Arial"/>
                <a:ea typeface="Arial"/>
                <a:cs typeface="Arial"/>
              </a:rPr>
              <a:t>9/21-10/7</a:t>
            </a:r>
          </a:p>
        </p:txBody>
      </p:sp>
      <p:sp>
        <p:nvSpPr>
          <p:cNvPr id="32" name="Week rule 2 2026-09-21">
            <a:extLst xmlns:a="http://schemas.openxmlformats.org/drawingml/2006/main">
              <a:ext uri="{FF2B5EF4-FFF2-40B4-BE49-F238E27FC236}">
                <a16:creationId xmlns:a16="http://schemas.microsoft.com/office/drawing/2014/main" id="{5BCA0E6A-B5CE-4EB9-A523-C737C834113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53175" y="2009775"/>
            <a:ext cx="0" cy="24765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3">
            <a:solidFill>
              <a:srgbClr val="DADADA"/>
            </a:solidFill>
          </a:ln>
        </p:spPr>
        <p:txBody xmlns:a="http://schemas.openxmlformats.org/drawingml/2006/main">
          <a:bodyPr/>
          <a:p/>
        </p:txBody>
      </p:sp>
      <p:sp>
        <p:nvSpPr>
          <p:cNvPr id="33" name="Week rule 2 2026-09-28">
            <a:extLst xmlns:a="http://schemas.openxmlformats.org/drawingml/2006/main">
              <a:ext uri="{FF2B5EF4-FFF2-40B4-BE49-F238E27FC236}">
                <a16:creationId xmlns:a16="http://schemas.microsoft.com/office/drawing/2014/main" id="{623C7377-EA9B-4586-9D5D-46BC01B5CD8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85150" y="2009775"/>
            <a:ext cx="0" cy="24765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3">
            <a:solidFill>
              <a:srgbClr val="DADADA"/>
            </a:solidFill>
          </a:ln>
        </p:spPr>
        <p:txBody xmlns:a="http://schemas.openxmlformats.org/drawingml/2006/main">
          <a:bodyPr/>
          <a:p/>
        </p:txBody>
      </p:sp>
      <p:sp>
        <p:nvSpPr>
          <p:cNvPr id="34" name="Week rule 2 2026-10-05">
            <a:extLst xmlns:a="http://schemas.openxmlformats.org/drawingml/2006/main">
              <a:ext uri="{FF2B5EF4-FFF2-40B4-BE49-F238E27FC236}">
                <a16:creationId xmlns:a16="http://schemas.microsoft.com/office/drawing/2014/main" id="{F152D31C-6550-4CC8-8D09-AD8899972FF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17125" y="2009775"/>
            <a:ext cx="0" cy="24765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3">
            <a:solidFill>
              <a:srgbClr val="DADADA"/>
            </a:solidFill>
          </a:ln>
        </p:spPr>
        <p:txBody xmlns:a="http://schemas.openxmlformats.org/drawingml/2006/main">
          <a:bodyPr/>
          <a:p/>
        </p:txBody>
      </p:sp>
      <p:sp>
        <p:nvSpPr>
          <p:cNvPr id="35" name="Bar 2 0">
            <a:extLst xmlns:a="http://schemas.openxmlformats.org/drawingml/2006/main">
              <a:ext uri="{FF2B5EF4-FFF2-40B4-BE49-F238E27FC236}">
                <a16:creationId xmlns:a16="http://schemas.microsoft.com/office/drawing/2014/main" id="{F49C613B-373F-467D-B841-AA1F19DA127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55080" y="2081213"/>
            <a:ext cx="4441371" cy="1047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CA323"/>
          </a:solidFill>
          <a:ln xmlns:a="http://schemas.openxmlformats.org/drawingml/2006/main" w="0">
            <a:noFill/>
          </a:ln>
        </p:spPr>
        <p:txBody xmlns:a="http://schemas.openxmlformats.org/drawingml/2006/main">
          <a:bodyPr/>
          <a:p/>
        </p:txBody>
      </p:sp>
      <p:sp>
        <p:nvSpPr>
          <p:cNvPr id="36" name="Row rule 2">
            <a:extLst xmlns:a="http://schemas.openxmlformats.org/drawingml/2006/main">
              <a:ext uri="{FF2B5EF4-FFF2-40B4-BE49-F238E27FC236}">
                <a16:creationId xmlns:a16="http://schemas.microsoft.com/office/drawing/2014/main" id="{F1B05D6A-4C37-4B08-B088-C0CE8A87CB1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3850" y="2257425"/>
            <a:ext cx="115252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3">
            <a:solidFill>
              <a:srgbClr val="DADADA"/>
            </a:solidFill>
          </a:ln>
        </p:spPr>
        <p:txBody xmlns:a="http://schemas.openxmlformats.org/drawingml/2006/main">
          <a:bodyPr/>
          <a:p/>
        </p:txBody>
      </p:sp>
      <p:sp>
        <p:nvSpPr>
          <p:cNvPr id="37" name="Section Data and reproducibility">
            <a:extLst xmlns:a="http://schemas.openxmlformats.org/drawingml/2006/main">
              <a:ext uri="{FF2B5EF4-FFF2-40B4-BE49-F238E27FC236}">
                <a16:creationId xmlns:a16="http://schemas.microsoft.com/office/drawing/2014/main" id="{11F2E2B6-D14B-4F87-A9ED-6761CE6AE0B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3850" y="2257425"/>
            <a:ext cx="1152525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DE4EA"/>
          </a:solidFill>
          <a:ln xmlns:a="http://schemas.openxmlformats.org/drawingml/2006/main" w="0">
            <a:noFill/>
          </a:ln>
        </p:spPr>
        <p:txBody xmlns:a="http://schemas.openxmlformats.org/drawingml/2006/main">
          <a:bodyPr/>
          <a:p/>
        </p:txBody>
      </p:sp>
      <p:sp>
        <p:nvSpPr>
          <p:cNvPr id="38" name="Section title Data and reproducibility">
            <a:extLst xmlns:a="http://schemas.openxmlformats.org/drawingml/2006/main">
              <a:ext uri="{FF2B5EF4-FFF2-40B4-BE49-F238E27FC236}">
                <a16:creationId xmlns:a16="http://schemas.microsoft.com/office/drawing/2014/main" id="{73A1A4CE-0F61-4527-AF82-F43464D1B6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2425" y="2257425"/>
            <a:ext cx="114681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38100" tIns="0" rIns="3810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pPr>
            <a:r>
              <a:rPr sz="1050" b="1">
                <a:solidFill>
                  <a:srgbClr val="111111"/>
                </a:solidFill>
                <a:latin typeface="Arial"/>
                <a:ea typeface="Arial"/>
                <a:cs typeface="Arial"/>
              </a:rPr>
              <a:t>Data and reproducibility</a:t>
            </a:r>
          </a:p>
        </p:txBody>
      </p:sp>
      <p:sp>
        <p:nvSpPr>
          <p:cNvPr id="39" name="Row tint 3">
            <a:extLst xmlns:a="http://schemas.openxmlformats.org/drawingml/2006/main">
              <a:ext uri="{FF2B5EF4-FFF2-40B4-BE49-F238E27FC236}">
                <a16:creationId xmlns:a16="http://schemas.microsoft.com/office/drawing/2014/main" id="{18F85BD9-AF67-407F-8BE5-F3CB41C31CC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3850" y="2486025"/>
            <a:ext cx="11525250" cy="247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7F7F7"/>
          </a:solidFill>
          <a:ln xmlns:a="http://schemas.openxmlformats.org/drawingml/2006/main" w="0">
            <a:noFill/>
          </a:ln>
        </p:spPr>
        <p:txBody xmlns:a="http://schemas.openxmlformats.org/drawingml/2006/main">
          <a:bodyPr/>
          <a:p/>
        </p:txBody>
      </p:sp>
      <p:sp>
        <p:nvSpPr>
          <p:cNvPr id="40" name="Task 3">
            <a:extLst xmlns:a="http://schemas.openxmlformats.org/drawingml/2006/main">
              <a:ext uri="{FF2B5EF4-FFF2-40B4-BE49-F238E27FC236}">
                <a16:creationId xmlns:a16="http://schemas.microsoft.com/office/drawing/2014/main" id="{8A97B9F8-D07A-479E-A329-7E269591E05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2425" y="2486025"/>
            <a:ext cx="4295775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38100" tIns="0" rIns="3810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defRPr sz="960" b="0">
                <a:solidFill>
                  <a:srgbClr val="111111"/>
                </a:solidFill>
                <a:latin typeface="Arial"/>
                <a:ea typeface="Arial"/>
                <a:cs typeface="Arial"/>
              </a:defRPr>
            </a:pPr>
            <a:r>
              <a:rPr sz="960" b="0">
                <a:solidFill>
                  <a:srgbClr val="111111"/>
                </a:solidFill>
                <a:latin typeface="Arial"/>
                <a:ea typeface="Arial"/>
                <a:cs typeface="Arial"/>
              </a:rPr>
              <a:t>3. Data labels, sequence regions and duplicates</a:t>
            </a:r>
          </a:p>
        </p:txBody>
      </p:sp>
      <p:sp>
        <p:nvSpPr>
          <p:cNvPr id="41" name="Status 3">
            <a:extLst xmlns:a="http://schemas.openxmlformats.org/drawingml/2006/main">
              <a:ext uri="{FF2B5EF4-FFF2-40B4-BE49-F238E27FC236}">
                <a16:creationId xmlns:a16="http://schemas.microsoft.com/office/drawing/2014/main" id="{0E90AC25-59A0-4524-A56C-CDBB3CB700A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57725" y="2486025"/>
            <a:ext cx="8382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38100" tIns="0" rIns="3810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defRPr sz="848" b="0">
                <a:solidFill>
                  <a:srgbClr val="111111"/>
                </a:solidFill>
                <a:latin typeface="Arial"/>
                <a:ea typeface="Arial"/>
                <a:cs typeface="Arial"/>
              </a:defRPr>
            </a:pPr>
            <a:r>
              <a:rPr sz="848" b="0">
                <a:solidFill>
                  <a:srgbClr val="111111"/>
                </a:solidFill>
                <a:latin typeface="Arial"/>
                <a:ea typeface="Arial"/>
                <a:cs typeface="Arial"/>
              </a:rPr>
              <a:t>In progress</a:t>
            </a:r>
          </a:p>
        </p:txBody>
      </p:sp>
      <p:sp>
        <p:nvSpPr>
          <p:cNvPr id="42" name="Dates 3">
            <a:extLst xmlns:a="http://schemas.openxmlformats.org/drawingml/2006/main">
              <a:ext uri="{FF2B5EF4-FFF2-40B4-BE49-F238E27FC236}">
                <a16:creationId xmlns:a16="http://schemas.microsoft.com/office/drawing/2014/main" id="{543F51A9-ED8C-443F-9B16-CF236C0DE54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95925" y="2486025"/>
            <a:ext cx="8572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38100" tIns="0" rIns="3810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defRPr sz="848" b="0">
                <a:solidFill>
                  <a:srgbClr val="111111"/>
                </a:solidFill>
                <a:latin typeface="Arial"/>
                <a:ea typeface="Arial"/>
                <a:cs typeface="Arial"/>
              </a:defRPr>
            </a:pPr>
            <a:r>
              <a:rPr sz="848" b="0">
                <a:solidFill>
                  <a:srgbClr val="111111"/>
                </a:solidFill>
                <a:latin typeface="Arial"/>
                <a:ea typeface="Arial"/>
                <a:cs typeface="Arial"/>
              </a:rPr>
              <a:t>9/21-10/7</a:t>
            </a:r>
          </a:p>
        </p:txBody>
      </p:sp>
      <p:sp>
        <p:nvSpPr>
          <p:cNvPr id="43" name="Week rule 3 2026-09-21">
            <a:extLst xmlns:a="http://schemas.openxmlformats.org/drawingml/2006/main">
              <a:ext uri="{FF2B5EF4-FFF2-40B4-BE49-F238E27FC236}">
                <a16:creationId xmlns:a16="http://schemas.microsoft.com/office/drawing/2014/main" id="{955DA5DC-DA69-4E52-8DC7-4451DE04667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53175" y="2486025"/>
            <a:ext cx="0" cy="24765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3">
            <a:solidFill>
              <a:srgbClr val="DADADA"/>
            </a:solidFill>
          </a:ln>
        </p:spPr>
        <p:txBody xmlns:a="http://schemas.openxmlformats.org/drawingml/2006/main">
          <a:bodyPr/>
          <a:p/>
        </p:txBody>
      </p:sp>
      <p:sp>
        <p:nvSpPr>
          <p:cNvPr id="44" name="Week rule 3 2026-09-28">
            <a:extLst xmlns:a="http://schemas.openxmlformats.org/drawingml/2006/main">
              <a:ext uri="{FF2B5EF4-FFF2-40B4-BE49-F238E27FC236}">
                <a16:creationId xmlns:a16="http://schemas.microsoft.com/office/drawing/2014/main" id="{2D29E9DA-0F31-4F51-8B29-61A401C6033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85150" y="2486025"/>
            <a:ext cx="0" cy="24765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3">
            <a:solidFill>
              <a:srgbClr val="DADADA"/>
            </a:solidFill>
          </a:ln>
        </p:spPr>
        <p:txBody xmlns:a="http://schemas.openxmlformats.org/drawingml/2006/main">
          <a:bodyPr/>
          <a:p/>
        </p:txBody>
      </p:sp>
      <p:sp>
        <p:nvSpPr>
          <p:cNvPr id="45" name="Week rule 3 2026-10-05">
            <a:extLst xmlns:a="http://schemas.openxmlformats.org/drawingml/2006/main">
              <a:ext uri="{FF2B5EF4-FFF2-40B4-BE49-F238E27FC236}">
                <a16:creationId xmlns:a16="http://schemas.microsoft.com/office/drawing/2014/main" id="{C9FFDCE8-EB91-4DF2-8738-F4D322FD8A0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17125" y="2486025"/>
            <a:ext cx="0" cy="24765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3">
            <a:solidFill>
              <a:srgbClr val="DADADA"/>
            </a:solidFill>
          </a:ln>
        </p:spPr>
        <p:txBody xmlns:a="http://schemas.openxmlformats.org/drawingml/2006/main">
          <a:bodyPr/>
          <a:p/>
        </p:txBody>
      </p:sp>
      <p:sp>
        <p:nvSpPr>
          <p:cNvPr id="46" name="Bar 3 0">
            <a:extLst xmlns:a="http://schemas.openxmlformats.org/drawingml/2006/main">
              <a:ext uri="{FF2B5EF4-FFF2-40B4-BE49-F238E27FC236}">
                <a16:creationId xmlns:a16="http://schemas.microsoft.com/office/drawing/2014/main" id="{7F916FDC-68D6-4CBC-9881-7E4937BEFED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55080" y="2557463"/>
            <a:ext cx="4441371" cy="1047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CA323"/>
          </a:solidFill>
          <a:ln xmlns:a="http://schemas.openxmlformats.org/drawingml/2006/main" w="0">
            <a:noFill/>
          </a:ln>
        </p:spPr>
        <p:txBody xmlns:a="http://schemas.openxmlformats.org/drawingml/2006/main">
          <a:bodyPr/>
          <a:p/>
        </p:txBody>
      </p:sp>
      <p:sp>
        <p:nvSpPr>
          <p:cNvPr id="47" name="Row rule 3">
            <a:extLst xmlns:a="http://schemas.openxmlformats.org/drawingml/2006/main">
              <a:ext uri="{FF2B5EF4-FFF2-40B4-BE49-F238E27FC236}">
                <a16:creationId xmlns:a16="http://schemas.microsoft.com/office/drawing/2014/main" id="{EF6A65B1-6F9C-4664-848F-CE67CF0D57D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3850" y="2733675"/>
            <a:ext cx="115252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3">
            <a:solidFill>
              <a:srgbClr val="DADADA"/>
            </a:solidFill>
          </a:ln>
        </p:spPr>
        <p:txBody xmlns:a="http://schemas.openxmlformats.org/drawingml/2006/main">
          <a:bodyPr/>
          <a:p/>
        </p:txBody>
      </p:sp>
      <p:sp>
        <p:nvSpPr>
          <p:cNvPr id="48" name="Task 4">
            <a:extLst xmlns:a="http://schemas.openxmlformats.org/drawingml/2006/main">
              <a:ext uri="{FF2B5EF4-FFF2-40B4-BE49-F238E27FC236}">
                <a16:creationId xmlns:a16="http://schemas.microsoft.com/office/drawing/2014/main" id="{7B5F18B9-8928-4489-9582-38C633ED57A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2425" y="2733675"/>
            <a:ext cx="4295775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38100" tIns="0" rIns="3810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defRPr sz="960" b="0">
                <a:solidFill>
                  <a:srgbClr val="111111"/>
                </a:solidFill>
                <a:latin typeface="Arial"/>
                <a:ea typeface="Arial"/>
                <a:cs typeface="Arial"/>
              </a:defRPr>
            </a:pPr>
            <a:r>
              <a:rPr sz="960" b="0">
                <a:solidFill>
                  <a:srgbClr val="111111"/>
                </a:solidFill>
                <a:latin typeface="Arial"/>
                <a:ea typeface="Arial"/>
                <a:cs typeface="Arial"/>
              </a:rPr>
              <a:t>4. Train/test separation and preprocessing</a:t>
            </a:r>
          </a:p>
        </p:txBody>
      </p:sp>
      <p:sp>
        <p:nvSpPr>
          <p:cNvPr id="49" name="Status 4">
            <a:extLst xmlns:a="http://schemas.openxmlformats.org/drawingml/2006/main">
              <a:ext uri="{FF2B5EF4-FFF2-40B4-BE49-F238E27FC236}">
                <a16:creationId xmlns:a16="http://schemas.microsoft.com/office/drawing/2014/main" id="{02154963-20BA-4205-A010-D4DC5AE363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57725" y="2733675"/>
            <a:ext cx="8382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38100" tIns="0" rIns="3810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defRPr sz="848" b="0">
                <a:solidFill>
                  <a:srgbClr val="111111"/>
                </a:solidFill>
                <a:latin typeface="Arial"/>
                <a:ea typeface="Arial"/>
                <a:cs typeface="Arial"/>
              </a:defRPr>
            </a:pPr>
            <a:r>
              <a:rPr sz="848" b="0">
                <a:solidFill>
                  <a:srgbClr val="111111"/>
                </a:solidFill>
                <a:latin typeface="Arial"/>
                <a:ea typeface="Arial"/>
                <a:cs typeface="Arial"/>
              </a:rPr>
              <a:t>Complete</a:t>
            </a:r>
          </a:p>
        </p:txBody>
      </p:sp>
      <p:sp>
        <p:nvSpPr>
          <p:cNvPr id="50" name="Dates 4">
            <a:extLst xmlns:a="http://schemas.openxmlformats.org/drawingml/2006/main">
              <a:ext uri="{FF2B5EF4-FFF2-40B4-BE49-F238E27FC236}">
                <a16:creationId xmlns:a16="http://schemas.microsoft.com/office/drawing/2014/main" id="{8AAD25D2-D764-4863-A3BB-B4FE94AEB51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95925" y="2733675"/>
            <a:ext cx="8572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38100" tIns="0" rIns="3810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defRPr sz="848" b="0">
                <a:solidFill>
                  <a:srgbClr val="111111"/>
                </a:solidFill>
                <a:latin typeface="Arial"/>
                <a:ea typeface="Arial"/>
                <a:cs typeface="Arial"/>
              </a:defRPr>
            </a:pPr>
            <a:r>
              <a:rPr sz="848" b="0">
                <a:solidFill>
                  <a:srgbClr val="111111"/>
                </a:solidFill>
                <a:latin typeface="Arial"/>
                <a:ea typeface="Arial"/>
                <a:cs typeface="Arial"/>
              </a:rPr>
              <a:t>9/21-10/3</a:t>
            </a:r>
          </a:p>
        </p:txBody>
      </p:sp>
      <p:sp>
        <p:nvSpPr>
          <p:cNvPr id="51" name="Week rule 4 2026-09-21">
            <a:extLst xmlns:a="http://schemas.openxmlformats.org/drawingml/2006/main">
              <a:ext uri="{FF2B5EF4-FFF2-40B4-BE49-F238E27FC236}">
                <a16:creationId xmlns:a16="http://schemas.microsoft.com/office/drawing/2014/main" id="{6FE76740-B8F7-4DC6-ABF7-58096F04B81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53175" y="2733675"/>
            <a:ext cx="0" cy="24765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3">
            <a:solidFill>
              <a:srgbClr val="DADADA"/>
            </a:solidFill>
          </a:ln>
        </p:spPr>
        <p:txBody xmlns:a="http://schemas.openxmlformats.org/drawingml/2006/main">
          <a:bodyPr/>
          <a:p/>
        </p:txBody>
      </p:sp>
      <p:sp>
        <p:nvSpPr>
          <p:cNvPr id="52" name="Week rule 4 2026-09-28">
            <a:extLst xmlns:a="http://schemas.openxmlformats.org/drawingml/2006/main">
              <a:ext uri="{FF2B5EF4-FFF2-40B4-BE49-F238E27FC236}">
                <a16:creationId xmlns:a16="http://schemas.microsoft.com/office/drawing/2014/main" id="{1CBB6203-9B7D-4743-9B03-6E63170B32E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85150" y="2733675"/>
            <a:ext cx="0" cy="24765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3">
            <a:solidFill>
              <a:srgbClr val="DADADA"/>
            </a:solidFill>
          </a:ln>
        </p:spPr>
        <p:txBody xmlns:a="http://schemas.openxmlformats.org/drawingml/2006/main">
          <a:bodyPr/>
          <a:p/>
        </p:txBody>
      </p:sp>
      <p:sp>
        <p:nvSpPr>
          <p:cNvPr id="53" name="Week rule 4 2026-10-05">
            <a:extLst xmlns:a="http://schemas.openxmlformats.org/drawingml/2006/main">
              <a:ext uri="{FF2B5EF4-FFF2-40B4-BE49-F238E27FC236}">
                <a16:creationId xmlns:a16="http://schemas.microsoft.com/office/drawing/2014/main" id="{268AA3A0-BD2F-47D3-B786-4D3994F5755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17125" y="2733675"/>
            <a:ext cx="0" cy="24765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3">
            <a:solidFill>
              <a:srgbClr val="DADADA"/>
            </a:solidFill>
          </a:ln>
        </p:spPr>
        <p:txBody xmlns:a="http://schemas.openxmlformats.org/drawingml/2006/main">
          <a:bodyPr/>
          <a:p/>
        </p:txBody>
      </p:sp>
      <p:sp>
        <p:nvSpPr>
          <p:cNvPr id="54" name="Bar 4 0">
            <a:extLst xmlns:a="http://schemas.openxmlformats.org/drawingml/2006/main">
              <a:ext uri="{FF2B5EF4-FFF2-40B4-BE49-F238E27FC236}">
                <a16:creationId xmlns:a16="http://schemas.microsoft.com/office/drawing/2014/main" id="{7BE16C3F-1662-4EA8-AFEE-50B94DD12CD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55080" y="2805113"/>
            <a:ext cx="3396342" cy="1047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595959"/>
          </a:solidFill>
          <a:ln xmlns:a="http://schemas.openxmlformats.org/drawingml/2006/main" w="0">
            <a:noFill/>
          </a:ln>
        </p:spPr>
        <p:txBody xmlns:a="http://schemas.openxmlformats.org/drawingml/2006/main">
          <a:bodyPr/>
          <a:p/>
        </p:txBody>
      </p:sp>
      <p:sp>
        <p:nvSpPr>
          <p:cNvPr id="55" name="Row rule 4">
            <a:extLst xmlns:a="http://schemas.openxmlformats.org/drawingml/2006/main">
              <a:ext uri="{FF2B5EF4-FFF2-40B4-BE49-F238E27FC236}">
                <a16:creationId xmlns:a16="http://schemas.microsoft.com/office/drawing/2014/main" id="{272596E3-BED4-4994-9999-09A604233B7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3850" y="2981325"/>
            <a:ext cx="115252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3">
            <a:solidFill>
              <a:srgbClr val="DADADA"/>
            </a:solidFill>
          </a:ln>
        </p:spPr>
        <p:txBody xmlns:a="http://schemas.openxmlformats.org/drawingml/2006/main">
          <a:bodyPr/>
          <a:p/>
        </p:txBody>
      </p:sp>
      <p:sp>
        <p:nvSpPr>
          <p:cNvPr id="56" name="Row tint 5">
            <a:extLst xmlns:a="http://schemas.openxmlformats.org/drawingml/2006/main">
              <a:ext uri="{FF2B5EF4-FFF2-40B4-BE49-F238E27FC236}">
                <a16:creationId xmlns:a16="http://schemas.microsoft.com/office/drawing/2014/main" id="{9AD3D4DE-AEA2-4EFB-8EC5-9E15634ACF1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3850" y="2981325"/>
            <a:ext cx="11525250" cy="247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7F7F7"/>
          </a:solidFill>
          <a:ln xmlns:a="http://schemas.openxmlformats.org/drawingml/2006/main" w="0">
            <a:noFill/>
          </a:ln>
        </p:spPr>
        <p:txBody xmlns:a="http://schemas.openxmlformats.org/drawingml/2006/main">
          <a:bodyPr/>
          <a:p/>
        </p:txBody>
      </p:sp>
      <p:sp>
        <p:nvSpPr>
          <p:cNvPr id="57" name="Task 5">
            <a:extLst xmlns:a="http://schemas.openxmlformats.org/drawingml/2006/main">
              <a:ext uri="{FF2B5EF4-FFF2-40B4-BE49-F238E27FC236}">
                <a16:creationId xmlns:a16="http://schemas.microsoft.com/office/drawing/2014/main" id="{FBF3E053-31AF-4B3A-BEC5-617A1C3378F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2425" y="2981325"/>
            <a:ext cx="4295775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38100" tIns="0" rIns="3810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defRPr sz="960" b="0">
                <a:solidFill>
                  <a:srgbClr val="111111"/>
                </a:solidFill>
                <a:latin typeface="Arial"/>
                <a:ea typeface="Arial"/>
                <a:cs typeface="Arial"/>
              </a:defRPr>
            </a:pPr>
            <a:r>
              <a:rPr sz="960" b="0">
                <a:solidFill>
                  <a:srgbClr val="111111"/>
                </a:solidFill>
                <a:latin typeface="Arial"/>
                <a:ea typeface="Arial"/>
                <a:cs typeface="Arial"/>
              </a:rPr>
              <a:t>5. Run history, seeds and reproducibility</a:t>
            </a:r>
          </a:p>
        </p:txBody>
      </p:sp>
      <p:sp>
        <p:nvSpPr>
          <p:cNvPr id="58" name="Status 5">
            <a:extLst xmlns:a="http://schemas.openxmlformats.org/drawingml/2006/main">
              <a:ext uri="{FF2B5EF4-FFF2-40B4-BE49-F238E27FC236}">
                <a16:creationId xmlns:a16="http://schemas.microsoft.com/office/drawing/2014/main" id="{E344F87F-155D-46A0-AB94-8DBC96247E2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57725" y="2981325"/>
            <a:ext cx="8382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38100" tIns="0" rIns="3810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defRPr sz="848" b="0">
                <a:solidFill>
                  <a:srgbClr val="111111"/>
                </a:solidFill>
                <a:latin typeface="Arial"/>
                <a:ea typeface="Arial"/>
                <a:cs typeface="Arial"/>
              </a:defRPr>
            </a:pPr>
            <a:r>
              <a:rPr sz="848" b="0">
                <a:solidFill>
                  <a:srgbClr val="111111"/>
                </a:solidFill>
                <a:latin typeface="Arial"/>
                <a:ea typeface="Arial"/>
                <a:cs typeface="Arial"/>
              </a:rPr>
              <a:t>Complete</a:t>
            </a:r>
          </a:p>
        </p:txBody>
      </p:sp>
      <p:sp>
        <p:nvSpPr>
          <p:cNvPr id="59" name="Dates 5">
            <a:extLst xmlns:a="http://schemas.openxmlformats.org/drawingml/2006/main">
              <a:ext uri="{FF2B5EF4-FFF2-40B4-BE49-F238E27FC236}">
                <a16:creationId xmlns:a16="http://schemas.microsoft.com/office/drawing/2014/main" id="{618CA022-F210-422A-9470-C838F3D40D6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95925" y="2981325"/>
            <a:ext cx="8572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38100" tIns="0" rIns="3810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defRPr sz="848" b="0">
                <a:solidFill>
                  <a:srgbClr val="111111"/>
                </a:solidFill>
                <a:latin typeface="Arial"/>
                <a:ea typeface="Arial"/>
                <a:cs typeface="Arial"/>
              </a:defRPr>
            </a:pPr>
            <a:r>
              <a:rPr sz="848" b="0">
                <a:solidFill>
                  <a:srgbClr val="111111"/>
                </a:solidFill>
                <a:latin typeface="Arial"/>
                <a:ea typeface="Arial"/>
                <a:cs typeface="Arial"/>
              </a:rPr>
              <a:t>9/21-10/3</a:t>
            </a:r>
          </a:p>
        </p:txBody>
      </p:sp>
      <p:sp>
        <p:nvSpPr>
          <p:cNvPr id="60" name="Week rule 5 2026-09-21">
            <a:extLst xmlns:a="http://schemas.openxmlformats.org/drawingml/2006/main">
              <a:ext uri="{FF2B5EF4-FFF2-40B4-BE49-F238E27FC236}">
                <a16:creationId xmlns:a16="http://schemas.microsoft.com/office/drawing/2014/main" id="{D71D999D-2418-4FD4-83FB-B9C8C4F9DF8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53175" y="2981325"/>
            <a:ext cx="0" cy="24765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3">
            <a:solidFill>
              <a:srgbClr val="DADADA"/>
            </a:solidFill>
          </a:ln>
        </p:spPr>
        <p:txBody xmlns:a="http://schemas.openxmlformats.org/drawingml/2006/main">
          <a:bodyPr/>
          <a:p/>
        </p:txBody>
      </p:sp>
      <p:sp>
        <p:nvSpPr>
          <p:cNvPr id="61" name="Week rule 5 2026-09-28">
            <a:extLst xmlns:a="http://schemas.openxmlformats.org/drawingml/2006/main">
              <a:ext uri="{FF2B5EF4-FFF2-40B4-BE49-F238E27FC236}">
                <a16:creationId xmlns:a16="http://schemas.microsoft.com/office/drawing/2014/main" id="{297C668C-7410-4803-B0DB-09F5D16FE91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85150" y="2981325"/>
            <a:ext cx="0" cy="24765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3">
            <a:solidFill>
              <a:srgbClr val="DADADA"/>
            </a:solidFill>
          </a:ln>
        </p:spPr>
        <p:txBody xmlns:a="http://schemas.openxmlformats.org/drawingml/2006/main">
          <a:bodyPr/>
          <a:p/>
        </p:txBody>
      </p:sp>
      <p:sp>
        <p:nvSpPr>
          <p:cNvPr id="62" name="Week rule 5 2026-10-05">
            <a:extLst xmlns:a="http://schemas.openxmlformats.org/drawingml/2006/main">
              <a:ext uri="{FF2B5EF4-FFF2-40B4-BE49-F238E27FC236}">
                <a16:creationId xmlns:a16="http://schemas.microsoft.com/office/drawing/2014/main" id="{ABDF4312-A124-4D70-9C08-099FA0B9506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17125" y="2981325"/>
            <a:ext cx="0" cy="24765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3">
            <a:solidFill>
              <a:srgbClr val="DADADA"/>
            </a:solidFill>
          </a:ln>
        </p:spPr>
        <p:txBody xmlns:a="http://schemas.openxmlformats.org/drawingml/2006/main">
          <a:bodyPr/>
          <a:p/>
        </p:txBody>
      </p:sp>
      <p:sp>
        <p:nvSpPr>
          <p:cNvPr id="63" name="Bar 5 0">
            <a:extLst xmlns:a="http://schemas.openxmlformats.org/drawingml/2006/main">
              <a:ext uri="{FF2B5EF4-FFF2-40B4-BE49-F238E27FC236}">
                <a16:creationId xmlns:a16="http://schemas.microsoft.com/office/drawing/2014/main" id="{FE3E5DF4-B98F-4FCC-8A2D-407A744283B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55080" y="3052763"/>
            <a:ext cx="3396342" cy="1047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595959"/>
          </a:solidFill>
          <a:ln xmlns:a="http://schemas.openxmlformats.org/drawingml/2006/main" w="0">
            <a:noFill/>
          </a:ln>
        </p:spPr>
        <p:txBody xmlns:a="http://schemas.openxmlformats.org/drawingml/2006/main">
          <a:bodyPr/>
          <a:p/>
        </p:txBody>
      </p:sp>
      <p:sp>
        <p:nvSpPr>
          <p:cNvPr id="64" name="Row rule 5">
            <a:extLst xmlns:a="http://schemas.openxmlformats.org/drawingml/2006/main">
              <a:ext uri="{FF2B5EF4-FFF2-40B4-BE49-F238E27FC236}">
                <a16:creationId xmlns:a16="http://schemas.microsoft.com/office/drawing/2014/main" id="{B193B3E2-8AAD-460B-B03B-AFA5EA637D8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3850" y="3228975"/>
            <a:ext cx="115252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3">
            <a:solidFill>
              <a:srgbClr val="DADADA"/>
            </a:solidFill>
          </a:ln>
        </p:spPr>
        <p:txBody xmlns:a="http://schemas.openxmlformats.org/drawingml/2006/main">
          <a:bodyPr/>
          <a:p/>
        </p:txBody>
      </p:sp>
      <p:sp>
        <p:nvSpPr>
          <p:cNvPr id="65" name="Section Early implementation, writing and collaboration">
            <a:extLst xmlns:a="http://schemas.openxmlformats.org/drawingml/2006/main">
              <a:ext uri="{FF2B5EF4-FFF2-40B4-BE49-F238E27FC236}">
                <a16:creationId xmlns:a16="http://schemas.microsoft.com/office/drawing/2014/main" id="{F1D88B7D-F333-4866-84CB-0CA36E73FF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3850" y="3228975"/>
            <a:ext cx="1152525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DE4EA"/>
          </a:solidFill>
          <a:ln xmlns:a="http://schemas.openxmlformats.org/drawingml/2006/main" w="0">
            <a:noFill/>
          </a:ln>
        </p:spPr>
        <p:txBody xmlns:a="http://schemas.openxmlformats.org/drawingml/2006/main">
          <a:bodyPr/>
          <a:p/>
        </p:txBody>
      </p:sp>
      <p:sp>
        <p:nvSpPr>
          <p:cNvPr id="66" name="Section title Early implementation, writing and collaboration">
            <a:extLst xmlns:a="http://schemas.openxmlformats.org/drawingml/2006/main">
              <a:ext uri="{FF2B5EF4-FFF2-40B4-BE49-F238E27FC236}">
                <a16:creationId xmlns:a16="http://schemas.microsoft.com/office/drawing/2014/main" id="{B2D6C172-5541-43B2-96AE-006E055ACE9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2425" y="3228975"/>
            <a:ext cx="114681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38100" tIns="0" rIns="3810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pPr>
            <a:r>
              <a:rPr sz="1050" b="1">
                <a:solidFill>
                  <a:srgbClr val="111111"/>
                </a:solidFill>
                <a:latin typeface="Arial"/>
                <a:ea typeface="Arial"/>
                <a:cs typeface="Arial"/>
              </a:rPr>
              <a:t>Early implementation, writing and collaboration</a:t>
            </a:r>
          </a:p>
        </p:txBody>
      </p:sp>
      <p:sp>
        <p:nvSpPr>
          <p:cNvPr id="67" name="Task 6">
            <a:extLst xmlns:a="http://schemas.openxmlformats.org/drawingml/2006/main">
              <a:ext uri="{FF2B5EF4-FFF2-40B4-BE49-F238E27FC236}">
                <a16:creationId xmlns:a16="http://schemas.microsoft.com/office/drawing/2014/main" id="{1107A618-70AB-4FBD-A6D9-A6946456AA6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2425" y="3457575"/>
            <a:ext cx="4295775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38100" tIns="0" rIns="3810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defRPr sz="960" b="0">
                <a:solidFill>
                  <a:srgbClr val="111111"/>
                </a:solidFill>
                <a:latin typeface="Arial"/>
                <a:ea typeface="Arial"/>
                <a:cs typeface="Arial"/>
              </a:defRPr>
            </a:pPr>
            <a:r>
              <a:rPr sz="960" b="0">
                <a:solidFill>
                  <a:srgbClr val="111111"/>
                </a:solidFill>
                <a:latin typeface="Arial"/>
                <a:ea typeface="Arial"/>
                <a:cs typeface="Arial"/>
              </a:rPr>
              <a:t>8. Map BioLangFusion/IsoFormer inputs incl. DNA</a:t>
            </a:r>
          </a:p>
        </p:txBody>
      </p:sp>
      <p:sp>
        <p:nvSpPr>
          <p:cNvPr id="68" name="Status 6">
            <a:extLst xmlns:a="http://schemas.openxmlformats.org/drawingml/2006/main">
              <a:ext uri="{FF2B5EF4-FFF2-40B4-BE49-F238E27FC236}">
                <a16:creationId xmlns:a16="http://schemas.microsoft.com/office/drawing/2014/main" id="{4B1A4D4B-3F36-47B7-8407-FD0FB0B4821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57725" y="3457575"/>
            <a:ext cx="8382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38100" tIns="0" rIns="3810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defRPr sz="848" b="0">
                <a:solidFill>
                  <a:srgbClr val="111111"/>
                </a:solidFill>
                <a:latin typeface="Arial"/>
                <a:ea typeface="Arial"/>
                <a:cs typeface="Arial"/>
              </a:defRPr>
            </a:pPr>
            <a:r>
              <a:rPr sz="848" b="0">
                <a:solidFill>
                  <a:srgbClr val="111111"/>
                </a:solidFill>
                <a:latin typeface="Arial"/>
                <a:ea typeface="Arial"/>
                <a:cs typeface="Arial"/>
              </a:rPr>
              <a:t>Complete</a:t>
            </a:r>
          </a:p>
        </p:txBody>
      </p:sp>
      <p:sp>
        <p:nvSpPr>
          <p:cNvPr id="69" name="Dates 6">
            <a:extLst xmlns:a="http://schemas.openxmlformats.org/drawingml/2006/main">
              <a:ext uri="{FF2B5EF4-FFF2-40B4-BE49-F238E27FC236}">
                <a16:creationId xmlns:a16="http://schemas.microsoft.com/office/drawing/2014/main" id="{302FB208-3E06-4CF2-B6AA-56CD927FD26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95925" y="3457575"/>
            <a:ext cx="8572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38100" tIns="0" rIns="3810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defRPr sz="848" b="0">
                <a:solidFill>
                  <a:srgbClr val="111111"/>
                </a:solidFill>
                <a:latin typeface="Arial"/>
                <a:ea typeface="Arial"/>
                <a:cs typeface="Arial"/>
              </a:defRPr>
            </a:pPr>
            <a:r>
              <a:rPr sz="848" b="0">
                <a:solidFill>
                  <a:srgbClr val="111111"/>
                </a:solidFill>
                <a:latin typeface="Arial"/>
                <a:ea typeface="Arial"/>
                <a:cs typeface="Arial"/>
              </a:rPr>
              <a:t>9/28-10/2</a:t>
            </a:r>
          </a:p>
        </p:txBody>
      </p:sp>
      <p:sp>
        <p:nvSpPr>
          <p:cNvPr id="70" name="Week rule 6 2026-09-21">
            <a:extLst xmlns:a="http://schemas.openxmlformats.org/drawingml/2006/main">
              <a:ext uri="{FF2B5EF4-FFF2-40B4-BE49-F238E27FC236}">
                <a16:creationId xmlns:a16="http://schemas.microsoft.com/office/drawing/2014/main" id="{A919E0BB-BA35-4EC1-AACD-AD7F46C0125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53175" y="3457575"/>
            <a:ext cx="0" cy="24765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3">
            <a:solidFill>
              <a:srgbClr val="DADADA"/>
            </a:solidFill>
          </a:ln>
        </p:spPr>
        <p:txBody xmlns:a="http://schemas.openxmlformats.org/drawingml/2006/main">
          <a:bodyPr/>
          <a:p/>
        </p:txBody>
      </p:sp>
      <p:sp>
        <p:nvSpPr>
          <p:cNvPr id="71" name="Week rule 6 2026-09-28">
            <a:extLst xmlns:a="http://schemas.openxmlformats.org/drawingml/2006/main">
              <a:ext uri="{FF2B5EF4-FFF2-40B4-BE49-F238E27FC236}">
                <a16:creationId xmlns:a16="http://schemas.microsoft.com/office/drawing/2014/main" id="{D1D7734B-2145-4B78-913A-9256970B24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85150" y="3457575"/>
            <a:ext cx="0" cy="24765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3">
            <a:solidFill>
              <a:srgbClr val="DADADA"/>
            </a:solidFill>
          </a:ln>
        </p:spPr>
        <p:txBody xmlns:a="http://schemas.openxmlformats.org/drawingml/2006/main">
          <a:bodyPr/>
          <a:p/>
        </p:txBody>
      </p:sp>
      <p:sp>
        <p:nvSpPr>
          <p:cNvPr id="72" name="Week rule 6 2026-10-05">
            <a:extLst xmlns:a="http://schemas.openxmlformats.org/drawingml/2006/main">
              <a:ext uri="{FF2B5EF4-FFF2-40B4-BE49-F238E27FC236}">
                <a16:creationId xmlns:a16="http://schemas.microsoft.com/office/drawing/2014/main" id="{6F83F414-BB2B-4DC8-93DB-73E37539583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17125" y="3457575"/>
            <a:ext cx="0" cy="24765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3">
            <a:solidFill>
              <a:srgbClr val="DADADA"/>
            </a:solidFill>
          </a:ln>
        </p:spPr>
        <p:txBody xmlns:a="http://schemas.openxmlformats.org/drawingml/2006/main">
          <a:bodyPr/>
          <a:p/>
        </p:txBody>
      </p:sp>
      <p:sp>
        <p:nvSpPr>
          <p:cNvPr id="73" name="Bar 6 0">
            <a:extLst xmlns:a="http://schemas.openxmlformats.org/drawingml/2006/main">
              <a:ext uri="{FF2B5EF4-FFF2-40B4-BE49-F238E27FC236}">
                <a16:creationId xmlns:a16="http://schemas.microsoft.com/office/drawing/2014/main" id="{4965704C-396E-4278-9F85-B4434892AFF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83879" y="3529013"/>
            <a:ext cx="1306285" cy="1047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595959"/>
          </a:solidFill>
          <a:ln xmlns:a="http://schemas.openxmlformats.org/drawingml/2006/main" w="0">
            <a:noFill/>
          </a:ln>
        </p:spPr>
        <p:txBody xmlns:a="http://schemas.openxmlformats.org/drawingml/2006/main">
          <a:bodyPr/>
          <a:p/>
        </p:txBody>
      </p:sp>
      <p:sp>
        <p:nvSpPr>
          <p:cNvPr id="74" name="Row rule 6">
            <a:extLst xmlns:a="http://schemas.openxmlformats.org/drawingml/2006/main">
              <a:ext uri="{FF2B5EF4-FFF2-40B4-BE49-F238E27FC236}">
                <a16:creationId xmlns:a16="http://schemas.microsoft.com/office/drawing/2014/main" id="{1656A88B-3D95-495F-B088-7FE5B1F9952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3850" y="3705225"/>
            <a:ext cx="115252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3">
            <a:solidFill>
              <a:srgbClr val="DADADA"/>
            </a:solidFill>
          </a:ln>
        </p:spPr>
        <p:txBody xmlns:a="http://schemas.openxmlformats.org/drawingml/2006/main">
          <a:bodyPr/>
          <a:p/>
        </p:txBody>
      </p:sp>
      <p:sp>
        <p:nvSpPr>
          <p:cNvPr id="75" name="Row tint 7">
            <a:extLst xmlns:a="http://schemas.openxmlformats.org/drawingml/2006/main">
              <a:ext uri="{FF2B5EF4-FFF2-40B4-BE49-F238E27FC236}">
                <a16:creationId xmlns:a16="http://schemas.microsoft.com/office/drawing/2014/main" id="{754B57A9-EDC3-4AE4-B6A6-AD4417743D2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3850" y="3705225"/>
            <a:ext cx="11525250" cy="247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7F7F7"/>
          </a:solidFill>
          <a:ln xmlns:a="http://schemas.openxmlformats.org/drawingml/2006/main" w="0">
            <a:noFill/>
          </a:ln>
        </p:spPr>
        <p:txBody xmlns:a="http://schemas.openxmlformats.org/drawingml/2006/main">
          <a:bodyPr/>
          <a:p/>
        </p:txBody>
      </p:sp>
      <p:sp>
        <p:nvSpPr>
          <p:cNvPr id="76" name="Task 7">
            <a:extLst xmlns:a="http://schemas.openxmlformats.org/drawingml/2006/main">
              <a:ext uri="{FF2B5EF4-FFF2-40B4-BE49-F238E27FC236}">
                <a16:creationId xmlns:a16="http://schemas.microsoft.com/office/drawing/2014/main" id="{BE6DED01-CAC1-44C9-AB9A-9D2346B3EE8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2425" y="3705225"/>
            <a:ext cx="4295775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38100" tIns="0" rIns="3810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defRPr sz="960" b="0">
                <a:solidFill>
                  <a:srgbClr val="111111"/>
                </a:solidFill>
                <a:latin typeface="Arial"/>
                <a:ea typeface="Arial"/>
                <a:cs typeface="Arial"/>
              </a:defRPr>
            </a:pPr>
            <a:r>
              <a:rPr sz="960" b="0">
                <a:solidFill>
                  <a:srgbClr val="111111"/>
                </a:solidFill>
                <a:latin typeface="Arial"/>
                <a:ea typeface="Arial"/>
                <a:cs typeface="Arial"/>
              </a:rPr>
              <a:t>9. Published-split comparisons for both datasets</a:t>
            </a:r>
          </a:p>
        </p:txBody>
      </p:sp>
      <p:sp>
        <p:nvSpPr>
          <p:cNvPr id="77" name="Status 7">
            <a:extLst xmlns:a="http://schemas.openxmlformats.org/drawingml/2006/main">
              <a:ext uri="{FF2B5EF4-FFF2-40B4-BE49-F238E27FC236}">
                <a16:creationId xmlns:a16="http://schemas.microsoft.com/office/drawing/2014/main" id="{1C95D57B-BE4A-40C4-8923-5B5B09CD6FD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57725" y="3705225"/>
            <a:ext cx="8382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38100" tIns="0" rIns="3810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defRPr sz="848" b="0">
                <a:solidFill>
                  <a:srgbClr val="111111"/>
                </a:solidFill>
                <a:latin typeface="Arial"/>
                <a:ea typeface="Arial"/>
                <a:cs typeface="Arial"/>
              </a:defRPr>
            </a:pPr>
            <a:r>
              <a:rPr sz="848" b="0">
                <a:solidFill>
                  <a:srgbClr val="111111"/>
                </a:solidFill>
                <a:latin typeface="Arial"/>
                <a:ea typeface="Arial"/>
                <a:cs typeface="Arial"/>
              </a:rPr>
              <a:t>Complete</a:t>
            </a:r>
          </a:p>
        </p:txBody>
      </p:sp>
      <p:sp>
        <p:nvSpPr>
          <p:cNvPr id="78" name="Dates 7">
            <a:extLst xmlns:a="http://schemas.openxmlformats.org/drawingml/2006/main">
              <a:ext uri="{FF2B5EF4-FFF2-40B4-BE49-F238E27FC236}">
                <a16:creationId xmlns:a16="http://schemas.microsoft.com/office/drawing/2014/main" id="{FC8FFE9F-C46F-49B9-80D4-F36D9824E7E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95925" y="3705225"/>
            <a:ext cx="8572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38100" tIns="0" rIns="3810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defRPr sz="848" b="0">
                <a:solidFill>
                  <a:srgbClr val="111111"/>
                </a:solidFill>
                <a:latin typeface="Arial"/>
                <a:ea typeface="Arial"/>
                <a:cs typeface="Arial"/>
              </a:defRPr>
            </a:pPr>
            <a:r>
              <a:rPr sz="848" b="0">
                <a:solidFill>
                  <a:srgbClr val="111111"/>
                </a:solidFill>
                <a:latin typeface="Arial"/>
                <a:ea typeface="Arial"/>
                <a:cs typeface="Arial"/>
              </a:rPr>
              <a:t>10/1-10/3</a:t>
            </a:r>
          </a:p>
        </p:txBody>
      </p:sp>
      <p:sp>
        <p:nvSpPr>
          <p:cNvPr id="79" name="Week rule 7 2026-09-21">
            <a:extLst xmlns:a="http://schemas.openxmlformats.org/drawingml/2006/main">
              <a:ext uri="{FF2B5EF4-FFF2-40B4-BE49-F238E27FC236}">
                <a16:creationId xmlns:a16="http://schemas.microsoft.com/office/drawing/2014/main" id="{061BC52C-C4B9-402E-B472-F4789EF60FF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53175" y="3705225"/>
            <a:ext cx="0" cy="24765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3">
            <a:solidFill>
              <a:srgbClr val="DADADA"/>
            </a:solidFill>
          </a:ln>
        </p:spPr>
        <p:txBody xmlns:a="http://schemas.openxmlformats.org/drawingml/2006/main">
          <a:bodyPr/>
          <a:p/>
        </p:txBody>
      </p:sp>
      <p:sp>
        <p:nvSpPr>
          <p:cNvPr id="80" name="Week rule 7 2026-09-28">
            <a:extLst xmlns:a="http://schemas.openxmlformats.org/drawingml/2006/main">
              <a:ext uri="{FF2B5EF4-FFF2-40B4-BE49-F238E27FC236}">
                <a16:creationId xmlns:a16="http://schemas.microsoft.com/office/drawing/2014/main" id="{9243383D-E5F6-424A-88DE-0E793694F08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85150" y="3705225"/>
            <a:ext cx="0" cy="24765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3">
            <a:solidFill>
              <a:srgbClr val="DADADA"/>
            </a:solidFill>
          </a:ln>
        </p:spPr>
        <p:txBody xmlns:a="http://schemas.openxmlformats.org/drawingml/2006/main">
          <a:bodyPr/>
          <a:p/>
        </p:txBody>
      </p:sp>
      <p:sp>
        <p:nvSpPr>
          <p:cNvPr id="81" name="Week rule 7 2026-10-05">
            <a:extLst xmlns:a="http://schemas.openxmlformats.org/drawingml/2006/main">
              <a:ext uri="{FF2B5EF4-FFF2-40B4-BE49-F238E27FC236}">
                <a16:creationId xmlns:a16="http://schemas.microsoft.com/office/drawing/2014/main" id="{933818FD-8F2A-4DC5-BEB3-549B0FF4B0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17125" y="3705225"/>
            <a:ext cx="0" cy="24765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3">
            <a:solidFill>
              <a:srgbClr val="DADADA"/>
            </a:solidFill>
          </a:ln>
        </p:spPr>
        <p:txBody xmlns:a="http://schemas.openxmlformats.org/drawingml/2006/main">
          <a:bodyPr/>
          <a:p/>
        </p:txBody>
      </p:sp>
      <p:sp>
        <p:nvSpPr>
          <p:cNvPr id="82" name="Bar 7 0">
            <a:extLst xmlns:a="http://schemas.openxmlformats.org/drawingml/2006/main">
              <a:ext uri="{FF2B5EF4-FFF2-40B4-BE49-F238E27FC236}">
                <a16:creationId xmlns:a16="http://schemas.microsoft.com/office/drawing/2014/main" id="{558BF6F5-5E81-4C2E-A4E8-F91914C9B30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67651" y="3776663"/>
            <a:ext cx="783771" cy="1047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595959"/>
          </a:solidFill>
          <a:ln xmlns:a="http://schemas.openxmlformats.org/drawingml/2006/main" w="0">
            <a:noFill/>
          </a:ln>
        </p:spPr>
        <p:txBody xmlns:a="http://schemas.openxmlformats.org/drawingml/2006/main">
          <a:bodyPr/>
          <a:p/>
        </p:txBody>
      </p:sp>
      <p:sp>
        <p:nvSpPr>
          <p:cNvPr id="83" name="Row rule 7">
            <a:extLst xmlns:a="http://schemas.openxmlformats.org/drawingml/2006/main">
              <a:ext uri="{FF2B5EF4-FFF2-40B4-BE49-F238E27FC236}">
                <a16:creationId xmlns:a16="http://schemas.microsoft.com/office/drawing/2014/main" id="{FD506E0F-4FA2-4029-814B-F532C1DD6FB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3850" y="3952875"/>
            <a:ext cx="115252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3">
            <a:solidFill>
              <a:srgbClr val="DADADA"/>
            </a:solidFill>
          </a:ln>
        </p:spPr>
        <p:txBody xmlns:a="http://schemas.openxmlformats.org/drawingml/2006/main">
          <a:bodyPr/>
          <a:p/>
        </p:txBody>
      </p:sp>
      <p:sp>
        <p:nvSpPr>
          <p:cNvPr id="84" name="Task 8">
            <a:extLst xmlns:a="http://schemas.openxmlformats.org/drawingml/2006/main">
              <a:ext uri="{FF2B5EF4-FFF2-40B4-BE49-F238E27FC236}">
                <a16:creationId xmlns:a16="http://schemas.microsoft.com/office/drawing/2014/main" id="{EAE66BBE-DC6D-4CFF-9F0F-98F473FE277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2425" y="3952875"/>
            <a:ext cx="4295775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38100" tIns="0" rIns="3810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defRPr sz="960" b="0">
                <a:solidFill>
                  <a:srgbClr val="111111"/>
                </a:solidFill>
                <a:latin typeface="Arial"/>
                <a:ea typeface="Arial"/>
                <a:cs typeface="Arial"/>
              </a:defRPr>
            </a:pPr>
            <a:r>
              <a:rPr sz="960" b="0">
                <a:solidFill>
                  <a:srgbClr val="111111"/>
                </a:solidFill>
                <a:latin typeface="Arial"/>
                <a:ea typeface="Arial"/>
                <a:cs typeface="Arial"/>
              </a:rPr>
              <a:t>10. Write Stage 1 methods and findings in Overleaf</a:t>
            </a:r>
          </a:p>
        </p:txBody>
      </p:sp>
      <p:sp>
        <p:nvSpPr>
          <p:cNvPr id="85" name="Status 8">
            <a:extLst xmlns:a="http://schemas.openxmlformats.org/drawingml/2006/main">
              <a:ext uri="{FF2B5EF4-FFF2-40B4-BE49-F238E27FC236}">
                <a16:creationId xmlns:a16="http://schemas.microsoft.com/office/drawing/2014/main" id="{8D4F6715-8F51-425F-B164-B124A9DF227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57725" y="3952875"/>
            <a:ext cx="8382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38100" tIns="0" rIns="3810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defRPr sz="848" b="0">
                <a:solidFill>
                  <a:srgbClr val="111111"/>
                </a:solidFill>
                <a:latin typeface="Arial"/>
                <a:ea typeface="Arial"/>
                <a:cs typeface="Arial"/>
              </a:defRPr>
            </a:pPr>
            <a:r>
              <a:rPr sz="848" b="0">
                <a:solidFill>
                  <a:srgbClr val="111111"/>
                </a:solidFill>
                <a:latin typeface="Arial"/>
                <a:ea typeface="Arial"/>
                <a:cs typeface="Arial"/>
              </a:rPr>
              <a:t>In progress</a:t>
            </a:r>
          </a:p>
        </p:txBody>
      </p:sp>
      <p:sp>
        <p:nvSpPr>
          <p:cNvPr id="86" name="Dates 8">
            <a:extLst xmlns:a="http://schemas.openxmlformats.org/drawingml/2006/main">
              <a:ext uri="{FF2B5EF4-FFF2-40B4-BE49-F238E27FC236}">
                <a16:creationId xmlns:a16="http://schemas.microsoft.com/office/drawing/2014/main" id="{A7216BFC-B513-4FFB-ACB9-E470C9A5238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95925" y="3952875"/>
            <a:ext cx="8572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38100" tIns="0" rIns="3810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defRPr sz="848" b="0">
                <a:solidFill>
                  <a:srgbClr val="111111"/>
                </a:solidFill>
                <a:latin typeface="Arial"/>
                <a:ea typeface="Arial"/>
                <a:cs typeface="Arial"/>
              </a:defRPr>
            </a:pPr>
            <a:r>
              <a:rPr sz="848" b="0">
                <a:solidFill>
                  <a:srgbClr val="111111"/>
                </a:solidFill>
                <a:latin typeface="Arial"/>
                <a:ea typeface="Arial"/>
                <a:cs typeface="Arial"/>
              </a:rPr>
              <a:t>9/26-10/7</a:t>
            </a:r>
          </a:p>
        </p:txBody>
      </p:sp>
      <p:sp>
        <p:nvSpPr>
          <p:cNvPr id="87" name="Week rule 8 2026-09-21">
            <a:extLst xmlns:a="http://schemas.openxmlformats.org/drawingml/2006/main">
              <a:ext uri="{FF2B5EF4-FFF2-40B4-BE49-F238E27FC236}">
                <a16:creationId xmlns:a16="http://schemas.microsoft.com/office/drawing/2014/main" id="{077B92AF-E742-4A57-AE2E-4D30B24BD3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53175" y="3952875"/>
            <a:ext cx="0" cy="24765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3">
            <a:solidFill>
              <a:srgbClr val="DADADA"/>
            </a:solidFill>
          </a:ln>
        </p:spPr>
        <p:txBody xmlns:a="http://schemas.openxmlformats.org/drawingml/2006/main">
          <a:bodyPr/>
          <a:p/>
        </p:txBody>
      </p:sp>
      <p:sp>
        <p:nvSpPr>
          <p:cNvPr id="88" name="Week rule 8 2026-09-28">
            <a:extLst xmlns:a="http://schemas.openxmlformats.org/drawingml/2006/main">
              <a:ext uri="{FF2B5EF4-FFF2-40B4-BE49-F238E27FC236}">
                <a16:creationId xmlns:a16="http://schemas.microsoft.com/office/drawing/2014/main" id="{D13E4F06-4048-4024-9B3F-252014EE336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85150" y="3952875"/>
            <a:ext cx="0" cy="24765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3">
            <a:solidFill>
              <a:srgbClr val="DADADA"/>
            </a:solidFill>
          </a:ln>
        </p:spPr>
        <p:txBody xmlns:a="http://schemas.openxmlformats.org/drawingml/2006/main">
          <a:bodyPr/>
          <a:p/>
        </p:txBody>
      </p:sp>
      <p:sp>
        <p:nvSpPr>
          <p:cNvPr id="89" name="Week rule 8 2026-10-05">
            <a:extLst xmlns:a="http://schemas.openxmlformats.org/drawingml/2006/main">
              <a:ext uri="{FF2B5EF4-FFF2-40B4-BE49-F238E27FC236}">
                <a16:creationId xmlns:a16="http://schemas.microsoft.com/office/drawing/2014/main" id="{C20BF075-33D3-46C6-AB93-A54A86BED75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17125" y="3952875"/>
            <a:ext cx="0" cy="24765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3">
            <a:solidFill>
              <a:srgbClr val="DADADA"/>
            </a:solidFill>
          </a:ln>
        </p:spPr>
        <p:txBody xmlns:a="http://schemas.openxmlformats.org/drawingml/2006/main">
          <a:bodyPr/>
          <a:p/>
        </p:txBody>
      </p:sp>
      <p:sp>
        <p:nvSpPr>
          <p:cNvPr id="90" name="Bar 8 0">
            <a:extLst xmlns:a="http://schemas.openxmlformats.org/drawingml/2006/main">
              <a:ext uri="{FF2B5EF4-FFF2-40B4-BE49-F238E27FC236}">
                <a16:creationId xmlns:a16="http://schemas.microsoft.com/office/drawing/2014/main" id="{BC394C3D-4342-4439-A2A3-5FACEBC5CB1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61365" y="4024313"/>
            <a:ext cx="3135085" cy="1047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CA323"/>
          </a:solidFill>
          <a:ln xmlns:a="http://schemas.openxmlformats.org/drawingml/2006/main" w="0">
            <a:noFill/>
          </a:ln>
        </p:spPr>
        <p:txBody xmlns:a="http://schemas.openxmlformats.org/drawingml/2006/main">
          <a:bodyPr/>
          <a:p/>
        </p:txBody>
      </p:sp>
      <p:sp>
        <p:nvSpPr>
          <p:cNvPr id="91" name="Row rule 8">
            <a:extLst xmlns:a="http://schemas.openxmlformats.org/drawingml/2006/main">
              <a:ext uri="{FF2B5EF4-FFF2-40B4-BE49-F238E27FC236}">
                <a16:creationId xmlns:a16="http://schemas.microsoft.com/office/drawing/2014/main" id="{CA2557C8-707C-4BC6-B343-68ABE935AD8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3850" y="4200525"/>
            <a:ext cx="115252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3">
            <a:solidFill>
              <a:srgbClr val="DADADA"/>
            </a:solidFill>
          </a:ln>
        </p:spPr>
        <p:txBody xmlns:a="http://schemas.openxmlformats.org/drawingml/2006/main">
          <a:bodyPr/>
          <a:p/>
        </p:txBody>
      </p:sp>
      <p:sp>
        <p:nvSpPr>
          <p:cNvPr id="92" name="Row tint 9">
            <a:extLst xmlns:a="http://schemas.openxmlformats.org/drawingml/2006/main">
              <a:ext uri="{FF2B5EF4-FFF2-40B4-BE49-F238E27FC236}">
                <a16:creationId xmlns:a16="http://schemas.microsoft.com/office/drawing/2014/main" id="{1D3EC465-3193-4E04-98BB-5125793036F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3850" y="4200525"/>
            <a:ext cx="11525250" cy="247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7F7F7"/>
          </a:solidFill>
          <a:ln xmlns:a="http://schemas.openxmlformats.org/drawingml/2006/main" w="0">
            <a:noFill/>
          </a:ln>
        </p:spPr>
        <p:txBody xmlns:a="http://schemas.openxmlformats.org/drawingml/2006/main">
          <a:bodyPr/>
          <a:p/>
        </p:txBody>
      </p:sp>
      <p:sp>
        <p:nvSpPr>
          <p:cNvPr id="93" name="Task 9">
            <a:extLst xmlns:a="http://schemas.openxmlformats.org/drawingml/2006/main">
              <a:ext uri="{FF2B5EF4-FFF2-40B4-BE49-F238E27FC236}">
                <a16:creationId xmlns:a16="http://schemas.microsoft.com/office/drawing/2014/main" id="{8608C576-DD03-4920-ADCF-4E82D832997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2425" y="4200525"/>
            <a:ext cx="4295775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38100" tIns="0" rIns="3810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defRPr sz="960" b="0">
                <a:solidFill>
                  <a:srgbClr val="111111"/>
                </a:solidFill>
                <a:latin typeface="Arial"/>
                <a:ea typeface="Arial"/>
                <a:cs typeface="Arial"/>
              </a:defRPr>
            </a:pPr>
            <a:r>
              <a:rPr sz="960" b="0">
                <a:solidFill>
                  <a:srgbClr val="111111"/>
                </a:solidFill>
                <a:latin typeface="Arial"/>
                <a:ea typeface="Arial"/>
                <a:cs typeface="Arial"/>
              </a:rPr>
              <a:t>11. Clarify the lab tokenizer and benchmark opportunity</a:t>
            </a:r>
          </a:p>
        </p:txBody>
      </p:sp>
      <p:sp>
        <p:nvSpPr>
          <p:cNvPr id="94" name="Status 9">
            <a:extLst xmlns:a="http://schemas.openxmlformats.org/drawingml/2006/main">
              <a:ext uri="{FF2B5EF4-FFF2-40B4-BE49-F238E27FC236}">
                <a16:creationId xmlns:a16="http://schemas.microsoft.com/office/drawing/2014/main" id="{C3D056EA-31FC-4F82-BAB8-AC03E28D756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57725" y="4200525"/>
            <a:ext cx="8382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38100" tIns="0" rIns="3810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defRPr sz="848" b="0">
                <a:solidFill>
                  <a:srgbClr val="111111"/>
                </a:solidFill>
                <a:latin typeface="Arial"/>
                <a:ea typeface="Arial"/>
                <a:cs typeface="Arial"/>
              </a:defRPr>
            </a:pPr>
            <a:r>
              <a:rPr sz="848" b="0">
                <a:solidFill>
                  <a:srgbClr val="111111"/>
                </a:solidFill>
                <a:latin typeface="Arial"/>
                <a:ea typeface="Arial"/>
                <a:cs typeface="Arial"/>
              </a:rPr>
              <a:t>Planned</a:t>
            </a:r>
          </a:p>
        </p:txBody>
      </p:sp>
      <p:sp>
        <p:nvSpPr>
          <p:cNvPr id="95" name="Dates 9">
            <a:extLst xmlns:a="http://schemas.openxmlformats.org/drawingml/2006/main">
              <a:ext uri="{FF2B5EF4-FFF2-40B4-BE49-F238E27FC236}">
                <a16:creationId xmlns:a16="http://schemas.microsoft.com/office/drawing/2014/main" id="{85FEB189-5BC6-462C-82DD-43291224AFA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95925" y="4200525"/>
            <a:ext cx="8572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38100" tIns="0" rIns="3810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defRPr sz="848" b="0">
                <a:solidFill>
                  <a:srgbClr val="111111"/>
                </a:solidFill>
                <a:latin typeface="Arial"/>
                <a:ea typeface="Arial"/>
                <a:cs typeface="Arial"/>
              </a:defRPr>
            </a:pPr>
            <a:r>
              <a:rPr sz="848" b="0">
                <a:solidFill>
                  <a:srgbClr val="111111"/>
                </a:solidFill>
                <a:latin typeface="Arial"/>
                <a:ea typeface="Arial"/>
                <a:cs typeface="Arial"/>
              </a:rPr>
              <a:t>9/28-10/5</a:t>
            </a:r>
          </a:p>
        </p:txBody>
      </p:sp>
      <p:sp>
        <p:nvSpPr>
          <p:cNvPr id="96" name="Week rule 9 2026-09-21">
            <a:extLst xmlns:a="http://schemas.openxmlformats.org/drawingml/2006/main">
              <a:ext uri="{FF2B5EF4-FFF2-40B4-BE49-F238E27FC236}">
                <a16:creationId xmlns:a16="http://schemas.microsoft.com/office/drawing/2014/main" id="{189E6E2A-66FF-4AB1-B29C-4FE3505AB8F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53175" y="4200525"/>
            <a:ext cx="0" cy="24765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3">
            <a:solidFill>
              <a:srgbClr val="DADADA"/>
            </a:solidFill>
          </a:ln>
        </p:spPr>
        <p:txBody xmlns:a="http://schemas.openxmlformats.org/drawingml/2006/main">
          <a:bodyPr/>
          <a:p/>
        </p:txBody>
      </p:sp>
      <p:sp>
        <p:nvSpPr>
          <p:cNvPr id="97" name="Week rule 9 2026-09-28">
            <a:extLst xmlns:a="http://schemas.openxmlformats.org/drawingml/2006/main">
              <a:ext uri="{FF2B5EF4-FFF2-40B4-BE49-F238E27FC236}">
                <a16:creationId xmlns:a16="http://schemas.microsoft.com/office/drawing/2014/main" id="{E0A3D6BE-984C-4BBC-909D-E6B17D60A9D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85150" y="4200525"/>
            <a:ext cx="0" cy="24765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3">
            <a:solidFill>
              <a:srgbClr val="DADADA"/>
            </a:solidFill>
          </a:ln>
        </p:spPr>
        <p:txBody xmlns:a="http://schemas.openxmlformats.org/drawingml/2006/main">
          <a:bodyPr/>
          <a:p/>
        </p:txBody>
      </p:sp>
      <p:sp>
        <p:nvSpPr>
          <p:cNvPr id="98" name="Week rule 9 2026-10-05">
            <a:extLst xmlns:a="http://schemas.openxmlformats.org/drawingml/2006/main">
              <a:ext uri="{FF2B5EF4-FFF2-40B4-BE49-F238E27FC236}">
                <a16:creationId xmlns:a16="http://schemas.microsoft.com/office/drawing/2014/main" id="{4CFCFAE1-C94A-4090-9DAB-2CE8794884A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17125" y="4200525"/>
            <a:ext cx="0" cy="24765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3">
            <a:solidFill>
              <a:srgbClr val="DADADA"/>
            </a:solidFill>
          </a:ln>
        </p:spPr>
        <p:txBody xmlns:a="http://schemas.openxmlformats.org/drawingml/2006/main">
          <a:bodyPr/>
          <a:p/>
        </p:txBody>
      </p:sp>
      <p:sp>
        <p:nvSpPr>
          <p:cNvPr id="99" name="Bar 9 0">
            <a:extLst xmlns:a="http://schemas.openxmlformats.org/drawingml/2006/main">
              <a:ext uri="{FF2B5EF4-FFF2-40B4-BE49-F238E27FC236}">
                <a16:creationId xmlns:a16="http://schemas.microsoft.com/office/drawing/2014/main" id="{0369ABD2-E1FD-4E3C-A307-78B3CEAD14B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85150" y="4271963"/>
            <a:ext cx="2093686" cy="1047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7BEC4"/>
          </a:solidFill>
          <a:ln xmlns:a="http://schemas.openxmlformats.org/drawingml/2006/main" w="0">
            <a:noFill/>
          </a:ln>
        </p:spPr>
        <p:txBody xmlns:a="http://schemas.openxmlformats.org/drawingml/2006/main">
          <a:bodyPr/>
          <a:p/>
        </p:txBody>
      </p:sp>
      <p:sp>
        <p:nvSpPr>
          <p:cNvPr id="100" name="Row rule 9">
            <a:extLst xmlns:a="http://schemas.openxmlformats.org/drawingml/2006/main">
              <a:ext uri="{FF2B5EF4-FFF2-40B4-BE49-F238E27FC236}">
                <a16:creationId xmlns:a16="http://schemas.microsoft.com/office/drawing/2014/main" id="{ED4CA3F4-E5A6-414A-B4E9-7F585664E30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3850" y="4448175"/>
            <a:ext cx="115252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3">
            <a:solidFill>
              <a:srgbClr val="DADADA"/>
            </a:solidFill>
          </a:ln>
        </p:spPr>
        <p:txBody xmlns:a="http://schemas.openxmlformats.org/drawingml/2006/main">
          <a:bodyPr/>
          <a:p/>
        </p:txBody>
      </p:sp>
      <p:sp>
        <p:nvSpPr>
          <p:cNvPr id="101" name="Section October 5 review and follow-up">
            <a:extLst xmlns:a="http://schemas.openxmlformats.org/drawingml/2006/main">
              <a:ext uri="{FF2B5EF4-FFF2-40B4-BE49-F238E27FC236}">
                <a16:creationId xmlns:a16="http://schemas.microsoft.com/office/drawing/2014/main" id="{7FB7E455-D03E-4BFF-BEEC-3C0F3F635F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3850" y="4448175"/>
            <a:ext cx="1152525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DE4EA"/>
          </a:solidFill>
          <a:ln xmlns:a="http://schemas.openxmlformats.org/drawingml/2006/main" w="0">
            <a:noFill/>
          </a:ln>
        </p:spPr>
        <p:txBody xmlns:a="http://schemas.openxmlformats.org/drawingml/2006/main">
          <a:bodyPr/>
          <a:p/>
        </p:txBody>
      </p:sp>
      <p:sp>
        <p:nvSpPr>
          <p:cNvPr id="102" name="Section title October 5 review and follow-up">
            <a:extLst xmlns:a="http://schemas.openxmlformats.org/drawingml/2006/main">
              <a:ext uri="{FF2B5EF4-FFF2-40B4-BE49-F238E27FC236}">
                <a16:creationId xmlns:a16="http://schemas.microsoft.com/office/drawing/2014/main" id="{EEE58CEC-BF69-42A2-B55B-D9FFAF9E279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2425" y="4448175"/>
            <a:ext cx="114681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38100" tIns="0" rIns="3810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pPr>
            <a:r>
              <a:rPr sz="1050" b="1">
                <a:solidFill>
                  <a:srgbClr val="111111"/>
                </a:solidFill>
                <a:latin typeface="Arial"/>
                <a:ea typeface="Arial"/>
                <a:cs typeface="Arial"/>
              </a:rPr>
              <a:t>October 7 review and follow-up</a:t>
            </a:r>
          </a:p>
        </p:txBody>
      </p:sp>
      <p:sp>
        <p:nvSpPr>
          <p:cNvPr id="103" name="Task 10">
            <a:extLst xmlns:a="http://schemas.openxmlformats.org/drawingml/2006/main">
              <a:ext uri="{FF2B5EF4-FFF2-40B4-BE49-F238E27FC236}">
                <a16:creationId xmlns:a16="http://schemas.microsoft.com/office/drawing/2014/main" id="{58296BB8-A1C1-4922-8118-C5D46340A7B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2425" y="4676775"/>
            <a:ext cx="4295775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38100" tIns="0" rIns="3810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defRPr sz="960" b="0">
                <a:solidFill>
                  <a:srgbClr val="111111"/>
                </a:solidFill>
                <a:latin typeface="Arial"/>
                <a:ea typeface="Arial"/>
                <a:cs typeface="Arial"/>
              </a:defRPr>
            </a:pPr>
            <a:r>
              <a:rPr sz="960" b="0">
                <a:solidFill>
                  <a:srgbClr val="111111"/>
                </a:solidFill>
                <a:latin typeface="Arial"/>
                <a:ea typeface="Arial"/>
                <a:cs typeface="Arial"/>
              </a:rPr>
              <a:t>12. Prepare evidence and questions for Mina</a:t>
            </a:r>
          </a:p>
        </p:txBody>
      </p:sp>
      <p:sp>
        <p:nvSpPr>
          <p:cNvPr id="104" name="Status 10">
            <a:extLst xmlns:a="http://schemas.openxmlformats.org/drawingml/2006/main">
              <a:ext uri="{FF2B5EF4-FFF2-40B4-BE49-F238E27FC236}">
                <a16:creationId xmlns:a16="http://schemas.microsoft.com/office/drawing/2014/main" id="{332CE47F-5706-4ED5-BFC2-38BC63D0E63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57725" y="4676775"/>
            <a:ext cx="8382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38100" tIns="0" rIns="3810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defRPr sz="848" b="0">
                <a:solidFill>
                  <a:srgbClr val="111111"/>
                </a:solidFill>
                <a:latin typeface="Arial"/>
                <a:ea typeface="Arial"/>
                <a:cs typeface="Arial"/>
              </a:defRPr>
            </a:pPr>
            <a:r>
              <a:rPr sz="848" b="0">
                <a:solidFill>
                  <a:srgbClr val="111111"/>
                </a:solidFill>
                <a:latin typeface="Arial"/>
                <a:ea typeface="Arial"/>
                <a:cs typeface="Arial"/>
              </a:rPr>
              <a:t>In progress</a:t>
            </a:r>
          </a:p>
        </p:txBody>
      </p:sp>
      <p:sp>
        <p:nvSpPr>
          <p:cNvPr id="105" name="Dates 10">
            <a:extLst xmlns:a="http://schemas.openxmlformats.org/drawingml/2006/main">
              <a:ext uri="{FF2B5EF4-FFF2-40B4-BE49-F238E27FC236}">
                <a16:creationId xmlns:a16="http://schemas.microsoft.com/office/drawing/2014/main" id="{65223890-7293-4BE9-883E-F75803B1EB2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95925" y="4676775"/>
            <a:ext cx="8572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38100" tIns="0" rIns="3810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defRPr sz="848" b="0">
                <a:solidFill>
                  <a:srgbClr val="111111"/>
                </a:solidFill>
                <a:latin typeface="Arial"/>
                <a:ea typeface="Arial"/>
                <a:cs typeface="Arial"/>
              </a:defRPr>
            </a:pPr>
            <a:r>
              <a:rPr sz="848" b="0">
                <a:solidFill>
                  <a:srgbClr val="111111"/>
                </a:solidFill>
                <a:latin typeface="Arial"/>
                <a:ea typeface="Arial"/>
                <a:cs typeface="Arial"/>
              </a:rPr>
              <a:t>10/1-10/6</a:t>
            </a:r>
          </a:p>
        </p:txBody>
      </p:sp>
      <p:sp>
        <p:nvSpPr>
          <p:cNvPr id="106" name="Week rule 10 2026-09-21">
            <a:extLst xmlns:a="http://schemas.openxmlformats.org/drawingml/2006/main">
              <a:ext uri="{FF2B5EF4-FFF2-40B4-BE49-F238E27FC236}">
                <a16:creationId xmlns:a16="http://schemas.microsoft.com/office/drawing/2014/main" id="{E7119877-CA11-4253-A462-3A22A3E8AB5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53175" y="4676775"/>
            <a:ext cx="0" cy="24765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3">
            <a:solidFill>
              <a:srgbClr val="DADADA"/>
            </a:solidFill>
          </a:ln>
        </p:spPr>
        <p:txBody xmlns:a="http://schemas.openxmlformats.org/drawingml/2006/main">
          <a:bodyPr/>
          <a:p/>
        </p:txBody>
      </p:sp>
      <p:sp>
        <p:nvSpPr>
          <p:cNvPr id="107" name="Week rule 10 2026-09-28">
            <a:extLst xmlns:a="http://schemas.openxmlformats.org/drawingml/2006/main">
              <a:ext uri="{FF2B5EF4-FFF2-40B4-BE49-F238E27FC236}">
                <a16:creationId xmlns:a16="http://schemas.microsoft.com/office/drawing/2014/main" id="{68251185-484A-41CB-94AA-4A3DCF0B779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85150" y="4676775"/>
            <a:ext cx="0" cy="24765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3">
            <a:solidFill>
              <a:srgbClr val="DADADA"/>
            </a:solidFill>
          </a:ln>
        </p:spPr>
        <p:txBody xmlns:a="http://schemas.openxmlformats.org/drawingml/2006/main">
          <a:bodyPr/>
          <a:p/>
        </p:txBody>
      </p:sp>
      <p:sp>
        <p:nvSpPr>
          <p:cNvPr id="108" name="Week rule 10 2026-10-05">
            <a:extLst xmlns:a="http://schemas.openxmlformats.org/drawingml/2006/main">
              <a:ext uri="{FF2B5EF4-FFF2-40B4-BE49-F238E27FC236}">
                <a16:creationId xmlns:a16="http://schemas.microsoft.com/office/drawing/2014/main" id="{247413CD-020D-4C66-BDB1-CA1D313CD06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17125" y="4676775"/>
            <a:ext cx="0" cy="24765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3">
            <a:solidFill>
              <a:srgbClr val="DADADA"/>
            </a:solidFill>
          </a:ln>
        </p:spPr>
        <p:txBody xmlns:a="http://schemas.openxmlformats.org/drawingml/2006/main">
          <a:bodyPr/>
          <a:p/>
        </p:txBody>
      </p:sp>
      <p:sp>
        <p:nvSpPr>
          <p:cNvPr id="109" name="Bar 10 0">
            <a:extLst xmlns:a="http://schemas.openxmlformats.org/drawingml/2006/main">
              <a:ext uri="{FF2B5EF4-FFF2-40B4-BE49-F238E27FC236}">
                <a16:creationId xmlns:a16="http://schemas.microsoft.com/office/drawing/2014/main" id="{8514FBCA-0077-404E-AE99-EE5C471BECD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67651" y="4748213"/>
            <a:ext cx="1567542" cy="1047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CA323"/>
          </a:solidFill>
          <a:ln xmlns:a="http://schemas.openxmlformats.org/drawingml/2006/main" w="0">
            <a:noFill/>
          </a:ln>
        </p:spPr>
        <p:txBody xmlns:a="http://schemas.openxmlformats.org/drawingml/2006/main">
          <a:bodyPr/>
          <a:p/>
        </p:txBody>
      </p:sp>
      <p:sp>
        <p:nvSpPr>
          <p:cNvPr id="110" name="Row rule 10">
            <a:extLst xmlns:a="http://schemas.openxmlformats.org/drawingml/2006/main">
              <a:ext uri="{FF2B5EF4-FFF2-40B4-BE49-F238E27FC236}">
                <a16:creationId xmlns:a16="http://schemas.microsoft.com/office/drawing/2014/main" id="{9CB37BA3-D198-4489-B5BD-3140BAE6AE6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3850" y="4924425"/>
            <a:ext cx="115252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3">
            <a:solidFill>
              <a:srgbClr val="DADADA"/>
            </a:solidFill>
          </a:ln>
        </p:spPr>
        <p:txBody xmlns:a="http://schemas.openxmlformats.org/drawingml/2006/main">
          <a:bodyPr/>
          <a:p/>
        </p:txBody>
      </p:sp>
      <p:sp>
        <p:nvSpPr>
          <p:cNvPr id="111" name="Row tint 11">
            <a:extLst xmlns:a="http://schemas.openxmlformats.org/drawingml/2006/main">
              <a:ext uri="{FF2B5EF4-FFF2-40B4-BE49-F238E27FC236}">
                <a16:creationId xmlns:a16="http://schemas.microsoft.com/office/drawing/2014/main" id="{BC10C0E9-ED1D-461E-8027-B64AD798698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3850" y="4924425"/>
            <a:ext cx="11525250" cy="247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7F7F7"/>
          </a:solidFill>
          <a:ln xmlns:a="http://schemas.openxmlformats.org/drawingml/2006/main" w="0">
            <a:noFill/>
          </a:ln>
        </p:spPr>
        <p:txBody xmlns:a="http://schemas.openxmlformats.org/drawingml/2006/main">
          <a:bodyPr/>
          <a:p/>
        </p:txBody>
      </p:sp>
      <p:sp>
        <p:nvSpPr>
          <p:cNvPr id="112" name="Task 11">
            <a:extLst xmlns:a="http://schemas.openxmlformats.org/drawingml/2006/main">
              <a:ext uri="{FF2B5EF4-FFF2-40B4-BE49-F238E27FC236}">
                <a16:creationId xmlns:a16="http://schemas.microsoft.com/office/drawing/2014/main" id="{08D86C99-1E68-4C6D-94AE-A9888CBDE35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2425" y="4924425"/>
            <a:ext cx="4295775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38100" tIns="0" rIns="3810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defRPr sz="960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pPr>
            <a:r>
              <a:rPr sz="960" b="1">
                <a:solidFill>
                  <a:srgbClr val="111111"/>
                </a:solidFill>
                <a:latin typeface="Arial"/>
                <a:ea typeface="Arial"/>
                <a:cs typeface="Arial"/>
              </a:rPr>
              <a:t>13. Review with Mina and working alignment definition</a:t>
            </a:r>
          </a:p>
        </p:txBody>
      </p:sp>
      <p:sp>
        <p:nvSpPr>
          <p:cNvPr id="113" name="Status 11">
            <a:extLst xmlns:a="http://schemas.openxmlformats.org/drawingml/2006/main">
              <a:ext uri="{FF2B5EF4-FFF2-40B4-BE49-F238E27FC236}">
                <a16:creationId xmlns:a16="http://schemas.microsoft.com/office/drawing/2014/main" id="{8D6DB1BA-6020-42E8-9835-31175B8BCB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57725" y="4924425"/>
            <a:ext cx="8382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38100" tIns="0" rIns="3810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defRPr sz="848" b="0">
                <a:solidFill>
                  <a:srgbClr val="111111"/>
                </a:solidFill>
                <a:latin typeface="Arial"/>
                <a:ea typeface="Arial"/>
                <a:cs typeface="Arial"/>
              </a:defRPr>
            </a:pPr>
            <a:r>
              <a:rPr sz="848" b="0">
                <a:solidFill>
                  <a:srgbClr val="111111"/>
                </a:solidFill>
                <a:latin typeface="Arial"/>
                <a:ea typeface="Arial"/>
                <a:cs typeface="Arial"/>
              </a:rPr>
              <a:t>Planned</a:t>
            </a:r>
          </a:p>
        </p:txBody>
      </p:sp>
      <p:sp>
        <p:nvSpPr>
          <p:cNvPr id="114" name="Dates 11">
            <a:extLst xmlns:a="http://schemas.openxmlformats.org/drawingml/2006/main">
              <a:ext uri="{FF2B5EF4-FFF2-40B4-BE49-F238E27FC236}">
                <a16:creationId xmlns:a16="http://schemas.microsoft.com/office/drawing/2014/main" id="{29319D34-71D8-4640-9AF8-9C5F5EEC56C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95925" y="4924425"/>
            <a:ext cx="8572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38100" tIns="0" rIns="3810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defRPr sz="848" b="0">
                <a:solidFill>
                  <a:srgbClr val="111111"/>
                </a:solidFill>
                <a:latin typeface="Arial"/>
                <a:ea typeface="Arial"/>
                <a:cs typeface="Arial"/>
              </a:defRPr>
            </a:pPr>
            <a:r>
              <a:rPr sz="848" b="0">
                <a:solidFill>
                  <a:srgbClr val="111111"/>
                </a:solidFill>
                <a:latin typeface="Arial"/>
                <a:ea typeface="Arial"/>
                <a:cs typeface="Arial"/>
              </a:rPr>
              <a:t>10/7</a:t>
            </a:r>
          </a:p>
        </p:txBody>
      </p:sp>
      <p:sp>
        <p:nvSpPr>
          <p:cNvPr id="115" name="Week rule 11 2026-09-21">
            <a:extLst xmlns:a="http://schemas.openxmlformats.org/drawingml/2006/main">
              <a:ext uri="{FF2B5EF4-FFF2-40B4-BE49-F238E27FC236}">
                <a16:creationId xmlns:a16="http://schemas.microsoft.com/office/drawing/2014/main" id="{380DFAB4-CB2B-46D3-A6ED-C2C05F259FC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53175" y="4924425"/>
            <a:ext cx="0" cy="24765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3">
            <a:solidFill>
              <a:srgbClr val="DADADA"/>
            </a:solidFill>
          </a:ln>
        </p:spPr>
        <p:txBody xmlns:a="http://schemas.openxmlformats.org/drawingml/2006/main">
          <a:bodyPr/>
          <a:p/>
        </p:txBody>
      </p:sp>
      <p:sp>
        <p:nvSpPr>
          <p:cNvPr id="116" name="Week rule 11 2026-09-28">
            <a:extLst xmlns:a="http://schemas.openxmlformats.org/drawingml/2006/main">
              <a:ext uri="{FF2B5EF4-FFF2-40B4-BE49-F238E27FC236}">
                <a16:creationId xmlns:a16="http://schemas.microsoft.com/office/drawing/2014/main" id="{2B49DA09-7995-4A79-BDFD-8E32F0031D7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85150" y="4924425"/>
            <a:ext cx="0" cy="24765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3">
            <a:solidFill>
              <a:srgbClr val="DADADA"/>
            </a:solidFill>
          </a:ln>
        </p:spPr>
        <p:txBody xmlns:a="http://schemas.openxmlformats.org/drawingml/2006/main">
          <a:bodyPr/>
          <a:p/>
        </p:txBody>
      </p:sp>
      <p:sp>
        <p:nvSpPr>
          <p:cNvPr id="117" name="Week rule 11 2026-10-05">
            <a:extLst xmlns:a="http://schemas.openxmlformats.org/drawingml/2006/main">
              <a:ext uri="{FF2B5EF4-FFF2-40B4-BE49-F238E27FC236}">
                <a16:creationId xmlns:a16="http://schemas.microsoft.com/office/drawing/2014/main" id="{8B261F23-0E62-42D0-AA5A-3FDA5B6E37C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17125" y="4924425"/>
            <a:ext cx="0" cy="24765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3">
            <a:solidFill>
              <a:srgbClr val="DADADA"/>
            </a:solidFill>
          </a:ln>
        </p:spPr>
        <p:txBody xmlns:a="http://schemas.openxmlformats.org/drawingml/2006/main">
          <a:bodyPr/>
          <a:p/>
        </p:txBody>
      </p:sp>
      <p:sp>
        <p:nvSpPr>
          <p:cNvPr id="118" name="Milestone 13">
            <a:extLst xmlns:a="http://schemas.openxmlformats.org/drawingml/2006/main">
              <a:ext uri="{FF2B5EF4-FFF2-40B4-BE49-F238E27FC236}">
                <a16:creationId xmlns:a16="http://schemas.microsoft.com/office/drawing/2014/main" id="{47EA266F-71B3-4CA1-A5DB-0AD161C58FC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18197" y="5000625"/>
            <a:ext cx="95250" cy="95250"/>
          </a:xfrm>
          <a:prstGeom xmlns:a="http://schemas.openxmlformats.org/drawingml/2006/main" prst="diamond">
            <a:avLst/>
          </a:prstGeom>
          <a:solidFill xmlns:a="http://schemas.openxmlformats.org/drawingml/2006/main">
            <a:srgbClr val="111111"/>
          </a:solidFill>
          <a:ln xmlns:a="http://schemas.openxmlformats.org/drawingml/2006/main" w="0">
            <a:noFill/>
          </a:ln>
        </p:spPr>
        <p:txBody xmlns:a="http://schemas.openxmlformats.org/drawingml/2006/main">
          <a:bodyPr/>
          <a:p/>
        </p:txBody>
      </p:sp>
      <p:sp>
        <p:nvSpPr>
          <p:cNvPr id="119" name="Row rule 11">
            <a:extLst xmlns:a="http://schemas.openxmlformats.org/drawingml/2006/main">
              <a:ext uri="{FF2B5EF4-FFF2-40B4-BE49-F238E27FC236}">
                <a16:creationId xmlns:a16="http://schemas.microsoft.com/office/drawing/2014/main" id="{2A3CE56E-6CE3-4528-81A8-89A2F89C147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3850" y="5172075"/>
            <a:ext cx="115252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3">
            <a:solidFill>
              <a:srgbClr val="DADADA"/>
            </a:solidFill>
          </a:ln>
        </p:spPr>
        <p:txBody xmlns:a="http://schemas.openxmlformats.org/drawingml/2006/main">
          <a:bodyPr/>
          <a:p/>
        </p:txBody>
      </p:sp>
      <p:sp>
        <p:nvSpPr>
          <p:cNvPr id="120" name="Task 12">
            <a:extLst xmlns:a="http://schemas.openxmlformats.org/drawingml/2006/main">
              <a:ext uri="{FF2B5EF4-FFF2-40B4-BE49-F238E27FC236}">
                <a16:creationId xmlns:a16="http://schemas.microsoft.com/office/drawing/2014/main" id="{BF559E00-278D-4D0A-8649-053274B63C4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2425" y="5172075"/>
            <a:ext cx="4295775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38100" tIns="0" rIns="3810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defRPr sz="960" b="0">
                <a:solidFill>
                  <a:srgbClr val="111111"/>
                </a:solidFill>
                <a:latin typeface="Arial"/>
                <a:ea typeface="Arial"/>
                <a:cs typeface="Arial"/>
              </a:defRPr>
            </a:pPr>
            <a:r>
              <a:rPr sz="960" b="0">
                <a:solidFill>
                  <a:srgbClr val="111111"/>
                </a:solidFill>
                <a:latin typeface="Arial"/>
                <a:ea typeface="Arial"/>
                <a:cs typeface="Arial"/>
              </a:rPr>
              <a:t>14. Revise Stage 1 claims, figures and methods</a:t>
            </a:r>
          </a:p>
        </p:txBody>
      </p:sp>
      <p:sp>
        <p:nvSpPr>
          <p:cNvPr id="121" name="Status 12">
            <a:extLst xmlns:a="http://schemas.openxmlformats.org/drawingml/2006/main">
              <a:ext uri="{FF2B5EF4-FFF2-40B4-BE49-F238E27FC236}">
                <a16:creationId xmlns:a16="http://schemas.microsoft.com/office/drawing/2014/main" id="{37891DC7-8AB7-4698-AD03-D120A928E70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57725" y="5172075"/>
            <a:ext cx="8382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38100" tIns="0" rIns="3810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defRPr sz="848" b="0">
                <a:solidFill>
                  <a:srgbClr val="111111"/>
                </a:solidFill>
                <a:latin typeface="Arial"/>
                <a:ea typeface="Arial"/>
                <a:cs typeface="Arial"/>
              </a:defRPr>
            </a:pPr>
            <a:r>
              <a:rPr sz="848" b="0">
                <a:solidFill>
                  <a:srgbClr val="111111"/>
                </a:solidFill>
                <a:latin typeface="Arial"/>
                <a:ea typeface="Arial"/>
                <a:cs typeface="Arial"/>
              </a:rPr>
              <a:t>Planned</a:t>
            </a:r>
          </a:p>
        </p:txBody>
      </p:sp>
      <p:sp>
        <p:nvSpPr>
          <p:cNvPr id="122" name="Dates 12">
            <a:extLst xmlns:a="http://schemas.openxmlformats.org/drawingml/2006/main">
              <a:ext uri="{FF2B5EF4-FFF2-40B4-BE49-F238E27FC236}">
                <a16:creationId xmlns:a16="http://schemas.microsoft.com/office/drawing/2014/main" id="{703B7FED-9B04-4933-AB45-104E6597E58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95925" y="5172075"/>
            <a:ext cx="8572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38100" tIns="0" rIns="3810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defRPr sz="848" b="0">
                <a:solidFill>
                  <a:srgbClr val="111111"/>
                </a:solidFill>
                <a:latin typeface="Arial"/>
                <a:ea typeface="Arial"/>
                <a:cs typeface="Arial"/>
              </a:defRPr>
            </a:pPr>
            <a:r>
              <a:rPr sz="848" b="0">
                <a:solidFill>
                  <a:srgbClr val="111111"/>
                </a:solidFill>
                <a:latin typeface="Arial"/>
                <a:ea typeface="Arial"/>
                <a:cs typeface="Arial"/>
              </a:rPr>
              <a:t>10/8-10/11</a:t>
            </a:r>
          </a:p>
        </p:txBody>
      </p:sp>
      <p:sp>
        <p:nvSpPr>
          <p:cNvPr id="123" name="Week rule 12 2026-09-21">
            <a:extLst xmlns:a="http://schemas.openxmlformats.org/drawingml/2006/main">
              <a:ext uri="{FF2B5EF4-FFF2-40B4-BE49-F238E27FC236}">
                <a16:creationId xmlns:a16="http://schemas.microsoft.com/office/drawing/2014/main" id="{60657371-283F-4438-AD56-A95A1D3D77E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53175" y="5172075"/>
            <a:ext cx="0" cy="24765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3">
            <a:solidFill>
              <a:srgbClr val="DADADA"/>
            </a:solidFill>
          </a:ln>
        </p:spPr>
        <p:txBody xmlns:a="http://schemas.openxmlformats.org/drawingml/2006/main">
          <a:bodyPr/>
          <a:p/>
        </p:txBody>
      </p:sp>
      <p:sp>
        <p:nvSpPr>
          <p:cNvPr id="124" name="Week rule 12 2026-09-28">
            <a:extLst xmlns:a="http://schemas.openxmlformats.org/drawingml/2006/main">
              <a:ext uri="{FF2B5EF4-FFF2-40B4-BE49-F238E27FC236}">
                <a16:creationId xmlns:a16="http://schemas.microsoft.com/office/drawing/2014/main" id="{F1580A82-D362-4886-90A6-143B8836705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85150" y="5172075"/>
            <a:ext cx="0" cy="24765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3">
            <a:solidFill>
              <a:srgbClr val="DADADA"/>
            </a:solidFill>
          </a:ln>
        </p:spPr>
        <p:txBody xmlns:a="http://schemas.openxmlformats.org/drawingml/2006/main">
          <a:bodyPr/>
          <a:p/>
        </p:txBody>
      </p:sp>
      <p:sp>
        <p:nvSpPr>
          <p:cNvPr id="125" name="Week rule 12 2026-10-05">
            <a:extLst xmlns:a="http://schemas.openxmlformats.org/drawingml/2006/main">
              <a:ext uri="{FF2B5EF4-FFF2-40B4-BE49-F238E27FC236}">
                <a16:creationId xmlns:a16="http://schemas.microsoft.com/office/drawing/2014/main" id="{75010D56-582A-4987-993B-8076419F8EF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17125" y="5172075"/>
            <a:ext cx="0" cy="24765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3">
            <a:solidFill>
              <a:srgbClr val="DADADA"/>
            </a:solidFill>
          </a:ln>
        </p:spPr>
        <p:txBody xmlns:a="http://schemas.openxmlformats.org/drawingml/2006/main">
          <a:bodyPr/>
          <a:p/>
        </p:txBody>
      </p:sp>
      <p:sp>
        <p:nvSpPr>
          <p:cNvPr id="126" name="Bar 12 0">
            <a:extLst xmlns:a="http://schemas.openxmlformats.org/drawingml/2006/main">
              <a:ext uri="{FF2B5EF4-FFF2-40B4-BE49-F238E27FC236}">
                <a16:creationId xmlns:a16="http://schemas.microsoft.com/office/drawing/2014/main" id="{6763E3BC-FFDB-4A37-B9E3-C2F02A5B8AA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796451" y="5243513"/>
            <a:ext cx="1045028" cy="1047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7BEC4"/>
          </a:solidFill>
          <a:ln xmlns:a="http://schemas.openxmlformats.org/drawingml/2006/main" w="0">
            <a:noFill/>
          </a:ln>
        </p:spPr>
        <p:txBody xmlns:a="http://schemas.openxmlformats.org/drawingml/2006/main">
          <a:bodyPr/>
          <a:p/>
        </p:txBody>
      </p:sp>
      <p:sp>
        <p:nvSpPr>
          <p:cNvPr id="127" name="Row rule 12">
            <a:extLst xmlns:a="http://schemas.openxmlformats.org/drawingml/2006/main">
              <a:ext uri="{FF2B5EF4-FFF2-40B4-BE49-F238E27FC236}">
                <a16:creationId xmlns:a16="http://schemas.microsoft.com/office/drawing/2014/main" id="{FC37E477-43E0-49DA-A6D7-E91C30CB7AE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3850" y="5419725"/>
            <a:ext cx="115252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3">
            <a:solidFill>
              <a:srgbClr val="DADADA"/>
            </a:solidFill>
          </a:ln>
        </p:spPr>
        <p:txBody xmlns:a="http://schemas.openxmlformats.org/drawingml/2006/main">
          <a:bodyPr/>
          <a:p/>
        </p:txBody>
      </p:sp>
      <p:sp>
        <p:nvSpPr>
          <p:cNvPr id="128" name="Row tint 13">
            <a:extLst xmlns:a="http://schemas.openxmlformats.org/drawingml/2006/main">
              <a:ext uri="{FF2B5EF4-FFF2-40B4-BE49-F238E27FC236}">
                <a16:creationId xmlns:a16="http://schemas.microsoft.com/office/drawing/2014/main" id="{D1601F06-4425-4D17-B0B5-5F6DBA138A6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3850" y="5419725"/>
            <a:ext cx="11525250" cy="247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7F7F7"/>
          </a:solidFill>
          <a:ln xmlns:a="http://schemas.openxmlformats.org/drawingml/2006/main" w="0">
            <a:noFill/>
          </a:ln>
        </p:spPr>
        <p:txBody xmlns:a="http://schemas.openxmlformats.org/drawingml/2006/main">
          <a:bodyPr/>
          <a:p/>
        </p:txBody>
      </p:sp>
      <p:sp>
        <p:nvSpPr>
          <p:cNvPr id="129" name="Task 13">
            <a:extLst xmlns:a="http://schemas.openxmlformats.org/drawingml/2006/main">
              <a:ext uri="{FF2B5EF4-FFF2-40B4-BE49-F238E27FC236}">
                <a16:creationId xmlns:a16="http://schemas.microsoft.com/office/drawing/2014/main" id="{D2144D97-2F5D-46CF-934B-0C01A46EEFB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2425" y="5419725"/>
            <a:ext cx="4295775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38100" tIns="0" rIns="3810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defRPr sz="960" b="0">
                <a:solidFill>
                  <a:srgbClr val="111111"/>
                </a:solidFill>
                <a:latin typeface="Arial"/>
                <a:ea typeface="Arial"/>
                <a:cs typeface="Arial"/>
              </a:defRPr>
            </a:pPr>
            <a:r>
              <a:rPr sz="960" b="0">
                <a:solidFill>
                  <a:srgbClr val="111111"/>
                </a:solidFill>
                <a:latin typeface="Arial"/>
                <a:ea typeface="Arial"/>
                <a:cs typeface="Arial"/>
              </a:rPr>
              <a:t>15. Specify the next matched comparison</a:t>
            </a:r>
          </a:p>
        </p:txBody>
      </p:sp>
      <p:sp>
        <p:nvSpPr>
          <p:cNvPr id="130" name="Status 13">
            <a:extLst xmlns:a="http://schemas.openxmlformats.org/drawingml/2006/main">
              <a:ext uri="{FF2B5EF4-FFF2-40B4-BE49-F238E27FC236}">
                <a16:creationId xmlns:a16="http://schemas.microsoft.com/office/drawing/2014/main" id="{C66AA3FF-8332-41B1-941A-0E8CB291024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57725" y="5419725"/>
            <a:ext cx="8382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38100" tIns="0" rIns="3810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defRPr sz="848" b="0">
                <a:solidFill>
                  <a:srgbClr val="111111"/>
                </a:solidFill>
                <a:latin typeface="Arial"/>
                <a:ea typeface="Arial"/>
                <a:cs typeface="Arial"/>
              </a:defRPr>
            </a:pPr>
            <a:r>
              <a:rPr sz="848" b="0">
                <a:solidFill>
                  <a:srgbClr val="111111"/>
                </a:solidFill>
                <a:latin typeface="Arial"/>
                <a:ea typeface="Arial"/>
                <a:cs typeface="Arial"/>
              </a:rPr>
              <a:t>Planned</a:t>
            </a:r>
          </a:p>
        </p:txBody>
      </p:sp>
      <p:sp>
        <p:nvSpPr>
          <p:cNvPr id="131" name="Dates 13">
            <a:extLst xmlns:a="http://schemas.openxmlformats.org/drawingml/2006/main">
              <a:ext uri="{FF2B5EF4-FFF2-40B4-BE49-F238E27FC236}">
                <a16:creationId xmlns:a16="http://schemas.microsoft.com/office/drawing/2014/main" id="{6AB89CDE-9C3F-4B86-AC01-79F9022AEEF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95925" y="5419725"/>
            <a:ext cx="8572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38100" tIns="0" rIns="3810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defRPr sz="848" b="0">
                <a:solidFill>
                  <a:srgbClr val="111111"/>
                </a:solidFill>
                <a:latin typeface="Arial"/>
                <a:ea typeface="Arial"/>
                <a:cs typeface="Arial"/>
              </a:defRPr>
            </a:pPr>
            <a:r>
              <a:rPr sz="848" b="0">
                <a:solidFill>
                  <a:srgbClr val="111111"/>
                </a:solidFill>
                <a:latin typeface="Arial"/>
                <a:ea typeface="Arial"/>
                <a:cs typeface="Arial"/>
              </a:rPr>
              <a:t>10/8-10/11</a:t>
            </a:r>
          </a:p>
        </p:txBody>
      </p:sp>
      <p:sp>
        <p:nvSpPr>
          <p:cNvPr id="132" name="Week rule 13 2026-09-21">
            <a:extLst xmlns:a="http://schemas.openxmlformats.org/drawingml/2006/main">
              <a:ext uri="{FF2B5EF4-FFF2-40B4-BE49-F238E27FC236}">
                <a16:creationId xmlns:a16="http://schemas.microsoft.com/office/drawing/2014/main" id="{EE69BBB7-46C7-4D84-9FB7-0A6018C7B3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53175" y="5419725"/>
            <a:ext cx="0" cy="24765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3">
            <a:solidFill>
              <a:srgbClr val="DADADA"/>
            </a:solidFill>
          </a:ln>
        </p:spPr>
        <p:txBody xmlns:a="http://schemas.openxmlformats.org/drawingml/2006/main">
          <a:bodyPr/>
          <a:p/>
        </p:txBody>
      </p:sp>
      <p:sp>
        <p:nvSpPr>
          <p:cNvPr id="133" name="Week rule 13 2026-09-28">
            <a:extLst xmlns:a="http://schemas.openxmlformats.org/drawingml/2006/main">
              <a:ext uri="{FF2B5EF4-FFF2-40B4-BE49-F238E27FC236}">
                <a16:creationId xmlns:a16="http://schemas.microsoft.com/office/drawing/2014/main" id="{5F4621E9-77C7-43FD-911A-A32C8248BC9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85150" y="5419725"/>
            <a:ext cx="0" cy="24765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3">
            <a:solidFill>
              <a:srgbClr val="DADADA"/>
            </a:solidFill>
          </a:ln>
        </p:spPr>
        <p:txBody xmlns:a="http://schemas.openxmlformats.org/drawingml/2006/main">
          <a:bodyPr/>
          <a:p/>
        </p:txBody>
      </p:sp>
      <p:sp>
        <p:nvSpPr>
          <p:cNvPr id="134" name="Week rule 13 2026-10-05">
            <a:extLst xmlns:a="http://schemas.openxmlformats.org/drawingml/2006/main">
              <a:ext uri="{FF2B5EF4-FFF2-40B4-BE49-F238E27FC236}">
                <a16:creationId xmlns:a16="http://schemas.microsoft.com/office/drawing/2014/main" id="{E5894A6B-6340-417A-8A3D-6B6AEC534B4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17125" y="5419725"/>
            <a:ext cx="0" cy="24765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3">
            <a:solidFill>
              <a:srgbClr val="DADADA"/>
            </a:solidFill>
          </a:ln>
        </p:spPr>
        <p:txBody xmlns:a="http://schemas.openxmlformats.org/drawingml/2006/main">
          <a:bodyPr/>
          <a:p/>
        </p:txBody>
      </p:sp>
      <p:sp>
        <p:nvSpPr>
          <p:cNvPr id="135" name="Bar 13 0">
            <a:extLst xmlns:a="http://schemas.openxmlformats.org/drawingml/2006/main">
              <a:ext uri="{FF2B5EF4-FFF2-40B4-BE49-F238E27FC236}">
                <a16:creationId xmlns:a16="http://schemas.microsoft.com/office/drawing/2014/main" id="{949D4054-B953-433F-9A59-79AAFDB8D94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796451" y="5491163"/>
            <a:ext cx="1045028" cy="1047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7BEC4"/>
          </a:solidFill>
          <a:ln xmlns:a="http://schemas.openxmlformats.org/drawingml/2006/main" w="0">
            <a:noFill/>
          </a:ln>
        </p:spPr>
        <p:txBody xmlns:a="http://schemas.openxmlformats.org/drawingml/2006/main">
          <a:bodyPr/>
          <a:p/>
        </p:txBody>
      </p:sp>
      <p:sp>
        <p:nvSpPr>
          <p:cNvPr id="136" name="Row rule 13">
            <a:extLst xmlns:a="http://schemas.openxmlformats.org/drawingml/2006/main">
              <a:ext uri="{FF2B5EF4-FFF2-40B4-BE49-F238E27FC236}">
                <a16:creationId xmlns:a16="http://schemas.microsoft.com/office/drawing/2014/main" id="{56543474-FCE5-4015-BE33-62956D5D963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3850" y="5667375"/>
            <a:ext cx="115252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3">
            <a:solidFill>
              <a:srgbClr val="DADADA"/>
            </a:solidFill>
          </a:ln>
        </p:spPr>
        <p:txBody xmlns:a="http://schemas.openxmlformats.org/drawingml/2006/main">
          <a:bodyPr/>
          <a:p/>
        </p:txBody>
      </p:sp>
      <p:sp>
        <p:nvSpPr>
          <p:cNvPr id="137" name="Legend swatch Complete">
            <a:extLst xmlns:a="http://schemas.openxmlformats.org/drawingml/2006/main">
              <a:ext uri="{FF2B5EF4-FFF2-40B4-BE49-F238E27FC236}">
                <a16:creationId xmlns:a16="http://schemas.microsoft.com/office/drawing/2014/main" id="{FCE90F28-A2FB-4069-BC37-57612F1D125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3850" y="5943600"/>
            <a:ext cx="219075" cy="95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595959"/>
          </a:solidFill>
          <a:ln xmlns:a="http://schemas.openxmlformats.org/drawingml/2006/main" w="0">
            <a:noFill/>
          </a:ln>
        </p:spPr>
        <p:txBody xmlns:a="http://schemas.openxmlformats.org/drawingml/2006/main">
          <a:bodyPr/>
          <a:p/>
        </p:txBody>
      </p:sp>
      <p:sp>
        <p:nvSpPr>
          <p:cNvPr id="138" name="Legend Complete">
            <a:extLst xmlns:a="http://schemas.openxmlformats.org/drawingml/2006/main">
              <a:ext uri="{FF2B5EF4-FFF2-40B4-BE49-F238E27FC236}">
                <a16:creationId xmlns:a16="http://schemas.microsoft.com/office/drawing/2014/main" id="{D076AB04-93E1-4567-9A44-9F8FA8148C6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0075" y="5905500"/>
            <a:ext cx="1285875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38100" tIns="0" rIns="3810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defRPr sz="863" b="0">
                <a:solidFill>
                  <a:srgbClr val="111111"/>
                </a:solidFill>
                <a:latin typeface="Arial"/>
                <a:ea typeface="Arial"/>
                <a:cs typeface="Arial"/>
              </a:defRPr>
            </a:pPr>
            <a:r>
              <a:rPr sz="863" b="0">
                <a:solidFill>
                  <a:srgbClr val="111111"/>
                </a:solidFill>
                <a:latin typeface="Arial"/>
                <a:ea typeface="Arial"/>
                <a:cs typeface="Arial"/>
              </a:rPr>
              <a:t>Complete</a:t>
            </a:r>
          </a:p>
        </p:txBody>
      </p:sp>
      <p:sp>
        <p:nvSpPr>
          <p:cNvPr id="139" name="Legend swatch In progress">
            <a:extLst xmlns:a="http://schemas.openxmlformats.org/drawingml/2006/main">
              <a:ext uri="{FF2B5EF4-FFF2-40B4-BE49-F238E27FC236}">
                <a16:creationId xmlns:a16="http://schemas.microsoft.com/office/drawing/2014/main" id="{5B3A2664-3B7D-42E4-9320-2C98D06974F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914525" y="5943600"/>
            <a:ext cx="219075" cy="95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CA323"/>
          </a:solidFill>
          <a:ln xmlns:a="http://schemas.openxmlformats.org/drawingml/2006/main" w="0">
            <a:noFill/>
          </a:ln>
        </p:spPr>
        <p:txBody xmlns:a="http://schemas.openxmlformats.org/drawingml/2006/main">
          <a:bodyPr/>
          <a:p/>
        </p:txBody>
      </p:sp>
      <p:sp>
        <p:nvSpPr>
          <p:cNvPr id="140" name="Legend In progress">
            <a:extLst xmlns:a="http://schemas.openxmlformats.org/drawingml/2006/main">
              <a:ext uri="{FF2B5EF4-FFF2-40B4-BE49-F238E27FC236}">
                <a16:creationId xmlns:a16="http://schemas.microsoft.com/office/drawing/2014/main" id="{2CE459B6-DEB0-412E-A788-29AE066ED68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190750" y="5905500"/>
            <a:ext cx="1285875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38100" tIns="0" rIns="3810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defRPr sz="863" b="0">
                <a:solidFill>
                  <a:srgbClr val="111111"/>
                </a:solidFill>
                <a:latin typeface="Arial"/>
                <a:ea typeface="Arial"/>
                <a:cs typeface="Arial"/>
              </a:defRPr>
            </a:pPr>
            <a:r>
              <a:rPr sz="863" b="0">
                <a:solidFill>
                  <a:srgbClr val="111111"/>
                </a:solidFill>
                <a:latin typeface="Arial"/>
                <a:ea typeface="Arial"/>
                <a:cs typeface="Arial"/>
              </a:rPr>
              <a:t>In progress</a:t>
            </a:r>
          </a:p>
        </p:txBody>
      </p:sp>
      <p:sp>
        <p:nvSpPr>
          <p:cNvPr id="141" name="Legend swatch Planned">
            <a:extLst xmlns:a="http://schemas.openxmlformats.org/drawingml/2006/main">
              <a:ext uri="{FF2B5EF4-FFF2-40B4-BE49-F238E27FC236}">
                <a16:creationId xmlns:a16="http://schemas.microsoft.com/office/drawing/2014/main" id="{F27CCD18-5481-492E-A947-DE3F4EA9033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05200" y="5943600"/>
            <a:ext cx="219075" cy="95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7BEC4"/>
          </a:solidFill>
          <a:ln xmlns:a="http://schemas.openxmlformats.org/drawingml/2006/main" w="0">
            <a:noFill/>
          </a:ln>
        </p:spPr>
        <p:txBody xmlns:a="http://schemas.openxmlformats.org/drawingml/2006/main">
          <a:bodyPr/>
          <a:p/>
        </p:txBody>
      </p:sp>
      <p:sp>
        <p:nvSpPr>
          <p:cNvPr id="142" name="Legend Planned">
            <a:extLst xmlns:a="http://schemas.openxmlformats.org/drawingml/2006/main">
              <a:ext uri="{FF2B5EF4-FFF2-40B4-BE49-F238E27FC236}">
                <a16:creationId xmlns:a16="http://schemas.microsoft.com/office/drawing/2014/main" id="{947E6E90-5596-4D28-9E67-313BD839007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781425" y="5905500"/>
            <a:ext cx="1285875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38100" tIns="0" rIns="3810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defRPr sz="863" b="0">
                <a:solidFill>
                  <a:srgbClr val="111111"/>
                </a:solidFill>
                <a:latin typeface="Arial"/>
                <a:ea typeface="Arial"/>
                <a:cs typeface="Arial"/>
              </a:defRPr>
            </a:pPr>
            <a:r>
              <a:rPr sz="863" b="0">
                <a:solidFill>
                  <a:srgbClr val="111111"/>
                </a:solidFill>
                <a:latin typeface="Arial"/>
                <a:ea typeface="Arial"/>
                <a:cs typeface="Arial"/>
              </a:rPr>
              <a:t>Planned</a:t>
            </a:r>
          </a:p>
        </p:txBody>
      </p:sp>
      <p:sp>
        <p:nvSpPr>
          <p:cNvPr id="143" name="Legend swatch Conditional">
            <a:extLst xmlns:a="http://schemas.openxmlformats.org/drawingml/2006/main">
              <a:ext uri="{FF2B5EF4-FFF2-40B4-BE49-F238E27FC236}">
                <a16:creationId xmlns:a16="http://schemas.microsoft.com/office/drawing/2014/main" id="{AE4C3283-B933-4E72-82D8-51C158299DB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95875" y="5943600"/>
            <a:ext cx="219075" cy="95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666666"/>
            </a:solidFill>
          </a:ln>
        </p:spPr>
        <p:txBody xmlns:a="http://schemas.openxmlformats.org/drawingml/2006/main">
          <a:bodyPr/>
          <a:p/>
        </p:txBody>
      </p:sp>
      <p:sp>
        <p:nvSpPr>
          <p:cNvPr id="144" name="Legend Conditional">
            <a:extLst xmlns:a="http://schemas.openxmlformats.org/drawingml/2006/main">
              <a:ext uri="{FF2B5EF4-FFF2-40B4-BE49-F238E27FC236}">
                <a16:creationId xmlns:a16="http://schemas.microsoft.com/office/drawing/2014/main" id="{AB1CD595-7544-469F-8256-7FE6523E052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72100" y="5905500"/>
            <a:ext cx="1285875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38100" tIns="0" rIns="3810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defRPr sz="863" b="0">
                <a:solidFill>
                  <a:srgbClr val="111111"/>
                </a:solidFill>
                <a:latin typeface="Arial"/>
                <a:ea typeface="Arial"/>
                <a:cs typeface="Arial"/>
              </a:defRPr>
            </a:pPr>
            <a:r>
              <a:rPr sz="863" b="0">
                <a:solidFill>
                  <a:srgbClr val="111111"/>
                </a:solidFill>
                <a:latin typeface="Arial"/>
                <a:ea typeface="Arial"/>
                <a:cs typeface="Arial"/>
              </a:rPr>
              <a:t>Conditional</a:t>
            </a:r>
          </a:p>
        </p:txBody>
      </p:sp>
      <p:sp>
        <p:nvSpPr>
          <p:cNvPr id="145" name="Milestone legend">
            <a:extLst xmlns:a="http://schemas.openxmlformats.org/drawingml/2006/main">
              <a:ext uri="{FF2B5EF4-FFF2-40B4-BE49-F238E27FC236}">
                <a16:creationId xmlns:a16="http://schemas.microsoft.com/office/drawing/2014/main" id="{E688A77E-3C7B-4566-96A9-B26A9972D4D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43725" y="5943600"/>
            <a:ext cx="95250" cy="95250"/>
          </a:xfrm>
          <a:prstGeom xmlns:a="http://schemas.openxmlformats.org/drawingml/2006/main" prst="diamond">
            <a:avLst/>
          </a:prstGeom>
          <a:solidFill xmlns:a="http://schemas.openxmlformats.org/drawingml/2006/main">
            <a:srgbClr val="111111"/>
          </a:solidFill>
          <a:ln xmlns:a="http://schemas.openxmlformats.org/drawingml/2006/main" w="0">
            <a:noFill/>
          </a:ln>
        </p:spPr>
        <p:txBody xmlns:a="http://schemas.openxmlformats.org/drawingml/2006/main">
          <a:bodyPr/>
          <a:p/>
        </p:txBody>
      </p:sp>
      <p:sp>
        <p:nvSpPr>
          <p:cNvPr id="146" name="Milestone legend text">
            <a:extLst xmlns:a="http://schemas.openxmlformats.org/drawingml/2006/main">
              <a:ext uri="{FF2B5EF4-FFF2-40B4-BE49-F238E27FC236}">
                <a16:creationId xmlns:a16="http://schemas.microsoft.com/office/drawing/2014/main" id="{F49CABAD-7A27-4C75-9F18-5C4D2A6AA65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86600" y="5905500"/>
            <a:ext cx="17145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38100" tIns="0" rIns="3810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defRPr sz="863" b="0">
                <a:solidFill>
                  <a:srgbClr val="111111"/>
                </a:solidFill>
                <a:latin typeface="Arial"/>
                <a:ea typeface="Arial"/>
                <a:cs typeface="Arial"/>
              </a:defRPr>
            </a:pPr>
            <a:r>
              <a:rPr sz="863" b="0">
                <a:solidFill>
                  <a:srgbClr val="111111"/>
                </a:solidFill>
                <a:latin typeface="Arial"/>
                <a:ea typeface="Arial"/>
                <a:cs typeface="Arial"/>
              </a:rPr>
              <a:t>Milestone / deadline</a:t>
            </a:r>
          </a:p>
        </p:txBody>
      </p:sp>
      <p:sp>
        <p:nvSpPr>
          <p:cNvPr id="147" name="Date stamp">
            <a:extLst xmlns:a="http://schemas.openxmlformats.org/drawingml/2006/main">
              <a:ext uri="{FF2B5EF4-FFF2-40B4-BE49-F238E27FC236}">
                <a16:creationId xmlns:a16="http://schemas.microsoft.com/office/drawing/2014/main" id="{F3EF7702-B48F-4E8E-83A9-E0D9E8DFB1D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810750" y="5905500"/>
            <a:ext cx="2000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38100" tIns="0" rIns="38100" bIns="0" anchor="ctr">
            <a:noAutofit/>
          </a:bodyPr>
          <a:lstStyle xmlns:a="http://schemas.openxmlformats.org/drawingml/2006/main"/>
          <a:p xmlns:a="http://schemas.openxmlformats.org/drawingml/2006/main">
            <a:pPr algn="r">
              <a:defRPr sz="863" b="0">
                <a:solidFill>
                  <a:srgbClr val="111111"/>
                </a:solidFill>
                <a:latin typeface="Arial"/>
                <a:ea typeface="Arial"/>
                <a:cs typeface="Arial"/>
              </a:defRPr>
            </a:pPr>
            <a:r>
              <a:rPr sz="863" b="0">
                <a:solidFill>
                  <a:srgbClr val="111111"/>
                </a:solidFill>
                <a:latin typeface="Arial"/>
                <a:ea typeface="Arial"/>
                <a:cs typeface="Arial"/>
              </a:rPr>
              <a:t>As of Oct 15, 2026</a:t>
            </a:r>
          </a:p>
        </p:txBody>
      </p:sp>
      <p:sp>
        <p:nvSpPr>
          <p:cNvPr id="148" name="Footer 1">
            <a:extLst xmlns:a="http://schemas.openxmlformats.org/drawingml/2006/main">
              <a:ext uri="{FF2B5EF4-FFF2-40B4-BE49-F238E27FC236}">
                <a16:creationId xmlns:a16="http://schemas.microsoft.com/office/drawing/2014/main" id="{02C19714-DA7F-465F-8155-55B3AC82B7B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3850" y="6238875"/>
            <a:ext cx="11525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38100" tIns="0" rIns="3810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defRPr sz="900" b="0">
                <a:solidFill>
                  <a:srgbClr val="222222"/>
                </a:solidFill>
                <a:latin typeface="Arial"/>
                <a:ea typeface="Arial"/>
                <a:cs typeface="Arial"/>
              </a:defRPr>
            </a:pPr>
            <a:r>
              <a:rPr sz="900" b="0">
                <a:solidFill>
                  <a:srgbClr val="222222"/>
                </a:solidFill>
                <a:latin typeface="Arial"/>
                <a:ea typeface="Arial"/>
                <a:cs typeface="Arial"/>
              </a:rPr>
              <a:t>October 7 milestone: agree what alignment means for this study, how to measure it, and the first Stage 3 fusion comparison.</a:t>
            </a:r>
          </a:p>
        </p:txBody>
      </p:sp>
      <p:sp>
        <p:nvSpPr>
          <p:cNvPr id="149" name="Footer 2">
            <a:extLst xmlns:a="http://schemas.openxmlformats.org/drawingml/2006/main">
              <a:ext uri="{FF2B5EF4-FFF2-40B4-BE49-F238E27FC236}">
                <a16:creationId xmlns:a16="http://schemas.microsoft.com/office/drawing/2014/main" id="{4A68017A-A952-4625-BCAE-87EA9750F18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3850" y="6515100"/>
            <a:ext cx="1128712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38100" tIns="0" rIns="3810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defRPr sz="840" b="0">
                <a:solidFill>
                  <a:srgbClr val="444444"/>
                </a:solidFill>
                <a:latin typeface="Arial"/>
                <a:ea typeface="Arial"/>
                <a:cs typeface="Arial"/>
              </a:defRPr>
            </a:pPr>
            <a:r>
              <a:rPr sz="840" b="0">
                <a:solidFill>
                  <a:srgbClr val="444444"/>
                </a:solidFill>
                <a:latin typeface="Arial"/>
                <a:ea typeface="Arial"/>
                <a:cs typeface="Arial"/>
              </a:rPr>
              <a:t>The following week is reserved for feedback and corrections. Continued study informs the experiments and manuscript.</a:t>
            </a:r>
          </a:p>
        </p:txBody>
      </p:sp>
      <p:sp>
        <p:nvSpPr>
          <p:cNvPr id="150" name="Page">
            <a:extLst xmlns:a="http://schemas.openxmlformats.org/drawingml/2006/main">
              <a:ext uri="{FF2B5EF4-FFF2-40B4-BE49-F238E27FC236}">
                <a16:creationId xmlns:a16="http://schemas.microsoft.com/office/drawing/2014/main" id="{577AFB4D-4F1B-496A-ACFE-8DD2EB7C937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620500" y="6600825"/>
            <a:ext cx="228600" cy="1619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38100" tIns="0" rIns="38100" bIns="0" anchor="ctr">
            <a:noAutofit/>
          </a:bodyPr>
          <a:lstStyle xmlns:a="http://schemas.openxmlformats.org/drawingml/2006/main"/>
          <a:p xmlns:a="http://schemas.openxmlformats.org/drawingml/2006/main">
            <a:pPr algn="r">
              <a:defRPr sz="750" b="0">
                <a:solidFill>
                  <a:srgbClr val="111111"/>
                </a:solidFill>
                <a:latin typeface="Arial"/>
                <a:ea typeface="Arial"/>
                <a:cs typeface="Arial"/>
              </a:defRPr>
            </a:pPr>
            <a:r>
              <a:rPr sz="750" b="0">
                <a:solidFill>
                  <a:srgbClr val="111111"/>
                </a:solidFill>
                <a:latin typeface="Arial"/>
                <a:ea typeface="Arial"/>
                <a:cs typeface="Arial"/>
              </a:rPr>
              <a:t>2</a:t>
            </a:r>
          </a:p>
        </p:txBody>
      </p:sp>
    </p:spTree>
    <p:extLst>
      <p:ext uri="{BB962C8B-B14F-4D97-AF65-F5344CB8AC3E}">
        <p14:creationId xmlns:p14="http://schemas.microsoft.com/office/powerpoint/2010/main" val="2002400925"/>
      </p:ext>
    </p:extLst>
  </p:cSld>
</p:sld>
</file>

<file path=ppt/slides/slide3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24" name="Title">
            <a:extLst xmlns:a="http://schemas.openxmlformats.org/drawingml/2006/main">
              <a:ext uri="{FF2B5EF4-FFF2-40B4-BE49-F238E27FC236}">
                <a16:creationId xmlns:a16="http://schemas.microsoft.com/office/drawing/2014/main" id="{90513592-B61D-466C-9272-5F4435169BE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5750" y="161925"/>
            <a:ext cx="116014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38100" tIns="0" rIns="3810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defRPr sz="2100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pPr>
            <a:r>
              <a:rPr sz="2100" b="1">
                <a:solidFill>
                  <a:srgbClr val="111111"/>
                </a:solidFill>
                <a:latin typeface="Arial"/>
                <a:ea typeface="Arial"/>
                <a:cs typeface="Arial"/>
              </a:rPr>
              <a:t>Stages 3 and 4 | Fusion Experiments, Evaluation and Revision</a:t>
            </a:r>
          </a:p>
        </p:txBody>
      </p:sp>
      <p:sp>
        <p:nvSpPr>
          <p:cNvPr id="2" name="Subtitle">
            <a:extLst xmlns:a="http://schemas.openxmlformats.org/drawingml/2006/main">
              <a:ext uri="{FF2B5EF4-FFF2-40B4-BE49-F238E27FC236}">
                <a16:creationId xmlns:a16="http://schemas.microsoft.com/office/drawing/2014/main" id="{637ED397-6B14-47AD-A8CF-07F20FB6C3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5750" y="581025"/>
            <a:ext cx="116014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38100" tIns="0" rIns="3810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111111"/>
                </a:solidFill>
                <a:latin typeface="Arial"/>
                <a:ea typeface="Arial"/>
                <a:cs typeface="Arial"/>
              </a:defRPr>
            </a:pPr>
            <a:r>
              <a:rPr sz="1050" b="0">
                <a:solidFill>
                  <a:srgbClr val="111111"/>
                </a:solidFill>
                <a:latin typeface="Arial"/>
                <a:ea typeface="Arial"/>
                <a:cs typeface="Arial"/>
              </a:rPr>
              <a:t>Comparison schedule with the research plan first: its baselines, control and datasets, then the project's fusion designs from January.</a:t>
            </a:r>
          </a:p>
        </p:txBody>
      </p:sp>
      <p:sp>
        <p:nvSpPr>
          <p:cNvPr id="3" name="Column header">
            <a:extLst xmlns:a="http://schemas.openxmlformats.org/drawingml/2006/main">
              <a:ext uri="{FF2B5EF4-FFF2-40B4-BE49-F238E27FC236}">
                <a16:creationId xmlns:a16="http://schemas.microsoft.com/office/drawing/2014/main" id="{698B6E1D-B398-4E30-BAEB-882792CE42E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3850" y="990600"/>
            <a:ext cx="11525250" cy="2952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4D4"/>
          </a:solidFill>
          <a:ln xmlns:a="http://schemas.openxmlformats.org/drawingml/2006/main" w="0">
            <a:noFill/>
          </a:ln>
        </p:spPr>
        <p:txBody xmlns:a="http://schemas.openxmlformats.org/drawingml/2006/main">
          <a:bodyPr/>
          <a:p/>
        </p:txBody>
      </p:sp>
      <p:sp>
        <p:nvSpPr>
          <p:cNvPr id="4" name="Task header">
            <a:extLst xmlns:a="http://schemas.openxmlformats.org/drawingml/2006/main">
              <a:ext uri="{FF2B5EF4-FFF2-40B4-BE49-F238E27FC236}">
                <a16:creationId xmlns:a16="http://schemas.microsoft.com/office/drawing/2014/main" id="{4BAD35A8-80AB-46B0-ACE7-11C42299B11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3850" y="990600"/>
            <a:ext cx="4333875" cy="2952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38100" tIns="0" rIns="3810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pPr>
            <a:r>
              <a:rPr sz="1050" b="1">
                <a:solidFill>
                  <a:srgbClr val="111111"/>
                </a:solidFill>
                <a:latin typeface="Arial"/>
                <a:ea typeface="Arial"/>
                <a:cs typeface="Arial"/>
              </a:rPr>
              <a:t>Task / research outcome</a:t>
            </a:r>
          </a:p>
        </p:txBody>
      </p:sp>
      <p:sp>
        <p:nvSpPr>
          <p:cNvPr id="5" name="Status header">
            <a:extLst xmlns:a="http://schemas.openxmlformats.org/drawingml/2006/main">
              <a:ext uri="{FF2B5EF4-FFF2-40B4-BE49-F238E27FC236}">
                <a16:creationId xmlns:a16="http://schemas.microsoft.com/office/drawing/2014/main" id="{6C80C196-45B7-404D-A8DF-A6EE829D13A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57725" y="990600"/>
            <a:ext cx="838200" cy="2952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38100" tIns="0" rIns="3810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defRPr sz="900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pPr>
            <a:r>
              <a:rPr sz="900" b="1">
                <a:solidFill>
                  <a:srgbClr val="111111"/>
                </a:solidFill>
                <a:latin typeface="Arial"/>
                <a:ea typeface="Arial"/>
                <a:cs typeface="Arial"/>
              </a:rPr>
              <a:t>Status</a:t>
            </a:r>
          </a:p>
        </p:txBody>
      </p:sp>
      <p:sp>
        <p:nvSpPr>
          <p:cNvPr id="6" name="Date header">
            <a:extLst xmlns:a="http://schemas.openxmlformats.org/drawingml/2006/main">
              <a:ext uri="{FF2B5EF4-FFF2-40B4-BE49-F238E27FC236}">
                <a16:creationId xmlns:a16="http://schemas.microsoft.com/office/drawing/2014/main" id="{0BF201B5-FB6C-4E0B-9ECD-C5F907DB534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95925" y="990600"/>
            <a:ext cx="857250" cy="2952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38100" tIns="0" rIns="3810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defRPr sz="900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pPr>
            <a:r>
              <a:rPr sz="900" b="1">
                <a:solidFill>
                  <a:srgbClr val="111111"/>
                </a:solidFill>
                <a:latin typeface="Arial"/>
                <a:ea typeface="Arial"/>
                <a:cs typeface="Arial"/>
              </a:rPr>
              <a:t>Dates</a:t>
            </a:r>
          </a:p>
        </p:txBody>
      </p:sp>
      <p:sp>
        <p:nvSpPr>
          <p:cNvPr id="210" name="Legend swatch Complete">
            <a:extLst xmlns:a="http://schemas.openxmlformats.org/drawingml/2006/main">
              <a:ext uri="{FF2B5EF4-FFF2-40B4-BE49-F238E27FC236}">
                <a16:creationId xmlns:a16="http://schemas.microsoft.com/office/drawing/2014/main" id="{D2B5D12F-9C2A-4896-A2A5-865E50DC831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3850" y="5943600"/>
            <a:ext cx="219075" cy="95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595959"/>
          </a:solidFill>
          <a:ln xmlns:a="http://schemas.openxmlformats.org/drawingml/2006/main" w="0">
            <a:noFill/>
          </a:ln>
        </p:spPr>
        <p:txBody xmlns:a="http://schemas.openxmlformats.org/drawingml/2006/main">
          <a:bodyPr/>
          <a:p/>
        </p:txBody>
      </p:sp>
      <p:sp>
        <p:nvSpPr>
          <p:cNvPr id="211" name="Legend Complete">
            <a:extLst xmlns:a="http://schemas.openxmlformats.org/drawingml/2006/main">
              <a:ext uri="{FF2B5EF4-FFF2-40B4-BE49-F238E27FC236}">
                <a16:creationId xmlns:a16="http://schemas.microsoft.com/office/drawing/2014/main" id="{8A3F67C0-6065-4174-A593-9A2207A727C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0075" y="5905500"/>
            <a:ext cx="1285875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38100" tIns="0" rIns="3810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defRPr sz="863" b="0">
                <a:solidFill>
                  <a:srgbClr val="111111"/>
                </a:solidFill>
                <a:latin typeface="Arial"/>
                <a:ea typeface="Arial"/>
                <a:cs typeface="Arial"/>
              </a:defRPr>
            </a:pPr>
            <a:r>
              <a:rPr sz="863" b="0">
                <a:solidFill>
                  <a:srgbClr val="111111"/>
                </a:solidFill>
                <a:latin typeface="Arial"/>
                <a:ea typeface="Arial"/>
                <a:cs typeface="Arial"/>
              </a:rPr>
              <a:t>Complete</a:t>
            </a:r>
          </a:p>
        </p:txBody>
      </p:sp>
      <p:sp>
        <p:nvSpPr>
          <p:cNvPr id="212" name="Legend swatch In progress">
            <a:extLst xmlns:a="http://schemas.openxmlformats.org/drawingml/2006/main">
              <a:ext uri="{FF2B5EF4-FFF2-40B4-BE49-F238E27FC236}">
                <a16:creationId xmlns:a16="http://schemas.microsoft.com/office/drawing/2014/main" id="{7202B8DF-008E-47F8-94D1-14EBF93CAC3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914525" y="5943600"/>
            <a:ext cx="219075" cy="95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CA323"/>
          </a:solidFill>
          <a:ln xmlns:a="http://schemas.openxmlformats.org/drawingml/2006/main" w="0">
            <a:noFill/>
          </a:ln>
        </p:spPr>
        <p:txBody xmlns:a="http://schemas.openxmlformats.org/drawingml/2006/main">
          <a:bodyPr/>
          <a:p/>
        </p:txBody>
      </p:sp>
      <p:sp>
        <p:nvSpPr>
          <p:cNvPr id="213" name="Legend In progress">
            <a:extLst xmlns:a="http://schemas.openxmlformats.org/drawingml/2006/main">
              <a:ext uri="{FF2B5EF4-FFF2-40B4-BE49-F238E27FC236}">
                <a16:creationId xmlns:a16="http://schemas.microsoft.com/office/drawing/2014/main" id="{CC1F3AE9-9636-4CD1-BB3F-D896E5C1309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190750" y="5905500"/>
            <a:ext cx="1285875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38100" tIns="0" rIns="3810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defRPr sz="863" b="0">
                <a:solidFill>
                  <a:srgbClr val="111111"/>
                </a:solidFill>
                <a:latin typeface="Arial"/>
                <a:ea typeface="Arial"/>
                <a:cs typeface="Arial"/>
              </a:defRPr>
            </a:pPr>
            <a:r>
              <a:rPr sz="863" b="0">
                <a:solidFill>
                  <a:srgbClr val="111111"/>
                </a:solidFill>
                <a:latin typeface="Arial"/>
                <a:ea typeface="Arial"/>
                <a:cs typeface="Arial"/>
              </a:rPr>
              <a:t>In progress</a:t>
            </a:r>
          </a:p>
        </p:txBody>
      </p:sp>
      <p:sp>
        <p:nvSpPr>
          <p:cNvPr id="214" name="Legend swatch Planned">
            <a:extLst xmlns:a="http://schemas.openxmlformats.org/drawingml/2006/main">
              <a:ext uri="{FF2B5EF4-FFF2-40B4-BE49-F238E27FC236}">
                <a16:creationId xmlns:a16="http://schemas.microsoft.com/office/drawing/2014/main" id="{83A4B281-1096-49EF-905E-0EB458D871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05200" y="5943600"/>
            <a:ext cx="219075" cy="95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7BEC4"/>
          </a:solidFill>
          <a:ln xmlns:a="http://schemas.openxmlformats.org/drawingml/2006/main" w="0">
            <a:noFill/>
          </a:ln>
        </p:spPr>
        <p:txBody xmlns:a="http://schemas.openxmlformats.org/drawingml/2006/main">
          <a:bodyPr/>
          <a:p/>
        </p:txBody>
      </p:sp>
      <p:sp>
        <p:nvSpPr>
          <p:cNvPr id="215" name="Legend Planned">
            <a:extLst xmlns:a="http://schemas.openxmlformats.org/drawingml/2006/main">
              <a:ext uri="{FF2B5EF4-FFF2-40B4-BE49-F238E27FC236}">
                <a16:creationId xmlns:a16="http://schemas.microsoft.com/office/drawing/2014/main" id="{5EA9DE9D-EBD8-44E6-A82E-900FB6D10DA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781425" y="5905500"/>
            <a:ext cx="1285875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38100" tIns="0" rIns="3810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defRPr sz="863" b="0">
                <a:solidFill>
                  <a:srgbClr val="111111"/>
                </a:solidFill>
                <a:latin typeface="Arial"/>
                <a:ea typeface="Arial"/>
                <a:cs typeface="Arial"/>
              </a:defRPr>
            </a:pPr>
            <a:r>
              <a:rPr sz="863" b="0">
                <a:solidFill>
                  <a:srgbClr val="111111"/>
                </a:solidFill>
                <a:latin typeface="Arial"/>
                <a:ea typeface="Arial"/>
                <a:cs typeface="Arial"/>
              </a:rPr>
              <a:t>Planned</a:t>
            </a:r>
          </a:p>
        </p:txBody>
      </p:sp>
      <p:sp>
        <p:nvSpPr>
          <p:cNvPr id="216" name="Legend swatch Conditional">
            <a:extLst xmlns:a="http://schemas.openxmlformats.org/drawingml/2006/main">
              <a:ext uri="{FF2B5EF4-FFF2-40B4-BE49-F238E27FC236}">
                <a16:creationId xmlns:a16="http://schemas.microsoft.com/office/drawing/2014/main" id="{0C0E0BF3-7E42-41E4-A1A4-F48A6904904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95875" y="5943600"/>
            <a:ext cx="219075" cy="95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666666"/>
            </a:solidFill>
          </a:ln>
        </p:spPr>
        <p:txBody xmlns:a="http://schemas.openxmlformats.org/drawingml/2006/main">
          <a:bodyPr/>
          <a:p/>
        </p:txBody>
      </p:sp>
      <p:sp>
        <p:nvSpPr>
          <p:cNvPr id="217" name="Legend Conditional">
            <a:extLst xmlns:a="http://schemas.openxmlformats.org/drawingml/2006/main">
              <a:ext uri="{FF2B5EF4-FFF2-40B4-BE49-F238E27FC236}">
                <a16:creationId xmlns:a16="http://schemas.microsoft.com/office/drawing/2014/main" id="{4AC8451C-4FA9-4D69-B7F6-79A70224AA7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72100" y="5905500"/>
            <a:ext cx="1285875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38100" tIns="0" rIns="3810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defRPr sz="863" b="0">
                <a:solidFill>
                  <a:srgbClr val="111111"/>
                </a:solidFill>
                <a:latin typeface="Arial"/>
                <a:ea typeface="Arial"/>
                <a:cs typeface="Arial"/>
              </a:defRPr>
            </a:pPr>
            <a:r>
              <a:rPr sz="863" b="0">
                <a:solidFill>
                  <a:srgbClr val="111111"/>
                </a:solidFill>
                <a:latin typeface="Arial"/>
                <a:ea typeface="Arial"/>
                <a:cs typeface="Arial"/>
              </a:rPr>
              <a:t>Conditional</a:t>
            </a:r>
          </a:p>
        </p:txBody>
      </p:sp>
      <p:sp>
        <p:nvSpPr>
          <p:cNvPr id="218" name="Milestone legend">
            <a:extLst xmlns:a="http://schemas.openxmlformats.org/drawingml/2006/main">
              <a:ext uri="{FF2B5EF4-FFF2-40B4-BE49-F238E27FC236}">
                <a16:creationId xmlns:a16="http://schemas.microsoft.com/office/drawing/2014/main" id="{F4198B37-7CBF-4DA8-8040-BD432690565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43725" y="5943600"/>
            <a:ext cx="95250" cy="95250"/>
          </a:xfrm>
          <a:prstGeom xmlns:a="http://schemas.openxmlformats.org/drawingml/2006/main" prst="diamond">
            <a:avLst/>
          </a:prstGeom>
          <a:solidFill xmlns:a="http://schemas.openxmlformats.org/drawingml/2006/main">
            <a:srgbClr val="111111"/>
          </a:solidFill>
          <a:ln xmlns:a="http://schemas.openxmlformats.org/drawingml/2006/main" w="0">
            <a:noFill/>
          </a:ln>
        </p:spPr>
        <p:txBody xmlns:a="http://schemas.openxmlformats.org/drawingml/2006/main">
          <a:bodyPr/>
          <a:p/>
        </p:txBody>
      </p:sp>
      <p:sp>
        <p:nvSpPr>
          <p:cNvPr id="219" name="Milestone legend text">
            <a:extLst xmlns:a="http://schemas.openxmlformats.org/drawingml/2006/main">
              <a:ext uri="{FF2B5EF4-FFF2-40B4-BE49-F238E27FC236}">
                <a16:creationId xmlns:a16="http://schemas.microsoft.com/office/drawing/2014/main" id="{C67AF67B-2431-48DD-921B-AC661E1D152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86600" y="5905500"/>
            <a:ext cx="17145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38100" tIns="0" rIns="3810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defRPr sz="863" b="0">
                <a:solidFill>
                  <a:srgbClr val="111111"/>
                </a:solidFill>
                <a:latin typeface="Arial"/>
                <a:ea typeface="Arial"/>
                <a:cs typeface="Arial"/>
              </a:defRPr>
            </a:pPr>
            <a:r>
              <a:rPr sz="863" b="0">
                <a:solidFill>
                  <a:srgbClr val="111111"/>
                </a:solidFill>
                <a:latin typeface="Arial"/>
                <a:ea typeface="Arial"/>
                <a:cs typeface="Arial"/>
              </a:rPr>
              <a:t>Milestone / deadline</a:t>
            </a:r>
          </a:p>
        </p:txBody>
      </p:sp>
      <p:sp>
        <p:nvSpPr>
          <p:cNvPr id="220" name="Date stamp">
            <a:extLst xmlns:a="http://schemas.openxmlformats.org/drawingml/2006/main">
              <a:ext uri="{FF2B5EF4-FFF2-40B4-BE49-F238E27FC236}">
                <a16:creationId xmlns:a16="http://schemas.microsoft.com/office/drawing/2014/main" id="{8DA0DB20-034D-40CC-AD91-18F8F4FA200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810750" y="5905500"/>
            <a:ext cx="2000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38100" tIns="0" rIns="38100" bIns="0" anchor="ctr">
            <a:noAutofit/>
          </a:bodyPr>
          <a:lstStyle xmlns:a="http://schemas.openxmlformats.org/drawingml/2006/main"/>
          <a:p xmlns:a="http://schemas.openxmlformats.org/drawingml/2006/main">
            <a:pPr algn="r">
              <a:defRPr sz="863" b="0">
                <a:solidFill>
                  <a:srgbClr val="111111"/>
                </a:solidFill>
                <a:latin typeface="Arial"/>
                <a:ea typeface="Arial"/>
                <a:cs typeface="Arial"/>
              </a:defRPr>
            </a:pPr>
            <a:r>
              <a:rPr sz="863" b="0">
                <a:solidFill>
                  <a:srgbClr val="111111"/>
                </a:solidFill>
                <a:latin typeface="Arial"/>
                <a:ea typeface="Arial"/>
                <a:cs typeface="Arial"/>
              </a:rPr>
              <a:t>As of Oct 15, 2026</a:t>
            </a:r>
          </a:p>
        </p:txBody>
      </p:sp>
      <p:sp>
        <p:nvSpPr>
          <p:cNvPr id="221" name="Footer 1">
            <a:extLst xmlns:a="http://schemas.openxmlformats.org/drawingml/2006/main">
              <a:ext uri="{FF2B5EF4-FFF2-40B4-BE49-F238E27FC236}">
                <a16:creationId xmlns:a16="http://schemas.microsoft.com/office/drawing/2014/main" id="{4265C70D-72FB-4FD2-B93A-59B01BEEFF5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3850" y="6238875"/>
            <a:ext cx="11525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38100" tIns="0" rIns="3810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defRPr sz="900" b="0">
                <a:solidFill>
                  <a:srgbClr val="222222"/>
                </a:solidFill>
                <a:latin typeface="Arial"/>
                <a:ea typeface="Arial"/>
                <a:cs typeface="Arial"/>
              </a:defRPr>
            </a:pPr>
            <a:r>
              <a:rPr sz="900" b="0">
                <a:solidFill>
                  <a:srgbClr val="222222"/>
                </a:solidFill>
                <a:latin typeface="Arial"/>
                <a:ea typeface="Arial"/>
                <a:cs typeface="Arial"/>
              </a:rPr>
              <a:t>Each comparison includes implementation, controlled runs, interpretation, revision and an update to the manuscript.</a:t>
            </a:r>
          </a:p>
        </p:txBody>
      </p:sp>
      <p:sp>
        <p:nvSpPr>
          <p:cNvPr id="222" name="Footer 2">
            <a:extLst xmlns:a="http://schemas.openxmlformats.org/drawingml/2006/main">
              <a:ext uri="{FF2B5EF4-FFF2-40B4-BE49-F238E27FC236}">
                <a16:creationId xmlns:a16="http://schemas.microsoft.com/office/drawing/2014/main" id="{C14B75ED-B014-48D5-ADA0-A3F91BB26AE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3850" y="6515100"/>
            <a:ext cx="1128712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38100" tIns="0" rIns="3810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defRPr sz="840" b="0">
                <a:solidFill>
                  <a:srgbClr val="444444"/>
                </a:solidFill>
                <a:latin typeface="Arial"/>
                <a:ea typeface="Arial"/>
                <a:cs typeface="Arial"/>
              </a:defRPr>
            </a:pPr>
            <a:r>
              <a:rPr sz="840" b="0">
                <a:solidFill>
                  <a:srgbClr val="444444"/>
                </a:solidFill>
                <a:latin typeface="Arial"/>
                <a:ea typeface="Arial"/>
                <a:cs typeface="Arial"/>
              </a:rPr>
              <a:t>AI assistance: OpenAI Codex helped organize this plan; Claude assisted with the DNA-scope revision and the October status updates. Dates and task descriptions were checked against course materials and project notes.</a:t>
            </a:r>
          </a:p>
        </p:txBody>
      </p:sp>
      <p:sp>
        <p:nvSpPr>
          <p:cNvPr id="223" name="Page">
            <a:extLst xmlns:a="http://schemas.openxmlformats.org/drawingml/2006/main">
              <a:ext uri="{FF2B5EF4-FFF2-40B4-BE49-F238E27FC236}">
                <a16:creationId xmlns:a16="http://schemas.microsoft.com/office/drawing/2014/main" id="{9F0B9AB2-7FC2-4CBC-B806-3DE074FE54B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620500" y="6600825"/>
            <a:ext cx="228600" cy="1619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38100" tIns="0" rIns="38100" bIns="0" anchor="ctr">
            <a:noAutofit/>
          </a:bodyPr>
          <a:lstStyle xmlns:a="http://schemas.openxmlformats.org/drawingml/2006/main"/>
          <a:p xmlns:a="http://schemas.openxmlformats.org/drawingml/2006/main">
            <a:pPr algn="r">
              <a:defRPr sz="750" b="0">
                <a:solidFill>
                  <a:srgbClr val="111111"/>
                </a:solidFill>
                <a:latin typeface="Arial"/>
                <a:ea typeface="Arial"/>
                <a:cs typeface="Arial"/>
              </a:defRPr>
            </a:pPr>
            <a:r>
              <a:rPr sz="750" b="0">
                <a:solidFill>
                  <a:srgbClr val="111111"/>
                </a:solidFill>
                <a:latin typeface="Arial"/>
                <a:ea typeface="Arial"/>
                <a:cs typeface="Arial"/>
              </a:rPr>
              <a:t>3</a:t>
            </a:r>
          </a:p>
        </p:txBody>
      </p:sp>
      <p:sp>
        <p:nvSpPr>
          <p:cNvPr id="5588" name="Week 2026-10-05">
            <a:extLst xmlns:a="http://schemas.openxmlformats.org/drawingml/2006/main">
              <a:ext uri="{FF2B5EF4-FFF2-40B4-BE49-F238E27FC236}">
                <a16:creationId xmlns:a16="http://schemas.microsoft.com/office/drawing/2014/main" id="{4AF17D77-C0F7-4BA8-A05E-AFA2007F424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53175" y="990600"/>
            <a:ext cx="383000" cy="2952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38100" tIns="0" rIns="3810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defRPr sz="900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pPr>
            <a:r>
              <a:rPr sz="900" b="1">
                <a:solidFill>
                  <a:srgbClr val="111111"/>
                </a:solidFill>
                <a:latin typeface="Arial"/>
                <a:ea typeface="Arial"/>
                <a:cs typeface="Arial"/>
              </a:rPr>
              <a:t>10/5</a:t>
            </a:r>
          </a:p>
        </p:txBody>
      </p:sp>
      <p:sp>
        <p:nvSpPr>
          <p:cNvPr id="5589" name="Week 2026-10-12">
            <a:extLst xmlns:a="http://schemas.openxmlformats.org/drawingml/2006/main">
              <a:ext uri="{FF2B5EF4-FFF2-40B4-BE49-F238E27FC236}">
                <a16:creationId xmlns:a16="http://schemas.microsoft.com/office/drawing/2014/main" id="{4AF17D77-C0F7-4BA8-A05E-AFA2007F424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36175" y="990600"/>
            <a:ext cx="383000" cy="2952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38100" tIns="0" rIns="3810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defRPr sz="900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pPr>
            <a:r>
              <a:rPr sz="900" b="1">
                <a:solidFill>
                  <a:srgbClr val="111111"/>
                </a:solidFill>
                <a:latin typeface="Arial"/>
                <a:ea typeface="Arial"/>
                <a:cs typeface="Arial"/>
              </a:rPr>
              <a:t>10/12</a:t>
            </a:r>
          </a:p>
        </p:txBody>
      </p:sp>
      <p:sp>
        <p:nvSpPr>
          <p:cNvPr id="5590" name="Week 2026-10-19">
            <a:extLst xmlns:a="http://schemas.openxmlformats.org/drawingml/2006/main">
              <a:ext uri="{FF2B5EF4-FFF2-40B4-BE49-F238E27FC236}">
                <a16:creationId xmlns:a16="http://schemas.microsoft.com/office/drawing/2014/main" id="{4AF17D77-C0F7-4BA8-A05E-AFA2007F424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19175" y="990600"/>
            <a:ext cx="383000" cy="2952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38100" tIns="0" rIns="3810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defRPr sz="900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pPr>
            <a:r>
              <a:rPr sz="900" b="1">
                <a:solidFill>
                  <a:srgbClr val="111111"/>
                </a:solidFill>
                <a:latin typeface="Arial"/>
                <a:ea typeface="Arial"/>
                <a:cs typeface="Arial"/>
              </a:rPr>
              <a:t>10/19</a:t>
            </a:r>
          </a:p>
        </p:txBody>
      </p:sp>
      <p:sp>
        <p:nvSpPr>
          <p:cNvPr id="5591" name="Week 2026-10-26">
            <a:extLst xmlns:a="http://schemas.openxmlformats.org/drawingml/2006/main">
              <a:ext uri="{FF2B5EF4-FFF2-40B4-BE49-F238E27FC236}">
                <a16:creationId xmlns:a16="http://schemas.microsoft.com/office/drawing/2014/main" id="{4AF17D77-C0F7-4BA8-A05E-AFA2007F424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02175" y="990600"/>
            <a:ext cx="383000" cy="2952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38100" tIns="0" rIns="3810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defRPr sz="900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pPr>
            <a:r>
              <a:rPr sz="900" b="1">
                <a:solidFill>
                  <a:srgbClr val="111111"/>
                </a:solidFill>
                <a:latin typeface="Arial"/>
                <a:ea typeface="Arial"/>
                <a:cs typeface="Arial"/>
              </a:rPr>
              <a:t>10/26</a:t>
            </a:r>
          </a:p>
        </p:txBody>
      </p:sp>
      <p:sp>
        <p:nvSpPr>
          <p:cNvPr id="5592" name="Week 2026-11-02">
            <a:extLst xmlns:a="http://schemas.openxmlformats.org/drawingml/2006/main">
              <a:ext uri="{FF2B5EF4-FFF2-40B4-BE49-F238E27FC236}">
                <a16:creationId xmlns:a16="http://schemas.microsoft.com/office/drawing/2014/main" id="{4AF17D77-C0F7-4BA8-A05E-AFA2007F424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85175" y="990600"/>
            <a:ext cx="383000" cy="2952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38100" tIns="0" rIns="3810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defRPr sz="900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pPr>
            <a:r>
              <a:rPr sz="900" b="1">
                <a:solidFill>
                  <a:srgbClr val="111111"/>
                </a:solidFill>
                <a:latin typeface="Arial"/>
                <a:ea typeface="Arial"/>
                <a:cs typeface="Arial"/>
              </a:rPr>
              <a:t>11/2</a:t>
            </a:r>
          </a:p>
        </p:txBody>
      </p:sp>
      <p:sp>
        <p:nvSpPr>
          <p:cNvPr id="5593" name="Week 2026-11-09">
            <a:extLst xmlns:a="http://schemas.openxmlformats.org/drawingml/2006/main">
              <a:ext uri="{FF2B5EF4-FFF2-40B4-BE49-F238E27FC236}">
                <a16:creationId xmlns:a16="http://schemas.microsoft.com/office/drawing/2014/main" id="{4AF17D77-C0F7-4BA8-A05E-AFA2007F424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68175" y="990600"/>
            <a:ext cx="383000" cy="2952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38100" tIns="0" rIns="3810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defRPr sz="900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pPr>
            <a:r>
              <a:rPr sz="900" b="1">
                <a:solidFill>
                  <a:srgbClr val="111111"/>
                </a:solidFill>
                <a:latin typeface="Arial"/>
                <a:ea typeface="Arial"/>
                <a:cs typeface="Arial"/>
              </a:rPr>
              <a:t>11/9</a:t>
            </a:r>
          </a:p>
        </p:txBody>
      </p:sp>
      <p:sp>
        <p:nvSpPr>
          <p:cNvPr id="5594" name="Week 2026-11-16">
            <a:extLst xmlns:a="http://schemas.openxmlformats.org/drawingml/2006/main">
              <a:ext uri="{FF2B5EF4-FFF2-40B4-BE49-F238E27FC236}">
                <a16:creationId xmlns:a16="http://schemas.microsoft.com/office/drawing/2014/main" id="{4AF17D77-C0F7-4BA8-A05E-AFA2007F424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51175" y="990600"/>
            <a:ext cx="383000" cy="2952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38100" tIns="0" rIns="3810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defRPr sz="900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pPr>
            <a:r>
              <a:rPr sz="900" b="1">
                <a:solidFill>
                  <a:srgbClr val="111111"/>
                </a:solidFill>
                <a:latin typeface="Arial"/>
                <a:ea typeface="Arial"/>
                <a:cs typeface="Arial"/>
              </a:rPr>
              <a:t>11/16</a:t>
            </a:r>
          </a:p>
        </p:txBody>
      </p:sp>
      <p:sp>
        <p:nvSpPr>
          <p:cNvPr id="5595" name="Week 2026-11-23">
            <a:extLst xmlns:a="http://schemas.openxmlformats.org/drawingml/2006/main">
              <a:ext uri="{FF2B5EF4-FFF2-40B4-BE49-F238E27FC236}">
                <a16:creationId xmlns:a16="http://schemas.microsoft.com/office/drawing/2014/main" id="{4AF17D77-C0F7-4BA8-A05E-AFA2007F424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34175" y="990600"/>
            <a:ext cx="383000" cy="2952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38100" tIns="0" rIns="3810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defRPr sz="900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pPr>
            <a:r>
              <a:rPr sz="900" b="1">
                <a:solidFill>
                  <a:srgbClr val="111111"/>
                </a:solidFill>
                <a:latin typeface="Arial"/>
                <a:ea typeface="Arial"/>
                <a:cs typeface="Arial"/>
              </a:rPr>
              <a:t>11/23</a:t>
            </a:r>
          </a:p>
        </p:txBody>
      </p:sp>
      <p:sp>
        <p:nvSpPr>
          <p:cNvPr id="5596" name="Week 2026-11-30">
            <a:extLst xmlns:a="http://schemas.openxmlformats.org/drawingml/2006/main">
              <a:ext uri="{FF2B5EF4-FFF2-40B4-BE49-F238E27FC236}">
                <a16:creationId xmlns:a16="http://schemas.microsoft.com/office/drawing/2014/main" id="{4AF17D77-C0F7-4BA8-A05E-AFA2007F424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417175" y="990600"/>
            <a:ext cx="383000" cy="2952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38100" tIns="0" rIns="3810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defRPr sz="900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pPr>
            <a:r>
              <a:rPr sz="900" b="1">
                <a:solidFill>
                  <a:srgbClr val="111111"/>
                </a:solidFill>
                <a:latin typeface="Arial"/>
                <a:ea typeface="Arial"/>
                <a:cs typeface="Arial"/>
              </a:rPr>
              <a:t>11/30</a:t>
            </a:r>
          </a:p>
        </p:txBody>
      </p:sp>
      <p:sp>
        <p:nvSpPr>
          <p:cNvPr id="5597" name="Week 2026-12-07">
            <a:extLst xmlns:a="http://schemas.openxmlformats.org/drawingml/2006/main">
              <a:ext uri="{FF2B5EF4-FFF2-40B4-BE49-F238E27FC236}">
                <a16:creationId xmlns:a16="http://schemas.microsoft.com/office/drawing/2014/main" id="{4AF17D77-C0F7-4BA8-A05E-AFA2007F424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800175" y="990600"/>
            <a:ext cx="383000" cy="2952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38100" tIns="0" rIns="3810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defRPr sz="900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pPr>
            <a:r>
              <a:rPr sz="900" b="1">
                <a:solidFill>
                  <a:srgbClr val="111111"/>
                </a:solidFill>
                <a:latin typeface="Arial"/>
                <a:ea typeface="Arial"/>
                <a:cs typeface="Arial"/>
              </a:rPr>
              <a:t>12/7</a:t>
            </a:r>
          </a:p>
        </p:txBody>
      </p:sp>
      <p:sp>
        <p:nvSpPr>
          <p:cNvPr id="5598" name="Week 2026-12-14">
            <a:extLst xmlns:a="http://schemas.openxmlformats.org/drawingml/2006/main">
              <a:ext uri="{FF2B5EF4-FFF2-40B4-BE49-F238E27FC236}">
                <a16:creationId xmlns:a16="http://schemas.microsoft.com/office/drawing/2014/main" id="{4AF17D77-C0F7-4BA8-A05E-AFA2007F424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183175" y="990600"/>
            <a:ext cx="383000" cy="2952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38100" tIns="0" rIns="3810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defRPr sz="900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pPr>
            <a:r>
              <a:rPr sz="900" b="1">
                <a:solidFill>
                  <a:srgbClr val="111111"/>
                </a:solidFill>
                <a:latin typeface="Arial"/>
                <a:ea typeface="Arial"/>
                <a:cs typeface="Arial"/>
              </a:rPr>
              <a:t>12/14</a:t>
            </a:r>
          </a:p>
        </p:txBody>
      </p:sp>
      <p:sp>
        <p:nvSpPr>
          <p:cNvPr id="5599" name="Month 2027-01">
            <a:extLst xmlns:a="http://schemas.openxmlformats.org/drawingml/2006/main">
              <a:ext uri="{FF2B5EF4-FFF2-40B4-BE49-F238E27FC236}">
                <a16:creationId xmlns:a16="http://schemas.microsoft.com/office/drawing/2014/main" id="{4AF17D77-C0F7-4BA8-A05E-AFA2007F424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66175" y="990600"/>
            <a:ext cx="427641" cy="2952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38100" tIns="0" rIns="3810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defRPr sz="900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pPr>
            <a:r>
              <a:rPr sz="900" b="1">
                <a:solidFill>
                  <a:srgbClr val="111111"/>
                </a:solidFill>
                <a:latin typeface="Arial"/>
                <a:ea typeface="Arial"/>
                <a:cs typeface="Arial"/>
              </a:rPr>
              <a:t>Jan</a:t>
            </a:r>
          </a:p>
        </p:txBody>
      </p:sp>
      <p:sp>
        <p:nvSpPr>
          <p:cNvPr id="5600" name="Month 2027-02">
            <a:extLst xmlns:a="http://schemas.openxmlformats.org/drawingml/2006/main">
              <a:ext uri="{FF2B5EF4-FFF2-40B4-BE49-F238E27FC236}">
                <a16:creationId xmlns:a16="http://schemas.microsoft.com/office/drawing/2014/main" id="{4AF17D77-C0F7-4BA8-A05E-AFA2007F424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993816" y="990600"/>
            <a:ext cx="427641" cy="2952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38100" tIns="0" rIns="3810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defRPr sz="900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pPr>
            <a:r>
              <a:rPr sz="900" b="1">
                <a:solidFill>
                  <a:srgbClr val="111111"/>
                </a:solidFill>
                <a:latin typeface="Arial"/>
                <a:ea typeface="Arial"/>
                <a:cs typeface="Arial"/>
              </a:rPr>
              <a:t>Feb</a:t>
            </a:r>
          </a:p>
        </p:txBody>
      </p:sp>
      <p:sp>
        <p:nvSpPr>
          <p:cNvPr id="5601" name="Month 2027-03">
            <a:extLst xmlns:a="http://schemas.openxmlformats.org/drawingml/2006/main">
              <a:ext uri="{FF2B5EF4-FFF2-40B4-BE49-F238E27FC236}">
                <a16:creationId xmlns:a16="http://schemas.microsoft.com/office/drawing/2014/main" id="{4AF17D77-C0F7-4BA8-A05E-AFA2007F424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421458" y="990600"/>
            <a:ext cx="427641" cy="2952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38100" tIns="0" rIns="3810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defRPr sz="900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pPr>
            <a:r>
              <a:rPr sz="900" b="1">
                <a:solidFill>
                  <a:srgbClr val="111111"/>
                </a:solidFill>
                <a:latin typeface="Arial"/>
                <a:ea typeface="Arial"/>
                <a:cs typeface="Arial"/>
              </a:rPr>
              <a:t>Mar</a:t>
            </a:r>
          </a:p>
        </p:txBody>
      </p:sp>
      <p:sp>
        <p:nvSpPr>
          <p:cNvPr id="5602" name="Section The research plan first: baselines, control and datasets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3850" y="1285875"/>
            <a:ext cx="11525250" cy="2190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DE4EA"/>
          </a:solidFill>
          <a:ln xmlns:a="http://schemas.openxmlformats.org/drawingml/2006/main" w="0">
            <a:noFill/>
          </a:ln>
        </p:spPr>
        <p:txBody xmlns:a="http://schemas.openxmlformats.org/drawingml/2006/main">
          <a:bodyPr/>
          <a:p/>
        </p:txBody>
      </p:sp>
      <p:sp>
        <p:nvSpPr>
          <p:cNvPr id="5603" name="Section title The research plan first: baselines, control and datasets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2425" y="1285875"/>
            <a:ext cx="11468100" cy="2190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38100" tIns="0" rIns="3810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pPr>
            <a:r>
              <a:rPr sz="1050" b="1">
                <a:solidFill>
                  <a:srgbClr val="111111"/>
                </a:solidFill>
                <a:latin typeface="Arial"/>
                <a:ea typeface="Arial"/>
                <a:cs typeface="Arial"/>
              </a:rPr>
              <a:t>The research plan first: baselines, control and datasets</a:t>
            </a:r>
          </a:p>
        </p:txBody>
      </p:sp>
      <p:sp>
        <p:nvSpPr>
          <p:cNvPr id="5604" name="Week rule 0 2026-10-05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53175" y="1504950"/>
            <a:ext cx="0" cy="214592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3">
            <a:solidFill>
              <a:srgbClr val="DADADA"/>
            </a:solidFill>
          </a:ln>
        </p:spPr>
        <p:txBody xmlns:a="http://schemas.openxmlformats.org/drawingml/2006/main">
          <a:bodyPr/>
          <a:p/>
        </p:txBody>
      </p:sp>
      <p:sp>
        <p:nvSpPr>
          <p:cNvPr id="5605" name="Week rule 0 2026-10-12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36175" y="1504950"/>
            <a:ext cx="0" cy="214592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3">
            <a:solidFill>
              <a:srgbClr val="DADADA"/>
            </a:solidFill>
          </a:ln>
        </p:spPr>
        <p:txBody xmlns:a="http://schemas.openxmlformats.org/drawingml/2006/main">
          <a:bodyPr/>
          <a:p/>
        </p:txBody>
      </p:sp>
      <p:sp>
        <p:nvSpPr>
          <p:cNvPr id="5606" name="Week rule 0 2026-10-19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19175" y="1504950"/>
            <a:ext cx="0" cy="214592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3">
            <a:solidFill>
              <a:srgbClr val="DADADA"/>
            </a:solidFill>
          </a:ln>
        </p:spPr>
        <p:txBody xmlns:a="http://schemas.openxmlformats.org/drawingml/2006/main">
          <a:bodyPr/>
          <a:p/>
        </p:txBody>
      </p:sp>
      <p:sp>
        <p:nvSpPr>
          <p:cNvPr id="5607" name="Week rule 0 2026-10-26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02175" y="1504950"/>
            <a:ext cx="0" cy="214592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3">
            <a:solidFill>
              <a:srgbClr val="DADADA"/>
            </a:solidFill>
          </a:ln>
        </p:spPr>
        <p:txBody xmlns:a="http://schemas.openxmlformats.org/drawingml/2006/main">
          <a:bodyPr/>
          <a:p/>
        </p:txBody>
      </p:sp>
      <p:sp>
        <p:nvSpPr>
          <p:cNvPr id="5608" name="Week rule 0 2026-11-02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85175" y="1504950"/>
            <a:ext cx="0" cy="214592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3">
            <a:solidFill>
              <a:srgbClr val="DADADA"/>
            </a:solidFill>
          </a:ln>
        </p:spPr>
        <p:txBody xmlns:a="http://schemas.openxmlformats.org/drawingml/2006/main">
          <a:bodyPr/>
          <a:p/>
        </p:txBody>
      </p:sp>
      <p:sp>
        <p:nvSpPr>
          <p:cNvPr id="5609" name="Week rule 0 2026-11-09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68175" y="1504950"/>
            <a:ext cx="0" cy="214592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3">
            <a:solidFill>
              <a:srgbClr val="DADADA"/>
            </a:solidFill>
          </a:ln>
        </p:spPr>
        <p:txBody xmlns:a="http://schemas.openxmlformats.org/drawingml/2006/main">
          <a:bodyPr/>
          <a:p/>
        </p:txBody>
      </p:sp>
      <p:sp>
        <p:nvSpPr>
          <p:cNvPr id="5610" name="Week rule 0 2026-11-16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51175" y="1504950"/>
            <a:ext cx="0" cy="214592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3">
            <a:solidFill>
              <a:srgbClr val="DADADA"/>
            </a:solidFill>
          </a:ln>
        </p:spPr>
        <p:txBody xmlns:a="http://schemas.openxmlformats.org/drawingml/2006/main">
          <a:bodyPr/>
          <a:p/>
        </p:txBody>
      </p:sp>
      <p:sp>
        <p:nvSpPr>
          <p:cNvPr id="5611" name="Week rule 0 2026-11-23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34175" y="1504950"/>
            <a:ext cx="0" cy="214592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3">
            <a:solidFill>
              <a:srgbClr val="DADADA"/>
            </a:solidFill>
          </a:ln>
        </p:spPr>
        <p:txBody xmlns:a="http://schemas.openxmlformats.org/drawingml/2006/main">
          <a:bodyPr/>
          <a:p/>
        </p:txBody>
      </p:sp>
      <p:sp>
        <p:nvSpPr>
          <p:cNvPr id="5612" name="Week rule 0 2026-11-30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417175" y="1504950"/>
            <a:ext cx="0" cy="214592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3">
            <a:solidFill>
              <a:srgbClr val="DADADA"/>
            </a:solidFill>
          </a:ln>
        </p:spPr>
        <p:txBody xmlns:a="http://schemas.openxmlformats.org/drawingml/2006/main">
          <a:bodyPr/>
          <a:p/>
        </p:txBody>
      </p:sp>
      <p:sp>
        <p:nvSpPr>
          <p:cNvPr id="5613" name="Week rule 0 2026-12-07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800175" y="1504950"/>
            <a:ext cx="0" cy="214592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3">
            <a:solidFill>
              <a:srgbClr val="DADADA"/>
            </a:solidFill>
          </a:ln>
        </p:spPr>
        <p:txBody xmlns:a="http://schemas.openxmlformats.org/drawingml/2006/main">
          <a:bodyPr/>
          <a:p/>
        </p:txBody>
      </p:sp>
      <p:sp>
        <p:nvSpPr>
          <p:cNvPr id="5614" name="Week rule 0 2026-12-14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183175" y="1504950"/>
            <a:ext cx="0" cy="214592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3">
            <a:solidFill>
              <a:srgbClr val="DADADA"/>
            </a:solidFill>
          </a:ln>
        </p:spPr>
        <p:txBody xmlns:a="http://schemas.openxmlformats.org/drawingml/2006/main">
          <a:bodyPr/>
          <a:p/>
        </p:txBody>
      </p:sp>
      <p:sp>
        <p:nvSpPr>
          <p:cNvPr id="5615" name="Week rule 0 2027-01-04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66175" y="1504950"/>
            <a:ext cx="0" cy="214592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3">
            <a:solidFill>
              <a:srgbClr val="DADADA"/>
            </a:solidFill>
          </a:ln>
        </p:spPr>
        <p:txBody xmlns:a="http://schemas.openxmlformats.org/drawingml/2006/main">
          <a:bodyPr/>
          <a:p/>
        </p:txBody>
      </p:sp>
      <p:sp>
        <p:nvSpPr>
          <p:cNvPr id="5616" name="Week rule 0 2027-02-01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993816" y="1504950"/>
            <a:ext cx="0" cy="214592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3">
            <a:solidFill>
              <a:srgbClr val="DADADA"/>
            </a:solidFill>
          </a:ln>
        </p:spPr>
        <p:txBody xmlns:a="http://schemas.openxmlformats.org/drawingml/2006/main">
          <a:bodyPr/>
          <a:p/>
        </p:txBody>
      </p:sp>
      <p:sp>
        <p:nvSpPr>
          <p:cNvPr id="5617" name="Week rule 0 2027-03-01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421458" y="1504950"/>
            <a:ext cx="0" cy="214592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3">
            <a:solidFill>
              <a:srgbClr val="DADADA"/>
            </a:solidFill>
          </a:ln>
        </p:spPr>
        <p:txBody xmlns:a="http://schemas.openxmlformats.org/drawingml/2006/main">
          <a:bodyPr/>
          <a:p/>
        </p:txBody>
      </p:sp>
      <p:sp>
        <p:nvSpPr>
          <p:cNvPr id="5618" name="Task 0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2425" y="1504950"/>
            <a:ext cx="4295775" cy="214592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38100" tIns="0" rIns="3810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defRPr sz="960" b="0">
                <a:solidFill>
                  <a:srgbClr val="111111"/>
                </a:solidFill>
                <a:latin typeface="Arial"/>
                <a:ea typeface="Arial"/>
                <a:cs typeface="Arial"/>
              </a:defRPr>
            </a:pPr>
            <a:r>
              <a:rPr sz="960" b="0">
                <a:solidFill>
                  <a:srgbClr val="111111"/>
                </a:solidFill>
                <a:latin typeface="Arial"/>
                <a:ea typeface="Arial"/>
                <a:cs typeface="Arial"/>
              </a:rPr>
              <a:t>16. Harden single-model and simple-fusion baselines</a:t>
            </a:r>
          </a:p>
        </p:txBody>
      </p:sp>
      <p:sp>
        <p:nvSpPr>
          <p:cNvPr id="5619" name="Status 0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57725" y="1504950"/>
            <a:ext cx="838200" cy="214592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38100" tIns="0" rIns="3810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defRPr sz="848" b="0">
                <a:solidFill>
                  <a:srgbClr val="111111"/>
                </a:solidFill>
                <a:latin typeface="Arial"/>
                <a:ea typeface="Arial"/>
                <a:cs typeface="Arial"/>
              </a:defRPr>
            </a:pPr>
            <a:r>
              <a:rPr sz="848" b="0">
                <a:solidFill>
                  <a:srgbClr val="111111"/>
                </a:solidFill>
                <a:latin typeface="Arial"/>
                <a:ea typeface="Arial"/>
                <a:cs typeface="Arial"/>
              </a:rPr>
              <a:t>Planned</a:t>
            </a:r>
          </a:p>
        </p:txBody>
      </p:sp>
      <p:sp>
        <p:nvSpPr>
          <p:cNvPr id="5620" name="Dates 0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95925" y="1504950"/>
            <a:ext cx="857250" cy="214592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38100" tIns="0" rIns="3810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defRPr sz="848" b="0">
                <a:solidFill>
                  <a:srgbClr val="111111"/>
                </a:solidFill>
                <a:latin typeface="Arial"/>
                <a:ea typeface="Arial"/>
                <a:cs typeface="Arial"/>
              </a:defRPr>
            </a:pPr>
            <a:r>
              <a:rPr sz="848" b="0">
                <a:solidFill>
                  <a:srgbClr val="111111"/>
                </a:solidFill>
                <a:latin typeface="Arial"/>
                <a:ea typeface="Arial"/>
                <a:cs typeface="Arial"/>
              </a:rPr>
              <a:t>10/6-10/11</a:t>
            </a:r>
          </a:p>
        </p:txBody>
      </p:sp>
      <p:sp>
        <p:nvSpPr>
          <p:cNvPr id="5621" name="Bar 0 0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07889" y="1559858"/>
            <a:ext cx="328285" cy="1047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7BEC4"/>
          </a:solidFill>
          <a:ln xmlns:a="http://schemas.openxmlformats.org/drawingml/2006/main" w="0">
            <a:noFill/>
          </a:ln>
        </p:spPr>
        <p:txBody xmlns:a="http://schemas.openxmlformats.org/drawingml/2006/main">
          <a:bodyPr/>
          <a:p/>
        </p:txBody>
      </p:sp>
      <p:sp>
        <p:nvSpPr>
          <p:cNvPr id="5622" name="Row rule 0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3850" y="1719542"/>
            <a:ext cx="115252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3">
            <a:solidFill>
              <a:srgbClr val="DADADA"/>
            </a:solidFill>
          </a:ln>
        </p:spPr>
        <p:txBody xmlns:a="http://schemas.openxmlformats.org/drawingml/2006/main">
          <a:bodyPr/>
          <a:p/>
        </p:txBody>
      </p:sp>
      <p:sp>
        <p:nvSpPr>
          <p:cNvPr id="5623" name="Row tint 1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3850" y="1719542"/>
            <a:ext cx="11525250" cy="214592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7F7F7"/>
          </a:solidFill>
          <a:ln xmlns:a="http://schemas.openxmlformats.org/drawingml/2006/main" w="0">
            <a:noFill/>
          </a:ln>
        </p:spPr>
        <p:txBody xmlns:a="http://schemas.openxmlformats.org/drawingml/2006/main">
          <a:bodyPr/>
          <a:p/>
        </p:txBody>
      </p:sp>
      <p:sp>
        <p:nvSpPr>
          <p:cNvPr id="5624" name="Week rule 1 2026-10-05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53175" y="1719542"/>
            <a:ext cx="0" cy="214592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3">
            <a:solidFill>
              <a:srgbClr val="DADADA"/>
            </a:solidFill>
          </a:ln>
        </p:spPr>
        <p:txBody xmlns:a="http://schemas.openxmlformats.org/drawingml/2006/main">
          <a:bodyPr/>
          <a:p/>
        </p:txBody>
      </p:sp>
      <p:sp>
        <p:nvSpPr>
          <p:cNvPr id="5625" name="Week rule 1 2026-10-12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36175" y="1719542"/>
            <a:ext cx="0" cy="214592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3">
            <a:solidFill>
              <a:srgbClr val="DADADA"/>
            </a:solidFill>
          </a:ln>
        </p:spPr>
        <p:txBody xmlns:a="http://schemas.openxmlformats.org/drawingml/2006/main">
          <a:bodyPr/>
          <a:p/>
        </p:txBody>
      </p:sp>
      <p:sp>
        <p:nvSpPr>
          <p:cNvPr id="5626" name="Week rule 1 2026-10-19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19175" y="1719542"/>
            <a:ext cx="0" cy="214592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3">
            <a:solidFill>
              <a:srgbClr val="DADADA"/>
            </a:solidFill>
          </a:ln>
        </p:spPr>
        <p:txBody xmlns:a="http://schemas.openxmlformats.org/drawingml/2006/main">
          <a:bodyPr/>
          <a:p/>
        </p:txBody>
      </p:sp>
      <p:sp>
        <p:nvSpPr>
          <p:cNvPr id="5627" name="Week rule 1 2026-10-26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02175" y="1719542"/>
            <a:ext cx="0" cy="214592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3">
            <a:solidFill>
              <a:srgbClr val="DADADA"/>
            </a:solidFill>
          </a:ln>
        </p:spPr>
        <p:txBody xmlns:a="http://schemas.openxmlformats.org/drawingml/2006/main">
          <a:bodyPr/>
          <a:p/>
        </p:txBody>
      </p:sp>
      <p:sp>
        <p:nvSpPr>
          <p:cNvPr id="5628" name="Week rule 1 2026-11-02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85175" y="1719542"/>
            <a:ext cx="0" cy="214592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3">
            <a:solidFill>
              <a:srgbClr val="DADADA"/>
            </a:solidFill>
          </a:ln>
        </p:spPr>
        <p:txBody xmlns:a="http://schemas.openxmlformats.org/drawingml/2006/main">
          <a:bodyPr/>
          <a:p/>
        </p:txBody>
      </p:sp>
      <p:sp>
        <p:nvSpPr>
          <p:cNvPr id="5629" name="Week rule 1 2026-11-09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68175" y="1719542"/>
            <a:ext cx="0" cy="214592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3">
            <a:solidFill>
              <a:srgbClr val="DADADA"/>
            </a:solidFill>
          </a:ln>
        </p:spPr>
        <p:txBody xmlns:a="http://schemas.openxmlformats.org/drawingml/2006/main">
          <a:bodyPr/>
          <a:p/>
        </p:txBody>
      </p:sp>
      <p:sp>
        <p:nvSpPr>
          <p:cNvPr id="5630" name="Week rule 1 2026-11-16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51175" y="1719542"/>
            <a:ext cx="0" cy="214592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3">
            <a:solidFill>
              <a:srgbClr val="DADADA"/>
            </a:solidFill>
          </a:ln>
        </p:spPr>
        <p:txBody xmlns:a="http://schemas.openxmlformats.org/drawingml/2006/main">
          <a:bodyPr/>
          <a:p/>
        </p:txBody>
      </p:sp>
      <p:sp>
        <p:nvSpPr>
          <p:cNvPr id="5631" name="Week rule 1 2026-11-23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34175" y="1719542"/>
            <a:ext cx="0" cy="214592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3">
            <a:solidFill>
              <a:srgbClr val="DADADA"/>
            </a:solidFill>
          </a:ln>
        </p:spPr>
        <p:txBody xmlns:a="http://schemas.openxmlformats.org/drawingml/2006/main">
          <a:bodyPr/>
          <a:p/>
        </p:txBody>
      </p:sp>
      <p:sp>
        <p:nvSpPr>
          <p:cNvPr id="5632" name="Week rule 1 2026-11-30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417175" y="1719542"/>
            <a:ext cx="0" cy="214592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3">
            <a:solidFill>
              <a:srgbClr val="DADADA"/>
            </a:solidFill>
          </a:ln>
        </p:spPr>
        <p:txBody xmlns:a="http://schemas.openxmlformats.org/drawingml/2006/main">
          <a:bodyPr/>
          <a:p/>
        </p:txBody>
      </p:sp>
      <p:sp>
        <p:nvSpPr>
          <p:cNvPr id="5633" name="Week rule 1 2026-12-07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800175" y="1719542"/>
            <a:ext cx="0" cy="214592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3">
            <a:solidFill>
              <a:srgbClr val="DADADA"/>
            </a:solidFill>
          </a:ln>
        </p:spPr>
        <p:txBody xmlns:a="http://schemas.openxmlformats.org/drawingml/2006/main">
          <a:bodyPr/>
          <a:p/>
        </p:txBody>
      </p:sp>
      <p:sp>
        <p:nvSpPr>
          <p:cNvPr id="5634" name="Week rule 1 2026-12-14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183175" y="1719542"/>
            <a:ext cx="0" cy="214592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3">
            <a:solidFill>
              <a:srgbClr val="DADADA"/>
            </a:solidFill>
          </a:ln>
        </p:spPr>
        <p:txBody xmlns:a="http://schemas.openxmlformats.org/drawingml/2006/main">
          <a:bodyPr/>
          <a:p/>
        </p:txBody>
      </p:sp>
      <p:sp>
        <p:nvSpPr>
          <p:cNvPr id="5635" name="Week rule 1 2027-01-04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66175" y="1719542"/>
            <a:ext cx="0" cy="214592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3">
            <a:solidFill>
              <a:srgbClr val="DADADA"/>
            </a:solidFill>
          </a:ln>
        </p:spPr>
        <p:txBody xmlns:a="http://schemas.openxmlformats.org/drawingml/2006/main">
          <a:bodyPr/>
          <a:p/>
        </p:txBody>
      </p:sp>
      <p:sp>
        <p:nvSpPr>
          <p:cNvPr id="5636" name="Week rule 1 2027-02-01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993816" y="1719542"/>
            <a:ext cx="0" cy="214592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3">
            <a:solidFill>
              <a:srgbClr val="DADADA"/>
            </a:solidFill>
          </a:ln>
        </p:spPr>
        <p:txBody xmlns:a="http://schemas.openxmlformats.org/drawingml/2006/main">
          <a:bodyPr/>
          <a:p/>
        </p:txBody>
      </p:sp>
      <p:sp>
        <p:nvSpPr>
          <p:cNvPr id="5637" name="Week rule 1 2027-03-01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421458" y="1719542"/>
            <a:ext cx="0" cy="214592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3">
            <a:solidFill>
              <a:srgbClr val="DADADA"/>
            </a:solidFill>
          </a:ln>
        </p:spPr>
        <p:txBody xmlns:a="http://schemas.openxmlformats.org/drawingml/2006/main">
          <a:bodyPr/>
          <a:p/>
        </p:txBody>
      </p:sp>
      <p:sp>
        <p:nvSpPr>
          <p:cNvPr id="5638" name="Task 1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2425" y="1719542"/>
            <a:ext cx="4295775" cy="214592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38100" tIns="0" rIns="3810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defRPr sz="960" b="0">
                <a:solidFill>
                  <a:srgbClr val="111111"/>
                </a:solidFill>
                <a:latin typeface="Arial"/>
                <a:ea typeface="Arial"/>
                <a:cs typeface="Arial"/>
              </a:defRPr>
            </a:pPr>
            <a:r>
              <a:rPr sz="960" b="0">
                <a:solidFill>
                  <a:srgbClr val="111111"/>
                </a:solidFill>
                <a:latin typeface="Arial"/>
                <a:ea typeface="Arial"/>
                <a:cs typeface="Arial"/>
              </a:rPr>
              <a:t>17. Reproduce BioLangFusion, five datasets (item 1, Phase A)</a:t>
            </a:r>
          </a:p>
        </p:txBody>
      </p:sp>
      <p:sp>
        <p:nvSpPr>
          <p:cNvPr id="5639" name="Status 1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57725" y="1719542"/>
            <a:ext cx="838200" cy="214592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38100" tIns="0" rIns="3810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defRPr sz="848" b="0">
                <a:solidFill>
                  <a:srgbClr val="111111"/>
                </a:solidFill>
                <a:latin typeface="Arial"/>
                <a:ea typeface="Arial"/>
                <a:cs typeface="Arial"/>
              </a:defRPr>
            </a:pPr>
            <a:r>
              <a:rPr sz="848" b="0">
                <a:solidFill>
                  <a:srgbClr val="111111"/>
                </a:solidFill>
                <a:latin typeface="Arial"/>
                <a:ea typeface="Arial"/>
                <a:cs typeface="Arial"/>
              </a:rPr>
              <a:t>Planned</a:t>
            </a:r>
          </a:p>
        </p:txBody>
      </p:sp>
      <p:sp>
        <p:nvSpPr>
          <p:cNvPr id="5640" name="Dates 1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95925" y="1719542"/>
            <a:ext cx="857250" cy="214592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38100" tIns="0" rIns="3810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defRPr sz="848" b="0">
                <a:solidFill>
                  <a:srgbClr val="111111"/>
                </a:solidFill>
                <a:latin typeface="Arial"/>
                <a:ea typeface="Arial"/>
                <a:cs typeface="Arial"/>
              </a:defRPr>
            </a:pPr>
            <a:r>
              <a:rPr sz="848" b="0">
                <a:solidFill>
                  <a:srgbClr val="111111"/>
                </a:solidFill>
                <a:latin typeface="Arial"/>
                <a:ea typeface="Arial"/>
                <a:cs typeface="Arial"/>
              </a:rPr>
              <a:t>10/12-10/25</a:t>
            </a:r>
          </a:p>
        </p:txBody>
      </p:sp>
      <p:sp>
        <p:nvSpPr>
          <p:cNvPr id="5641" name="Bar 1 0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36175" y="1774450"/>
            <a:ext cx="766000" cy="1047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7BEC4"/>
          </a:solidFill>
          <a:ln xmlns:a="http://schemas.openxmlformats.org/drawingml/2006/main" w="0">
            <a:noFill/>
          </a:ln>
        </p:spPr>
        <p:txBody xmlns:a="http://schemas.openxmlformats.org/drawingml/2006/main">
          <a:bodyPr/>
          <a:p/>
        </p:txBody>
      </p:sp>
      <p:sp>
        <p:nvSpPr>
          <p:cNvPr id="5642" name="Row rule 1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3850" y="1934134"/>
            <a:ext cx="115252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3">
            <a:solidFill>
              <a:srgbClr val="DADADA"/>
            </a:solidFill>
          </a:ln>
        </p:spPr>
        <p:txBody xmlns:a="http://schemas.openxmlformats.org/drawingml/2006/main">
          <a:bodyPr/>
          <a:p/>
        </p:txBody>
      </p:sp>
      <p:sp>
        <p:nvSpPr>
          <p:cNvPr id="5643" name="Week rule 2 2026-10-05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53175" y="1934134"/>
            <a:ext cx="0" cy="214592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3">
            <a:solidFill>
              <a:srgbClr val="DADADA"/>
            </a:solidFill>
          </a:ln>
        </p:spPr>
        <p:txBody xmlns:a="http://schemas.openxmlformats.org/drawingml/2006/main">
          <a:bodyPr/>
          <a:p/>
        </p:txBody>
      </p:sp>
      <p:sp>
        <p:nvSpPr>
          <p:cNvPr id="5644" name="Week rule 2 2026-10-12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36175" y="1934134"/>
            <a:ext cx="0" cy="214592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3">
            <a:solidFill>
              <a:srgbClr val="DADADA"/>
            </a:solidFill>
          </a:ln>
        </p:spPr>
        <p:txBody xmlns:a="http://schemas.openxmlformats.org/drawingml/2006/main">
          <a:bodyPr/>
          <a:p/>
        </p:txBody>
      </p:sp>
      <p:sp>
        <p:nvSpPr>
          <p:cNvPr id="5645" name="Week rule 2 2026-10-19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19175" y="1934134"/>
            <a:ext cx="0" cy="214592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3">
            <a:solidFill>
              <a:srgbClr val="DADADA"/>
            </a:solidFill>
          </a:ln>
        </p:spPr>
        <p:txBody xmlns:a="http://schemas.openxmlformats.org/drawingml/2006/main">
          <a:bodyPr/>
          <a:p/>
        </p:txBody>
      </p:sp>
      <p:sp>
        <p:nvSpPr>
          <p:cNvPr id="5646" name="Week rule 2 2026-10-26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02175" y="1934134"/>
            <a:ext cx="0" cy="214592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3">
            <a:solidFill>
              <a:srgbClr val="DADADA"/>
            </a:solidFill>
          </a:ln>
        </p:spPr>
        <p:txBody xmlns:a="http://schemas.openxmlformats.org/drawingml/2006/main">
          <a:bodyPr/>
          <a:p/>
        </p:txBody>
      </p:sp>
      <p:sp>
        <p:nvSpPr>
          <p:cNvPr id="5647" name="Week rule 2 2026-11-02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85175" y="1934134"/>
            <a:ext cx="0" cy="214592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3">
            <a:solidFill>
              <a:srgbClr val="DADADA"/>
            </a:solidFill>
          </a:ln>
        </p:spPr>
        <p:txBody xmlns:a="http://schemas.openxmlformats.org/drawingml/2006/main">
          <a:bodyPr/>
          <a:p/>
        </p:txBody>
      </p:sp>
      <p:sp>
        <p:nvSpPr>
          <p:cNvPr id="5648" name="Week rule 2 2026-11-09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68175" y="1934134"/>
            <a:ext cx="0" cy="214592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3">
            <a:solidFill>
              <a:srgbClr val="DADADA"/>
            </a:solidFill>
          </a:ln>
        </p:spPr>
        <p:txBody xmlns:a="http://schemas.openxmlformats.org/drawingml/2006/main">
          <a:bodyPr/>
          <a:p/>
        </p:txBody>
      </p:sp>
      <p:sp>
        <p:nvSpPr>
          <p:cNvPr id="5649" name="Week rule 2 2026-11-16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51175" y="1934134"/>
            <a:ext cx="0" cy="214592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3">
            <a:solidFill>
              <a:srgbClr val="DADADA"/>
            </a:solidFill>
          </a:ln>
        </p:spPr>
        <p:txBody xmlns:a="http://schemas.openxmlformats.org/drawingml/2006/main">
          <a:bodyPr/>
          <a:p/>
        </p:txBody>
      </p:sp>
      <p:sp>
        <p:nvSpPr>
          <p:cNvPr id="5650" name="Week rule 2 2026-11-23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34175" y="1934134"/>
            <a:ext cx="0" cy="214592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3">
            <a:solidFill>
              <a:srgbClr val="DADADA"/>
            </a:solidFill>
          </a:ln>
        </p:spPr>
        <p:txBody xmlns:a="http://schemas.openxmlformats.org/drawingml/2006/main">
          <a:bodyPr/>
          <a:p/>
        </p:txBody>
      </p:sp>
      <p:sp>
        <p:nvSpPr>
          <p:cNvPr id="5651" name="Week rule 2 2026-11-30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417175" y="1934134"/>
            <a:ext cx="0" cy="214592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3">
            <a:solidFill>
              <a:srgbClr val="DADADA"/>
            </a:solidFill>
          </a:ln>
        </p:spPr>
        <p:txBody xmlns:a="http://schemas.openxmlformats.org/drawingml/2006/main">
          <a:bodyPr/>
          <a:p/>
        </p:txBody>
      </p:sp>
      <p:sp>
        <p:nvSpPr>
          <p:cNvPr id="5652" name="Week rule 2 2026-12-07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800175" y="1934134"/>
            <a:ext cx="0" cy="214592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3">
            <a:solidFill>
              <a:srgbClr val="DADADA"/>
            </a:solidFill>
          </a:ln>
        </p:spPr>
        <p:txBody xmlns:a="http://schemas.openxmlformats.org/drawingml/2006/main">
          <a:bodyPr/>
          <a:p/>
        </p:txBody>
      </p:sp>
      <p:sp>
        <p:nvSpPr>
          <p:cNvPr id="5653" name="Week rule 2 2026-12-14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183175" y="1934134"/>
            <a:ext cx="0" cy="214592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3">
            <a:solidFill>
              <a:srgbClr val="DADADA"/>
            </a:solidFill>
          </a:ln>
        </p:spPr>
        <p:txBody xmlns:a="http://schemas.openxmlformats.org/drawingml/2006/main">
          <a:bodyPr/>
          <a:p/>
        </p:txBody>
      </p:sp>
      <p:sp>
        <p:nvSpPr>
          <p:cNvPr id="5654" name="Week rule 2 2027-01-04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66175" y="1934134"/>
            <a:ext cx="0" cy="214592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3">
            <a:solidFill>
              <a:srgbClr val="DADADA"/>
            </a:solidFill>
          </a:ln>
        </p:spPr>
        <p:txBody xmlns:a="http://schemas.openxmlformats.org/drawingml/2006/main">
          <a:bodyPr/>
          <a:p/>
        </p:txBody>
      </p:sp>
      <p:sp>
        <p:nvSpPr>
          <p:cNvPr id="5655" name="Week rule 2 2027-02-01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993816" y="1934134"/>
            <a:ext cx="0" cy="214592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3">
            <a:solidFill>
              <a:srgbClr val="DADADA"/>
            </a:solidFill>
          </a:ln>
        </p:spPr>
        <p:txBody xmlns:a="http://schemas.openxmlformats.org/drawingml/2006/main">
          <a:bodyPr/>
          <a:p/>
        </p:txBody>
      </p:sp>
      <p:sp>
        <p:nvSpPr>
          <p:cNvPr id="5656" name="Week rule 2 2027-03-01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421458" y="1934134"/>
            <a:ext cx="0" cy="214592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3">
            <a:solidFill>
              <a:srgbClr val="DADADA"/>
            </a:solidFill>
          </a:ln>
        </p:spPr>
        <p:txBody xmlns:a="http://schemas.openxmlformats.org/drawingml/2006/main">
          <a:bodyPr/>
          <a:p/>
        </p:txBody>
      </p:sp>
      <p:sp>
        <p:nvSpPr>
          <p:cNvPr id="5657" name="Task 2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2425" y="1934134"/>
            <a:ext cx="4295775" cy="214592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38100" tIns="0" rIns="3810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defRPr sz="960" b="0">
                <a:solidFill>
                  <a:srgbClr val="111111"/>
                </a:solidFill>
                <a:latin typeface="Arial"/>
                <a:ea typeface="Arial"/>
                <a:cs typeface="Arial"/>
              </a:defRPr>
            </a:pPr>
            <a:r>
              <a:rPr sz="960" b="0">
                <a:solidFill>
                  <a:srgbClr val="111111"/>
                </a:solidFill>
                <a:latin typeface="Arial"/>
                <a:ea typeface="Arial"/>
                <a:cs typeface="Arial"/>
              </a:rPr>
              <a:t>18. Diagnostics and controls, mRFP in parallel (item 5)</a:t>
            </a:r>
          </a:p>
        </p:txBody>
      </p:sp>
      <p:sp>
        <p:nvSpPr>
          <p:cNvPr id="5658" name="Status 2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57725" y="1934134"/>
            <a:ext cx="838200" cy="214592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38100" tIns="0" rIns="3810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defRPr sz="848" b="0">
                <a:solidFill>
                  <a:srgbClr val="111111"/>
                </a:solidFill>
                <a:latin typeface="Arial"/>
                <a:ea typeface="Arial"/>
                <a:cs typeface="Arial"/>
              </a:defRPr>
            </a:pPr>
            <a:r>
              <a:rPr sz="848" b="0">
                <a:solidFill>
                  <a:srgbClr val="111111"/>
                </a:solidFill>
                <a:latin typeface="Arial"/>
                <a:ea typeface="Arial"/>
                <a:cs typeface="Arial"/>
              </a:rPr>
              <a:t>Planned</a:t>
            </a:r>
          </a:p>
        </p:txBody>
      </p:sp>
      <p:sp>
        <p:nvSpPr>
          <p:cNvPr id="5659" name="Dates 2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95925" y="1934134"/>
            <a:ext cx="857250" cy="214592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38100" tIns="0" rIns="3810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defRPr sz="848" b="0">
                <a:solidFill>
                  <a:srgbClr val="111111"/>
                </a:solidFill>
                <a:latin typeface="Arial"/>
                <a:ea typeface="Arial"/>
                <a:cs typeface="Arial"/>
              </a:defRPr>
            </a:pPr>
            <a:r>
              <a:rPr sz="848" b="0">
                <a:solidFill>
                  <a:srgbClr val="111111"/>
                </a:solidFill>
                <a:latin typeface="Arial"/>
                <a:ea typeface="Arial"/>
                <a:cs typeface="Arial"/>
              </a:rPr>
              <a:t>10/12-10/18</a:t>
            </a:r>
          </a:p>
        </p:txBody>
      </p:sp>
      <p:sp>
        <p:nvSpPr>
          <p:cNvPr id="5660" name="Bar 2 0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36175" y="1989042"/>
            <a:ext cx="383000" cy="1047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7BEC4"/>
          </a:solidFill>
          <a:ln xmlns:a="http://schemas.openxmlformats.org/drawingml/2006/main" w="0">
            <a:noFill/>
          </a:ln>
        </p:spPr>
        <p:txBody xmlns:a="http://schemas.openxmlformats.org/drawingml/2006/main">
          <a:bodyPr/>
          <a:p/>
        </p:txBody>
      </p:sp>
      <p:sp>
        <p:nvSpPr>
          <p:cNvPr id="5661" name="Row rule 2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3850" y="2148726"/>
            <a:ext cx="115252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3">
            <a:solidFill>
              <a:srgbClr val="DADADA"/>
            </a:solidFill>
          </a:ln>
        </p:spPr>
        <p:txBody xmlns:a="http://schemas.openxmlformats.org/drawingml/2006/main">
          <a:bodyPr/>
          <a:p/>
        </p:txBody>
      </p:sp>
      <p:sp>
        <p:nvSpPr>
          <p:cNvPr id="5662" name="Row tint 3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3850" y="2148726"/>
            <a:ext cx="11525250" cy="214592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7F7F7"/>
          </a:solidFill>
          <a:ln xmlns:a="http://schemas.openxmlformats.org/drawingml/2006/main" w="0">
            <a:noFill/>
          </a:ln>
        </p:spPr>
        <p:txBody xmlns:a="http://schemas.openxmlformats.org/drawingml/2006/main">
          <a:bodyPr/>
          <a:p/>
        </p:txBody>
      </p:sp>
      <p:sp>
        <p:nvSpPr>
          <p:cNvPr id="5663" name="Week rule 3 2026-10-05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53175" y="2148726"/>
            <a:ext cx="0" cy="214592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3">
            <a:solidFill>
              <a:srgbClr val="DADADA"/>
            </a:solidFill>
          </a:ln>
        </p:spPr>
        <p:txBody xmlns:a="http://schemas.openxmlformats.org/drawingml/2006/main">
          <a:bodyPr/>
          <a:p/>
        </p:txBody>
      </p:sp>
      <p:sp>
        <p:nvSpPr>
          <p:cNvPr id="5664" name="Week rule 3 2026-10-12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36175" y="2148726"/>
            <a:ext cx="0" cy="214592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3">
            <a:solidFill>
              <a:srgbClr val="DADADA"/>
            </a:solidFill>
          </a:ln>
        </p:spPr>
        <p:txBody xmlns:a="http://schemas.openxmlformats.org/drawingml/2006/main">
          <a:bodyPr/>
          <a:p/>
        </p:txBody>
      </p:sp>
      <p:sp>
        <p:nvSpPr>
          <p:cNvPr id="5665" name="Week rule 3 2026-10-19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19175" y="2148726"/>
            <a:ext cx="0" cy="214592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3">
            <a:solidFill>
              <a:srgbClr val="DADADA"/>
            </a:solidFill>
          </a:ln>
        </p:spPr>
        <p:txBody xmlns:a="http://schemas.openxmlformats.org/drawingml/2006/main">
          <a:bodyPr/>
          <a:p/>
        </p:txBody>
      </p:sp>
      <p:sp>
        <p:nvSpPr>
          <p:cNvPr id="5666" name="Week rule 3 2026-10-26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02175" y="2148726"/>
            <a:ext cx="0" cy="214592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3">
            <a:solidFill>
              <a:srgbClr val="DADADA"/>
            </a:solidFill>
          </a:ln>
        </p:spPr>
        <p:txBody xmlns:a="http://schemas.openxmlformats.org/drawingml/2006/main">
          <a:bodyPr/>
          <a:p/>
        </p:txBody>
      </p:sp>
      <p:sp>
        <p:nvSpPr>
          <p:cNvPr id="5667" name="Week rule 3 2026-11-02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85175" y="2148726"/>
            <a:ext cx="0" cy="214592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3">
            <a:solidFill>
              <a:srgbClr val="DADADA"/>
            </a:solidFill>
          </a:ln>
        </p:spPr>
        <p:txBody xmlns:a="http://schemas.openxmlformats.org/drawingml/2006/main">
          <a:bodyPr/>
          <a:p/>
        </p:txBody>
      </p:sp>
      <p:sp>
        <p:nvSpPr>
          <p:cNvPr id="5668" name="Week rule 3 2026-11-09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68175" y="2148726"/>
            <a:ext cx="0" cy="214592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3">
            <a:solidFill>
              <a:srgbClr val="DADADA"/>
            </a:solidFill>
          </a:ln>
        </p:spPr>
        <p:txBody xmlns:a="http://schemas.openxmlformats.org/drawingml/2006/main">
          <a:bodyPr/>
          <a:p/>
        </p:txBody>
      </p:sp>
      <p:sp>
        <p:nvSpPr>
          <p:cNvPr id="5669" name="Week rule 3 2026-11-16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51175" y="2148726"/>
            <a:ext cx="0" cy="214592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3">
            <a:solidFill>
              <a:srgbClr val="DADADA"/>
            </a:solidFill>
          </a:ln>
        </p:spPr>
        <p:txBody xmlns:a="http://schemas.openxmlformats.org/drawingml/2006/main">
          <a:bodyPr/>
          <a:p/>
        </p:txBody>
      </p:sp>
      <p:sp>
        <p:nvSpPr>
          <p:cNvPr id="5670" name="Week rule 3 2026-11-23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34175" y="2148726"/>
            <a:ext cx="0" cy="214592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3">
            <a:solidFill>
              <a:srgbClr val="DADADA"/>
            </a:solidFill>
          </a:ln>
        </p:spPr>
        <p:txBody xmlns:a="http://schemas.openxmlformats.org/drawingml/2006/main">
          <a:bodyPr/>
          <a:p/>
        </p:txBody>
      </p:sp>
      <p:sp>
        <p:nvSpPr>
          <p:cNvPr id="5671" name="Week rule 3 2026-11-30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417175" y="2148726"/>
            <a:ext cx="0" cy="214592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3">
            <a:solidFill>
              <a:srgbClr val="DADADA"/>
            </a:solidFill>
          </a:ln>
        </p:spPr>
        <p:txBody xmlns:a="http://schemas.openxmlformats.org/drawingml/2006/main">
          <a:bodyPr/>
          <a:p/>
        </p:txBody>
      </p:sp>
      <p:sp>
        <p:nvSpPr>
          <p:cNvPr id="5672" name="Week rule 3 2026-12-07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800175" y="2148726"/>
            <a:ext cx="0" cy="214592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3">
            <a:solidFill>
              <a:srgbClr val="DADADA"/>
            </a:solidFill>
          </a:ln>
        </p:spPr>
        <p:txBody xmlns:a="http://schemas.openxmlformats.org/drawingml/2006/main">
          <a:bodyPr/>
          <a:p/>
        </p:txBody>
      </p:sp>
      <p:sp>
        <p:nvSpPr>
          <p:cNvPr id="5673" name="Week rule 3 2026-12-14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183175" y="2148726"/>
            <a:ext cx="0" cy="214592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3">
            <a:solidFill>
              <a:srgbClr val="DADADA"/>
            </a:solidFill>
          </a:ln>
        </p:spPr>
        <p:txBody xmlns:a="http://schemas.openxmlformats.org/drawingml/2006/main">
          <a:bodyPr/>
          <a:p/>
        </p:txBody>
      </p:sp>
      <p:sp>
        <p:nvSpPr>
          <p:cNvPr id="5674" name="Week rule 3 2027-01-04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66175" y="2148726"/>
            <a:ext cx="0" cy="214592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3">
            <a:solidFill>
              <a:srgbClr val="DADADA"/>
            </a:solidFill>
          </a:ln>
        </p:spPr>
        <p:txBody xmlns:a="http://schemas.openxmlformats.org/drawingml/2006/main">
          <a:bodyPr/>
          <a:p/>
        </p:txBody>
      </p:sp>
      <p:sp>
        <p:nvSpPr>
          <p:cNvPr id="5675" name="Week rule 3 2027-02-01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993816" y="2148726"/>
            <a:ext cx="0" cy="214592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3">
            <a:solidFill>
              <a:srgbClr val="DADADA"/>
            </a:solidFill>
          </a:ln>
        </p:spPr>
        <p:txBody xmlns:a="http://schemas.openxmlformats.org/drawingml/2006/main">
          <a:bodyPr/>
          <a:p/>
        </p:txBody>
      </p:sp>
      <p:sp>
        <p:nvSpPr>
          <p:cNvPr id="5676" name="Week rule 3 2027-03-01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421458" y="2148726"/>
            <a:ext cx="0" cy="214592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3">
            <a:solidFill>
              <a:srgbClr val="DADADA"/>
            </a:solidFill>
          </a:ln>
        </p:spPr>
        <p:txBody xmlns:a="http://schemas.openxmlformats.org/drawingml/2006/main">
          <a:bodyPr/>
          <a:p/>
        </p:txBody>
      </p:sp>
      <p:sp>
        <p:nvSpPr>
          <p:cNvPr id="5677" name="Task 3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2425" y="2148726"/>
            <a:ext cx="4295775" cy="214592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38100" tIns="0" rIns="3810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defRPr sz="960" b="0">
                <a:solidFill>
                  <a:srgbClr val="111111"/>
                </a:solidFill>
                <a:latin typeface="Arial"/>
                <a:ea typeface="Arial"/>
                <a:cs typeface="Arial"/>
              </a:defRPr>
            </a:pPr>
            <a:r>
              <a:rPr sz="960" b="0">
                <a:solidFill>
                  <a:srgbClr val="111111"/>
                </a:solidFill>
                <a:latin typeface="Arial"/>
                <a:ea typeface="Arial"/>
                <a:cs typeface="Arial"/>
              </a:rPr>
              <a:t>19. Interpret baselines and revise the next experiment</a:t>
            </a:r>
          </a:p>
        </p:txBody>
      </p:sp>
      <p:sp>
        <p:nvSpPr>
          <p:cNvPr id="5678" name="Status 3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57725" y="2148726"/>
            <a:ext cx="838200" cy="214592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38100" tIns="0" rIns="3810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defRPr sz="848" b="0">
                <a:solidFill>
                  <a:srgbClr val="111111"/>
                </a:solidFill>
                <a:latin typeface="Arial"/>
                <a:ea typeface="Arial"/>
                <a:cs typeface="Arial"/>
              </a:defRPr>
            </a:pPr>
            <a:r>
              <a:rPr sz="848" b="0">
                <a:solidFill>
                  <a:srgbClr val="111111"/>
                </a:solidFill>
                <a:latin typeface="Arial"/>
                <a:ea typeface="Arial"/>
                <a:cs typeface="Arial"/>
              </a:rPr>
              <a:t>Planned</a:t>
            </a:r>
          </a:p>
        </p:txBody>
      </p:sp>
      <p:sp>
        <p:nvSpPr>
          <p:cNvPr id="5679" name="Dates 3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95925" y="2148726"/>
            <a:ext cx="857250" cy="214592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38100" tIns="0" rIns="3810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defRPr sz="848" b="0">
                <a:solidFill>
                  <a:srgbClr val="111111"/>
                </a:solidFill>
                <a:latin typeface="Arial"/>
                <a:ea typeface="Arial"/>
                <a:cs typeface="Arial"/>
              </a:defRPr>
            </a:pPr>
            <a:r>
              <a:rPr sz="848" b="0">
                <a:solidFill>
                  <a:srgbClr val="111111"/>
                </a:solidFill>
                <a:latin typeface="Arial"/>
                <a:ea typeface="Arial"/>
                <a:cs typeface="Arial"/>
              </a:rPr>
              <a:t>10/19-10/25</a:t>
            </a:r>
          </a:p>
        </p:txBody>
      </p:sp>
      <p:sp>
        <p:nvSpPr>
          <p:cNvPr id="5680" name="Bar 3 0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19175" y="2203634"/>
            <a:ext cx="383000" cy="1047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7BEC4"/>
          </a:solidFill>
          <a:ln xmlns:a="http://schemas.openxmlformats.org/drawingml/2006/main" w="0">
            <a:noFill/>
          </a:ln>
        </p:spPr>
        <p:txBody xmlns:a="http://schemas.openxmlformats.org/drawingml/2006/main">
          <a:bodyPr/>
          <a:p/>
        </p:txBody>
      </p:sp>
      <p:sp>
        <p:nvSpPr>
          <p:cNvPr id="5681" name="Row rule 3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3850" y="2363318"/>
            <a:ext cx="115252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3">
            <a:solidFill>
              <a:srgbClr val="DADADA"/>
            </a:solidFill>
          </a:ln>
        </p:spPr>
        <p:txBody xmlns:a="http://schemas.openxmlformats.org/drawingml/2006/main">
          <a:bodyPr/>
          <a:p/>
        </p:txBody>
      </p:sp>
      <p:sp>
        <p:nvSpPr>
          <p:cNvPr id="5682" name="Week rule 4 2026-10-05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53175" y="2363318"/>
            <a:ext cx="0" cy="214592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3">
            <a:solidFill>
              <a:srgbClr val="DADADA"/>
            </a:solidFill>
          </a:ln>
        </p:spPr>
        <p:txBody xmlns:a="http://schemas.openxmlformats.org/drawingml/2006/main">
          <a:bodyPr/>
          <a:p/>
        </p:txBody>
      </p:sp>
      <p:sp>
        <p:nvSpPr>
          <p:cNvPr id="5683" name="Week rule 4 2026-10-12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36175" y="2363318"/>
            <a:ext cx="0" cy="214592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3">
            <a:solidFill>
              <a:srgbClr val="DADADA"/>
            </a:solidFill>
          </a:ln>
        </p:spPr>
        <p:txBody xmlns:a="http://schemas.openxmlformats.org/drawingml/2006/main">
          <a:bodyPr/>
          <a:p/>
        </p:txBody>
      </p:sp>
      <p:sp>
        <p:nvSpPr>
          <p:cNvPr id="5684" name="Week rule 4 2026-10-19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19175" y="2363318"/>
            <a:ext cx="0" cy="214592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3">
            <a:solidFill>
              <a:srgbClr val="DADADA"/>
            </a:solidFill>
          </a:ln>
        </p:spPr>
        <p:txBody xmlns:a="http://schemas.openxmlformats.org/drawingml/2006/main">
          <a:bodyPr/>
          <a:p/>
        </p:txBody>
      </p:sp>
      <p:sp>
        <p:nvSpPr>
          <p:cNvPr id="5685" name="Week rule 4 2026-10-26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02175" y="2363318"/>
            <a:ext cx="0" cy="214592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3">
            <a:solidFill>
              <a:srgbClr val="DADADA"/>
            </a:solidFill>
          </a:ln>
        </p:spPr>
        <p:txBody xmlns:a="http://schemas.openxmlformats.org/drawingml/2006/main">
          <a:bodyPr/>
          <a:p/>
        </p:txBody>
      </p:sp>
      <p:sp>
        <p:nvSpPr>
          <p:cNvPr id="5686" name="Week rule 4 2026-11-02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85175" y="2363318"/>
            <a:ext cx="0" cy="214592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3">
            <a:solidFill>
              <a:srgbClr val="DADADA"/>
            </a:solidFill>
          </a:ln>
        </p:spPr>
        <p:txBody xmlns:a="http://schemas.openxmlformats.org/drawingml/2006/main">
          <a:bodyPr/>
          <a:p/>
        </p:txBody>
      </p:sp>
      <p:sp>
        <p:nvSpPr>
          <p:cNvPr id="5687" name="Week rule 4 2026-11-09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68175" y="2363318"/>
            <a:ext cx="0" cy="214592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3">
            <a:solidFill>
              <a:srgbClr val="DADADA"/>
            </a:solidFill>
          </a:ln>
        </p:spPr>
        <p:txBody xmlns:a="http://schemas.openxmlformats.org/drawingml/2006/main">
          <a:bodyPr/>
          <a:p/>
        </p:txBody>
      </p:sp>
      <p:sp>
        <p:nvSpPr>
          <p:cNvPr id="5688" name="Week rule 4 2026-11-16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51175" y="2363318"/>
            <a:ext cx="0" cy="214592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3">
            <a:solidFill>
              <a:srgbClr val="DADADA"/>
            </a:solidFill>
          </a:ln>
        </p:spPr>
        <p:txBody xmlns:a="http://schemas.openxmlformats.org/drawingml/2006/main">
          <a:bodyPr/>
          <a:p/>
        </p:txBody>
      </p:sp>
      <p:sp>
        <p:nvSpPr>
          <p:cNvPr id="5689" name="Week rule 4 2026-11-23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34175" y="2363318"/>
            <a:ext cx="0" cy="214592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3">
            <a:solidFill>
              <a:srgbClr val="DADADA"/>
            </a:solidFill>
          </a:ln>
        </p:spPr>
        <p:txBody xmlns:a="http://schemas.openxmlformats.org/drawingml/2006/main">
          <a:bodyPr/>
          <a:p/>
        </p:txBody>
      </p:sp>
      <p:sp>
        <p:nvSpPr>
          <p:cNvPr id="5690" name="Week rule 4 2026-11-30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417175" y="2363318"/>
            <a:ext cx="0" cy="214592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3">
            <a:solidFill>
              <a:srgbClr val="DADADA"/>
            </a:solidFill>
          </a:ln>
        </p:spPr>
        <p:txBody xmlns:a="http://schemas.openxmlformats.org/drawingml/2006/main">
          <a:bodyPr/>
          <a:p/>
        </p:txBody>
      </p:sp>
      <p:sp>
        <p:nvSpPr>
          <p:cNvPr id="5691" name="Week rule 4 2026-12-07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800175" y="2363318"/>
            <a:ext cx="0" cy="214592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3">
            <a:solidFill>
              <a:srgbClr val="DADADA"/>
            </a:solidFill>
          </a:ln>
        </p:spPr>
        <p:txBody xmlns:a="http://schemas.openxmlformats.org/drawingml/2006/main">
          <a:bodyPr/>
          <a:p/>
        </p:txBody>
      </p:sp>
      <p:sp>
        <p:nvSpPr>
          <p:cNvPr id="5692" name="Week rule 4 2026-12-14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183175" y="2363318"/>
            <a:ext cx="0" cy="214592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3">
            <a:solidFill>
              <a:srgbClr val="DADADA"/>
            </a:solidFill>
          </a:ln>
        </p:spPr>
        <p:txBody xmlns:a="http://schemas.openxmlformats.org/drawingml/2006/main">
          <a:bodyPr/>
          <a:p/>
        </p:txBody>
      </p:sp>
      <p:sp>
        <p:nvSpPr>
          <p:cNvPr id="5693" name="Week rule 4 2027-01-04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66175" y="2363318"/>
            <a:ext cx="0" cy="214592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3">
            <a:solidFill>
              <a:srgbClr val="DADADA"/>
            </a:solidFill>
          </a:ln>
        </p:spPr>
        <p:txBody xmlns:a="http://schemas.openxmlformats.org/drawingml/2006/main">
          <a:bodyPr/>
          <a:p/>
        </p:txBody>
      </p:sp>
      <p:sp>
        <p:nvSpPr>
          <p:cNvPr id="5694" name="Week rule 4 2027-02-01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993816" y="2363318"/>
            <a:ext cx="0" cy="214592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3">
            <a:solidFill>
              <a:srgbClr val="DADADA"/>
            </a:solidFill>
          </a:ln>
        </p:spPr>
        <p:txBody xmlns:a="http://schemas.openxmlformats.org/drawingml/2006/main">
          <a:bodyPr/>
          <a:p/>
        </p:txBody>
      </p:sp>
      <p:sp>
        <p:nvSpPr>
          <p:cNvPr id="5695" name="Week rule 4 2027-03-01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421458" y="2363318"/>
            <a:ext cx="0" cy="214592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3">
            <a:solidFill>
              <a:srgbClr val="DADADA"/>
            </a:solidFill>
          </a:ln>
        </p:spPr>
        <p:txBody xmlns:a="http://schemas.openxmlformats.org/drawingml/2006/main">
          <a:bodyPr/>
          <a:p/>
        </p:txBody>
      </p:sp>
      <p:sp>
        <p:nvSpPr>
          <p:cNvPr id="5696" name="Task 4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2425" y="2363318"/>
            <a:ext cx="4295775" cy="214592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38100" tIns="0" rIns="3810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defRPr sz="960" b="0">
                <a:solidFill>
                  <a:srgbClr val="111111"/>
                </a:solidFill>
                <a:latin typeface="Arial"/>
                <a:ea typeface="Arial"/>
                <a:cs typeface="Arial"/>
              </a:defRPr>
            </a:pPr>
            <a:r>
              <a:rPr sz="960" b="0">
                <a:solidFill>
                  <a:srgbClr val="111111"/>
                </a:solidFill>
                <a:latin typeface="Arial"/>
                <a:ea typeface="Arial"/>
                <a:cs typeface="Arial"/>
              </a:rPr>
              <a:t>24. Encoder swaps in the reproduction (item 1, Phase B)</a:t>
            </a:r>
          </a:p>
        </p:txBody>
      </p:sp>
      <p:sp>
        <p:nvSpPr>
          <p:cNvPr id="5697" name="Status 4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57725" y="2363318"/>
            <a:ext cx="838200" cy="214592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38100" tIns="0" rIns="3810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defRPr sz="848" b="0">
                <a:solidFill>
                  <a:srgbClr val="111111"/>
                </a:solidFill>
                <a:latin typeface="Arial"/>
                <a:ea typeface="Arial"/>
                <a:cs typeface="Arial"/>
              </a:defRPr>
            </a:pPr>
            <a:r>
              <a:rPr sz="848" b="0">
                <a:solidFill>
                  <a:srgbClr val="111111"/>
                </a:solidFill>
                <a:latin typeface="Arial"/>
                <a:ea typeface="Arial"/>
                <a:cs typeface="Arial"/>
              </a:rPr>
              <a:t>Planned</a:t>
            </a:r>
          </a:p>
        </p:txBody>
      </p:sp>
      <p:sp>
        <p:nvSpPr>
          <p:cNvPr id="5698" name="Dates 4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95925" y="2363318"/>
            <a:ext cx="857250" cy="214592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38100" tIns="0" rIns="3810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defRPr sz="848" b="0">
                <a:solidFill>
                  <a:srgbClr val="111111"/>
                </a:solidFill>
                <a:latin typeface="Arial"/>
                <a:ea typeface="Arial"/>
                <a:cs typeface="Arial"/>
              </a:defRPr>
            </a:pPr>
            <a:r>
              <a:rPr sz="848" b="0">
                <a:solidFill>
                  <a:srgbClr val="111111"/>
                </a:solidFill>
                <a:latin typeface="Arial"/>
                <a:ea typeface="Arial"/>
                <a:cs typeface="Arial"/>
              </a:rPr>
              <a:t>10/26-11/8</a:t>
            </a:r>
          </a:p>
        </p:txBody>
      </p:sp>
      <p:sp>
        <p:nvSpPr>
          <p:cNvPr id="5699" name="Bar 4 0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02175" y="2418226"/>
            <a:ext cx="766000" cy="1047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7BEC4"/>
          </a:solidFill>
          <a:ln xmlns:a="http://schemas.openxmlformats.org/drawingml/2006/main" w="0">
            <a:noFill/>
          </a:ln>
        </p:spPr>
        <p:txBody xmlns:a="http://schemas.openxmlformats.org/drawingml/2006/main">
          <a:bodyPr/>
          <a:p/>
        </p:txBody>
      </p:sp>
      <p:sp>
        <p:nvSpPr>
          <p:cNvPr id="5700" name="Row rule 4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3850" y="2577910"/>
            <a:ext cx="115252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3">
            <a:solidFill>
              <a:srgbClr val="DADADA"/>
            </a:solidFill>
          </a:ln>
        </p:spPr>
        <p:txBody xmlns:a="http://schemas.openxmlformats.org/drawingml/2006/main">
          <a:bodyPr/>
          <a:p/>
        </p:txBody>
      </p:sp>
      <p:sp>
        <p:nvSpPr>
          <p:cNvPr id="5701" name="Row tint 5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3850" y="2577910"/>
            <a:ext cx="11525250" cy="214592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7F7F7"/>
          </a:solidFill>
          <a:ln xmlns:a="http://schemas.openxmlformats.org/drawingml/2006/main" w="0">
            <a:noFill/>
          </a:ln>
        </p:spPr>
        <p:txBody xmlns:a="http://schemas.openxmlformats.org/drawingml/2006/main">
          <a:bodyPr/>
          <a:p/>
        </p:txBody>
      </p:sp>
      <p:sp>
        <p:nvSpPr>
          <p:cNvPr id="5702" name="Week rule 5 2026-10-05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53175" y="2577910"/>
            <a:ext cx="0" cy="214592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3">
            <a:solidFill>
              <a:srgbClr val="DADADA"/>
            </a:solidFill>
          </a:ln>
        </p:spPr>
        <p:txBody xmlns:a="http://schemas.openxmlformats.org/drawingml/2006/main">
          <a:bodyPr/>
          <a:p/>
        </p:txBody>
      </p:sp>
      <p:sp>
        <p:nvSpPr>
          <p:cNvPr id="5703" name="Week rule 5 2026-10-12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36175" y="2577910"/>
            <a:ext cx="0" cy="214592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3">
            <a:solidFill>
              <a:srgbClr val="DADADA"/>
            </a:solidFill>
          </a:ln>
        </p:spPr>
        <p:txBody xmlns:a="http://schemas.openxmlformats.org/drawingml/2006/main">
          <a:bodyPr/>
          <a:p/>
        </p:txBody>
      </p:sp>
      <p:sp>
        <p:nvSpPr>
          <p:cNvPr id="5704" name="Week rule 5 2026-10-19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19175" y="2577910"/>
            <a:ext cx="0" cy="214592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3">
            <a:solidFill>
              <a:srgbClr val="DADADA"/>
            </a:solidFill>
          </a:ln>
        </p:spPr>
        <p:txBody xmlns:a="http://schemas.openxmlformats.org/drawingml/2006/main">
          <a:bodyPr/>
          <a:p/>
        </p:txBody>
      </p:sp>
      <p:sp>
        <p:nvSpPr>
          <p:cNvPr id="5705" name="Week rule 5 2026-10-26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02175" y="2577910"/>
            <a:ext cx="0" cy="214592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3">
            <a:solidFill>
              <a:srgbClr val="DADADA"/>
            </a:solidFill>
          </a:ln>
        </p:spPr>
        <p:txBody xmlns:a="http://schemas.openxmlformats.org/drawingml/2006/main">
          <a:bodyPr/>
          <a:p/>
        </p:txBody>
      </p:sp>
      <p:sp>
        <p:nvSpPr>
          <p:cNvPr id="5706" name="Week rule 5 2026-11-02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85175" y="2577910"/>
            <a:ext cx="0" cy="214592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3">
            <a:solidFill>
              <a:srgbClr val="DADADA"/>
            </a:solidFill>
          </a:ln>
        </p:spPr>
        <p:txBody xmlns:a="http://schemas.openxmlformats.org/drawingml/2006/main">
          <a:bodyPr/>
          <a:p/>
        </p:txBody>
      </p:sp>
      <p:sp>
        <p:nvSpPr>
          <p:cNvPr id="5707" name="Week rule 5 2026-11-09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68175" y="2577910"/>
            <a:ext cx="0" cy="214592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3">
            <a:solidFill>
              <a:srgbClr val="DADADA"/>
            </a:solidFill>
          </a:ln>
        </p:spPr>
        <p:txBody xmlns:a="http://schemas.openxmlformats.org/drawingml/2006/main">
          <a:bodyPr/>
          <a:p/>
        </p:txBody>
      </p:sp>
      <p:sp>
        <p:nvSpPr>
          <p:cNvPr id="5708" name="Week rule 5 2026-11-16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51175" y="2577910"/>
            <a:ext cx="0" cy="214592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3">
            <a:solidFill>
              <a:srgbClr val="DADADA"/>
            </a:solidFill>
          </a:ln>
        </p:spPr>
        <p:txBody xmlns:a="http://schemas.openxmlformats.org/drawingml/2006/main">
          <a:bodyPr/>
          <a:p/>
        </p:txBody>
      </p:sp>
      <p:sp>
        <p:nvSpPr>
          <p:cNvPr id="5709" name="Week rule 5 2026-11-23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34175" y="2577910"/>
            <a:ext cx="0" cy="214592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3">
            <a:solidFill>
              <a:srgbClr val="DADADA"/>
            </a:solidFill>
          </a:ln>
        </p:spPr>
        <p:txBody xmlns:a="http://schemas.openxmlformats.org/drawingml/2006/main">
          <a:bodyPr/>
          <a:p/>
        </p:txBody>
      </p:sp>
      <p:sp>
        <p:nvSpPr>
          <p:cNvPr id="5710" name="Week rule 5 2026-11-30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417175" y="2577910"/>
            <a:ext cx="0" cy="214592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3">
            <a:solidFill>
              <a:srgbClr val="DADADA"/>
            </a:solidFill>
          </a:ln>
        </p:spPr>
        <p:txBody xmlns:a="http://schemas.openxmlformats.org/drawingml/2006/main">
          <a:bodyPr/>
          <a:p/>
        </p:txBody>
      </p:sp>
      <p:sp>
        <p:nvSpPr>
          <p:cNvPr id="5711" name="Week rule 5 2026-12-07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800175" y="2577910"/>
            <a:ext cx="0" cy="214592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3">
            <a:solidFill>
              <a:srgbClr val="DADADA"/>
            </a:solidFill>
          </a:ln>
        </p:spPr>
        <p:txBody xmlns:a="http://schemas.openxmlformats.org/drawingml/2006/main">
          <a:bodyPr/>
          <a:p/>
        </p:txBody>
      </p:sp>
      <p:sp>
        <p:nvSpPr>
          <p:cNvPr id="5712" name="Week rule 5 2026-12-14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183175" y="2577910"/>
            <a:ext cx="0" cy="214592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3">
            <a:solidFill>
              <a:srgbClr val="DADADA"/>
            </a:solidFill>
          </a:ln>
        </p:spPr>
        <p:txBody xmlns:a="http://schemas.openxmlformats.org/drawingml/2006/main">
          <a:bodyPr/>
          <a:p/>
        </p:txBody>
      </p:sp>
      <p:sp>
        <p:nvSpPr>
          <p:cNvPr id="5713" name="Week rule 5 2027-01-04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66175" y="2577910"/>
            <a:ext cx="0" cy="214592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3">
            <a:solidFill>
              <a:srgbClr val="DADADA"/>
            </a:solidFill>
          </a:ln>
        </p:spPr>
        <p:txBody xmlns:a="http://schemas.openxmlformats.org/drawingml/2006/main">
          <a:bodyPr/>
          <a:p/>
        </p:txBody>
      </p:sp>
      <p:sp>
        <p:nvSpPr>
          <p:cNvPr id="5714" name="Week rule 5 2027-02-01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993816" y="2577910"/>
            <a:ext cx="0" cy="214592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3">
            <a:solidFill>
              <a:srgbClr val="DADADA"/>
            </a:solidFill>
          </a:ln>
        </p:spPr>
        <p:txBody xmlns:a="http://schemas.openxmlformats.org/drawingml/2006/main">
          <a:bodyPr/>
          <a:p/>
        </p:txBody>
      </p:sp>
      <p:sp>
        <p:nvSpPr>
          <p:cNvPr id="5715" name="Week rule 5 2027-03-01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421458" y="2577910"/>
            <a:ext cx="0" cy="214592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3">
            <a:solidFill>
              <a:srgbClr val="DADADA"/>
            </a:solidFill>
          </a:ln>
        </p:spPr>
        <p:txBody xmlns:a="http://schemas.openxmlformats.org/drawingml/2006/main">
          <a:bodyPr/>
          <a:p/>
        </p:txBody>
      </p:sp>
      <p:sp>
        <p:nvSpPr>
          <p:cNvPr id="5716" name="Task 5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2425" y="2577910"/>
            <a:ext cx="4295775" cy="214592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38100" tIns="0" rIns="3810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defRPr sz="960" b="0">
                <a:solidFill>
                  <a:srgbClr val="111111"/>
                </a:solidFill>
                <a:latin typeface="Arial"/>
                <a:ea typeface="Arial"/>
                <a:cs typeface="Arial"/>
              </a:defRPr>
            </a:pPr>
            <a:r>
              <a:rPr sz="960" b="0">
                <a:solidFill>
                  <a:srgbClr val="111111"/>
                </a:solidFill>
                <a:latin typeface="Arial"/>
                <a:ea typeface="Arial"/>
                <a:cs typeface="Arial"/>
              </a:rPr>
              <a:t>41. LucaOne frozen baseline, stability and GTEx (item 2)</a:t>
            </a:r>
          </a:p>
        </p:txBody>
      </p:sp>
      <p:sp>
        <p:nvSpPr>
          <p:cNvPr id="5717" name="Status 5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57725" y="2577910"/>
            <a:ext cx="838200" cy="214592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38100" tIns="0" rIns="3810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defRPr sz="848" b="0">
                <a:solidFill>
                  <a:srgbClr val="111111"/>
                </a:solidFill>
                <a:latin typeface="Arial"/>
                <a:ea typeface="Arial"/>
                <a:cs typeface="Arial"/>
              </a:defRPr>
            </a:pPr>
            <a:r>
              <a:rPr sz="848" b="0">
                <a:solidFill>
                  <a:srgbClr val="111111"/>
                </a:solidFill>
                <a:latin typeface="Arial"/>
                <a:ea typeface="Arial"/>
                <a:cs typeface="Arial"/>
              </a:rPr>
              <a:t>Planned</a:t>
            </a:r>
          </a:p>
        </p:txBody>
      </p:sp>
      <p:sp>
        <p:nvSpPr>
          <p:cNvPr id="5718" name="Dates 5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95925" y="2577910"/>
            <a:ext cx="857250" cy="214592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38100" tIns="0" rIns="3810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defRPr sz="848" b="0">
                <a:solidFill>
                  <a:srgbClr val="111111"/>
                </a:solidFill>
                <a:latin typeface="Arial"/>
                <a:ea typeface="Arial"/>
                <a:cs typeface="Arial"/>
              </a:defRPr>
            </a:pPr>
            <a:r>
              <a:rPr sz="848" b="0">
                <a:solidFill>
                  <a:srgbClr val="111111"/>
                </a:solidFill>
                <a:latin typeface="Arial"/>
                <a:ea typeface="Arial"/>
                <a:cs typeface="Arial"/>
              </a:rPr>
              <a:t>11/9-11/22</a:t>
            </a:r>
          </a:p>
        </p:txBody>
      </p:sp>
      <p:sp>
        <p:nvSpPr>
          <p:cNvPr id="5719" name="Bar 5 0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68175" y="2632818"/>
            <a:ext cx="766000" cy="1047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7BEC4"/>
          </a:solidFill>
          <a:ln xmlns:a="http://schemas.openxmlformats.org/drawingml/2006/main" w="0">
            <a:noFill/>
          </a:ln>
        </p:spPr>
        <p:txBody xmlns:a="http://schemas.openxmlformats.org/drawingml/2006/main">
          <a:bodyPr/>
          <a:p/>
        </p:txBody>
      </p:sp>
      <p:sp>
        <p:nvSpPr>
          <p:cNvPr id="5720" name="Row rule 5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3850" y="2792502"/>
            <a:ext cx="115252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3">
            <a:solidFill>
              <a:srgbClr val="DADADA"/>
            </a:solidFill>
          </a:ln>
        </p:spPr>
        <p:txBody xmlns:a="http://schemas.openxmlformats.org/drawingml/2006/main">
          <a:bodyPr/>
          <a:p/>
        </p:txBody>
      </p:sp>
      <p:sp>
        <p:nvSpPr>
          <p:cNvPr id="5721" name="Week rule 6 2026-10-05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53175" y="2792502"/>
            <a:ext cx="0" cy="214592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3">
            <a:solidFill>
              <a:srgbClr val="DADADA"/>
            </a:solidFill>
          </a:ln>
        </p:spPr>
        <p:txBody xmlns:a="http://schemas.openxmlformats.org/drawingml/2006/main">
          <a:bodyPr/>
          <a:p/>
        </p:txBody>
      </p:sp>
      <p:sp>
        <p:nvSpPr>
          <p:cNvPr id="5722" name="Week rule 6 2026-10-12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36175" y="2792502"/>
            <a:ext cx="0" cy="214592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3">
            <a:solidFill>
              <a:srgbClr val="DADADA"/>
            </a:solidFill>
          </a:ln>
        </p:spPr>
        <p:txBody xmlns:a="http://schemas.openxmlformats.org/drawingml/2006/main">
          <a:bodyPr/>
          <a:p/>
        </p:txBody>
      </p:sp>
      <p:sp>
        <p:nvSpPr>
          <p:cNvPr id="5723" name="Week rule 6 2026-10-19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19175" y="2792502"/>
            <a:ext cx="0" cy="214592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3">
            <a:solidFill>
              <a:srgbClr val="DADADA"/>
            </a:solidFill>
          </a:ln>
        </p:spPr>
        <p:txBody xmlns:a="http://schemas.openxmlformats.org/drawingml/2006/main">
          <a:bodyPr/>
          <a:p/>
        </p:txBody>
      </p:sp>
      <p:sp>
        <p:nvSpPr>
          <p:cNvPr id="5724" name="Week rule 6 2026-10-26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02175" y="2792502"/>
            <a:ext cx="0" cy="214592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3">
            <a:solidFill>
              <a:srgbClr val="DADADA"/>
            </a:solidFill>
          </a:ln>
        </p:spPr>
        <p:txBody xmlns:a="http://schemas.openxmlformats.org/drawingml/2006/main">
          <a:bodyPr/>
          <a:p/>
        </p:txBody>
      </p:sp>
      <p:sp>
        <p:nvSpPr>
          <p:cNvPr id="5725" name="Week rule 6 2026-11-02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85175" y="2792502"/>
            <a:ext cx="0" cy="214592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3">
            <a:solidFill>
              <a:srgbClr val="DADADA"/>
            </a:solidFill>
          </a:ln>
        </p:spPr>
        <p:txBody xmlns:a="http://schemas.openxmlformats.org/drawingml/2006/main">
          <a:bodyPr/>
          <a:p/>
        </p:txBody>
      </p:sp>
      <p:sp>
        <p:nvSpPr>
          <p:cNvPr id="5726" name="Week rule 6 2026-11-09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68175" y="2792502"/>
            <a:ext cx="0" cy="214592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3">
            <a:solidFill>
              <a:srgbClr val="DADADA"/>
            </a:solidFill>
          </a:ln>
        </p:spPr>
        <p:txBody xmlns:a="http://schemas.openxmlformats.org/drawingml/2006/main">
          <a:bodyPr/>
          <a:p/>
        </p:txBody>
      </p:sp>
      <p:sp>
        <p:nvSpPr>
          <p:cNvPr id="5727" name="Week rule 6 2026-11-16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51175" y="2792502"/>
            <a:ext cx="0" cy="214592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3">
            <a:solidFill>
              <a:srgbClr val="DADADA"/>
            </a:solidFill>
          </a:ln>
        </p:spPr>
        <p:txBody xmlns:a="http://schemas.openxmlformats.org/drawingml/2006/main">
          <a:bodyPr/>
          <a:p/>
        </p:txBody>
      </p:sp>
      <p:sp>
        <p:nvSpPr>
          <p:cNvPr id="5728" name="Week rule 6 2026-11-23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34175" y="2792502"/>
            <a:ext cx="0" cy="214592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3">
            <a:solidFill>
              <a:srgbClr val="DADADA"/>
            </a:solidFill>
          </a:ln>
        </p:spPr>
        <p:txBody xmlns:a="http://schemas.openxmlformats.org/drawingml/2006/main">
          <a:bodyPr/>
          <a:p/>
        </p:txBody>
      </p:sp>
      <p:sp>
        <p:nvSpPr>
          <p:cNvPr id="5729" name="Week rule 6 2026-11-30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417175" y="2792502"/>
            <a:ext cx="0" cy="214592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3">
            <a:solidFill>
              <a:srgbClr val="DADADA"/>
            </a:solidFill>
          </a:ln>
        </p:spPr>
        <p:txBody xmlns:a="http://schemas.openxmlformats.org/drawingml/2006/main">
          <a:bodyPr/>
          <a:p/>
        </p:txBody>
      </p:sp>
      <p:sp>
        <p:nvSpPr>
          <p:cNvPr id="5730" name="Week rule 6 2026-12-07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800175" y="2792502"/>
            <a:ext cx="0" cy="214592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3">
            <a:solidFill>
              <a:srgbClr val="DADADA"/>
            </a:solidFill>
          </a:ln>
        </p:spPr>
        <p:txBody xmlns:a="http://schemas.openxmlformats.org/drawingml/2006/main">
          <a:bodyPr/>
          <a:p/>
        </p:txBody>
      </p:sp>
      <p:sp>
        <p:nvSpPr>
          <p:cNvPr id="5731" name="Week rule 6 2026-12-14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183175" y="2792502"/>
            <a:ext cx="0" cy="214592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3">
            <a:solidFill>
              <a:srgbClr val="DADADA"/>
            </a:solidFill>
          </a:ln>
        </p:spPr>
        <p:txBody xmlns:a="http://schemas.openxmlformats.org/drawingml/2006/main">
          <a:bodyPr/>
          <a:p/>
        </p:txBody>
      </p:sp>
      <p:sp>
        <p:nvSpPr>
          <p:cNvPr id="5732" name="Week rule 6 2027-01-04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66175" y="2792502"/>
            <a:ext cx="0" cy="214592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3">
            <a:solidFill>
              <a:srgbClr val="DADADA"/>
            </a:solidFill>
          </a:ln>
        </p:spPr>
        <p:txBody xmlns:a="http://schemas.openxmlformats.org/drawingml/2006/main">
          <a:bodyPr/>
          <a:p/>
        </p:txBody>
      </p:sp>
      <p:sp>
        <p:nvSpPr>
          <p:cNvPr id="5733" name="Week rule 6 2027-02-01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993816" y="2792502"/>
            <a:ext cx="0" cy="214592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3">
            <a:solidFill>
              <a:srgbClr val="DADADA"/>
            </a:solidFill>
          </a:ln>
        </p:spPr>
        <p:txBody xmlns:a="http://schemas.openxmlformats.org/drawingml/2006/main">
          <a:bodyPr/>
          <a:p/>
        </p:txBody>
      </p:sp>
      <p:sp>
        <p:nvSpPr>
          <p:cNvPr id="5734" name="Week rule 6 2027-03-01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421458" y="2792502"/>
            <a:ext cx="0" cy="214592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3">
            <a:solidFill>
              <a:srgbClr val="DADADA"/>
            </a:solidFill>
          </a:ln>
        </p:spPr>
        <p:txBody xmlns:a="http://schemas.openxmlformats.org/drawingml/2006/main">
          <a:bodyPr/>
          <a:p/>
        </p:txBody>
      </p:sp>
      <p:sp>
        <p:nvSpPr>
          <p:cNvPr id="5735" name="Task 6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2425" y="2792502"/>
            <a:ext cx="4295775" cy="214592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38100" tIns="0" rIns="3810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defRPr sz="960" b="0">
                <a:solidFill>
                  <a:srgbClr val="111111"/>
                </a:solidFill>
                <a:latin typeface="Arial"/>
                <a:ea typeface="Arial"/>
                <a:cs typeface="Arial"/>
              </a:defRPr>
            </a:pPr>
            <a:r>
              <a:rPr sz="960" b="0">
                <a:solidFill>
                  <a:srgbClr val="111111"/>
                </a:solidFill>
                <a:latin typeface="Arial"/>
                <a:ea typeface="Arial"/>
                <a:cs typeface="Arial"/>
              </a:rPr>
              <a:t>44. IsoFormer reproduced on GTEx (baseline)</a:t>
            </a:r>
          </a:p>
        </p:txBody>
      </p:sp>
      <p:sp>
        <p:nvSpPr>
          <p:cNvPr id="5736" name="Status 6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57725" y="2792502"/>
            <a:ext cx="838200" cy="214592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38100" tIns="0" rIns="3810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defRPr sz="848" b="0">
                <a:solidFill>
                  <a:srgbClr val="111111"/>
                </a:solidFill>
                <a:latin typeface="Arial"/>
                <a:ea typeface="Arial"/>
                <a:cs typeface="Arial"/>
              </a:defRPr>
            </a:pPr>
            <a:r>
              <a:rPr sz="848" b="0">
                <a:solidFill>
                  <a:srgbClr val="111111"/>
                </a:solidFill>
                <a:latin typeface="Arial"/>
                <a:ea typeface="Arial"/>
                <a:cs typeface="Arial"/>
              </a:rPr>
              <a:t>Planned</a:t>
            </a:r>
          </a:p>
        </p:txBody>
      </p:sp>
      <p:sp>
        <p:nvSpPr>
          <p:cNvPr id="5737" name="Dates 6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95925" y="2792502"/>
            <a:ext cx="857250" cy="214592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38100" tIns="0" rIns="3810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defRPr sz="848" b="0">
                <a:solidFill>
                  <a:srgbClr val="111111"/>
                </a:solidFill>
                <a:latin typeface="Arial"/>
                <a:ea typeface="Arial"/>
                <a:cs typeface="Arial"/>
              </a:defRPr>
            </a:pPr>
            <a:r>
              <a:rPr sz="848" b="0">
                <a:solidFill>
                  <a:srgbClr val="111111"/>
                </a:solidFill>
                <a:latin typeface="Arial"/>
                <a:ea typeface="Arial"/>
                <a:cs typeface="Arial"/>
              </a:rPr>
              <a:t>11/9-11/22</a:t>
            </a:r>
          </a:p>
        </p:txBody>
      </p:sp>
      <p:sp>
        <p:nvSpPr>
          <p:cNvPr id="5738" name="Bar 6 0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68175" y="2847410"/>
            <a:ext cx="766000" cy="1047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7BEC4"/>
          </a:solidFill>
          <a:ln xmlns:a="http://schemas.openxmlformats.org/drawingml/2006/main" w="0">
            <a:noFill/>
          </a:ln>
        </p:spPr>
        <p:txBody xmlns:a="http://schemas.openxmlformats.org/drawingml/2006/main">
          <a:bodyPr/>
          <a:p/>
        </p:txBody>
      </p:sp>
      <p:sp>
        <p:nvSpPr>
          <p:cNvPr id="5739" name="Row rule 6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3850" y="3007094"/>
            <a:ext cx="115252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3">
            <a:solidFill>
              <a:srgbClr val="DADADA"/>
            </a:solidFill>
          </a:ln>
        </p:spPr>
        <p:txBody xmlns:a="http://schemas.openxmlformats.org/drawingml/2006/main">
          <a:bodyPr/>
          <a:p/>
        </p:txBody>
      </p:sp>
      <p:sp>
        <p:nvSpPr>
          <p:cNvPr id="5740" name="Row tint 7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3850" y="3007094"/>
            <a:ext cx="11525250" cy="214592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7F7F7"/>
          </a:solidFill>
          <a:ln xmlns:a="http://schemas.openxmlformats.org/drawingml/2006/main" w="0">
            <a:noFill/>
          </a:ln>
        </p:spPr>
        <p:txBody xmlns:a="http://schemas.openxmlformats.org/drawingml/2006/main">
          <a:bodyPr/>
          <a:p/>
        </p:txBody>
      </p:sp>
      <p:sp>
        <p:nvSpPr>
          <p:cNvPr id="5741" name="Week rule 7 2026-10-05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53175" y="3007094"/>
            <a:ext cx="0" cy="214592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3">
            <a:solidFill>
              <a:srgbClr val="DADADA"/>
            </a:solidFill>
          </a:ln>
        </p:spPr>
        <p:txBody xmlns:a="http://schemas.openxmlformats.org/drawingml/2006/main">
          <a:bodyPr/>
          <a:p/>
        </p:txBody>
      </p:sp>
      <p:sp>
        <p:nvSpPr>
          <p:cNvPr id="5742" name="Week rule 7 2026-10-12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36175" y="3007094"/>
            <a:ext cx="0" cy="214592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3">
            <a:solidFill>
              <a:srgbClr val="DADADA"/>
            </a:solidFill>
          </a:ln>
        </p:spPr>
        <p:txBody xmlns:a="http://schemas.openxmlformats.org/drawingml/2006/main">
          <a:bodyPr/>
          <a:p/>
        </p:txBody>
      </p:sp>
      <p:sp>
        <p:nvSpPr>
          <p:cNvPr id="5743" name="Week rule 7 2026-10-19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19175" y="3007094"/>
            <a:ext cx="0" cy="214592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3">
            <a:solidFill>
              <a:srgbClr val="DADADA"/>
            </a:solidFill>
          </a:ln>
        </p:spPr>
        <p:txBody xmlns:a="http://schemas.openxmlformats.org/drawingml/2006/main">
          <a:bodyPr/>
          <a:p/>
        </p:txBody>
      </p:sp>
      <p:sp>
        <p:nvSpPr>
          <p:cNvPr id="5744" name="Week rule 7 2026-10-26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02175" y="3007094"/>
            <a:ext cx="0" cy="214592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3">
            <a:solidFill>
              <a:srgbClr val="DADADA"/>
            </a:solidFill>
          </a:ln>
        </p:spPr>
        <p:txBody xmlns:a="http://schemas.openxmlformats.org/drawingml/2006/main">
          <a:bodyPr/>
          <a:p/>
        </p:txBody>
      </p:sp>
      <p:sp>
        <p:nvSpPr>
          <p:cNvPr id="5745" name="Week rule 7 2026-11-02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85175" y="3007094"/>
            <a:ext cx="0" cy="214592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3">
            <a:solidFill>
              <a:srgbClr val="DADADA"/>
            </a:solidFill>
          </a:ln>
        </p:spPr>
        <p:txBody xmlns:a="http://schemas.openxmlformats.org/drawingml/2006/main">
          <a:bodyPr/>
          <a:p/>
        </p:txBody>
      </p:sp>
      <p:sp>
        <p:nvSpPr>
          <p:cNvPr id="5746" name="Week rule 7 2026-11-09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68175" y="3007094"/>
            <a:ext cx="0" cy="214592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3">
            <a:solidFill>
              <a:srgbClr val="DADADA"/>
            </a:solidFill>
          </a:ln>
        </p:spPr>
        <p:txBody xmlns:a="http://schemas.openxmlformats.org/drawingml/2006/main">
          <a:bodyPr/>
          <a:p/>
        </p:txBody>
      </p:sp>
      <p:sp>
        <p:nvSpPr>
          <p:cNvPr id="5747" name="Week rule 7 2026-11-16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51175" y="3007094"/>
            <a:ext cx="0" cy="214592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3">
            <a:solidFill>
              <a:srgbClr val="DADADA"/>
            </a:solidFill>
          </a:ln>
        </p:spPr>
        <p:txBody xmlns:a="http://schemas.openxmlformats.org/drawingml/2006/main">
          <a:bodyPr/>
          <a:p/>
        </p:txBody>
      </p:sp>
      <p:sp>
        <p:nvSpPr>
          <p:cNvPr id="5748" name="Week rule 7 2026-11-23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34175" y="3007094"/>
            <a:ext cx="0" cy="214592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3">
            <a:solidFill>
              <a:srgbClr val="DADADA"/>
            </a:solidFill>
          </a:ln>
        </p:spPr>
        <p:txBody xmlns:a="http://schemas.openxmlformats.org/drawingml/2006/main">
          <a:bodyPr/>
          <a:p/>
        </p:txBody>
      </p:sp>
      <p:sp>
        <p:nvSpPr>
          <p:cNvPr id="5749" name="Week rule 7 2026-11-30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417175" y="3007094"/>
            <a:ext cx="0" cy="214592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3">
            <a:solidFill>
              <a:srgbClr val="DADADA"/>
            </a:solidFill>
          </a:ln>
        </p:spPr>
        <p:txBody xmlns:a="http://schemas.openxmlformats.org/drawingml/2006/main">
          <a:bodyPr/>
          <a:p/>
        </p:txBody>
      </p:sp>
      <p:sp>
        <p:nvSpPr>
          <p:cNvPr id="5750" name="Week rule 7 2026-12-07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800175" y="3007094"/>
            <a:ext cx="0" cy="214592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3">
            <a:solidFill>
              <a:srgbClr val="DADADA"/>
            </a:solidFill>
          </a:ln>
        </p:spPr>
        <p:txBody xmlns:a="http://schemas.openxmlformats.org/drawingml/2006/main">
          <a:bodyPr/>
          <a:p/>
        </p:txBody>
      </p:sp>
      <p:sp>
        <p:nvSpPr>
          <p:cNvPr id="5751" name="Week rule 7 2026-12-14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183175" y="3007094"/>
            <a:ext cx="0" cy="214592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3">
            <a:solidFill>
              <a:srgbClr val="DADADA"/>
            </a:solidFill>
          </a:ln>
        </p:spPr>
        <p:txBody xmlns:a="http://schemas.openxmlformats.org/drawingml/2006/main">
          <a:bodyPr/>
          <a:p/>
        </p:txBody>
      </p:sp>
      <p:sp>
        <p:nvSpPr>
          <p:cNvPr id="5752" name="Week rule 7 2027-01-04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66175" y="3007094"/>
            <a:ext cx="0" cy="214592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3">
            <a:solidFill>
              <a:srgbClr val="DADADA"/>
            </a:solidFill>
          </a:ln>
        </p:spPr>
        <p:txBody xmlns:a="http://schemas.openxmlformats.org/drawingml/2006/main">
          <a:bodyPr/>
          <a:p/>
        </p:txBody>
      </p:sp>
      <p:sp>
        <p:nvSpPr>
          <p:cNvPr id="5753" name="Week rule 7 2027-02-01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993816" y="3007094"/>
            <a:ext cx="0" cy="214592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3">
            <a:solidFill>
              <a:srgbClr val="DADADA"/>
            </a:solidFill>
          </a:ln>
        </p:spPr>
        <p:txBody xmlns:a="http://schemas.openxmlformats.org/drawingml/2006/main">
          <a:bodyPr/>
          <a:p/>
        </p:txBody>
      </p:sp>
      <p:sp>
        <p:nvSpPr>
          <p:cNvPr id="5754" name="Week rule 7 2027-03-01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421458" y="3007094"/>
            <a:ext cx="0" cy="214592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3">
            <a:solidFill>
              <a:srgbClr val="DADADA"/>
            </a:solidFill>
          </a:ln>
        </p:spPr>
        <p:txBody xmlns:a="http://schemas.openxmlformats.org/drawingml/2006/main">
          <a:bodyPr/>
          <a:p/>
        </p:txBody>
      </p:sp>
      <p:sp>
        <p:nvSpPr>
          <p:cNvPr id="5755" name="Task 7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2425" y="3007094"/>
            <a:ext cx="4295775" cy="214592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38100" tIns="0" rIns="3810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defRPr sz="960" b="0">
                <a:solidFill>
                  <a:srgbClr val="111111"/>
                </a:solidFill>
                <a:latin typeface="Arial"/>
                <a:ea typeface="Arial"/>
                <a:cs typeface="Arial"/>
              </a:defRPr>
            </a:pPr>
            <a:r>
              <a:rPr sz="960" b="0">
                <a:solidFill>
                  <a:srgbClr val="111111"/>
                </a:solidFill>
                <a:latin typeface="Arial"/>
                <a:ea typeface="Arial"/>
                <a:cs typeface="Arial"/>
              </a:rPr>
              <a:t>42. Half-life and translation efficiency (items 3 and 4)</a:t>
            </a:r>
          </a:p>
        </p:txBody>
      </p:sp>
      <p:sp>
        <p:nvSpPr>
          <p:cNvPr id="5756" name="Status 7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57725" y="3007094"/>
            <a:ext cx="838200" cy="214592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38100" tIns="0" rIns="3810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defRPr sz="848" b="0">
                <a:solidFill>
                  <a:srgbClr val="111111"/>
                </a:solidFill>
                <a:latin typeface="Arial"/>
                <a:ea typeface="Arial"/>
                <a:cs typeface="Arial"/>
              </a:defRPr>
            </a:pPr>
            <a:r>
              <a:rPr sz="848" b="0">
                <a:solidFill>
                  <a:srgbClr val="111111"/>
                </a:solidFill>
                <a:latin typeface="Arial"/>
                <a:ea typeface="Arial"/>
                <a:cs typeface="Arial"/>
              </a:rPr>
              <a:t>Planned</a:t>
            </a:r>
          </a:p>
        </p:txBody>
      </p:sp>
      <p:sp>
        <p:nvSpPr>
          <p:cNvPr id="5757" name="Dates 7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95925" y="3007094"/>
            <a:ext cx="857250" cy="214592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38100" tIns="0" rIns="3810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defRPr sz="848" b="0">
                <a:solidFill>
                  <a:srgbClr val="111111"/>
                </a:solidFill>
                <a:latin typeface="Arial"/>
                <a:ea typeface="Arial"/>
                <a:cs typeface="Arial"/>
              </a:defRPr>
            </a:pPr>
            <a:r>
              <a:rPr sz="848" b="0">
                <a:solidFill>
                  <a:srgbClr val="111111"/>
                </a:solidFill>
                <a:latin typeface="Arial"/>
                <a:ea typeface="Arial"/>
                <a:cs typeface="Arial"/>
              </a:rPr>
              <a:t>11/23-12/20</a:t>
            </a:r>
          </a:p>
        </p:txBody>
      </p:sp>
      <p:sp>
        <p:nvSpPr>
          <p:cNvPr id="5758" name="Bar 7 0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34175" y="3062002"/>
            <a:ext cx="1532000" cy="1047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7BEC4"/>
          </a:solidFill>
          <a:ln xmlns:a="http://schemas.openxmlformats.org/drawingml/2006/main" w="0">
            <a:noFill/>
          </a:ln>
        </p:spPr>
        <p:txBody xmlns:a="http://schemas.openxmlformats.org/drawingml/2006/main">
          <a:bodyPr/>
          <a:p/>
        </p:txBody>
      </p:sp>
      <p:sp>
        <p:nvSpPr>
          <p:cNvPr id="5759" name="Row rule 7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3850" y="3221686"/>
            <a:ext cx="115252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3">
            <a:solidFill>
              <a:srgbClr val="DADADA"/>
            </a:solidFill>
          </a:ln>
        </p:spPr>
        <p:txBody xmlns:a="http://schemas.openxmlformats.org/drawingml/2006/main">
          <a:bodyPr/>
          <a:p/>
        </p:txBody>
      </p:sp>
      <p:sp>
        <p:nvSpPr>
          <p:cNvPr id="5760" name="Section Repeated runs, interpretation and revision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3850" y="3221686"/>
            <a:ext cx="11525250" cy="2190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DE4EA"/>
          </a:solidFill>
          <a:ln xmlns:a="http://schemas.openxmlformats.org/drawingml/2006/main" w="0">
            <a:noFill/>
          </a:ln>
        </p:spPr>
        <p:txBody xmlns:a="http://schemas.openxmlformats.org/drawingml/2006/main">
          <a:bodyPr/>
          <a:p/>
        </p:txBody>
      </p:sp>
      <p:sp>
        <p:nvSpPr>
          <p:cNvPr id="5761" name="Section title Repeated runs, interpretation and revision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2425" y="3221686"/>
            <a:ext cx="11468100" cy="2190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38100" tIns="0" rIns="3810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pPr>
            <a:r>
              <a:rPr sz="1050" b="1">
                <a:solidFill>
                  <a:srgbClr val="111111"/>
                </a:solidFill>
                <a:latin typeface="Arial"/>
                <a:ea typeface="Arial"/>
                <a:cs typeface="Arial"/>
              </a:rPr>
              <a:t>Repeated runs, interpretation and revision</a:t>
            </a:r>
          </a:p>
        </p:txBody>
      </p:sp>
      <p:sp>
        <p:nvSpPr>
          <p:cNvPr id="5762" name="Week rule 8 2026-10-05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53175" y="3440761"/>
            <a:ext cx="0" cy="214592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3">
            <a:solidFill>
              <a:srgbClr val="DADADA"/>
            </a:solidFill>
          </a:ln>
        </p:spPr>
        <p:txBody xmlns:a="http://schemas.openxmlformats.org/drawingml/2006/main">
          <a:bodyPr/>
          <a:p/>
        </p:txBody>
      </p:sp>
      <p:sp>
        <p:nvSpPr>
          <p:cNvPr id="5763" name="Week rule 8 2026-10-12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36175" y="3440761"/>
            <a:ext cx="0" cy="214592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3">
            <a:solidFill>
              <a:srgbClr val="DADADA"/>
            </a:solidFill>
          </a:ln>
        </p:spPr>
        <p:txBody xmlns:a="http://schemas.openxmlformats.org/drawingml/2006/main">
          <a:bodyPr/>
          <a:p/>
        </p:txBody>
      </p:sp>
      <p:sp>
        <p:nvSpPr>
          <p:cNvPr id="5764" name="Week rule 8 2026-10-19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19175" y="3440761"/>
            <a:ext cx="0" cy="214592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3">
            <a:solidFill>
              <a:srgbClr val="DADADA"/>
            </a:solidFill>
          </a:ln>
        </p:spPr>
        <p:txBody xmlns:a="http://schemas.openxmlformats.org/drawingml/2006/main">
          <a:bodyPr/>
          <a:p/>
        </p:txBody>
      </p:sp>
      <p:sp>
        <p:nvSpPr>
          <p:cNvPr id="5765" name="Week rule 8 2026-10-26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02175" y="3440761"/>
            <a:ext cx="0" cy="214592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3">
            <a:solidFill>
              <a:srgbClr val="DADADA"/>
            </a:solidFill>
          </a:ln>
        </p:spPr>
        <p:txBody xmlns:a="http://schemas.openxmlformats.org/drawingml/2006/main">
          <a:bodyPr/>
          <a:p/>
        </p:txBody>
      </p:sp>
      <p:sp>
        <p:nvSpPr>
          <p:cNvPr id="5766" name="Week rule 8 2026-11-02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85175" y="3440761"/>
            <a:ext cx="0" cy="214592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3">
            <a:solidFill>
              <a:srgbClr val="DADADA"/>
            </a:solidFill>
          </a:ln>
        </p:spPr>
        <p:txBody xmlns:a="http://schemas.openxmlformats.org/drawingml/2006/main">
          <a:bodyPr/>
          <a:p/>
        </p:txBody>
      </p:sp>
      <p:sp>
        <p:nvSpPr>
          <p:cNvPr id="5767" name="Week rule 8 2026-11-09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68175" y="3440761"/>
            <a:ext cx="0" cy="214592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3">
            <a:solidFill>
              <a:srgbClr val="DADADA"/>
            </a:solidFill>
          </a:ln>
        </p:spPr>
        <p:txBody xmlns:a="http://schemas.openxmlformats.org/drawingml/2006/main">
          <a:bodyPr/>
          <a:p/>
        </p:txBody>
      </p:sp>
      <p:sp>
        <p:nvSpPr>
          <p:cNvPr id="5768" name="Week rule 8 2026-11-16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51175" y="3440761"/>
            <a:ext cx="0" cy="214592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3">
            <a:solidFill>
              <a:srgbClr val="DADADA"/>
            </a:solidFill>
          </a:ln>
        </p:spPr>
        <p:txBody xmlns:a="http://schemas.openxmlformats.org/drawingml/2006/main">
          <a:bodyPr/>
          <a:p/>
        </p:txBody>
      </p:sp>
      <p:sp>
        <p:nvSpPr>
          <p:cNvPr id="5769" name="Week rule 8 2026-11-23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34175" y="3440761"/>
            <a:ext cx="0" cy="214592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3">
            <a:solidFill>
              <a:srgbClr val="DADADA"/>
            </a:solidFill>
          </a:ln>
        </p:spPr>
        <p:txBody xmlns:a="http://schemas.openxmlformats.org/drawingml/2006/main">
          <a:bodyPr/>
          <a:p/>
        </p:txBody>
      </p:sp>
      <p:sp>
        <p:nvSpPr>
          <p:cNvPr id="5770" name="Week rule 8 2026-11-30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417175" y="3440761"/>
            <a:ext cx="0" cy="214592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3">
            <a:solidFill>
              <a:srgbClr val="DADADA"/>
            </a:solidFill>
          </a:ln>
        </p:spPr>
        <p:txBody xmlns:a="http://schemas.openxmlformats.org/drawingml/2006/main">
          <a:bodyPr/>
          <a:p/>
        </p:txBody>
      </p:sp>
      <p:sp>
        <p:nvSpPr>
          <p:cNvPr id="5771" name="Week rule 8 2026-12-07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800175" y="3440761"/>
            <a:ext cx="0" cy="214592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3">
            <a:solidFill>
              <a:srgbClr val="DADADA"/>
            </a:solidFill>
          </a:ln>
        </p:spPr>
        <p:txBody xmlns:a="http://schemas.openxmlformats.org/drawingml/2006/main">
          <a:bodyPr/>
          <a:p/>
        </p:txBody>
      </p:sp>
      <p:sp>
        <p:nvSpPr>
          <p:cNvPr id="5772" name="Week rule 8 2026-12-14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183175" y="3440761"/>
            <a:ext cx="0" cy="214592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3">
            <a:solidFill>
              <a:srgbClr val="DADADA"/>
            </a:solidFill>
          </a:ln>
        </p:spPr>
        <p:txBody xmlns:a="http://schemas.openxmlformats.org/drawingml/2006/main">
          <a:bodyPr/>
          <a:p/>
        </p:txBody>
      </p:sp>
      <p:sp>
        <p:nvSpPr>
          <p:cNvPr id="5773" name="Week rule 8 2027-01-04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66175" y="3440761"/>
            <a:ext cx="0" cy="214592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3">
            <a:solidFill>
              <a:srgbClr val="DADADA"/>
            </a:solidFill>
          </a:ln>
        </p:spPr>
        <p:txBody xmlns:a="http://schemas.openxmlformats.org/drawingml/2006/main">
          <a:bodyPr/>
          <a:p/>
        </p:txBody>
      </p:sp>
      <p:sp>
        <p:nvSpPr>
          <p:cNvPr id="5774" name="Week rule 8 2027-02-01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993816" y="3440761"/>
            <a:ext cx="0" cy="214592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3">
            <a:solidFill>
              <a:srgbClr val="DADADA"/>
            </a:solidFill>
          </a:ln>
        </p:spPr>
        <p:txBody xmlns:a="http://schemas.openxmlformats.org/drawingml/2006/main">
          <a:bodyPr/>
          <a:p/>
        </p:txBody>
      </p:sp>
      <p:sp>
        <p:nvSpPr>
          <p:cNvPr id="5775" name="Week rule 8 2027-03-01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421458" y="3440761"/>
            <a:ext cx="0" cy="214592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3">
            <a:solidFill>
              <a:srgbClr val="DADADA"/>
            </a:solidFill>
          </a:ln>
        </p:spPr>
        <p:txBody xmlns:a="http://schemas.openxmlformats.org/drawingml/2006/main">
          <a:bodyPr/>
          <a:p/>
        </p:txBody>
      </p:sp>
      <p:sp>
        <p:nvSpPr>
          <p:cNvPr id="5776" name="Task 8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2425" y="3440761"/>
            <a:ext cx="4295775" cy="214592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38100" tIns="0" rIns="3810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defRPr sz="960" b="0">
                <a:solidFill>
                  <a:srgbClr val="111111"/>
                </a:solidFill>
                <a:latin typeface="Arial"/>
                <a:ea typeface="Arial"/>
                <a:cs typeface="Arial"/>
              </a:defRPr>
            </a:pPr>
            <a:r>
              <a:rPr sz="960" b="0">
                <a:solidFill>
                  <a:srgbClr val="111111"/>
                </a:solidFill>
                <a:latin typeface="Arial"/>
                <a:ea typeface="Arial"/>
                <a:cs typeface="Arial"/>
              </a:rPr>
              <a:t>28. Repeat runs, quantify uncertainty and revise claims</a:t>
            </a:r>
          </a:p>
        </p:txBody>
      </p:sp>
      <p:sp>
        <p:nvSpPr>
          <p:cNvPr id="5777" name="Status 8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57725" y="3440761"/>
            <a:ext cx="838200" cy="214592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38100" tIns="0" rIns="3810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defRPr sz="848" b="0">
                <a:solidFill>
                  <a:srgbClr val="111111"/>
                </a:solidFill>
                <a:latin typeface="Arial"/>
                <a:ea typeface="Arial"/>
                <a:cs typeface="Arial"/>
              </a:defRPr>
            </a:pPr>
            <a:r>
              <a:rPr sz="848" b="0">
                <a:solidFill>
                  <a:srgbClr val="111111"/>
                </a:solidFill>
                <a:latin typeface="Arial"/>
                <a:ea typeface="Arial"/>
                <a:cs typeface="Arial"/>
              </a:rPr>
              <a:t>Planned</a:t>
            </a:r>
          </a:p>
        </p:txBody>
      </p:sp>
      <p:sp>
        <p:nvSpPr>
          <p:cNvPr id="5778" name="Dates 8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95925" y="3440761"/>
            <a:ext cx="857250" cy="214592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38100" tIns="0" rIns="3810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defRPr sz="848" b="0">
                <a:solidFill>
                  <a:srgbClr val="111111"/>
                </a:solidFill>
                <a:latin typeface="Arial"/>
                <a:ea typeface="Arial"/>
                <a:cs typeface="Arial"/>
              </a:defRPr>
            </a:pPr>
            <a:r>
              <a:rPr sz="848" b="0">
                <a:solidFill>
                  <a:srgbClr val="111111"/>
                </a:solidFill>
                <a:latin typeface="Arial"/>
                <a:ea typeface="Arial"/>
                <a:cs typeface="Arial"/>
              </a:rPr>
              <a:t>10/12-11/22</a:t>
            </a:r>
          </a:p>
        </p:txBody>
      </p:sp>
      <p:sp>
        <p:nvSpPr>
          <p:cNvPr id="5779" name="Bar 8 0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36175" y="3495669"/>
            <a:ext cx="2298000" cy="1047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7BEC4"/>
          </a:solidFill>
          <a:ln xmlns:a="http://schemas.openxmlformats.org/drawingml/2006/main" w="0">
            <a:noFill/>
          </a:ln>
        </p:spPr>
        <p:txBody xmlns:a="http://schemas.openxmlformats.org/drawingml/2006/main">
          <a:bodyPr/>
          <a:p/>
        </p:txBody>
      </p:sp>
      <p:sp>
        <p:nvSpPr>
          <p:cNvPr id="5780" name="Row rule 8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3850" y="3655353"/>
            <a:ext cx="115252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3">
            <a:solidFill>
              <a:srgbClr val="DADADA"/>
            </a:solidFill>
          </a:ln>
        </p:spPr>
        <p:txBody xmlns:a="http://schemas.openxmlformats.org/drawingml/2006/main">
          <a:bodyPr/>
          <a:p/>
        </p:txBody>
      </p:sp>
      <p:sp>
        <p:nvSpPr>
          <p:cNvPr id="5781" name="Row tint 9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3850" y="3655353"/>
            <a:ext cx="11525250" cy="214592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7F7F7"/>
          </a:solidFill>
          <a:ln xmlns:a="http://schemas.openxmlformats.org/drawingml/2006/main" w="0">
            <a:noFill/>
          </a:ln>
        </p:spPr>
        <p:txBody xmlns:a="http://schemas.openxmlformats.org/drawingml/2006/main">
          <a:bodyPr/>
          <a:p/>
        </p:txBody>
      </p:sp>
      <p:sp>
        <p:nvSpPr>
          <p:cNvPr id="5782" name="Week rule 9 2026-10-05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53175" y="3655353"/>
            <a:ext cx="0" cy="214592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3">
            <a:solidFill>
              <a:srgbClr val="DADADA"/>
            </a:solidFill>
          </a:ln>
        </p:spPr>
        <p:txBody xmlns:a="http://schemas.openxmlformats.org/drawingml/2006/main">
          <a:bodyPr/>
          <a:p/>
        </p:txBody>
      </p:sp>
      <p:sp>
        <p:nvSpPr>
          <p:cNvPr id="5783" name="Week rule 9 2026-10-12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36175" y="3655353"/>
            <a:ext cx="0" cy="214592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3">
            <a:solidFill>
              <a:srgbClr val="DADADA"/>
            </a:solidFill>
          </a:ln>
        </p:spPr>
        <p:txBody xmlns:a="http://schemas.openxmlformats.org/drawingml/2006/main">
          <a:bodyPr/>
          <a:p/>
        </p:txBody>
      </p:sp>
      <p:sp>
        <p:nvSpPr>
          <p:cNvPr id="5784" name="Week rule 9 2026-10-19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19175" y="3655353"/>
            <a:ext cx="0" cy="214592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3">
            <a:solidFill>
              <a:srgbClr val="DADADA"/>
            </a:solidFill>
          </a:ln>
        </p:spPr>
        <p:txBody xmlns:a="http://schemas.openxmlformats.org/drawingml/2006/main">
          <a:bodyPr/>
          <a:p/>
        </p:txBody>
      </p:sp>
      <p:sp>
        <p:nvSpPr>
          <p:cNvPr id="5785" name="Week rule 9 2026-10-26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02175" y="3655353"/>
            <a:ext cx="0" cy="214592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3">
            <a:solidFill>
              <a:srgbClr val="DADADA"/>
            </a:solidFill>
          </a:ln>
        </p:spPr>
        <p:txBody xmlns:a="http://schemas.openxmlformats.org/drawingml/2006/main">
          <a:bodyPr/>
          <a:p/>
        </p:txBody>
      </p:sp>
      <p:sp>
        <p:nvSpPr>
          <p:cNvPr id="5786" name="Week rule 9 2026-11-02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85175" y="3655353"/>
            <a:ext cx="0" cy="214592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3">
            <a:solidFill>
              <a:srgbClr val="DADADA"/>
            </a:solidFill>
          </a:ln>
        </p:spPr>
        <p:txBody xmlns:a="http://schemas.openxmlformats.org/drawingml/2006/main">
          <a:bodyPr/>
          <a:p/>
        </p:txBody>
      </p:sp>
      <p:sp>
        <p:nvSpPr>
          <p:cNvPr id="5787" name="Week rule 9 2026-11-09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68175" y="3655353"/>
            <a:ext cx="0" cy="214592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3">
            <a:solidFill>
              <a:srgbClr val="DADADA"/>
            </a:solidFill>
          </a:ln>
        </p:spPr>
        <p:txBody xmlns:a="http://schemas.openxmlformats.org/drawingml/2006/main">
          <a:bodyPr/>
          <a:p/>
        </p:txBody>
      </p:sp>
      <p:sp>
        <p:nvSpPr>
          <p:cNvPr id="5788" name="Week rule 9 2026-11-16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51175" y="3655353"/>
            <a:ext cx="0" cy="214592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3">
            <a:solidFill>
              <a:srgbClr val="DADADA"/>
            </a:solidFill>
          </a:ln>
        </p:spPr>
        <p:txBody xmlns:a="http://schemas.openxmlformats.org/drawingml/2006/main">
          <a:bodyPr/>
          <a:p/>
        </p:txBody>
      </p:sp>
      <p:sp>
        <p:nvSpPr>
          <p:cNvPr id="5789" name="Week rule 9 2026-11-23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34175" y="3655353"/>
            <a:ext cx="0" cy="214592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3">
            <a:solidFill>
              <a:srgbClr val="DADADA"/>
            </a:solidFill>
          </a:ln>
        </p:spPr>
        <p:txBody xmlns:a="http://schemas.openxmlformats.org/drawingml/2006/main">
          <a:bodyPr/>
          <a:p/>
        </p:txBody>
      </p:sp>
      <p:sp>
        <p:nvSpPr>
          <p:cNvPr id="5790" name="Week rule 9 2026-11-30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417175" y="3655353"/>
            <a:ext cx="0" cy="214592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3">
            <a:solidFill>
              <a:srgbClr val="DADADA"/>
            </a:solidFill>
          </a:ln>
        </p:spPr>
        <p:txBody xmlns:a="http://schemas.openxmlformats.org/drawingml/2006/main">
          <a:bodyPr/>
          <a:p/>
        </p:txBody>
      </p:sp>
      <p:sp>
        <p:nvSpPr>
          <p:cNvPr id="5791" name="Week rule 9 2026-12-07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800175" y="3655353"/>
            <a:ext cx="0" cy="214592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3">
            <a:solidFill>
              <a:srgbClr val="DADADA"/>
            </a:solidFill>
          </a:ln>
        </p:spPr>
        <p:txBody xmlns:a="http://schemas.openxmlformats.org/drawingml/2006/main">
          <a:bodyPr/>
          <a:p/>
        </p:txBody>
      </p:sp>
      <p:sp>
        <p:nvSpPr>
          <p:cNvPr id="5792" name="Week rule 9 2026-12-14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183175" y="3655353"/>
            <a:ext cx="0" cy="214592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3">
            <a:solidFill>
              <a:srgbClr val="DADADA"/>
            </a:solidFill>
          </a:ln>
        </p:spPr>
        <p:txBody xmlns:a="http://schemas.openxmlformats.org/drawingml/2006/main">
          <a:bodyPr/>
          <a:p/>
        </p:txBody>
      </p:sp>
      <p:sp>
        <p:nvSpPr>
          <p:cNvPr id="5793" name="Week rule 9 2027-01-04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66175" y="3655353"/>
            <a:ext cx="0" cy="214592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3">
            <a:solidFill>
              <a:srgbClr val="DADADA"/>
            </a:solidFill>
          </a:ln>
        </p:spPr>
        <p:txBody xmlns:a="http://schemas.openxmlformats.org/drawingml/2006/main">
          <a:bodyPr/>
          <a:p/>
        </p:txBody>
      </p:sp>
      <p:sp>
        <p:nvSpPr>
          <p:cNvPr id="5794" name="Week rule 9 2027-02-01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993816" y="3655353"/>
            <a:ext cx="0" cy="214592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3">
            <a:solidFill>
              <a:srgbClr val="DADADA"/>
            </a:solidFill>
          </a:ln>
        </p:spPr>
        <p:txBody xmlns:a="http://schemas.openxmlformats.org/drawingml/2006/main">
          <a:bodyPr/>
          <a:p/>
        </p:txBody>
      </p:sp>
      <p:sp>
        <p:nvSpPr>
          <p:cNvPr id="5795" name="Week rule 9 2027-03-01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421458" y="3655353"/>
            <a:ext cx="0" cy="214592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3">
            <a:solidFill>
              <a:srgbClr val="DADADA"/>
            </a:solidFill>
          </a:ln>
        </p:spPr>
        <p:txBody xmlns:a="http://schemas.openxmlformats.org/drawingml/2006/main">
          <a:bodyPr/>
          <a:p/>
        </p:txBody>
      </p:sp>
      <p:sp>
        <p:nvSpPr>
          <p:cNvPr id="5796" name="Task 9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2425" y="3655353"/>
            <a:ext cx="4295775" cy="214592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38100" tIns="0" rIns="3810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defRPr sz="960" b="0">
                <a:solidFill>
                  <a:srgbClr val="111111"/>
                </a:solidFill>
                <a:latin typeface="Arial"/>
                <a:ea typeface="Arial"/>
                <a:cs typeface="Arial"/>
              </a:defRPr>
            </a:pPr>
            <a:r>
              <a:rPr sz="960" b="0">
                <a:solidFill>
                  <a:srgbClr val="111111"/>
                </a:solidFill>
                <a:latin typeface="Arial"/>
                <a:ea typeface="Arial"/>
                <a:cs typeface="Arial"/>
              </a:rPr>
              <a:t>29. Synthesize findings, limitations and next steps</a:t>
            </a:r>
          </a:p>
        </p:txBody>
      </p:sp>
      <p:sp>
        <p:nvSpPr>
          <p:cNvPr id="5797" name="Status 9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57725" y="3655353"/>
            <a:ext cx="838200" cy="214592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38100" tIns="0" rIns="3810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defRPr sz="848" b="0">
                <a:solidFill>
                  <a:srgbClr val="111111"/>
                </a:solidFill>
                <a:latin typeface="Arial"/>
                <a:ea typeface="Arial"/>
                <a:cs typeface="Arial"/>
              </a:defRPr>
            </a:pPr>
            <a:r>
              <a:rPr sz="848" b="0">
                <a:solidFill>
                  <a:srgbClr val="111111"/>
                </a:solidFill>
                <a:latin typeface="Arial"/>
                <a:ea typeface="Arial"/>
                <a:cs typeface="Arial"/>
              </a:rPr>
              <a:t>Planned</a:t>
            </a:r>
          </a:p>
        </p:txBody>
      </p:sp>
      <p:sp>
        <p:nvSpPr>
          <p:cNvPr id="5798" name="Dates 9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95925" y="3655353"/>
            <a:ext cx="857250" cy="214592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38100" tIns="0" rIns="3810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defRPr sz="848" b="0">
                <a:solidFill>
                  <a:srgbClr val="111111"/>
                </a:solidFill>
                <a:latin typeface="Arial"/>
                <a:ea typeface="Arial"/>
                <a:cs typeface="Arial"/>
              </a:defRPr>
            </a:pPr>
            <a:r>
              <a:rPr sz="848" b="0">
                <a:solidFill>
                  <a:srgbClr val="111111"/>
                </a:solidFill>
                <a:latin typeface="Arial"/>
                <a:ea typeface="Arial"/>
                <a:cs typeface="Arial"/>
              </a:rPr>
              <a:t>11/16-11/29</a:t>
            </a:r>
          </a:p>
        </p:txBody>
      </p:sp>
      <p:sp>
        <p:nvSpPr>
          <p:cNvPr id="5799" name="Bar 9 0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51175" y="3710261"/>
            <a:ext cx="766000" cy="1047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7BEC4"/>
          </a:solidFill>
          <a:ln xmlns:a="http://schemas.openxmlformats.org/drawingml/2006/main" w="0">
            <a:noFill/>
          </a:ln>
        </p:spPr>
        <p:txBody xmlns:a="http://schemas.openxmlformats.org/drawingml/2006/main">
          <a:bodyPr/>
          <a:p/>
        </p:txBody>
      </p:sp>
      <p:sp>
        <p:nvSpPr>
          <p:cNvPr id="5800" name="Row rule 9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3850" y="3869945"/>
            <a:ext cx="115252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3">
            <a:solidFill>
              <a:srgbClr val="DADADA"/>
            </a:solidFill>
          </a:ln>
        </p:spPr>
        <p:txBody xmlns:a="http://schemas.openxmlformats.org/drawingml/2006/main">
          <a:bodyPr/>
          <a:p/>
        </p:txBody>
      </p:sp>
      <p:sp>
        <p:nvSpPr>
          <p:cNvPr id="5801" name="Section The project's fusion designs, after the baselines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3850" y="3869945"/>
            <a:ext cx="11525250" cy="2190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DE4EA"/>
          </a:solidFill>
          <a:ln xmlns:a="http://schemas.openxmlformats.org/drawingml/2006/main" w="0">
            <a:noFill/>
          </a:ln>
        </p:spPr>
        <p:txBody xmlns:a="http://schemas.openxmlformats.org/drawingml/2006/main">
          <a:bodyPr/>
          <a:p/>
        </p:txBody>
      </p:sp>
      <p:sp>
        <p:nvSpPr>
          <p:cNvPr id="5802" name="Section title The project's fusion designs, after the baselines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2425" y="3869945"/>
            <a:ext cx="11468100" cy="2190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38100" tIns="0" rIns="3810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pPr>
            <a:r>
              <a:rPr sz="1050" b="1">
                <a:solidFill>
                  <a:srgbClr val="111111"/>
                </a:solidFill>
                <a:latin typeface="Arial"/>
                <a:ea typeface="Arial"/>
                <a:cs typeface="Arial"/>
              </a:rPr>
              <a:t>The project's fusion designs, after the baselines</a:t>
            </a:r>
          </a:p>
        </p:txBody>
      </p:sp>
      <p:sp>
        <p:nvSpPr>
          <p:cNvPr id="5803" name="Week rule 10 2026-10-05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53175" y="4089020"/>
            <a:ext cx="0" cy="214592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3">
            <a:solidFill>
              <a:srgbClr val="DADADA"/>
            </a:solidFill>
          </a:ln>
        </p:spPr>
        <p:txBody xmlns:a="http://schemas.openxmlformats.org/drawingml/2006/main">
          <a:bodyPr/>
          <a:p/>
        </p:txBody>
      </p:sp>
      <p:sp>
        <p:nvSpPr>
          <p:cNvPr id="5804" name="Week rule 10 2026-10-12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36175" y="4089020"/>
            <a:ext cx="0" cy="214592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3">
            <a:solidFill>
              <a:srgbClr val="DADADA"/>
            </a:solidFill>
          </a:ln>
        </p:spPr>
        <p:txBody xmlns:a="http://schemas.openxmlformats.org/drawingml/2006/main">
          <a:bodyPr/>
          <a:p/>
        </p:txBody>
      </p:sp>
      <p:sp>
        <p:nvSpPr>
          <p:cNvPr id="5805" name="Week rule 10 2026-10-19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19175" y="4089020"/>
            <a:ext cx="0" cy="214592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3">
            <a:solidFill>
              <a:srgbClr val="DADADA"/>
            </a:solidFill>
          </a:ln>
        </p:spPr>
        <p:txBody xmlns:a="http://schemas.openxmlformats.org/drawingml/2006/main">
          <a:bodyPr/>
          <a:p/>
        </p:txBody>
      </p:sp>
      <p:sp>
        <p:nvSpPr>
          <p:cNvPr id="5806" name="Week rule 10 2026-10-26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02175" y="4089020"/>
            <a:ext cx="0" cy="214592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3">
            <a:solidFill>
              <a:srgbClr val="DADADA"/>
            </a:solidFill>
          </a:ln>
        </p:spPr>
        <p:txBody xmlns:a="http://schemas.openxmlformats.org/drawingml/2006/main">
          <a:bodyPr/>
          <a:p/>
        </p:txBody>
      </p:sp>
      <p:sp>
        <p:nvSpPr>
          <p:cNvPr id="5807" name="Week rule 10 2026-11-02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85175" y="4089020"/>
            <a:ext cx="0" cy="214592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3">
            <a:solidFill>
              <a:srgbClr val="DADADA"/>
            </a:solidFill>
          </a:ln>
        </p:spPr>
        <p:txBody xmlns:a="http://schemas.openxmlformats.org/drawingml/2006/main">
          <a:bodyPr/>
          <a:p/>
        </p:txBody>
      </p:sp>
      <p:sp>
        <p:nvSpPr>
          <p:cNvPr id="5808" name="Week rule 10 2026-11-09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68175" y="4089020"/>
            <a:ext cx="0" cy="214592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3">
            <a:solidFill>
              <a:srgbClr val="DADADA"/>
            </a:solidFill>
          </a:ln>
        </p:spPr>
        <p:txBody xmlns:a="http://schemas.openxmlformats.org/drawingml/2006/main">
          <a:bodyPr/>
          <a:p/>
        </p:txBody>
      </p:sp>
      <p:sp>
        <p:nvSpPr>
          <p:cNvPr id="5809" name="Week rule 10 2026-11-16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51175" y="4089020"/>
            <a:ext cx="0" cy="214592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3">
            <a:solidFill>
              <a:srgbClr val="DADADA"/>
            </a:solidFill>
          </a:ln>
        </p:spPr>
        <p:txBody xmlns:a="http://schemas.openxmlformats.org/drawingml/2006/main">
          <a:bodyPr/>
          <a:p/>
        </p:txBody>
      </p:sp>
      <p:sp>
        <p:nvSpPr>
          <p:cNvPr id="5810" name="Week rule 10 2026-11-23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34175" y="4089020"/>
            <a:ext cx="0" cy="214592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3">
            <a:solidFill>
              <a:srgbClr val="DADADA"/>
            </a:solidFill>
          </a:ln>
        </p:spPr>
        <p:txBody xmlns:a="http://schemas.openxmlformats.org/drawingml/2006/main">
          <a:bodyPr/>
          <a:p/>
        </p:txBody>
      </p:sp>
      <p:sp>
        <p:nvSpPr>
          <p:cNvPr id="5811" name="Week rule 10 2026-11-30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417175" y="4089020"/>
            <a:ext cx="0" cy="214592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3">
            <a:solidFill>
              <a:srgbClr val="DADADA"/>
            </a:solidFill>
          </a:ln>
        </p:spPr>
        <p:txBody xmlns:a="http://schemas.openxmlformats.org/drawingml/2006/main">
          <a:bodyPr/>
          <a:p/>
        </p:txBody>
      </p:sp>
      <p:sp>
        <p:nvSpPr>
          <p:cNvPr id="5812" name="Week rule 10 2026-12-07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800175" y="4089020"/>
            <a:ext cx="0" cy="214592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3">
            <a:solidFill>
              <a:srgbClr val="DADADA"/>
            </a:solidFill>
          </a:ln>
        </p:spPr>
        <p:txBody xmlns:a="http://schemas.openxmlformats.org/drawingml/2006/main">
          <a:bodyPr/>
          <a:p/>
        </p:txBody>
      </p:sp>
      <p:sp>
        <p:nvSpPr>
          <p:cNvPr id="5813" name="Week rule 10 2026-12-14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183175" y="4089020"/>
            <a:ext cx="0" cy="214592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3">
            <a:solidFill>
              <a:srgbClr val="DADADA"/>
            </a:solidFill>
          </a:ln>
        </p:spPr>
        <p:txBody xmlns:a="http://schemas.openxmlformats.org/drawingml/2006/main">
          <a:bodyPr/>
          <a:p/>
        </p:txBody>
      </p:sp>
      <p:sp>
        <p:nvSpPr>
          <p:cNvPr id="5814" name="Week rule 10 2027-01-04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66175" y="4089020"/>
            <a:ext cx="0" cy="214592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3">
            <a:solidFill>
              <a:srgbClr val="DADADA"/>
            </a:solidFill>
          </a:ln>
        </p:spPr>
        <p:txBody xmlns:a="http://schemas.openxmlformats.org/drawingml/2006/main">
          <a:bodyPr/>
          <a:p/>
        </p:txBody>
      </p:sp>
      <p:sp>
        <p:nvSpPr>
          <p:cNvPr id="5815" name="Week rule 10 2027-02-01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993816" y="4089020"/>
            <a:ext cx="0" cy="214592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3">
            <a:solidFill>
              <a:srgbClr val="DADADA"/>
            </a:solidFill>
          </a:ln>
        </p:spPr>
        <p:txBody xmlns:a="http://schemas.openxmlformats.org/drawingml/2006/main">
          <a:bodyPr/>
          <a:p/>
        </p:txBody>
      </p:sp>
      <p:sp>
        <p:nvSpPr>
          <p:cNvPr id="5816" name="Week rule 10 2027-03-01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421458" y="4089020"/>
            <a:ext cx="0" cy="214592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3">
            <a:solidFill>
              <a:srgbClr val="DADADA"/>
            </a:solidFill>
          </a:ln>
        </p:spPr>
        <p:txBody xmlns:a="http://schemas.openxmlformats.org/drawingml/2006/main">
          <a:bodyPr/>
          <a:p/>
        </p:txBody>
      </p:sp>
      <p:sp>
        <p:nvSpPr>
          <p:cNvPr id="5817" name="Task 10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2425" y="4089020"/>
            <a:ext cx="4295775" cy="214592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38100" tIns="0" rIns="3810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defRPr sz="960" b="0">
                <a:solidFill>
                  <a:srgbClr val="111111"/>
                </a:solidFill>
                <a:latin typeface="Arial"/>
                <a:ea typeface="Arial"/>
                <a:cs typeface="Arial"/>
              </a:defRPr>
            </a:pPr>
            <a:r>
              <a:rPr sz="960" b="0">
                <a:solidFill>
                  <a:srgbClr val="111111"/>
                </a:solidFill>
                <a:latin typeface="Arial"/>
                <a:ea typeface="Arial"/>
                <a:cs typeface="Arial"/>
              </a:rPr>
              <a:t>20. Prepare Coupled Mamba inputs and feasibility tests</a:t>
            </a:r>
          </a:p>
        </p:txBody>
      </p:sp>
      <p:sp>
        <p:nvSpPr>
          <p:cNvPr id="5818" name="Status 10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57725" y="4089020"/>
            <a:ext cx="838200" cy="214592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38100" tIns="0" rIns="3810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defRPr sz="848" b="0">
                <a:solidFill>
                  <a:srgbClr val="111111"/>
                </a:solidFill>
                <a:latin typeface="Arial"/>
                <a:ea typeface="Arial"/>
                <a:cs typeface="Arial"/>
              </a:defRPr>
            </a:pPr>
            <a:r>
              <a:rPr sz="848" b="0">
                <a:solidFill>
                  <a:srgbClr val="111111"/>
                </a:solidFill>
                <a:latin typeface="Arial"/>
                <a:ea typeface="Arial"/>
                <a:cs typeface="Arial"/>
              </a:rPr>
              <a:t>Planned</a:t>
            </a:r>
          </a:p>
        </p:txBody>
      </p:sp>
      <p:sp>
        <p:nvSpPr>
          <p:cNvPr id="5819" name="Dates 10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95925" y="4089020"/>
            <a:ext cx="857250" cy="214592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38100" tIns="0" rIns="3810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defRPr sz="848" b="0">
                <a:solidFill>
                  <a:srgbClr val="111111"/>
                </a:solidFill>
                <a:latin typeface="Arial"/>
                <a:ea typeface="Arial"/>
                <a:cs typeface="Arial"/>
              </a:defRPr>
            </a:pPr>
            <a:r>
              <a:rPr sz="848" b="0">
                <a:solidFill>
                  <a:srgbClr val="111111"/>
                </a:solidFill>
                <a:latin typeface="Arial"/>
                <a:ea typeface="Arial"/>
                <a:cs typeface="Arial"/>
              </a:rPr>
              <a:t>1/4-1/17</a:t>
            </a:r>
          </a:p>
        </p:txBody>
      </p:sp>
      <p:sp>
        <p:nvSpPr>
          <p:cNvPr id="5820" name="Bar 10 0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66175" y="4143928"/>
            <a:ext cx="213820" cy="1047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7BEC4"/>
          </a:solidFill>
          <a:ln xmlns:a="http://schemas.openxmlformats.org/drawingml/2006/main" w="0">
            <a:noFill/>
          </a:ln>
        </p:spPr>
        <p:txBody xmlns:a="http://schemas.openxmlformats.org/drawingml/2006/main">
          <a:bodyPr/>
          <a:p/>
        </p:txBody>
      </p:sp>
      <p:sp>
        <p:nvSpPr>
          <p:cNvPr id="5821" name="Row rule 10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3850" y="4303612"/>
            <a:ext cx="115252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3">
            <a:solidFill>
              <a:srgbClr val="DADADA"/>
            </a:solidFill>
          </a:ln>
        </p:spPr>
        <p:txBody xmlns:a="http://schemas.openxmlformats.org/drawingml/2006/main">
          <a:bodyPr/>
          <a:p/>
        </p:txBody>
      </p:sp>
      <p:sp>
        <p:nvSpPr>
          <p:cNvPr id="5822" name="Row tint 11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3850" y="4303612"/>
            <a:ext cx="11525250" cy="214592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7F7F7"/>
          </a:solidFill>
          <a:ln xmlns:a="http://schemas.openxmlformats.org/drawingml/2006/main" w="0">
            <a:noFill/>
          </a:ln>
        </p:spPr>
        <p:txBody xmlns:a="http://schemas.openxmlformats.org/drawingml/2006/main">
          <a:bodyPr/>
          <a:p/>
        </p:txBody>
      </p:sp>
      <p:sp>
        <p:nvSpPr>
          <p:cNvPr id="5823" name="Week rule 11 2026-10-05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53175" y="4303612"/>
            <a:ext cx="0" cy="214592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3">
            <a:solidFill>
              <a:srgbClr val="DADADA"/>
            </a:solidFill>
          </a:ln>
        </p:spPr>
        <p:txBody xmlns:a="http://schemas.openxmlformats.org/drawingml/2006/main">
          <a:bodyPr/>
          <a:p/>
        </p:txBody>
      </p:sp>
      <p:sp>
        <p:nvSpPr>
          <p:cNvPr id="5824" name="Week rule 11 2026-10-12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36175" y="4303612"/>
            <a:ext cx="0" cy="214592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3">
            <a:solidFill>
              <a:srgbClr val="DADADA"/>
            </a:solidFill>
          </a:ln>
        </p:spPr>
        <p:txBody xmlns:a="http://schemas.openxmlformats.org/drawingml/2006/main">
          <a:bodyPr/>
          <a:p/>
        </p:txBody>
      </p:sp>
      <p:sp>
        <p:nvSpPr>
          <p:cNvPr id="5825" name="Week rule 11 2026-10-19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19175" y="4303612"/>
            <a:ext cx="0" cy="214592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3">
            <a:solidFill>
              <a:srgbClr val="DADADA"/>
            </a:solidFill>
          </a:ln>
        </p:spPr>
        <p:txBody xmlns:a="http://schemas.openxmlformats.org/drawingml/2006/main">
          <a:bodyPr/>
          <a:p/>
        </p:txBody>
      </p:sp>
      <p:sp>
        <p:nvSpPr>
          <p:cNvPr id="5826" name="Week rule 11 2026-10-26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02175" y="4303612"/>
            <a:ext cx="0" cy="214592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3">
            <a:solidFill>
              <a:srgbClr val="DADADA"/>
            </a:solidFill>
          </a:ln>
        </p:spPr>
        <p:txBody xmlns:a="http://schemas.openxmlformats.org/drawingml/2006/main">
          <a:bodyPr/>
          <a:p/>
        </p:txBody>
      </p:sp>
      <p:sp>
        <p:nvSpPr>
          <p:cNvPr id="5827" name="Week rule 11 2026-11-02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85175" y="4303612"/>
            <a:ext cx="0" cy="214592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3">
            <a:solidFill>
              <a:srgbClr val="DADADA"/>
            </a:solidFill>
          </a:ln>
        </p:spPr>
        <p:txBody xmlns:a="http://schemas.openxmlformats.org/drawingml/2006/main">
          <a:bodyPr/>
          <a:p/>
        </p:txBody>
      </p:sp>
      <p:sp>
        <p:nvSpPr>
          <p:cNvPr id="5828" name="Week rule 11 2026-11-09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68175" y="4303612"/>
            <a:ext cx="0" cy="214592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3">
            <a:solidFill>
              <a:srgbClr val="DADADA"/>
            </a:solidFill>
          </a:ln>
        </p:spPr>
        <p:txBody xmlns:a="http://schemas.openxmlformats.org/drawingml/2006/main">
          <a:bodyPr/>
          <a:p/>
        </p:txBody>
      </p:sp>
      <p:sp>
        <p:nvSpPr>
          <p:cNvPr id="5829" name="Week rule 11 2026-11-16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51175" y="4303612"/>
            <a:ext cx="0" cy="214592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3">
            <a:solidFill>
              <a:srgbClr val="DADADA"/>
            </a:solidFill>
          </a:ln>
        </p:spPr>
        <p:txBody xmlns:a="http://schemas.openxmlformats.org/drawingml/2006/main">
          <a:bodyPr/>
          <a:p/>
        </p:txBody>
      </p:sp>
      <p:sp>
        <p:nvSpPr>
          <p:cNvPr id="5830" name="Week rule 11 2026-11-23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34175" y="4303612"/>
            <a:ext cx="0" cy="214592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3">
            <a:solidFill>
              <a:srgbClr val="DADADA"/>
            </a:solidFill>
          </a:ln>
        </p:spPr>
        <p:txBody xmlns:a="http://schemas.openxmlformats.org/drawingml/2006/main">
          <a:bodyPr/>
          <a:p/>
        </p:txBody>
      </p:sp>
      <p:sp>
        <p:nvSpPr>
          <p:cNvPr id="5831" name="Week rule 11 2026-11-30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417175" y="4303612"/>
            <a:ext cx="0" cy="214592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3">
            <a:solidFill>
              <a:srgbClr val="DADADA"/>
            </a:solidFill>
          </a:ln>
        </p:spPr>
        <p:txBody xmlns:a="http://schemas.openxmlformats.org/drawingml/2006/main">
          <a:bodyPr/>
          <a:p/>
        </p:txBody>
      </p:sp>
      <p:sp>
        <p:nvSpPr>
          <p:cNvPr id="5832" name="Week rule 11 2026-12-07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800175" y="4303612"/>
            <a:ext cx="0" cy="214592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3">
            <a:solidFill>
              <a:srgbClr val="DADADA"/>
            </a:solidFill>
          </a:ln>
        </p:spPr>
        <p:txBody xmlns:a="http://schemas.openxmlformats.org/drawingml/2006/main">
          <a:bodyPr/>
          <a:p/>
        </p:txBody>
      </p:sp>
      <p:sp>
        <p:nvSpPr>
          <p:cNvPr id="5833" name="Week rule 11 2026-12-14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183175" y="4303612"/>
            <a:ext cx="0" cy="214592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3">
            <a:solidFill>
              <a:srgbClr val="DADADA"/>
            </a:solidFill>
          </a:ln>
        </p:spPr>
        <p:txBody xmlns:a="http://schemas.openxmlformats.org/drawingml/2006/main">
          <a:bodyPr/>
          <a:p/>
        </p:txBody>
      </p:sp>
      <p:sp>
        <p:nvSpPr>
          <p:cNvPr id="5834" name="Week rule 11 2027-01-04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66175" y="4303612"/>
            <a:ext cx="0" cy="214592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3">
            <a:solidFill>
              <a:srgbClr val="DADADA"/>
            </a:solidFill>
          </a:ln>
        </p:spPr>
        <p:txBody xmlns:a="http://schemas.openxmlformats.org/drawingml/2006/main">
          <a:bodyPr/>
          <a:p/>
        </p:txBody>
      </p:sp>
      <p:sp>
        <p:nvSpPr>
          <p:cNvPr id="5835" name="Week rule 11 2027-02-01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993816" y="4303612"/>
            <a:ext cx="0" cy="214592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3">
            <a:solidFill>
              <a:srgbClr val="DADADA"/>
            </a:solidFill>
          </a:ln>
        </p:spPr>
        <p:txBody xmlns:a="http://schemas.openxmlformats.org/drawingml/2006/main">
          <a:bodyPr/>
          <a:p/>
        </p:txBody>
      </p:sp>
      <p:sp>
        <p:nvSpPr>
          <p:cNvPr id="5836" name="Week rule 11 2027-03-01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421458" y="4303612"/>
            <a:ext cx="0" cy="214592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3">
            <a:solidFill>
              <a:srgbClr val="DADADA"/>
            </a:solidFill>
          </a:ln>
        </p:spPr>
        <p:txBody xmlns:a="http://schemas.openxmlformats.org/drawingml/2006/main">
          <a:bodyPr/>
          <a:p/>
        </p:txBody>
      </p:sp>
      <p:sp>
        <p:nvSpPr>
          <p:cNvPr id="5837" name="Task 11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2425" y="4303612"/>
            <a:ext cx="4295775" cy="214592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38100" tIns="0" rIns="3810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defRPr sz="960" b="0">
                <a:solidFill>
                  <a:srgbClr val="111111"/>
                </a:solidFill>
                <a:latin typeface="Arial"/>
                <a:ea typeface="Arial"/>
                <a:cs typeface="Arial"/>
              </a:defRPr>
            </a:pPr>
            <a:r>
              <a:rPr sz="960" b="0">
                <a:solidFill>
                  <a:srgbClr val="111111"/>
                </a:solidFill>
                <a:latin typeface="Arial"/>
                <a:ea typeface="Arial"/>
                <a:cs typeface="Arial"/>
              </a:rPr>
              <a:t>21. Compare Coupled Mamba with the plan's baselines</a:t>
            </a:r>
          </a:p>
        </p:txBody>
      </p:sp>
      <p:sp>
        <p:nvSpPr>
          <p:cNvPr id="5838" name="Status 11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57725" y="4303612"/>
            <a:ext cx="838200" cy="214592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38100" tIns="0" rIns="3810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defRPr sz="848" b="0">
                <a:solidFill>
                  <a:srgbClr val="111111"/>
                </a:solidFill>
                <a:latin typeface="Arial"/>
                <a:ea typeface="Arial"/>
                <a:cs typeface="Arial"/>
              </a:defRPr>
            </a:pPr>
            <a:r>
              <a:rPr sz="848" b="0">
                <a:solidFill>
                  <a:srgbClr val="111111"/>
                </a:solidFill>
                <a:latin typeface="Arial"/>
                <a:ea typeface="Arial"/>
                <a:cs typeface="Arial"/>
              </a:rPr>
              <a:t>Planned</a:t>
            </a:r>
          </a:p>
        </p:txBody>
      </p:sp>
      <p:sp>
        <p:nvSpPr>
          <p:cNvPr id="5839" name="Dates 11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95925" y="4303612"/>
            <a:ext cx="857250" cy="214592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38100" tIns="0" rIns="3810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defRPr sz="848" b="0">
                <a:solidFill>
                  <a:srgbClr val="111111"/>
                </a:solidFill>
                <a:latin typeface="Arial"/>
                <a:ea typeface="Arial"/>
                <a:cs typeface="Arial"/>
              </a:defRPr>
            </a:pPr>
            <a:r>
              <a:rPr sz="848" b="0">
                <a:solidFill>
                  <a:srgbClr val="111111"/>
                </a:solidFill>
                <a:latin typeface="Arial"/>
                <a:ea typeface="Arial"/>
                <a:cs typeface="Arial"/>
              </a:rPr>
              <a:t>1/18-2/7</a:t>
            </a:r>
          </a:p>
        </p:txBody>
      </p:sp>
      <p:sp>
        <p:nvSpPr>
          <p:cNvPr id="5840" name="Bar 11 0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779995" y="4358520"/>
            <a:ext cx="320731" cy="1047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7BEC4"/>
          </a:solidFill>
          <a:ln xmlns:a="http://schemas.openxmlformats.org/drawingml/2006/main" w="0">
            <a:noFill/>
          </a:ln>
        </p:spPr>
        <p:txBody xmlns:a="http://schemas.openxmlformats.org/drawingml/2006/main">
          <a:bodyPr/>
          <a:p/>
        </p:txBody>
      </p:sp>
      <p:sp>
        <p:nvSpPr>
          <p:cNvPr id="5841" name="Row rule 11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3850" y="4518204"/>
            <a:ext cx="115252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3">
            <a:solidFill>
              <a:srgbClr val="DADADA"/>
            </a:solidFill>
          </a:ln>
        </p:spPr>
        <p:txBody xmlns:a="http://schemas.openxmlformats.org/drawingml/2006/main">
          <a:bodyPr/>
          <a:p/>
        </p:txBody>
      </p:sp>
      <p:sp>
        <p:nvSpPr>
          <p:cNvPr id="5842" name="Week rule 12 2026-10-05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53175" y="4518204"/>
            <a:ext cx="0" cy="214592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3">
            <a:solidFill>
              <a:srgbClr val="DADADA"/>
            </a:solidFill>
          </a:ln>
        </p:spPr>
        <p:txBody xmlns:a="http://schemas.openxmlformats.org/drawingml/2006/main">
          <a:bodyPr/>
          <a:p/>
        </p:txBody>
      </p:sp>
      <p:sp>
        <p:nvSpPr>
          <p:cNvPr id="5843" name="Week rule 12 2026-10-12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36175" y="4518204"/>
            <a:ext cx="0" cy="214592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3">
            <a:solidFill>
              <a:srgbClr val="DADADA"/>
            </a:solidFill>
          </a:ln>
        </p:spPr>
        <p:txBody xmlns:a="http://schemas.openxmlformats.org/drawingml/2006/main">
          <a:bodyPr/>
          <a:p/>
        </p:txBody>
      </p:sp>
      <p:sp>
        <p:nvSpPr>
          <p:cNvPr id="5844" name="Week rule 12 2026-10-19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19175" y="4518204"/>
            <a:ext cx="0" cy="214592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3">
            <a:solidFill>
              <a:srgbClr val="DADADA"/>
            </a:solidFill>
          </a:ln>
        </p:spPr>
        <p:txBody xmlns:a="http://schemas.openxmlformats.org/drawingml/2006/main">
          <a:bodyPr/>
          <a:p/>
        </p:txBody>
      </p:sp>
      <p:sp>
        <p:nvSpPr>
          <p:cNvPr id="5845" name="Week rule 12 2026-10-26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02175" y="4518204"/>
            <a:ext cx="0" cy="214592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3">
            <a:solidFill>
              <a:srgbClr val="DADADA"/>
            </a:solidFill>
          </a:ln>
        </p:spPr>
        <p:txBody xmlns:a="http://schemas.openxmlformats.org/drawingml/2006/main">
          <a:bodyPr/>
          <a:p/>
        </p:txBody>
      </p:sp>
      <p:sp>
        <p:nvSpPr>
          <p:cNvPr id="5846" name="Week rule 12 2026-11-02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85175" y="4518204"/>
            <a:ext cx="0" cy="214592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3">
            <a:solidFill>
              <a:srgbClr val="DADADA"/>
            </a:solidFill>
          </a:ln>
        </p:spPr>
        <p:txBody xmlns:a="http://schemas.openxmlformats.org/drawingml/2006/main">
          <a:bodyPr/>
          <a:p/>
        </p:txBody>
      </p:sp>
      <p:sp>
        <p:nvSpPr>
          <p:cNvPr id="5847" name="Week rule 12 2026-11-09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68175" y="4518204"/>
            <a:ext cx="0" cy="214592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3">
            <a:solidFill>
              <a:srgbClr val="DADADA"/>
            </a:solidFill>
          </a:ln>
        </p:spPr>
        <p:txBody xmlns:a="http://schemas.openxmlformats.org/drawingml/2006/main">
          <a:bodyPr/>
          <a:p/>
        </p:txBody>
      </p:sp>
      <p:sp>
        <p:nvSpPr>
          <p:cNvPr id="5848" name="Week rule 12 2026-11-16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51175" y="4518204"/>
            <a:ext cx="0" cy="214592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3">
            <a:solidFill>
              <a:srgbClr val="DADADA"/>
            </a:solidFill>
          </a:ln>
        </p:spPr>
        <p:txBody xmlns:a="http://schemas.openxmlformats.org/drawingml/2006/main">
          <a:bodyPr/>
          <a:p/>
        </p:txBody>
      </p:sp>
      <p:sp>
        <p:nvSpPr>
          <p:cNvPr id="5849" name="Week rule 12 2026-11-23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34175" y="4518204"/>
            <a:ext cx="0" cy="214592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3">
            <a:solidFill>
              <a:srgbClr val="DADADA"/>
            </a:solidFill>
          </a:ln>
        </p:spPr>
        <p:txBody xmlns:a="http://schemas.openxmlformats.org/drawingml/2006/main">
          <a:bodyPr/>
          <a:p/>
        </p:txBody>
      </p:sp>
      <p:sp>
        <p:nvSpPr>
          <p:cNvPr id="5850" name="Week rule 12 2026-11-30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417175" y="4518204"/>
            <a:ext cx="0" cy="214592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3">
            <a:solidFill>
              <a:srgbClr val="DADADA"/>
            </a:solidFill>
          </a:ln>
        </p:spPr>
        <p:txBody xmlns:a="http://schemas.openxmlformats.org/drawingml/2006/main">
          <a:bodyPr/>
          <a:p/>
        </p:txBody>
      </p:sp>
      <p:sp>
        <p:nvSpPr>
          <p:cNvPr id="5851" name="Week rule 12 2026-12-07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800175" y="4518204"/>
            <a:ext cx="0" cy="214592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3">
            <a:solidFill>
              <a:srgbClr val="DADADA"/>
            </a:solidFill>
          </a:ln>
        </p:spPr>
        <p:txBody xmlns:a="http://schemas.openxmlformats.org/drawingml/2006/main">
          <a:bodyPr/>
          <a:p/>
        </p:txBody>
      </p:sp>
      <p:sp>
        <p:nvSpPr>
          <p:cNvPr id="5852" name="Week rule 12 2026-12-14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183175" y="4518204"/>
            <a:ext cx="0" cy="214592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3">
            <a:solidFill>
              <a:srgbClr val="DADADA"/>
            </a:solidFill>
          </a:ln>
        </p:spPr>
        <p:txBody xmlns:a="http://schemas.openxmlformats.org/drawingml/2006/main">
          <a:bodyPr/>
          <a:p/>
        </p:txBody>
      </p:sp>
      <p:sp>
        <p:nvSpPr>
          <p:cNvPr id="5853" name="Week rule 12 2027-01-04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66175" y="4518204"/>
            <a:ext cx="0" cy="214592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3">
            <a:solidFill>
              <a:srgbClr val="DADADA"/>
            </a:solidFill>
          </a:ln>
        </p:spPr>
        <p:txBody xmlns:a="http://schemas.openxmlformats.org/drawingml/2006/main">
          <a:bodyPr/>
          <a:p/>
        </p:txBody>
      </p:sp>
      <p:sp>
        <p:nvSpPr>
          <p:cNvPr id="5854" name="Week rule 12 2027-02-01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993816" y="4518204"/>
            <a:ext cx="0" cy="214592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3">
            <a:solidFill>
              <a:srgbClr val="DADADA"/>
            </a:solidFill>
          </a:ln>
        </p:spPr>
        <p:txBody xmlns:a="http://schemas.openxmlformats.org/drawingml/2006/main">
          <a:bodyPr/>
          <a:p/>
        </p:txBody>
      </p:sp>
      <p:sp>
        <p:nvSpPr>
          <p:cNvPr id="5855" name="Week rule 12 2027-03-01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421458" y="4518204"/>
            <a:ext cx="0" cy="214592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3">
            <a:solidFill>
              <a:srgbClr val="DADADA"/>
            </a:solidFill>
          </a:ln>
        </p:spPr>
        <p:txBody xmlns:a="http://schemas.openxmlformats.org/drawingml/2006/main">
          <a:bodyPr/>
          <a:p/>
        </p:txBody>
      </p:sp>
      <p:sp>
        <p:nvSpPr>
          <p:cNvPr id="5856" name="Task 12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2425" y="4518204"/>
            <a:ext cx="4295775" cy="214592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38100" tIns="0" rIns="3810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defRPr sz="960" b="0">
                <a:solidFill>
                  <a:srgbClr val="111111"/>
                </a:solidFill>
                <a:latin typeface="Arial"/>
                <a:ea typeface="Arial"/>
                <a:cs typeface="Arial"/>
              </a:defRPr>
            </a:pPr>
            <a:r>
              <a:rPr sz="960" b="0">
                <a:solidFill>
                  <a:srgbClr val="111111"/>
                </a:solidFill>
                <a:latin typeface="Arial"/>
                <a:ea typeface="Arial"/>
                <a:cs typeface="Arial"/>
              </a:rPr>
              <a:t>25. IsoFormer-style cross-attention fusion</a:t>
            </a:r>
          </a:p>
        </p:txBody>
      </p:sp>
      <p:sp>
        <p:nvSpPr>
          <p:cNvPr id="5857" name="Status 12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57725" y="4518204"/>
            <a:ext cx="838200" cy="214592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38100" tIns="0" rIns="3810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defRPr sz="848" b="0">
                <a:solidFill>
                  <a:srgbClr val="111111"/>
                </a:solidFill>
                <a:latin typeface="Arial"/>
                <a:ea typeface="Arial"/>
                <a:cs typeface="Arial"/>
              </a:defRPr>
            </a:pPr>
            <a:r>
              <a:rPr sz="848" b="0">
                <a:solidFill>
                  <a:srgbClr val="111111"/>
                </a:solidFill>
                <a:latin typeface="Arial"/>
                <a:ea typeface="Arial"/>
                <a:cs typeface="Arial"/>
              </a:rPr>
              <a:t>Planned</a:t>
            </a:r>
          </a:p>
        </p:txBody>
      </p:sp>
      <p:sp>
        <p:nvSpPr>
          <p:cNvPr id="5858" name="Dates 12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95925" y="4518204"/>
            <a:ext cx="857250" cy="214592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38100" tIns="0" rIns="3810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defRPr sz="848" b="0">
                <a:solidFill>
                  <a:srgbClr val="111111"/>
                </a:solidFill>
                <a:latin typeface="Arial"/>
                <a:ea typeface="Arial"/>
                <a:cs typeface="Arial"/>
              </a:defRPr>
            </a:pPr>
            <a:r>
              <a:rPr sz="848" b="0">
                <a:solidFill>
                  <a:srgbClr val="111111"/>
                </a:solidFill>
                <a:latin typeface="Arial"/>
                <a:ea typeface="Arial"/>
                <a:cs typeface="Arial"/>
              </a:rPr>
              <a:t>2/8-2/28</a:t>
            </a:r>
          </a:p>
        </p:txBody>
      </p:sp>
      <p:sp>
        <p:nvSpPr>
          <p:cNvPr id="5859" name="Bar 12 0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00727" y="4573112"/>
            <a:ext cx="320731" cy="1047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7BEC4"/>
          </a:solidFill>
          <a:ln xmlns:a="http://schemas.openxmlformats.org/drawingml/2006/main" w="0">
            <a:noFill/>
          </a:ln>
        </p:spPr>
        <p:txBody xmlns:a="http://schemas.openxmlformats.org/drawingml/2006/main">
          <a:bodyPr/>
          <a:p/>
        </p:txBody>
      </p:sp>
      <p:sp>
        <p:nvSpPr>
          <p:cNvPr id="5860" name="Row rule 12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3850" y="4732796"/>
            <a:ext cx="115252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3">
            <a:solidFill>
              <a:srgbClr val="DADADA"/>
            </a:solidFill>
          </a:ln>
        </p:spPr>
        <p:txBody xmlns:a="http://schemas.openxmlformats.org/drawingml/2006/main">
          <a:bodyPr/>
          <a:p/>
        </p:txBody>
      </p:sp>
      <p:sp>
        <p:nvSpPr>
          <p:cNvPr id="5861" name="Section Optional comparisons | Subject to scope and feasibility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3850" y="4732796"/>
            <a:ext cx="11525250" cy="2190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DE4EA"/>
          </a:solidFill>
          <a:ln xmlns:a="http://schemas.openxmlformats.org/drawingml/2006/main" w="0">
            <a:noFill/>
          </a:ln>
        </p:spPr>
        <p:txBody xmlns:a="http://schemas.openxmlformats.org/drawingml/2006/main">
          <a:bodyPr/>
          <a:p/>
        </p:txBody>
      </p:sp>
      <p:sp>
        <p:nvSpPr>
          <p:cNvPr id="5862" name="Section title Optional comparisons | Subject to scope and feasibility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2425" y="4732796"/>
            <a:ext cx="11468100" cy="2190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38100" tIns="0" rIns="3810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pPr>
            <a:r>
              <a:rPr sz="1050" b="1">
                <a:solidFill>
                  <a:srgbClr val="111111"/>
                </a:solidFill>
                <a:latin typeface="Arial"/>
                <a:ea typeface="Arial"/>
                <a:cs typeface="Arial"/>
              </a:rPr>
              <a:t>Optional comparisons | Subject to scope and feasibility</a:t>
            </a:r>
          </a:p>
        </p:txBody>
      </p:sp>
      <p:sp>
        <p:nvSpPr>
          <p:cNvPr id="5863" name="Row tint 13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3850" y="4951871"/>
            <a:ext cx="11525250" cy="214592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7F7F7"/>
          </a:solidFill>
          <a:ln xmlns:a="http://schemas.openxmlformats.org/drawingml/2006/main" w="0">
            <a:noFill/>
          </a:ln>
        </p:spPr>
        <p:txBody xmlns:a="http://schemas.openxmlformats.org/drawingml/2006/main">
          <a:bodyPr/>
          <a:p/>
        </p:txBody>
      </p:sp>
      <p:sp>
        <p:nvSpPr>
          <p:cNvPr id="5864" name="Week rule 13 2026-10-05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53175" y="4951871"/>
            <a:ext cx="0" cy="214592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3">
            <a:solidFill>
              <a:srgbClr val="DADADA"/>
            </a:solidFill>
          </a:ln>
        </p:spPr>
        <p:txBody xmlns:a="http://schemas.openxmlformats.org/drawingml/2006/main">
          <a:bodyPr/>
          <a:p/>
        </p:txBody>
      </p:sp>
      <p:sp>
        <p:nvSpPr>
          <p:cNvPr id="5865" name="Week rule 13 2026-10-12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36175" y="4951871"/>
            <a:ext cx="0" cy="214592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3">
            <a:solidFill>
              <a:srgbClr val="DADADA"/>
            </a:solidFill>
          </a:ln>
        </p:spPr>
        <p:txBody xmlns:a="http://schemas.openxmlformats.org/drawingml/2006/main">
          <a:bodyPr/>
          <a:p/>
        </p:txBody>
      </p:sp>
      <p:sp>
        <p:nvSpPr>
          <p:cNvPr id="5866" name="Week rule 13 2026-10-19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19175" y="4951871"/>
            <a:ext cx="0" cy="214592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3">
            <a:solidFill>
              <a:srgbClr val="DADADA"/>
            </a:solidFill>
          </a:ln>
        </p:spPr>
        <p:txBody xmlns:a="http://schemas.openxmlformats.org/drawingml/2006/main">
          <a:bodyPr/>
          <a:p/>
        </p:txBody>
      </p:sp>
      <p:sp>
        <p:nvSpPr>
          <p:cNvPr id="5867" name="Week rule 13 2026-10-26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02175" y="4951871"/>
            <a:ext cx="0" cy="214592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3">
            <a:solidFill>
              <a:srgbClr val="DADADA"/>
            </a:solidFill>
          </a:ln>
        </p:spPr>
        <p:txBody xmlns:a="http://schemas.openxmlformats.org/drawingml/2006/main">
          <a:bodyPr/>
          <a:p/>
        </p:txBody>
      </p:sp>
      <p:sp>
        <p:nvSpPr>
          <p:cNvPr id="5868" name="Week rule 13 2026-11-02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85175" y="4951871"/>
            <a:ext cx="0" cy="214592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3">
            <a:solidFill>
              <a:srgbClr val="DADADA"/>
            </a:solidFill>
          </a:ln>
        </p:spPr>
        <p:txBody xmlns:a="http://schemas.openxmlformats.org/drawingml/2006/main">
          <a:bodyPr/>
          <a:p/>
        </p:txBody>
      </p:sp>
      <p:sp>
        <p:nvSpPr>
          <p:cNvPr id="5869" name="Week rule 13 2026-11-09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68175" y="4951871"/>
            <a:ext cx="0" cy="214592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3">
            <a:solidFill>
              <a:srgbClr val="DADADA"/>
            </a:solidFill>
          </a:ln>
        </p:spPr>
        <p:txBody xmlns:a="http://schemas.openxmlformats.org/drawingml/2006/main">
          <a:bodyPr/>
          <a:p/>
        </p:txBody>
      </p:sp>
      <p:sp>
        <p:nvSpPr>
          <p:cNvPr id="5870" name="Week rule 13 2026-11-16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51175" y="4951871"/>
            <a:ext cx="0" cy="214592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3">
            <a:solidFill>
              <a:srgbClr val="DADADA"/>
            </a:solidFill>
          </a:ln>
        </p:spPr>
        <p:txBody xmlns:a="http://schemas.openxmlformats.org/drawingml/2006/main">
          <a:bodyPr/>
          <a:p/>
        </p:txBody>
      </p:sp>
      <p:sp>
        <p:nvSpPr>
          <p:cNvPr id="5871" name="Week rule 13 2026-11-23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34175" y="4951871"/>
            <a:ext cx="0" cy="214592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3">
            <a:solidFill>
              <a:srgbClr val="DADADA"/>
            </a:solidFill>
          </a:ln>
        </p:spPr>
        <p:txBody xmlns:a="http://schemas.openxmlformats.org/drawingml/2006/main">
          <a:bodyPr/>
          <a:p/>
        </p:txBody>
      </p:sp>
      <p:sp>
        <p:nvSpPr>
          <p:cNvPr id="5872" name="Week rule 13 2026-11-30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417175" y="4951871"/>
            <a:ext cx="0" cy="214592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3">
            <a:solidFill>
              <a:srgbClr val="DADADA"/>
            </a:solidFill>
          </a:ln>
        </p:spPr>
        <p:txBody xmlns:a="http://schemas.openxmlformats.org/drawingml/2006/main">
          <a:bodyPr/>
          <a:p/>
        </p:txBody>
      </p:sp>
      <p:sp>
        <p:nvSpPr>
          <p:cNvPr id="5873" name="Week rule 13 2026-12-07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800175" y="4951871"/>
            <a:ext cx="0" cy="214592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3">
            <a:solidFill>
              <a:srgbClr val="DADADA"/>
            </a:solidFill>
          </a:ln>
        </p:spPr>
        <p:txBody xmlns:a="http://schemas.openxmlformats.org/drawingml/2006/main">
          <a:bodyPr/>
          <a:p/>
        </p:txBody>
      </p:sp>
      <p:sp>
        <p:nvSpPr>
          <p:cNvPr id="5874" name="Week rule 13 2026-12-14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183175" y="4951871"/>
            <a:ext cx="0" cy="214592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3">
            <a:solidFill>
              <a:srgbClr val="DADADA"/>
            </a:solidFill>
          </a:ln>
        </p:spPr>
        <p:txBody xmlns:a="http://schemas.openxmlformats.org/drawingml/2006/main">
          <a:bodyPr/>
          <a:p/>
        </p:txBody>
      </p:sp>
      <p:sp>
        <p:nvSpPr>
          <p:cNvPr id="5875" name="Week rule 13 2027-01-04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66175" y="4951871"/>
            <a:ext cx="0" cy="214592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3">
            <a:solidFill>
              <a:srgbClr val="DADADA"/>
            </a:solidFill>
          </a:ln>
        </p:spPr>
        <p:txBody xmlns:a="http://schemas.openxmlformats.org/drawingml/2006/main">
          <a:bodyPr/>
          <a:p/>
        </p:txBody>
      </p:sp>
      <p:sp>
        <p:nvSpPr>
          <p:cNvPr id="5876" name="Week rule 13 2027-02-01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993816" y="4951871"/>
            <a:ext cx="0" cy="214592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3">
            <a:solidFill>
              <a:srgbClr val="DADADA"/>
            </a:solidFill>
          </a:ln>
        </p:spPr>
        <p:txBody xmlns:a="http://schemas.openxmlformats.org/drawingml/2006/main">
          <a:bodyPr/>
          <a:p/>
        </p:txBody>
      </p:sp>
      <p:sp>
        <p:nvSpPr>
          <p:cNvPr id="5877" name="Week rule 13 2027-03-01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421458" y="4951871"/>
            <a:ext cx="0" cy="214592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3">
            <a:solidFill>
              <a:srgbClr val="DADADA"/>
            </a:solidFill>
          </a:ln>
        </p:spPr>
        <p:txBody xmlns:a="http://schemas.openxmlformats.org/drawingml/2006/main">
          <a:bodyPr/>
          <a:p/>
        </p:txBody>
      </p:sp>
      <p:sp>
        <p:nvSpPr>
          <p:cNvPr id="5878" name="Task 13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2425" y="4951871"/>
            <a:ext cx="4295775" cy="214592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38100" tIns="0" rIns="3810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defRPr sz="960" b="0">
                <a:solidFill>
                  <a:srgbClr val="111111"/>
                </a:solidFill>
                <a:latin typeface="Arial"/>
                <a:ea typeface="Arial"/>
                <a:cs typeface="Arial"/>
              </a:defRPr>
            </a:pPr>
            <a:r>
              <a:rPr sz="960" b="0">
                <a:solidFill>
                  <a:srgbClr val="111111"/>
                </a:solidFill>
                <a:latin typeface="Arial"/>
                <a:ea typeface="Arial"/>
                <a:cs typeface="Arial"/>
              </a:rPr>
              <a:t>22. Layer depth and PCA/variance comparisons</a:t>
            </a:r>
          </a:p>
        </p:txBody>
      </p:sp>
      <p:sp>
        <p:nvSpPr>
          <p:cNvPr id="5879" name="Status 13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57725" y="4951871"/>
            <a:ext cx="838200" cy="214592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38100" tIns="0" rIns="3810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defRPr sz="848" b="0">
                <a:solidFill>
                  <a:srgbClr val="111111"/>
                </a:solidFill>
                <a:latin typeface="Arial"/>
                <a:ea typeface="Arial"/>
                <a:cs typeface="Arial"/>
              </a:defRPr>
            </a:pPr>
            <a:r>
              <a:rPr sz="848" b="0">
                <a:solidFill>
                  <a:srgbClr val="111111"/>
                </a:solidFill>
                <a:latin typeface="Arial"/>
                <a:ea typeface="Arial"/>
                <a:cs typeface="Arial"/>
              </a:rPr>
              <a:t>Conditional</a:t>
            </a:r>
          </a:p>
        </p:txBody>
      </p:sp>
      <p:sp>
        <p:nvSpPr>
          <p:cNvPr id="5880" name="Dates 13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95925" y="4951871"/>
            <a:ext cx="857250" cy="214592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38100" tIns="0" rIns="3810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defRPr sz="848" b="0">
                <a:solidFill>
                  <a:srgbClr val="111111"/>
                </a:solidFill>
                <a:latin typeface="Arial"/>
                <a:ea typeface="Arial"/>
                <a:cs typeface="Arial"/>
              </a:defRPr>
            </a:pPr>
            <a:r>
              <a:rPr sz="848" b="0">
                <a:solidFill>
                  <a:srgbClr val="111111"/>
                </a:solidFill>
                <a:latin typeface="Arial"/>
                <a:ea typeface="Arial"/>
                <a:cs typeface="Arial"/>
              </a:rPr>
              <a:t>10/19-11/1</a:t>
            </a:r>
          </a:p>
        </p:txBody>
      </p:sp>
      <p:sp>
        <p:nvSpPr>
          <p:cNvPr id="5881" name="Bar 13 0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19175" y="5006779"/>
            <a:ext cx="766000" cy="1047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666666"/>
            </a:solidFill>
          </a:ln>
        </p:spPr>
        <p:txBody xmlns:a="http://schemas.openxmlformats.org/drawingml/2006/main">
          <a:bodyPr/>
          <a:p/>
        </p:txBody>
      </p:sp>
      <p:sp>
        <p:nvSpPr>
          <p:cNvPr id="5882" name="Row rule 13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3850" y="5166463"/>
            <a:ext cx="115252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3">
            <a:solidFill>
              <a:srgbClr val="DADADA"/>
            </a:solidFill>
          </a:ln>
        </p:spPr>
        <p:txBody xmlns:a="http://schemas.openxmlformats.org/drawingml/2006/main">
          <a:bodyPr/>
          <a:p/>
        </p:txBody>
      </p:sp>
      <p:sp>
        <p:nvSpPr>
          <p:cNvPr id="5883" name="Week rule 14 2026-10-05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53175" y="5166463"/>
            <a:ext cx="0" cy="214592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3">
            <a:solidFill>
              <a:srgbClr val="DADADA"/>
            </a:solidFill>
          </a:ln>
        </p:spPr>
        <p:txBody xmlns:a="http://schemas.openxmlformats.org/drawingml/2006/main">
          <a:bodyPr/>
          <a:p/>
        </p:txBody>
      </p:sp>
      <p:sp>
        <p:nvSpPr>
          <p:cNvPr id="5884" name="Week rule 14 2026-10-12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36175" y="5166463"/>
            <a:ext cx="0" cy="214592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3">
            <a:solidFill>
              <a:srgbClr val="DADADA"/>
            </a:solidFill>
          </a:ln>
        </p:spPr>
        <p:txBody xmlns:a="http://schemas.openxmlformats.org/drawingml/2006/main">
          <a:bodyPr/>
          <a:p/>
        </p:txBody>
      </p:sp>
      <p:sp>
        <p:nvSpPr>
          <p:cNvPr id="5885" name="Week rule 14 2026-10-19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19175" y="5166463"/>
            <a:ext cx="0" cy="214592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3">
            <a:solidFill>
              <a:srgbClr val="DADADA"/>
            </a:solidFill>
          </a:ln>
        </p:spPr>
        <p:txBody xmlns:a="http://schemas.openxmlformats.org/drawingml/2006/main">
          <a:bodyPr/>
          <a:p/>
        </p:txBody>
      </p:sp>
      <p:sp>
        <p:nvSpPr>
          <p:cNvPr id="5886" name="Week rule 14 2026-10-26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02175" y="5166463"/>
            <a:ext cx="0" cy="214592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3">
            <a:solidFill>
              <a:srgbClr val="DADADA"/>
            </a:solidFill>
          </a:ln>
        </p:spPr>
        <p:txBody xmlns:a="http://schemas.openxmlformats.org/drawingml/2006/main">
          <a:bodyPr/>
          <a:p/>
        </p:txBody>
      </p:sp>
      <p:sp>
        <p:nvSpPr>
          <p:cNvPr id="5887" name="Week rule 14 2026-11-02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85175" y="5166463"/>
            <a:ext cx="0" cy="214592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3">
            <a:solidFill>
              <a:srgbClr val="DADADA"/>
            </a:solidFill>
          </a:ln>
        </p:spPr>
        <p:txBody xmlns:a="http://schemas.openxmlformats.org/drawingml/2006/main">
          <a:bodyPr/>
          <a:p/>
        </p:txBody>
      </p:sp>
      <p:sp>
        <p:nvSpPr>
          <p:cNvPr id="5888" name="Week rule 14 2026-11-09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68175" y="5166463"/>
            <a:ext cx="0" cy="214592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3">
            <a:solidFill>
              <a:srgbClr val="DADADA"/>
            </a:solidFill>
          </a:ln>
        </p:spPr>
        <p:txBody xmlns:a="http://schemas.openxmlformats.org/drawingml/2006/main">
          <a:bodyPr/>
          <a:p/>
        </p:txBody>
      </p:sp>
      <p:sp>
        <p:nvSpPr>
          <p:cNvPr id="5889" name="Week rule 14 2026-11-16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51175" y="5166463"/>
            <a:ext cx="0" cy="214592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3">
            <a:solidFill>
              <a:srgbClr val="DADADA"/>
            </a:solidFill>
          </a:ln>
        </p:spPr>
        <p:txBody xmlns:a="http://schemas.openxmlformats.org/drawingml/2006/main">
          <a:bodyPr/>
          <a:p/>
        </p:txBody>
      </p:sp>
      <p:sp>
        <p:nvSpPr>
          <p:cNvPr id="5890" name="Week rule 14 2026-11-23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34175" y="5166463"/>
            <a:ext cx="0" cy="214592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3">
            <a:solidFill>
              <a:srgbClr val="DADADA"/>
            </a:solidFill>
          </a:ln>
        </p:spPr>
        <p:txBody xmlns:a="http://schemas.openxmlformats.org/drawingml/2006/main">
          <a:bodyPr/>
          <a:p/>
        </p:txBody>
      </p:sp>
      <p:sp>
        <p:nvSpPr>
          <p:cNvPr id="5891" name="Week rule 14 2026-11-30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417175" y="5166463"/>
            <a:ext cx="0" cy="214592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3">
            <a:solidFill>
              <a:srgbClr val="DADADA"/>
            </a:solidFill>
          </a:ln>
        </p:spPr>
        <p:txBody xmlns:a="http://schemas.openxmlformats.org/drawingml/2006/main">
          <a:bodyPr/>
          <a:p/>
        </p:txBody>
      </p:sp>
      <p:sp>
        <p:nvSpPr>
          <p:cNvPr id="5892" name="Week rule 14 2026-12-07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800175" y="5166463"/>
            <a:ext cx="0" cy="214592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3">
            <a:solidFill>
              <a:srgbClr val="DADADA"/>
            </a:solidFill>
          </a:ln>
        </p:spPr>
        <p:txBody xmlns:a="http://schemas.openxmlformats.org/drawingml/2006/main">
          <a:bodyPr/>
          <a:p/>
        </p:txBody>
      </p:sp>
      <p:sp>
        <p:nvSpPr>
          <p:cNvPr id="5893" name="Week rule 14 2026-12-14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183175" y="5166463"/>
            <a:ext cx="0" cy="214592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3">
            <a:solidFill>
              <a:srgbClr val="DADADA"/>
            </a:solidFill>
          </a:ln>
        </p:spPr>
        <p:txBody xmlns:a="http://schemas.openxmlformats.org/drawingml/2006/main">
          <a:bodyPr/>
          <a:p/>
        </p:txBody>
      </p:sp>
      <p:sp>
        <p:nvSpPr>
          <p:cNvPr id="5894" name="Week rule 14 2027-01-04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66175" y="5166463"/>
            <a:ext cx="0" cy="214592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3">
            <a:solidFill>
              <a:srgbClr val="DADADA"/>
            </a:solidFill>
          </a:ln>
        </p:spPr>
        <p:txBody xmlns:a="http://schemas.openxmlformats.org/drawingml/2006/main">
          <a:bodyPr/>
          <a:p/>
        </p:txBody>
      </p:sp>
      <p:sp>
        <p:nvSpPr>
          <p:cNvPr id="5895" name="Week rule 14 2027-02-01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993816" y="5166463"/>
            <a:ext cx="0" cy="214592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3">
            <a:solidFill>
              <a:srgbClr val="DADADA"/>
            </a:solidFill>
          </a:ln>
        </p:spPr>
        <p:txBody xmlns:a="http://schemas.openxmlformats.org/drawingml/2006/main">
          <a:bodyPr/>
          <a:p/>
        </p:txBody>
      </p:sp>
      <p:sp>
        <p:nvSpPr>
          <p:cNvPr id="5896" name="Week rule 14 2027-03-01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421458" y="5166463"/>
            <a:ext cx="0" cy="214592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3">
            <a:solidFill>
              <a:srgbClr val="DADADA"/>
            </a:solidFill>
          </a:ln>
        </p:spPr>
        <p:txBody xmlns:a="http://schemas.openxmlformats.org/drawingml/2006/main">
          <a:bodyPr/>
          <a:p/>
        </p:txBody>
      </p:sp>
      <p:sp>
        <p:nvSpPr>
          <p:cNvPr id="5897" name="Task 14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2425" y="5166463"/>
            <a:ext cx="4295775" cy="214592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38100" tIns="0" rIns="3810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defRPr sz="960" b="0">
                <a:solidFill>
                  <a:srgbClr val="111111"/>
                </a:solidFill>
                <a:latin typeface="Arial"/>
                <a:ea typeface="Arial"/>
                <a:cs typeface="Arial"/>
              </a:defRPr>
            </a:pPr>
            <a:r>
              <a:rPr sz="960" b="0">
                <a:solidFill>
                  <a:srgbClr val="111111"/>
                </a:solidFill>
                <a:latin typeface="Arial"/>
                <a:ea typeface="Arial"/>
                <a:cs typeface="Arial"/>
              </a:rPr>
              <a:t>23. Alignment-objective ablation</a:t>
            </a:r>
          </a:p>
        </p:txBody>
      </p:sp>
      <p:sp>
        <p:nvSpPr>
          <p:cNvPr id="5898" name="Status 14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57725" y="5166463"/>
            <a:ext cx="838200" cy="214592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38100" tIns="0" rIns="3810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defRPr sz="848" b="0">
                <a:solidFill>
                  <a:srgbClr val="111111"/>
                </a:solidFill>
                <a:latin typeface="Arial"/>
                <a:ea typeface="Arial"/>
                <a:cs typeface="Arial"/>
              </a:defRPr>
            </a:pPr>
            <a:r>
              <a:rPr sz="848" b="0">
                <a:solidFill>
                  <a:srgbClr val="111111"/>
                </a:solidFill>
                <a:latin typeface="Arial"/>
                <a:ea typeface="Arial"/>
                <a:cs typeface="Arial"/>
              </a:rPr>
              <a:t>Conditional</a:t>
            </a:r>
          </a:p>
        </p:txBody>
      </p:sp>
      <p:sp>
        <p:nvSpPr>
          <p:cNvPr id="5899" name="Dates 14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95925" y="5166463"/>
            <a:ext cx="857250" cy="214592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38100" tIns="0" rIns="3810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defRPr sz="848" b="0">
                <a:solidFill>
                  <a:srgbClr val="111111"/>
                </a:solidFill>
                <a:latin typeface="Arial"/>
                <a:ea typeface="Arial"/>
                <a:cs typeface="Arial"/>
              </a:defRPr>
            </a:pPr>
            <a:r>
              <a:rPr sz="848" b="0">
                <a:solidFill>
                  <a:srgbClr val="111111"/>
                </a:solidFill>
                <a:latin typeface="Arial"/>
                <a:ea typeface="Arial"/>
                <a:cs typeface="Arial"/>
              </a:rPr>
              <a:t>2/8-2/21</a:t>
            </a:r>
          </a:p>
        </p:txBody>
      </p:sp>
      <p:sp>
        <p:nvSpPr>
          <p:cNvPr id="5900" name="Bar 14 0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00727" y="5221371"/>
            <a:ext cx="213820" cy="1047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666666"/>
            </a:solidFill>
          </a:ln>
        </p:spPr>
        <p:txBody xmlns:a="http://schemas.openxmlformats.org/drawingml/2006/main">
          <a:bodyPr/>
          <a:p/>
        </p:txBody>
      </p:sp>
      <p:sp>
        <p:nvSpPr>
          <p:cNvPr id="5901" name="Row rule 14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3850" y="5381055"/>
            <a:ext cx="115252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3">
            <a:solidFill>
              <a:srgbClr val="DADADA"/>
            </a:solidFill>
          </a:ln>
        </p:spPr>
        <p:txBody xmlns:a="http://schemas.openxmlformats.org/drawingml/2006/main">
          <a:bodyPr/>
          <a:p/>
        </p:txBody>
      </p:sp>
      <p:sp>
        <p:nvSpPr>
          <p:cNvPr id="5902" name="Row tint 15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3850" y="5381055"/>
            <a:ext cx="11525250" cy="214592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7F7F7"/>
          </a:solidFill>
          <a:ln xmlns:a="http://schemas.openxmlformats.org/drawingml/2006/main" w="0">
            <a:noFill/>
          </a:ln>
        </p:spPr>
        <p:txBody xmlns:a="http://schemas.openxmlformats.org/drawingml/2006/main">
          <a:bodyPr/>
          <a:p/>
        </p:txBody>
      </p:sp>
      <p:sp>
        <p:nvSpPr>
          <p:cNvPr id="5903" name="Week rule 15 2026-10-05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53175" y="5381055"/>
            <a:ext cx="0" cy="214592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3">
            <a:solidFill>
              <a:srgbClr val="DADADA"/>
            </a:solidFill>
          </a:ln>
        </p:spPr>
        <p:txBody xmlns:a="http://schemas.openxmlformats.org/drawingml/2006/main">
          <a:bodyPr/>
          <a:p/>
        </p:txBody>
      </p:sp>
      <p:sp>
        <p:nvSpPr>
          <p:cNvPr id="5904" name="Week rule 15 2026-10-12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36175" y="5381055"/>
            <a:ext cx="0" cy="214592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3">
            <a:solidFill>
              <a:srgbClr val="DADADA"/>
            </a:solidFill>
          </a:ln>
        </p:spPr>
        <p:txBody xmlns:a="http://schemas.openxmlformats.org/drawingml/2006/main">
          <a:bodyPr/>
          <a:p/>
        </p:txBody>
      </p:sp>
      <p:sp>
        <p:nvSpPr>
          <p:cNvPr id="5905" name="Week rule 15 2026-10-19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19175" y="5381055"/>
            <a:ext cx="0" cy="214592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3">
            <a:solidFill>
              <a:srgbClr val="DADADA"/>
            </a:solidFill>
          </a:ln>
        </p:spPr>
        <p:txBody xmlns:a="http://schemas.openxmlformats.org/drawingml/2006/main">
          <a:bodyPr/>
          <a:p/>
        </p:txBody>
      </p:sp>
      <p:sp>
        <p:nvSpPr>
          <p:cNvPr id="5906" name="Week rule 15 2026-10-26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02175" y="5381055"/>
            <a:ext cx="0" cy="214592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3">
            <a:solidFill>
              <a:srgbClr val="DADADA"/>
            </a:solidFill>
          </a:ln>
        </p:spPr>
        <p:txBody xmlns:a="http://schemas.openxmlformats.org/drawingml/2006/main">
          <a:bodyPr/>
          <a:p/>
        </p:txBody>
      </p:sp>
      <p:sp>
        <p:nvSpPr>
          <p:cNvPr id="5907" name="Week rule 15 2026-11-02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85175" y="5381055"/>
            <a:ext cx="0" cy="214592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3">
            <a:solidFill>
              <a:srgbClr val="DADADA"/>
            </a:solidFill>
          </a:ln>
        </p:spPr>
        <p:txBody xmlns:a="http://schemas.openxmlformats.org/drawingml/2006/main">
          <a:bodyPr/>
          <a:p/>
        </p:txBody>
      </p:sp>
      <p:sp>
        <p:nvSpPr>
          <p:cNvPr id="5908" name="Week rule 15 2026-11-09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68175" y="5381055"/>
            <a:ext cx="0" cy="214592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3">
            <a:solidFill>
              <a:srgbClr val="DADADA"/>
            </a:solidFill>
          </a:ln>
        </p:spPr>
        <p:txBody xmlns:a="http://schemas.openxmlformats.org/drawingml/2006/main">
          <a:bodyPr/>
          <a:p/>
        </p:txBody>
      </p:sp>
      <p:sp>
        <p:nvSpPr>
          <p:cNvPr id="5909" name="Week rule 15 2026-11-16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51175" y="5381055"/>
            <a:ext cx="0" cy="214592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3">
            <a:solidFill>
              <a:srgbClr val="DADADA"/>
            </a:solidFill>
          </a:ln>
        </p:spPr>
        <p:txBody xmlns:a="http://schemas.openxmlformats.org/drawingml/2006/main">
          <a:bodyPr/>
          <a:p/>
        </p:txBody>
      </p:sp>
      <p:sp>
        <p:nvSpPr>
          <p:cNvPr id="5910" name="Week rule 15 2026-11-23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34175" y="5381055"/>
            <a:ext cx="0" cy="214592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3">
            <a:solidFill>
              <a:srgbClr val="DADADA"/>
            </a:solidFill>
          </a:ln>
        </p:spPr>
        <p:txBody xmlns:a="http://schemas.openxmlformats.org/drawingml/2006/main">
          <a:bodyPr/>
          <a:p/>
        </p:txBody>
      </p:sp>
      <p:sp>
        <p:nvSpPr>
          <p:cNvPr id="5911" name="Week rule 15 2026-11-30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417175" y="5381055"/>
            <a:ext cx="0" cy="214592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3">
            <a:solidFill>
              <a:srgbClr val="DADADA"/>
            </a:solidFill>
          </a:ln>
        </p:spPr>
        <p:txBody xmlns:a="http://schemas.openxmlformats.org/drawingml/2006/main">
          <a:bodyPr/>
          <a:p/>
        </p:txBody>
      </p:sp>
      <p:sp>
        <p:nvSpPr>
          <p:cNvPr id="5912" name="Week rule 15 2026-12-07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800175" y="5381055"/>
            <a:ext cx="0" cy="214592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3">
            <a:solidFill>
              <a:srgbClr val="DADADA"/>
            </a:solidFill>
          </a:ln>
        </p:spPr>
        <p:txBody xmlns:a="http://schemas.openxmlformats.org/drawingml/2006/main">
          <a:bodyPr/>
          <a:p/>
        </p:txBody>
      </p:sp>
      <p:sp>
        <p:nvSpPr>
          <p:cNvPr id="5913" name="Week rule 15 2026-12-14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183175" y="5381055"/>
            <a:ext cx="0" cy="214592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3">
            <a:solidFill>
              <a:srgbClr val="DADADA"/>
            </a:solidFill>
          </a:ln>
        </p:spPr>
        <p:txBody xmlns:a="http://schemas.openxmlformats.org/drawingml/2006/main">
          <a:bodyPr/>
          <a:p/>
        </p:txBody>
      </p:sp>
      <p:sp>
        <p:nvSpPr>
          <p:cNvPr id="5914" name="Week rule 15 2027-01-04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66175" y="5381055"/>
            <a:ext cx="0" cy="214592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3">
            <a:solidFill>
              <a:srgbClr val="DADADA"/>
            </a:solidFill>
          </a:ln>
        </p:spPr>
        <p:txBody xmlns:a="http://schemas.openxmlformats.org/drawingml/2006/main">
          <a:bodyPr/>
          <a:p/>
        </p:txBody>
      </p:sp>
      <p:sp>
        <p:nvSpPr>
          <p:cNvPr id="5915" name="Week rule 15 2027-02-01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993816" y="5381055"/>
            <a:ext cx="0" cy="214592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3">
            <a:solidFill>
              <a:srgbClr val="DADADA"/>
            </a:solidFill>
          </a:ln>
        </p:spPr>
        <p:txBody xmlns:a="http://schemas.openxmlformats.org/drawingml/2006/main">
          <a:bodyPr/>
          <a:p/>
        </p:txBody>
      </p:sp>
      <p:sp>
        <p:nvSpPr>
          <p:cNvPr id="5916" name="Week rule 15 2027-03-01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421458" y="5381055"/>
            <a:ext cx="0" cy="214592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3">
            <a:solidFill>
              <a:srgbClr val="DADADA"/>
            </a:solidFill>
          </a:ln>
        </p:spPr>
        <p:txBody xmlns:a="http://schemas.openxmlformats.org/drawingml/2006/main">
          <a:bodyPr/>
          <a:p/>
        </p:txBody>
      </p:sp>
      <p:sp>
        <p:nvSpPr>
          <p:cNvPr id="5917" name="Task 15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2425" y="5381055"/>
            <a:ext cx="4295775" cy="214592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38100" tIns="0" rIns="3810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defRPr sz="960" b="0">
                <a:solidFill>
                  <a:srgbClr val="111111"/>
                </a:solidFill>
                <a:latin typeface="Arial"/>
                <a:ea typeface="Arial"/>
                <a:cs typeface="Arial"/>
              </a:defRPr>
            </a:pPr>
            <a:r>
              <a:rPr sz="960" b="0">
                <a:solidFill>
                  <a:srgbClr val="111111"/>
                </a:solidFill>
                <a:latin typeface="Arial"/>
                <a:ea typeface="Arial"/>
                <a:cs typeface="Arial"/>
              </a:rPr>
              <a:t>26. Agree tokenizer benchmark scope and protocol</a:t>
            </a:r>
          </a:p>
        </p:txBody>
      </p:sp>
      <p:sp>
        <p:nvSpPr>
          <p:cNvPr id="5918" name="Status 15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57725" y="5381055"/>
            <a:ext cx="838200" cy="214592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38100" tIns="0" rIns="3810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defRPr sz="848" b="0">
                <a:solidFill>
                  <a:srgbClr val="111111"/>
                </a:solidFill>
                <a:latin typeface="Arial"/>
                <a:ea typeface="Arial"/>
                <a:cs typeface="Arial"/>
              </a:defRPr>
            </a:pPr>
            <a:r>
              <a:rPr sz="848" b="0">
                <a:solidFill>
                  <a:srgbClr val="111111"/>
                </a:solidFill>
                <a:latin typeface="Arial"/>
                <a:ea typeface="Arial"/>
                <a:cs typeface="Arial"/>
              </a:rPr>
              <a:t>Conditional</a:t>
            </a:r>
          </a:p>
        </p:txBody>
      </p:sp>
      <p:sp>
        <p:nvSpPr>
          <p:cNvPr id="5919" name="Dates 15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95925" y="5381055"/>
            <a:ext cx="857250" cy="214592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38100" tIns="0" rIns="3810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defRPr sz="848" b="0">
                <a:solidFill>
                  <a:srgbClr val="111111"/>
                </a:solidFill>
                <a:latin typeface="Arial"/>
                <a:ea typeface="Arial"/>
                <a:cs typeface="Arial"/>
              </a:defRPr>
            </a:pPr>
            <a:r>
              <a:rPr sz="848" b="0">
                <a:solidFill>
                  <a:srgbClr val="111111"/>
                </a:solidFill>
                <a:latin typeface="Arial"/>
                <a:ea typeface="Arial"/>
                <a:cs typeface="Arial"/>
              </a:rPr>
              <a:t>10/6-10/18</a:t>
            </a:r>
          </a:p>
        </p:txBody>
      </p:sp>
      <p:sp>
        <p:nvSpPr>
          <p:cNvPr id="5920" name="Bar 15 0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07889" y="5435963"/>
            <a:ext cx="711285" cy="1047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666666"/>
            </a:solidFill>
          </a:ln>
        </p:spPr>
        <p:txBody xmlns:a="http://schemas.openxmlformats.org/drawingml/2006/main">
          <a:bodyPr/>
          <a:p/>
        </p:txBody>
      </p:sp>
      <p:sp>
        <p:nvSpPr>
          <p:cNvPr id="5921" name="Row rule 15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3850" y="5595647"/>
            <a:ext cx="115252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3">
            <a:solidFill>
              <a:srgbClr val="DADADA"/>
            </a:solidFill>
          </a:ln>
        </p:spPr>
        <p:txBody xmlns:a="http://schemas.openxmlformats.org/drawingml/2006/main">
          <a:bodyPr/>
          <a:p/>
        </p:txBody>
      </p:sp>
      <p:sp>
        <p:nvSpPr>
          <p:cNvPr id="5922" name="Week rule 16 2026-10-05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53175" y="5595647"/>
            <a:ext cx="0" cy="214592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3">
            <a:solidFill>
              <a:srgbClr val="DADADA"/>
            </a:solidFill>
          </a:ln>
        </p:spPr>
        <p:txBody xmlns:a="http://schemas.openxmlformats.org/drawingml/2006/main">
          <a:bodyPr/>
          <a:p/>
        </p:txBody>
      </p:sp>
      <p:sp>
        <p:nvSpPr>
          <p:cNvPr id="5923" name="Week rule 16 2026-10-12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36175" y="5595647"/>
            <a:ext cx="0" cy="214592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3">
            <a:solidFill>
              <a:srgbClr val="DADADA"/>
            </a:solidFill>
          </a:ln>
        </p:spPr>
        <p:txBody xmlns:a="http://schemas.openxmlformats.org/drawingml/2006/main">
          <a:bodyPr/>
          <a:p/>
        </p:txBody>
      </p:sp>
      <p:sp>
        <p:nvSpPr>
          <p:cNvPr id="5924" name="Week rule 16 2026-10-19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19175" y="5595647"/>
            <a:ext cx="0" cy="214592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3">
            <a:solidFill>
              <a:srgbClr val="DADADA"/>
            </a:solidFill>
          </a:ln>
        </p:spPr>
        <p:txBody xmlns:a="http://schemas.openxmlformats.org/drawingml/2006/main">
          <a:bodyPr/>
          <a:p/>
        </p:txBody>
      </p:sp>
      <p:sp>
        <p:nvSpPr>
          <p:cNvPr id="5925" name="Week rule 16 2026-10-26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02175" y="5595647"/>
            <a:ext cx="0" cy="214592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3">
            <a:solidFill>
              <a:srgbClr val="DADADA"/>
            </a:solidFill>
          </a:ln>
        </p:spPr>
        <p:txBody xmlns:a="http://schemas.openxmlformats.org/drawingml/2006/main">
          <a:bodyPr/>
          <a:p/>
        </p:txBody>
      </p:sp>
      <p:sp>
        <p:nvSpPr>
          <p:cNvPr id="5926" name="Week rule 16 2026-11-02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85175" y="5595647"/>
            <a:ext cx="0" cy="214592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3">
            <a:solidFill>
              <a:srgbClr val="DADADA"/>
            </a:solidFill>
          </a:ln>
        </p:spPr>
        <p:txBody xmlns:a="http://schemas.openxmlformats.org/drawingml/2006/main">
          <a:bodyPr/>
          <a:p/>
        </p:txBody>
      </p:sp>
      <p:sp>
        <p:nvSpPr>
          <p:cNvPr id="5927" name="Week rule 16 2026-11-09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68175" y="5595647"/>
            <a:ext cx="0" cy="214592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3">
            <a:solidFill>
              <a:srgbClr val="DADADA"/>
            </a:solidFill>
          </a:ln>
        </p:spPr>
        <p:txBody xmlns:a="http://schemas.openxmlformats.org/drawingml/2006/main">
          <a:bodyPr/>
          <a:p/>
        </p:txBody>
      </p:sp>
      <p:sp>
        <p:nvSpPr>
          <p:cNvPr id="5928" name="Week rule 16 2026-11-16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51175" y="5595647"/>
            <a:ext cx="0" cy="214592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3">
            <a:solidFill>
              <a:srgbClr val="DADADA"/>
            </a:solidFill>
          </a:ln>
        </p:spPr>
        <p:txBody xmlns:a="http://schemas.openxmlformats.org/drawingml/2006/main">
          <a:bodyPr/>
          <a:p/>
        </p:txBody>
      </p:sp>
      <p:sp>
        <p:nvSpPr>
          <p:cNvPr id="5929" name="Week rule 16 2026-11-23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34175" y="5595647"/>
            <a:ext cx="0" cy="214592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3">
            <a:solidFill>
              <a:srgbClr val="DADADA"/>
            </a:solidFill>
          </a:ln>
        </p:spPr>
        <p:txBody xmlns:a="http://schemas.openxmlformats.org/drawingml/2006/main">
          <a:bodyPr/>
          <a:p/>
        </p:txBody>
      </p:sp>
      <p:sp>
        <p:nvSpPr>
          <p:cNvPr id="5930" name="Week rule 16 2026-11-30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417175" y="5595647"/>
            <a:ext cx="0" cy="214592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3">
            <a:solidFill>
              <a:srgbClr val="DADADA"/>
            </a:solidFill>
          </a:ln>
        </p:spPr>
        <p:txBody xmlns:a="http://schemas.openxmlformats.org/drawingml/2006/main">
          <a:bodyPr/>
          <a:p/>
        </p:txBody>
      </p:sp>
      <p:sp>
        <p:nvSpPr>
          <p:cNvPr id="5931" name="Week rule 16 2026-12-07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800175" y="5595647"/>
            <a:ext cx="0" cy="214592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3">
            <a:solidFill>
              <a:srgbClr val="DADADA"/>
            </a:solidFill>
          </a:ln>
        </p:spPr>
        <p:txBody xmlns:a="http://schemas.openxmlformats.org/drawingml/2006/main">
          <a:bodyPr/>
          <a:p/>
        </p:txBody>
      </p:sp>
      <p:sp>
        <p:nvSpPr>
          <p:cNvPr id="5932" name="Week rule 16 2026-12-14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183175" y="5595647"/>
            <a:ext cx="0" cy="214592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3">
            <a:solidFill>
              <a:srgbClr val="DADADA"/>
            </a:solidFill>
          </a:ln>
        </p:spPr>
        <p:txBody xmlns:a="http://schemas.openxmlformats.org/drawingml/2006/main">
          <a:bodyPr/>
          <a:p/>
        </p:txBody>
      </p:sp>
      <p:sp>
        <p:nvSpPr>
          <p:cNvPr id="5933" name="Week rule 16 2027-01-04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66175" y="5595647"/>
            <a:ext cx="0" cy="214592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3">
            <a:solidFill>
              <a:srgbClr val="DADADA"/>
            </a:solidFill>
          </a:ln>
        </p:spPr>
        <p:txBody xmlns:a="http://schemas.openxmlformats.org/drawingml/2006/main">
          <a:bodyPr/>
          <a:p/>
        </p:txBody>
      </p:sp>
      <p:sp>
        <p:nvSpPr>
          <p:cNvPr id="5934" name="Week rule 16 2027-02-01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993816" y="5595647"/>
            <a:ext cx="0" cy="214592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3">
            <a:solidFill>
              <a:srgbClr val="DADADA"/>
            </a:solidFill>
          </a:ln>
        </p:spPr>
        <p:txBody xmlns:a="http://schemas.openxmlformats.org/drawingml/2006/main">
          <a:bodyPr/>
          <a:p/>
        </p:txBody>
      </p:sp>
      <p:sp>
        <p:nvSpPr>
          <p:cNvPr id="5935" name="Week rule 16 2027-03-01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421458" y="5595647"/>
            <a:ext cx="0" cy="214592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3">
            <a:solidFill>
              <a:srgbClr val="DADADA"/>
            </a:solidFill>
          </a:ln>
        </p:spPr>
        <p:txBody xmlns:a="http://schemas.openxmlformats.org/drawingml/2006/main">
          <a:bodyPr/>
          <a:p/>
        </p:txBody>
      </p:sp>
      <p:sp>
        <p:nvSpPr>
          <p:cNvPr id="5936" name="Task 16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2425" y="5595647"/>
            <a:ext cx="4295775" cy="214592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38100" tIns="0" rIns="3810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defRPr sz="960" b="0">
                <a:solidFill>
                  <a:srgbClr val="111111"/>
                </a:solidFill>
                <a:latin typeface="Arial"/>
                <a:ea typeface="Arial"/>
                <a:cs typeface="Arial"/>
              </a:defRPr>
            </a:pPr>
            <a:r>
              <a:rPr sz="960" b="0">
                <a:solidFill>
                  <a:srgbClr val="111111"/>
                </a:solidFill>
                <a:latin typeface="Arial"/>
                <a:ea typeface="Arial"/>
                <a:cs typeface="Arial"/>
              </a:rPr>
              <a:t>27. Lab-tokenizer benchmark pilot</a:t>
            </a:r>
          </a:p>
        </p:txBody>
      </p:sp>
      <p:sp>
        <p:nvSpPr>
          <p:cNvPr id="5937" name="Status 16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57725" y="5595647"/>
            <a:ext cx="838200" cy="214592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38100" tIns="0" rIns="3810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defRPr sz="848" b="0">
                <a:solidFill>
                  <a:srgbClr val="111111"/>
                </a:solidFill>
                <a:latin typeface="Arial"/>
                <a:ea typeface="Arial"/>
                <a:cs typeface="Arial"/>
              </a:defRPr>
            </a:pPr>
            <a:r>
              <a:rPr sz="848" b="0">
                <a:solidFill>
                  <a:srgbClr val="111111"/>
                </a:solidFill>
                <a:latin typeface="Arial"/>
                <a:ea typeface="Arial"/>
                <a:cs typeface="Arial"/>
              </a:rPr>
              <a:t>Conditional</a:t>
            </a:r>
          </a:p>
        </p:txBody>
      </p:sp>
      <p:sp>
        <p:nvSpPr>
          <p:cNvPr id="5938" name="Dates 16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95925" y="5595647"/>
            <a:ext cx="857250" cy="214592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38100" tIns="0" rIns="3810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defRPr sz="848" b="0">
                <a:solidFill>
                  <a:srgbClr val="111111"/>
                </a:solidFill>
                <a:latin typeface="Arial"/>
                <a:ea typeface="Arial"/>
                <a:cs typeface="Arial"/>
              </a:defRPr>
            </a:pPr>
            <a:r>
              <a:rPr sz="848" b="0">
                <a:solidFill>
                  <a:srgbClr val="111111"/>
                </a:solidFill>
                <a:latin typeface="Arial"/>
                <a:ea typeface="Arial"/>
                <a:cs typeface="Arial"/>
              </a:rPr>
              <a:t>11/2-11/15</a:t>
            </a:r>
          </a:p>
        </p:txBody>
      </p:sp>
      <p:sp>
        <p:nvSpPr>
          <p:cNvPr id="5939" name="Bar 16 0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85175" y="5650555"/>
            <a:ext cx="766000" cy="1047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666666"/>
            </a:solidFill>
          </a:ln>
        </p:spPr>
        <p:txBody xmlns:a="http://schemas.openxmlformats.org/drawingml/2006/main">
          <a:bodyPr/>
          <a:p/>
        </p:txBody>
      </p:sp>
      <p:sp>
        <p:nvSpPr>
          <p:cNvPr id="5940" name="Row rule 16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3850" y="5810239"/>
            <a:ext cx="115252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3">
            <a:solidFill>
              <a:srgbClr val="DADADA"/>
            </a:solidFill>
          </a:ln>
        </p:spPr>
        <p:txBody xmlns:a="http://schemas.openxmlformats.org/drawingml/2006/main">
          <a:bodyPr/>
          <a:p/>
        </p:txBody>
      </p:sp>
    </p:spTree>
    <p:extLst>
      <p:ext uri="{BB962C8B-B14F-4D97-AF65-F5344CB8AC3E}">
        <p14:creationId xmlns:p14="http://schemas.microsoft.com/office/powerpoint/2010/main" val="1516037728"/>
      </p:ext>
    </p:extLst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>
          <a:solidFill>
            <a:schemeClr val="phClr">
              <a:shade val="95000"/>
              <a:satMod val="105000"/>
            </a:schemeClr>
          </a:solidFill>
          <a:prstDash val="solid"/>
        </a:ln>
        <a:ln w="25400">
          <a:solidFill>
            <a:schemeClr val="phClr"/>
          </a:solidFill>
          <a:prstDash val="solid"/>
        </a:ln>
        <a:ln w="38100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docProps/app.xml><?xml version="1.0" encoding="utf-8"?>
<ap:Properties xmlns:ap="http://schemas.openxmlformats.org/officeDocument/2006/extended-properties">
  <ap:Application>Walnut Exporter</ap:Application>
  <ap:PresentationFormat>Converted Presentation</ap:PresentationFormat>
  <ap:Slides>0</ap:Slides>
  <ap:Notes>0</ap:Notes>
  <ap:HiddenSlides>0</ap:HiddenSlides>
  <ap:SharedDoc>false</ap:SharedDoc>
  <ap:DocSecurity>0</ap:DocSecurity>
</ap:Properties>
</file>

<file path=docProps/core.xml><?xml version="1.0" encoding="utf-8"?>
<coreProperties xmlns:dc="http://purl.org/dc/elements/1.1/" xmlns:dcterms="http://purl.org/dc/terms/" xmlns:xsi="http://www.w3.org/2001/XMLSchema-instance" xmlns="http://schemas.openxmlformats.org/package/2006/metadata/core-properties">
  <dc:creator>Walnut Exporter</dc:creator>
  <lastModifiedBy>Walnut Exporter</lastModifiedBy>
  <dc:title>Presentation</dc:title>
  <dcterms:created xsi:type="dcterms:W3CDTF">2026-09-27T03:31:25.9170000Z</dcterms:created>
  <dcterms:modified xsi:type="dcterms:W3CDTF">2026-09-27T03:31:25.9170000Z</dcterms:modified>
</coreProperties>
</file>