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973df2838e104121" Type="http://schemas.openxmlformats.org/officeDocument/2006/relationships/officeDocument" Target="ppt/presentation.xml"/><Relationship Id="Rd937c4f8d3c346d5" Type="http://schemas.openxmlformats.org/officeDocument/2006/relationships/extended-properties" Target="docProps/app.xml"/><Relationship Id="Rec0bff5dd90b45a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fa38b75706f493e"/>
  </p:sldMasterIdLst>
  <p:notesMasterIdLst>
    <p:notesMasterId xmlns:r="http://schemas.openxmlformats.org/officeDocument/2006/relationships" r:id="R32e8536ebd5844f2"/>
  </p:notesMasterIdLst>
  <p:sldIdLst>
    <p:sldId xmlns:r="http://schemas.openxmlformats.org/officeDocument/2006/relationships" id="256" r:id="R31cdde5dac1d4adf"/>
    <p:sldId xmlns:r="http://schemas.openxmlformats.org/officeDocument/2006/relationships" id="257" r:id="R9d5ad6c125424019"/>
    <p:sldId xmlns:r="http://schemas.openxmlformats.org/officeDocument/2006/relationships" id="258" r:id="R2f07565cddd544be"/>
  </p:sldIdLst>
  <p:sldSz cx="12191695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c45d6c52b5e477a" Type="http://schemas.openxmlformats.org/officeDocument/2006/relationships/tableStyles" Target="tableStyles.xml"/><Relationship Id="R2cbfae302eed4cc7" Type="http://schemas.openxmlformats.org/officeDocument/2006/relationships/theme" Target="theme/theme1.xml"/><Relationship Id="R2f07565cddd544be" Type="http://schemas.openxmlformats.org/officeDocument/2006/relationships/slide" Target="slides/slide3.xml"/><Relationship Id="R31cdde5dac1d4adf" Type="http://schemas.openxmlformats.org/officeDocument/2006/relationships/slide" Target="slides/slide1.xml"/><Relationship Id="R32e8536ebd5844f2" Type="http://schemas.openxmlformats.org/officeDocument/2006/relationships/notesMaster" Target="notesMasters/notesMaster1.xml"/><Relationship Id="R9d5ad6c125424019" Type="http://schemas.openxmlformats.org/officeDocument/2006/relationships/slide" Target="slides/slide2.xml"/><Relationship Id="Ra9f48024d7c14e7c" Type="http://schemas.openxmlformats.org/officeDocument/2006/relationships/presProps" Target="presProps.xml"/><Relationship Id="Rc86f4db93065457a" Type="http://schemas.openxmlformats.org/officeDocument/2006/relationships/viewProps" Target="viewProps.xml"/><Relationship Id="Rcfa38b75706f493e" Type="http://schemas.openxmlformats.org/officeDocument/2006/relationships/slideMaster" Target="slideMasters/slideMaster1.xml"/></Relationships>
</file>

<file path=ppt/notesMasters/_rels/notesMaster1.xml.rels><?xml version='1.0' encoding='UTF-8' standalone='yes'?>
<Relationships xmlns="http://schemas.openxmlformats.org/package/2006/relationships"><Relationship Id="R994cc7e7a5274643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b165bbb066014e37" Type="http://schemas.openxmlformats.org/officeDocument/2006/relationships/notesMaster" Target="../notesMasters/notesMaster1.xml"/><Relationship Id="Rb54eec95c8b442dd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7d45a98b8424a28" Type="http://schemas.openxmlformats.org/officeDocument/2006/relationships/notesMaster" Target="../notesMasters/notesMaster1.xml"/><Relationship Id="R99d574f9237f463c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2fb5fe6fea5749d6" Type="http://schemas.openxmlformats.org/officeDocument/2006/relationships/notesMaster" Target="../notesMasters/notesMaster1.xml"/><Relationship Id="Ra9487a36515d42a1" Type="http://schemas.openxmlformats.org/officeDocument/2006/relationships/slide" Target="../slides/slide3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Biological Foundation Models | Research Project Plan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1. Initial six-paper review</a:t>
            </a:r>
          </a:p>
          <a:p xmlns:a="http://schemas.openxmlformats.org/drawingml/2006/main">
            <a:r>
              <a:t>2026-09-07 to 2026-09-21; Complete.</a:t>
            </a:r>
          </a:p>
          <a:p xmlns:a="http://schemas.openxmlformats.org/drawingml/2006/main">
            <a:r>
              <a:t>Expected outcome: Complete the initial six-paper review and retain paper notes for continued interpretation and discussion.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2 | Experiments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writing and coordination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30. Research coordination and decision review</a:t>
            </a:r>
          </a:p>
          <a:p xmlns:a="http://schemas.openxmlformats.org/drawingml/2006/main">
            <a:r>
              <a:t>2026-09-14 to 2027-03-31; In progress.</a:t>
            </a:r>
          </a:p>
          <a:p xmlns:a="http://schemas.openxmlformats.org/drawingml/2006/main">
            <a:r>
              <a:t>Expected outcome: Maintain the questions, decisions and follow-ups from regular team and advisor discussions. Confirm future meeting dates with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32. Maintain and revise the living Overleaf manuscript</a:t>
            </a:r>
          </a:p>
          <a:p xmlns:a="http://schemas.openxmlformats.org/drawingml/2006/main">
            <a:r>
              <a:t>2026-09-26 to 2027-03-31; In progress.</a:t>
            </a:r>
          </a:p>
          <a:p xmlns:a="http://schemas.openxmlformats.org/drawingml/2006/main">
            <a:r>
              <a:t>Expected outcome: Update methods, figures, claims, citations and open questions as research changes. Writing begins with Stage 1 and continues through review, new experiments and later consolidation.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CAP6942 | Course deliverables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33. Bibliography, canvas and project-plan submissions</a:t>
            </a:r>
          </a:p>
          <a:p xmlns:a="http://schemas.openxmlformats.org/drawingml/2006/main">
            <a:r>
              <a:t>2026-09-26 to 2026-09-27; In progress.</a:t>
            </a:r>
          </a:p>
          <a:p xmlns:a="http://schemas.openxmlformats.org/drawingml/2006/main">
            <a:r>
              <a:t>Expected outcome: Submit the annotated bibliography and Research Canvas for Team Assignment 1, and the research project plan for Team Assignment 2. Both are due September 27 at 23:59 Eastern.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34. Prepare final report, presentation and video</a:t>
            </a:r>
          </a:p>
          <a:p xmlns:a="http://schemas.openxmlformats.org/drawingml/2006/main">
            <a:r>
              <a:t>2026-11-16 to 2026-12-06; Planned.</a:t>
            </a:r>
          </a:p>
          <a:p xmlns:a="http://schemas.openxmlformats.org/drawingml/2006/main">
            <a:r>
              <a:t>Expected outcome: Adapt the evolving manuscript and evidence to the course report, presentation and video requirements. Rehearse explanations and incorporate teammate and advisor feedback.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35. Course rehearsal checkpoint</a:t>
            </a:r>
          </a:p>
          <a:p xmlns:a="http://schemas.openxmlformats.org/drawingml/2006/main">
            <a:r>
              <a:t>2026-12-01 to 2026-12-01; Planned.</a:t>
            </a:r>
          </a:p>
          <a:p xmlns:a="http://schemas.openxmlformats.org/drawingml/2006/main">
            <a:r>
              <a:t>Expected outcome: Rehearse the scientific account and record corrections; confirm the course’s exact instructions in WebCourses.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36. Final course report checkpoint</a:t>
            </a:r>
          </a:p>
          <a:p xmlns:a="http://schemas.openxmlformats.org/drawingml/2006/main">
            <a:r>
              <a:t>2026-12-07 to 2026-12-07; Planned.</a:t>
            </a:r>
          </a:p>
          <a:p xmlns:a="http://schemas.openxmlformats.org/drawingml/2006/main">
            <a:r>
              <a:t>Expected outcome: Review evidence, attribution and AI disclosure; confirm and complete the required course submission.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37. Course presentation and video checkpoint</a:t>
            </a:r>
          </a:p>
          <a:p xmlns:a="http://schemas.openxmlformats.org/drawingml/2006/main">
            <a:r>
              <a:t>2026-12-08 to 2026-12-08; Planned.</a:t>
            </a:r>
          </a:p>
          <a:p xmlns:a="http://schemas.openxmlformats.org/drawingml/2006/main">
            <a:r>
              <a:t>Expected outcome: Deliver the course presentation/video using the reviewed evidence and acknowledged limitations.</a:t>
            </a:r>
          </a:p>
          <a:p xmlns:a="http://schemas.openxmlformats.org/drawingml/2006/main">
            <a:r>
              <a:t>Prerequisites: 34, 35.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continuation | Provisional January to March 2027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38. Further experiments and external validation</a:t>
            </a:r>
          </a:p>
          <a:p xmlns:a="http://schemas.openxmlformats.org/drawingml/2006/main">
            <a:r>
              <a:t>2027-01-04 to 2027-02-28; Conditional.</a:t>
            </a:r>
          </a:p>
          <a:p xmlns:a="http://schemas.openxmlformats.org/drawingml/2006/main">
            <a:r>
              <a:t>Expected outcome: Select and run extensions justified by the reviewed evidence, biological relevance, collaborators and available resources.</a:t>
            </a:r>
          </a:p>
          <a:p xmlns:a="http://schemas.openxmlformats.org/drawingml/2006/main">
            <a:r>
              <a:t>Prerequisites: 29.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39. Consolidate manuscript and review publication readiness</a:t>
            </a:r>
          </a:p>
          <a:p xmlns:a="http://schemas.openxmlformats.org/drawingml/2006/main">
            <a:r>
              <a:t>2027-02-01 to 2027-03-31; Planned.</a:t>
            </a:r>
          </a:p>
          <a:p xmlns:a="http://schemas.openxmlformats.org/drawingml/2006/main">
            <a:r>
              <a:t>Expected outcome: Refine the manuscript already underway, integrate additional evidence and seek group feedback. Venue, submission date and final research end remain undecided.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40. March research review and next-step decision</a:t>
            </a:r>
          </a:p>
          <a:p xmlns:a="http://schemas.openxmlformats.org/drawingml/2006/main">
            <a:r>
              <a:t>2027-03-31 to 2027-03-31; Planned.</a:t>
            </a:r>
          </a:p>
          <a:p xmlns:a="http://schemas.openxmlformats.org/drawingml/2006/main">
            <a:r>
              <a:t>Expected outcome: Review the evidence and decide whether to extend the experiments, revise the manuscript, prepare a submission or change direction. Adjust the timeline to the chosen next steps.</a:t>
            </a:r>
          </a:p>
          <a:p xmlns:a="http://schemas.openxmlformats.org/drawingml/2006/main">
            <a:r>
              <a:t>Prerequisites: 39.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1 | Understanding, Reproducibility and Alignment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Study and interpretation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2. Continue paper synthesis and notebook walkthrough</a:t>
            </a:r>
          </a:p>
          <a:p xmlns:a="http://schemas.openxmlformats.org/drawingml/2006/main">
            <a:r>
              <a:t>2026-09-21 to 2026-10-05; In progress.</a:t>
            </a:r>
          </a:p>
          <a:p xmlns:a="http://schemas.openxmlformats.org/drawingml/2006/main">
            <a:r>
              <a:t>Expected outcome: Explain biological inputs, frozen encoders, pooling, probes and metrics; connect each retained result to the relevant paper and its limitations.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6. Interpret representation metrics and pilot findings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Explain what CKA, neighborhood, CCA/retrieval and predictive probes measure; distinguish observations from explanations. Prepare PCA/variance and layer-choice questions for Mina.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7. Draft an operational definition of alignment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Define objects being related, biological correspondence versus representation similarity, sample/position unit, metric, reference or null, and permitted conclusions. Keep useful fusion as a separate test.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Data and reproducibility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3. Check label meaning, sequence regions and duplicates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Record assay/target provenance, retained rows, sequence regions, duplicates and translation assumptions before drawing biological conclusions.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4. Check train/test separation and preprocessing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Identify evaluation unit; check whether duplicate or related sequences cross train/test boundaries and whether fitted preprocessing uses training data only. Document what the split can support.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5. Trace runs, seeds and reproducibility evidence</a:t>
            </a:r>
          </a:p>
          <a:p xmlns:a="http://schemas.openxmlformats.org/drawingml/2006/main">
            <a:r>
              <a:t>2026-09-21 to 2026-10-04; In progress.</a:t>
            </a:r>
          </a:p>
          <a:p xmlns:a="http://schemas.openxmlformats.org/drawingml/2006/main">
            <a:r>
              <a:t>Expected outcome: Link selected outputs to notebook, data, model revisions, environment, split and seed settings. Compare reruns and investigate differences in results.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Early implementation, writing and collaboration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8. Map BioLangFusion methods to our inputs</a:t>
            </a:r>
          </a:p>
          <a:p xmlns:a="http://schemas.openxmlformats.org/drawingml/2006/main">
            <a:r>
              <a:t>2026-09-28 to 2026-09-30; Planned.</a:t>
            </a:r>
          </a:p>
          <a:p xmlns:a="http://schemas.openxmlformats.org/drawingml/2006/main">
            <a:r>
              <a:t>Expected outcome: Compare paper and local checkpoints, tokenization, sequence regions, codon mapping, pooling, labels, splits and metrics. Document the changes needed to adapt the method to our inputs.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9. Build and check a BioLangFusion methods pilot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Test input/feature correspondence and selected simple fusion methods in a small prototype. Compare outputs with controls and bring feasibility findings and deviations from the paper to the October 7 review.</a:t>
            </a:r>
          </a:p>
          <a:p xmlns:a="http://schemas.openxmlformats.org/drawingml/2006/main">
            <a:r>
              <a:t>Prerequisites: 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10. Draft Stage 1 methods and findings in Overleaf</a:t>
            </a:r>
          </a:p>
          <a:p xmlns:a="http://schemas.openxmlformats.org/drawingml/2006/main">
            <a:r>
              <a:t>2026-09-26 to 2026-10-04; In progress.</a:t>
            </a:r>
          </a:p>
          <a:p xmlns:a="http://schemas.openxmlformats.org/drawingml/2006/main">
            <a:r>
              <a:t>Expected outcome: Join Mina’s project, draft Stage 1 background/methods, attach supported figures and annotate unresolved claims. This is the first writing increment of the living manuscript.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11. Clarify the lab tokenizer and benchmark opportunity</a:t>
            </a:r>
          </a:p>
          <a:p xmlns:a="http://schemas.openxmlformats.org/drawingml/2006/main">
            <a:r>
              <a:t>2026-09-28 to 2026-10-05; Planned.</a:t>
            </a:r>
          </a:p>
          <a:p xmlns:a="http://schemas.openxmlformats.org/drawingml/2006/main">
            <a:r>
              <a:t>Expected outcome: Ask Julian for the exact group, tokenizer/paper and intended benchmark task. Establish inputs, access, comparison unit and collaborators before promising a shared experiment.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review and follow-up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12. Prepare the Oct 7 evidence and question set</a:t>
            </a:r>
          </a:p>
          <a:p xmlns:a="http://schemas.openxmlformats.org/drawingml/2006/main">
            <a:r>
              <a:t>2026-10-01 to 2026-10-04; Planned.</a:t>
            </a:r>
          </a:p>
          <a:p xmlns:a="http://schemas.openxmlformats.org/drawingml/2006/main">
            <a:r>
              <a:t>Expected outcome: Assemble the explainable pipeline, source-linked findings, unresolved results, BioLangFusion pilot status and alignment-definition proposal. Distinguish established evidence from open hypotheses.</a:t>
            </a:r>
          </a:p>
          <a:p xmlns:a="http://schemas.openxmlformats.org/drawingml/2006/main">
            <a:r>
              <a:t>Prerequisites: None specified.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13. Oct 7 review and working alignment definition</a:t>
            </a:r>
          </a:p>
          <a:p xmlns:a="http://schemas.openxmlformats.org/drawingml/2006/main">
            <a:r>
              <a:t>2026-10-07 to 2026-10-07; Planned.</a:t>
            </a:r>
          </a:p>
          <a:p xmlns:a="http://schemas.openxmlformats.org/drawingml/2006/main">
            <a:r>
              <a:t>Expected outcome: Review evidence with Mina and agree a working definition of alignment, its measurements and limits, and the next comparison. Record remaining questions and required revisions.</a:t>
            </a:r>
          </a:p>
          <a:p xmlns:a="http://schemas.openxmlformats.org/drawingml/2006/main">
            <a:r>
              <a:t>Prerequisites: 2, 3, 4, 5, 6, 7, 9, 10, 12.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14. Revise Stage 1 claims, figures and methods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Incorporate Mina’s feedback in the notebook explanations and manuscript; correct unsupported interpretations and identify specific reruns or experiments needed.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15. Specify the first matched comparison protocol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Set biological question, target, evaluation unit, data exclusions, checkpoints, preprocessing, metrics, seeds, tuning budget and success/stop criteria. Architecture priority remains Coupled Mamba; details follow the review.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Stage 2 | Experiments,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initial six-paper review was completed by September 21. Continued discussion and scientific interpretation remain active.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Dates beyond current work are planning windows. September 21 start dates for ongoing tasks are approximate anchors, not reconstructed activity logs.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October 7 is the next planned Mina meeting. The Stage 1 milestone is a working definition of alignment and a decision about the next matched comparison. Specify the objects being aligned, biological question, unit, metric and reference, and what the result can support.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Stage 1 includes early fusion prototyping to develop understanding. Stage 2 is the proposed structured comparison programme following the review. Feedback may change its scope and timing.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Coupled Mamba priority follows the project README and the September 23 meeting. Optional comparisons are candidates, and the team will select a feasible subset.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Research coordination began September 14. Stage 1 manuscript drafting is underway in Overleaf and continues as methods and findings change.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September 27 deadline covers the bibliography and Research Canvas assignment and the research project plan assignment. December 1, 7 and 8 course dates follow the Fall 2026 CAP6942 schedule; WebCourses controls any changes.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January to March is a provisional continuation window. The research end and publication submission date have not been set.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lab tokenizer and collaborating group still need to be identified. Clarifying the opportunity precedes committing to a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supports literature study, implementation, analysis and writing. Source checking, experiment interpretation and research decisions are included in each relevant work package.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AI assistance: OpenAI Codex assisted with organizing and wording this research plan. Dates and task descriptions were compared with the course schedule, project README and team meeting notes.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Core comparison sequence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16. Harden single-model and simple-fusion baselines</a:t>
            </a:r>
          </a:p>
          <a:p xmlns:a="http://schemas.openxmlformats.org/drawingml/2006/main">
            <a:r>
              <a:t>2026-10-06 to 2026-10-11; Planned.</a:t>
            </a:r>
          </a:p>
          <a:p xmlns:a="http://schemas.openxmlformats.org/drawingml/2006/main">
            <a:r>
              <a:t>Expected outcome: Prepare comparable single-encoder and concatenation + MLP predictors, input tests and controlled configurations. Keep the original linear concatenation probe distinct. Final comparisons use protocol 15.</a:t>
            </a:r>
          </a:p>
          <a:p xmlns:a="http://schemas.openxmlformats.org/drawingml/2006/main">
            <a:r>
              <a:t>Prerequisites: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17. Run matched BioLangFusion-style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Compare selected paper-inspired fusion methods and unimodal baselines on the same evaluation data, with adaptations and resources reported. Preserve null or negative results.</a:t>
            </a:r>
          </a:p>
          <a:p xmlns:a="http://schemas.openxmlformats.org/drawingml/2006/main">
            <a:r>
              <a:t>Prerequisites: 9,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18. Repeat diagnostics and null/control comparisons</a:t>
            </a:r>
          </a:p>
          <a:p xmlns:a="http://schemas.openxmlformats.org/drawingml/2006/main">
            <a:r>
              <a:t>2026-10-12 to 2026-10-18; Planned.</a:t>
            </a:r>
          </a:p>
          <a:p xmlns:a="http://schemas.openxmlformats.org/drawingml/2006/main">
            <a:r>
              <a:t>Expected outcome: Check label/feature controls, synonymous-input behavior and representation diagnostics under the agreed evaluation. Test whether the claimed signal survives the relevant nulls.</a:t>
            </a:r>
          </a:p>
          <a:p xmlns:a="http://schemas.openxmlformats.org/drawingml/2006/main">
            <a:r>
              <a:t>Prerequisites: 14,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19. Interpret baseline findings and revise the next experiment</a:t>
            </a:r>
          </a:p>
          <a:p xmlns:a="http://schemas.openxmlformats.org/drawingml/2006/main">
            <a:r>
              <a:t>2026-10-19 to 2026-10-25; Planned.</a:t>
            </a:r>
          </a:p>
          <a:p xmlns:a="http://schemas.openxmlformats.org/drawingml/2006/main">
            <a:r>
              <a:t>Expected outcome: Compare effect sizes, variation and failure cases; distinguish geometry from predictive complementarity. Revise the question and manuscript before choosing additional complexity.</a:t>
            </a:r>
          </a:p>
          <a:p xmlns:a="http://schemas.openxmlformats.org/drawingml/2006/main">
            <a:r>
              <a:t>Prerequisites: 17,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20. Prepare Coupled Mamba inputs and feasibility tests</a:t>
            </a:r>
          </a:p>
          <a:p xmlns:a="http://schemas.openxmlformats.org/drawingml/2006/main">
            <a:r>
              <a:t>2026-10-12 to 2026-10-25; Planned.</a:t>
            </a:r>
          </a:p>
          <a:p xmlns:a="http://schemas.openxmlformats.org/drawingml/2006/main">
            <a:r>
              <a:t>Expected outcome: Implement the prioritized architecture with explicit sequence/feature correspondence; test dimensions, controlled cases and resource feasibility while baseline analysis proceeds.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21. Evaluate Coupled Mamba against matched baselines</a:t>
            </a:r>
          </a:p>
          <a:p xmlns:a="http://schemas.openxmlformats.org/drawingml/2006/main">
            <a:r>
              <a:t>2026-10-26 to 2026-11-08; Planned.</a:t>
            </a:r>
          </a:p>
          <a:p xmlns:a="http://schemas.openxmlformats.org/drawingml/2006/main">
            <a:r>
              <a:t>Expected outcome: Compare predictive performance, uncertainty, runtime and memory under the matched evaluation protocol. Interpret gains, losses or unchanged performance against the baseline.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Repeated runs, interpretation and revision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28. Repeat runs, estimate uncertainty and revise interpretations</a:t>
            </a:r>
          </a:p>
          <a:p xmlns:a="http://schemas.openxmlformats.org/drawingml/2006/main">
            <a:r>
              <a:t>2026-10-12 to 2026-11-22; Planned.</a:t>
            </a:r>
          </a:p>
          <a:p xmlns:a="http://schemas.openxmlformats.org/drawingml/2006/main">
            <a:r>
              <a:t>Expected outcome: Repeat selected configurations as results arrive; investigate variation, leakage or contradictory findings, and revise claims. This spans the experiment cycle rather than following implementation as a single final check.</a:t>
            </a:r>
          </a:p>
          <a:p xmlns:a="http://schemas.openxmlformats.org/drawingml/2006/main">
            <a:r>
              <a:t>Prerequisites: 15, 16.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29. Synthesize evidence, limitations and next decisions</a:t>
            </a:r>
          </a:p>
          <a:p xmlns:a="http://schemas.openxmlformats.org/drawingml/2006/main">
            <a:r>
              <a:t>2026-11-16 to 2026-11-29; Planned.</a:t>
            </a:r>
          </a:p>
          <a:p xmlns:a="http://schemas.openxmlformats.org/drawingml/2006/main">
            <a:r>
              <a:t>Expected outcome: Build a comparison table with sources/runs, uncertainty, resource costs, negative findings and scope limits. Review which conclusions are supported and which further experiments are justified.</a:t>
            </a:r>
          </a:p>
          <a:p xmlns:a="http://schemas.openxmlformats.org/drawingml/2006/main">
            <a:r>
              <a:t>Prerequisites: 19,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Optional comparisons | Subject to scope and feasibility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22. Candidate layer and PCA/variance comparisons</a:t>
            </a:r>
          </a:p>
          <a:p xmlns:a="http://schemas.openxmlformats.org/drawingml/2006/main">
            <a:r>
              <a:t>2026-10-19 to 2026-11-01; Conditional.</a:t>
            </a:r>
          </a:p>
          <a:p xmlns:a="http://schemas.openxmlformats.org/drawingml/2006/main">
            <a:r>
              <a:t>Expected outcome: After choosing the relevant encoder/layer question, compare selected representations or variance subspaces. Fit any reduction within training data and separate using an earlier layer from truncating or retraining a model.</a:t>
            </a:r>
          </a:p>
          <a:p xmlns:a="http://schemas.openxmlformats.org/drawingml/2006/main">
            <a:r>
              <a:t>Prerequisites: 18.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23. Candidate alignment-objective ablation</a:t>
            </a:r>
          </a:p>
          <a:p xmlns:a="http://schemas.openxmlformats.org/drawingml/2006/main">
            <a:r>
              <a:t>2026-11-02 to 2026-11-08; Conditional.</a:t>
            </a:r>
          </a:p>
          <a:p xmlns:a="http://schemas.openxmlformats.org/drawingml/2006/main">
            <a:r>
              <a:t>Expected outcome: If selected, compare the same fusion setup with and without the specified alignment objective under matched tuning. The pilot’s alignment/error association is not evidence that the loss must help or hurt.</a:t>
            </a:r>
          </a:p>
          <a:p xmlns:a="http://schemas.openxmlformats.org/drawingml/2006/main">
            <a:r>
              <a:t>Prerequisites: 19, 20.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24. Candidate additional RNA-encoder comparisons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If selected, compare individual checkpoints and combinations while controlling downstream capacity, input coverage and tuning. Different pretraining corpora alone do not establish complementarity.</a:t>
            </a:r>
          </a:p>
          <a:p xmlns:a="http://schemas.openxmlformats.org/drawingml/2006/main">
            <a:r>
              <a:t>Prerequisites: 19.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25. Candidate IsoFormer-style fusion comparison</a:t>
            </a:r>
          </a:p>
          <a:p xmlns:a="http://schemas.openxmlformats.org/drawingml/2006/main">
            <a:r>
              <a:t>2026-11-09 to 2026-11-15; Conditional.</a:t>
            </a:r>
          </a:p>
          <a:p xmlns:a="http://schemas.openxmlformats.org/drawingml/2006/main">
            <a:r>
              <a:t>Expected outcome: Evaluate the second-priority cross-attention candidate only if the reviewed research question and resource budget justify it. Report relevant differences from IsoFormer’s fine-tuning regime.</a:t>
            </a:r>
          </a:p>
          <a:p xmlns:a="http://schemas.openxmlformats.org/drawingml/2006/main">
            <a:r>
              <a:t>Prerequisites: 21.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26. Agree tokenizer benchmark feasibility and protocol</a:t>
            </a:r>
          </a:p>
          <a:p xmlns:a="http://schemas.openxmlformats.org/drawingml/2006/main">
            <a:r>
              <a:t>2026-10-06 to 2026-10-18; Conditional.</a:t>
            </a:r>
          </a:p>
          <a:p xmlns:a="http://schemas.openxmlformats.org/drawingml/2006/main">
            <a:r>
              <a:t>Expected outcome: With the identified lab group, agree a shared task, data, tokenizer version, access and fair comparison protocol.</a:t>
            </a:r>
          </a:p>
          <a:p xmlns:a="http://schemas.openxmlformats.org/drawingml/2006/main">
            <a:r>
              <a:t>Prerequisites: 11, 13.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27. Candidate lab-tokenizer benchmark pilot</a:t>
            </a:r>
          </a:p>
          <a:p xmlns:a="http://schemas.openxmlformats.org/drawingml/2006/main">
            <a:r>
              <a:t>2026-11-02 to 2026-11-15; Conditional.</a:t>
            </a:r>
          </a:p>
          <a:p xmlns:a="http://schemas.openxmlformats.org/drawingml/2006/main">
            <a:r>
              <a:t>Expected outcome: Run only after collaborators agree scope and access and a matched protocol exists. Keep tokenizer effects separate from model capacity, training data and downstream evaluation differences.</a:t>
            </a:r>
          </a:p>
          <a:p xmlns:a="http://schemas.openxmlformats.org/drawingml/2006/main">
            <a:r>
              <a:t>Prerequisites: 26.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 Fall 2026 CAP6942 Schedule.pdf; project README.md; team meeting and schedule corrections supplied September 26, 2026.</a:t>
            </a:r>
          </a:p>
          <ns0:p xmlns:ns0="http://schemas.openxmlformats.org/drawingml/2006/main"/>
          <a:p xmlns:a="http://schemas.openxmlformats.org/drawingml/2006/main">
            <a:r>
              <a:t>Planning example: Mélot-Chesnel, Designing Trustworthy Generative AI Agents for Collaborative Decision Making (2026), section 4 and Figure 1, explicitly schedules reconsidering questions and hypotheses between studies. This informed retaining time for interpretation and revision. https://doi.org/10.3233/FAIA260562</a:t>
            </a:r>
          </a:p>
          <ns0:p xmlns:ns0="http://schemas.openxmlformats.org/drawingml/2006/main"/>
          <a:p xmlns:a="http://schemas.openxmlformats.org/drawingml/2006/main">
            <a:r>
              <a:t>Planning example: UQ AGRC7617, Sequential mid-project assessment, uses a proposal and Gantt with supervisor discussion, followed by AI feedback on mature drafts. This illustrates review within planning. https://course-profiles.uq.edu.au/course-profiles/AGRC7617-62151-7660</a:t>
            </a:r>
          </a:p>
          <ns0:p xmlns:ns0="http://schemas.openxmlformats.org/drawingml/2006/main"/>
          <a:p xmlns:a="http://schemas.openxmlformats.org/drawingml/2006/main">
            <a:r>
              <a:t>These examples informed the September 27 planning discussion. They do not establish CAP6942 requirements or measured AI time savings.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5606df07feb54ccf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f8c8fa4dbf254a0b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9516fe67bfaf44e9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127e241674244bce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f078de79aa2d4e57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4f6cec5512184f5a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1d12eaca458645db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d26b6c5415654e7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de185142ffa1486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9195155c51834f0a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9610807a9cac4859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FD50471-0901-4031-8F05-F553F5DA3305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D58B5D4-0F11-4ED8-ACCB-C5771563704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640D5FE-F90B-44B9-BAD9-D4EC0AA4C0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352EF19-63C3-42A0-9635-40054A0BB63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A65AA00-5F52-4591-9F89-BD8DB9473D2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C6171C-6B1A-4498-ACDE-BB467882FD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D649E35-5C93-4635-A524-44402B970AB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D4A137F-E709-4B82-A3AD-33F7625CC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D389170-5754-48A5-8DFE-4977600A8D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67BA2-2745-46AA-BC3E-39187EE8CA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2467CD8-E86B-4C4F-84C0-3C905E0045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604BDB1-CCDF-4FBD-A759-7A7F17D9204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6B95C45-A53F-4629-8646-F4803C92CD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A43E3D-844F-46D8-A39D-8F52431874A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E9E6E19-B69B-4C88-848A-4A5BC4E18D6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3D2580-B2CC-4681-A526-85ADAA1BE7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D6B0C6-4B46-4BFB-96E9-6DE1E47B0E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789F0EFE-2651-4DAD-BC9C-FED21F78E15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8B232A06-3889-4C5D-834E-BEB7BCEDE1E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28E0C82-5D24-4FB2-A0A3-E1C901E74E9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40CD7FD-B0E5-4B2A-81ED-CF7C3A8AAD1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CB0D819-D8BC-4E3F-B887-D64E3F459AB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B5445E-06CC-454D-A80F-77342AF333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16FE63D-3715-4511-85EF-85A98FD2094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33AEDC91-2F54-46AE-96A2-FF68AB702865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B8AE1C2-5D7B-4541-8438-47AF5465794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FAB1DD4-3F30-4664-B78F-88EDF8C5CE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C1B7B288-E05F-4423-88C9-3C544588631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5BD258D-A082-4923-8B3C-D10EC41362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1246C1-86CA-4F0A-BEDF-D954AA4BB7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C18100C5-2F9A-468E-9F79-728FA79674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E4CF202A-53FB-4778-970E-918BEF8703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A85E1A8-F7C4-4974-801B-4BCF5D96A4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EB54A0D-6373-4B2C-92C2-A5E3F4E526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9671920-FB39-4E3A-9FAE-CDA7BA19157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41568EE-1391-43C9-9A99-CA18FA73DD1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5988B4F-AE42-4E16-A764-A893F3197D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3F2AA87A-BEA4-435F-9773-CCD4543C7BD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890464F-69BD-4995-A642-86C726ED74F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D227DE-A76B-4CF8-B373-5F87E002987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59B0FD9-618E-437A-A4F6-55E1F11929E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99A26D5-93FB-4588-AFD1-C0A354EE8D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98203A-892E-4FB5-A226-33E4B41C7C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E86C27CC-4743-4E19-B8DA-2AD4F3BA8599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A856B98-AE27-475E-9684-12E43171443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1C8C4FE6-2793-4921-8E64-97AA2D4679B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707B094-F06E-479F-B35D-CFACDC66F5D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2D270C9-8D19-4F0B-97CF-E282CA5084E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603E5A5-C957-47CA-B639-C89B2C3EDD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3698151E-8731-45B2-9F09-5CA2215184E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9DFE78-4304-411E-AC94-37DB028770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D1F9AD5-236D-43ED-8103-25BD9D23185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040C95B-B4CE-47E3-B18A-87B68EA60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6765DEA-A6E6-4B48-8133-A2AD3485C1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050C12-4963-468A-B5B2-5A5FFF85101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A8457F7-41EB-4560-A76D-AFBADA1340C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A388894-ADE6-4593-9B41-E7770480AF3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285ABC6-5748-454D-B68C-DC4BA39542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d266be0a1284e61" Type="http://schemas.openxmlformats.org/officeDocument/2006/relationships/slideLayout" Target="../slideLayouts/slideLayout3.xml"/><Relationship Id="R3136394fdd464025" Type="http://schemas.openxmlformats.org/officeDocument/2006/relationships/slideLayout" Target="../slideLayouts/slideLayout1.xml"/><Relationship Id="R44a03bba378d4104" Type="http://schemas.openxmlformats.org/officeDocument/2006/relationships/slideLayout" Target="../slideLayouts/slideLayout10.xml"/><Relationship Id="R4702a775611d43ad" Type="http://schemas.openxmlformats.org/officeDocument/2006/relationships/slideLayout" Target="../slideLayouts/slideLayout8.xml"/><Relationship Id="R4b8283b5ea094e36" Type="http://schemas.openxmlformats.org/officeDocument/2006/relationships/slideLayout" Target="../slideLayouts/slideLayout11.xml"/><Relationship Id="R5e03566e1b8348f9" Type="http://schemas.openxmlformats.org/officeDocument/2006/relationships/slideLayout" Target="../slideLayouts/slideLayout5.xml"/><Relationship Id="Ra309db37da2a4a43" Type="http://schemas.openxmlformats.org/officeDocument/2006/relationships/slideLayout" Target="../slideLayouts/slideLayout6.xml"/><Relationship Id="Rbaed0f216b1a4b6e" Type="http://schemas.openxmlformats.org/officeDocument/2006/relationships/slideLayout" Target="../slideLayouts/slideLayout2.xml"/><Relationship Id="Rbb645bffa0074ac0" Type="http://schemas.openxmlformats.org/officeDocument/2006/relationships/slideLayout" Target="../slideLayouts/slideLayout4.xml"/><Relationship Id="Rd25689cf6b294a32" Type="http://schemas.openxmlformats.org/officeDocument/2006/relationships/theme" Target="theme/theme2.xml"/><Relationship Id="Rd4117fb882554ffa" Type="http://schemas.openxmlformats.org/officeDocument/2006/relationships/slideLayout" Target="../slideLayouts/slideLayout7.xml"/><Relationship Id="Rfee0c545bc1446ea" Type="http://schemas.openxmlformats.org/officeDocument/2006/relationships/slideLayout" Target="../slideLayouts/slideLayout9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315B4157-E165-444D-87D1-D1FDC3346B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BE37DDE-C668-4999-AFF6-3B02624EC82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0BB946D-3A16-4314-9C16-BCCD841C2324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6193750-DF12-4E38-BED1-2FDD1C95BA7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3C852F-F0CF-4B23-915E-CDA9F47EA9E3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136394fdd464025"/>
    <p:sldLayoutId xmlns:r="http://schemas.openxmlformats.org/officeDocument/2006/relationships" id="2147483650" r:id="Rbaed0f216b1a4b6e"/>
    <p:sldLayoutId xmlns:r="http://schemas.openxmlformats.org/officeDocument/2006/relationships" id="2147483651" r:id="R1d266be0a1284e61"/>
    <p:sldLayoutId xmlns:r="http://schemas.openxmlformats.org/officeDocument/2006/relationships" id="2147483652" r:id="Rbb645bffa0074ac0"/>
    <p:sldLayoutId xmlns:r="http://schemas.openxmlformats.org/officeDocument/2006/relationships" id="2147483653" r:id="R5e03566e1b8348f9"/>
    <p:sldLayoutId xmlns:r="http://schemas.openxmlformats.org/officeDocument/2006/relationships" id="2147483654" r:id="Ra309db37da2a4a43"/>
    <p:sldLayoutId xmlns:r="http://schemas.openxmlformats.org/officeDocument/2006/relationships" id="2147483655" r:id="Rd4117fb882554ffa"/>
    <p:sldLayoutId xmlns:r="http://schemas.openxmlformats.org/officeDocument/2006/relationships" id="2147483656" r:id="R4702a775611d43ad"/>
    <p:sldLayoutId xmlns:r="http://schemas.openxmlformats.org/officeDocument/2006/relationships" id="2147483657" r:id="Rfee0c545bc1446ea"/>
    <p:sldLayoutId xmlns:r="http://schemas.openxmlformats.org/officeDocument/2006/relationships" id="2147483658" r:id="R44a03bba378d4104"/>
    <p:sldLayoutId xmlns:r="http://schemas.openxmlformats.org/officeDocument/2006/relationships" id="2147483659" r:id="R4b8283b5ea094e36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23841a64afa64fcd" Type="http://schemas.openxmlformats.org/officeDocument/2006/relationships/slideLayout" Target="../slideLayouts/slideLayout7.xml"/><Relationship Id="R23fe9f1998694f0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6b2b94f060cc4e8c" Type="http://schemas.openxmlformats.org/officeDocument/2006/relationships/slideLayout" Target="../slideLayouts/slideLayout1.xml"/><Relationship Id="Rd5cbb3028e62482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2d3a45033c6944d2" Type="http://schemas.openxmlformats.org/officeDocument/2006/relationships/notesSlide" Target="../notesSlides/notesSlide3.xml"/><Relationship Id="R54df92619ec443cb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5" name="Title">
            <a:extLst xmlns:a="http://schemas.openxmlformats.org/drawingml/2006/main">
              <a:ext uri="{FF2B5EF4-FFF2-40B4-BE49-F238E27FC236}">
                <a16:creationId xmlns:a16="http://schemas.microsoft.com/office/drawing/2014/main" id="{EA4880F2-507E-4B9C-810C-68EADD19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multimodal-bio-fusion | Research Project Plan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A26E904-DD01-4F4C-BF80-87F80F75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Weekly schedule for fall 2026, with a provisional continuation through March 2027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A5EEEF2E-FCDD-4FAF-9F53-9AE0B3F97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5B134E7B-309F-43D8-AFD3-43179C2F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191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C1DDB809-015C-44EA-923A-3B7ECCEC2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Week 2026-09-07">
            <a:extLst xmlns:a="http://schemas.openxmlformats.org/drawingml/2006/main">
              <a:ext uri="{FF2B5EF4-FFF2-40B4-BE49-F238E27FC236}">
                <a16:creationId xmlns:a16="http://schemas.microsoft.com/office/drawing/2014/main" id="{D257F1F8-A79B-4FBE-AA63-66C17D52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9/7</a:t>
            </a:r>
          </a:p>
        </p:txBody>
      </p:sp>
      <p:sp>
        <p:nvSpPr>
          <p:cNvPr id="7" name="Week 2026-09-14">
            <a:extLst xmlns:a="http://schemas.openxmlformats.org/drawingml/2006/main">
              <a:ext uri="{FF2B5EF4-FFF2-40B4-BE49-F238E27FC236}">
                <a16:creationId xmlns:a16="http://schemas.microsoft.com/office/drawing/2014/main" id="{D1438395-44D6-41C0-B2E9-CB039FFBC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9/14</a:t>
            </a:r>
          </a:p>
        </p:txBody>
      </p:sp>
      <p:sp>
        <p:nvSpPr>
          <p:cNvPr id="8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A8557C8E-69A7-4EC8-9217-691D04B2A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9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744918BB-B9E1-47BF-A329-610C8A1DB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10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A2339EB2-623A-492E-A54E-EE8552A7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1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CBD33B9F-9FE7-4808-ADF0-9B54AAFA3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12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32D5CC87-585F-48E5-9F6A-5997C35D4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13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FEDE6624-777D-4825-BB8E-B093FCD9F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14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E75CA6AC-2B59-4648-ACDA-FF077BFAD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15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2EA1C60B-20BB-4BE6-8FE0-D6C38B6D0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16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A0AFD29C-3AAA-456A-9B36-80C939D1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8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17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3D10F673-4CB0-41B6-9003-AF4E118FC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18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3010FB29-764C-4A5E-A863-AE970E4C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7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19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F3FE6820-E9DE-4888-9242-F5ECFA968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1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20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136DAE93-8E63-4B9A-BB64-810F3F017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5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21" name="Week 2026-12-21">
            <a:extLst xmlns:a="http://schemas.openxmlformats.org/drawingml/2006/main">
              <a:ext uri="{FF2B5EF4-FFF2-40B4-BE49-F238E27FC236}">
                <a16:creationId xmlns:a16="http://schemas.microsoft.com/office/drawing/2014/main" id="{834F3B8E-D77A-4211-815F-5E7DB2F9E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09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12/21</a:t>
            </a:r>
          </a:p>
        </p:txBody>
      </p:sp>
      <p:sp>
        <p:nvSpPr>
          <p:cNvPr id="22" name="Week 2026-12-28">
            <a:extLst xmlns:a="http://schemas.openxmlformats.org/drawingml/2006/main">
              <a:ext uri="{FF2B5EF4-FFF2-40B4-BE49-F238E27FC236}">
                <a16:creationId xmlns:a16="http://schemas.microsoft.com/office/drawing/2014/main" id="{EE9C8C03-5C74-4805-A821-661B479F5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3" y="990600"/>
            <a:ext cx="29798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12/28</a:t>
            </a:r>
          </a:p>
        </p:txBody>
      </p:sp>
      <p:sp>
        <p:nvSpPr>
          <p:cNvPr id="23" name="Week 2027-01-01">
            <a:extLst xmlns:a="http://schemas.openxmlformats.org/drawingml/2006/main">
              <a:ext uri="{FF2B5EF4-FFF2-40B4-BE49-F238E27FC236}">
                <a16:creationId xmlns:a16="http://schemas.microsoft.com/office/drawing/2014/main" id="{AB6FB304-58D4-4602-9B02-7B15D84F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7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24" name="Week 2027-02-01">
            <a:extLst xmlns:a="http://schemas.openxmlformats.org/drawingml/2006/main">
              <a:ext uri="{FF2B5EF4-FFF2-40B4-BE49-F238E27FC236}">
                <a16:creationId xmlns:a16="http://schemas.microsoft.com/office/drawing/2014/main" id="{6E28B8F0-C558-40BB-8754-FC885084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1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25" name="Week 2027-03-01">
            <a:extLst xmlns:a="http://schemas.openxmlformats.org/drawingml/2006/main">
              <a:ext uri="{FF2B5EF4-FFF2-40B4-BE49-F238E27FC236}">
                <a16:creationId xmlns:a16="http://schemas.microsoft.com/office/drawing/2014/main" id="{598FF916-38A6-4FA7-9685-086E38862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990600"/>
            <a:ext cx="476774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11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1180DE2B-B1F2-4D2D-B720-5AA03A8B3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A9CAE2D-7D6E-42C6-BE20-D0A5672D2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13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45F845AF-4E43-4B00-A0A1-AFAB674E3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4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6BBFE1F1-78D9-4E32-B446-FF4F8DE3A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6A969DCA-4996-46E0-AB95-5BB8918CD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6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7B87BBED-08EF-4B8E-8961-38E460525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7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9C104601-4299-4E2C-A87A-1024EA2BF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615315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16D7CC4F-E977-46C9-BA66-3BDD5868D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611505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19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987CEA0-0D29-4B87-82A9-304F9A377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615315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4B0C0306-318A-455F-8830-9C842F9A5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611505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521" name="Date stamp">
            <a:extLst xmlns:a="http://schemas.openxmlformats.org/drawingml/2006/main">
              <a:ext uri="{FF2B5EF4-FFF2-40B4-BE49-F238E27FC236}">
                <a16:creationId xmlns:a16="http://schemas.microsoft.com/office/drawing/2014/main" id="{E9F2EE4C-07E9-4A22-BC9F-708A88873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611505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22, 2026</a:t>
            </a:r>
          </a:p>
        </p:txBody>
      </p:sp>
      <p:sp>
        <p:nvSpPr>
          <p:cNvPr id="522" name="Footer 1">
            <a:extLst xmlns:a="http://schemas.openxmlformats.org/drawingml/2006/main">
              <a:ext uri="{FF2B5EF4-FFF2-40B4-BE49-F238E27FC236}">
                <a16:creationId xmlns:a16="http://schemas.microsoft.com/office/drawing/2014/main" id="{FD06992D-F20A-48A3-8E82-835D5E118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7222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AI supports literature study, coding, analysis and writing. Review and interpretation are included in the scheduled work.</a:t>
            </a:r>
          </a:p>
        </p:txBody>
      </p:sp>
      <p:sp>
        <p:nvSpPr>
          <p:cNvPr id="523" name="Footer 2">
            <a:extLst xmlns:a="http://schemas.openxmlformats.org/drawingml/2006/main">
              <a:ext uri="{FF2B5EF4-FFF2-40B4-BE49-F238E27FC236}">
                <a16:creationId xmlns:a16="http://schemas.microsoft.com/office/drawing/2014/main" id="{A3E4BFCE-ACF5-4E7F-A533-25AF8BD73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913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Columns show week starting dates, then months in 2027. Course dates follow the syllabus schedule. Research completion remains open.</a:t>
            </a:r>
          </a:p>
        </p:txBody>
      </p:sp>
      <p:sp>
        <p:nvSpPr>
          <p:cNvPr id="524" name="Page">
            <a:extLst xmlns:a="http://schemas.openxmlformats.org/drawingml/2006/main">
              <a:ext uri="{FF2B5EF4-FFF2-40B4-BE49-F238E27FC236}">
                <a16:creationId xmlns:a16="http://schemas.microsoft.com/office/drawing/2014/main" id="{EA07A163-829D-491F-92CB-76B0A0968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001" name="Section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02" name="Section title Stages 1 and 2 | Representation analysis and defining alignment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5003" name="Week rule 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4" name="Week rule 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5" name="Week rule 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6" name="Week rule 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7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8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09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0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1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2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3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4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5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6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7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8" name="Week rule 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19" name="Week rule 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0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1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2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48590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3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48590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Initial six-paper review</a:t>
            </a:r>
          </a:p>
        </p:txBody>
      </p:sp>
      <p:sp>
        <p:nvSpPr>
          <p:cNvPr id="5024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48590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25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6" name="Bar 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52194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7" name="Bar 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521941"/>
            <a:ext cx="42569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28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29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66275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30" name="Week rule 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1" name="Week rule 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2" name="Week rule 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3" name="Week rule 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3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5" name="Week rule 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6" name="Week rule 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7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8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49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66275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0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66275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Paper discussion, data checks and interpretation</a:t>
            </a:r>
          </a:p>
        </p:txBody>
      </p:sp>
      <p:sp>
        <p:nvSpPr>
          <p:cNvPr id="5051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66275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052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3" name="Bar 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69879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4" name="Bar 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698798"/>
            <a:ext cx="127707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55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83961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6" name="Week rule 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7" name="Week rule 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8" name="Week rule 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59" name="Week rule 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0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1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2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3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4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5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6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7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8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69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0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1" name="Week rule 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2" name="Week rule 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3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4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5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183961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76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83961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BioLangFusion/IsoFormer comparisons with DNA</a:t>
            </a:r>
          </a:p>
        </p:txBody>
      </p:sp>
      <p:sp>
        <p:nvSpPr>
          <p:cNvPr id="5077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3961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78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1875655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79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0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16471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081" name="Week rule 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2" name="Week rule 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3" name="Week rule 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4" name="Week rule 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5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6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7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8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89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0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1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2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3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4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5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6" name="Week rule 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7" name="Week rule 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8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99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0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01647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1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1647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 7 review and working alignment definition</a:t>
            </a:r>
          </a:p>
        </p:txBody>
      </p:sp>
      <p:sp>
        <p:nvSpPr>
          <p:cNvPr id="5102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647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03" name="Mileston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3783" y="2057274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04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9332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5" name="Week rule 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6" name="Week rule 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7" name="Week rule 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8" name="Week rule 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09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0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1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2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3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4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5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6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7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8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19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0" name="Week rule 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1" name="Week rule 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2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3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4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19332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5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9332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Feedback revisions and comparison protocol</a:t>
            </a:r>
          </a:p>
        </p:txBody>
      </p:sp>
      <p:sp>
        <p:nvSpPr>
          <p:cNvPr id="5126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19332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127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2693" y="2229369"/>
            <a:ext cx="17027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28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29" name="Section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70185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0" name="Section title Stages 3 and 4 | The research plan first, then the fusion design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70185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The research plan first, then the fusion designs</a:t>
            </a:r>
          </a:p>
        </p:txBody>
      </p:sp>
      <p:sp>
        <p:nvSpPr>
          <p:cNvPr id="513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021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32" name="Week rule 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3" name="Week rule 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4" name="Week rule 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5" name="Week rule 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6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7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8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39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0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1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2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3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4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5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6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7" name="Week rule 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8" name="Week rule 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49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0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1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57021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2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021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Baselines and BioLangFusion reproduction (plan item 1)</a:t>
            </a:r>
          </a:p>
        </p:txBody>
      </p:sp>
      <p:sp>
        <p:nvSpPr>
          <p:cNvPr id="5153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57021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54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2606251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5" name="Bar 5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6" name="Bar 5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606251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57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4706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8" name="Week rule 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59" name="Week rule 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0" name="Week rule 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1" name="Week rule 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2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3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4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5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6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7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8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69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0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1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2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3" name="Week rule 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4" name="Week rule 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5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6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7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74706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78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4706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Encoder swaps, LucaOne, IsoFormer (plan items 1 and 2)</a:t>
            </a:r>
          </a:p>
        </p:txBody>
      </p:sp>
      <p:sp>
        <p:nvSpPr>
          <p:cNvPr id="5179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4706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180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1" name="Bar 6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2" name="Bar 6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3" name="Bar 6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78310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4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5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2392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186" name="Week rule 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7" name="Week rule 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8" name="Week rule 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89" name="Week rule 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0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1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2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3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4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5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6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7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8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99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0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1" name="Week rule 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2" name="Week rule 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3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4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5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292392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06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2392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Half-life and translation efficiency (plan items 3 and 4)</a:t>
            </a:r>
          </a:p>
        </p:txBody>
      </p:sp>
      <p:sp>
        <p:nvSpPr>
          <p:cNvPr id="5207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92392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20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09" name="Bar 7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0" name="Bar 7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1" name="Bar 7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295996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12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10078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3" name="Week rule 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4" name="Week rule 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5" name="Week rule 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6" name="Week rule 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7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8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19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0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1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2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3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4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5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6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7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8" name="Week rule 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29" name="Week rule 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0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1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2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100781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33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100781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Controls with mRFP, repeated runs and synthesis</a:t>
            </a:r>
          </a:p>
        </p:txBody>
      </p:sp>
      <p:sp>
        <p:nvSpPr>
          <p:cNvPr id="5234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100781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235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6" name="Bar 8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7" name="Bar 8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8" name="Bar 8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39" name="Bar 8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0" name="Bar 8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1" name="Bar 8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136822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2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3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77638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44" name="Week rule 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5" name="Week rule 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6" name="Week rule 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7" name="Week rule 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8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49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0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1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2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3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4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5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6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7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8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59" name="Week rule 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0" name="Week rule 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1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2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3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277638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4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77638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Coupled Mamba, cross-attention, alignment ablation</a:t>
            </a:r>
          </a:p>
        </p:txBody>
      </p:sp>
      <p:sp>
        <p:nvSpPr>
          <p:cNvPr id="5265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77638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266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7" name="Bar 9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313679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68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45449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69" name="Week rule 1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0" name="Week rule 1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1" name="Week rule 1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2" name="Week rule 1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7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4" name="Week rule 1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5" name="Week rule 1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6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7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8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454495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89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4495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layer and tokenizer comparisons</a:t>
            </a:r>
          </a:p>
        </p:txBody>
      </p:sp>
      <p:sp>
        <p:nvSpPr>
          <p:cNvPr id="5290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454495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291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7555" y="3490536"/>
            <a:ext cx="25541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2" name="Bar 1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3" name="Bar 10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4" name="Bar 10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5" name="Bar 10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6" name="Bar 10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490536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7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98" name="Section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31352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299" name="Section title Research writing and coordinat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31352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writing and coordination</a:t>
            </a:r>
          </a:p>
        </p:txBody>
      </p:sp>
      <p:sp>
        <p:nvSpPr>
          <p:cNvPr id="5300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31377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01" name="Week rule 11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2" name="Week rule 11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3" name="Week rule 11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4" name="Week rule 11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5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6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7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8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09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0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1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2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3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4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5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6" name="Week rule 11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7" name="Week rule 11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8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19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0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3137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21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3137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Team coordination and research decisions</a:t>
            </a:r>
          </a:p>
        </p:txBody>
      </p:sp>
      <p:sp>
        <p:nvSpPr>
          <p:cNvPr id="5322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83137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23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4" name="Bar 11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5" name="Bar 11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6" name="Bar 11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7" name="Bar 11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8" name="Bar 11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29" name="Bar 11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0" name="Bar 11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1" name="Bar 11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2" name="Bar 11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3" name="Bar 11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4" name="Bar 11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5" name="Bar 11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6" name="Bar 11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7" name="Bar 11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8" name="Bar 11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3867418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39" name="Bar 11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0" name="Bar 11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1" name="Bar 11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3867418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42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0082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3" name="Week rule 12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4" name="Week rule 12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5" name="Week rule 12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6" name="Week rule 12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7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8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49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0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1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2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3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4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5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6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7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8" name="Week rule 12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59" name="Week rule 12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0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1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2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0823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63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0823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Living Overleaf manuscript</a:t>
            </a:r>
          </a:p>
        </p:txBody>
      </p:sp>
      <p:sp>
        <p:nvSpPr>
          <p:cNvPr id="5364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00823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365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044275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6" name="Bar 12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7" name="Bar 12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8" name="Bar 12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69" name="Bar 12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0" name="Bar 12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1" name="Bar 12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2" name="Bar 12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3" name="Bar 12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4" name="Bar 12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5" name="Bar 12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6" name="Bar 12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7" name="Bar 12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8" name="Bar 12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79" name="Bar 12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044275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0" name="Bar 12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1" name="Bar 12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2" name="Bar 12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044275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3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4" name="Section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18509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5" name="Section title CAP6942 | Course deliverabl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18509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CAP6942 | Course deliverables</a:t>
            </a:r>
          </a:p>
        </p:txBody>
      </p:sp>
      <p:sp>
        <p:nvSpPr>
          <p:cNvPr id="5386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85116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387" name="Week rule 13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8" name="Week rule 13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89" name="Week rule 13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0" name="Week rule 13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1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2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3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4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5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6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7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8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99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0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1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2" name="Week rule 13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3" name="Week rule 13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4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5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6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38511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07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8511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Bibliography, Research Canvas and project plan | Sep 27</a:t>
            </a:r>
          </a:p>
        </p:txBody>
      </p:sp>
      <p:sp>
        <p:nvSpPr>
          <p:cNvPr id="5408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38511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409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61863" y="4421157"/>
            <a:ext cx="8513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10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6197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1" name="Week rule 14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2" name="Week rule 14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3" name="Week rule 14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4" name="Week rule 14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5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6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7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8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19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0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1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2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3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4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5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6" name="Week rule 14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7" name="Week rule 14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8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29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0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56197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1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6197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Prepare final report, presentation and video</a:t>
            </a:r>
          </a:p>
        </p:txBody>
      </p:sp>
      <p:sp>
        <p:nvSpPr>
          <p:cNvPr id="5432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56197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33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4" name="Bar 14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5" name="Bar 14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598014"/>
            <a:ext cx="29798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6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7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8830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38" name="Week rule 15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39" name="Week rule 15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0" name="Week rule 15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1" name="Week rule 15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2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3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4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5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6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7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8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49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0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1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2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3" name="Week rule 15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4" name="Week rule 15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5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6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7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73883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58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883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Rehearsal | Dec 1</a:t>
            </a:r>
          </a:p>
        </p:txBody>
      </p:sp>
      <p:sp>
        <p:nvSpPr>
          <p:cNvPr id="5459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73883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60" name="Mileston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5086" y="477963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6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1568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2" name="Week rule 16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3" name="Week rule 16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4" name="Week rule 16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5" name="Week rule 16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6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7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8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69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0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1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2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3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4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5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6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7" name="Week rule 16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8" name="Week rule 16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79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0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1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4915687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2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15687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Final report | Dec 7</a:t>
            </a:r>
          </a:p>
        </p:txBody>
      </p:sp>
      <p:sp>
        <p:nvSpPr>
          <p:cNvPr id="5483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915687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484" name="Mileston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0501" y="495649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5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6" name="Row tint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092544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487" name="Week rule 17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8" name="Week rule 17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89" name="Week rule 17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0" name="Week rule 17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1" name="Week rule 1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2" name="Week rule 1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3" name="Week rule 1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4" name="Week rule 1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5" name="Week rule 1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6" name="Week rule 1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7" name="Week rule 1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8" name="Week rule 1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99" name="Week rule 1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0" name="Week rule 1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1" name="Week rule 1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2" name="Week rule 17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3" name="Week rule 17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4" name="Week rule 1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5" name="Week rule 1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6" name="Week rule 1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092544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07" name="Task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092544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Presentation and video | Dec 8</a:t>
            </a:r>
          </a:p>
        </p:txBody>
      </p:sp>
      <p:sp>
        <p:nvSpPr>
          <p:cNvPr id="5508" name="Status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092544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09" name="Mileston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3070" y="5133347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0" name="Row rule 1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1" name="Section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269401"/>
            <a:ext cx="11525250" cy="2000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12" name="Section title Research continuation | Provisional January to March 202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269401"/>
            <a:ext cx="114681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Research continuation | Provisional January to March 2027</a:t>
            </a:r>
          </a:p>
        </p:txBody>
      </p:sp>
      <p:sp>
        <p:nvSpPr>
          <p:cNvPr id="5513" name="Week rule 18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4" name="Week rule 18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5" name="Week rule 18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6" name="Week rule 18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7" name="Week rule 1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8" name="Week rule 1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19" name="Week rule 1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0" name="Week rule 1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1" name="Week rule 1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2" name="Week rule 1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3" name="Week rule 1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4" name="Week rule 1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5" name="Week rule 1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6" name="Week rule 1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7" name="Week rule 1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8" name="Week rule 18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29" name="Week rule 18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0" name="Week rule 1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1" name="Week rule 1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2" name="Week rule 1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469426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3" name="Task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69426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Further experiments, structure and external validation</a:t>
            </a:r>
          </a:p>
        </p:txBody>
      </p:sp>
      <p:sp>
        <p:nvSpPr>
          <p:cNvPr id="5534" name="Status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469426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35" name="Bar 1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505467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6" name="Row rule 1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7" name="Row tint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46283"/>
            <a:ext cx="11525250" cy="17685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38" name="Week rule 19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39" name="Week rule 19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0" name="Week rule 19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1" name="Week rule 19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2" name="Week rule 1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3" name="Week rule 1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4" name="Week rule 1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5" name="Week rule 1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6" name="Week rule 1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7" name="Week rule 1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8" name="Week rule 1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49" name="Week rule 1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0" name="Week rule 1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1" name="Week rule 1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2" name="Week rule 1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3" name="Week rule 19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4" name="Week rule 19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5" name="Week rule 1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6" name="Week rule 1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7" name="Week rule 1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46283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58" name="Task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646283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Multi-teacher distillation (plan item 7)</a:t>
            </a:r>
          </a:p>
        </p:txBody>
      </p:sp>
      <p:sp>
        <p:nvSpPr>
          <p:cNvPr id="5559" name="Status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646283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560" name="Bar 1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682324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1" name="Row rule 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2314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2" name="Week rule 20 2026-09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3" name="Week rule 20 2026-09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103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4" name="Week rule 20 2026-09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901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5" name="Week rule 20 2026-09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700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6" name="Week rule 2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4498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7" name="Week rule 2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297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8" name="Week rule 2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095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69" name="Week rule 2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93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0" name="Week rule 2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692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1" name="Week rule 2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490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2" name="Week rule 2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289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3" name="Week rule 2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087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4" name="Week rule 2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85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5" name="Week rule 2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684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6" name="Week rule 2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8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7" name="Week rule 20 2026-12-2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2810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8" name="Week rule 20 2026-12-2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0794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79" name="Week rule 2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18778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0" name="Week rule 2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1" name="Week rule 2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23140"/>
            <a:ext cx="0" cy="176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82" name="Task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823140"/>
            <a:ext cx="41529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3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Manuscript consolidation and March review</a:t>
            </a:r>
          </a:p>
        </p:txBody>
      </p:sp>
      <p:sp>
        <p:nvSpPr>
          <p:cNvPr id="5583" name="Status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823140"/>
            <a:ext cx="838200" cy="17685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584" name="Bar 2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5552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5" name="Bar 20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72326" y="5859181"/>
            <a:ext cx="476774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6" name="Mileston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93785" y="5863943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87" name="Row rule 2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9999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30462351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itle">
            <a:extLst xmlns:a="http://schemas.openxmlformats.org/drawingml/2006/main">
              <a:ext uri="{FF2B5EF4-FFF2-40B4-BE49-F238E27FC236}">
                <a16:creationId xmlns:a16="http://schemas.microsoft.com/office/drawing/2014/main" id="{58B9296E-5E14-4E81-9481-BFDBCAE2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1 and 2 | Representation Analysis and Defining Alignment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32820F1B-BBB4-4FFC-A2EB-E677D5B6D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 1 analyses are complete for twelve encoders on two datasets. Stage 2, the alignment decision, is drafted for the October 7 review.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CB5A2AB6-ACF7-4A31-BD65-458657475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29516F3C-0294-4D5A-875D-0A7E1E1B2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973EA8A8-3943-41CF-9DF9-F8508B686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816CD67F-8C10-4D8D-879F-86079E0D5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7" name="Week 2026-09-21">
            <a:extLst xmlns:a="http://schemas.openxmlformats.org/drawingml/2006/main">
              <a:ext uri="{FF2B5EF4-FFF2-40B4-BE49-F238E27FC236}">
                <a16:creationId xmlns:a16="http://schemas.microsoft.com/office/drawing/2014/main" id="{42DC6325-BD99-4832-BAC5-ABD477B0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</a:t>
            </a:r>
          </a:p>
        </p:txBody>
      </p:sp>
      <p:sp>
        <p:nvSpPr>
          <p:cNvPr id="8" name="Week 2026-09-28">
            <a:extLst xmlns:a="http://schemas.openxmlformats.org/drawingml/2006/main">
              <a:ext uri="{FF2B5EF4-FFF2-40B4-BE49-F238E27FC236}">
                <a16:creationId xmlns:a16="http://schemas.microsoft.com/office/drawing/2014/main" id="{37FB57EB-53AE-4EA1-9E32-D0AAD0A34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</a:t>
            </a:r>
          </a:p>
        </p:txBody>
      </p:sp>
      <p:sp>
        <p:nvSpPr>
          <p:cNvPr id="9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FED1ED19-42D2-48B2-BAA2-DCC9FF568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990600"/>
            <a:ext cx="18319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10" name="Section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86730882-7DD2-4013-B0B7-960B178BA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" name="Section title Study and interpretation">
            <a:extLst xmlns:a="http://schemas.openxmlformats.org/drawingml/2006/main">
              <a:ext uri="{FF2B5EF4-FFF2-40B4-BE49-F238E27FC236}">
                <a16:creationId xmlns:a16="http://schemas.microsoft.com/office/drawing/2014/main" id="{7C7AF690-0014-46C1-95F8-EA8ECE2CF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Study and interpretation</a:t>
            </a:r>
          </a:p>
        </p:txBody>
      </p:sp>
      <p:sp>
        <p:nvSpPr>
          <p:cNvPr id="12" name="Task 0">
            <a:extLst xmlns:a="http://schemas.openxmlformats.org/drawingml/2006/main">
              <a:ext uri="{FF2B5EF4-FFF2-40B4-BE49-F238E27FC236}">
                <a16:creationId xmlns:a16="http://schemas.microsoft.com/office/drawing/2014/main" id="{5E80A84C-A1C8-4C6E-A9A7-A42518BA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144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2. Paper discussion and notebook walkthrough</a:t>
            </a:r>
          </a:p>
        </p:txBody>
      </p:sp>
      <p:sp>
        <p:nvSpPr>
          <p:cNvPr id="13" name="Status 0">
            <a:extLst xmlns:a="http://schemas.openxmlformats.org/drawingml/2006/main">
              <a:ext uri="{FF2B5EF4-FFF2-40B4-BE49-F238E27FC236}">
                <a16:creationId xmlns:a16="http://schemas.microsoft.com/office/drawing/2014/main" id="{04ABB8B1-C265-451F-AAF6-771321CF4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144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" name="Dates 0">
            <a:extLst xmlns:a="http://schemas.openxmlformats.org/drawingml/2006/main">
              <a:ext uri="{FF2B5EF4-FFF2-40B4-BE49-F238E27FC236}">
                <a16:creationId xmlns:a16="http://schemas.microsoft.com/office/drawing/2014/main" id="{14682879-5663-4AA5-AE1E-E5B8F0939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144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15" name="Week rule 0 2026-09-21">
            <a:extLst xmlns:a="http://schemas.openxmlformats.org/drawingml/2006/main">
              <a:ext uri="{FF2B5EF4-FFF2-40B4-BE49-F238E27FC236}">
                <a16:creationId xmlns:a16="http://schemas.microsoft.com/office/drawing/2014/main" id="{0974C055-97E6-4363-B0E2-6E3956E8B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Week rule 0 2026-09-28">
            <a:extLst xmlns:a="http://schemas.openxmlformats.org/drawingml/2006/main">
              <a:ext uri="{FF2B5EF4-FFF2-40B4-BE49-F238E27FC236}">
                <a16:creationId xmlns:a16="http://schemas.microsoft.com/office/drawing/2014/main" id="{27571280-B0B1-4F38-8E6F-6FFCF4E15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7" name="Week rule 0 2026-10-05">
            <a:extLst xmlns:a="http://schemas.openxmlformats.org/drawingml/2006/main">
              <a:ext uri="{FF2B5EF4-FFF2-40B4-BE49-F238E27FC236}">
                <a16:creationId xmlns:a16="http://schemas.microsoft.com/office/drawing/2014/main" id="{F56BFEA7-0122-45A4-962B-3A210C9AD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5144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Bar 0 0">
            <a:extLst xmlns:a="http://schemas.openxmlformats.org/drawingml/2006/main">
              <a:ext uri="{FF2B5EF4-FFF2-40B4-BE49-F238E27FC236}">
                <a16:creationId xmlns:a16="http://schemas.microsoft.com/office/drawing/2014/main" id="{BCFF6B03-F2CC-4EFE-B5AC-1484C31CC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5859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9" name="Row rule 0">
            <a:extLst xmlns:a="http://schemas.openxmlformats.org/drawingml/2006/main">
              <a:ext uri="{FF2B5EF4-FFF2-40B4-BE49-F238E27FC236}">
                <a16:creationId xmlns:a16="http://schemas.microsoft.com/office/drawing/2014/main" id="{E226DBD5-75A4-4AE1-A273-131C1B542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Row tint 1">
            <a:extLst xmlns:a="http://schemas.openxmlformats.org/drawingml/2006/main">
              <a:ext uri="{FF2B5EF4-FFF2-40B4-BE49-F238E27FC236}">
                <a16:creationId xmlns:a16="http://schemas.microsoft.com/office/drawing/2014/main" id="{366380BD-FE1C-470A-972E-6E15F517C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621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" name="Task 1">
            <a:extLst xmlns:a="http://schemas.openxmlformats.org/drawingml/2006/main">
              <a:ext uri="{FF2B5EF4-FFF2-40B4-BE49-F238E27FC236}">
                <a16:creationId xmlns:a16="http://schemas.microsoft.com/office/drawing/2014/main" id="{CF0E05F0-2296-480F-A70F-64856EE1B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621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6. Interpret representation metrics and pilot results</a:t>
            </a:r>
          </a:p>
        </p:txBody>
      </p:sp>
      <p:sp>
        <p:nvSpPr>
          <p:cNvPr id="22" name="Status 1">
            <a:extLst xmlns:a="http://schemas.openxmlformats.org/drawingml/2006/main">
              <a:ext uri="{FF2B5EF4-FFF2-40B4-BE49-F238E27FC236}">
                <a16:creationId xmlns:a16="http://schemas.microsoft.com/office/drawing/2014/main" id="{49BD2F84-B39A-499C-875B-5EE3F1D02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621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3" name="Dates 1">
            <a:extLst xmlns:a="http://schemas.openxmlformats.org/drawingml/2006/main">
              <a:ext uri="{FF2B5EF4-FFF2-40B4-BE49-F238E27FC236}">
                <a16:creationId xmlns:a16="http://schemas.microsoft.com/office/drawing/2014/main" id="{E578AD4E-A72E-4380-A4DF-A1B3238E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621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24" name="Week rule 1 2026-09-21">
            <a:extLst xmlns:a="http://schemas.openxmlformats.org/drawingml/2006/main">
              <a:ext uri="{FF2B5EF4-FFF2-40B4-BE49-F238E27FC236}">
                <a16:creationId xmlns:a16="http://schemas.microsoft.com/office/drawing/2014/main" id="{6D46318F-20C1-450B-84D8-EFC5CEDD7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5" name="Week rule 1 2026-09-28">
            <a:extLst xmlns:a="http://schemas.openxmlformats.org/drawingml/2006/main">
              <a:ext uri="{FF2B5EF4-FFF2-40B4-BE49-F238E27FC236}">
                <a16:creationId xmlns:a16="http://schemas.microsoft.com/office/drawing/2014/main" id="{2A36C8ED-EC83-411B-A13C-189767DEB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6" name="Week rule 1 2026-10-05">
            <a:extLst xmlns:a="http://schemas.openxmlformats.org/drawingml/2006/main">
              <a:ext uri="{FF2B5EF4-FFF2-40B4-BE49-F238E27FC236}">
                <a16:creationId xmlns:a16="http://schemas.microsoft.com/office/drawing/2014/main" id="{1D75FB64-4881-40E1-A2D5-0247CF291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17621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7" name="Bar 1 0">
            <a:extLst xmlns:a="http://schemas.openxmlformats.org/drawingml/2006/main">
              <a:ext uri="{FF2B5EF4-FFF2-40B4-BE49-F238E27FC236}">
                <a16:creationId xmlns:a16="http://schemas.microsoft.com/office/drawing/2014/main" id="{DD4FD363-AADF-416D-A75E-8D2B7AD59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8335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8" name="Row rule 1">
            <a:extLst xmlns:a="http://schemas.openxmlformats.org/drawingml/2006/main">
              <a:ext uri="{FF2B5EF4-FFF2-40B4-BE49-F238E27FC236}">
                <a16:creationId xmlns:a16="http://schemas.microsoft.com/office/drawing/2014/main" id="{DDF300E5-4790-4DD7-9BD4-3056B0D1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0097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29" name="Task 2">
            <a:extLst xmlns:a="http://schemas.openxmlformats.org/drawingml/2006/main">
              <a:ext uri="{FF2B5EF4-FFF2-40B4-BE49-F238E27FC236}">
                <a16:creationId xmlns:a16="http://schemas.microsoft.com/office/drawing/2014/main" id="{A33A8936-E846-4024-80B2-6028297E2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009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7. Draft a measurable definition of alignment</a:t>
            </a:r>
          </a:p>
        </p:txBody>
      </p:sp>
      <p:sp>
        <p:nvSpPr>
          <p:cNvPr id="30" name="Status 2">
            <a:extLst xmlns:a="http://schemas.openxmlformats.org/drawingml/2006/main">
              <a:ext uri="{FF2B5EF4-FFF2-40B4-BE49-F238E27FC236}">
                <a16:creationId xmlns:a16="http://schemas.microsoft.com/office/drawing/2014/main" id="{AD228153-277E-4B3C-97E5-FE13FD8C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009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31" name="Dates 2">
            <a:extLst xmlns:a="http://schemas.openxmlformats.org/drawingml/2006/main">
              <a:ext uri="{FF2B5EF4-FFF2-40B4-BE49-F238E27FC236}">
                <a16:creationId xmlns:a16="http://schemas.microsoft.com/office/drawing/2014/main" id="{53A4AE4F-BC90-4239-A83A-6E512E274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009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32" name="Week rule 2 2026-09-21">
            <a:extLst xmlns:a="http://schemas.openxmlformats.org/drawingml/2006/main">
              <a:ext uri="{FF2B5EF4-FFF2-40B4-BE49-F238E27FC236}">
                <a16:creationId xmlns:a16="http://schemas.microsoft.com/office/drawing/2014/main" id="{5BCA0E6A-B5CE-4EB9-A523-C737C834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3" name="Week rule 2 2026-09-28">
            <a:extLst xmlns:a="http://schemas.openxmlformats.org/drawingml/2006/main">
              <a:ext uri="{FF2B5EF4-FFF2-40B4-BE49-F238E27FC236}">
                <a16:creationId xmlns:a16="http://schemas.microsoft.com/office/drawing/2014/main" id="{623C7377-EA9B-4586-9D5D-46BC01B5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4" name="Week rule 2 2026-10-05">
            <a:extLst xmlns:a="http://schemas.openxmlformats.org/drawingml/2006/main">
              <a:ext uri="{FF2B5EF4-FFF2-40B4-BE49-F238E27FC236}">
                <a16:creationId xmlns:a16="http://schemas.microsoft.com/office/drawing/2014/main" id="{F152D31C-6550-4CC8-8D09-AD8899972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009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5" name="Bar 2 0">
            <a:extLst xmlns:a="http://schemas.openxmlformats.org/drawingml/2006/main">
              <a:ext uri="{FF2B5EF4-FFF2-40B4-BE49-F238E27FC236}">
                <a16:creationId xmlns:a16="http://schemas.microsoft.com/office/drawing/2014/main" id="{F49C613B-373F-467D-B841-AA1F19DA1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08121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6" name="Row rule 2">
            <a:extLst xmlns:a="http://schemas.openxmlformats.org/drawingml/2006/main">
              <a:ext uri="{FF2B5EF4-FFF2-40B4-BE49-F238E27FC236}">
                <a16:creationId xmlns:a16="http://schemas.microsoft.com/office/drawing/2014/main" id="{F1B05D6A-4C37-4B08-B088-C0CE8A87C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37" name="Section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11F2E2B6-D14B-4F87-A9ED-6761CE6AE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25742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38" name="Section title Data and reproducibility">
            <a:extLst xmlns:a="http://schemas.openxmlformats.org/drawingml/2006/main">
              <a:ext uri="{FF2B5EF4-FFF2-40B4-BE49-F238E27FC236}">
                <a16:creationId xmlns:a16="http://schemas.microsoft.com/office/drawing/2014/main" id="{73A1A4CE-0F61-4527-AF82-F43464D1B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25742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Data and reproducibility</a:t>
            </a:r>
          </a:p>
        </p:txBody>
      </p:sp>
      <p:sp>
        <p:nvSpPr>
          <p:cNvPr id="39" name="Row tint 3">
            <a:extLst xmlns:a="http://schemas.openxmlformats.org/drawingml/2006/main">
              <a:ext uri="{FF2B5EF4-FFF2-40B4-BE49-F238E27FC236}">
                <a16:creationId xmlns:a16="http://schemas.microsoft.com/office/drawing/2014/main" id="{18F85BD9-AF67-407F-8BE5-F3CB41C31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4860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0" name="Task 3">
            <a:extLst xmlns:a="http://schemas.openxmlformats.org/drawingml/2006/main">
              <a:ext uri="{FF2B5EF4-FFF2-40B4-BE49-F238E27FC236}">
                <a16:creationId xmlns:a16="http://schemas.microsoft.com/office/drawing/2014/main" id="{8A97B9F8-D07A-479E-A329-7E269591E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4860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3. Data labels, sequence regions and duplicates</a:t>
            </a:r>
          </a:p>
        </p:txBody>
      </p:sp>
      <p:sp>
        <p:nvSpPr>
          <p:cNvPr id="41" name="Status 3">
            <a:extLst xmlns:a="http://schemas.openxmlformats.org/drawingml/2006/main">
              <a:ext uri="{FF2B5EF4-FFF2-40B4-BE49-F238E27FC236}">
                <a16:creationId xmlns:a16="http://schemas.microsoft.com/office/drawing/2014/main" id="{0E90AC25-59A0-4524-A56C-CDBB3CB70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860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42" name="Dates 3">
            <a:extLst xmlns:a="http://schemas.openxmlformats.org/drawingml/2006/main">
              <a:ext uri="{FF2B5EF4-FFF2-40B4-BE49-F238E27FC236}">
                <a16:creationId xmlns:a16="http://schemas.microsoft.com/office/drawing/2014/main" id="{543F51A9-ED8C-443F-9B16-CF236C0DE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4860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9/21-10/7</a:t>
            </a:r>
          </a:p>
        </p:txBody>
      </p:sp>
      <p:sp>
        <p:nvSpPr>
          <p:cNvPr id="43" name="Week rule 3 2026-09-21">
            <a:extLst xmlns:a="http://schemas.openxmlformats.org/drawingml/2006/main">
              <a:ext uri="{FF2B5EF4-FFF2-40B4-BE49-F238E27FC236}">
                <a16:creationId xmlns:a16="http://schemas.microsoft.com/office/drawing/2014/main" id="{955DA5DC-DA69-4E52-8DC7-4451DE04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4" name="Week rule 3 2026-09-28">
            <a:extLst xmlns:a="http://schemas.openxmlformats.org/drawingml/2006/main">
              <a:ext uri="{FF2B5EF4-FFF2-40B4-BE49-F238E27FC236}">
                <a16:creationId xmlns:a16="http://schemas.microsoft.com/office/drawing/2014/main" id="{2D29E9DA-0F31-4F51-8B29-61A401C60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5" name="Week rule 3 2026-10-05">
            <a:extLst xmlns:a="http://schemas.openxmlformats.org/drawingml/2006/main">
              <a:ext uri="{FF2B5EF4-FFF2-40B4-BE49-F238E27FC236}">
                <a16:creationId xmlns:a16="http://schemas.microsoft.com/office/drawing/2014/main" id="{C9FFDCE8-EB91-4DF2-8738-F4D322FD8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4860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Bar 3 0">
            <a:extLst xmlns:a="http://schemas.openxmlformats.org/drawingml/2006/main">
              <a:ext uri="{FF2B5EF4-FFF2-40B4-BE49-F238E27FC236}">
                <a16:creationId xmlns:a16="http://schemas.microsoft.com/office/drawing/2014/main" id="{7F916FDC-68D6-4CBC-9881-7E4937BEF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557463"/>
            <a:ext cx="44413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7" name="Row rule 3">
            <a:extLst xmlns:a="http://schemas.openxmlformats.org/drawingml/2006/main">
              <a:ext uri="{FF2B5EF4-FFF2-40B4-BE49-F238E27FC236}">
                <a16:creationId xmlns:a16="http://schemas.microsoft.com/office/drawing/2014/main" id="{EF6A65B1-6F9C-4664-848F-CE67CF0D5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336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Task 4">
            <a:extLst xmlns:a="http://schemas.openxmlformats.org/drawingml/2006/main">
              <a:ext uri="{FF2B5EF4-FFF2-40B4-BE49-F238E27FC236}">
                <a16:creationId xmlns:a16="http://schemas.microsoft.com/office/drawing/2014/main" id="{7B5F18B9-8928-4489-9582-38C633ED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336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4. Train/test separation and preprocessing</a:t>
            </a:r>
          </a:p>
        </p:txBody>
      </p:sp>
      <p:sp>
        <p:nvSpPr>
          <p:cNvPr id="49" name="Status 4">
            <a:extLst xmlns:a="http://schemas.openxmlformats.org/drawingml/2006/main">
              <a:ext uri="{FF2B5EF4-FFF2-40B4-BE49-F238E27FC236}">
                <a16:creationId xmlns:a16="http://schemas.microsoft.com/office/drawing/2014/main" id="{02154963-20BA-4205-A010-D4DC5AE3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336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0" name="Dates 4">
            <a:extLst xmlns:a="http://schemas.openxmlformats.org/drawingml/2006/main">
              <a:ext uri="{FF2B5EF4-FFF2-40B4-BE49-F238E27FC236}">
                <a16:creationId xmlns:a16="http://schemas.microsoft.com/office/drawing/2014/main" id="{8AAD25D2-D764-4863-A3BB-B4FE94AEB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336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51" name="Week rule 4 2026-09-21">
            <a:extLst xmlns:a="http://schemas.openxmlformats.org/drawingml/2006/main">
              <a:ext uri="{FF2B5EF4-FFF2-40B4-BE49-F238E27FC236}">
                <a16:creationId xmlns:a16="http://schemas.microsoft.com/office/drawing/2014/main" id="{6FE76740-B8F7-4DC6-ABF7-58096F04B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Week rule 4 2026-09-28">
            <a:extLst xmlns:a="http://schemas.openxmlformats.org/drawingml/2006/main">
              <a:ext uri="{FF2B5EF4-FFF2-40B4-BE49-F238E27FC236}">
                <a16:creationId xmlns:a16="http://schemas.microsoft.com/office/drawing/2014/main" id="{1CBB6203-9B7D-4743-9B03-6E63170B3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Week rule 4 2026-10-05">
            <a:extLst xmlns:a="http://schemas.openxmlformats.org/drawingml/2006/main">
              <a:ext uri="{FF2B5EF4-FFF2-40B4-BE49-F238E27FC236}">
                <a16:creationId xmlns:a16="http://schemas.microsoft.com/office/drawing/2014/main" id="{268AA3A0-BD2F-47D3-B786-4D3994F5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7336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Bar 4 0">
            <a:extLst xmlns:a="http://schemas.openxmlformats.org/drawingml/2006/main">
              <a:ext uri="{FF2B5EF4-FFF2-40B4-BE49-F238E27FC236}">
                <a16:creationId xmlns:a16="http://schemas.microsoft.com/office/drawing/2014/main" id="{7BE16C3F-1662-4EA8-AFEE-50B94DD12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80511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5" name="Row rule 4">
            <a:extLst xmlns:a="http://schemas.openxmlformats.org/drawingml/2006/main">
              <a:ext uri="{FF2B5EF4-FFF2-40B4-BE49-F238E27FC236}">
                <a16:creationId xmlns:a16="http://schemas.microsoft.com/office/drawing/2014/main" id="{272596E3-BED4-4994-9999-09A604233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Row tint 5">
            <a:extLst xmlns:a="http://schemas.openxmlformats.org/drawingml/2006/main">
              <a:ext uri="{FF2B5EF4-FFF2-40B4-BE49-F238E27FC236}">
                <a16:creationId xmlns:a16="http://schemas.microsoft.com/office/drawing/2014/main" id="{9AD3D4DE-AEA2-4EFB-8EC5-9E15634AC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9813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" name="Task 5">
            <a:extLst xmlns:a="http://schemas.openxmlformats.org/drawingml/2006/main">
              <a:ext uri="{FF2B5EF4-FFF2-40B4-BE49-F238E27FC236}">
                <a16:creationId xmlns:a16="http://schemas.microsoft.com/office/drawing/2014/main" id="{FBF3E053-31AF-4B3A-BEC5-617A1C337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9813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5. Run history, seeds and reproducibility</a:t>
            </a:r>
          </a:p>
        </p:txBody>
      </p:sp>
      <p:sp>
        <p:nvSpPr>
          <p:cNvPr id="58" name="Status 5">
            <a:extLst xmlns:a="http://schemas.openxmlformats.org/drawingml/2006/main">
              <a:ext uri="{FF2B5EF4-FFF2-40B4-BE49-F238E27FC236}">
                <a16:creationId xmlns:a16="http://schemas.microsoft.com/office/drawing/2014/main" id="{E344F87F-155D-46A0-AB94-8DBC96247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9813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9" name="Dates 5">
            <a:extLst xmlns:a="http://schemas.openxmlformats.org/drawingml/2006/main">
              <a:ext uri="{FF2B5EF4-FFF2-40B4-BE49-F238E27FC236}">
                <a16:creationId xmlns:a16="http://schemas.microsoft.com/office/drawing/2014/main" id="{618CA022-F210-422A-9470-C838F3D4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9813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9/21-10/3</a:t>
            </a:r>
          </a:p>
        </p:txBody>
      </p:sp>
      <p:sp>
        <p:nvSpPr>
          <p:cNvPr id="60" name="Week rule 5 2026-09-21">
            <a:extLst xmlns:a="http://schemas.openxmlformats.org/drawingml/2006/main">
              <a:ext uri="{FF2B5EF4-FFF2-40B4-BE49-F238E27FC236}">
                <a16:creationId xmlns:a16="http://schemas.microsoft.com/office/drawing/2014/main" id="{D71D999D-2418-4FD4-83FB-B9C8C4F9D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Week rule 5 2026-09-28">
            <a:extLst xmlns:a="http://schemas.openxmlformats.org/drawingml/2006/main">
              <a:ext uri="{FF2B5EF4-FFF2-40B4-BE49-F238E27FC236}">
                <a16:creationId xmlns:a16="http://schemas.microsoft.com/office/drawing/2014/main" id="{297C668C-7410-4803-B0DB-09F5D16FE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Week rule 5 2026-10-05">
            <a:extLst xmlns:a="http://schemas.openxmlformats.org/drawingml/2006/main">
              <a:ext uri="{FF2B5EF4-FFF2-40B4-BE49-F238E27FC236}">
                <a16:creationId xmlns:a16="http://schemas.microsoft.com/office/drawing/2014/main" id="{ABDF4312-A124-4D70-9C08-099FA0B9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29813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3" name="Bar 5 0">
            <a:extLst xmlns:a="http://schemas.openxmlformats.org/drawingml/2006/main">
              <a:ext uri="{FF2B5EF4-FFF2-40B4-BE49-F238E27FC236}">
                <a16:creationId xmlns:a16="http://schemas.microsoft.com/office/drawing/2014/main" id="{FE3E5DF4-B98F-4FCC-8A2D-407A74428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3052763"/>
            <a:ext cx="33963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4" name="Row rule 5">
            <a:extLst xmlns:a="http://schemas.openxmlformats.org/drawingml/2006/main">
              <a:ext uri="{FF2B5EF4-FFF2-40B4-BE49-F238E27FC236}">
                <a16:creationId xmlns:a16="http://schemas.microsoft.com/office/drawing/2014/main" id="{B193B3E2-8AAD-460B-B03B-AFA5EA63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5" name="Section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F1D88B7D-F333-4866-84CB-0CA36E73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89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66" name="Section title Early implementation, writing and collaboration">
            <a:extLst xmlns:a="http://schemas.openxmlformats.org/drawingml/2006/main">
              <a:ext uri="{FF2B5EF4-FFF2-40B4-BE49-F238E27FC236}">
                <a16:creationId xmlns:a16="http://schemas.microsoft.com/office/drawing/2014/main" id="{B2D6C172-5541-43B2-96AE-006E055AC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89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Early implementation, writing and collaboration</a:t>
            </a:r>
          </a:p>
        </p:txBody>
      </p:sp>
      <p:sp>
        <p:nvSpPr>
          <p:cNvPr id="67" name="Task 6">
            <a:extLst xmlns:a="http://schemas.openxmlformats.org/drawingml/2006/main">
              <a:ext uri="{FF2B5EF4-FFF2-40B4-BE49-F238E27FC236}">
                <a16:creationId xmlns:a16="http://schemas.microsoft.com/office/drawing/2014/main" id="{1107A618-70AB-4FBD-A6D9-A6946456A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575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8. Map BioLangFusion/IsoFormer inputs incl. DNA</a:t>
            </a:r>
          </a:p>
        </p:txBody>
      </p:sp>
      <p:sp>
        <p:nvSpPr>
          <p:cNvPr id="68" name="Status 6">
            <a:extLst xmlns:a="http://schemas.openxmlformats.org/drawingml/2006/main">
              <a:ext uri="{FF2B5EF4-FFF2-40B4-BE49-F238E27FC236}">
                <a16:creationId xmlns:a16="http://schemas.microsoft.com/office/drawing/2014/main" id="{4B1A4D4B-3F36-47B7-8407-FD0FB0B48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575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69" name="Dates 6">
            <a:extLst xmlns:a="http://schemas.openxmlformats.org/drawingml/2006/main">
              <a:ext uri="{FF2B5EF4-FFF2-40B4-BE49-F238E27FC236}">
                <a16:creationId xmlns:a16="http://schemas.microsoft.com/office/drawing/2014/main" id="{302FB208-3E06-4CF2-B6AA-56CD927FD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575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9/28-10/2</a:t>
            </a:r>
          </a:p>
        </p:txBody>
      </p:sp>
      <p:sp>
        <p:nvSpPr>
          <p:cNvPr id="70" name="Week rule 6 2026-09-21">
            <a:extLst xmlns:a="http://schemas.openxmlformats.org/drawingml/2006/main">
              <a:ext uri="{FF2B5EF4-FFF2-40B4-BE49-F238E27FC236}">
                <a16:creationId xmlns:a16="http://schemas.microsoft.com/office/drawing/2014/main" id="{A919E0BB-BA35-4EC1-AACD-AD7F46C0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1" name="Week rule 6 2026-09-28">
            <a:extLst xmlns:a="http://schemas.openxmlformats.org/drawingml/2006/main">
              <a:ext uri="{FF2B5EF4-FFF2-40B4-BE49-F238E27FC236}">
                <a16:creationId xmlns:a16="http://schemas.microsoft.com/office/drawing/2014/main" id="{D1D7734B-2145-4B78-913A-9256970B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2" name="Week rule 6 2026-10-05">
            <a:extLst xmlns:a="http://schemas.openxmlformats.org/drawingml/2006/main">
              <a:ext uri="{FF2B5EF4-FFF2-40B4-BE49-F238E27FC236}">
                <a16:creationId xmlns:a16="http://schemas.microsoft.com/office/drawing/2014/main" id="{6F83F414-BB2B-4DC8-93DB-73E375395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4575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3" name="Bar 6 0">
            <a:extLst xmlns:a="http://schemas.openxmlformats.org/drawingml/2006/main">
              <a:ext uri="{FF2B5EF4-FFF2-40B4-BE49-F238E27FC236}">
                <a16:creationId xmlns:a16="http://schemas.microsoft.com/office/drawing/2014/main" id="{4965704C-396E-4278-9F85-B443489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79" y="3529013"/>
            <a:ext cx="1306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4" name="Row rule 6">
            <a:extLst xmlns:a="http://schemas.openxmlformats.org/drawingml/2006/main">
              <a:ext uri="{FF2B5EF4-FFF2-40B4-BE49-F238E27FC236}">
                <a16:creationId xmlns:a16="http://schemas.microsoft.com/office/drawing/2014/main" id="{1656A88B-3D95-495F-B088-7FE5B1F99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75" name="Row tint 7">
            <a:extLst xmlns:a="http://schemas.openxmlformats.org/drawingml/2006/main">
              <a:ext uri="{FF2B5EF4-FFF2-40B4-BE49-F238E27FC236}">
                <a16:creationId xmlns:a16="http://schemas.microsoft.com/office/drawing/2014/main" id="{754B57A9-EDC3-4AE4-B6A6-AD4417743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052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76" name="Task 7">
            <a:extLst xmlns:a="http://schemas.openxmlformats.org/drawingml/2006/main">
              <a:ext uri="{FF2B5EF4-FFF2-40B4-BE49-F238E27FC236}">
                <a16:creationId xmlns:a16="http://schemas.microsoft.com/office/drawing/2014/main" id="{BE6DED01-CAC1-44C9-AB9A-9D2346B3E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7052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9. Published-split comparisons for both datasets</a:t>
            </a:r>
          </a:p>
        </p:txBody>
      </p:sp>
      <p:sp>
        <p:nvSpPr>
          <p:cNvPr id="77" name="Status 7">
            <a:extLst xmlns:a="http://schemas.openxmlformats.org/drawingml/2006/main">
              <a:ext uri="{FF2B5EF4-FFF2-40B4-BE49-F238E27FC236}">
                <a16:creationId xmlns:a16="http://schemas.microsoft.com/office/drawing/2014/main" id="{1C95D57B-BE4A-40C4-8923-5B5B09CD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7052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78" name="Dates 7">
            <a:extLst xmlns:a="http://schemas.openxmlformats.org/drawingml/2006/main">
              <a:ext uri="{FF2B5EF4-FFF2-40B4-BE49-F238E27FC236}">
                <a16:creationId xmlns:a16="http://schemas.microsoft.com/office/drawing/2014/main" id="{FC8FFE9F-C46F-49B9-80D4-F36D9824E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7052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10/1-10/3</a:t>
            </a:r>
          </a:p>
        </p:txBody>
      </p:sp>
      <p:sp>
        <p:nvSpPr>
          <p:cNvPr id="79" name="Week rule 7 2026-09-21">
            <a:extLst xmlns:a="http://schemas.openxmlformats.org/drawingml/2006/main">
              <a:ext uri="{FF2B5EF4-FFF2-40B4-BE49-F238E27FC236}">
                <a16:creationId xmlns:a16="http://schemas.microsoft.com/office/drawing/2014/main" id="{061BC52C-C4B9-402E-B472-F4789EF6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0" name="Week rule 7 2026-09-28">
            <a:extLst xmlns:a="http://schemas.openxmlformats.org/drawingml/2006/main">
              <a:ext uri="{FF2B5EF4-FFF2-40B4-BE49-F238E27FC236}">
                <a16:creationId xmlns:a16="http://schemas.microsoft.com/office/drawing/2014/main" id="{9243383D-E5F6-424A-88DE-0E793694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1" name="Week rule 7 2026-10-05">
            <a:extLst xmlns:a="http://schemas.openxmlformats.org/drawingml/2006/main">
              <a:ext uri="{FF2B5EF4-FFF2-40B4-BE49-F238E27FC236}">
                <a16:creationId xmlns:a16="http://schemas.microsoft.com/office/drawing/2014/main" id="{933818FD-8F2A-4DC5-BEB3-549B0FF4B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7052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2" name="Bar 7 0">
            <a:extLst xmlns:a="http://schemas.openxmlformats.org/drawingml/2006/main">
              <a:ext uri="{FF2B5EF4-FFF2-40B4-BE49-F238E27FC236}">
                <a16:creationId xmlns:a16="http://schemas.microsoft.com/office/drawing/2014/main" id="{558BF6F5-5E81-4C2E-A4E8-F91914C9B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3776663"/>
            <a:ext cx="78377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83" name="Row rule 7">
            <a:extLst xmlns:a="http://schemas.openxmlformats.org/drawingml/2006/main">
              <a:ext uri="{FF2B5EF4-FFF2-40B4-BE49-F238E27FC236}">
                <a16:creationId xmlns:a16="http://schemas.microsoft.com/office/drawing/2014/main" id="{FD506E0F-4FA2-4029-814B-F532C1DD6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9528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4" name="Task 8">
            <a:extLst xmlns:a="http://schemas.openxmlformats.org/drawingml/2006/main">
              <a:ext uri="{FF2B5EF4-FFF2-40B4-BE49-F238E27FC236}">
                <a16:creationId xmlns:a16="http://schemas.microsoft.com/office/drawing/2014/main" id="{EAE66BBE-DC6D-4CFF-9F0F-98F473FE2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9528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10. Write Stage 1 methods and findings in Overleaf</a:t>
            </a:r>
          </a:p>
        </p:txBody>
      </p:sp>
      <p:sp>
        <p:nvSpPr>
          <p:cNvPr id="85" name="Status 8">
            <a:extLst xmlns:a="http://schemas.openxmlformats.org/drawingml/2006/main">
              <a:ext uri="{FF2B5EF4-FFF2-40B4-BE49-F238E27FC236}">
                <a16:creationId xmlns:a16="http://schemas.microsoft.com/office/drawing/2014/main" id="{8D4F6715-8F51-425F-B164-B124A9DF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9528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86" name="Dates 8">
            <a:extLst xmlns:a="http://schemas.openxmlformats.org/drawingml/2006/main">
              <a:ext uri="{FF2B5EF4-FFF2-40B4-BE49-F238E27FC236}">
                <a16:creationId xmlns:a16="http://schemas.microsoft.com/office/drawing/2014/main" id="{A7216BFC-B513-4FFB-ACB9-E470C9A52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9528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9/26-10/7</a:t>
            </a:r>
          </a:p>
        </p:txBody>
      </p:sp>
      <p:sp>
        <p:nvSpPr>
          <p:cNvPr id="87" name="Week rule 8 2026-09-21">
            <a:extLst xmlns:a="http://schemas.openxmlformats.org/drawingml/2006/main">
              <a:ext uri="{FF2B5EF4-FFF2-40B4-BE49-F238E27FC236}">
                <a16:creationId xmlns:a16="http://schemas.microsoft.com/office/drawing/2014/main" id="{077B92AF-E742-4A57-AE2E-4D30B24B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8" name="Week rule 8 2026-09-28">
            <a:extLst xmlns:a="http://schemas.openxmlformats.org/drawingml/2006/main">
              <a:ext uri="{FF2B5EF4-FFF2-40B4-BE49-F238E27FC236}">
                <a16:creationId xmlns:a16="http://schemas.microsoft.com/office/drawing/2014/main" id="{D13E4F06-4048-4024-9B3F-252014EE3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89" name="Week rule 8 2026-10-05">
            <a:extLst xmlns:a="http://schemas.openxmlformats.org/drawingml/2006/main">
              <a:ext uri="{FF2B5EF4-FFF2-40B4-BE49-F238E27FC236}">
                <a16:creationId xmlns:a16="http://schemas.microsoft.com/office/drawing/2014/main" id="{C20BF075-33D3-46C6-AB93-A54A86BED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39528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0" name="Bar 8 0">
            <a:extLst xmlns:a="http://schemas.openxmlformats.org/drawingml/2006/main">
              <a:ext uri="{FF2B5EF4-FFF2-40B4-BE49-F238E27FC236}">
                <a16:creationId xmlns:a16="http://schemas.microsoft.com/office/drawing/2014/main" id="{BC394C3D-4342-4439-A2A3-5FACEBC5C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1365" y="4024313"/>
            <a:ext cx="31350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1" name="Row rule 8">
            <a:extLst xmlns:a="http://schemas.openxmlformats.org/drawingml/2006/main">
              <a:ext uri="{FF2B5EF4-FFF2-40B4-BE49-F238E27FC236}">
                <a16:creationId xmlns:a16="http://schemas.microsoft.com/office/drawing/2014/main" id="{CA2557C8-707C-4BC6-B343-68ABE935A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2" name="Row tint 9">
            <a:extLst xmlns:a="http://schemas.openxmlformats.org/drawingml/2006/main">
              <a:ext uri="{FF2B5EF4-FFF2-40B4-BE49-F238E27FC236}">
                <a16:creationId xmlns:a16="http://schemas.microsoft.com/office/drawing/2014/main" id="{1D3EC465-3193-4E04-98BB-512579303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2005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93" name="Task 9">
            <a:extLst xmlns:a="http://schemas.openxmlformats.org/drawingml/2006/main">
              <a:ext uri="{FF2B5EF4-FFF2-40B4-BE49-F238E27FC236}">
                <a16:creationId xmlns:a16="http://schemas.microsoft.com/office/drawing/2014/main" id="{8608C576-DD03-4920-ADCF-4E82D832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2005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11. Clarify the lab tokenizer and benchmark opportunity</a:t>
            </a:r>
          </a:p>
        </p:txBody>
      </p:sp>
      <p:sp>
        <p:nvSpPr>
          <p:cNvPr id="94" name="Status 9">
            <a:extLst xmlns:a="http://schemas.openxmlformats.org/drawingml/2006/main">
              <a:ext uri="{FF2B5EF4-FFF2-40B4-BE49-F238E27FC236}">
                <a16:creationId xmlns:a16="http://schemas.microsoft.com/office/drawing/2014/main" id="{C3D056EA-31FC-4F82-BAB8-AC03E28D7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2005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95" name="Dates 9">
            <a:extLst xmlns:a="http://schemas.openxmlformats.org/drawingml/2006/main">
              <a:ext uri="{FF2B5EF4-FFF2-40B4-BE49-F238E27FC236}">
                <a16:creationId xmlns:a16="http://schemas.microsoft.com/office/drawing/2014/main" id="{85FEB189-5BC6-462C-82DD-43291224A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2005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9/28-10/5</a:t>
            </a:r>
          </a:p>
        </p:txBody>
      </p:sp>
      <p:sp>
        <p:nvSpPr>
          <p:cNvPr id="96" name="Week rule 9 2026-09-21">
            <a:extLst xmlns:a="http://schemas.openxmlformats.org/drawingml/2006/main">
              <a:ext uri="{FF2B5EF4-FFF2-40B4-BE49-F238E27FC236}">
                <a16:creationId xmlns:a16="http://schemas.microsoft.com/office/drawing/2014/main" id="{189E6E2A-66FF-4AB1-B29C-4FE3505AB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7" name="Week rule 9 2026-09-28">
            <a:extLst xmlns:a="http://schemas.openxmlformats.org/drawingml/2006/main">
              <a:ext uri="{FF2B5EF4-FFF2-40B4-BE49-F238E27FC236}">
                <a16:creationId xmlns:a16="http://schemas.microsoft.com/office/drawing/2014/main" id="{E0A3D6BE-984C-4BBC-909D-E6B17D60A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8" name="Week rule 9 2026-10-05">
            <a:extLst xmlns:a="http://schemas.openxmlformats.org/drawingml/2006/main">
              <a:ext uri="{FF2B5EF4-FFF2-40B4-BE49-F238E27FC236}">
                <a16:creationId xmlns:a16="http://schemas.microsoft.com/office/drawing/2014/main" id="{4CFCFAE1-C94A-4090-9DAB-2CE879488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2005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99" name="Bar 9 0">
            <a:extLst xmlns:a="http://schemas.openxmlformats.org/drawingml/2006/main">
              <a:ext uri="{FF2B5EF4-FFF2-40B4-BE49-F238E27FC236}">
                <a16:creationId xmlns:a16="http://schemas.microsoft.com/office/drawing/2014/main" id="{0369ABD2-E1FD-4E3C-A307-78B3CEAD1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271963"/>
            <a:ext cx="2093686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0" name="Row rule 9">
            <a:extLst xmlns:a="http://schemas.openxmlformats.org/drawingml/2006/main">
              <a:ext uri="{FF2B5EF4-FFF2-40B4-BE49-F238E27FC236}">
                <a16:creationId xmlns:a16="http://schemas.microsoft.com/office/drawing/2014/main" id="{ED4CA3F4-E5A6-414A-B4E9-7F585664E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1" name="Section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7FB7E455-D03E-4BFF-BEEC-3C0F3F635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48175"/>
            <a:ext cx="11525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02" name="Section title October 5 review and follow-up">
            <a:extLst xmlns:a="http://schemas.openxmlformats.org/drawingml/2006/main">
              <a:ext uri="{FF2B5EF4-FFF2-40B4-BE49-F238E27FC236}">
                <a16:creationId xmlns:a16="http://schemas.microsoft.com/office/drawing/2014/main" id="{EEE58CEC-BF69-42A2-B55B-D9FFAF9E2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448175"/>
            <a:ext cx="11468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October 7 review and follow-up</a:t>
            </a:r>
          </a:p>
        </p:txBody>
      </p:sp>
      <p:sp>
        <p:nvSpPr>
          <p:cNvPr id="103" name="Task 10">
            <a:extLst xmlns:a="http://schemas.openxmlformats.org/drawingml/2006/main">
              <a:ext uri="{FF2B5EF4-FFF2-40B4-BE49-F238E27FC236}">
                <a16:creationId xmlns:a16="http://schemas.microsoft.com/office/drawing/2014/main" id="{58296BB8-A1C1-4922-8118-C5D46340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6767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12. Prepare evidence and questions for Mina</a:t>
            </a:r>
          </a:p>
        </p:txBody>
      </p:sp>
      <p:sp>
        <p:nvSpPr>
          <p:cNvPr id="104" name="Status 10">
            <a:extLst xmlns:a="http://schemas.openxmlformats.org/drawingml/2006/main">
              <a:ext uri="{FF2B5EF4-FFF2-40B4-BE49-F238E27FC236}">
                <a16:creationId xmlns:a16="http://schemas.microsoft.com/office/drawing/2014/main" id="{332CE47F-5706-4ED5-BFC2-38BC63D0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6767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05" name="Dates 10">
            <a:extLst xmlns:a="http://schemas.openxmlformats.org/drawingml/2006/main">
              <a:ext uri="{FF2B5EF4-FFF2-40B4-BE49-F238E27FC236}">
                <a16:creationId xmlns:a16="http://schemas.microsoft.com/office/drawing/2014/main" id="{65223890-7293-4BE9-883E-F75803B1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6767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10/1-10/6</a:t>
            </a:r>
          </a:p>
        </p:txBody>
      </p:sp>
      <p:sp>
        <p:nvSpPr>
          <p:cNvPr id="106" name="Week rule 10 2026-09-21">
            <a:extLst xmlns:a="http://schemas.openxmlformats.org/drawingml/2006/main">
              <a:ext uri="{FF2B5EF4-FFF2-40B4-BE49-F238E27FC236}">
                <a16:creationId xmlns:a16="http://schemas.microsoft.com/office/drawing/2014/main" id="{E7119877-CA11-4253-A462-3A22A3E8A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7" name="Week rule 10 2026-09-28">
            <a:extLst xmlns:a="http://schemas.openxmlformats.org/drawingml/2006/main">
              <a:ext uri="{FF2B5EF4-FFF2-40B4-BE49-F238E27FC236}">
                <a16:creationId xmlns:a16="http://schemas.microsoft.com/office/drawing/2014/main" id="{68251185-484A-41CB-94AA-4A3DCF0B7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8" name="Week rule 10 2026-10-05">
            <a:extLst xmlns:a="http://schemas.openxmlformats.org/drawingml/2006/main">
              <a:ext uri="{FF2B5EF4-FFF2-40B4-BE49-F238E27FC236}">
                <a16:creationId xmlns:a16="http://schemas.microsoft.com/office/drawing/2014/main" id="{247413CD-020D-4C66-BDB1-CA1D313CD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6767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9" name="Bar 10 0">
            <a:extLst xmlns:a="http://schemas.openxmlformats.org/drawingml/2006/main">
              <a:ext uri="{FF2B5EF4-FFF2-40B4-BE49-F238E27FC236}">
                <a16:creationId xmlns:a16="http://schemas.microsoft.com/office/drawing/2014/main" id="{8514FBCA-0077-404E-AE99-EE5C471BE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7651" y="4748213"/>
            <a:ext cx="1567542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0" name="Row rule 10">
            <a:extLst xmlns:a="http://schemas.openxmlformats.org/drawingml/2006/main">
              <a:ext uri="{FF2B5EF4-FFF2-40B4-BE49-F238E27FC236}">
                <a16:creationId xmlns:a16="http://schemas.microsoft.com/office/drawing/2014/main" id="{9CB37BA3-D198-4489-B5BD-3140BAE6A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1" name="Row tint 11">
            <a:extLst xmlns:a="http://schemas.openxmlformats.org/drawingml/2006/main">
              <a:ext uri="{FF2B5EF4-FFF2-40B4-BE49-F238E27FC236}">
                <a16:creationId xmlns:a16="http://schemas.microsoft.com/office/drawing/2014/main" id="{BC10C0E9-ED1D-461E-8027-B64AD7986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244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2" name="Task 11">
            <a:extLst xmlns:a="http://schemas.openxmlformats.org/drawingml/2006/main">
              <a:ext uri="{FF2B5EF4-FFF2-40B4-BE49-F238E27FC236}">
                <a16:creationId xmlns:a16="http://schemas.microsoft.com/office/drawing/2014/main" id="{08D86C99-1E68-4C6D-94AE-A9888CBDE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244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13. Review with Mina and working alignment definition</a:t>
            </a:r>
          </a:p>
        </p:txBody>
      </p:sp>
      <p:sp>
        <p:nvSpPr>
          <p:cNvPr id="113" name="Status 11">
            <a:extLst xmlns:a="http://schemas.openxmlformats.org/drawingml/2006/main">
              <a:ext uri="{FF2B5EF4-FFF2-40B4-BE49-F238E27FC236}">
                <a16:creationId xmlns:a16="http://schemas.microsoft.com/office/drawing/2014/main" id="{8D6DB1BA-6020-42E8-9835-31175B8BC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244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14" name="Dates 11">
            <a:extLst xmlns:a="http://schemas.openxmlformats.org/drawingml/2006/main">
              <a:ext uri="{FF2B5EF4-FFF2-40B4-BE49-F238E27FC236}">
                <a16:creationId xmlns:a16="http://schemas.microsoft.com/office/drawing/2014/main" id="{29319D34-71D8-4640-9AF8-9C5F5EEC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244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10/7</a:t>
            </a:r>
          </a:p>
        </p:txBody>
      </p:sp>
      <p:sp>
        <p:nvSpPr>
          <p:cNvPr id="115" name="Week rule 11 2026-09-21">
            <a:extLst xmlns:a="http://schemas.openxmlformats.org/drawingml/2006/main">
              <a:ext uri="{FF2B5EF4-FFF2-40B4-BE49-F238E27FC236}">
                <a16:creationId xmlns:a16="http://schemas.microsoft.com/office/drawing/2014/main" id="{380DFAB4-CB2B-46D3-A6ED-C2C05F259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6" name="Week rule 11 2026-09-28">
            <a:extLst xmlns:a="http://schemas.openxmlformats.org/drawingml/2006/main">
              <a:ext uri="{FF2B5EF4-FFF2-40B4-BE49-F238E27FC236}">
                <a16:creationId xmlns:a16="http://schemas.microsoft.com/office/drawing/2014/main" id="{2B49DA09-7995-4A79-BDFD-8E32F00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7" name="Week rule 11 2026-10-05">
            <a:extLst xmlns:a="http://schemas.openxmlformats.org/drawingml/2006/main">
              <a:ext uri="{FF2B5EF4-FFF2-40B4-BE49-F238E27FC236}">
                <a16:creationId xmlns:a16="http://schemas.microsoft.com/office/drawing/2014/main" id="{8B261F23-0E62-42D0-AA5A-3FDA5B6E3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49244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8" name="Milestone 13">
            <a:extLst xmlns:a="http://schemas.openxmlformats.org/drawingml/2006/main">
              <a:ext uri="{FF2B5EF4-FFF2-40B4-BE49-F238E27FC236}">
                <a16:creationId xmlns:a16="http://schemas.microsoft.com/office/drawing/2014/main" id="{47EA266F-71B3-4CA1-A5DB-0AD161C58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18197" y="5000625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19" name="Row rule 11">
            <a:extLst xmlns:a="http://schemas.openxmlformats.org/drawingml/2006/main">
              <a:ext uri="{FF2B5EF4-FFF2-40B4-BE49-F238E27FC236}">
                <a16:creationId xmlns:a16="http://schemas.microsoft.com/office/drawing/2014/main" id="{2A3CE56E-6CE3-4528-81A8-89A2F89C1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720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0" name="Task 12">
            <a:extLst xmlns:a="http://schemas.openxmlformats.org/drawingml/2006/main">
              <a:ext uri="{FF2B5EF4-FFF2-40B4-BE49-F238E27FC236}">
                <a16:creationId xmlns:a16="http://schemas.microsoft.com/office/drawing/2014/main" id="{BF559E00-278D-4D0A-8649-053274B6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7207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14. Revise Stage 1 claims, figures and methods</a:t>
            </a:r>
          </a:p>
        </p:txBody>
      </p:sp>
      <p:sp>
        <p:nvSpPr>
          <p:cNvPr id="121" name="Status 12">
            <a:extLst xmlns:a="http://schemas.openxmlformats.org/drawingml/2006/main">
              <a:ext uri="{FF2B5EF4-FFF2-40B4-BE49-F238E27FC236}">
                <a16:creationId xmlns:a16="http://schemas.microsoft.com/office/drawing/2014/main" id="{37891DC7-8AB7-4698-AD03-D120A928E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7207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22" name="Dates 12">
            <a:extLst xmlns:a="http://schemas.openxmlformats.org/drawingml/2006/main">
              <a:ext uri="{FF2B5EF4-FFF2-40B4-BE49-F238E27FC236}">
                <a16:creationId xmlns:a16="http://schemas.microsoft.com/office/drawing/2014/main" id="{703B7FED-9B04-4933-AB45-104E6597E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7207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23" name="Week rule 12 2026-09-21">
            <a:extLst xmlns:a="http://schemas.openxmlformats.org/drawingml/2006/main">
              <a:ext uri="{FF2B5EF4-FFF2-40B4-BE49-F238E27FC236}">
                <a16:creationId xmlns:a16="http://schemas.microsoft.com/office/drawing/2014/main" id="{60657371-283F-4438-AD56-A95A1D3D7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4" name="Week rule 12 2026-09-28">
            <a:extLst xmlns:a="http://schemas.openxmlformats.org/drawingml/2006/main">
              <a:ext uri="{FF2B5EF4-FFF2-40B4-BE49-F238E27FC236}">
                <a16:creationId xmlns:a16="http://schemas.microsoft.com/office/drawing/2014/main" id="{F1580A82-D362-4886-90A6-143B88367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5" name="Week rule 12 2026-10-05">
            <a:extLst xmlns:a="http://schemas.openxmlformats.org/drawingml/2006/main">
              <a:ext uri="{FF2B5EF4-FFF2-40B4-BE49-F238E27FC236}">
                <a16:creationId xmlns:a16="http://schemas.microsoft.com/office/drawing/2014/main" id="{75010D56-582A-4987-993B-8076419F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17207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6" name="Bar 12 0">
            <a:extLst xmlns:a="http://schemas.openxmlformats.org/drawingml/2006/main">
              <a:ext uri="{FF2B5EF4-FFF2-40B4-BE49-F238E27FC236}">
                <a16:creationId xmlns:a16="http://schemas.microsoft.com/office/drawing/2014/main" id="{6763E3BC-FFDB-4A37-B9E3-C2F02A5B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24351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7" name="Row rule 12">
            <a:extLst xmlns:a="http://schemas.openxmlformats.org/drawingml/2006/main">
              <a:ext uri="{FF2B5EF4-FFF2-40B4-BE49-F238E27FC236}">
                <a16:creationId xmlns:a16="http://schemas.microsoft.com/office/drawing/2014/main" id="{FC37E477-43E0-49DA-A6D7-E91C30CB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8" name="Row tint 13">
            <a:extLst xmlns:a="http://schemas.openxmlformats.org/drawingml/2006/main">
              <a:ext uri="{FF2B5EF4-FFF2-40B4-BE49-F238E27FC236}">
                <a16:creationId xmlns:a16="http://schemas.microsoft.com/office/drawing/2014/main" id="{D1601F06-4425-4D17-B0B5-5F6DBA138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419725"/>
            <a:ext cx="11525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9" name="Task 13">
            <a:extLst xmlns:a="http://schemas.openxmlformats.org/drawingml/2006/main">
              <a:ext uri="{FF2B5EF4-FFF2-40B4-BE49-F238E27FC236}">
                <a16:creationId xmlns:a16="http://schemas.microsoft.com/office/drawing/2014/main" id="{D2144D97-2F5D-46CF-934B-0C01A46E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419725"/>
            <a:ext cx="42957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15. Specify the next matched comparison</a:t>
            </a:r>
          </a:p>
        </p:txBody>
      </p:sp>
      <p:sp>
        <p:nvSpPr>
          <p:cNvPr id="130" name="Status 13">
            <a:extLst xmlns:a="http://schemas.openxmlformats.org/drawingml/2006/main">
              <a:ext uri="{FF2B5EF4-FFF2-40B4-BE49-F238E27FC236}">
                <a16:creationId xmlns:a16="http://schemas.microsoft.com/office/drawing/2014/main" id="{C66AA3FF-8332-41B1-941A-0E8CB2910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419725"/>
            <a:ext cx="838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31" name="Dates 13">
            <a:extLst xmlns:a="http://schemas.openxmlformats.org/drawingml/2006/main">
              <a:ext uri="{FF2B5EF4-FFF2-40B4-BE49-F238E27FC236}">
                <a16:creationId xmlns:a16="http://schemas.microsoft.com/office/drawing/2014/main" id="{6AB89CDE-9C3F-4B86-AC01-79F9022AE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419725"/>
            <a:ext cx="857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10/8-10/11</a:t>
            </a:r>
          </a:p>
        </p:txBody>
      </p:sp>
      <p:sp>
        <p:nvSpPr>
          <p:cNvPr id="132" name="Week rule 13 2026-09-21">
            <a:extLst xmlns:a="http://schemas.openxmlformats.org/drawingml/2006/main">
              <a:ext uri="{FF2B5EF4-FFF2-40B4-BE49-F238E27FC236}">
                <a16:creationId xmlns:a16="http://schemas.microsoft.com/office/drawing/2014/main" id="{EE69BBB7-46C7-4D84-9FB7-0A6018C7B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3" name="Week rule 13 2026-09-28">
            <a:extLst xmlns:a="http://schemas.openxmlformats.org/drawingml/2006/main">
              <a:ext uri="{FF2B5EF4-FFF2-40B4-BE49-F238E27FC236}">
                <a16:creationId xmlns:a16="http://schemas.microsoft.com/office/drawing/2014/main" id="{5F4621E9-77C7-43FD-911A-A32C8248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5150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4" name="Week rule 13 2026-10-05">
            <a:extLst xmlns:a="http://schemas.openxmlformats.org/drawingml/2006/main">
              <a:ext uri="{FF2B5EF4-FFF2-40B4-BE49-F238E27FC236}">
                <a16:creationId xmlns:a16="http://schemas.microsoft.com/office/drawing/2014/main" id="{E5894A6B-6340-417A-8A3D-6B6AEC53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7125" y="5419725"/>
            <a:ext cx="0" cy="247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5" name="Bar 13 0">
            <a:extLst xmlns:a="http://schemas.openxmlformats.org/drawingml/2006/main">
              <a:ext uri="{FF2B5EF4-FFF2-40B4-BE49-F238E27FC236}">
                <a16:creationId xmlns:a16="http://schemas.microsoft.com/office/drawing/2014/main" id="{949D4054-B953-433F-9A59-79AAFDB8D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51" y="5491163"/>
            <a:ext cx="1045028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6" name="Row rule 13">
            <a:extLst xmlns:a="http://schemas.openxmlformats.org/drawingml/2006/main">
              <a:ext uri="{FF2B5EF4-FFF2-40B4-BE49-F238E27FC236}">
                <a16:creationId xmlns:a16="http://schemas.microsoft.com/office/drawing/2014/main" id="{56543474-FCE5-4015-BE33-62956D5D9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66737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7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FCE90F28-A2FB-4069-BC37-57612F1D1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8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D076AB04-93E1-4567-9A44-9F8FA8148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139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5B3A2664-3B7D-42E4-9320-2C98D069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0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2CE459B6-DEB0-412E-A788-29AE066ED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141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F27CCD18-5481-492E-A947-DE3F4EA90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2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947E6E90-5596-4D28-9E67-313BD8390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143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AE4C3283-B933-4E72-82D8-51C158299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4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AB1CD595-7544-469F-8256-7FE6523E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145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E688A77E-3C7B-4566-96A9-B26A9972D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46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F49CABAD-7A27-4C75-9F18-5C4D2A6AA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147" name="Date stamp">
            <a:extLst xmlns:a="http://schemas.openxmlformats.org/drawingml/2006/main">
              <a:ext uri="{FF2B5EF4-FFF2-40B4-BE49-F238E27FC236}">
                <a16:creationId xmlns:a16="http://schemas.microsoft.com/office/drawing/2014/main" id="{F3EF7702-B48F-4E8E-83A9-E0D9E8DFB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22, 2026</a:t>
            </a:r>
          </a:p>
        </p:txBody>
      </p:sp>
      <p:sp>
        <p:nvSpPr>
          <p:cNvPr id="148" name="Footer 1">
            <a:extLst xmlns:a="http://schemas.openxmlformats.org/drawingml/2006/main">
              <a:ext uri="{FF2B5EF4-FFF2-40B4-BE49-F238E27FC236}">
                <a16:creationId xmlns:a16="http://schemas.microsoft.com/office/drawing/2014/main" id="{02C19714-DA7F-465F-8155-55B3AC82B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October 7 milestone: agree what alignment means for this study, how to measure it, and the first Stage 3 fusion comparison.</a:t>
            </a:r>
          </a:p>
        </p:txBody>
      </p:sp>
      <p:sp>
        <p:nvSpPr>
          <p:cNvPr id="149" name="Footer 2">
            <a:extLst xmlns:a="http://schemas.openxmlformats.org/drawingml/2006/main">
              <a:ext uri="{FF2B5EF4-FFF2-40B4-BE49-F238E27FC236}">
                <a16:creationId xmlns:a16="http://schemas.microsoft.com/office/drawing/2014/main" id="{4A68017A-A952-4625-BCAE-87EA9750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The following week is reserved for feedback and corrections. Continued study informs the experiments and manuscript.</a:t>
            </a:r>
          </a:p>
        </p:txBody>
      </p:sp>
      <p:sp>
        <p:nvSpPr>
          <p:cNvPr id="150" name="Page">
            <a:extLst xmlns:a="http://schemas.openxmlformats.org/drawingml/2006/main">
              <a:ext uri="{FF2B5EF4-FFF2-40B4-BE49-F238E27FC236}">
                <a16:creationId xmlns:a16="http://schemas.microsoft.com/office/drawing/2014/main" id="{577AFB4D-4F1B-496A-ACFE-8DD2EB7C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00240092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itle">
            <a:extLst xmlns:a="http://schemas.openxmlformats.org/drawingml/2006/main">
              <a:ext uri="{FF2B5EF4-FFF2-40B4-BE49-F238E27FC236}">
                <a16:creationId xmlns:a16="http://schemas.microsoft.com/office/drawing/2014/main" id="{90513592-B61D-466C-9272-5F44351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61925"/>
            <a:ext cx="11601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Stages 3 and 4 | Fusion Experiments, Evaluation and Revision</a:t>
            </a:r>
          </a:p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7ED397-6B14-47AD-A8CF-07F20FB6C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025"/>
            <a:ext cx="11601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Comparison schedule with the research plan first: its baselines, control and datasets, then the project's fusion designs from January.</a:t>
            </a:r>
          </a:p>
        </p:txBody>
      </p:sp>
      <p:sp>
        <p:nvSpPr>
          <p:cNvPr id="3" name="Column header">
            <a:extLst xmlns:a="http://schemas.openxmlformats.org/drawingml/2006/main">
              <a:ext uri="{FF2B5EF4-FFF2-40B4-BE49-F238E27FC236}">
                <a16:creationId xmlns:a16="http://schemas.microsoft.com/office/drawing/2014/main" id="{698B6E1D-B398-4E30-BAEB-882792CE4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11525250" cy="295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4D4D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4" name="Task header">
            <a:extLst xmlns:a="http://schemas.openxmlformats.org/drawingml/2006/main">
              <a:ext uri="{FF2B5EF4-FFF2-40B4-BE49-F238E27FC236}">
                <a16:creationId xmlns:a16="http://schemas.microsoft.com/office/drawing/2014/main" id="{4BAD35A8-80AB-46B0-ACE7-11C42299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990600"/>
            <a:ext cx="433387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Task / research outcome</a:t>
            </a:r>
          </a:p>
        </p:txBody>
      </p:sp>
      <p:sp>
        <p:nvSpPr>
          <p:cNvPr id="5" name="Status header">
            <a:extLst xmlns:a="http://schemas.openxmlformats.org/drawingml/2006/main">
              <a:ext uri="{FF2B5EF4-FFF2-40B4-BE49-F238E27FC236}">
                <a16:creationId xmlns:a16="http://schemas.microsoft.com/office/drawing/2014/main" id="{6C80C196-45B7-404D-A8DF-A6EE829D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990600"/>
            <a:ext cx="838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Status</a:t>
            </a:r>
          </a:p>
        </p:txBody>
      </p:sp>
      <p:sp>
        <p:nvSpPr>
          <p:cNvPr id="6" name="Date header">
            <a:extLst xmlns:a="http://schemas.openxmlformats.org/drawingml/2006/main">
              <a:ext uri="{FF2B5EF4-FFF2-40B4-BE49-F238E27FC236}">
                <a16:creationId xmlns:a16="http://schemas.microsoft.com/office/drawing/2014/main" id="{0BF201B5-FB6C-4E0B-9ECD-C5F907DB5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990600"/>
            <a:ext cx="857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Dates</a:t>
            </a:r>
          </a:p>
        </p:txBody>
      </p:sp>
      <p:sp>
        <p:nvSpPr>
          <p:cNvPr id="210" name="Legend swatch Complete">
            <a:extLst xmlns:a="http://schemas.openxmlformats.org/drawingml/2006/main">
              <a:ext uri="{FF2B5EF4-FFF2-40B4-BE49-F238E27FC236}">
                <a16:creationId xmlns:a16="http://schemas.microsoft.com/office/drawing/2014/main" id="{D2B5D12F-9C2A-4896-A2A5-865E50DC8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1" name="Legend Complete">
            <a:extLst xmlns:a="http://schemas.openxmlformats.org/drawingml/2006/main">
              <a:ext uri="{FF2B5EF4-FFF2-40B4-BE49-F238E27FC236}">
                <a16:creationId xmlns:a16="http://schemas.microsoft.com/office/drawing/2014/main" id="{8A3F67C0-6065-4174-A593-9A2207A72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212" name="Legend swatch In progress">
            <a:extLst xmlns:a="http://schemas.openxmlformats.org/drawingml/2006/main">
              <a:ext uri="{FF2B5EF4-FFF2-40B4-BE49-F238E27FC236}">
                <a16:creationId xmlns:a16="http://schemas.microsoft.com/office/drawing/2014/main" id="{7202B8DF-008E-47F8-94D1-14EBF93CA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452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3" name="Legend In progress">
            <a:extLst xmlns:a="http://schemas.openxmlformats.org/drawingml/2006/main">
              <a:ext uri="{FF2B5EF4-FFF2-40B4-BE49-F238E27FC236}">
                <a16:creationId xmlns:a16="http://schemas.microsoft.com/office/drawing/2014/main" id="{CC1F3AE9-9636-4CD1-BB3F-D896E5C13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214" name="Legend swatch Planned">
            <a:extLst xmlns:a="http://schemas.openxmlformats.org/drawingml/2006/main">
              <a:ext uri="{FF2B5EF4-FFF2-40B4-BE49-F238E27FC236}">
                <a16:creationId xmlns:a16="http://schemas.microsoft.com/office/drawing/2014/main" id="{83A4B281-1096-49EF-905E-0EB458D8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5" name="Legend Planned">
            <a:extLst xmlns:a="http://schemas.openxmlformats.org/drawingml/2006/main">
              <a:ext uri="{FF2B5EF4-FFF2-40B4-BE49-F238E27FC236}">
                <a16:creationId xmlns:a16="http://schemas.microsoft.com/office/drawing/2014/main" id="{5EA9DE9D-EBD8-44E6-A82E-900FB6D1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1425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216" name="Legend swatch Conditional">
            <a:extLst xmlns:a="http://schemas.openxmlformats.org/drawingml/2006/main">
              <a:ext uri="{FF2B5EF4-FFF2-40B4-BE49-F238E27FC236}">
                <a16:creationId xmlns:a16="http://schemas.microsoft.com/office/drawing/2014/main" id="{0C0E0BF3-7E42-41E4-A1A4-F48A69049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5943600"/>
            <a:ext cx="219075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7" name="Legend Conditional">
            <a:extLst xmlns:a="http://schemas.openxmlformats.org/drawingml/2006/main">
              <a:ext uri="{FF2B5EF4-FFF2-40B4-BE49-F238E27FC236}">
                <a16:creationId xmlns:a16="http://schemas.microsoft.com/office/drawing/2014/main" id="{4AC8451C-4FA9-4D69-B7F6-79A70224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5905500"/>
            <a:ext cx="1285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218" name="Milestone legend">
            <a:extLst xmlns:a="http://schemas.openxmlformats.org/drawingml/2006/main">
              <a:ext uri="{FF2B5EF4-FFF2-40B4-BE49-F238E27FC236}">
                <a16:creationId xmlns:a16="http://schemas.microsoft.com/office/drawing/2014/main" id="{F4198B37-7CBF-4DA8-8040-BD4326905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5943600"/>
            <a:ext cx="95250" cy="952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219" name="Milestone legend text">
            <a:extLst xmlns:a="http://schemas.openxmlformats.org/drawingml/2006/main">
              <a:ext uri="{FF2B5EF4-FFF2-40B4-BE49-F238E27FC236}">
                <a16:creationId xmlns:a16="http://schemas.microsoft.com/office/drawing/2014/main" id="{C67AF67B-2431-48DD-921B-AC661E1D1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905500"/>
            <a:ext cx="1714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Milestone / deadline</a:t>
            </a:r>
          </a:p>
        </p:txBody>
      </p:sp>
      <p:sp>
        <p:nvSpPr>
          <p:cNvPr id="220" name="Date stamp">
            <a:extLst xmlns:a="http://schemas.openxmlformats.org/drawingml/2006/main">
              <a:ext uri="{FF2B5EF4-FFF2-40B4-BE49-F238E27FC236}">
                <a16:creationId xmlns:a16="http://schemas.microsoft.com/office/drawing/2014/main" id="{8DA0DB20-034D-40CC-AD91-18F8F4FA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905500"/>
            <a:ext cx="200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863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As of Oct 22, 2026</a:t>
            </a:r>
          </a:p>
        </p:txBody>
      </p:sp>
      <p:sp>
        <p:nvSpPr>
          <p:cNvPr id="221" name="Footer 1">
            <a:extLst xmlns:a="http://schemas.openxmlformats.org/drawingml/2006/main">
              <a:ext uri="{FF2B5EF4-FFF2-40B4-BE49-F238E27FC236}">
                <a16:creationId xmlns:a16="http://schemas.microsoft.com/office/drawing/2014/main" id="{4265C70D-72FB-4FD2-B93A-59B01BEEF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238875"/>
            <a:ext cx="11525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222222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222222"/>
                </a:solidFill>
                <a:latin typeface="Arial"/>
                <a:ea typeface="Arial"/>
                <a:cs typeface="Arial"/>
              </a:rPr>
              <a:t>Each comparison includes implementation, controlled runs, interpretation, revision and an update to the manuscript.</a:t>
            </a:r>
          </a:p>
        </p:txBody>
      </p:sp>
      <p:sp>
        <p:nvSpPr>
          <p:cNvPr id="222" name="Footer 2">
            <a:extLst xmlns:a="http://schemas.openxmlformats.org/drawingml/2006/main">
              <a:ext uri="{FF2B5EF4-FFF2-40B4-BE49-F238E27FC236}">
                <a16:creationId xmlns:a16="http://schemas.microsoft.com/office/drawing/2014/main" id="{C14B75ED-B014-48D5-ADA0-A3F91BB26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515100"/>
            <a:ext cx="112871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840" b="0">
                <a:solidFill>
                  <a:srgbClr val="444444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444444"/>
                </a:solidFill>
                <a:latin typeface="Arial"/>
                <a:ea typeface="Arial"/>
                <a:cs typeface="Arial"/>
              </a:rPr>
              <a:t>AI assistance: OpenAI Codex helped organize this plan; Claude assisted with the DNA-scope revision and the October status updates. Dates and task descriptions were checked against course materials and project notes.</a:t>
            </a:r>
          </a:p>
        </p:txBody>
      </p:sp>
      <p:sp>
        <p:nvSpPr>
          <p:cNvPr id="223" name="Page">
            <a:extLst xmlns:a="http://schemas.openxmlformats.org/drawingml/2006/main">
              <a:ext uri="{FF2B5EF4-FFF2-40B4-BE49-F238E27FC236}">
                <a16:creationId xmlns:a16="http://schemas.microsoft.com/office/drawing/2014/main" id="{9F0B9AB2-7FC2-4CBC-B806-3DE074FE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0" y="6600825"/>
            <a:ext cx="228600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5588" name="Week 2026-10-05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10/5</a:t>
            </a:r>
          </a:p>
        </p:txBody>
      </p:sp>
      <p:sp>
        <p:nvSpPr>
          <p:cNvPr id="5589" name="Week 2026-10-1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</a:t>
            </a:r>
          </a:p>
        </p:txBody>
      </p:sp>
      <p:sp>
        <p:nvSpPr>
          <p:cNvPr id="5590" name="Week 2026-10-1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</a:t>
            </a:r>
          </a:p>
        </p:txBody>
      </p:sp>
      <p:sp>
        <p:nvSpPr>
          <p:cNvPr id="5591" name="Week 2026-10-2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10/26</a:t>
            </a:r>
          </a:p>
        </p:txBody>
      </p:sp>
      <p:sp>
        <p:nvSpPr>
          <p:cNvPr id="5592" name="Week 2026-11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</a:t>
            </a:r>
          </a:p>
        </p:txBody>
      </p:sp>
      <p:sp>
        <p:nvSpPr>
          <p:cNvPr id="5593" name="Week 2026-11-09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</a:t>
            </a:r>
          </a:p>
        </p:txBody>
      </p:sp>
      <p:sp>
        <p:nvSpPr>
          <p:cNvPr id="5594" name="Week 2026-11-16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</a:t>
            </a:r>
          </a:p>
        </p:txBody>
      </p:sp>
      <p:sp>
        <p:nvSpPr>
          <p:cNvPr id="5595" name="Week 2026-11-2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11/23</a:t>
            </a:r>
          </a:p>
        </p:txBody>
      </p:sp>
      <p:sp>
        <p:nvSpPr>
          <p:cNvPr id="5596" name="Week 2026-11-30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11/30</a:t>
            </a:r>
          </a:p>
        </p:txBody>
      </p:sp>
      <p:sp>
        <p:nvSpPr>
          <p:cNvPr id="5597" name="Week 2026-12-07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12/7</a:t>
            </a:r>
          </a:p>
        </p:txBody>
      </p:sp>
      <p:sp>
        <p:nvSpPr>
          <p:cNvPr id="5598" name="Week 2026-12-14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990600"/>
            <a:ext cx="3830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12/14</a:t>
            </a:r>
          </a:p>
        </p:txBody>
      </p:sp>
      <p:sp>
        <p:nvSpPr>
          <p:cNvPr id="5599" name="Month 2027-01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5600" name="Month 2027-02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Feb</a:t>
            </a:r>
          </a:p>
        </p:txBody>
      </p:sp>
      <p:sp>
        <p:nvSpPr>
          <p:cNvPr id="5601" name="Month 2027-03">
            <a:extLst xmlns:a="http://schemas.openxmlformats.org/drawingml/2006/main">
              <a:ext uri="{FF2B5EF4-FFF2-40B4-BE49-F238E27FC236}">
                <a16:creationId xmlns:a16="http://schemas.microsoft.com/office/drawing/2014/main" id="{4AF17D77-C0F7-4BA8-A05E-AFA2007F4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990600"/>
            <a:ext cx="427641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5602" name="Section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28587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03" name="Section title The research plan first: baselines, control and dataset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28587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research plan first: baselines, control and datasets</a:t>
            </a:r>
          </a:p>
        </p:txBody>
      </p:sp>
      <p:sp>
        <p:nvSpPr>
          <p:cNvPr id="5604" name="Week rule 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5" name="Week rule 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6" name="Week rule 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7" name="Week rule 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8" name="Week rule 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09" name="Week rule 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0" name="Week rule 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1" name="Week rule 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2" name="Week rule 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3" name="Week rule 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4" name="Week rule 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5" name="Week rule 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6" name="Week rule 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7" name="Week rule 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50495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18" name="Task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50495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16. Harden single-model and simple-fusion baselines</a:t>
            </a:r>
          </a:p>
        </p:txBody>
      </p:sp>
      <p:sp>
        <p:nvSpPr>
          <p:cNvPr id="5619" name="Statu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50495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20" name="Dates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50495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10/6-10/11</a:t>
            </a:r>
          </a:p>
        </p:txBody>
      </p:sp>
      <p:sp>
        <p:nvSpPr>
          <p:cNvPr id="5621" name="Bar 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1559858"/>
            <a:ext cx="328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2" name="Row rule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3" name="Row tint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1954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24" name="Week rule 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5" name="Week rule 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6" name="Week rule 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7" name="Week rule 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8" name="Week rule 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29" name="Week rule 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0" name="Week rule 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1" name="Week rule 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2" name="Week rule 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3" name="Week rule 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4" name="Week rule 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5" name="Week rule 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6" name="Week rule 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7" name="Week rule 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71954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38" name="Task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71954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17. Reproduce BioLangFusion, five datasets (item 1, Phase A)</a:t>
            </a:r>
          </a:p>
        </p:txBody>
      </p:sp>
      <p:sp>
        <p:nvSpPr>
          <p:cNvPr id="5639" name="Statu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71954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40" name="Dates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71954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10/12-10/25</a:t>
            </a:r>
          </a:p>
        </p:txBody>
      </p:sp>
      <p:sp>
        <p:nvSpPr>
          <p:cNvPr id="5641" name="Bar 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77445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42" name="Row rule 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93413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3" name="Week rule 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4" name="Week rule 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5" name="Week rule 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6" name="Week rule 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7" name="Week rule 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8" name="Week rule 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49" name="Week rule 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0" name="Week rule 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1" name="Week rule 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2" name="Week rule 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3" name="Week rule 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4" name="Week rule 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5" name="Week rule 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6" name="Week rule 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193413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57" name="Task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193413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18. Diagnostics and controls, mRFP in parallel (item 5)</a:t>
            </a:r>
          </a:p>
        </p:txBody>
      </p:sp>
      <p:sp>
        <p:nvSpPr>
          <p:cNvPr id="5658" name="Statu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193413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Complete</a:t>
            </a:r>
          </a:p>
        </p:txBody>
      </p:sp>
      <p:sp>
        <p:nvSpPr>
          <p:cNvPr id="5659" name="Dates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193413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10/12-10/18</a:t>
            </a:r>
          </a:p>
        </p:txBody>
      </p:sp>
      <p:sp>
        <p:nvSpPr>
          <p:cNvPr id="5660" name="Bar 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1989042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95959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1" name="Row rule 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2" name="Row tint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148726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63" name="Week rule 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4" name="Week rule 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5" name="Week rule 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6" name="Week rule 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7" name="Week rule 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8" name="Week rule 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69" name="Week rule 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0" name="Week rule 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1" name="Week rule 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2" name="Week rule 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3" name="Week rule 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4" name="Week rule 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5" name="Week rule 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6" name="Week rule 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148726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77" name="Task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148726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19. Interpret baselines and revise the next experiment</a:t>
            </a:r>
          </a:p>
        </p:txBody>
      </p:sp>
      <p:sp>
        <p:nvSpPr>
          <p:cNvPr id="5678" name="Statu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48726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679" name="Dates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148726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10/19-10/25</a:t>
            </a:r>
          </a:p>
        </p:txBody>
      </p:sp>
      <p:sp>
        <p:nvSpPr>
          <p:cNvPr id="5680" name="Bar 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203634"/>
            <a:ext cx="383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681" name="Row rule 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363318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2" name="Week rule 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3" name="Week rule 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4" name="Week rule 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5" name="Week rule 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6" name="Week rule 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7" name="Week rule 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8" name="Week rule 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89" name="Week rule 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0" name="Week rule 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1" name="Week rule 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2" name="Week rule 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3" name="Week rule 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4" name="Week rule 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5" name="Week rule 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363318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96" name="Task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363318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24. Encoder swaps in the reproduction (item 1, Phase B)</a:t>
            </a:r>
          </a:p>
        </p:txBody>
      </p:sp>
      <p:sp>
        <p:nvSpPr>
          <p:cNvPr id="5697" name="Statu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363318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698" name="Dates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363318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10/20-11/8</a:t>
            </a:r>
          </a:p>
        </p:txBody>
      </p:sp>
      <p:sp>
        <p:nvSpPr>
          <p:cNvPr id="5699" name="Bar 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418226"/>
            <a:ext cx="1149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0" name="Row rule 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1" name="Row tint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577910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02" name="Week rule 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3" name="Week rule 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4" name="Week rule 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5" name="Week rule 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6" name="Week rule 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7" name="Week rule 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8" name="Week rule 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09" name="Week rule 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0" name="Week rule 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1" name="Week rule 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2" name="Week rule 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3" name="Week rule 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4" name="Week rule 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5" name="Week rule 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57791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16" name="Task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57791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41. LucaOne frozen baseline, stability and GTEx (item 2)</a:t>
            </a:r>
          </a:p>
        </p:txBody>
      </p:sp>
      <p:sp>
        <p:nvSpPr>
          <p:cNvPr id="5717" name="Statu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57791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18" name="Dates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57791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10/22-11/22</a:t>
            </a:r>
          </a:p>
        </p:txBody>
      </p:sp>
      <p:sp>
        <p:nvSpPr>
          <p:cNvPr id="5719" name="Bar 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632818"/>
            <a:ext cx="1915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20" name="Row rule 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79250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1" name="Week rule 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2" name="Week rule 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3" name="Week rule 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4" name="Week rule 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5" name="Week rule 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6" name="Week rule 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7" name="Week rule 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8" name="Week rule 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29" name="Week rule 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0" name="Week rule 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1" name="Week rule 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2" name="Week rule 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3" name="Week rule 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4" name="Week rule 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279250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35" name="Task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279250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44. IsoFormer reproduced on GTEx (baseline)</a:t>
            </a:r>
          </a:p>
        </p:txBody>
      </p:sp>
      <p:sp>
        <p:nvSpPr>
          <p:cNvPr id="5736" name="Statu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79250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37" name="Dates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279250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11/9-11/22</a:t>
            </a:r>
          </a:p>
        </p:txBody>
      </p:sp>
      <p:sp>
        <p:nvSpPr>
          <p:cNvPr id="5738" name="Bar 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2847410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39" name="Row rule 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0" name="Row tint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007094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41" name="Week rule 7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2" name="Week rule 7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3" name="Week rule 7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4" name="Week rule 7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5" name="Week rule 7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6" name="Week rule 7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7" name="Week rule 7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8" name="Week rule 7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49" name="Week rule 7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0" name="Week rule 7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1" name="Week rule 7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2" name="Week rule 7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3" name="Week rule 7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4" name="Week rule 7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00709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55" name="Task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00709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42. Half-life and translation efficiency (items 3 and 4)</a:t>
            </a:r>
          </a:p>
        </p:txBody>
      </p:sp>
      <p:sp>
        <p:nvSpPr>
          <p:cNvPr id="5756" name="Statu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00709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57" name="Dates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00709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10/22-12/20</a:t>
            </a:r>
          </a:p>
        </p:txBody>
      </p:sp>
      <p:sp>
        <p:nvSpPr>
          <p:cNvPr id="5758" name="Bar 7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062002"/>
            <a:ext cx="3447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59" name="Row rule 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0" name="Section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2168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61" name="Section title Repeated runs, interpretation and revision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22168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Repeated runs, interpretation and revision</a:t>
            </a:r>
          </a:p>
        </p:txBody>
      </p:sp>
      <p:sp>
        <p:nvSpPr>
          <p:cNvPr id="5762" name="Week rule 8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3" name="Week rule 8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4" name="Week rule 8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5" name="Week rule 8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6" name="Week rule 8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7" name="Week rule 8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8" name="Week rule 8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69" name="Week rule 8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0" name="Week rule 8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1" name="Week rule 8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2" name="Week rule 8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3" name="Week rule 8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4" name="Week rule 8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5" name="Week rule 8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44076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76" name="Task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44076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28. Repeat runs, quantify uncertainty and revise claims</a:t>
            </a:r>
          </a:p>
        </p:txBody>
      </p:sp>
      <p:sp>
        <p:nvSpPr>
          <p:cNvPr id="5777" name="Statu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44076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In progress</a:t>
            </a:r>
          </a:p>
        </p:txBody>
      </p:sp>
      <p:sp>
        <p:nvSpPr>
          <p:cNvPr id="5778" name="Dates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44076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10/12-11/22</a:t>
            </a:r>
          </a:p>
        </p:txBody>
      </p:sp>
      <p:sp>
        <p:nvSpPr>
          <p:cNvPr id="5779" name="Bar 8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495669"/>
            <a:ext cx="2298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A323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0" name="Row rule 8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1" name="Row tint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655353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782" name="Week rule 9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3" name="Week rule 9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4" name="Week rule 9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5" name="Week rule 9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6" name="Week rule 9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7" name="Week rule 9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8" name="Week rule 9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89" name="Week rule 9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0" name="Week rule 9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1" name="Week rule 9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2" name="Week rule 9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3" name="Week rule 9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4" name="Week rule 9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5" name="Week rule 9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365535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96" name="Task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65535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29. Synthesize findings, limitations and next steps</a:t>
            </a:r>
          </a:p>
        </p:txBody>
      </p:sp>
      <p:sp>
        <p:nvSpPr>
          <p:cNvPr id="5797" name="Statu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365535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798" name="Dates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365535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11/16-11/29</a:t>
            </a:r>
          </a:p>
        </p:txBody>
      </p:sp>
      <p:sp>
        <p:nvSpPr>
          <p:cNvPr id="5799" name="Bar 9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3710261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0" name="Row rule 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1" name="Section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869945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02" name="Section title The project's fusion designs, after the baselines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3869945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The project's fusion designs, after the baselines</a:t>
            </a:r>
          </a:p>
        </p:txBody>
      </p:sp>
      <p:sp>
        <p:nvSpPr>
          <p:cNvPr id="5803" name="Week rule 10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4" name="Week rule 10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5" name="Week rule 10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6" name="Week rule 10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7" name="Week rule 10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8" name="Week rule 10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09" name="Week rule 10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0" name="Week rule 10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1" name="Week rule 10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2" name="Week rule 10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3" name="Week rule 10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4" name="Week rule 10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5" name="Week rule 10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6" name="Week rule 10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089020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17" name="Task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089020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20. Prepare Coupled Mamba inputs and feasibility tests</a:t>
            </a:r>
          </a:p>
        </p:txBody>
      </p:sp>
      <p:sp>
        <p:nvSpPr>
          <p:cNvPr id="5818" name="Statu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089020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19" name="Dates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089020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1/4-1/17</a:t>
            </a:r>
          </a:p>
        </p:txBody>
      </p:sp>
      <p:sp>
        <p:nvSpPr>
          <p:cNvPr id="5820" name="Bar 10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143928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1" name="Row rule 1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2" name="Row tint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303612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23" name="Week rule 11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4" name="Week rule 11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5" name="Week rule 11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6" name="Week rule 11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7" name="Week rule 11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8" name="Week rule 11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29" name="Week rule 11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0" name="Week rule 11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1" name="Week rule 11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2" name="Week rule 11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3" name="Week rule 11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4" name="Week rule 11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5" name="Week rule 11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6" name="Week rule 11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303612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37" name="Task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303612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21. Compare Coupled Mamba with the plan's baselines</a:t>
            </a:r>
          </a:p>
        </p:txBody>
      </p:sp>
      <p:sp>
        <p:nvSpPr>
          <p:cNvPr id="5838" name="Statu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303612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39" name="Dates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303612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1/18-2/7</a:t>
            </a:r>
          </a:p>
        </p:txBody>
      </p:sp>
      <p:sp>
        <p:nvSpPr>
          <p:cNvPr id="5840" name="Bar 11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79995" y="4358520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41" name="Row rule 1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18204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2" name="Week rule 12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3" name="Week rule 12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4" name="Week rule 12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5" name="Week rule 12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6" name="Week rule 12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7" name="Week rule 12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8" name="Week rule 12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49" name="Week rule 12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0" name="Week rule 12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1" name="Week rule 12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2" name="Week rule 12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3" name="Week rule 12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4" name="Week rule 12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5" name="Week rule 12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518204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56" name="Task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518204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25. IsoFormer-style cross-attention fusion</a:t>
            </a:r>
          </a:p>
        </p:txBody>
      </p:sp>
      <p:sp>
        <p:nvSpPr>
          <p:cNvPr id="5857" name="Statu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518204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Planned</a:t>
            </a:r>
          </a:p>
        </p:txBody>
      </p:sp>
      <p:sp>
        <p:nvSpPr>
          <p:cNvPr id="5858" name="Dates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518204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2/8-2/28</a:t>
            </a:r>
          </a:p>
        </p:txBody>
      </p:sp>
      <p:sp>
        <p:nvSpPr>
          <p:cNvPr id="5859" name="Bar 12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4573112"/>
            <a:ext cx="320731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BEC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0" name="Row rule 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1" name="Section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732796"/>
            <a:ext cx="11525250" cy="2190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4EA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2" name="Section title Optional comparisons | Subject to scope and feasibility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732796"/>
            <a:ext cx="11468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Optional comparisons | Subject to scope and feasibility</a:t>
            </a:r>
          </a:p>
        </p:txBody>
      </p:sp>
      <p:sp>
        <p:nvSpPr>
          <p:cNvPr id="5863" name="Row tint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51871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864" name="Week rule 13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5" name="Week rule 13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6" name="Week rule 13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7" name="Week rule 13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8" name="Week rule 13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69" name="Week rule 13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0" name="Week rule 13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1" name="Week rule 13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2" name="Week rule 13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3" name="Week rule 13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4" name="Week rule 13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5" name="Week rule 13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6" name="Week rule 13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7" name="Week rule 13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4951871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78" name="Task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4951871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22. Layer depth and PCA/variance comparisons</a:t>
            </a:r>
          </a:p>
        </p:txBody>
      </p:sp>
      <p:sp>
        <p:nvSpPr>
          <p:cNvPr id="5879" name="Statu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4951871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80" name="Dates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4951871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10/19-11/1</a:t>
            </a:r>
          </a:p>
        </p:txBody>
      </p:sp>
      <p:sp>
        <p:nvSpPr>
          <p:cNvPr id="5881" name="Bar 13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006779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2" name="Row rule 1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66463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3" name="Week rule 14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4" name="Week rule 14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5" name="Week rule 14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6" name="Week rule 14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7" name="Week rule 14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8" name="Week rule 14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89" name="Week rule 14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0" name="Week rule 14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1" name="Week rule 14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2" name="Week rule 14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3" name="Week rule 14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4" name="Week rule 14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5" name="Week rule 14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6" name="Week rule 14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166463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97" name="Task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166463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23. Alignment-objective ablation</a:t>
            </a:r>
          </a:p>
        </p:txBody>
      </p:sp>
      <p:sp>
        <p:nvSpPr>
          <p:cNvPr id="5898" name="Statu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166463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899" name="Dates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166463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2/8-2/21</a:t>
            </a:r>
          </a:p>
        </p:txBody>
      </p:sp>
      <p:sp>
        <p:nvSpPr>
          <p:cNvPr id="5900" name="Bar 14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0727" y="5221371"/>
            <a:ext cx="21382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1" name="Row rule 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2" name="Row tint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381055"/>
            <a:ext cx="11525250" cy="2145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7F7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5903" name="Week rule 15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4" name="Week rule 15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5" name="Week rule 15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6" name="Week rule 15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7" name="Week rule 15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8" name="Week rule 15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09" name="Week rule 15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0" name="Week rule 15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1" name="Week rule 15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2" name="Week rule 15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3" name="Week rule 15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4" name="Week rule 15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5" name="Week rule 15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6" name="Week rule 15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381055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17" name="Task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381055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26. Agree tokenizer benchmark scope and protocol</a:t>
            </a:r>
          </a:p>
        </p:txBody>
      </p:sp>
      <p:sp>
        <p:nvSpPr>
          <p:cNvPr id="5918" name="Statu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381055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19" name="Dates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381055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10/6-10/18</a:t>
            </a:r>
          </a:p>
        </p:txBody>
      </p:sp>
      <p:sp>
        <p:nvSpPr>
          <p:cNvPr id="5920" name="Bar 15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7889" y="5435963"/>
            <a:ext cx="711285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1" name="Row rule 1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95647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2" name="Week rule 16 2026-10-05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3" name="Week rule 16 2026-10-1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3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4" name="Week rule 16 2026-10-1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9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5" name="Week rule 16 2026-10-2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2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6" name="Week rule 16 2026-11-02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7" name="Week rule 16 2026-11-09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8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8" name="Week rule 16 2026-11-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1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29" name="Week rule 16 2026-11-23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4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0" name="Week rule 16 2026-11-3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7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1" name="Week rule 16 2026-12-07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00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2" name="Week rule 16 2026-12-1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3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3" name="Week rule 16 2027-01-04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6175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4" name="Week rule 16 2027-02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3816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5" name="Week rule 16 2027-03-01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1458" y="5595647"/>
            <a:ext cx="0" cy="2145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36" name="Task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" y="5595647"/>
            <a:ext cx="4295775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960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60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27. Lab-tokenizer benchmark pilot</a:t>
            </a:r>
          </a:p>
        </p:txBody>
      </p:sp>
      <p:sp>
        <p:nvSpPr>
          <p:cNvPr id="5937" name="Statu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595647"/>
            <a:ext cx="83820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Conditional</a:t>
            </a:r>
          </a:p>
        </p:txBody>
      </p:sp>
      <p:sp>
        <p:nvSpPr>
          <p:cNvPr id="5938" name="Dates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5925" y="5595647"/>
            <a:ext cx="857250" cy="2145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848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848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11/2-11/15</a:t>
            </a:r>
          </a:p>
        </p:txBody>
      </p:sp>
      <p:sp>
        <p:nvSpPr>
          <p:cNvPr id="5939" name="Bar 16 0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5175" y="5650555"/>
            <a:ext cx="766000" cy="104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6666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40" name="Row rule 16"/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810239"/>
            <a:ext cx="11525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4763">
            <a:solidFill>
              <a:srgbClr val="DADADA"/>
            </a:solidFill>
          </a:ln>
        </p:spPr>
        <p:txBody xmlns:a="http://schemas.openxmlformats.org/drawingml/2006/main">
          <a:bodyPr/>
          <a:p/>
        </p:txBody>
      </p:sp>
    </p:spTree>
    <p:extLst>
      <p:ext uri="{BB962C8B-B14F-4D97-AF65-F5344CB8AC3E}">
        <p14:creationId xmlns:p14="http://schemas.microsoft.com/office/powerpoint/2010/main" val="151603772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2026-09-27T03:31:25.9170000Z</dcterms:created>
  <dcterms:modified xsi:type="dcterms:W3CDTF">2026-09-27T03:31:25.9170000Z</dcterms:modified>
</coreProperties>
</file>