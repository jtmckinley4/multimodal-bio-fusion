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973df2838e104121" Type="http://schemas.openxmlformats.org/officeDocument/2006/relationships/officeDocument" Target="ppt/presentation.xml"/><Relationship Id="Rd937c4f8d3c346d5" Type="http://schemas.openxmlformats.org/officeDocument/2006/relationships/extended-properties" Target="docProps/app.xml"/><Relationship Id="Rec0bff5dd90b45a4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fa38b75706f493e"/>
  </p:sldMasterIdLst>
  <p:notesMasterIdLst>
    <p:notesMasterId xmlns:r="http://schemas.openxmlformats.org/officeDocument/2006/relationships" r:id="R32e8536ebd5844f2"/>
  </p:notesMasterIdLst>
  <p:sldIdLst>
    <p:sldId xmlns:r="http://schemas.openxmlformats.org/officeDocument/2006/relationships" id="256" r:id="R31cdde5dac1d4adf"/>
    <p:sldId xmlns:r="http://schemas.openxmlformats.org/officeDocument/2006/relationships" id="257" r:id="R9d5ad6c125424019"/>
    <p:sldId xmlns:r="http://schemas.openxmlformats.org/officeDocument/2006/relationships" id="258" r:id="R2f07565cddd544be"/>
  </p:sldIdLst>
  <p:sldSz cx="12191695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2c45d6c52b5e477a" Type="http://schemas.openxmlformats.org/officeDocument/2006/relationships/tableStyles" Target="tableStyles.xml"/><Relationship Id="R2cbfae302eed4cc7" Type="http://schemas.openxmlformats.org/officeDocument/2006/relationships/theme" Target="theme/theme1.xml"/><Relationship Id="R2f07565cddd544be" Type="http://schemas.openxmlformats.org/officeDocument/2006/relationships/slide" Target="slides/slide3.xml"/><Relationship Id="R31cdde5dac1d4adf" Type="http://schemas.openxmlformats.org/officeDocument/2006/relationships/slide" Target="slides/slide1.xml"/><Relationship Id="R32e8536ebd5844f2" Type="http://schemas.openxmlformats.org/officeDocument/2006/relationships/notesMaster" Target="notesMasters/notesMaster1.xml"/><Relationship Id="R9d5ad6c125424019" Type="http://schemas.openxmlformats.org/officeDocument/2006/relationships/slide" Target="slides/slide2.xml"/><Relationship Id="Ra9f48024d7c14e7c" Type="http://schemas.openxmlformats.org/officeDocument/2006/relationships/presProps" Target="presProps.xml"/><Relationship Id="Rc86f4db93065457a" Type="http://schemas.openxmlformats.org/officeDocument/2006/relationships/viewProps" Target="viewProps.xml"/><Relationship Id="Rcfa38b75706f493e" Type="http://schemas.openxmlformats.org/officeDocument/2006/relationships/slideMaster" Target="slideMasters/slideMaster1.xml"/></Relationships>
</file>

<file path=ppt/notesMasters/_rels/notesMaster1.xml.rels><?xml version='1.0' encoding='UTF-8' standalone='yes'?>
<Relationships xmlns="http://schemas.openxmlformats.org/package/2006/relationships"><Relationship Id="R994cc7e7a5274643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b165bbb066014e37" Type="http://schemas.openxmlformats.org/officeDocument/2006/relationships/notesMaster" Target="../notesMasters/notesMaster1.xml"/><Relationship Id="Rb54eec95c8b442dd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07d45a98b8424a28" Type="http://schemas.openxmlformats.org/officeDocument/2006/relationships/notesMaster" Target="../notesMasters/notesMaster1.xml"/><Relationship Id="R99d574f9237f463c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2fb5fe6fea5749d6" Type="http://schemas.openxmlformats.org/officeDocument/2006/relationships/notesMaster" Target="../notesMasters/notesMaster1.xml"/><Relationship Id="Ra9487a36515d42a1" Type="http://schemas.openxmlformats.org/officeDocument/2006/relationships/slide" Target="../slides/slide3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Biological Foundation Models | Research Project Plan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initial six-paper review was completed by September 21. Continued discussion and scientific interpretation remain active.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Dates beyond current work are planning windows. September 21 start dates for ongoing tasks are approximate anchors, not reconstructed activity logs.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October 7 is the next planned Mina meeting. The Stage 1 milestone is a working definition of alignment and a decision about the next matched comparison. Specify the objects being aligned, biological question, unit, metric and reference, and what the result can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Stage 1 includes early fusion prototyping to develop understanding. Stage 2 is the proposed structured comparison programme following the review. Feedback may change its scope and timing.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Coupled Mamba priority follows the project README and the September 23 meeting. Optional comparisons are candidates, and the team will select a feasible subset.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Research coordination began September 14. Stage 1 manuscript drafting is underway in Overleaf and continues as methods and findings change.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September 27 deadline covers the bibliography and Research Canvas assignment and the research project plan assignment. December 1, 7 and 8 course dates follow the Fall 2026 CAP6942 schedule; WebCourses controls any changes.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January to March is a provisional continuation window. The research end and publication submission date have not been set.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lab tokenizer and collaborating group still need to be identified. Clarifying the opportunity precedes committing to a benchmark.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 supports literature study, implementation, analysis and writing. Source checking, experiment interpretation and research decisions are included in each relevant work package.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 assistance: OpenAI Codex assisted with organizing and wording this research plan. Dates and task descriptions were compared with the course schedule, project README and team meeting notes.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Stage 1 | Understanding, reproducibility and alignment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Initial six-paper review</a:t>
            </a:r>
          </a:p>
          <a:p xmlns:a="http://schemas.openxmlformats.org/drawingml/2006/main">
            <a:r>
              <a:t>2026-09-07 to 2026-09-21; Complete.</a:t>
            </a:r>
          </a:p>
          <a:p xmlns:a="http://schemas.openxmlformats.org/drawingml/2006/main">
            <a:r>
              <a:t>Expected outcome: Complete the initial six-paper review and retain paper notes for continued interpretation and discussion.</a:t>
            </a:r>
          </a:p>
          <a:p xmlns:a="http://schemas.openxmlformats.org/drawingml/2006/main">
            <a:r>
              <a:t>Prerequisites: None specified.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Continue paper synthesis and notebook walkthrough</a:t>
            </a:r>
          </a:p>
          <a:p xmlns:a="http://schemas.openxmlformats.org/drawingml/2006/main">
            <a:r>
              <a:t>2026-09-21 to 2026-10-05; In progress.</a:t>
            </a:r>
          </a:p>
          <a:p xmlns:a="http://schemas.openxmlformats.org/drawingml/2006/main">
            <a:r>
              <a:t>Expected outcome: Explain biological inputs, frozen encoders, pooling, probes and metrics; connect each retained result to the relevant paper and its limitations.</a:t>
            </a:r>
          </a:p>
          <a:p xmlns:a="http://schemas.openxmlformats.org/drawingml/2006/main">
            <a:r>
              <a:t>Prerequisites: None specified.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Check label meaning, sequence regions and duplicates</a:t>
            </a:r>
          </a:p>
          <a:p xmlns:a="http://schemas.openxmlformats.org/drawingml/2006/main">
            <a:r>
              <a:t>2026-09-21 to 2026-10-04; In progress.</a:t>
            </a:r>
          </a:p>
          <a:p xmlns:a="http://schemas.openxmlformats.org/drawingml/2006/main">
            <a:r>
              <a:t>Expected outcome: Record assay/target provenance, retained rows, sequence regions, duplicates and translation assumptions before drawing biological conclusions.</a:t>
            </a:r>
          </a:p>
          <a:p xmlns:a="http://schemas.openxmlformats.org/drawingml/2006/main">
            <a:r>
              <a:t>Prerequisites: None specified.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Check train/test separation and preprocessing</a:t>
            </a:r>
          </a:p>
          <a:p xmlns:a="http://schemas.openxmlformats.org/drawingml/2006/main">
            <a:r>
              <a:t>2026-09-21 to 2026-10-04; In progress.</a:t>
            </a:r>
          </a:p>
          <a:p xmlns:a="http://schemas.openxmlformats.org/drawingml/2006/main">
            <a:r>
              <a:t>Expected outcome: Identify evaluation unit; check whether duplicate or related sequences cross train/test boundaries and whether fitted preprocessing uses training data only. Document what the split can support.</a:t>
            </a:r>
          </a:p>
          <a:p xmlns:a="http://schemas.openxmlformats.org/drawingml/2006/main">
            <a:r>
              <a:t>Prerequisites: None specified.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5. Trace runs, seeds and reproducibility evidence</a:t>
            </a:r>
          </a:p>
          <a:p xmlns:a="http://schemas.openxmlformats.org/drawingml/2006/main">
            <a:r>
              <a:t>2026-09-21 to 2026-10-04; In progress.</a:t>
            </a:r>
          </a:p>
          <a:p xmlns:a="http://schemas.openxmlformats.org/drawingml/2006/main">
            <a:r>
              <a:t>Expected outcome: Link selected outputs to notebook, data, model revisions, environment, split and seed settings. Compare reruns and investigate differences in results.</a:t>
            </a:r>
          </a:p>
          <a:p xmlns:a="http://schemas.openxmlformats.org/drawingml/2006/main">
            <a:r>
              <a:t>Prerequisites: None specified.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6. Interpret representation metrics and pilot findings</a:t>
            </a:r>
          </a:p>
          <a:p xmlns:a="http://schemas.openxmlformats.org/drawingml/2006/main">
            <a:r>
              <a:t>2026-09-21 to 2026-10-04; In progress.</a:t>
            </a:r>
          </a:p>
          <a:p xmlns:a="http://schemas.openxmlformats.org/drawingml/2006/main">
            <a:r>
              <a:t>Expected outcome: Explain what CKA, neighborhood, CCA/retrieval and predictive probes measure; distinguish observations from explanations. Prepare PCA/variance and layer-choice questions for Mina.</a:t>
            </a:r>
          </a:p>
          <a:p xmlns:a="http://schemas.openxmlformats.org/drawingml/2006/main">
            <a:r>
              <a:t>Prerequisites: None specified.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7. Draft an operational definition of alignment</a:t>
            </a:r>
          </a:p>
          <a:p xmlns:a="http://schemas.openxmlformats.org/drawingml/2006/main">
            <a:r>
              <a:t>2026-09-21 to 2026-10-04; In progress.</a:t>
            </a:r>
          </a:p>
          <a:p xmlns:a="http://schemas.openxmlformats.org/drawingml/2006/main">
            <a:r>
              <a:t>Expected outcome: Define objects being related, biological correspondence versus representation similarity, sample/position unit, metric, reference or null, and permitted conclusions. Keep useful fusion as a separate test.</a:t>
            </a:r>
          </a:p>
          <a:p xmlns:a="http://schemas.openxmlformats.org/drawingml/2006/main">
            <a:r>
              <a:t>Prerequisites: None specified.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8. Map BioLangFusion methods to our inputs</a:t>
            </a:r>
          </a:p>
          <a:p xmlns:a="http://schemas.openxmlformats.org/drawingml/2006/main">
            <a:r>
              <a:t>2026-09-28 to 2026-09-30; Planned.</a:t>
            </a:r>
          </a:p>
          <a:p xmlns:a="http://schemas.openxmlformats.org/drawingml/2006/main">
            <a:r>
              <a:t>Expected outcome: Compare paper and local checkpoints, tokenization, sequence regions, codon mapping, pooling, labels, splits and metrics. Document the changes needed to adapt the method to our inputs.</a:t>
            </a:r>
          </a:p>
          <a:p xmlns:a="http://schemas.openxmlformats.org/drawingml/2006/main">
            <a:r>
              <a:t>Prerequisites: None specified.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9. Build and check a BioLangFusion methods pilot</a:t>
            </a:r>
          </a:p>
          <a:p xmlns:a="http://schemas.openxmlformats.org/drawingml/2006/main">
            <a:r>
              <a:t>2026-10-01 to 2026-10-04; Planned.</a:t>
            </a:r>
          </a:p>
          <a:p xmlns:a="http://schemas.openxmlformats.org/drawingml/2006/main">
            <a:r>
              <a:t>Expected outcome: Test input/feature correspondence and selected simple fusion methods in a small prototype. Compare outputs with controls and bring feasibility findings and deviations from the paper to the October 7 review.</a:t>
            </a:r>
          </a:p>
          <a:p xmlns:a="http://schemas.openxmlformats.org/drawingml/2006/main">
            <a:r>
              <a:t>Prerequisites: 8.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13. Oct 7 review and working alignment definition</a:t>
            </a:r>
          </a:p>
          <a:p xmlns:a="http://schemas.openxmlformats.org/drawingml/2006/main">
            <a:r>
              <a:t>2026-10-07 to 2026-10-07; Planned.</a:t>
            </a:r>
          </a:p>
          <a:p xmlns:a="http://schemas.openxmlformats.org/drawingml/2006/main">
            <a:r>
              <a:t>Expected outcome: Review evidence with Mina and agree a working definition of alignment, its measurements and limits, and the next comparison. Record remaining questions and required revisions.</a:t>
            </a:r>
          </a:p>
          <a:p xmlns:a="http://schemas.openxmlformats.org/drawingml/2006/main">
            <a:r>
              <a:t>Prerequisites: 2, 3, 4, 5, 6, 7, 9, 10, 12.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14. Revise Stage 1 claims, figures and methods</a:t>
            </a:r>
          </a:p>
          <a:p xmlns:a="http://schemas.openxmlformats.org/drawingml/2006/main">
            <a:r>
              <a:t>2026-10-06 to 2026-10-11; Planned.</a:t>
            </a:r>
          </a:p>
          <a:p xmlns:a="http://schemas.openxmlformats.org/drawingml/2006/main">
            <a:r>
              <a:t>Expected outcome: Incorporate Mina’s feedback in the notebook explanations and manuscript; correct unsupported interpretations and identify specific reruns or experiments needed.</a:t>
            </a:r>
          </a:p>
          <a:p xmlns:a="http://schemas.openxmlformats.org/drawingml/2006/main">
            <a:r>
              <a:t>Prerequisites: 13.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15. Specify the first matched comparison protocol</a:t>
            </a:r>
          </a:p>
          <a:p xmlns:a="http://schemas.openxmlformats.org/drawingml/2006/main">
            <a:r>
              <a:t>2026-10-06 to 2026-10-11; Planned.</a:t>
            </a:r>
          </a:p>
          <a:p xmlns:a="http://schemas.openxmlformats.org/drawingml/2006/main">
            <a:r>
              <a:t>Expected outcome: Set biological question, target, evaluation unit, data exclusions, checkpoints, preprocessing, metrics, seeds, tuning budget and success/stop criteria. Architecture priority remains Coupled Mamba; details follow the review.</a:t>
            </a:r>
          </a:p>
          <a:p xmlns:a="http://schemas.openxmlformats.org/drawingml/2006/main">
            <a:r>
              <a:t>Prerequisites: 13.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Stage 2 | Experiments and interpretation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16. Harden single-model and simple-fusion baselines</a:t>
            </a:r>
          </a:p>
          <a:p xmlns:a="http://schemas.openxmlformats.org/drawingml/2006/main">
            <a:r>
              <a:t>2026-10-06 to 2026-10-11; Planned.</a:t>
            </a:r>
          </a:p>
          <a:p xmlns:a="http://schemas.openxmlformats.org/drawingml/2006/main">
            <a:r>
              <a:t>Expected outcome: Prepare comparable single-encoder and concatenation + MLP predictors, input tests and controlled configurations. Keep the original linear concatenation probe distinct. Final comparisons use protocol 15.</a:t>
            </a:r>
          </a:p>
          <a:p xmlns:a="http://schemas.openxmlformats.org/drawingml/2006/main">
            <a:r>
              <a:t>Prerequisites: 13.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17. Run matched BioLangFusion-style comparisons</a:t>
            </a:r>
          </a:p>
          <a:p xmlns:a="http://schemas.openxmlformats.org/drawingml/2006/main">
            <a:r>
              <a:t>2026-10-12 to 2026-10-18; Planned.</a:t>
            </a:r>
          </a:p>
          <a:p xmlns:a="http://schemas.openxmlformats.org/drawingml/2006/main">
            <a:r>
              <a:t>Expected outcome: Compare selected paper-inspired fusion methods and unimodal baselines on the same evaluation data, with adaptations and resources reported. Preserve null or negative results.</a:t>
            </a:r>
          </a:p>
          <a:p xmlns:a="http://schemas.openxmlformats.org/drawingml/2006/main">
            <a:r>
              <a:t>Prerequisites: 9, 15, 16.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20. Prepare Coupled Mamba inputs and feasibility tests</a:t>
            </a:r>
          </a:p>
          <a:p xmlns:a="http://schemas.openxmlformats.org/drawingml/2006/main">
            <a:r>
              <a:t>2026-10-12 to 2026-10-25; Planned.</a:t>
            </a:r>
          </a:p>
          <a:p xmlns:a="http://schemas.openxmlformats.org/drawingml/2006/main">
            <a:r>
              <a:t>Expected outcome: Implement the prioritized architecture with explicit sequence/feature correspondence; test dimensions, controlled cases and resource feasibility while baseline analysis proceeds.</a:t>
            </a:r>
          </a:p>
          <a:p xmlns:a="http://schemas.openxmlformats.org/drawingml/2006/main">
            <a:r>
              <a:t>Prerequisites: 15, 16.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21. Evaluate Coupled Mamba against matched baselines</a:t>
            </a:r>
          </a:p>
          <a:p xmlns:a="http://schemas.openxmlformats.org/drawingml/2006/main">
            <a:r>
              <a:t>2026-10-26 to 2026-11-08; Planned.</a:t>
            </a:r>
          </a:p>
          <a:p xmlns:a="http://schemas.openxmlformats.org/drawingml/2006/main">
            <a:r>
              <a:t>Expected outcome: Compare predictive performance, uncertainty, runtime and memory under the matched evaluation protocol. Interpret gains, losses or unchanged performance against the baseline.</a:t>
            </a:r>
          </a:p>
          <a:p xmlns:a="http://schemas.openxmlformats.org/drawingml/2006/main">
            <a:r>
              <a:t>Prerequisites: 19, 20.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18. Repeat diagnostics and null/control comparisons</a:t>
            </a:r>
          </a:p>
          <a:p xmlns:a="http://schemas.openxmlformats.org/drawingml/2006/main">
            <a:r>
              <a:t>2026-10-12 to 2026-10-18; Planned.</a:t>
            </a:r>
          </a:p>
          <a:p xmlns:a="http://schemas.openxmlformats.org/drawingml/2006/main">
            <a:r>
              <a:t>Expected outcome: Check label/feature controls, synonymous-input behavior and representation diagnostics under the agreed evaluation. Test whether the claimed signal survives the relevant nulls.</a:t>
            </a:r>
          </a:p>
          <a:p xmlns:a="http://schemas.openxmlformats.org/drawingml/2006/main">
            <a:r>
              <a:t>Prerequisites: 14, 15, 16.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19. Interpret baseline findings and revise the next experiment</a:t>
            </a:r>
          </a:p>
          <a:p xmlns:a="http://schemas.openxmlformats.org/drawingml/2006/main">
            <a:r>
              <a:t>2026-10-19 to 2026-10-25; Planned.</a:t>
            </a:r>
          </a:p>
          <a:p xmlns:a="http://schemas.openxmlformats.org/drawingml/2006/main">
            <a:r>
              <a:t>Expected outcome: Compare effect sizes, variation and failure cases; distinguish geometry from predictive complementarity. Revise the question and manuscript before choosing additional complexity.</a:t>
            </a:r>
          </a:p>
          <a:p xmlns:a="http://schemas.openxmlformats.org/drawingml/2006/main">
            <a:r>
              <a:t>Prerequisites: 17, 18.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28. Repeat runs, estimate uncertainty and revise interpretations</a:t>
            </a:r>
          </a:p>
          <a:p xmlns:a="http://schemas.openxmlformats.org/drawingml/2006/main">
            <a:r>
              <a:t>2026-10-12 to 2026-11-22; Planned.</a:t>
            </a:r>
          </a:p>
          <a:p xmlns:a="http://schemas.openxmlformats.org/drawingml/2006/main">
            <a:r>
              <a:t>Expected outcome: Repeat selected configurations as results arrive; investigate variation, leakage or contradictory findings, and revise claims. This spans the experiment cycle rather than following implementation as a single final check.</a:t>
            </a:r>
          </a:p>
          <a:p xmlns:a="http://schemas.openxmlformats.org/drawingml/2006/main">
            <a:r>
              <a:t>Prerequisites: 15, 16.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29. Synthesize evidence, limitations and next decisions</a:t>
            </a:r>
          </a:p>
          <a:p xmlns:a="http://schemas.openxmlformats.org/drawingml/2006/main">
            <a:r>
              <a:t>2026-11-16 to 2026-11-29; Planned.</a:t>
            </a:r>
          </a:p>
          <a:p xmlns:a="http://schemas.openxmlformats.org/drawingml/2006/main">
            <a:r>
              <a:t>Expected outcome: Build a comparison table with sources/runs, uncertainty, resource costs, negative findings and scope limits. Review which conclusions are supported and which further experiments are justified.</a:t>
            </a:r>
          </a:p>
          <a:p xmlns:a="http://schemas.openxmlformats.org/drawingml/2006/main">
            <a:r>
              <a:t>Prerequisites: 19, 21.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22. Candidate layer and PCA/variance comparisons</a:t>
            </a:r>
          </a:p>
          <a:p xmlns:a="http://schemas.openxmlformats.org/drawingml/2006/main">
            <a:r>
              <a:t>2026-10-19 to 2026-11-01; Conditional.</a:t>
            </a:r>
          </a:p>
          <a:p xmlns:a="http://schemas.openxmlformats.org/drawingml/2006/main">
            <a:r>
              <a:t>Expected outcome: After choosing the relevant encoder/layer question, compare selected representations or variance subspaces. Fit any reduction within training data and separate using an earlier layer from truncating or retraining a model.</a:t>
            </a:r>
          </a:p>
          <a:p xmlns:a="http://schemas.openxmlformats.org/drawingml/2006/main">
            <a:r>
              <a:t>Prerequisites: 18.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23. Candidate alignment-objective ablation</a:t>
            </a:r>
          </a:p>
          <a:p xmlns:a="http://schemas.openxmlformats.org/drawingml/2006/main">
            <a:r>
              <a:t>2026-11-02 to 2026-11-08; Conditional.</a:t>
            </a:r>
          </a:p>
          <a:p xmlns:a="http://schemas.openxmlformats.org/drawingml/2006/main">
            <a:r>
              <a:t>Expected outcome: If selected, compare the same fusion setup with and without the specified alignment objective under matched tuning. The pilot’s alignment/error association is not evidence that the loss must help or hurt.</a:t>
            </a:r>
          </a:p>
          <a:p xmlns:a="http://schemas.openxmlformats.org/drawingml/2006/main">
            <a:r>
              <a:t>Prerequisites: 19, 20.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24. Candidate additional RNA-encoder comparisons</a:t>
            </a:r>
          </a:p>
          <a:p xmlns:a="http://schemas.openxmlformats.org/drawingml/2006/main">
            <a:r>
              <a:t>2026-11-09 to 2026-11-15; Conditional.</a:t>
            </a:r>
          </a:p>
          <a:p xmlns:a="http://schemas.openxmlformats.org/drawingml/2006/main">
            <a:r>
              <a:t>Expected outcome: If selected, compare individual checkpoints and combinations while controlling downstream capacity, input coverage and tuning. Different pretraining corpora alone do not establish complementarity.</a:t>
            </a:r>
          </a:p>
          <a:p xmlns:a="http://schemas.openxmlformats.org/drawingml/2006/main">
            <a:r>
              <a:t>Prerequisites: 19.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25. Candidate IsoFormer-style fusion comparison</a:t>
            </a:r>
          </a:p>
          <a:p xmlns:a="http://schemas.openxmlformats.org/drawingml/2006/main">
            <a:r>
              <a:t>2026-11-09 to 2026-11-15; Conditional.</a:t>
            </a:r>
          </a:p>
          <a:p xmlns:a="http://schemas.openxmlformats.org/drawingml/2006/main">
            <a:r>
              <a:t>Expected outcome: Evaluate the second-priority cross-attention candidate only if the reviewed research question and resource budget justify it. Report relevant differences from IsoFormer’s fine-tuning regime.</a:t>
            </a:r>
          </a:p>
          <a:p xmlns:a="http://schemas.openxmlformats.org/drawingml/2006/main">
            <a:r>
              <a:t>Prerequisites: 21.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26. Agree tokenizer benchmark feasibility and protocol</a:t>
            </a:r>
          </a:p>
          <a:p xmlns:a="http://schemas.openxmlformats.org/drawingml/2006/main">
            <a:r>
              <a:t>2026-10-06 to 2026-10-18; Conditional.</a:t>
            </a:r>
          </a:p>
          <a:p xmlns:a="http://schemas.openxmlformats.org/drawingml/2006/main">
            <a:r>
              <a:t>Expected outcome: With the identified lab group, agree a shared task, data, tokenizer version, access and fair comparison protocol.</a:t>
            </a:r>
          </a:p>
          <a:p xmlns:a="http://schemas.openxmlformats.org/drawingml/2006/main">
            <a:r>
              <a:t>Prerequisites: 11, 13.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27. Candidate lab-tokenizer benchmark pilot</a:t>
            </a:r>
          </a:p>
          <a:p xmlns:a="http://schemas.openxmlformats.org/drawingml/2006/main">
            <a:r>
              <a:t>2026-11-02 to 2026-11-15; Conditional.</a:t>
            </a:r>
          </a:p>
          <a:p xmlns:a="http://schemas.openxmlformats.org/drawingml/2006/main">
            <a:r>
              <a:t>Expected outcome: Run only after collaborators agree scope and access and a matched protocol exists. Keep tokenizer effects separate from model capacity, training data and downstream evaluation differences.</a:t>
            </a:r>
          </a:p>
          <a:p xmlns:a="http://schemas.openxmlformats.org/drawingml/2006/main">
            <a:r>
              <a:t>Prerequisites: 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Research writing and coordination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30. Research coordination and decision review</a:t>
            </a:r>
          </a:p>
          <a:p xmlns:a="http://schemas.openxmlformats.org/drawingml/2006/main">
            <a:r>
              <a:t>2026-09-14 to 2027-03-31; In progress.</a:t>
            </a:r>
          </a:p>
          <a:p xmlns:a="http://schemas.openxmlformats.org/drawingml/2006/main">
            <a:r>
              <a:t>Expected outcome: Maintain the questions, decisions and follow-ups from regular team and advisor discussions. Confirm future meeting dates with Mina.</a:t>
            </a:r>
          </a:p>
          <a:p xmlns:a="http://schemas.openxmlformats.org/drawingml/2006/main">
            <a:r>
              <a:t>Prerequisites: None specified.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32. Maintain and revise the living Overleaf manuscript</a:t>
            </a:r>
          </a:p>
          <a:p xmlns:a="http://schemas.openxmlformats.org/drawingml/2006/main">
            <a:r>
              <a:t>2026-09-26 to 2027-03-31; In progress.</a:t>
            </a:r>
          </a:p>
          <a:p xmlns:a="http://schemas.openxmlformats.org/drawingml/2006/main">
            <a:r>
              <a:t>Expected outcome: Update methods, figures, claims, citations and open questions as research changes. Writing begins with Stage 1 and continues through review, new experiments and later consolidation.</a:t>
            </a:r>
          </a:p>
          <a:p xmlns:a="http://schemas.openxmlformats.org/drawingml/2006/main">
            <a:r>
              <a:t>Prerequisites: None specified.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CAP6942 | Course deliverables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33. Bibliography, canvas and project-plan submissions</a:t>
            </a:r>
          </a:p>
          <a:p xmlns:a="http://schemas.openxmlformats.org/drawingml/2006/main">
            <a:r>
              <a:t>2026-09-26 to 2026-09-27; In progress.</a:t>
            </a:r>
          </a:p>
          <a:p xmlns:a="http://schemas.openxmlformats.org/drawingml/2006/main">
            <a:r>
              <a:t>Expected outcome: Submit the annotated bibliography and Research Canvas for Team Assignment 1, and the research project plan for Team Assignment 2. Both are due September 27 at 23:59 Eastern.</a:t>
            </a:r>
          </a:p>
          <a:p xmlns:a="http://schemas.openxmlformats.org/drawingml/2006/main">
            <a:r>
              <a:t>Prerequisites: None specified.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34. Prepare final report, presentation and video</a:t>
            </a:r>
          </a:p>
          <a:p xmlns:a="http://schemas.openxmlformats.org/drawingml/2006/main">
            <a:r>
              <a:t>2026-11-16 to 2026-12-06; Planned.</a:t>
            </a:r>
          </a:p>
          <a:p xmlns:a="http://schemas.openxmlformats.org/drawingml/2006/main">
            <a:r>
              <a:t>Expected outcome: Adapt the evolving manuscript and evidence to the course report, presentation and video requirements. Rehearse explanations and incorporate teammate and advisor feedback.</a:t>
            </a:r>
          </a:p>
          <a:p xmlns:a="http://schemas.openxmlformats.org/drawingml/2006/main">
            <a:r>
              <a:t>Prerequisites: None specified.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35. Course rehearsal checkpoint</a:t>
            </a:r>
          </a:p>
          <a:p xmlns:a="http://schemas.openxmlformats.org/drawingml/2006/main">
            <a:r>
              <a:t>2026-12-01 to 2026-12-01; Planned.</a:t>
            </a:r>
          </a:p>
          <a:p xmlns:a="http://schemas.openxmlformats.org/drawingml/2006/main">
            <a:r>
              <a:t>Expected outcome: Rehearse the scientific account and record corrections; confirm the course’s exact instructions in WebCourses.</a:t>
            </a:r>
          </a:p>
          <a:p xmlns:a="http://schemas.openxmlformats.org/drawingml/2006/main">
            <a:r>
              <a:t>Prerequisites: None specified.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36. Final course report checkpoint</a:t>
            </a:r>
          </a:p>
          <a:p xmlns:a="http://schemas.openxmlformats.org/drawingml/2006/main">
            <a:r>
              <a:t>2026-12-07 to 2026-12-07; Planned.</a:t>
            </a:r>
          </a:p>
          <a:p xmlns:a="http://schemas.openxmlformats.org/drawingml/2006/main">
            <a:r>
              <a:t>Expected outcome: Review evidence, attribution and AI disclosure; confirm and complete the required course submission.</a:t>
            </a:r>
          </a:p>
          <a:p xmlns:a="http://schemas.openxmlformats.org/drawingml/2006/main">
            <a:r>
              <a:t>Prerequisites: 34, 35.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37. Course presentation and video checkpoint</a:t>
            </a:r>
          </a:p>
          <a:p xmlns:a="http://schemas.openxmlformats.org/drawingml/2006/main">
            <a:r>
              <a:t>2026-12-08 to 2026-12-08; Planned.</a:t>
            </a:r>
          </a:p>
          <a:p xmlns:a="http://schemas.openxmlformats.org/drawingml/2006/main">
            <a:r>
              <a:t>Expected outcome: Deliver the course presentation/video using the reviewed evidence and acknowledged limitations.</a:t>
            </a:r>
          </a:p>
          <a:p xmlns:a="http://schemas.openxmlformats.org/drawingml/2006/main">
            <a:r>
              <a:t>Prerequisites: 34, 35.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Research continuation | Provisional January to March 2027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38. Further experiments and external validation</a:t>
            </a:r>
          </a:p>
          <a:p xmlns:a="http://schemas.openxmlformats.org/drawingml/2006/main">
            <a:r>
              <a:t>2027-01-04 to 2027-02-28; Conditional.</a:t>
            </a:r>
          </a:p>
          <a:p xmlns:a="http://schemas.openxmlformats.org/drawingml/2006/main">
            <a:r>
              <a:t>Expected outcome: Select and run extensions justified by the reviewed evidence, biological relevance, collaborators and available resources.</a:t>
            </a:r>
          </a:p>
          <a:p xmlns:a="http://schemas.openxmlformats.org/drawingml/2006/main">
            <a:r>
              <a:t>Prerequisites: 29.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39. Consolidate manuscript and review publication readiness</a:t>
            </a:r>
          </a:p>
          <a:p xmlns:a="http://schemas.openxmlformats.org/drawingml/2006/main">
            <a:r>
              <a:t>2027-02-01 to 2027-03-31; Planned.</a:t>
            </a:r>
          </a:p>
          <a:p xmlns:a="http://schemas.openxmlformats.org/drawingml/2006/main">
            <a:r>
              <a:t>Expected outcome: Refine the manuscript already underway, integrate additional evidence and seek group feedback. Venue, submission date and final research end remain undecided.</a:t>
            </a:r>
          </a:p>
          <a:p xmlns:a="http://schemas.openxmlformats.org/drawingml/2006/main">
            <a:r>
              <a:t>Prerequisites: None specified.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40. March research review and next-step decision</a:t>
            </a:r>
          </a:p>
          <a:p xmlns:a="http://schemas.openxmlformats.org/drawingml/2006/main">
            <a:r>
              <a:t>2027-03-31 to 2027-03-31; Planned.</a:t>
            </a:r>
          </a:p>
          <a:p xmlns:a="http://schemas.openxmlformats.org/drawingml/2006/main">
            <a:r>
              <a:t>Expected outcome: Review the evidence and decide whether to extend the experiments, revise the manuscript, prepare a submission or change direction. Adjust the timeline to the chosen next steps.</a:t>
            </a:r>
          </a:p>
          <a:p xmlns:a="http://schemas.openxmlformats.org/drawingml/2006/main">
            <a:r>
              <a:t>Prerequisites: 39.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Fall 2026 CAP6942 Schedule.pdf; project README.md; team meeting and schedule corrections supplied September 26, 2026.</a:t>
            </a:r>
          </a:p>
          <ns0:p xmlns:ns0="http://schemas.openxmlformats.org/drawingml/2006/main"/>
          <a:p xmlns:a="http://schemas.openxmlformats.org/drawingml/2006/main">
            <a:r>
              <a:t>Planning example: Mélot-Chesnel, Designing Trustworthy Generative AI Agents for Collaborative Decision Making (2026), section 4 and Figure 1, explicitly schedules reconsidering questions and hypotheses between studies. This informed retaining time for interpretation and revision. https://doi.org/10.3233/FAIA260562</a:t>
            </a:r>
          </a:p>
          <ns0:p xmlns:ns0="http://schemas.openxmlformats.org/drawingml/2006/main"/>
          <a:p xmlns:a="http://schemas.openxmlformats.org/drawingml/2006/main">
            <a:r>
              <a:t>Planning example: UQ AGRC7617, Sequential mid-project assessment, uses a proposal and Gantt with supervisor discussion, followed by AI feedback on mature drafts. This illustrates review within planning. https://course-profiles.uq.edu.au/course-profiles/AGRC7617-62151-7660</a:t>
            </a:r>
          </a:p>
          <ns0:p xmlns:ns0="http://schemas.openxmlformats.org/drawingml/2006/main"/>
          <a:p xmlns:a="http://schemas.openxmlformats.org/drawingml/2006/main">
            <a:r>
              <a:t>These examples informed the September 27 planning discussion. They do not establish CAP6942 requirements or measured AI time savings.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1 | Understanding, Reproducibility and Alignment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initial six-paper review was completed by September 21. Continued discussion and scientific interpretation remain active.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Dates beyond current work are planning windows. September 21 start dates for ongoing tasks are approximate anchors, not reconstructed activity logs.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October 7 is the next planned Mina meeting. The Stage 1 milestone is a working definition of alignment and a decision about the next matched comparison. Specify the objects being aligned, biological question, unit, metric and reference, and what the result can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Stage 1 includes early fusion prototyping to develop understanding. Stage 2 is the proposed structured comparison programme following the review. Feedback may change its scope and timing.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Coupled Mamba priority follows the project README and the September 23 meeting. Optional comparisons are candidates, and the team will select a feasible subset.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Research coordination began September 14. Stage 1 manuscript drafting is underway in Overleaf and continues as methods and findings change.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September 27 deadline covers the bibliography and Research Canvas assignment and the research project plan assignment. December 1, 7 and 8 course dates follow the Fall 2026 CAP6942 schedule; WebCourses controls any changes.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January to March is a provisional continuation window. The research end and publication submission date have not been set.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lab tokenizer and collaborating group still need to be identified. Clarifying the opportunity precedes committing to a benchmark.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 supports literature study, implementation, analysis and writing. Source checking, experiment interpretation and research decisions are included in each relevant work package.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 assistance: OpenAI Codex assisted with organizing and wording this research plan. Dates and task descriptions were compared with the course schedule, project README and team meeting notes.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Study and interpretation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Continue paper synthesis and notebook walkthrough</a:t>
            </a:r>
          </a:p>
          <a:p xmlns:a="http://schemas.openxmlformats.org/drawingml/2006/main">
            <a:r>
              <a:t>2026-09-21 to 2026-10-05; In progress.</a:t>
            </a:r>
          </a:p>
          <a:p xmlns:a="http://schemas.openxmlformats.org/drawingml/2006/main">
            <a:r>
              <a:t>Expected outcome: Explain biological inputs, frozen encoders, pooling, probes and metrics; connect each retained result to the relevant paper and its limitations.</a:t>
            </a:r>
          </a:p>
          <a:p xmlns:a="http://schemas.openxmlformats.org/drawingml/2006/main">
            <a:r>
              <a:t>Prerequisites: None specified.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6. Interpret representation metrics and pilot findings</a:t>
            </a:r>
          </a:p>
          <a:p xmlns:a="http://schemas.openxmlformats.org/drawingml/2006/main">
            <a:r>
              <a:t>2026-09-21 to 2026-10-04; In progress.</a:t>
            </a:r>
          </a:p>
          <a:p xmlns:a="http://schemas.openxmlformats.org/drawingml/2006/main">
            <a:r>
              <a:t>Expected outcome: Explain what CKA, neighborhood, CCA/retrieval and predictive probes measure; distinguish observations from explanations. Prepare PCA/variance and layer-choice questions for Mina.</a:t>
            </a:r>
          </a:p>
          <a:p xmlns:a="http://schemas.openxmlformats.org/drawingml/2006/main">
            <a:r>
              <a:t>Prerequisites: None specified.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7. Draft an operational definition of alignment</a:t>
            </a:r>
          </a:p>
          <a:p xmlns:a="http://schemas.openxmlformats.org/drawingml/2006/main">
            <a:r>
              <a:t>2026-09-21 to 2026-10-04; In progress.</a:t>
            </a:r>
          </a:p>
          <a:p xmlns:a="http://schemas.openxmlformats.org/drawingml/2006/main">
            <a:r>
              <a:t>Expected outcome: Define objects being related, biological correspondence versus representation similarity, sample/position unit, metric, reference or null, and permitted conclusions. Keep useful fusion as a separate test.</a:t>
            </a:r>
          </a:p>
          <a:p xmlns:a="http://schemas.openxmlformats.org/drawingml/2006/main">
            <a:r>
              <a:t>Prerequisites: None specified.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Data and reproducibility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Check label meaning, sequence regions and duplicates</a:t>
            </a:r>
          </a:p>
          <a:p xmlns:a="http://schemas.openxmlformats.org/drawingml/2006/main">
            <a:r>
              <a:t>2026-09-21 to 2026-10-04; In progress.</a:t>
            </a:r>
          </a:p>
          <a:p xmlns:a="http://schemas.openxmlformats.org/drawingml/2006/main">
            <a:r>
              <a:t>Expected outcome: Record assay/target provenance, retained rows, sequence regions, duplicates and translation assumptions before drawing biological conclusions.</a:t>
            </a:r>
          </a:p>
          <a:p xmlns:a="http://schemas.openxmlformats.org/drawingml/2006/main">
            <a:r>
              <a:t>Prerequisites: None specified.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Check train/test separation and preprocessing</a:t>
            </a:r>
          </a:p>
          <a:p xmlns:a="http://schemas.openxmlformats.org/drawingml/2006/main">
            <a:r>
              <a:t>2026-09-21 to 2026-10-04; In progress.</a:t>
            </a:r>
          </a:p>
          <a:p xmlns:a="http://schemas.openxmlformats.org/drawingml/2006/main">
            <a:r>
              <a:t>Expected outcome: Identify evaluation unit; check whether duplicate or related sequences cross train/test boundaries and whether fitted preprocessing uses training data only. Document what the split can support.</a:t>
            </a:r>
          </a:p>
          <a:p xmlns:a="http://schemas.openxmlformats.org/drawingml/2006/main">
            <a:r>
              <a:t>Prerequisites: None specified.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5. Trace runs, seeds and reproducibility evidence</a:t>
            </a:r>
          </a:p>
          <a:p xmlns:a="http://schemas.openxmlformats.org/drawingml/2006/main">
            <a:r>
              <a:t>2026-09-21 to 2026-10-04; In progress.</a:t>
            </a:r>
          </a:p>
          <a:p xmlns:a="http://schemas.openxmlformats.org/drawingml/2006/main">
            <a:r>
              <a:t>Expected outcome: Link selected outputs to notebook, data, model revisions, environment, split and seed settings. Compare reruns and investigate differences in results.</a:t>
            </a:r>
          </a:p>
          <a:p xmlns:a="http://schemas.openxmlformats.org/drawingml/2006/main">
            <a:r>
              <a:t>Prerequisites: None specified.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Early implementation, writing and collaboration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8. Map BioLangFusion methods to our inputs</a:t>
            </a:r>
          </a:p>
          <a:p xmlns:a="http://schemas.openxmlformats.org/drawingml/2006/main">
            <a:r>
              <a:t>2026-09-28 to 2026-09-30; Planned.</a:t>
            </a:r>
          </a:p>
          <a:p xmlns:a="http://schemas.openxmlformats.org/drawingml/2006/main">
            <a:r>
              <a:t>Expected outcome: Compare paper and local checkpoints, tokenization, sequence regions, codon mapping, pooling, labels, splits and metrics. Document the changes needed to adapt the method to our inputs.</a:t>
            </a:r>
          </a:p>
          <a:p xmlns:a="http://schemas.openxmlformats.org/drawingml/2006/main">
            <a:r>
              <a:t>Prerequisites: None specified.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9. Build and check a BioLangFusion methods pilot</a:t>
            </a:r>
          </a:p>
          <a:p xmlns:a="http://schemas.openxmlformats.org/drawingml/2006/main">
            <a:r>
              <a:t>2026-10-01 to 2026-10-04; Planned.</a:t>
            </a:r>
          </a:p>
          <a:p xmlns:a="http://schemas.openxmlformats.org/drawingml/2006/main">
            <a:r>
              <a:t>Expected outcome: Test input/feature correspondence and selected simple fusion methods in a small prototype. Compare outputs with controls and bring feasibility findings and deviations from the paper to the October 7 review.</a:t>
            </a:r>
          </a:p>
          <a:p xmlns:a="http://schemas.openxmlformats.org/drawingml/2006/main">
            <a:r>
              <a:t>Prerequisites: 8.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10. Draft Stage 1 methods and findings in Overleaf</a:t>
            </a:r>
          </a:p>
          <a:p xmlns:a="http://schemas.openxmlformats.org/drawingml/2006/main">
            <a:r>
              <a:t>2026-09-26 to 2026-10-04; In progress.</a:t>
            </a:r>
          </a:p>
          <a:p xmlns:a="http://schemas.openxmlformats.org/drawingml/2006/main">
            <a:r>
              <a:t>Expected outcome: Join Mina’s project, draft Stage 1 background/methods, attach supported figures and annotate unresolved claims. This is the first writing increment of the living manuscript.</a:t>
            </a:r>
          </a:p>
          <a:p xmlns:a="http://schemas.openxmlformats.org/drawingml/2006/main">
            <a:r>
              <a:t>Prerequisites: None specified.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11. Clarify the lab tokenizer and benchmark opportunity</a:t>
            </a:r>
          </a:p>
          <a:p xmlns:a="http://schemas.openxmlformats.org/drawingml/2006/main">
            <a:r>
              <a:t>2026-09-28 to 2026-10-05; Planned.</a:t>
            </a:r>
          </a:p>
          <a:p xmlns:a="http://schemas.openxmlformats.org/drawingml/2006/main">
            <a:r>
              <a:t>Expected outcome: Ask Julian for the exact group, tokenizer/paper and intended benchmark task. Establish inputs, access, comparison unit and collaborators before promising a shared experiment.</a:t>
            </a:r>
          </a:p>
          <a:p xmlns:a="http://schemas.openxmlformats.org/drawingml/2006/main">
            <a:r>
              <a:t>Prerequisites: None specified.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October 7 review and follow-up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12. Prepare the Oct 7 evidence and question set</a:t>
            </a:r>
          </a:p>
          <a:p xmlns:a="http://schemas.openxmlformats.org/drawingml/2006/main">
            <a:r>
              <a:t>2026-10-01 to 2026-10-04; Planned.</a:t>
            </a:r>
          </a:p>
          <a:p xmlns:a="http://schemas.openxmlformats.org/drawingml/2006/main">
            <a:r>
              <a:t>Expected outcome: Assemble the explainable pipeline, source-linked findings, unresolved results, BioLangFusion pilot status and alignment-definition proposal. Distinguish established evidence from open hypotheses.</a:t>
            </a:r>
          </a:p>
          <a:p xmlns:a="http://schemas.openxmlformats.org/drawingml/2006/main">
            <a:r>
              <a:t>Prerequisites: None specified.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13. Oct 7 review and working alignment definition</a:t>
            </a:r>
          </a:p>
          <a:p xmlns:a="http://schemas.openxmlformats.org/drawingml/2006/main">
            <a:r>
              <a:t>2026-10-07 to 2026-10-07; Planned.</a:t>
            </a:r>
          </a:p>
          <a:p xmlns:a="http://schemas.openxmlformats.org/drawingml/2006/main">
            <a:r>
              <a:t>Expected outcome: Review evidence with Mina and agree a working definition of alignment, its measurements and limits, and the next comparison. Record remaining questions and required revisions.</a:t>
            </a:r>
          </a:p>
          <a:p xmlns:a="http://schemas.openxmlformats.org/drawingml/2006/main">
            <a:r>
              <a:t>Prerequisites: 2, 3, 4, 5, 6, 7, 9, 10, 12.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14. Revise Stage 1 claims, figures and methods</a:t>
            </a:r>
          </a:p>
          <a:p xmlns:a="http://schemas.openxmlformats.org/drawingml/2006/main">
            <a:r>
              <a:t>2026-10-06 to 2026-10-11; Planned.</a:t>
            </a:r>
          </a:p>
          <a:p xmlns:a="http://schemas.openxmlformats.org/drawingml/2006/main">
            <a:r>
              <a:t>Expected outcome: Incorporate Mina’s feedback in the notebook explanations and manuscript; correct unsupported interpretations and identify specific reruns or experiments needed.</a:t>
            </a:r>
          </a:p>
          <a:p xmlns:a="http://schemas.openxmlformats.org/drawingml/2006/main">
            <a:r>
              <a:t>Prerequisites: 13.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15. Specify the first matched comparison protocol</a:t>
            </a:r>
          </a:p>
          <a:p xmlns:a="http://schemas.openxmlformats.org/drawingml/2006/main">
            <a:r>
              <a:t>2026-10-06 to 2026-10-11; Planned.</a:t>
            </a:r>
          </a:p>
          <a:p xmlns:a="http://schemas.openxmlformats.org/drawingml/2006/main">
            <a:r>
              <a:t>Expected outcome: Set biological question, target, evaluation unit, data exclusions, checkpoints, preprocessing, metrics, seeds, tuning budget and success/stop criteria. Architecture priority remains Coupled Mamba; details follow the review.</a:t>
            </a:r>
          </a:p>
          <a:p xmlns:a="http://schemas.openxmlformats.org/drawingml/2006/main">
            <a:r>
              <a:t>Prerequisites: 13.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Fall 2026 CAP6942 Schedule.pdf; project README.md; team meeting and schedule corrections supplied September 26,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2 | Experiments, Interpretation and Revision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initial six-paper review was completed by September 21. Continued discussion and scientific interpretation remain active.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Dates beyond current work are planning windows. September 21 start dates for ongoing tasks are approximate anchors, not reconstructed activity logs.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October 7 is the next planned Mina meeting. The Stage 1 milestone is a working definition of alignment and a decision about the next matched comparison. Specify the objects being aligned, biological question, unit, metric and reference, and what the result can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Stage 1 includes early fusion prototyping to develop understanding. Stage 2 is the proposed structured comparison programme following the review. Feedback may change its scope and timing.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Coupled Mamba priority follows the project README and the September 23 meeting. Optional comparisons are candidates, and the team will select a feasible subset.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Research coordination began September 14. Stage 1 manuscript drafting is underway in Overleaf and continues as methods and findings change.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September 27 deadline covers the bibliography and Research Canvas assignment and the research project plan assignment. December 1, 7 and 8 course dates follow the Fall 2026 CAP6942 schedule; WebCourses controls any changes.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January to March is a provisional continuation window. The research end and publication submission date have not been set.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lab tokenizer and collaborating group still need to be identified. Clarifying the opportunity precedes committing to a benchmark.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 supports literature study, implementation, analysis and writing. Source checking, experiment interpretation and research decisions are included in each relevant work package.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 assistance: OpenAI Codex assisted with organizing and wording this research plan. Dates and task descriptions were compared with the course schedule, project README and team meeting notes.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Core comparison sequence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16. Harden single-model and simple-fusion baselines</a:t>
            </a:r>
          </a:p>
          <a:p xmlns:a="http://schemas.openxmlformats.org/drawingml/2006/main">
            <a:r>
              <a:t>2026-10-06 to 2026-10-11; Planned.</a:t>
            </a:r>
          </a:p>
          <a:p xmlns:a="http://schemas.openxmlformats.org/drawingml/2006/main">
            <a:r>
              <a:t>Expected outcome: Prepare comparable single-encoder and concatenation + MLP predictors, input tests and controlled configurations. Keep the original linear concatenation probe distinct. Final comparisons use protocol 15.</a:t>
            </a:r>
          </a:p>
          <a:p xmlns:a="http://schemas.openxmlformats.org/drawingml/2006/main">
            <a:r>
              <a:t>Prerequisites: 13.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17. Run matched BioLangFusion-style comparisons</a:t>
            </a:r>
          </a:p>
          <a:p xmlns:a="http://schemas.openxmlformats.org/drawingml/2006/main">
            <a:r>
              <a:t>2026-10-12 to 2026-10-18; Planned.</a:t>
            </a:r>
          </a:p>
          <a:p xmlns:a="http://schemas.openxmlformats.org/drawingml/2006/main">
            <a:r>
              <a:t>Expected outcome: Compare selected paper-inspired fusion methods and unimodal baselines on the same evaluation data, with adaptations and resources reported. Preserve null or negative results.</a:t>
            </a:r>
          </a:p>
          <a:p xmlns:a="http://schemas.openxmlformats.org/drawingml/2006/main">
            <a:r>
              <a:t>Prerequisites: 9, 15, 16.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18. Repeat diagnostics and null/control comparisons</a:t>
            </a:r>
          </a:p>
          <a:p xmlns:a="http://schemas.openxmlformats.org/drawingml/2006/main">
            <a:r>
              <a:t>2026-10-12 to 2026-10-18; Planned.</a:t>
            </a:r>
          </a:p>
          <a:p xmlns:a="http://schemas.openxmlformats.org/drawingml/2006/main">
            <a:r>
              <a:t>Expected outcome: Check label/feature controls, synonymous-input behavior and representation diagnostics under the agreed evaluation. Test whether the claimed signal survives the relevant nulls.</a:t>
            </a:r>
          </a:p>
          <a:p xmlns:a="http://schemas.openxmlformats.org/drawingml/2006/main">
            <a:r>
              <a:t>Prerequisites: 14, 15, 16.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19. Interpret baseline findings and revise the next experiment</a:t>
            </a:r>
          </a:p>
          <a:p xmlns:a="http://schemas.openxmlformats.org/drawingml/2006/main">
            <a:r>
              <a:t>2026-10-19 to 2026-10-25; Planned.</a:t>
            </a:r>
          </a:p>
          <a:p xmlns:a="http://schemas.openxmlformats.org/drawingml/2006/main">
            <a:r>
              <a:t>Expected outcome: Compare effect sizes, variation and failure cases; distinguish geometry from predictive complementarity. Revise the question and manuscript before choosing additional complexity.</a:t>
            </a:r>
          </a:p>
          <a:p xmlns:a="http://schemas.openxmlformats.org/drawingml/2006/main">
            <a:r>
              <a:t>Prerequisites: 17, 18.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20. Prepare Coupled Mamba inputs and feasibility tests</a:t>
            </a:r>
          </a:p>
          <a:p xmlns:a="http://schemas.openxmlformats.org/drawingml/2006/main">
            <a:r>
              <a:t>2026-10-12 to 2026-10-25; Planned.</a:t>
            </a:r>
          </a:p>
          <a:p xmlns:a="http://schemas.openxmlformats.org/drawingml/2006/main">
            <a:r>
              <a:t>Expected outcome: Implement the prioritized architecture with explicit sequence/feature correspondence; test dimensions, controlled cases and resource feasibility while baseline analysis proceeds.</a:t>
            </a:r>
          </a:p>
          <a:p xmlns:a="http://schemas.openxmlformats.org/drawingml/2006/main">
            <a:r>
              <a:t>Prerequisites: 15, 16.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21. Evaluate Coupled Mamba against matched baselines</a:t>
            </a:r>
          </a:p>
          <a:p xmlns:a="http://schemas.openxmlformats.org/drawingml/2006/main">
            <a:r>
              <a:t>2026-10-26 to 2026-11-08; Planned.</a:t>
            </a:r>
          </a:p>
          <a:p xmlns:a="http://schemas.openxmlformats.org/drawingml/2006/main">
            <a:r>
              <a:t>Expected outcome: Compare predictive performance, uncertainty, runtime and memory under the matched evaluation protocol. Interpret gains, losses or unchanged performance against the baseline.</a:t>
            </a:r>
          </a:p>
          <a:p xmlns:a="http://schemas.openxmlformats.org/drawingml/2006/main">
            <a:r>
              <a:t>Prerequisites: 19, 20.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Repeated runs, interpretation and revision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28. Repeat runs, estimate uncertainty and revise interpretations</a:t>
            </a:r>
          </a:p>
          <a:p xmlns:a="http://schemas.openxmlformats.org/drawingml/2006/main">
            <a:r>
              <a:t>2026-10-12 to 2026-11-22; Planned.</a:t>
            </a:r>
          </a:p>
          <a:p xmlns:a="http://schemas.openxmlformats.org/drawingml/2006/main">
            <a:r>
              <a:t>Expected outcome: Repeat selected configurations as results arrive; investigate variation, leakage or contradictory findings, and revise claims. This spans the experiment cycle rather than following implementation as a single final check.</a:t>
            </a:r>
          </a:p>
          <a:p xmlns:a="http://schemas.openxmlformats.org/drawingml/2006/main">
            <a:r>
              <a:t>Prerequisites: 15, 16.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29. Synthesize evidence, limitations and next decisions</a:t>
            </a:r>
          </a:p>
          <a:p xmlns:a="http://schemas.openxmlformats.org/drawingml/2006/main">
            <a:r>
              <a:t>2026-11-16 to 2026-11-29; Planned.</a:t>
            </a:r>
          </a:p>
          <a:p xmlns:a="http://schemas.openxmlformats.org/drawingml/2006/main">
            <a:r>
              <a:t>Expected outcome: Build a comparison table with sources/runs, uncertainty, resource costs, negative findings and scope limits. Review which conclusions are supported and which further experiments are justified.</a:t>
            </a:r>
          </a:p>
          <a:p xmlns:a="http://schemas.openxmlformats.org/drawingml/2006/main">
            <a:r>
              <a:t>Prerequisites: 19, 21.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Optional comparisons | Subject to scope and feasibility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22. Candidate layer and PCA/variance comparisons</a:t>
            </a:r>
          </a:p>
          <a:p xmlns:a="http://schemas.openxmlformats.org/drawingml/2006/main">
            <a:r>
              <a:t>2026-10-19 to 2026-11-01; Conditional.</a:t>
            </a:r>
          </a:p>
          <a:p xmlns:a="http://schemas.openxmlformats.org/drawingml/2006/main">
            <a:r>
              <a:t>Expected outcome: After choosing the relevant encoder/layer question, compare selected representations or variance subspaces. Fit any reduction within training data and separate using an earlier layer from truncating or retraining a model.</a:t>
            </a:r>
          </a:p>
          <a:p xmlns:a="http://schemas.openxmlformats.org/drawingml/2006/main">
            <a:r>
              <a:t>Prerequisites: 18.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23. Candidate alignment-objective ablation</a:t>
            </a:r>
          </a:p>
          <a:p xmlns:a="http://schemas.openxmlformats.org/drawingml/2006/main">
            <a:r>
              <a:t>2026-11-02 to 2026-11-08; Conditional.</a:t>
            </a:r>
          </a:p>
          <a:p xmlns:a="http://schemas.openxmlformats.org/drawingml/2006/main">
            <a:r>
              <a:t>Expected outcome: If selected, compare the same fusion setup with and without the specified alignment objective under matched tuning. The pilot’s alignment/error association is not evidence that the loss must help or hurt.</a:t>
            </a:r>
          </a:p>
          <a:p xmlns:a="http://schemas.openxmlformats.org/drawingml/2006/main">
            <a:r>
              <a:t>Prerequisites: 19, 20.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24. Candidate additional RNA-encoder comparisons</a:t>
            </a:r>
          </a:p>
          <a:p xmlns:a="http://schemas.openxmlformats.org/drawingml/2006/main">
            <a:r>
              <a:t>2026-11-09 to 2026-11-15; Conditional.</a:t>
            </a:r>
          </a:p>
          <a:p xmlns:a="http://schemas.openxmlformats.org/drawingml/2006/main">
            <a:r>
              <a:t>Expected outcome: If selected, compare individual checkpoints and combinations while controlling downstream capacity, input coverage and tuning. Different pretraining corpora alone do not establish complementarity.</a:t>
            </a:r>
          </a:p>
          <a:p xmlns:a="http://schemas.openxmlformats.org/drawingml/2006/main">
            <a:r>
              <a:t>Prerequisites: 19.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25. Candidate IsoFormer-style fusion comparison</a:t>
            </a:r>
          </a:p>
          <a:p xmlns:a="http://schemas.openxmlformats.org/drawingml/2006/main">
            <a:r>
              <a:t>2026-11-09 to 2026-11-15; Conditional.</a:t>
            </a:r>
          </a:p>
          <a:p xmlns:a="http://schemas.openxmlformats.org/drawingml/2006/main">
            <a:r>
              <a:t>Expected outcome: Evaluate the second-priority cross-attention candidate only if the reviewed research question and resource budget justify it. Report relevant differences from IsoFormer’s fine-tuning regime.</a:t>
            </a:r>
          </a:p>
          <a:p xmlns:a="http://schemas.openxmlformats.org/drawingml/2006/main">
            <a:r>
              <a:t>Prerequisites: 21.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26. Agree tokenizer benchmark feasibility and protocol</a:t>
            </a:r>
          </a:p>
          <a:p xmlns:a="http://schemas.openxmlformats.org/drawingml/2006/main">
            <a:r>
              <a:t>2026-10-06 to 2026-10-18; Conditional.</a:t>
            </a:r>
          </a:p>
          <a:p xmlns:a="http://schemas.openxmlformats.org/drawingml/2006/main">
            <a:r>
              <a:t>Expected outcome: With the identified lab group, agree a shared task, data, tokenizer version, access and fair comparison protocol.</a:t>
            </a:r>
          </a:p>
          <a:p xmlns:a="http://schemas.openxmlformats.org/drawingml/2006/main">
            <a:r>
              <a:t>Prerequisites: 11, 13.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27. Candidate lab-tokenizer benchmark pilot</a:t>
            </a:r>
          </a:p>
          <a:p xmlns:a="http://schemas.openxmlformats.org/drawingml/2006/main">
            <a:r>
              <a:t>2026-11-02 to 2026-11-15; Conditional.</a:t>
            </a:r>
          </a:p>
          <a:p xmlns:a="http://schemas.openxmlformats.org/drawingml/2006/main">
            <a:r>
              <a:t>Expected outcome: Run only after collaborators agree scope and access and a matched protocol exists. Keep tokenizer effects separate from model capacity, training data and downstream evaluation differences.</a:t>
            </a:r>
          </a:p>
          <a:p xmlns:a="http://schemas.openxmlformats.org/drawingml/2006/main">
            <a:r>
              <a:t>Prerequisites: 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Fall 2026 CAP6942 Schedule.pdf; project README.md; team meeting and schedule corrections supplied September 26, 2026.</a:t>
            </a:r>
          </a:p>
          <ns0:p xmlns:ns0="http://schemas.openxmlformats.org/drawingml/2006/main"/>
          <a:p xmlns:a="http://schemas.openxmlformats.org/drawingml/2006/main">
            <a:r>
              <a:t>Planning example: Mélot-Chesnel, Designing Trustworthy Generative AI Agents for Collaborative Decision Making (2026), section 4 and Figure 1, explicitly schedules reconsidering questions and hypotheses between studies. This informed retaining time for interpretation and revision. https://doi.org/10.3233/FAIA260562</a:t>
            </a:r>
          </a:p>
          <ns0:p xmlns:ns0="http://schemas.openxmlformats.org/drawingml/2006/main"/>
          <a:p xmlns:a="http://schemas.openxmlformats.org/drawingml/2006/main">
            <a:r>
              <a:t>Planning example: UQ AGRC7617, Sequential mid-project assessment, uses a proposal and Gantt with supervisor discussion, followed by AI feedback on mature drafts. This illustrates review within planning. https://course-profiles.uq.edu.au/course-profiles/AGRC7617-62151-7660</a:t>
            </a:r>
          </a:p>
          <ns0:p xmlns:ns0="http://schemas.openxmlformats.org/drawingml/2006/main"/>
          <a:p xmlns:a="http://schemas.openxmlformats.org/drawingml/2006/main">
            <a:r>
              <a:t>These examples informed the September 27 planning discussion. They do not establish CAP6942 requirements or measured AI time savings.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5606df07feb54ccf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f8c8fa4dbf254a0b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9516fe67bfaf44e9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127e241674244bce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f078de79aa2d4e57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4f6cec5512184f5a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1d12eaca458645db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d26b6c5415654e7f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de185142ffa14865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9195155c51834f0a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9610807a9cac4859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FD50471-0901-4031-8F05-F553F5DA3305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5D58B5D4-0F11-4ED8-ACCB-C5771563704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640D5FE-F90B-44B9-BAD9-D4EC0AA4C0B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352EF19-63C3-42A0-9635-40054A0BB63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A65AA00-5F52-4591-9F89-BD8DB9473D2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AC6171C-6B1A-4498-ACDE-BB467882FD1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D649E35-5C93-4635-A524-44402B970AB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D4A137F-E709-4B82-A3AD-33F7625CCCD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D389170-5754-48A5-8DFE-4977600A8DB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BB67BA2-2745-46AA-BC3E-39187EE8CAD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2467CD8-E86B-4C4F-84C0-3C905E0045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604BDB1-CCDF-4FBD-A759-7A7F17D9204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6B95C45-A53F-4629-8646-F4803C92CD3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6A43E3D-844F-46D8-A39D-8F52431874A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E9E6E19-B69B-4C88-848A-4A5BC4E18D6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43D2580-B2CC-4681-A526-85ADAA1BE72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7D6B0C6-4B46-4BFB-96E9-6DE1E47B0E7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789F0EFE-2651-4DAD-BC9C-FED21F78E15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8B232A06-3889-4C5D-834E-BEB7BCEDE1E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328E0C82-5D24-4FB2-A0A3-E1C901E74E9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B40CD7FD-B0E5-4B2A-81ED-CF7C3A8AAD1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CB0D819-D8BC-4E3F-B887-D64E3F459A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BB5445E-06CC-454D-A80F-77342AF333F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E16FE63D-3715-4511-85EF-85A98FD20941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33AEDC91-2F54-46AE-96A2-FF68AB702865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1B8AE1C2-5D7B-4541-8438-47AF54657947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9FAB1DD4-3F30-4664-B78F-88EDF8C5CE2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C1B7B288-E05F-4423-88C9-3C544588631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35BD258D-A082-4923-8B3C-D10EC41362C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91246C1-86CA-4F0A-BEDF-D954AA4BB7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C18100C5-2F9A-468E-9F79-728FA79674E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E4CF202A-53FB-4778-970E-918BEF87039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AA85E1A8-F7C4-4974-801B-4BCF5D96A46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8EB54A0D-6373-4B2C-92C2-A5E3F4E5261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C9671920-FB39-4E3A-9FAE-CDA7BA19157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141568EE-1391-43C9-9A99-CA18FA73DD1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5988B4F-AE42-4E16-A764-A893F3197D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F2AA87A-BEA4-435F-9773-CCD4543C7BD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5890464F-69BD-4995-A642-86C726ED74F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FBD227DE-A76B-4CF8-B373-5F87E002987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559B0FD9-618E-437A-A4F6-55E1F11929E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399A26D5-93FB-4588-AFD1-C0A354EE8D0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E98203A-892E-4FB5-A226-33E4B41C7C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E86C27CC-4743-4E19-B8DA-2AD4F3BA8599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1A856B98-AE27-475E-9684-12E43171443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1C8C4FE6-2793-4921-8E64-97AA2D4679B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F707B094-F06E-479F-B35D-CFACDC66F5D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22D270C9-8D19-4F0B-97CF-E282CA5084E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603E5A5-C957-47CA-B639-C89B2C3EDD2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3698151E-8731-45B2-9F09-5CA2215184E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89DFE78-4304-411E-AC94-37DB028770B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D1F9AD5-236D-43ED-8103-25BD9D23185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040C95B-B4CE-47E3-B18A-87B68EA6000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36765DEA-A6E6-4B48-8133-A2AD3485C1D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D050C12-4963-468A-B5B2-5A5FFF85101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A8457F7-41EB-4560-A76D-AFBADA1340C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A388894-ADE6-4593-9B41-E7770480AF3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285ABC6-5748-454D-B68C-DC4BA395429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1d266be0a1284e61" Type="http://schemas.openxmlformats.org/officeDocument/2006/relationships/slideLayout" Target="../slideLayouts/slideLayout3.xml"/><Relationship Id="R3136394fdd464025" Type="http://schemas.openxmlformats.org/officeDocument/2006/relationships/slideLayout" Target="../slideLayouts/slideLayout1.xml"/><Relationship Id="R44a03bba378d4104" Type="http://schemas.openxmlformats.org/officeDocument/2006/relationships/slideLayout" Target="../slideLayouts/slideLayout10.xml"/><Relationship Id="R4702a775611d43ad" Type="http://schemas.openxmlformats.org/officeDocument/2006/relationships/slideLayout" Target="../slideLayouts/slideLayout8.xml"/><Relationship Id="R4b8283b5ea094e36" Type="http://schemas.openxmlformats.org/officeDocument/2006/relationships/slideLayout" Target="../slideLayouts/slideLayout11.xml"/><Relationship Id="R5e03566e1b8348f9" Type="http://schemas.openxmlformats.org/officeDocument/2006/relationships/slideLayout" Target="../slideLayouts/slideLayout5.xml"/><Relationship Id="Ra309db37da2a4a43" Type="http://schemas.openxmlformats.org/officeDocument/2006/relationships/slideLayout" Target="../slideLayouts/slideLayout6.xml"/><Relationship Id="Rbaed0f216b1a4b6e" Type="http://schemas.openxmlformats.org/officeDocument/2006/relationships/slideLayout" Target="../slideLayouts/slideLayout2.xml"/><Relationship Id="Rbb645bffa0074ac0" Type="http://schemas.openxmlformats.org/officeDocument/2006/relationships/slideLayout" Target="../slideLayouts/slideLayout4.xml"/><Relationship Id="Rd25689cf6b294a32" Type="http://schemas.openxmlformats.org/officeDocument/2006/relationships/theme" Target="theme/theme2.xml"/><Relationship Id="Rd4117fb882554ffa" Type="http://schemas.openxmlformats.org/officeDocument/2006/relationships/slideLayout" Target="../slideLayouts/slideLayout7.xml"/><Relationship Id="Rfee0c545bc1446ea" Type="http://schemas.openxmlformats.org/officeDocument/2006/relationships/slideLayout" Target="../slideLayouts/slideLayout9.xml"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315B4157-E165-444D-87D1-D1FDC3346B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ABE37DDE-C668-4999-AFF6-3B02624EC82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0BB946D-3A16-4314-9C16-BCCD841C232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6193750-DF12-4E38-BED1-2FDD1C95BA7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B3C852F-F0CF-4B23-915E-CDA9F47EA9E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136394fdd464025"/>
    <p:sldLayoutId xmlns:r="http://schemas.openxmlformats.org/officeDocument/2006/relationships" id="2147483650" r:id="Rbaed0f216b1a4b6e"/>
    <p:sldLayoutId xmlns:r="http://schemas.openxmlformats.org/officeDocument/2006/relationships" id="2147483651" r:id="R1d266be0a1284e61"/>
    <p:sldLayoutId xmlns:r="http://schemas.openxmlformats.org/officeDocument/2006/relationships" id="2147483652" r:id="Rbb645bffa0074ac0"/>
    <p:sldLayoutId xmlns:r="http://schemas.openxmlformats.org/officeDocument/2006/relationships" id="2147483653" r:id="R5e03566e1b8348f9"/>
    <p:sldLayoutId xmlns:r="http://schemas.openxmlformats.org/officeDocument/2006/relationships" id="2147483654" r:id="Ra309db37da2a4a43"/>
    <p:sldLayoutId xmlns:r="http://schemas.openxmlformats.org/officeDocument/2006/relationships" id="2147483655" r:id="Rd4117fb882554ffa"/>
    <p:sldLayoutId xmlns:r="http://schemas.openxmlformats.org/officeDocument/2006/relationships" id="2147483656" r:id="R4702a775611d43ad"/>
    <p:sldLayoutId xmlns:r="http://schemas.openxmlformats.org/officeDocument/2006/relationships" id="2147483657" r:id="Rfee0c545bc1446ea"/>
    <p:sldLayoutId xmlns:r="http://schemas.openxmlformats.org/officeDocument/2006/relationships" id="2147483658" r:id="R44a03bba378d4104"/>
    <p:sldLayoutId xmlns:r="http://schemas.openxmlformats.org/officeDocument/2006/relationships" id="2147483659" r:id="R4b8283b5ea094e36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23841a64afa64fcd" Type="http://schemas.openxmlformats.org/officeDocument/2006/relationships/slideLayout" Target="../slideLayouts/slideLayout7.xml"/><Relationship Id="R23fe9f1998694f0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6b2b94f060cc4e8c" Type="http://schemas.openxmlformats.org/officeDocument/2006/relationships/slideLayout" Target="../slideLayouts/slideLayout1.xml"/><Relationship Id="Rd5cbb3028e62482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2d3a45033c6944d2" Type="http://schemas.openxmlformats.org/officeDocument/2006/relationships/notesSlide" Target="../notesSlides/notesSlide3.xml"/><Relationship Id="R54df92619ec443cb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5" name="Title">
            <a:extLst xmlns:a="http://schemas.openxmlformats.org/drawingml/2006/main">
              <a:ext uri="{FF2B5EF4-FFF2-40B4-BE49-F238E27FC236}">
                <a16:creationId xmlns:a16="http://schemas.microsoft.com/office/drawing/2014/main" id="{EA4880F2-507E-4B9C-810C-68EADD199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61925"/>
            <a:ext cx="11601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multimodal-bio-fusion | Research Project Plan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A26E904-DD01-4F4C-BF80-87F80F75E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81025"/>
            <a:ext cx="1160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Weekly schedule for fall 2026, with a provisional continuation through March 2027</a:t>
            </a:r>
          </a:p>
        </p:txBody>
      </p:sp>
      <p:sp>
        <p:nvSpPr>
          <p:cNvPr id="3" name="Column header">
            <a:extLst xmlns:a="http://schemas.openxmlformats.org/drawingml/2006/main">
              <a:ext uri="{FF2B5EF4-FFF2-40B4-BE49-F238E27FC236}">
                <a16:creationId xmlns:a16="http://schemas.microsoft.com/office/drawing/2014/main" id="{A5EEEF2E-FCDD-4FAF-9F53-9AE0B3F97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990600"/>
            <a:ext cx="115252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4" name="Task header">
            <a:extLst xmlns:a="http://schemas.openxmlformats.org/drawingml/2006/main">
              <a:ext uri="{FF2B5EF4-FFF2-40B4-BE49-F238E27FC236}">
                <a16:creationId xmlns:a16="http://schemas.microsoft.com/office/drawing/2014/main" id="{5B134E7B-309F-43D8-AFD3-43179C2F7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990600"/>
            <a:ext cx="4191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Task / research outcome</a:t>
            </a:r>
          </a:p>
        </p:txBody>
      </p:sp>
      <p:sp>
        <p:nvSpPr>
          <p:cNvPr id="5" name="Status header">
            <a:extLst xmlns:a="http://schemas.openxmlformats.org/drawingml/2006/main">
              <a:ext uri="{FF2B5EF4-FFF2-40B4-BE49-F238E27FC236}">
                <a16:creationId xmlns:a16="http://schemas.microsoft.com/office/drawing/2014/main" id="{C1DDB809-015C-44EA-923A-3B7ECCEC2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990600"/>
            <a:ext cx="838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Status</a:t>
            </a:r>
          </a:p>
        </p:txBody>
      </p:sp>
      <p:sp>
        <p:nvSpPr>
          <p:cNvPr id="6" name="Week 2026-09-07">
            <a:extLst xmlns:a="http://schemas.openxmlformats.org/drawingml/2006/main">
              <a:ext uri="{FF2B5EF4-FFF2-40B4-BE49-F238E27FC236}">
                <a16:creationId xmlns:a16="http://schemas.microsoft.com/office/drawing/2014/main" id="{D257F1F8-A79B-4FBE-AA63-66C17D523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990600"/>
            <a:ext cx="297984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9/7</a:t>
            </a:r>
          </a:p>
        </p:txBody>
      </p:sp>
      <p:sp>
        <p:nvSpPr>
          <p:cNvPr id="7" name="Week 2026-09-14">
            <a:extLst xmlns:a="http://schemas.openxmlformats.org/drawingml/2006/main">
              <a:ext uri="{FF2B5EF4-FFF2-40B4-BE49-F238E27FC236}">
                <a16:creationId xmlns:a16="http://schemas.microsoft.com/office/drawing/2014/main" id="{D1438395-44D6-41C0-B2E9-CB039FFBC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1034" y="990600"/>
            <a:ext cx="297984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9/14</a:t>
            </a:r>
          </a:p>
        </p:txBody>
      </p:sp>
      <p:sp>
        <p:nvSpPr>
          <p:cNvPr id="8" name="Week 2026-09-21">
            <a:extLst xmlns:a="http://schemas.openxmlformats.org/drawingml/2006/main">
              <a:ext uri="{FF2B5EF4-FFF2-40B4-BE49-F238E27FC236}">
                <a16:creationId xmlns:a16="http://schemas.microsoft.com/office/drawing/2014/main" id="{A8557C8E-69A7-4EC8-9217-691D04B2A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9018" y="990600"/>
            <a:ext cx="297984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9/21</a:t>
            </a:r>
          </a:p>
        </p:txBody>
      </p:sp>
      <p:sp>
        <p:nvSpPr>
          <p:cNvPr id="9" name="Week 2026-09-28">
            <a:extLst xmlns:a="http://schemas.openxmlformats.org/drawingml/2006/main">
              <a:ext uri="{FF2B5EF4-FFF2-40B4-BE49-F238E27FC236}">
                <a16:creationId xmlns:a16="http://schemas.microsoft.com/office/drawing/2014/main" id="{744918BB-B9E1-47BF-A329-610C8A1DB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7002" y="990600"/>
            <a:ext cx="297984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9/28</a:t>
            </a:r>
          </a:p>
        </p:txBody>
      </p:sp>
      <p:sp>
        <p:nvSpPr>
          <p:cNvPr id="10" name="Week 2026-10-05">
            <a:extLst xmlns:a="http://schemas.openxmlformats.org/drawingml/2006/main">
              <a:ext uri="{FF2B5EF4-FFF2-40B4-BE49-F238E27FC236}">
                <a16:creationId xmlns:a16="http://schemas.microsoft.com/office/drawing/2014/main" id="{A2339EB2-623A-492E-A54E-EE8552A75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4986" y="990600"/>
            <a:ext cx="297984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10/5</a:t>
            </a:r>
          </a:p>
        </p:txBody>
      </p:sp>
      <p:sp>
        <p:nvSpPr>
          <p:cNvPr id="11" name="Week 2026-10-12">
            <a:extLst xmlns:a="http://schemas.openxmlformats.org/drawingml/2006/main">
              <a:ext uri="{FF2B5EF4-FFF2-40B4-BE49-F238E27FC236}">
                <a16:creationId xmlns:a16="http://schemas.microsoft.com/office/drawing/2014/main" id="{CBD33B9F-9FE7-4808-ADF0-9B54AAFA3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970" y="990600"/>
            <a:ext cx="297984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10/12</a:t>
            </a:r>
          </a:p>
        </p:txBody>
      </p:sp>
      <p:sp>
        <p:nvSpPr>
          <p:cNvPr id="12" name="Week 2026-10-19">
            <a:extLst xmlns:a="http://schemas.openxmlformats.org/drawingml/2006/main">
              <a:ext uri="{FF2B5EF4-FFF2-40B4-BE49-F238E27FC236}">
                <a16:creationId xmlns:a16="http://schemas.microsoft.com/office/drawing/2014/main" id="{32D5CC87-585F-48E5-9F6A-5997C35D4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0954" y="990600"/>
            <a:ext cx="297984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10/19</a:t>
            </a:r>
          </a:p>
        </p:txBody>
      </p:sp>
      <p:sp>
        <p:nvSpPr>
          <p:cNvPr id="13" name="Week 2026-10-26">
            <a:extLst xmlns:a="http://schemas.openxmlformats.org/drawingml/2006/main">
              <a:ext uri="{FF2B5EF4-FFF2-40B4-BE49-F238E27FC236}">
                <a16:creationId xmlns:a16="http://schemas.microsoft.com/office/drawing/2014/main" id="{FEDE6624-777D-4825-BB8E-B093FCD9F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8938" y="990600"/>
            <a:ext cx="297984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10/26</a:t>
            </a:r>
          </a:p>
        </p:txBody>
      </p:sp>
      <p:sp>
        <p:nvSpPr>
          <p:cNvPr id="14" name="Week 2026-11-02">
            <a:extLst xmlns:a="http://schemas.openxmlformats.org/drawingml/2006/main">
              <a:ext uri="{FF2B5EF4-FFF2-40B4-BE49-F238E27FC236}">
                <a16:creationId xmlns:a16="http://schemas.microsoft.com/office/drawing/2014/main" id="{E75CA6AC-2B59-4648-ACDA-FF077BFAD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6922" y="990600"/>
            <a:ext cx="297984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11/2</a:t>
            </a:r>
          </a:p>
        </p:txBody>
      </p:sp>
      <p:sp>
        <p:nvSpPr>
          <p:cNvPr id="15" name="Week 2026-11-09">
            <a:extLst xmlns:a="http://schemas.openxmlformats.org/drawingml/2006/main">
              <a:ext uri="{FF2B5EF4-FFF2-40B4-BE49-F238E27FC236}">
                <a16:creationId xmlns:a16="http://schemas.microsoft.com/office/drawing/2014/main" id="{2EA1C60B-20BB-4BE6-8FE0-D6C38B6D0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4906" y="990600"/>
            <a:ext cx="297984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11/9</a:t>
            </a:r>
          </a:p>
        </p:txBody>
      </p:sp>
      <p:sp>
        <p:nvSpPr>
          <p:cNvPr id="16" name="Week 2026-11-16">
            <a:extLst xmlns:a="http://schemas.openxmlformats.org/drawingml/2006/main">
              <a:ext uri="{FF2B5EF4-FFF2-40B4-BE49-F238E27FC236}">
                <a16:creationId xmlns:a16="http://schemas.microsoft.com/office/drawing/2014/main" id="{A0AFD29C-3AAA-456A-9B36-80C939D16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2889" y="990600"/>
            <a:ext cx="297984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11/16</a:t>
            </a:r>
          </a:p>
        </p:txBody>
      </p:sp>
      <p:sp>
        <p:nvSpPr>
          <p:cNvPr id="17" name="Week 2026-11-23">
            <a:extLst xmlns:a="http://schemas.openxmlformats.org/drawingml/2006/main">
              <a:ext uri="{FF2B5EF4-FFF2-40B4-BE49-F238E27FC236}">
                <a16:creationId xmlns:a16="http://schemas.microsoft.com/office/drawing/2014/main" id="{3D10F673-4CB0-41B6-9003-AF4E118FC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0873" y="990600"/>
            <a:ext cx="297984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11/23</a:t>
            </a:r>
          </a:p>
        </p:txBody>
      </p:sp>
      <p:sp>
        <p:nvSpPr>
          <p:cNvPr id="18" name="Week 2026-11-30">
            <a:extLst xmlns:a="http://schemas.openxmlformats.org/drawingml/2006/main">
              <a:ext uri="{FF2B5EF4-FFF2-40B4-BE49-F238E27FC236}">
                <a16:creationId xmlns:a16="http://schemas.microsoft.com/office/drawing/2014/main" id="{3010FB29-764C-4A5E-A863-AE970E4C7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8857" y="990600"/>
            <a:ext cx="297984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11/30</a:t>
            </a:r>
          </a:p>
        </p:txBody>
      </p:sp>
      <p:sp>
        <p:nvSpPr>
          <p:cNvPr id="19" name="Week 2026-12-07">
            <a:extLst xmlns:a="http://schemas.openxmlformats.org/drawingml/2006/main">
              <a:ext uri="{FF2B5EF4-FFF2-40B4-BE49-F238E27FC236}">
                <a16:creationId xmlns:a16="http://schemas.microsoft.com/office/drawing/2014/main" id="{F3FE6820-E9DE-4888-9242-F5ECFA968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841" y="990600"/>
            <a:ext cx="297984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12/7</a:t>
            </a:r>
          </a:p>
        </p:txBody>
      </p:sp>
      <p:sp>
        <p:nvSpPr>
          <p:cNvPr id="20" name="Week 2026-12-14">
            <a:extLst xmlns:a="http://schemas.openxmlformats.org/drawingml/2006/main">
              <a:ext uri="{FF2B5EF4-FFF2-40B4-BE49-F238E27FC236}">
                <a16:creationId xmlns:a16="http://schemas.microsoft.com/office/drawing/2014/main" id="{136DAE93-8E63-4B9A-BB64-810F3F017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4825" y="990600"/>
            <a:ext cx="297984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12/14</a:t>
            </a:r>
          </a:p>
        </p:txBody>
      </p:sp>
      <p:sp>
        <p:nvSpPr>
          <p:cNvPr id="21" name="Week 2026-12-21">
            <a:extLst xmlns:a="http://schemas.openxmlformats.org/drawingml/2006/main">
              <a:ext uri="{FF2B5EF4-FFF2-40B4-BE49-F238E27FC236}">
                <a16:creationId xmlns:a16="http://schemas.microsoft.com/office/drawing/2014/main" id="{834F3B8E-D77A-4211-815F-5E7DB2F9E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2809" y="990600"/>
            <a:ext cx="297984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12/21</a:t>
            </a:r>
          </a:p>
        </p:txBody>
      </p:sp>
      <p:sp>
        <p:nvSpPr>
          <p:cNvPr id="22" name="Week 2026-12-28">
            <a:extLst xmlns:a="http://schemas.openxmlformats.org/drawingml/2006/main">
              <a:ext uri="{FF2B5EF4-FFF2-40B4-BE49-F238E27FC236}">
                <a16:creationId xmlns:a16="http://schemas.microsoft.com/office/drawing/2014/main" id="{EE9C8C03-5C74-4805-A821-661B479F5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0793" y="990600"/>
            <a:ext cx="297984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12/28</a:t>
            </a:r>
          </a:p>
        </p:txBody>
      </p:sp>
      <p:sp>
        <p:nvSpPr>
          <p:cNvPr id="23" name="Week 2027-01-01">
            <a:extLst xmlns:a="http://schemas.openxmlformats.org/drawingml/2006/main">
              <a:ext uri="{FF2B5EF4-FFF2-40B4-BE49-F238E27FC236}">
                <a16:creationId xmlns:a16="http://schemas.microsoft.com/office/drawing/2014/main" id="{AB6FB304-58D4-4602-9B02-7B15D84F2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8777" y="990600"/>
            <a:ext cx="476774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Jan</a:t>
            </a:r>
          </a:p>
        </p:txBody>
      </p:sp>
      <p:sp>
        <p:nvSpPr>
          <p:cNvPr id="24" name="Week 2027-02-01">
            <a:extLst xmlns:a="http://schemas.openxmlformats.org/drawingml/2006/main">
              <a:ext uri="{FF2B5EF4-FFF2-40B4-BE49-F238E27FC236}">
                <a16:creationId xmlns:a16="http://schemas.microsoft.com/office/drawing/2014/main" id="{6E28B8F0-C558-40BB-8754-FC8850848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5551" y="990600"/>
            <a:ext cx="476774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Feb</a:t>
            </a:r>
          </a:p>
        </p:txBody>
      </p:sp>
      <p:sp>
        <p:nvSpPr>
          <p:cNvPr id="25" name="Week 2027-03-01">
            <a:extLst xmlns:a="http://schemas.openxmlformats.org/drawingml/2006/main">
              <a:ext uri="{FF2B5EF4-FFF2-40B4-BE49-F238E27FC236}">
                <a16:creationId xmlns:a16="http://schemas.microsoft.com/office/drawing/2014/main" id="{598FF916-38A6-4FA7-9685-086E38862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326" y="990600"/>
            <a:ext cx="476774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Mar</a:t>
            </a:r>
          </a:p>
        </p:txBody>
      </p:sp>
      <p:sp>
        <p:nvSpPr>
          <p:cNvPr id="511" name="Legend swatch Complete">
            <a:extLst xmlns:a="http://schemas.openxmlformats.org/drawingml/2006/main">
              <a:ext uri="{FF2B5EF4-FFF2-40B4-BE49-F238E27FC236}">
                <a16:creationId xmlns:a16="http://schemas.microsoft.com/office/drawing/2014/main" id="{1180DE2B-B1F2-4D2D-B720-5AA03A8B3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153150"/>
            <a:ext cx="2190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5959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12" name="Legend Complete">
            <a:extLst xmlns:a="http://schemas.openxmlformats.org/drawingml/2006/main">
              <a:ext uri="{FF2B5EF4-FFF2-40B4-BE49-F238E27FC236}">
                <a16:creationId xmlns:a16="http://schemas.microsoft.com/office/drawing/2014/main" id="{DA9CAE2D-7D6E-42C6-BE20-D0A5672D2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6115050"/>
            <a:ext cx="1285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Complete</a:t>
            </a:r>
          </a:p>
        </p:txBody>
      </p:sp>
      <p:sp>
        <p:nvSpPr>
          <p:cNvPr id="513" name="Legend swatch In progress">
            <a:extLst xmlns:a="http://schemas.openxmlformats.org/drawingml/2006/main">
              <a:ext uri="{FF2B5EF4-FFF2-40B4-BE49-F238E27FC236}">
                <a16:creationId xmlns:a16="http://schemas.microsoft.com/office/drawing/2014/main" id="{45F845AF-4E43-4B00-A0A1-AFAB674E3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6153150"/>
            <a:ext cx="2190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A323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14" name="Legend In progress">
            <a:extLst xmlns:a="http://schemas.openxmlformats.org/drawingml/2006/main">
              <a:ext uri="{FF2B5EF4-FFF2-40B4-BE49-F238E27FC236}">
                <a16:creationId xmlns:a16="http://schemas.microsoft.com/office/drawing/2014/main" id="{6BBFE1F1-78D9-4E32-B446-FF4F8DE3A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6115050"/>
            <a:ext cx="1285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In progress</a:t>
            </a:r>
          </a:p>
        </p:txBody>
      </p:sp>
      <p:sp>
        <p:nvSpPr>
          <p:cNvPr id="515" name="Legend swatch Planned">
            <a:extLst xmlns:a="http://schemas.openxmlformats.org/drawingml/2006/main">
              <a:ext uri="{FF2B5EF4-FFF2-40B4-BE49-F238E27FC236}">
                <a16:creationId xmlns:a16="http://schemas.microsoft.com/office/drawing/2014/main" id="{6A969DCA-4996-46E0-AB95-5BB8918CD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6153150"/>
            <a:ext cx="2190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EC4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16" name="Legend Planned">
            <a:extLst xmlns:a="http://schemas.openxmlformats.org/drawingml/2006/main">
              <a:ext uri="{FF2B5EF4-FFF2-40B4-BE49-F238E27FC236}">
                <a16:creationId xmlns:a16="http://schemas.microsoft.com/office/drawing/2014/main" id="{7B87BBED-08EF-4B8E-8961-38E460525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6115050"/>
            <a:ext cx="1285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Planned</a:t>
            </a:r>
          </a:p>
        </p:txBody>
      </p:sp>
      <p:sp>
        <p:nvSpPr>
          <p:cNvPr id="517" name="Legend swatch Conditional">
            <a:extLst xmlns:a="http://schemas.openxmlformats.org/drawingml/2006/main">
              <a:ext uri="{FF2B5EF4-FFF2-40B4-BE49-F238E27FC236}">
                <a16:creationId xmlns:a16="http://schemas.microsoft.com/office/drawing/2014/main" id="{9C104601-4299-4E2C-A87A-1024EA2BF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6153150"/>
            <a:ext cx="2190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66666"/>
            </a:solidFill>
          </a:ln>
        </p:spPr>
        <p:txBody xmlns:a="http://schemas.openxmlformats.org/drawingml/2006/main">
          <a:bodyPr/>
          <a:p/>
        </p:txBody>
      </p:sp>
      <p:sp>
        <p:nvSpPr>
          <p:cNvPr id="518" name="Legend Conditional">
            <a:extLst xmlns:a="http://schemas.openxmlformats.org/drawingml/2006/main">
              <a:ext uri="{FF2B5EF4-FFF2-40B4-BE49-F238E27FC236}">
                <a16:creationId xmlns:a16="http://schemas.microsoft.com/office/drawing/2014/main" id="{16D7CC4F-E977-46C9-BA66-3BDD5868D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6115050"/>
            <a:ext cx="1285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Conditional</a:t>
            </a:r>
          </a:p>
        </p:txBody>
      </p:sp>
      <p:sp>
        <p:nvSpPr>
          <p:cNvPr id="519" name="Milestone legend">
            <a:extLst xmlns:a="http://schemas.openxmlformats.org/drawingml/2006/main">
              <a:ext uri="{FF2B5EF4-FFF2-40B4-BE49-F238E27FC236}">
                <a16:creationId xmlns:a16="http://schemas.microsoft.com/office/drawing/2014/main" id="{F987CEA0-0D29-4B87-82A9-304F9A377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6153150"/>
            <a:ext cx="95250" cy="952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20" name="Milestone legend text">
            <a:extLst xmlns:a="http://schemas.openxmlformats.org/drawingml/2006/main">
              <a:ext uri="{FF2B5EF4-FFF2-40B4-BE49-F238E27FC236}">
                <a16:creationId xmlns:a16="http://schemas.microsoft.com/office/drawing/2014/main" id="{4B0C0306-318A-455F-8830-9C842F9A5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61150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Milestone / deadline</a:t>
            </a:r>
          </a:p>
        </p:txBody>
      </p:sp>
      <p:sp>
        <p:nvSpPr>
          <p:cNvPr id="521" name="Date stamp">
            <a:extLst xmlns:a="http://schemas.openxmlformats.org/drawingml/2006/main">
              <a:ext uri="{FF2B5EF4-FFF2-40B4-BE49-F238E27FC236}">
                <a16:creationId xmlns:a16="http://schemas.microsoft.com/office/drawing/2014/main" id="{E9F2EE4C-07E9-4A22-BC9F-708A88873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11505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63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As of Oct 15, 2026</a:t>
            </a:r>
          </a:p>
        </p:txBody>
      </p:sp>
      <p:sp>
        <p:nvSpPr>
          <p:cNvPr id="522" name="Footer 1">
            <a:extLst xmlns:a="http://schemas.openxmlformats.org/drawingml/2006/main">
              <a:ext uri="{FF2B5EF4-FFF2-40B4-BE49-F238E27FC236}">
                <a16:creationId xmlns:a16="http://schemas.microsoft.com/office/drawing/2014/main" id="{FD06992D-F20A-48A3-8E82-835D5E118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372225"/>
            <a:ext cx="1152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AI supports literature study, coding, analysis and writing. Review and interpretation are included in the scheduled work.</a:t>
            </a:r>
          </a:p>
        </p:txBody>
      </p:sp>
      <p:sp>
        <p:nvSpPr>
          <p:cNvPr id="523" name="Footer 2">
            <a:extLst xmlns:a="http://schemas.openxmlformats.org/drawingml/2006/main">
              <a:ext uri="{FF2B5EF4-FFF2-40B4-BE49-F238E27FC236}">
                <a16:creationId xmlns:a16="http://schemas.microsoft.com/office/drawing/2014/main" id="{A3E4BFCE-ACF5-4E7F-A533-25AF8BD73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91300"/>
            <a:ext cx="11287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444444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Columns show week starting dates, then months in 2027. Course dates follow the syllabus schedule. Research completion remains open.</a:t>
            </a:r>
          </a:p>
        </p:txBody>
      </p:sp>
      <p:sp>
        <p:nvSpPr>
          <p:cNvPr id="524" name="Page">
            <a:extLst xmlns:a="http://schemas.openxmlformats.org/drawingml/2006/main">
              <a:ext uri="{FF2B5EF4-FFF2-40B4-BE49-F238E27FC236}">
                <a16:creationId xmlns:a16="http://schemas.microsoft.com/office/drawing/2014/main" id="{EA07A163-829D-491F-92CB-76B0A0968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600825"/>
            <a:ext cx="2286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001" name="Section Stages 1 and 2 | Representation analysis and defining alignmen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85875"/>
            <a:ext cx="115252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002" name="Section title Stages 1 and 2 | Representation analysis and defining alignmen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1285875"/>
            <a:ext cx="114681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Stages 1 and 2 | Representation analysis and defining alignment</a:t>
            </a:r>
          </a:p>
        </p:txBody>
      </p:sp>
      <p:sp>
        <p:nvSpPr>
          <p:cNvPr id="5003" name="Week rule 0 2026-09-0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148590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004" name="Week rule 0 2026-09-1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1034" y="148590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005" name="Week rule 0 2026-09-2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9018" y="148590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006" name="Week rule 0 2026-09-2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7002" y="148590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007" name="Week rule 0 2026-10-05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4986" y="148590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008" name="Week rule 0 2026-10-1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970" y="148590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009" name="Week rule 0 2026-10-1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0954" y="148590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010" name="Week rule 0 2026-10-2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8938" y="148590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011" name="Week rule 0 2026-11-0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6922" y="148590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012" name="Week rule 0 2026-11-0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4906" y="148590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013" name="Week rule 0 2026-11-1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2890" y="148590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014" name="Week rule 0 2026-11-2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0874" y="148590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015" name="Week rule 0 2026-11-3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8858" y="148590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016" name="Week rule 0 2026-12-0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842" y="148590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017" name="Week rule 0 2026-12-1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4826" y="148590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018" name="Week rule 0 2026-12-2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2810" y="148590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019" name="Week rule 0 2026-12-2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0794" y="148590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020" name="Week rule 0 2027-01-0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8778" y="148590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021" name="Week rule 0 2027-02-0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5552" y="148590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022" name="Week rule 0 2027-03-0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326" y="148590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023" name="Task 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1485900"/>
            <a:ext cx="4152900" cy="18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Initial six-paper review</a:t>
            </a:r>
          </a:p>
        </p:txBody>
      </p:sp>
      <p:sp>
        <p:nvSpPr>
          <p:cNvPr id="5024" name="Status 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485900"/>
            <a:ext cx="838200" cy="18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Complete</a:t>
            </a:r>
          </a:p>
        </p:txBody>
      </p:sp>
      <p:sp>
        <p:nvSpPr>
          <p:cNvPr id="5025" name="Bar 0 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1526362"/>
            <a:ext cx="29798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5959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026" name="Bar 0 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1034" y="1526362"/>
            <a:ext cx="29798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5959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027" name="Bar 0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9018" y="1526362"/>
            <a:ext cx="42569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5959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028" name="Row rule 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671600"/>
            <a:ext cx="1152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029" name="Row tint 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671600"/>
            <a:ext cx="11525250" cy="18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030" name="Week rule 1 2026-09-0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167160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031" name="Week rule 1 2026-09-1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1034" y="167160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032" name="Week rule 1 2026-09-2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9018" y="167160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033" name="Week rule 1 2026-09-2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7002" y="167160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034" name="Week rule 1 2026-10-05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4986" y="167160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035" name="Week rule 1 2026-10-1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970" y="167160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036" name="Week rule 1 2026-10-1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0954" y="167160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037" name="Week rule 1 2026-10-2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8938" y="167160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038" name="Week rule 1 2026-11-0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6922" y="167160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039" name="Week rule 1 2026-11-0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4906" y="167160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040" name="Week rule 1 2026-11-1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2890" y="167160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041" name="Week rule 1 2026-11-2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0874" y="167160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042" name="Week rule 1 2026-11-3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8858" y="167160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043" name="Week rule 1 2026-12-0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842" y="167160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044" name="Week rule 1 2026-12-1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4826" y="167160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045" name="Week rule 1 2026-12-2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2810" y="167160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046" name="Week rule 1 2026-12-2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0794" y="167160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047" name="Week rule 1 2027-01-0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8778" y="167160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048" name="Week rule 1 2027-02-0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5552" y="167160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049" name="Week rule 1 2027-03-0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326" y="167160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050" name="Task 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1671600"/>
            <a:ext cx="4152900" cy="18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Paper discussion, data checks and interpretation</a:t>
            </a:r>
          </a:p>
        </p:txBody>
      </p:sp>
      <p:sp>
        <p:nvSpPr>
          <p:cNvPr id="5051" name="Status 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671600"/>
            <a:ext cx="838200" cy="18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In progress</a:t>
            </a:r>
          </a:p>
        </p:txBody>
      </p:sp>
      <p:sp>
        <p:nvSpPr>
          <p:cNvPr id="5052" name="Bar 1 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9018" y="1712062"/>
            <a:ext cx="29798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A323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053" name="Bar 1 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7002" y="1712062"/>
            <a:ext cx="29798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A323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054" name="Bar 1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4986" y="1712062"/>
            <a:ext cx="127707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A323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055" name="Row rule 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857300"/>
            <a:ext cx="1152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056" name="Week rule 2 2026-09-0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185730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057" name="Week rule 2 2026-09-1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1034" y="185730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058" name="Week rule 2 2026-09-2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9018" y="185730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059" name="Week rule 2 2026-09-2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7002" y="185730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060" name="Week rule 2 2026-10-05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4986" y="185730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061" name="Week rule 2 2026-10-1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970" y="185730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062" name="Week rule 2 2026-10-1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0954" y="185730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063" name="Week rule 2 2026-10-2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8938" y="185730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064" name="Week rule 2 2026-11-0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6922" y="185730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065" name="Week rule 2 2026-11-0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4906" y="185730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066" name="Week rule 2 2026-11-1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2890" y="185730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067" name="Week rule 2 2026-11-2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0874" y="185730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068" name="Week rule 2 2026-11-3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8858" y="185730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069" name="Week rule 2 2026-12-0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842" y="185730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070" name="Week rule 2 2026-12-1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4826" y="185730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071" name="Week rule 2 2026-12-2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2810" y="185730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072" name="Week rule 2 2026-12-2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0794" y="185730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073" name="Week rule 2 2027-01-0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8778" y="185730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074" name="Week rule 2 2027-02-0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5552" y="185730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075" name="Week rule 2 2027-03-0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326" y="185730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076" name="Task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1857300"/>
            <a:ext cx="4152900" cy="18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BioLangFusion/IsoFormer comparisons with DNA</a:t>
            </a:r>
          </a:p>
        </p:txBody>
      </p:sp>
      <p:sp>
        <p:nvSpPr>
          <p:cNvPr id="5077" name="Status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857300"/>
            <a:ext cx="838200" cy="18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Complete</a:t>
            </a:r>
          </a:p>
        </p:txBody>
      </p:sp>
      <p:sp>
        <p:nvSpPr>
          <p:cNvPr id="5078" name="Bar 2 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7002" y="1897762"/>
            <a:ext cx="25541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5959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079" name="Row rule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043000"/>
            <a:ext cx="1152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080" name="Row tint 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043000"/>
            <a:ext cx="11525250" cy="18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081" name="Week rule 3 2026-09-0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04300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082" name="Week rule 3 2026-09-1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1034" y="204300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083" name="Week rule 3 2026-09-2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9018" y="204300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084" name="Week rule 3 2026-09-2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7002" y="204300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085" name="Week rule 3 2026-10-05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4986" y="204300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086" name="Week rule 3 2026-10-1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970" y="204300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087" name="Week rule 3 2026-10-1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0954" y="204300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088" name="Week rule 3 2026-10-2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8938" y="204300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089" name="Week rule 3 2026-11-0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6922" y="204300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090" name="Week rule 3 2026-11-0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4906" y="204300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091" name="Week rule 3 2026-11-1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2890" y="204300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092" name="Week rule 3 2026-11-2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0874" y="204300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093" name="Week rule 3 2026-11-3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8858" y="204300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094" name="Week rule 3 2026-12-0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842" y="204300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095" name="Week rule 3 2026-12-1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4826" y="204300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096" name="Week rule 3 2026-12-2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2810" y="204300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097" name="Week rule 3 2026-12-2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0794" y="204300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098" name="Week rule 3 2027-01-0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8778" y="204300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099" name="Week rule 3 2027-02-0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5552" y="204300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100" name="Week rule 3 2027-03-0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326" y="204300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101" name="Task 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2043000"/>
            <a:ext cx="4152900" cy="18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Oct 7 review and working alignment definition</a:t>
            </a:r>
          </a:p>
        </p:txBody>
      </p:sp>
      <p:sp>
        <p:nvSpPr>
          <p:cNvPr id="5102" name="Status 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043000"/>
            <a:ext cx="838200" cy="18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Planned</a:t>
            </a:r>
          </a:p>
        </p:txBody>
      </p:sp>
      <p:sp>
        <p:nvSpPr>
          <p:cNvPr id="5103" name="Milestone 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3783" y="2088225"/>
            <a:ext cx="95250" cy="952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104" name="Row rule 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228700"/>
            <a:ext cx="1152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105" name="Week rule 4 2026-09-0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22870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106" name="Week rule 4 2026-09-1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1034" y="222870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107" name="Week rule 4 2026-09-2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9018" y="222870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108" name="Week rule 4 2026-09-2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7002" y="222870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109" name="Week rule 4 2026-10-05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4986" y="222870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110" name="Week rule 4 2026-10-1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970" y="222870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111" name="Week rule 4 2026-10-1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0954" y="222870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112" name="Week rule 4 2026-10-2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8938" y="222870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113" name="Week rule 4 2026-11-0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6922" y="222870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114" name="Week rule 4 2026-11-0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4906" y="222870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115" name="Week rule 4 2026-11-1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2890" y="222870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116" name="Week rule 4 2026-11-2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0874" y="222870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117" name="Week rule 4 2026-11-3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8858" y="222870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118" name="Week rule 4 2026-12-0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842" y="222870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119" name="Week rule 4 2026-12-1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4826" y="222870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120" name="Week rule 4 2026-12-2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2810" y="222870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121" name="Week rule 4 2026-12-2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0794" y="222870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122" name="Week rule 4 2027-01-0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8778" y="222870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123" name="Week rule 4 2027-02-0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5552" y="222870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124" name="Week rule 4 2027-03-0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326" y="222870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125" name="Task 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2228700"/>
            <a:ext cx="4152900" cy="18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Feedback revisions and comparison protocol</a:t>
            </a:r>
          </a:p>
        </p:txBody>
      </p:sp>
      <p:sp>
        <p:nvSpPr>
          <p:cNvPr id="5126" name="Status 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228700"/>
            <a:ext cx="838200" cy="18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Planned</a:t>
            </a:r>
          </a:p>
        </p:txBody>
      </p:sp>
      <p:sp>
        <p:nvSpPr>
          <p:cNvPr id="5127" name="Bar 4 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2693" y="2269162"/>
            <a:ext cx="170276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EC4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128" name="Row rule 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414400"/>
            <a:ext cx="1152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129" name="Section Stages 3 and 4 | Fusion experiments and evaluation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414400"/>
            <a:ext cx="115252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130" name="Section title Stages 3 and 4 | Fusion experiments and evaluation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2414400"/>
            <a:ext cx="114681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Stages 3 and 4 | Fusion experiments and evaluation</a:t>
            </a:r>
          </a:p>
        </p:txBody>
      </p:sp>
      <p:sp>
        <p:nvSpPr>
          <p:cNvPr id="5131" name="Row tint 5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614425"/>
            <a:ext cx="11525250" cy="18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132" name="Week rule 5 2026-09-0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614425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133" name="Week rule 5 2026-09-1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1034" y="2614425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134" name="Week rule 5 2026-09-2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9018" y="2614425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135" name="Week rule 5 2026-09-2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7002" y="2614425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136" name="Week rule 5 2026-10-05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4986" y="2614425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137" name="Week rule 5 2026-10-1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970" y="2614425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138" name="Week rule 5 2026-10-1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0954" y="2614425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139" name="Week rule 5 2026-10-2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8938" y="2614425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140" name="Week rule 5 2026-11-0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6922" y="2614425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141" name="Week rule 5 2026-11-0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4906" y="2614425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142" name="Week rule 5 2026-11-1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2890" y="2614425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143" name="Week rule 5 2026-11-2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0874" y="2614425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144" name="Week rule 5 2026-11-3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8858" y="2614425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145" name="Week rule 5 2026-12-0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842" y="2614425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146" name="Week rule 5 2026-12-1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4826" y="2614425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147" name="Week rule 5 2026-12-2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2810" y="2614425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148" name="Week rule 5 2026-12-2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0794" y="2614425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149" name="Week rule 5 2027-01-0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8778" y="2614425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150" name="Week rule 5 2027-02-0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5552" y="2614425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151" name="Week rule 5 2027-03-0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326" y="2614425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152" name="Task 5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2614425"/>
            <a:ext cx="4152900" cy="18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Baselines, BioLangFusion reproduction, Coupled Mamba</a:t>
            </a:r>
          </a:p>
        </p:txBody>
      </p:sp>
      <p:sp>
        <p:nvSpPr>
          <p:cNvPr id="5153" name="Status 5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614425"/>
            <a:ext cx="838200" cy="18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Planned</a:t>
            </a:r>
          </a:p>
        </p:txBody>
      </p:sp>
      <p:sp>
        <p:nvSpPr>
          <p:cNvPr id="5154" name="Bar 5 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7555" y="2654887"/>
            <a:ext cx="25541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EC4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155" name="Bar 5 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970" y="2654887"/>
            <a:ext cx="29798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EC4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156" name="Bar 5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0954" y="2654887"/>
            <a:ext cx="29798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EC4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157" name="Bar 5 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8938" y="2654887"/>
            <a:ext cx="29798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EC4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158" name="Bar 5 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6922" y="2654887"/>
            <a:ext cx="29798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EC4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159" name="Row rule 5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800125"/>
            <a:ext cx="1152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160" name="Week rule 6 2026-09-0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800125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161" name="Week rule 6 2026-09-1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1034" y="2800125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162" name="Week rule 6 2026-09-2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9018" y="2800125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163" name="Week rule 6 2026-09-2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7002" y="2800125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164" name="Week rule 6 2026-10-05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4986" y="2800125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165" name="Week rule 6 2026-10-1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970" y="2800125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166" name="Week rule 6 2026-10-1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0954" y="2800125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167" name="Week rule 6 2026-10-2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8938" y="2800125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168" name="Week rule 6 2026-11-0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6922" y="2800125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169" name="Week rule 6 2026-11-0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4906" y="2800125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170" name="Week rule 6 2026-11-1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2890" y="2800125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171" name="Week rule 6 2026-11-2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0874" y="2800125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172" name="Week rule 6 2026-11-3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8858" y="2800125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173" name="Week rule 6 2026-12-0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842" y="2800125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174" name="Week rule 6 2026-12-1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4826" y="2800125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175" name="Week rule 6 2026-12-2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2810" y="2800125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176" name="Week rule 6 2026-12-2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0794" y="2800125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177" name="Week rule 6 2027-01-0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8778" y="2800125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178" name="Week rule 6 2027-02-0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5552" y="2800125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179" name="Week rule 6 2027-03-0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326" y="2800125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180" name="Task 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2800125"/>
            <a:ext cx="4152900" cy="18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Encoder swaps, then LucaOne (plan items 1 and 2)</a:t>
            </a:r>
          </a:p>
        </p:txBody>
      </p:sp>
      <p:sp>
        <p:nvSpPr>
          <p:cNvPr id="5181" name="Status 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00125"/>
            <a:ext cx="838200" cy="18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Planned</a:t>
            </a:r>
          </a:p>
        </p:txBody>
      </p:sp>
      <p:sp>
        <p:nvSpPr>
          <p:cNvPr id="5182" name="Bar 6 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8938" y="2840587"/>
            <a:ext cx="29798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EC4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183" name="Bar 6 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6922" y="2840587"/>
            <a:ext cx="29798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EC4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184" name="Bar 6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4906" y="2840587"/>
            <a:ext cx="29798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EC4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185" name="Bar 6 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2890" y="2840587"/>
            <a:ext cx="29798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EC4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186" name="Row rule 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985825"/>
            <a:ext cx="1152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187" name="Row tint 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985825"/>
            <a:ext cx="11525250" cy="18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188" name="Week rule 7 2026-09-0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985825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189" name="Week rule 7 2026-09-1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1034" y="2985825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190" name="Week rule 7 2026-09-2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9018" y="2985825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191" name="Week rule 7 2026-09-2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7002" y="2985825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192" name="Week rule 7 2026-10-05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4986" y="2985825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193" name="Week rule 7 2026-10-1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970" y="2985825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194" name="Week rule 7 2026-10-1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0954" y="2985825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195" name="Week rule 7 2026-10-2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8938" y="2985825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196" name="Week rule 7 2026-11-0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6922" y="2985825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197" name="Week rule 7 2026-11-0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4906" y="2985825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198" name="Week rule 7 2026-11-1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2890" y="2985825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199" name="Week rule 7 2026-11-2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0874" y="2985825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200" name="Week rule 7 2026-11-3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8858" y="2985825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201" name="Week rule 7 2026-12-0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842" y="2985825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202" name="Week rule 7 2026-12-1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4826" y="2985825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203" name="Week rule 7 2026-12-2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2810" y="2985825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204" name="Week rule 7 2026-12-2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0794" y="2985825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205" name="Week rule 7 2027-01-0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8778" y="2985825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206" name="Week rule 7 2027-02-0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5552" y="2985825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207" name="Week rule 7 2027-03-0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326" y="2985825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208" name="Task 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2985825"/>
            <a:ext cx="4152900" cy="18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Controls with mRFP, repeated runs and synthesis</a:t>
            </a:r>
          </a:p>
        </p:txBody>
      </p:sp>
      <p:sp>
        <p:nvSpPr>
          <p:cNvPr id="5209" name="Status 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985825"/>
            <a:ext cx="838200" cy="18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Planned</a:t>
            </a:r>
          </a:p>
        </p:txBody>
      </p:sp>
      <p:sp>
        <p:nvSpPr>
          <p:cNvPr id="5210" name="Bar 7 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970" y="3026287"/>
            <a:ext cx="29798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EC4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211" name="Bar 7 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0954" y="3026287"/>
            <a:ext cx="29798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EC4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212" name="Bar 7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8938" y="3026287"/>
            <a:ext cx="29798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EC4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213" name="Bar 7 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6922" y="3026287"/>
            <a:ext cx="29798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EC4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214" name="Bar 7 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4906" y="3026287"/>
            <a:ext cx="29798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EC4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215" name="Bar 7 5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2890" y="3026287"/>
            <a:ext cx="29798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EC4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216" name="Bar 7 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0874" y="3026287"/>
            <a:ext cx="29798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EC4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217" name="Row rule 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171525"/>
            <a:ext cx="1152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218" name="Week rule 8 2026-09-0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171525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219" name="Week rule 8 2026-09-1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1034" y="3171525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220" name="Week rule 8 2026-09-2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9018" y="3171525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221" name="Week rule 8 2026-09-2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7002" y="3171525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222" name="Week rule 8 2026-10-05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4986" y="3171525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223" name="Week rule 8 2026-10-1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970" y="3171525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224" name="Week rule 8 2026-10-1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0954" y="3171525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225" name="Week rule 8 2026-10-2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8938" y="3171525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226" name="Week rule 8 2026-11-0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6922" y="3171525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227" name="Week rule 8 2026-11-0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4906" y="3171525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228" name="Week rule 8 2026-11-1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2890" y="3171525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229" name="Week rule 8 2026-11-2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0874" y="3171525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230" name="Week rule 8 2026-11-3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8858" y="3171525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231" name="Week rule 8 2026-12-0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842" y="3171525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232" name="Week rule 8 2026-12-1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4826" y="3171525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233" name="Week rule 8 2026-12-2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2810" y="3171525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234" name="Week rule 8 2026-12-2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0794" y="3171525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235" name="Week rule 8 2027-01-0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8778" y="3171525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236" name="Week rule 8 2027-02-0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5552" y="3171525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237" name="Week rule 8 2027-03-0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326" y="3171525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238" name="Task 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3171525"/>
            <a:ext cx="4152900" cy="18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Optional layer, ablation, fusion and tokenizer comparisons</a:t>
            </a:r>
          </a:p>
        </p:txBody>
      </p:sp>
      <p:sp>
        <p:nvSpPr>
          <p:cNvPr id="5239" name="Status 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171525"/>
            <a:ext cx="838200" cy="18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Conditional</a:t>
            </a:r>
          </a:p>
        </p:txBody>
      </p:sp>
      <p:sp>
        <p:nvSpPr>
          <p:cNvPr id="5240" name="Bar 8 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7555" y="3211987"/>
            <a:ext cx="25541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66666"/>
            </a:solidFill>
          </a:ln>
        </p:spPr>
        <p:txBody xmlns:a="http://schemas.openxmlformats.org/drawingml/2006/main">
          <a:bodyPr/>
          <a:p/>
        </p:txBody>
      </p:sp>
      <p:sp>
        <p:nvSpPr>
          <p:cNvPr id="5241" name="Bar 8 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970" y="3211987"/>
            <a:ext cx="29798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66666"/>
            </a:solidFill>
          </a:ln>
        </p:spPr>
        <p:txBody xmlns:a="http://schemas.openxmlformats.org/drawingml/2006/main">
          <a:bodyPr/>
          <a:p/>
        </p:txBody>
      </p:sp>
      <p:sp>
        <p:nvSpPr>
          <p:cNvPr id="5242" name="Bar 8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0954" y="3211987"/>
            <a:ext cx="29798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66666"/>
            </a:solidFill>
          </a:ln>
        </p:spPr>
        <p:txBody xmlns:a="http://schemas.openxmlformats.org/drawingml/2006/main">
          <a:bodyPr/>
          <a:p/>
        </p:txBody>
      </p:sp>
      <p:sp>
        <p:nvSpPr>
          <p:cNvPr id="5243" name="Bar 8 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8938" y="3211987"/>
            <a:ext cx="29798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66666"/>
            </a:solidFill>
          </a:ln>
        </p:spPr>
        <p:txBody xmlns:a="http://schemas.openxmlformats.org/drawingml/2006/main">
          <a:bodyPr/>
          <a:p/>
        </p:txBody>
      </p:sp>
      <p:sp>
        <p:nvSpPr>
          <p:cNvPr id="5244" name="Bar 8 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6922" y="3211987"/>
            <a:ext cx="29798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66666"/>
            </a:solidFill>
          </a:ln>
        </p:spPr>
        <p:txBody xmlns:a="http://schemas.openxmlformats.org/drawingml/2006/main">
          <a:bodyPr/>
          <a:p/>
        </p:txBody>
      </p:sp>
      <p:sp>
        <p:nvSpPr>
          <p:cNvPr id="5245" name="Bar 8 5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4906" y="3211987"/>
            <a:ext cx="29798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66666"/>
            </a:solidFill>
          </a:ln>
        </p:spPr>
        <p:txBody xmlns:a="http://schemas.openxmlformats.org/drawingml/2006/main">
          <a:bodyPr/>
          <a:p/>
        </p:txBody>
      </p:sp>
      <p:sp>
        <p:nvSpPr>
          <p:cNvPr id="5246" name="Row rule 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357225"/>
            <a:ext cx="1152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247" name="Section Research writing and coordination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357225"/>
            <a:ext cx="115252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248" name="Section title Research writing and coordination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3357225"/>
            <a:ext cx="114681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Research writing and coordination</a:t>
            </a:r>
          </a:p>
        </p:txBody>
      </p:sp>
      <p:sp>
        <p:nvSpPr>
          <p:cNvPr id="5249" name="Row tint 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557250"/>
            <a:ext cx="11525250" cy="18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250" name="Week rule 9 2026-09-0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55725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251" name="Week rule 9 2026-09-1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1034" y="355725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252" name="Week rule 9 2026-09-2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9018" y="355725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253" name="Week rule 9 2026-09-2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7002" y="355725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254" name="Week rule 9 2026-10-05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4986" y="355725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255" name="Week rule 9 2026-10-1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970" y="355725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256" name="Week rule 9 2026-10-1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0954" y="355725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257" name="Week rule 9 2026-10-2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8938" y="355725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258" name="Week rule 9 2026-11-0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6922" y="355725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259" name="Week rule 9 2026-11-0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4906" y="355725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260" name="Week rule 9 2026-11-1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2890" y="355725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261" name="Week rule 9 2026-11-2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0874" y="355725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262" name="Week rule 9 2026-11-3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8858" y="355725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263" name="Week rule 9 2026-12-0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842" y="355725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264" name="Week rule 9 2026-12-1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4826" y="355725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265" name="Week rule 9 2026-12-2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2810" y="355725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266" name="Week rule 9 2026-12-2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0794" y="355725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267" name="Week rule 9 2027-01-0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8778" y="355725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268" name="Week rule 9 2027-02-0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5552" y="355725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269" name="Week rule 9 2027-03-0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326" y="355725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270" name="Task 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3557250"/>
            <a:ext cx="4152900" cy="18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Team coordination and research decisions</a:t>
            </a:r>
          </a:p>
        </p:txBody>
      </p:sp>
      <p:sp>
        <p:nvSpPr>
          <p:cNvPr id="5271" name="Status 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557250"/>
            <a:ext cx="838200" cy="18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In progress</a:t>
            </a:r>
          </a:p>
        </p:txBody>
      </p:sp>
      <p:sp>
        <p:nvSpPr>
          <p:cNvPr id="5272" name="Bar 9 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1034" y="3597712"/>
            <a:ext cx="29798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A323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273" name="Bar 9 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9018" y="3597712"/>
            <a:ext cx="29798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A323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274" name="Bar 9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7002" y="3597712"/>
            <a:ext cx="29798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A323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275" name="Bar 9 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4986" y="3597712"/>
            <a:ext cx="29798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A323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276" name="Bar 9 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970" y="3597712"/>
            <a:ext cx="29798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A323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277" name="Bar 9 5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0954" y="3597712"/>
            <a:ext cx="29798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A323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278" name="Bar 9 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8938" y="3597712"/>
            <a:ext cx="29798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A323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279" name="Bar 9 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6922" y="3597712"/>
            <a:ext cx="29798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A323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280" name="Bar 9 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4906" y="3597712"/>
            <a:ext cx="29798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A323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281" name="Bar 9 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2890" y="3597712"/>
            <a:ext cx="29798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A323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282" name="Bar 9 1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0874" y="3597712"/>
            <a:ext cx="29798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A323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283" name="Bar 9 1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8858" y="3597712"/>
            <a:ext cx="29798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A323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284" name="Bar 9 1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842" y="3597712"/>
            <a:ext cx="29798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A323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285" name="Bar 9 1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4826" y="3597712"/>
            <a:ext cx="29798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A323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286" name="Bar 9 1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2810" y="3597712"/>
            <a:ext cx="29798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A323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287" name="Bar 9 15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0794" y="3597712"/>
            <a:ext cx="29798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A323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288" name="Bar 9 1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8778" y="3597712"/>
            <a:ext cx="47677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A323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289" name="Bar 9 1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5552" y="3597712"/>
            <a:ext cx="47677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A323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290" name="Bar 9 1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326" y="3597712"/>
            <a:ext cx="47677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A323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291" name="Row rule 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742950"/>
            <a:ext cx="1152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292" name="Week rule 10 2026-09-0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74295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293" name="Week rule 10 2026-09-1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1034" y="374295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294" name="Week rule 10 2026-09-2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9018" y="374295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295" name="Week rule 10 2026-09-2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7002" y="374295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296" name="Week rule 10 2026-10-05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4986" y="374295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297" name="Week rule 10 2026-10-1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970" y="374295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298" name="Week rule 10 2026-10-1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0954" y="374295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299" name="Week rule 10 2026-10-2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8938" y="374295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300" name="Week rule 10 2026-11-0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6922" y="374295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301" name="Week rule 10 2026-11-0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4906" y="374295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302" name="Week rule 10 2026-11-1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2890" y="374295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303" name="Week rule 10 2026-11-2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0874" y="374295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304" name="Week rule 10 2026-11-3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8858" y="374295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305" name="Week rule 10 2026-12-0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842" y="374295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306" name="Week rule 10 2026-12-1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4826" y="374295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307" name="Week rule 10 2026-12-2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2810" y="374295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308" name="Week rule 10 2026-12-2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0794" y="374295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309" name="Week rule 10 2027-01-0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8778" y="374295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310" name="Week rule 10 2027-02-0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5552" y="374295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311" name="Week rule 10 2027-03-0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326" y="374295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312" name="Task 1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3742950"/>
            <a:ext cx="4152900" cy="18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Living Overleaf manuscript</a:t>
            </a:r>
          </a:p>
        </p:txBody>
      </p:sp>
      <p:sp>
        <p:nvSpPr>
          <p:cNvPr id="5313" name="Status 1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742950"/>
            <a:ext cx="838200" cy="18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In progress</a:t>
            </a:r>
          </a:p>
        </p:txBody>
      </p:sp>
      <p:sp>
        <p:nvSpPr>
          <p:cNvPr id="5314" name="Bar 10 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1863" y="3783412"/>
            <a:ext cx="85138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A323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315" name="Bar 10 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7002" y="3783412"/>
            <a:ext cx="29798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A323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316" name="Bar 10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4986" y="3783412"/>
            <a:ext cx="29798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A323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317" name="Bar 10 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970" y="3783412"/>
            <a:ext cx="29798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A323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318" name="Bar 10 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0954" y="3783412"/>
            <a:ext cx="29798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A323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319" name="Bar 10 5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8938" y="3783412"/>
            <a:ext cx="29798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A323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320" name="Bar 10 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6922" y="3783412"/>
            <a:ext cx="29798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A323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321" name="Bar 10 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4906" y="3783412"/>
            <a:ext cx="29798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A323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322" name="Bar 10 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2890" y="3783412"/>
            <a:ext cx="29798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A323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323" name="Bar 10 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0874" y="3783412"/>
            <a:ext cx="29798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A323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324" name="Bar 10 1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8858" y="3783412"/>
            <a:ext cx="29798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A323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325" name="Bar 10 1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842" y="3783412"/>
            <a:ext cx="29798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A323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326" name="Bar 10 1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4826" y="3783412"/>
            <a:ext cx="29798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A323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327" name="Bar 10 1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2810" y="3783412"/>
            <a:ext cx="29798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A323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328" name="Bar 10 1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0794" y="3783412"/>
            <a:ext cx="29798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A323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329" name="Bar 10 15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8778" y="3783412"/>
            <a:ext cx="47677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A323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330" name="Bar 10 1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5552" y="3783412"/>
            <a:ext cx="47677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A323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331" name="Bar 10 1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326" y="3783412"/>
            <a:ext cx="47677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A323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332" name="Row rule 1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928650"/>
            <a:ext cx="1152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333" name="Section CAP6942 | Course deliverables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928650"/>
            <a:ext cx="115252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334" name="Section title CAP6942 | Course deliverables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3928650"/>
            <a:ext cx="114681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CAP6942 | Course deliverables</a:t>
            </a:r>
          </a:p>
        </p:txBody>
      </p:sp>
      <p:sp>
        <p:nvSpPr>
          <p:cNvPr id="5335" name="Row tint 1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128675"/>
            <a:ext cx="11525250" cy="18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336" name="Week rule 11 2026-09-0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128675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337" name="Week rule 11 2026-09-1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1034" y="4128675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338" name="Week rule 11 2026-09-2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9018" y="4128675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339" name="Week rule 11 2026-09-2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7002" y="4128675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340" name="Week rule 11 2026-10-05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4986" y="4128675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341" name="Week rule 11 2026-10-1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970" y="4128675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342" name="Week rule 11 2026-10-1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0954" y="4128675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343" name="Week rule 11 2026-10-2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8938" y="4128675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344" name="Week rule 11 2026-11-0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6922" y="4128675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345" name="Week rule 11 2026-11-0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4906" y="4128675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346" name="Week rule 11 2026-11-1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2890" y="4128675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347" name="Week rule 11 2026-11-2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0874" y="4128675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348" name="Week rule 11 2026-11-3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8858" y="4128675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349" name="Week rule 11 2026-12-0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842" y="4128675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350" name="Week rule 11 2026-12-1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4826" y="4128675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351" name="Week rule 11 2026-12-2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2810" y="4128675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352" name="Week rule 11 2026-12-2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0794" y="4128675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353" name="Week rule 11 2027-01-0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8778" y="4128675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354" name="Week rule 11 2027-02-0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5552" y="4128675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355" name="Week rule 11 2027-03-0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326" y="4128675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356" name="Task 1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4128675"/>
            <a:ext cx="4152900" cy="18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Bibliography, Research Canvas and project plan | Sep 27</a:t>
            </a:r>
          </a:p>
        </p:txBody>
      </p:sp>
      <p:sp>
        <p:nvSpPr>
          <p:cNvPr id="5357" name="Status 1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128675"/>
            <a:ext cx="838200" cy="18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In progress</a:t>
            </a:r>
          </a:p>
        </p:txBody>
      </p:sp>
      <p:sp>
        <p:nvSpPr>
          <p:cNvPr id="5358" name="Bar 11 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1863" y="4169137"/>
            <a:ext cx="85138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A323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359" name="Row rule 1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314375"/>
            <a:ext cx="1152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360" name="Week rule 12 2026-09-0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314375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361" name="Week rule 12 2026-09-1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1034" y="4314375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362" name="Week rule 12 2026-09-2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9018" y="4314375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363" name="Week rule 12 2026-09-2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7002" y="4314375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364" name="Week rule 12 2026-10-05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4986" y="4314375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365" name="Week rule 12 2026-10-1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970" y="4314375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366" name="Week rule 12 2026-10-1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0954" y="4314375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367" name="Week rule 12 2026-10-2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8938" y="4314375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368" name="Week rule 12 2026-11-0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6922" y="4314375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369" name="Week rule 12 2026-11-0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4906" y="4314375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370" name="Week rule 12 2026-11-1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2890" y="4314375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371" name="Week rule 12 2026-11-2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0874" y="4314375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372" name="Week rule 12 2026-11-3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8858" y="4314375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373" name="Week rule 12 2026-12-0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842" y="4314375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374" name="Week rule 12 2026-12-1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4826" y="4314375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375" name="Week rule 12 2026-12-2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2810" y="4314375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376" name="Week rule 12 2026-12-2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0794" y="4314375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377" name="Week rule 12 2027-01-0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8778" y="4314375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378" name="Week rule 12 2027-02-0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5552" y="4314375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379" name="Week rule 12 2027-03-0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326" y="4314375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380" name="Task 1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4314375"/>
            <a:ext cx="4152900" cy="18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Prepare final report, presentation and video</a:t>
            </a:r>
          </a:p>
        </p:txBody>
      </p:sp>
      <p:sp>
        <p:nvSpPr>
          <p:cNvPr id="5381" name="Status 1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314375"/>
            <a:ext cx="838200" cy="18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Planned</a:t>
            </a:r>
          </a:p>
        </p:txBody>
      </p:sp>
      <p:sp>
        <p:nvSpPr>
          <p:cNvPr id="5382" name="Bar 12 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2890" y="4354837"/>
            <a:ext cx="29798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EC4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383" name="Bar 12 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0874" y="4354837"/>
            <a:ext cx="29798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EC4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384" name="Bar 12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8858" y="4354837"/>
            <a:ext cx="29798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EC4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385" name="Row rule 1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500075"/>
            <a:ext cx="1152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386" name="Row tint 1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500075"/>
            <a:ext cx="11525250" cy="18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387" name="Week rule 13 2026-09-0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500075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388" name="Week rule 13 2026-09-1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1034" y="4500075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389" name="Week rule 13 2026-09-2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9018" y="4500075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390" name="Week rule 13 2026-09-2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7002" y="4500075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391" name="Week rule 13 2026-10-05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4986" y="4500075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392" name="Week rule 13 2026-10-1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970" y="4500075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393" name="Week rule 13 2026-10-1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0954" y="4500075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394" name="Week rule 13 2026-10-2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8938" y="4500075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395" name="Week rule 13 2026-11-0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6922" y="4500075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396" name="Week rule 13 2026-11-0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4906" y="4500075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397" name="Week rule 13 2026-11-1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2890" y="4500075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398" name="Week rule 13 2026-11-2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0874" y="4500075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399" name="Week rule 13 2026-11-3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8858" y="4500075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400" name="Week rule 13 2026-12-0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842" y="4500075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401" name="Week rule 13 2026-12-1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4826" y="4500075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402" name="Week rule 13 2026-12-2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2810" y="4500075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403" name="Week rule 13 2026-12-2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0794" y="4500075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404" name="Week rule 13 2027-01-0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8778" y="4500075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405" name="Week rule 13 2027-02-0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5552" y="4500075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406" name="Week rule 13 2027-03-0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326" y="4500075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407" name="Task 1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4500075"/>
            <a:ext cx="4152900" cy="18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Rehearsal | Dec 1</a:t>
            </a:r>
          </a:p>
        </p:txBody>
      </p:sp>
      <p:sp>
        <p:nvSpPr>
          <p:cNvPr id="5408" name="Status 1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500075"/>
            <a:ext cx="838200" cy="18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Planned</a:t>
            </a:r>
          </a:p>
        </p:txBody>
      </p:sp>
      <p:sp>
        <p:nvSpPr>
          <p:cNvPr id="5409" name="Milestone 1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5086" y="4545300"/>
            <a:ext cx="95250" cy="952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410" name="Row rule 1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685775"/>
            <a:ext cx="1152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411" name="Week rule 14 2026-09-0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685775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412" name="Week rule 14 2026-09-1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1034" y="4685775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413" name="Week rule 14 2026-09-2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9018" y="4685775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414" name="Week rule 14 2026-09-2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7002" y="4685775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415" name="Week rule 14 2026-10-05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4986" y="4685775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416" name="Week rule 14 2026-10-1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970" y="4685775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417" name="Week rule 14 2026-10-1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0954" y="4685775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418" name="Week rule 14 2026-10-2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8938" y="4685775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419" name="Week rule 14 2026-11-0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6922" y="4685775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420" name="Week rule 14 2026-11-0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4906" y="4685775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421" name="Week rule 14 2026-11-1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2890" y="4685775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422" name="Week rule 14 2026-11-2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0874" y="4685775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423" name="Week rule 14 2026-11-3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8858" y="4685775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424" name="Week rule 14 2026-12-0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842" y="4685775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425" name="Week rule 14 2026-12-1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4826" y="4685775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426" name="Week rule 14 2026-12-2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2810" y="4685775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427" name="Week rule 14 2026-12-2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0794" y="4685775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428" name="Week rule 14 2027-01-0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8778" y="4685775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429" name="Week rule 14 2027-02-0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5552" y="4685775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430" name="Week rule 14 2027-03-0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326" y="4685775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431" name="Task 1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4685775"/>
            <a:ext cx="4152900" cy="18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Final report | Dec 7</a:t>
            </a:r>
          </a:p>
        </p:txBody>
      </p:sp>
      <p:sp>
        <p:nvSpPr>
          <p:cNvPr id="5432" name="Status 1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685775"/>
            <a:ext cx="838200" cy="18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Planned</a:t>
            </a:r>
          </a:p>
        </p:txBody>
      </p:sp>
      <p:sp>
        <p:nvSpPr>
          <p:cNvPr id="5433" name="Milestone 1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0501" y="4731000"/>
            <a:ext cx="95250" cy="952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434" name="Row rule 1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871475"/>
            <a:ext cx="1152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435" name="Row tint 15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871475"/>
            <a:ext cx="11525250" cy="18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436" name="Week rule 15 2026-09-0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871475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437" name="Week rule 15 2026-09-1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1034" y="4871475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438" name="Week rule 15 2026-09-2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9018" y="4871475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439" name="Week rule 15 2026-09-2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7002" y="4871475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440" name="Week rule 15 2026-10-05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4986" y="4871475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441" name="Week rule 15 2026-10-1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970" y="4871475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442" name="Week rule 15 2026-10-1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0954" y="4871475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443" name="Week rule 15 2026-10-2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8938" y="4871475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444" name="Week rule 15 2026-11-0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6922" y="4871475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445" name="Week rule 15 2026-11-0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4906" y="4871475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446" name="Week rule 15 2026-11-1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2890" y="4871475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447" name="Week rule 15 2026-11-2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0874" y="4871475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448" name="Week rule 15 2026-11-3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8858" y="4871475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449" name="Week rule 15 2026-12-0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842" y="4871475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450" name="Week rule 15 2026-12-1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4826" y="4871475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451" name="Week rule 15 2026-12-2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2810" y="4871475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452" name="Week rule 15 2026-12-2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0794" y="4871475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453" name="Week rule 15 2027-01-0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8778" y="4871475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454" name="Week rule 15 2027-02-0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5552" y="4871475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455" name="Week rule 15 2027-03-0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326" y="4871475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456" name="Task 15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4871475"/>
            <a:ext cx="4152900" cy="18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Presentation and video | Dec 8</a:t>
            </a:r>
          </a:p>
        </p:txBody>
      </p:sp>
      <p:sp>
        <p:nvSpPr>
          <p:cNvPr id="5457" name="Status 15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871475"/>
            <a:ext cx="838200" cy="18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Planned</a:t>
            </a:r>
          </a:p>
        </p:txBody>
      </p:sp>
      <p:sp>
        <p:nvSpPr>
          <p:cNvPr id="5458" name="Milestone 15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3070" y="4916700"/>
            <a:ext cx="95250" cy="952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459" name="Row rule 15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057175"/>
            <a:ext cx="1152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460" name="Section Research continuation | Provisional January to March 202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057175"/>
            <a:ext cx="115252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461" name="Section title Research continuation | Provisional January to March 202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5057175"/>
            <a:ext cx="114681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Research continuation | Provisional January to March 2027</a:t>
            </a:r>
          </a:p>
        </p:txBody>
      </p:sp>
      <p:sp>
        <p:nvSpPr>
          <p:cNvPr id="5462" name="Week rule 16 2026-09-0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525720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463" name="Week rule 16 2026-09-1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1034" y="525720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464" name="Week rule 16 2026-09-2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9018" y="525720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465" name="Week rule 16 2026-09-2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7002" y="525720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466" name="Week rule 16 2026-10-05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4986" y="525720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467" name="Week rule 16 2026-10-1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970" y="525720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468" name="Week rule 16 2026-10-1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0954" y="525720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469" name="Week rule 16 2026-10-2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8938" y="525720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470" name="Week rule 16 2026-11-0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6922" y="525720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471" name="Week rule 16 2026-11-0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4906" y="525720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472" name="Week rule 16 2026-11-1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2890" y="525720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473" name="Week rule 16 2026-11-2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0874" y="525720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474" name="Week rule 16 2026-11-3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8858" y="525720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475" name="Week rule 16 2026-12-0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842" y="525720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476" name="Week rule 16 2026-12-1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4826" y="525720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477" name="Week rule 16 2026-12-2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2810" y="525720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478" name="Week rule 16 2026-12-2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0794" y="525720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479" name="Week rule 16 2027-01-0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8778" y="525720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480" name="Week rule 16 2027-02-0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5552" y="525720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481" name="Week rule 16 2027-03-0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326" y="525720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482" name="Task 1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5257200"/>
            <a:ext cx="4152900" cy="18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Further experiments, structure and external validation</a:t>
            </a:r>
          </a:p>
        </p:txBody>
      </p:sp>
      <p:sp>
        <p:nvSpPr>
          <p:cNvPr id="5483" name="Status 1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257200"/>
            <a:ext cx="838200" cy="18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Conditional</a:t>
            </a:r>
          </a:p>
        </p:txBody>
      </p:sp>
      <p:sp>
        <p:nvSpPr>
          <p:cNvPr id="5484" name="Bar 16 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8778" y="5297662"/>
            <a:ext cx="47677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66666"/>
            </a:solidFill>
          </a:ln>
        </p:spPr>
        <p:txBody xmlns:a="http://schemas.openxmlformats.org/drawingml/2006/main">
          <a:bodyPr/>
          <a:p/>
        </p:txBody>
      </p:sp>
      <p:sp>
        <p:nvSpPr>
          <p:cNvPr id="5485" name="Bar 16 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5552" y="5297662"/>
            <a:ext cx="47677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66666"/>
            </a:solidFill>
          </a:ln>
        </p:spPr>
        <p:txBody xmlns:a="http://schemas.openxmlformats.org/drawingml/2006/main">
          <a:bodyPr/>
          <a:p/>
        </p:txBody>
      </p:sp>
      <p:sp>
        <p:nvSpPr>
          <p:cNvPr id="5486" name="Row rule 1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442900"/>
            <a:ext cx="1152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487" name="Row tint 1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442900"/>
            <a:ext cx="11525250" cy="18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488" name="Week rule 17 2026-09-0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544290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489" name="Week rule 17 2026-09-1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1034" y="544290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490" name="Week rule 17 2026-09-2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9018" y="544290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491" name="Week rule 17 2026-09-2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7002" y="544290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492" name="Week rule 17 2026-10-05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4986" y="544290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493" name="Week rule 17 2026-10-1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970" y="544290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494" name="Week rule 17 2026-10-1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0954" y="544290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495" name="Week rule 17 2026-10-2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8938" y="544290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496" name="Week rule 17 2026-11-0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6922" y="544290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497" name="Week rule 17 2026-11-0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4906" y="544290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498" name="Week rule 17 2026-11-1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2890" y="544290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499" name="Week rule 17 2026-11-2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0874" y="544290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500" name="Week rule 17 2026-11-3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8858" y="544290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501" name="Week rule 17 2026-12-0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842" y="544290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502" name="Week rule 17 2026-12-1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4826" y="544290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503" name="Week rule 17 2026-12-2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2810" y="544290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504" name="Week rule 17 2026-12-2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0794" y="544290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505" name="Week rule 17 2027-01-0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8778" y="544290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506" name="Week rule 17 2027-02-0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5552" y="544290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507" name="Week rule 17 2027-03-0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326" y="544290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508" name="Task 1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5442900"/>
            <a:ext cx="4152900" cy="18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Half-life and translation efficiency (plan items 3 and 4)</a:t>
            </a:r>
          </a:p>
        </p:txBody>
      </p:sp>
      <p:sp>
        <p:nvSpPr>
          <p:cNvPr id="5509" name="Status 1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442900"/>
            <a:ext cx="838200" cy="18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Conditional</a:t>
            </a:r>
          </a:p>
        </p:txBody>
      </p:sp>
      <p:sp>
        <p:nvSpPr>
          <p:cNvPr id="5510" name="Bar 17 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8778" y="5483362"/>
            <a:ext cx="47677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66666"/>
            </a:solidFill>
          </a:ln>
        </p:spPr>
        <p:txBody xmlns:a="http://schemas.openxmlformats.org/drawingml/2006/main">
          <a:bodyPr/>
          <a:p/>
        </p:txBody>
      </p:sp>
      <p:sp>
        <p:nvSpPr>
          <p:cNvPr id="5511" name="Bar 17 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5552" y="5483362"/>
            <a:ext cx="47677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66666"/>
            </a:solidFill>
          </a:ln>
        </p:spPr>
        <p:txBody xmlns:a="http://schemas.openxmlformats.org/drawingml/2006/main">
          <a:bodyPr/>
          <a:p/>
        </p:txBody>
      </p:sp>
      <p:sp>
        <p:nvSpPr>
          <p:cNvPr id="5512" name="Row rule 1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628600"/>
            <a:ext cx="1152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513" name="Week rule 18 2026-09-0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562860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514" name="Week rule 18 2026-09-1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1034" y="562860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515" name="Week rule 18 2026-09-2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9018" y="562860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516" name="Week rule 18 2026-09-2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7002" y="562860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517" name="Week rule 18 2026-10-05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4986" y="562860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518" name="Week rule 18 2026-10-1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970" y="562860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519" name="Week rule 18 2026-10-1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0954" y="562860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520" name="Week rule 18 2026-10-2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8938" y="562860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521" name="Week rule 18 2026-11-0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6922" y="562860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522" name="Week rule 18 2026-11-0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4906" y="562860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523" name="Week rule 18 2026-11-1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2890" y="562860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524" name="Week rule 18 2026-11-2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0874" y="562860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525" name="Week rule 18 2026-11-3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8858" y="562860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526" name="Week rule 18 2026-12-0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842" y="562860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527" name="Week rule 18 2026-12-1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4826" y="562860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528" name="Week rule 18 2026-12-2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2810" y="562860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529" name="Week rule 18 2026-12-2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0794" y="562860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530" name="Week rule 18 2027-01-0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8778" y="562860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531" name="Week rule 18 2027-02-0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5552" y="562860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532" name="Week rule 18 2027-03-0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326" y="562860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533" name="Task 1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5628600"/>
            <a:ext cx="4152900" cy="18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Multi-teacher distillation (plan item 7)</a:t>
            </a:r>
          </a:p>
        </p:txBody>
      </p:sp>
      <p:sp>
        <p:nvSpPr>
          <p:cNvPr id="5534" name="Status 1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628600"/>
            <a:ext cx="838200" cy="18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Conditional</a:t>
            </a:r>
          </a:p>
        </p:txBody>
      </p:sp>
      <p:sp>
        <p:nvSpPr>
          <p:cNvPr id="5535" name="Bar 18 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8778" y="5669062"/>
            <a:ext cx="47677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66666"/>
            </a:solidFill>
          </a:ln>
        </p:spPr>
        <p:txBody xmlns:a="http://schemas.openxmlformats.org/drawingml/2006/main">
          <a:bodyPr/>
          <a:p/>
        </p:txBody>
      </p:sp>
      <p:sp>
        <p:nvSpPr>
          <p:cNvPr id="5536" name="Bar 18 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5552" y="5669062"/>
            <a:ext cx="47677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66666"/>
            </a:solidFill>
          </a:ln>
        </p:spPr>
        <p:txBody xmlns:a="http://schemas.openxmlformats.org/drawingml/2006/main">
          <a:bodyPr/>
          <a:p/>
        </p:txBody>
      </p:sp>
      <p:sp>
        <p:nvSpPr>
          <p:cNvPr id="5537" name="Row rule 1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814300"/>
            <a:ext cx="1152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538" name="Row tint 1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814300"/>
            <a:ext cx="11525250" cy="18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539" name="Week rule 19 2026-09-0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581430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540" name="Week rule 19 2026-09-1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1034" y="581430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541" name="Week rule 19 2026-09-2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9018" y="581430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542" name="Week rule 19 2026-09-2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7002" y="581430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543" name="Week rule 19 2026-10-05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4986" y="581430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544" name="Week rule 19 2026-10-1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970" y="581430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545" name="Week rule 19 2026-10-1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0954" y="581430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546" name="Week rule 19 2026-10-2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8938" y="581430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547" name="Week rule 19 2026-11-0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6922" y="581430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548" name="Week rule 19 2026-11-0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4906" y="581430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549" name="Week rule 19 2026-11-1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2890" y="581430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550" name="Week rule 19 2026-11-2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0874" y="581430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551" name="Week rule 19 2026-11-3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8858" y="581430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552" name="Week rule 19 2026-12-0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842" y="581430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553" name="Week rule 19 2026-12-1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4826" y="581430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554" name="Week rule 19 2026-12-2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2810" y="581430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555" name="Week rule 19 2026-12-2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0794" y="581430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556" name="Week rule 19 2027-01-0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8778" y="581430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557" name="Week rule 19 2027-02-0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5552" y="581430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558" name="Week rule 19 2027-03-0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326" y="5814300"/>
            <a:ext cx="0" cy="18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559" name="Task 1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5814300"/>
            <a:ext cx="4152900" cy="18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Manuscript consolidation and March review</a:t>
            </a:r>
          </a:p>
        </p:txBody>
      </p:sp>
      <p:sp>
        <p:nvSpPr>
          <p:cNvPr id="5560" name="Status 1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814300"/>
            <a:ext cx="838200" cy="18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Planned</a:t>
            </a:r>
          </a:p>
        </p:txBody>
      </p:sp>
      <p:sp>
        <p:nvSpPr>
          <p:cNvPr id="5561" name="Bar 19 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5552" y="5854762"/>
            <a:ext cx="47677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EC4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562" name="Bar 19 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326" y="5854762"/>
            <a:ext cx="47677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EC4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563" name="Milestone 1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3785" y="5859525"/>
            <a:ext cx="95250" cy="952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564" name="Row rule 1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000000"/>
            <a:ext cx="1152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</p:spTree>
    <p:extLst>
      <p:ext uri="{BB962C8B-B14F-4D97-AF65-F5344CB8AC3E}">
        <p14:creationId xmlns:p14="http://schemas.microsoft.com/office/powerpoint/2010/main" val="30462351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1" name="Title">
            <a:extLst xmlns:a="http://schemas.openxmlformats.org/drawingml/2006/main">
              <a:ext uri="{FF2B5EF4-FFF2-40B4-BE49-F238E27FC236}">
                <a16:creationId xmlns:a16="http://schemas.microsoft.com/office/drawing/2014/main" id="{58B9296E-5E14-4E81-9481-BFDBCAE25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61925"/>
            <a:ext cx="11601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Stages 1 and 2 | Representation Analysis and Defining Alignment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2820F1B-BBB4-4FFC-A2EB-E677D5B6D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81025"/>
            <a:ext cx="1160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Stage 1 analyses are complete for twelve encoders on two datasets. Stage 2, the alignment decision, is drafted for the October 7 review.</a:t>
            </a:r>
          </a:p>
        </p:txBody>
      </p:sp>
      <p:sp>
        <p:nvSpPr>
          <p:cNvPr id="3" name="Column header">
            <a:extLst xmlns:a="http://schemas.openxmlformats.org/drawingml/2006/main">
              <a:ext uri="{FF2B5EF4-FFF2-40B4-BE49-F238E27FC236}">
                <a16:creationId xmlns:a16="http://schemas.microsoft.com/office/drawing/2014/main" id="{CB5A2AB6-ACF7-4A31-BD65-458657475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990600"/>
            <a:ext cx="115252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4" name="Task header">
            <a:extLst xmlns:a="http://schemas.openxmlformats.org/drawingml/2006/main">
              <a:ext uri="{FF2B5EF4-FFF2-40B4-BE49-F238E27FC236}">
                <a16:creationId xmlns:a16="http://schemas.microsoft.com/office/drawing/2014/main" id="{29516F3C-0294-4D5A-875D-0A7E1E1B2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990600"/>
            <a:ext cx="4333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Task / research outcome</a:t>
            </a:r>
          </a:p>
        </p:txBody>
      </p:sp>
      <p:sp>
        <p:nvSpPr>
          <p:cNvPr id="5" name="Status header">
            <a:extLst xmlns:a="http://schemas.openxmlformats.org/drawingml/2006/main">
              <a:ext uri="{FF2B5EF4-FFF2-40B4-BE49-F238E27FC236}">
                <a16:creationId xmlns:a16="http://schemas.microsoft.com/office/drawing/2014/main" id="{973EA8A8-3943-41CF-9DF9-F8508B686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990600"/>
            <a:ext cx="838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Status</a:t>
            </a:r>
          </a:p>
        </p:txBody>
      </p:sp>
      <p:sp>
        <p:nvSpPr>
          <p:cNvPr id="6" name="Date header">
            <a:extLst xmlns:a="http://schemas.openxmlformats.org/drawingml/2006/main">
              <a:ext uri="{FF2B5EF4-FFF2-40B4-BE49-F238E27FC236}">
                <a16:creationId xmlns:a16="http://schemas.microsoft.com/office/drawing/2014/main" id="{816CD67F-8C10-4D8D-879F-86079E0D5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990600"/>
            <a:ext cx="857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Dates</a:t>
            </a:r>
          </a:p>
        </p:txBody>
      </p:sp>
      <p:sp>
        <p:nvSpPr>
          <p:cNvPr id="7" name="Week 2026-09-21">
            <a:extLst xmlns:a="http://schemas.openxmlformats.org/drawingml/2006/main">
              <a:ext uri="{FF2B5EF4-FFF2-40B4-BE49-F238E27FC236}">
                <a16:creationId xmlns:a16="http://schemas.microsoft.com/office/drawing/2014/main" id="{42DC6325-BD99-4832-BAC5-ABD477B04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990600"/>
            <a:ext cx="18319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9/21</a:t>
            </a:r>
          </a:p>
        </p:txBody>
      </p:sp>
      <p:sp>
        <p:nvSpPr>
          <p:cNvPr id="8" name="Week 2026-09-28">
            <a:extLst xmlns:a="http://schemas.openxmlformats.org/drawingml/2006/main">
              <a:ext uri="{FF2B5EF4-FFF2-40B4-BE49-F238E27FC236}">
                <a16:creationId xmlns:a16="http://schemas.microsoft.com/office/drawing/2014/main" id="{37FB57EB-53AE-4EA1-9E32-D0AAD0A34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5150" y="990600"/>
            <a:ext cx="18319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9/28</a:t>
            </a:r>
          </a:p>
        </p:txBody>
      </p:sp>
      <p:sp>
        <p:nvSpPr>
          <p:cNvPr id="9" name="Week 2026-10-05">
            <a:extLst xmlns:a="http://schemas.openxmlformats.org/drawingml/2006/main">
              <a:ext uri="{FF2B5EF4-FFF2-40B4-BE49-F238E27FC236}">
                <a16:creationId xmlns:a16="http://schemas.microsoft.com/office/drawing/2014/main" id="{FED1ED19-42D2-48B2-BAA2-DCC9FF568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7125" y="990600"/>
            <a:ext cx="18319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10/5</a:t>
            </a:r>
          </a:p>
        </p:txBody>
      </p:sp>
      <p:sp>
        <p:nvSpPr>
          <p:cNvPr id="10" name="Section Study and interpretation">
            <a:extLst xmlns:a="http://schemas.openxmlformats.org/drawingml/2006/main">
              <a:ext uri="{FF2B5EF4-FFF2-40B4-BE49-F238E27FC236}">
                <a16:creationId xmlns:a16="http://schemas.microsoft.com/office/drawing/2014/main" id="{86730882-7DD2-4013-B0B7-960B178BA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85875"/>
            <a:ext cx="11525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1" name="Section title Study and interpretation">
            <a:extLst xmlns:a="http://schemas.openxmlformats.org/drawingml/2006/main">
              <a:ext uri="{FF2B5EF4-FFF2-40B4-BE49-F238E27FC236}">
                <a16:creationId xmlns:a16="http://schemas.microsoft.com/office/drawing/2014/main" id="{7C7AF690-0014-46C1-95F8-EA8ECE2CF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1285875"/>
            <a:ext cx="11468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Study and interpretation</a:t>
            </a:r>
          </a:p>
        </p:txBody>
      </p:sp>
      <p:sp>
        <p:nvSpPr>
          <p:cNvPr id="12" name="Task 0">
            <a:extLst xmlns:a="http://schemas.openxmlformats.org/drawingml/2006/main">
              <a:ext uri="{FF2B5EF4-FFF2-40B4-BE49-F238E27FC236}">
                <a16:creationId xmlns:a16="http://schemas.microsoft.com/office/drawing/2014/main" id="{5E80A84C-A1C8-4C6E-A9A7-A42518BA3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1514475"/>
            <a:ext cx="42957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6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2. Paper discussion and notebook walkthrough</a:t>
            </a:r>
          </a:p>
        </p:txBody>
      </p:sp>
      <p:sp>
        <p:nvSpPr>
          <p:cNvPr id="13" name="Status 0">
            <a:extLst xmlns:a="http://schemas.openxmlformats.org/drawingml/2006/main">
              <a:ext uri="{FF2B5EF4-FFF2-40B4-BE49-F238E27FC236}">
                <a16:creationId xmlns:a16="http://schemas.microsoft.com/office/drawing/2014/main" id="{04ABB8B1-C265-451F-AAF6-771321CF4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1514475"/>
            <a:ext cx="838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In progress</a:t>
            </a:r>
          </a:p>
        </p:txBody>
      </p:sp>
      <p:sp>
        <p:nvSpPr>
          <p:cNvPr id="14" name="Dates 0">
            <a:extLst xmlns:a="http://schemas.openxmlformats.org/drawingml/2006/main">
              <a:ext uri="{FF2B5EF4-FFF2-40B4-BE49-F238E27FC236}">
                <a16:creationId xmlns:a16="http://schemas.microsoft.com/office/drawing/2014/main" id="{14682879-5663-4AA5-AE1E-E5B8F0939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1514475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9/21-10/7</a:t>
            </a:r>
          </a:p>
        </p:txBody>
      </p:sp>
      <p:sp>
        <p:nvSpPr>
          <p:cNvPr id="15" name="Week rule 0 2026-09-21">
            <a:extLst xmlns:a="http://schemas.openxmlformats.org/drawingml/2006/main">
              <a:ext uri="{FF2B5EF4-FFF2-40B4-BE49-F238E27FC236}">
                <a16:creationId xmlns:a16="http://schemas.microsoft.com/office/drawing/2014/main" id="{0974C055-97E6-4363-B0E2-6E3956E8B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151447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6" name="Week rule 0 2026-09-28">
            <a:extLst xmlns:a="http://schemas.openxmlformats.org/drawingml/2006/main">
              <a:ext uri="{FF2B5EF4-FFF2-40B4-BE49-F238E27FC236}">
                <a16:creationId xmlns:a16="http://schemas.microsoft.com/office/drawing/2014/main" id="{27571280-B0B1-4F38-8E6F-6FFCF4E15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5150" y="151447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7" name="Week rule 0 2026-10-05">
            <a:extLst xmlns:a="http://schemas.openxmlformats.org/drawingml/2006/main">
              <a:ext uri="{FF2B5EF4-FFF2-40B4-BE49-F238E27FC236}">
                <a16:creationId xmlns:a16="http://schemas.microsoft.com/office/drawing/2014/main" id="{F56BFEA7-0122-45A4-962B-3A210C9AD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7125" y="151447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8" name="Bar 0 0">
            <a:extLst xmlns:a="http://schemas.openxmlformats.org/drawingml/2006/main">
              <a:ext uri="{FF2B5EF4-FFF2-40B4-BE49-F238E27FC236}">
                <a16:creationId xmlns:a16="http://schemas.microsoft.com/office/drawing/2014/main" id="{BCFF6B03-F2CC-4EFE-B5AC-1484C31CC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1585913"/>
            <a:ext cx="4441371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A323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9" name="Row rule 0">
            <a:extLst xmlns:a="http://schemas.openxmlformats.org/drawingml/2006/main">
              <a:ext uri="{FF2B5EF4-FFF2-40B4-BE49-F238E27FC236}">
                <a16:creationId xmlns:a16="http://schemas.microsoft.com/office/drawing/2014/main" id="{E226DBD5-75A4-4AE1-A273-131C1B542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762125"/>
            <a:ext cx="1152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0" name="Row tint 1">
            <a:extLst xmlns:a="http://schemas.openxmlformats.org/drawingml/2006/main">
              <a:ext uri="{FF2B5EF4-FFF2-40B4-BE49-F238E27FC236}">
                <a16:creationId xmlns:a16="http://schemas.microsoft.com/office/drawing/2014/main" id="{366380BD-FE1C-470A-972E-6E15F517C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762125"/>
            <a:ext cx="11525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1" name="Task 1">
            <a:extLst xmlns:a="http://schemas.openxmlformats.org/drawingml/2006/main">
              <a:ext uri="{FF2B5EF4-FFF2-40B4-BE49-F238E27FC236}">
                <a16:creationId xmlns:a16="http://schemas.microsoft.com/office/drawing/2014/main" id="{CF0E05F0-2296-480F-A70F-64856EE1B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1762125"/>
            <a:ext cx="42957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6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6. Interpret representation metrics and pilot results</a:t>
            </a:r>
          </a:p>
        </p:txBody>
      </p:sp>
      <p:sp>
        <p:nvSpPr>
          <p:cNvPr id="22" name="Status 1">
            <a:extLst xmlns:a="http://schemas.openxmlformats.org/drawingml/2006/main">
              <a:ext uri="{FF2B5EF4-FFF2-40B4-BE49-F238E27FC236}">
                <a16:creationId xmlns:a16="http://schemas.microsoft.com/office/drawing/2014/main" id="{49BD2F84-B39A-499C-875B-5EE3F1D02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1762125"/>
            <a:ext cx="838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Complete</a:t>
            </a:r>
          </a:p>
        </p:txBody>
      </p:sp>
      <p:sp>
        <p:nvSpPr>
          <p:cNvPr id="23" name="Dates 1">
            <a:extLst xmlns:a="http://schemas.openxmlformats.org/drawingml/2006/main">
              <a:ext uri="{FF2B5EF4-FFF2-40B4-BE49-F238E27FC236}">
                <a16:creationId xmlns:a16="http://schemas.microsoft.com/office/drawing/2014/main" id="{E578AD4E-A72E-4380-A4DF-A1B3238E7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1762125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9/21-10/3</a:t>
            </a:r>
          </a:p>
        </p:txBody>
      </p:sp>
      <p:sp>
        <p:nvSpPr>
          <p:cNvPr id="24" name="Week rule 1 2026-09-21">
            <a:extLst xmlns:a="http://schemas.openxmlformats.org/drawingml/2006/main">
              <a:ext uri="{FF2B5EF4-FFF2-40B4-BE49-F238E27FC236}">
                <a16:creationId xmlns:a16="http://schemas.microsoft.com/office/drawing/2014/main" id="{6D46318F-20C1-450B-84D8-EFC5CEDD7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176212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5" name="Week rule 1 2026-09-28">
            <a:extLst xmlns:a="http://schemas.openxmlformats.org/drawingml/2006/main">
              <a:ext uri="{FF2B5EF4-FFF2-40B4-BE49-F238E27FC236}">
                <a16:creationId xmlns:a16="http://schemas.microsoft.com/office/drawing/2014/main" id="{2A36C8ED-EC83-411B-A13C-189767DEB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5150" y="176212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6" name="Week rule 1 2026-10-05">
            <a:extLst xmlns:a="http://schemas.openxmlformats.org/drawingml/2006/main">
              <a:ext uri="{FF2B5EF4-FFF2-40B4-BE49-F238E27FC236}">
                <a16:creationId xmlns:a16="http://schemas.microsoft.com/office/drawing/2014/main" id="{1D75FB64-4881-40E1-A2D5-0247CF291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7125" y="176212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7" name="Bar 1 0">
            <a:extLst xmlns:a="http://schemas.openxmlformats.org/drawingml/2006/main">
              <a:ext uri="{FF2B5EF4-FFF2-40B4-BE49-F238E27FC236}">
                <a16:creationId xmlns:a16="http://schemas.microsoft.com/office/drawing/2014/main" id="{DD4FD363-AADF-416D-A75E-8D2B7AD59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1833563"/>
            <a:ext cx="3396342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5959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8" name="Row rule 1">
            <a:extLst xmlns:a="http://schemas.openxmlformats.org/drawingml/2006/main">
              <a:ext uri="{FF2B5EF4-FFF2-40B4-BE49-F238E27FC236}">
                <a16:creationId xmlns:a16="http://schemas.microsoft.com/office/drawing/2014/main" id="{DDF300E5-4790-4DD7-9BD4-3056B0D19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009775"/>
            <a:ext cx="1152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9" name="Task 2">
            <a:extLst xmlns:a="http://schemas.openxmlformats.org/drawingml/2006/main">
              <a:ext uri="{FF2B5EF4-FFF2-40B4-BE49-F238E27FC236}">
                <a16:creationId xmlns:a16="http://schemas.microsoft.com/office/drawing/2014/main" id="{A33A8936-E846-4024-80B2-6028297E2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2009775"/>
            <a:ext cx="42957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6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7. Draft a measurable definition of alignment</a:t>
            </a:r>
          </a:p>
        </p:txBody>
      </p:sp>
      <p:sp>
        <p:nvSpPr>
          <p:cNvPr id="30" name="Status 2">
            <a:extLst xmlns:a="http://schemas.openxmlformats.org/drawingml/2006/main">
              <a:ext uri="{FF2B5EF4-FFF2-40B4-BE49-F238E27FC236}">
                <a16:creationId xmlns:a16="http://schemas.microsoft.com/office/drawing/2014/main" id="{AD228153-277E-4B3C-97E5-FE13FD8CB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009775"/>
            <a:ext cx="838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In progress</a:t>
            </a:r>
          </a:p>
        </p:txBody>
      </p:sp>
      <p:sp>
        <p:nvSpPr>
          <p:cNvPr id="31" name="Dates 2">
            <a:extLst xmlns:a="http://schemas.openxmlformats.org/drawingml/2006/main">
              <a:ext uri="{FF2B5EF4-FFF2-40B4-BE49-F238E27FC236}">
                <a16:creationId xmlns:a16="http://schemas.microsoft.com/office/drawing/2014/main" id="{53A4AE4F-BC90-4239-A83A-6E512E274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2009775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9/21-10/7</a:t>
            </a:r>
          </a:p>
        </p:txBody>
      </p:sp>
      <p:sp>
        <p:nvSpPr>
          <p:cNvPr id="32" name="Week rule 2 2026-09-21">
            <a:extLst xmlns:a="http://schemas.openxmlformats.org/drawingml/2006/main">
              <a:ext uri="{FF2B5EF4-FFF2-40B4-BE49-F238E27FC236}">
                <a16:creationId xmlns:a16="http://schemas.microsoft.com/office/drawing/2014/main" id="{5BCA0E6A-B5CE-4EB9-A523-C737C8341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00977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33" name="Week rule 2 2026-09-28">
            <a:extLst xmlns:a="http://schemas.openxmlformats.org/drawingml/2006/main">
              <a:ext uri="{FF2B5EF4-FFF2-40B4-BE49-F238E27FC236}">
                <a16:creationId xmlns:a16="http://schemas.microsoft.com/office/drawing/2014/main" id="{623C7377-EA9B-4586-9D5D-46BC01B5C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5150" y="200977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34" name="Week rule 2 2026-10-05">
            <a:extLst xmlns:a="http://schemas.openxmlformats.org/drawingml/2006/main">
              <a:ext uri="{FF2B5EF4-FFF2-40B4-BE49-F238E27FC236}">
                <a16:creationId xmlns:a16="http://schemas.microsoft.com/office/drawing/2014/main" id="{F152D31C-6550-4CC8-8D09-AD8899972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7125" y="200977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35" name="Bar 2 0">
            <a:extLst xmlns:a="http://schemas.openxmlformats.org/drawingml/2006/main">
              <a:ext uri="{FF2B5EF4-FFF2-40B4-BE49-F238E27FC236}">
                <a16:creationId xmlns:a16="http://schemas.microsoft.com/office/drawing/2014/main" id="{F49C613B-373F-467D-B841-AA1F19DA1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081213"/>
            <a:ext cx="4441371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A323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36" name="Row rule 2">
            <a:extLst xmlns:a="http://schemas.openxmlformats.org/drawingml/2006/main">
              <a:ext uri="{FF2B5EF4-FFF2-40B4-BE49-F238E27FC236}">
                <a16:creationId xmlns:a16="http://schemas.microsoft.com/office/drawing/2014/main" id="{F1B05D6A-4C37-4B08-B088-C0CE8A87C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257425"/>
            <a:ext cx="1152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37" name="Section Data and reproducibility">
            <a:extLst xmlns:a="http://schemas.openxmlformats.org/drawingml/2006/main">
              <a:ext uri="{FF2B5EF4-FFF2-40B4-BE49-F238E27FC236}">
                <a16:creationId xmlns:a16="http://schemas.microsoft.com/office/drawing/2014/main" id="{11F2E2B6-D14B-4F87-A9ED-6761CE6AE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257425"/>
            <a:ext cx="11525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38" name="Section title Data and reproducibility">
            <a:extLst xmlns:a="http://schemas.openxmlformats.org/drawingml/2006/main">
              <a:ext uri="{FF2B5EF4-FFF2-40B4-BE49-F238E27FC236}">
                <a16:creationId xmlns:a16="http://schemas.microsoft.com/office/drawing/2014/main" id="{73A1A4CE-0F61-4527-AF82-F43464D1B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2257425"/>
            <a:ext cx="11468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Data and reproducibility</a:t>
            </a:r>
          </a:p>
        </p:txBody>
      </p:sp>
      <p:sp>
        <p:nvSpPr>
          <p:cNvPr id="39" name="Row tint 3">
            <a:extLst xmlns:a="http://schemas.openxmlformats.org/drawingml/2006/main">
              <a:ext uri="{FF2B5EF4-FFF2-40B4-BE49-F238E27FC236}">
                <a16:creationId xmlns:a16="http://schemas.microsoft.com/office/drawing/2014/main" id="{18F85BD9-AF67-407F-8BE5-F3CB41C31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486025"/>
            <a:ext cx="11525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40" name="Task 3">
            <a:extLst xmlns:a="http://schemas.openxmlformats.org/drawingml/2006/main">
              <a:ext uri="{FF2B5EF4-FFF2-40B4-BE49-F238E27FC236}">
                <a16:creationId xmlns:a16="http://schemas.microsoft.com/office/drawing/2014/main" id="{8A97B9F8-D07A-479E-A329-7E269591E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2486025"/>
            <a:ext cx="42957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6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3. Data labels, sequence regions and duplicates</a:t>
            </a:r>
          </a:p>
        </p:txBody>
      </p:sp>
      <p:sp>
        <p:nvSpPr>
          <p:cNvPr id="41" name="Status 3">
            <a:extLst xmlns:a="http://schemas.openxmlformats.org/drawingml/2006/main">
              <a:ext uri="{FF2B5EF4-FFF2-40B4-BE49-F238E27FC236}">
                <a16:creationId xmlns:a16="http://schemas.microsoft.com/office/drawing/2014/main" id="{0E90AC25-59A0-4524-A56C-CDBB3CB70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486025"/>
            <a:ext cx="838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In progress</a:t>
            </a:r>
          </a:p>
        </p:txBody>
      </p:sp>
      <p:sp>
        <p:nvSpPr>
          <p:cNvPr id="42" name="Dates 3">
            <a:extLst xmlns:a="http://schemas.openxmlformats.org/drawingml/2006/main">
              <a:ext uri="{FF2B5EF4-FFF2-40B4-BE49-F238E27FC236}">
                <a16:creationId xmlns:a16="http://schemas.microsoft.com/office/drawing/2014/main" id="{543F51A9-ED8C-443F-9B16-CF236C0DE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2486025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9/21-10/7</a:t>
            </a:r>
          </a:p>
        </p:txBody>
      </p:sp>
      <p:sp>
        <p:nvSpPr>
          <p:cNvPr id="43" name="Week rule 3 2026-09-21">
            <a:extLst xmlns:a="http://schemas.openxmlformats.org/drawingml/2006/main">
              <a:ext uri="{FF2B5EF4-FFF2-40B4-BE49-F238E27FC236}">
                <a16:creationId xmlns:a16="http://schemas.microsoft.com/office/drawing/2014/main" id="{955DA5DC-DA69-4E52-8DC7-4451DE046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48602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44" name="Week rule 3 2026-09-28">
            <a:extLst xmlns:a="http://schemas.openxmlformats.org/drawingml/2006/main">
              <a:ext uri="{FF2B5EF4-FFF2-40B4-BE49-F238E27FC236}">
                <a16:creationId xmlns:a16="http://schemas.microsoft.com/office/drawing/2014/main" id="{2D29E9DA-0F31-4F51-8B29-61A401C60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5150" y="248602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45" name="Week rule 3 2026-10-05">
            <a:extLst xmlns:a="http://schemas.openxmlformats.org/drawingml/2006/main">
              <a:ext uri="{FF2B5EF4-FFF2-40B4-BE49-F238E27FC236}">
                <a16:creationId xmlns:a16="http://schemas.microsoft.com/office/drawing/2014/main" id="{C9FFDCE8-EB91-4DF2-8738-F4D322FD8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7125" y="248602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46" name="Bar 3 0">
            <a:extLst xmlns:a="http://schemas.openxmlformats.org/drawingml/2006/main">
              <a:ext uri="{FF2B5EF4-FFF2-40B4-BE49-F238E27FC236}">
                <a16:creationId xmlns:a16="http://schemas.microsoft.com/office/drawing/2014/main" id="{7F916FDC-68D6-4CBC-9881-7E4937BEF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557463"/>
            <a:ext cx="4441371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A323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47" name="Row rule 3">
            <a:extLst xmlns:a="http://schemas.openxmlformats.org/drawingml/2006/main">
              <a:ext uri="{FF2B5EF4-FFF2-40B4-BE49-F238E27FC236}">
                <a16:creationId xmlns:a16="http://schemas.microsoft.com/office/drawing/2014/main" id="{EF6A65B1-6F9C-4664-848F-CE67CF0D5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733675"/>
            <a:ext cx="1152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48" name="Task 4">
            <a:extLst xmlns:a="http://schemas.openxmlformats.org/drawingml/2006/main">
              <a:ext uri="{FF2B5EF4-FFF2-40B4-BE49-F238E27FC236}">
                <a16:creationId xmlns:a16="http://schemas.microsoft.com/office/drawing/2014/main" id="{7B5F18B9-8928-4489-9582-38C633ED5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2733675"/>
            <a:ext cx="42957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6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4. Train/test separation and preprocessing</a:t>
            </a:r>
          </a:p>
        </p:txBody>
      </p:sp>
      <p:sp>
        <p:nvSpPr>
          <p:cNvPr id="49" name="Status 4">
            <a:extLst xmlns:a="http://schemas.openxmlformats.org/drawingml/2006/main">
              <a:ext uri="{FF2B5EF4-FFF2-40B4-BE49-F238E27FC236}">
                <a16:creationId xmlns:a16="http://schemas.microsoft.com/office/drawing/2014/main" id="{02154963-20BA-4205-A010-D4DC5AE36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733675"/>
            <a:ext cx="838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Complete</a:t>
            </a:r>
          </a:p>
        </p:txBody>
      </p:sp>
      <p:sp>
        <p:nvSpPr>
          <p:cNvPr id="50" name="Dates 4">
            <a:extLst xmlns:a="http://schemas.openxmlformats.org/drawingml/2006/main">
              <a:ext uri="{FF2B5EF4-FFF2-40B4-BE49-F238E27FC236}">
                <a16:creationId xmlns:a16="http://schemas.microsoft.com/office/drawing/2014/main" id="{8AAD25D2-D764-4863-A3BB-B4FE94AEB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2733675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9/21-10/3</a:t>
            </a:r>
          </a:p>
        </p:txBody>
      </p:sp>
      <p:sp>
        <p:nvSpPr>
          <p:cNvPr id="51" name="Week rule 4 2026-09-21">
            <a:extLst xmlns:a="http://schemas.openxmlformats.org/drawingml/2006/main">
              <a:ext uri="{FF2B5EF4-FFF2-40B4-BE49-F238E27FC236}">
                <a16:creationId xmlns:a16="http://schemas.microsoft.com/office/drawing/2014/main" id="{6FE76740-B8F7-4DC6-ABF7-58096F04B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73367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2" name="Week rule 4 2026-09-28">
            <a:extLst xmlns:a="http://schemas.openxmlformats.org/drawingml/2006/main">
              <a:ext uri="{FF2B5EF4-FFF2-40B4-BE49-F238E27FC236}">
                <a16:creationId xmlns:a16="http://schemas.microsoft.com/office/drawing/2014/main" id="{1CBB6203-9B7D-4743-9B03-6E63170B3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5150" y="273367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3" name="Week rule 4 2026-10-05">
            <a:extLst xmlns:a="http://schemas.openxmlformats.org/drawingml/2006/main">
              <a:ext uri="{FF2B5EF4-FFF2-40B4-BE49-F238E27FC236}">
                <a16:creationId xmlns:a16="http://schemas.microsoft.com/office/drawing/2014/main" id="{268AA3A0-BD2F-47D3-B786-4D3994F57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7125" y="273367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4" name="Bar 4 0">
            <a:extLst xmlns:a="http://schemas.openxmlformats.org/drawingml/2006/main">
              <a:ext uri="{FF2B5EF4-FFF2-40B4-BE49-F238E27FC236}">
                <a16:creationId xmlns:a16="http://schemas.microsoft.com/office/drawing/2014/main" id="{7BE16C3F-1662-4EA8-AFEE-50B94DD12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805113"/>
            <a:ext cx="3396342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5959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5" name="Row rule 4">
            <a:extLst xmlns:a="http://schemas.openxmlformats.org/drawingml/2006/main">
              <a:ext uri="{FF2B5EF4-FFF2-40B4-BE49-F238E27FC236}">
                <a16:creationId xmlns:a16="http://schemas.microsoft.com/office/drawing/2014/main" id="{272596E3-BED4-4994-9999-09A604233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981325"/>
            <a:ext cx="1152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6" name="Row tint 5">
            <a:extLst xmlns:a="http://schemas.openxmlformats.org/drawingml/2006/main">
              <a:ext uri="{FF2B5EF4-FFF2-40B4-BE49-F238E27FC236}">
                <a16:creationId xmlns:a16="http://schemas.microsoft.com/office/drawing/2014/main" id="{9AD3D4DE-AEA2-4EFB-8EC5-9E15634AC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981325"/>
            <a:ext cx="11525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7" name="Task 5">
            <a:extLst xmlns:a="http://schemas.openxmlformats.org/drawingml/2006/main">
              <a:ext uri="{FF2B5EF4-FFF2-40B4-BE49-F238E27FC236}">
                <a16:creationId xmlns:a16="http://schemas.microsoft.com/office/drawing/2014/main" id="{FBF3E053-31AF-4B3A-BEC5-617A1C337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2981325"/>
            <a:ext cx="42957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6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5. Run history, seeds and reproducibility</a:t>
            </a:r>
          </a:p>
        </p:txBody>
      </p:sp>
      <p:sp>
        <p:nvSpPr>
          <p:cNvPr id="58" name="Status 5">
            <a:extLst xmlns:a="http://schemas.openxmlformats.org/drawingml/2006/main">
              <a:ext uri="{FF2B5EF4-FFF2-40B4-BE49-F238E27FC236}">
                <a16:creationId xmlns:a16="http://schemas.microsoft.com/office/drawing/2014/main" id="{E344F87F-155D-46A0-AB94-8DBC96247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981325"/>
            <a:ext cx="838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Complete</a:t>
            </a:r>
          </a:p>
        </p:txBody>
      </p:sp>
      <p:sp>
        <p:nvSpPr>
          <p:cNvPr id="59" name="Dates 5">
            <a:extLst xmlns:a="http://schemas.openxmlformats.org/drawingml/2006/main">
              <a:ext uri="{FF2B5EF4-FFF2-40B4-BE49-F238E27FC236}">
                <a16:creationId xmlns:a16="http://schemas.microsoft.com/office/drawing/2014/main" id="{618CA022-F210-422A-9470-C838F3D40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2981325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9/21-10/3</a:t>
            </a:r>
          </a:p>
        </p:txBody>
      </p:sp>
      <p:sp>
        <p:nvSpPr>
          <p:cNvPr id="60" name="Week rule 5 2026-09-21">
            <a:extLst xmlns:a="http://schemas.openxmlformats.org/drawingml/2006/main">
              <a:ext uri="{FF2B5EF4-FFF2-40B4-BE49-F238E27FC236}">
                <a16:creationId xmlns:a16="http://schemas.microsoft.com/office/drawing/2014/main" id="{D71D999D-2418-4FD4-83FB-B9C8C4F9D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98132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61" name="Week rule 5 2026-09-28">
            <a:extLst xmlns:a="http://schemas.openxmlformats.org/drawingml/2006/main">
              <a:ext uri="{FF2B5EF4-FFF2-40B4-BE49-F238E27FC236}">
                <a16:creationId xmlns:a16="http://schemas.microsoft.com/office/drawing/2014/main" id="{297C668C-7410-4803-B0DB-09F5D16FE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5150" y="298132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62" name="Week rule 5 2026-10-05">
            <a:extLst xmlns:a="http://schemas.openxmlformats.org/drawingml/2006/main">
              <a:ext uri="{FF2B5EF4-FFF2-40B4-BE49-F238E27FC236}">
                <a16:creationId xmlns:a16="http://schemas.microsoft.com/office/drawing/2014/main" id="{ABDF4312-A124-4D70-9C08-099FA0B95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7125" y="298132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63" name="Bar 5 0">
            <a:extLst xmlns:a="http://schemas.openxmlformats.org/drawingml/2006/main">
              <a:ext uri="{FF2B5EF4-FFF2-40B4-BE49-F238E27FC236}">
                <a16:creationId xmlns:a16="http://schemas.microsoft.com/office/drawing/2014/main" id="{FE3E5DF4-B98F-4FCC-8A2D-407A74428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3052763"/>
            <a:ext cx="3396342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5959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64" name="Row rule 5">
            <a:extLst xmlns:a="http://schemas.openxmlformats.org/drawingml/2006/main">
              <a:ext uri="{FF2B5EF4-FFF2-40B4-BE49-F238E27FC236}">
                <a16:creationId xmlns:a16="http://schemas.microsoft.com/office/drawing/2014/main" id="{B193B3E2-8AAD-460B-B03B-AFA5EA637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228975"/>
            <a:ext cx="1152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65" name="Section Early implementation, writing and collaboration">
            <a:extLst xmlns:a="http://schemas.openxmlformats.org/drawingml/2006/main">
              <a:ext uri="{FF2B5EF4-FFF2-40B4-BE49-F238E27FC236}">
                <a16:creationId xmlns:a16="http://schemas.microsoft.com/office/drawing/2014/main" id="{F1D88B7D-F333-4866-84CB-0CA36E73F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228975"/>
            <a:ext cx="11525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66" name="Section title Early implementation, writing and collaboration">
            <a:extLst xmlns:a="http://schemas.openxmlformats.org/drawingml/2006/main">
              <a:ext uri="{FF2B5EF4-FFF2-40B4-BE49-F238E27FC236}">
                <a16:creationId xmlns:a16="http://schemas.microsoft.com/office/drawing/2014/main" id="{B2D6C172-5541-43B2-96AE-006E055AC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3228975"/>
            <a:ext cx="11468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Early implementation, writing and collaboration</a:t>
            </a:r>
          </a:p>
        </p:txBody>
      </p:sp>
      <p:sp>
        <p:nvSpPr>
          <p:cNvPr id="67" name="Task 6">
            <a:extLst xmlns:a="http://schemas.openxmlformats.org/drawingml/2006/main">
              <a:ext uri="{FF2B5EF4-FFF2-40B4-BE49-F238E27FC236}">
                <a16:creationId xmlns:a16="http://schemas.microsoft.com/office/drawing/2014/main" id="{1107A618-70AB-4FBD-A6D9-A6946456A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3457575"/>
            <a:ext cx="42957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6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8. Map BioLangFusion/IsoFormer inputs incl. DNA</a:t>
            </a:r>
          </a:p>
        </p:txBody>
      </p:sp>
      <p:sp>
        <p:nvSpPr>
          <p:cNvPr id="68" name="Status 6">
            <a:extLst xmlns:a="http://schemas.openxmlformats.org/drawingml/2006/main">
              <a:ext uri="{FF2B5EF4-FFF2-40B4-BE49-F238E27FC236}">
                <a16:creationId xmlns:a16="http://schemas.microsoft.com/office/drawing/2014/main" id="{4B1A4D4B-3F36-47B7-8407-FD0FB0B48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457575"/>
            <a:ext cx="838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Complete</a:t>
            </a:r>
          </a:p>
        </p:txBody>
      </p:sp>
      <p:sp>
        <p:nvSpPr>
          <p:cNvPr id="69" name="Dates 6">
            <a:extLst xmlns:a="http://schemas.openxmlformats.org/drawingml/2006/main">
              <a:ext uri="{FF2B5EF4-FFF2-40B4-BE49-F238E27FC236}">
                <a16:creationId xmlns:a16="http://schemas.microsoft.com/office/drawing/2014/main" id="{302FB208-3E06-4CF2-B6AA-56CD927FD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3457575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9/28-10/2</a:t>
            </a:r>
          </a:p>
        </p:txBody>
      </p:sp>
      <p:sp>
        <p:nvSpPr>
          <p:cNvPr id="70" name="Week rule 6 2026-09-21">
            <a:extLst xmlns:a="http://schemas.openxmlformats.org/drawingml/2006/main">
              <a:ext uri="{FF2B5EF4-FFF2-40B4-BE49-F238E27FC236}">
                <a16:creationId xmlns:a16="http://schemas.microsoft.com/office/drawing/2014/main" id="{A919E0BB-BA35-4EC1-AACD-AD7F46C01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45757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71" name="Week rule 6 2026-09-28">
            <a:extLst xmlns:a="http://schemas.openxmlformats.org/drawingml/2006/main">
              <a:ext uri="{FF2B5EF4-FFF2-40B4-BE49-F238E27FC236}">
                <a16:creationId xmlns:a16="http://schemas.microsoft.com/office/drawing/2014/main" id="{D1D7734B-2145-4B78-913A-9256970B2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5150" y="345757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72" name="Week rule 6 2026-10-05">
            <a:extLst xmlns:a="http://schemas.openxmlformats.org/drawingml/2006/main">
              <a:ext uri="{FF2B5EF4-FFF2-40B4-BE49-F238E27FC236}">
                <a16:creationId xmlns:a16="http://schemas.microsoft.com/office/drawing/2014/main" id="{6F83F414-BB2B-4DC8-93DB-73E375395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7125" y="345757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73" name="Bar 6 0">
            <a:extLst xmlns:a="http://schemas.openxmlformats.org/drawingml/2006/main">
              <a:ext uri="{FF2B5EF4-FFF2-40B4-BE49-F238E27FC236}">
                <a16:creationId xmlns:a16="http://schemas.microsoft.com/office/drawing/2014/main" id="{4965704C-396E-4278-9F85-B4434892A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3529013"/>
            <a:ext cx="130628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5959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74" name="Row rule 6">
            <a:extLst xmlns:a="http://schemas.openxmlformats.org/drawingml/2006/main">
              <a:ext uri="{FF2B5EF4-FFF2-40B4-BE49-F238E27FC236}">
                <a16:creationId xmlns:a16="http://schemas.microsoft.com/office/drawing/2014/main" id="{1656A88B-3D95-495F-B088-7FE5B1F99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705225"/>
            <a:ext cx="1152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75" name="Row tint 7">
            <a:extLst xmlns:a="http://schemas.openxmlformats.org/drawingml/2006/main">
              <a:ext uri="{FF2B5EF4-FFF2-40B4-BE49-F238E27FC236}">
                <a16:creationId xmlns:a16="http://schemas.microsoft.com/office/drawing/2014/main" id="{754B57A9-EDC3-4AE4-B6A6-AD4417743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705225"/>
            <a:ext cx="11525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76" name="Task 7">
            <a:extLst xmlns:a="http://schemas.openxmlformats.org/drawingml/2006/main">
              <a:ext uri="{FF2B5EF4-FFF2-40B4-BE49-F238E27FC236}">
                <a16:creationId xmlns:a16="http://schemas.microsoft.com/office/drawing/2014/main" id="{BE6DED01-CAC1-44C9-AB9A-9D2346B3E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3705225"/>
            <a:ext cx="42957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6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9. Published-split comparisons for both datasets</a:t>
            </a:r>
          </a:p>
        </p:txBody>
      </p:sp>
      <p:sp>
        <p:nvSpPr>
          <p:cNvPr id="77" name="Status 7">
            <a:extLst xmlns:a="http://schemas.openxmlformats.org/drawingml/2006/main">
              <a:ext uri="{FF2B5EF4-FFF2-40B4-BE49-F238E27FC236}">
                <a16:creationId xmlns:a16="http://schemas.microsoft.com/office/drawing/2014/main" id="{1C95D57B-BE4A-40C4-8923-5B5B09CD6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705225"/>
            <a:ext cx="838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Complete</a:t>
            </a:r>
          </a:p>
        </p:txBody>
      </p:sp>
      <p:sp>
        <p:nvSpPr>
          <p:cNvPr id="78" name="Dates 7">
            <a:extLst xmlns:a="http://schemas.openxmlformats.org/drawingml/2006/main">
              <a:ext uri="{FF2B5EF4-FFF2-40B4-BE49-F238E27FC236}">
                <a16:creationId xmlns:a16="http://schemas.microsoft.com/office/drawing/2014/main" id="{FC8FFE9F-C46F-49B9-80D4-F36D9824E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3705225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10/1-10/3</a:t>
            </a:r>
          </a:p>
        </p:txBody>
      </p:sp>
      <p:sp>
        <p:nvSpPr>
          <p:cNvPr id="79" name="Week rule 7 2026-09-21">
            <a:extLst xmlns:a="http://schemas.openxmlformats.org/drawingml/2006/main">
              <a:ext uri="{FF2B5EF4-FFF2-40B4-BE49-F238E27FC236}">
                <a16:creationId xmlns:a16="http://schemas.microsoft.com/office/drawing/2014/main" id="{061BC52C-C4B9-402E-B472-F4789EF60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70522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80" name="Week rule 7 2026-09-28">
            <a:extLst xmlns:a="http://schemas.openxmlformats.org/drawingml/2006/main">
              <a:ext uri="{FF2B5EF4-FFF2-40B4-BE49-F238E27FC236}">
                <a16:creationId xmlns:a16="http://schemas.microsoft.com/office/drawing/2014/main" id="{9243383D-E5F6-424A-88DE-0E793694F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5150" y="370522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81" name="Week rule 7 2026-10-05">
            <a:extLst xmlns:a="http://schemas.openxmlformats.org/drawingml/2006/main">
              <a:ext uri="{FF2B5EF4-FFF2-40B4-BE49-F238E27FC236}">
                <a16:creationId xmlns:a16="http://schemas.microsoft.com/office/drawing/2014/main" id="{933818FD-8F2A-4DC5-BEB3-549B0FF4B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7125" y="370522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82" name="Bar 7 0">
            <a:extLst xmlns:a="http://schemas.openxmlformats.org/drawingml/2006/main">
              <a:ext uri="{FF2B5EF4-FFF2-40B4-BE49-F238E27FC236}">
                <a16:creationId xmlns:a16="http://schemas.microsoft.com/office/drawing/2014/main" id="{558BF6F5-5E81-4C2E-A4E8-F91914C9B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7651" y="3776663"/>
            <a:ext cx="783771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5959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83" name="Row rule 7">
            <a:extLst xmlns:a="http://schemas.openxmlformats.org/drawingml/2006/main">
              <a:ext uri="{FF2B5EF4-FFF2-40B4-BE49-F238E27FC236}">
                <a16:creationId xmlns:a16="http://schemas.microsoft.com/office/drawing/2014/main" id="{FD506E0F-4FA2-4029-814B-F532C1DD6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952875"/>
            <a:ext cx="1152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84" name="Task 8">
            <a:extLst xmlns:a="http://schemas.openxmlformats.org/drawingml/2006/main">
              <a:ext uri="{FF2B5EF4-FFF2-40B4-BE49-F238E27FC236}">
                <a16:creationId xmlns:a16="http://schemas.microsoft.com/office/drawing/2014/main" id="{EAE66BBE-DC6D-4CFF-9F0F-98F473FE2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3952875"/>
            <a:ext cx="42957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6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10. Write Stage 1 methods and findings in Overleaf</a:t>
            </a:r>
          </a:p>
        </p:txBody>
      </p:sp>
      <p:sp>
        <p:nvSpPr>
          <p:cNvPr id="85" name="Status 8">
            <a:extLst xmlns:a="http://schemas.openxmlformats.org/drawingml/2006/main">
              <a:ext uri="{FF2B5EF4-FFF2-40B4-BE49-F238E27FC236}">
                <a16:creationId xmlns:a16="http://schemas.microsoft.com/office/drawing/2014/main" id="{8D4F6715-8F51-425F-B164-B124A9DF2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952875"/>
            <a:ext cx="838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In progress</a:t>
            </a:r>
          </a:p>
        </p:txBody>
      </p:sp>
      <p:sp>
        <p:nvSpPr>
          <p:cNvPr id="86" name="Dates 8">
            <a:extLst xmlns:a="http://schemas.openxmlformats.org/drawingml/2006/main">
              <a:ext uri="{FF2B5EF4-FFF2-40B4-BE49-F238E27FC236}">
                <a16:creationId xmlns:a16="http://schemas.microsoft.com/office/drawing/2014/main" id="{A7216BFC-B513-4FFB-ACB9-E470C9A52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3952875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9/26-10/7</a:t>
            </a:r>
          </a:p>
        </p:txBody>
      </p:sp>
      <p:sp>
        <p:nvSpPr>
          <p:cNvPr id="87" name="Week rule 8 2026-09-21">
            <a:extLst xmlns:a="http://schemas.openxmlformats.org/drawingml/2006/main">
              <a:ext uri="{FF2B5EF4-FFF2-40B4-BE49-F238E27FC236}">
                <a16:creationId xmlns:a16="http://schemas.microsoft.com/office/drawing/2014/main" id="{077B92AF-E742-4A57-AE2E-4D30B24BD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95287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88" name="Week rule 8 2026-09-28">
            <a:extLst xmlns:a="http://schemas.openxmlformats.org/drawingml/2006/main">
              <a:ext uri="{FF2B5EF4-FFF2-40B4-BE49-F238E27FC236}">
                <a16:creationId xmlns:a16="http://schemas.microsoft.com/office/drawing/2014/main" id="{D13E4F06-4048-4024-9B3F-252014EE3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5150" y="395287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89" name="Week rule 8 2026-10-05">
            <a:extLst xmlns:a="http://schemas.openxmlformats.org/drawingml/2006/main">
              <a:ext uri="{FF2B5EF4-FFF2-40B4-BE49-F238E27FC236}">
                <a16:creationId xmlns:a16="http://schemas.microsoft.com/office/drawing/2014/main" id="{C20BF075-33D3-46C6-AB93-A54A86BED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7125" y="395287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90" name="Bar 8 0">
            <a:extLst xmlns:a="http://schemas.openxmlformats.org/drawingml/2006/main">
              <a:ext uri="{FF2B5EF4-FFF2-40B4-BE49-F238E27FC236}">
                <a16:creationId xmlns:a16="http://schemas.microsoft.com/office/drawing/2014/main" id="{BC394C3D-4342-4439-A2A3-5FACEBC5C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1365" y="4024313"/>
            <a:ext cx="313508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A323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91" name="Row rule 8">
            <a:extLst xmlns:a="http://schemas.openxmlformats.org/drawingml/2006/main">
              <a:ext uri="{FF2B5EF4-FFF2-40B4-BE49-F238E27FC236}">
                <a16:creationId xmlns:a16="http://schemas.microsoft.com/office/drawing/2014/main" id="{CA2557C8-707C-4BC6-B343-68ABE935A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200525"/>
            <a:ext cx="1152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92" name="Row tint 9">
            <a:extLst xmlns:a="http://schemas.openxmlformats.org/drawingml/2006/main">
              <a:ext uri="{FF2B5EF4-FFF2-40B4-BE49-F238E27FC236}">
                <a16:creationId xmlns:a16="http://schemas.microsoft.com/office/drawing/2014/main" id="{1D3EC465-3193-4E04-98BB-512579303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200525"/>
            <a:ext cx="11525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93" name="Task 9">
            <a:extLst xmlns:a="http://schemas.openxmlformats.org/drawingml/2006/main">
              <a:ext uri="{FF2B5EF4-FFF2-40B4-BE49-F238E27FC236}">
                <a16:creationId xmlns:a16="http://schemas.microsoft.com/office/drawing/2014/main" id="{8608C576-DD03-4920-ADCF-4E82D8329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4200525"/>
            <a:ext cx="42957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6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11. Clarify the lab tokenizer and benchmark opportunity</a:t>
            </a:r>
          </a:p>
        </p:txBody>
      </p:sp>
      <p:sp>
        <p:nvSpPr>
          <p:cNvPr id="94" name="Status 9">
            <a:extLst xmlns:a="http://schemas.openxmlformats.org/drawingml/2006/main">
              <a:ext uri="{FF2B5EF4-FFF2-40B4-BE49-F238E27FC236}">
                <a16:creationId xmlns:a16="http://schemas.microsoft.com/office/drawing/2014/main" id="{C3D056EA-31FC-4F82-BAB8-AC03E28D7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200525"/>
            <a:ext cx="838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Planned</a:t>
            </a:r>
          </a:p>
        </p:txBody>
      </p:sp>
      <p:sp>
        <p:nvSpPr>
          <p:cNvPr id="95" name="Dates 9">
            <a:extLst xmlns:a="http://schemas.openxmlformats.org/drawingml/2006/main">
              <a:ext uri="{FF2B5EF4-FFF2-40B4-BE49-F238E27FC236}">
                <a16:creationId xmlns:a16="http://schemas.microsoft.com/office/drawing/2014/main" id="{85FEB189-5BC6-462C-82DD-43291224A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4200525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9/28-10/5</a:t>
            </a:r>
          </a:p>
        </p:txBody>
      </p:sp>
      <p:sp>
        <p:nvSpPr>
          <p:cNvPr id="96" name="Week rule 9 2026-09-21">
            <a:extLst xmlns:a="http://schemas.openxmlformats.org/drawingml/2006/main">
              <a:ext uri="{FF2B5EF4-FFF2-40B4-BE49-F238E27FC236}">
                <a16:creationId xmlns:a16="http://schemas.microsoft.com/office/drawing/2014/main" id="{189E6E2A-66FF-4AB1-B29C-4FE3505AB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20052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97" name="Week rule 9 2026-09-28">
            <a:extLst xmlns:a="http://schemas.openxmlformats.org/drawingml/2006/main">
              <a:ext uri="{FF2B5EF4-FFF2-40B4-BE49-F238E27FC236}">
                <a16:creationId xmlns:a16="http://schemas.microsoft.com/office/drawing/2014/main" id="{E0A3D6BE-984C-4BBC-909D-E6B17D60A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5150" y="420052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98" name="Week rule 9 2026-10-05">
            <a:extLst xmlns:a="http://schemas.openxmlformats.org/drawingml/2006/main">
              <a:ext uri="{FF2B5EF4-FFF2-40B4-BE49-F238E27FC236}">
                <a16:creationId xmlns:a16="http://schemas.microsoft.com/office/drawing/2014/main" id="{4CFCFAE1-C94A-4090-9DAB-2CE879488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7125" y="420052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99" name="Bar 9 0">
            <a:extLst xmlns:a="http://schemas.openxmlformats.org/drawingml/2006/main">
              <a:ext uri="{FF2B5EF4-FFF2-40B4-BE49-F238E27FC236}">
                <a16:creationId xmlns:a16="http://schemas.microsoft.com/office/drawing/2014/main" id="{0369ABD2-E1FD-4E3C-A307-78B3CEAD1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5150" y="4271963"/>
            <a:ext cx="2093686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EC4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00" name="Row rule 9">
            <a:extLst xmlns:a="http://schemas.openxmlformats.org/drawingml/2006/main">
              <a:ext uri="{FF2B5EF4-FFF2-40B4-BE49-F238E27FC236}">
                <a16:creationId xmlns:a16="http://schemas.microsoft.com/office/drawing/2014/main" id="{ED4CA3F4-E5A6-414A-B4E9-7F585664E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448175"/>
            <a:ext cx="1152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01" name="Section October 5 review and follow-up">
            <a:extLst xmlns:a="http://schemas.openxmlformats.org/drawingml/2006/main">
              <a:ext uri="{FF2B5EF4-FFF2-40B4-BE49-F238E27FC236}">
                <a16:creationId xmlns:a16="http://schemas.microsoft.com/office/drawing/2014/main" id="{7FB7E455-D03E-4BFF-BEEC-3C0F3F635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448175"/>
            <a:ext cx="11525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02" name="Section title October 5 review and follow-up">
            <a:extLst xmlns:a="http://schemas.openxmlformats.org/drawingml/2006/main">
              <a:ext uri="{FF2B5EF4-FFF2-40B4-BE49-F238E27FC236}">
                <a16:creationId xmlns:a16="http://schemas.microsoft.com/office/drawing/2014/main" id="{EEE58CEC-BF69-42A2-B55B-D9FFAF9E2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4448175"/>
            <a:ext cx="11468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October 7 review and follow-up</a:t>
            </a:r>
          </a:p>
        </p:txBody>
      </p:sp>
      <p:sp>
        <p:nvSpPr>
          <p:cNvPr id="103" name="Task 10">
            <a:extLst xmlns:a="http://schemas.openxmlformats.org/drawingml/2006/main">
              <a:ext uri="{FF2B5EF4-FFF2-40B4-BE49-F238E27FC236}">
                <a16:creationId xmlns:a16="http://schemas.microsoft.com/office/drawing/2014/main" id="{58296BB8-A1C1-4922-8118-C5D46340A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4676775"/>
            <a:ext cx="42957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6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12. Prepare evidence and questions for Mina</a:t>
            </a:r>
          </a:p>
        </p:txBody>
      </p:sp>
      <p:sp>
        <p:nvSpPr>
          <p:cNvPr id="104" name="Status 10">
            <a:extLst xmlns:a="http://schemas.openxmlformats.org/drawingml/2006/main">
              <a:ext uri="{FF2B5EF4-FFF2-40B4-BE49-F238E27FC236}">
                <a16:creationId xmlns:a16="http://schemas.microsoft.com/office/drawing/2014/main" id="{332CE47F-5706-4ED5-BFC2-38BC63D0E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676775"/>
            <a:ext cx="838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In progress</a:t>
            </a:r>
          </a:p>
        </p:txBody>
      </p:sp>
      <p:sp>
        <p:nvSpPr>
          <p:cNvPr id="105" name="Dates 10">
            <a:extLst xmlns:a="http://schemas.openxmlformats.org/drawingml/2006/main">
              <a:ext uri="{FF2B5EF4-FFF2-40B4-BE49-F238E27FC236}">
                <a16:creationId xmlns:a16="http://schemas.microsoft.com/office/drawing/2014/main" id="{65223890-7293-4BE9-883E-F75803B1E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4676775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10/1-10/6</a:t>
            </a:r>
          </a:p>
        </p:txBody>
      </p:sp>
      <p:sp>
        <p:nvSpPr>
          <p:cNvPr id="106" name="Week rule 10 2026-09-21">
            <a:extLst xmlns:a="http://schemas.openxmlformats.org/drawingml/2006/main">
              <a:ext uri="{FF2B5EF4-FFF2-40B4-BE49-F238E27FC236}">
                <a16:creationId xmlns:a16="http://schemas.microsoft.com/office/drawing/2014/main" id="{E7119877-CA11-4253-A462-3A22A3E8A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67677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07" name="Week rule 10 2026-09-28">
            <a:extLst xmlns:a="http://schemas.openxmlformats.org/drawingml/2006/main">
              <a:ext uri="{FF2B5EF4-FFF2-40B4-BE49-F238E27FC236}">
                <a16:creationId xmlns:a16="http://schemas.microsoft.com/office/drawing/2014/main" id="{68251185-484A-41CB-94AA-4A3DCF0B7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5150" y="467677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08" name="Week rule 10 2026-10-05">
            <a:extLst xmlns:a="http://schemas.openxmlformats.org/drawingml/2006/main">
              <a:ext uri="{FF2B5EF4-FFF2-40B4-BE49-F238E27FC236}">
                <a16:creationId xmlns:a16="http://schemas.microsoft.com/office/drawing/2014/main" id="{247413CD-020D-4C66-BDB1-CA1D313CD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7125" y="467677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09" name="Bar 10 0">
            <a:extLst xmlns:a="http://schemas.openxmlformats.org/drawingml/2006/main">
              <a:ext uri="{FF2B5EF4-FFF2-40B4-BE49-F238E27FC236}">
                <a16:creationId xmlns:a16="http://schemas.microsoft.com/office/drawing/2014/main" id="{8514FBCA-0077-404E-AE99-EE5C471BE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7651" y="4748213"/>
            <a:ext cx="1567542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A323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10" name="Row rule 10">
            <a:extLst xmlns:a="http://schemas.openxmlformats.org/drawingml/2006/main">
              <a:ext uri="{FF2B5EF4-FFF2-40B4-BE49-F238E27FC236}">
                <a16:creationId xmlns:a16="http://schemas.microsoft.com/office/drawing/2014/main" id="{9CB37BA3-D198-4489-B5BD-3140BAE6A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924425"/>
            <a:ext cx="1152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11" name="Row tint 11">
            <a:extLst xmlns:a="http://schemas.openxmlformats.org/drawingml/2006/main">
              <a:ext uri="{FF2B5EF4-FFF2-40B4-BE49-F238E27FC236}">
                <a16:creationId xmlns:a16="http://schemas.microsoft.com/office/drawing/2014/main" id="{BC10C0E9-ED1D-461E-8027-B64AD7986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924425"/>
            <a:ext cx="11525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12" name="Task 11">
            <a:extLst xmlns:a="http://schemas.openxmlformats.org/drawingml/2006/main">
              <a:ext uri="{FF2B5EF4-FFF2-40B4-BE49-F238E27FC236}">
                <a16:creationId xmlns:a16="http://schemas.microsoft.com/office/drawing/2014/main" id="{08D86C99-1E68-4C6D-94AE-A9888CBDE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4924425"/>
            <a:ext cx="42957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6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6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13. Review with Mina and working alignment definition</a:t>
            </a:r>
          </a:p>
        </p:txBody>
      </p:sp>
      <p:sp>
        <p:nvSpPr>
          <p:cNvPr id="113" name="Status 11">
            <a:extLst xmlns:a="http://schemas.openxmlformats.org/drawingml/2006/main">
              <a:ext uri="{FF2B5EF4-FFF2-40B4-BE49-F238E27FC236}">
                <a16:creationId xmlns:a16="http://schemas.microsoft.com/office/drawing/2014/main" id="{8D6DB1BA-6020-42E8-9835-31175B8BC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924425"/>
            <a:ext cx="838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Planned</a:t>
            </a:r>
          </a:p>
        </p:txBody>
      </p:sp>
      <p:sp>
        <p:nvSpPr>
          <p:cNvPr id="114" name="Dates 11">
            <a:extLst xmlns:a="http://schemas.openxmlformats.org/drawingml/2006/main">
              <a:ext uri="{FF2B5EF4-FFF2-40B4-BE49-F238E27FC236}">
                <a16:creationId xmlns:a16="http://schemas.microsoft.com/office/drawing/2014/main" id="{29319D34-71D8-4640-9AF8-9C5F5EEC5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4924425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10/7</a:t>
            </a:r>
          </a:p>
        </p:txBody>
      </p:sp>
      <p:sp>
        <p:nvSpPr>
          <p:cNvPr id="115" name="Week rule 11 2026-09-21">
            <a:extLst xmlns:a="http://schemas.openxmlformats.org/drawingml/2006/main">
              <a:ext uri="{FF2B5EF4-FFF2-40B4-BE49-F238E27FC236}">
                <a16:creationId xmlns:a16="http://schemas.microsoft.com/office/drawing/2014/main" id="{380DFAB4-CB2B-46D3-A6ED-C2C05F259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92442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16" name="Week rule 11 2026-09-28">
            <a:extLst xmlns:a="http://schemas.openxmlformats.org/drawingml/2006/main">
              <a:ext uri="{FF2B5EF4-FFF2-40B4-BE49-F238E27FC236}">
                <a16:creationId xmlns:a16="http://schemas.microsoft.com/office/drawing/2014/main" id="{2B49DA09-7995-4A79-BDFD-8E32F0031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5150" y="492442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17" name="Week rule 11 2026-10-05">
            <a:extLst xmlns:a="http://schemas.openxmlformats.org/drawingml/2006/main">
              <a:ext uri="{FF2B5EF4-FFF2-40B4-BE49-F238E27FC236}">
                <a16:creationId xmlns:a16="http://schemas.microsoft.com/office/drawing/2014/main" id="{8B261F23-0E62-42D0-AA5A-3FDA5B6E3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7125" y="492442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18" name="Milestone 13">
            <a:extLst xmlns:a="http://schemas.openxmlformats.org/drawingml/2006/main">
              <a:ext uri="{FF2B5EF4-FFF2-40B4-BE49-F238E27FC236}">
                <a16:creationId xmlns:a16="http://schemas.microsoft.com/office/drawing/2014/main" id="{47EA266F-71B3-4CA1-A5DB-0AD161C58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8197" y="5000625"/>
            <a:ext cx="95250" cy="952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19" name="Row rule 11">
            <a:extLst xmlns:a="http://schemas.openxmlformats.org/drawingml/2006/main">
              <a:ext uri="{FF2B5EF4-FFF2-40B4-BE49-F238E27FC236}">
                <a16:creationId xmlns:a16="http://schemas.microsoft.com/office/drawing/2014/main" id="{2A3CE56E-6CE3-4528-81A8-89A2F89C1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172075"/>
            <a:ext cx="1152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20" name="Task 12">
            <a:extLst xmlns:a="http://schemas.openxmlformats.org/drawingml/2006/main">
              <a:ext uri="{FF2B5EF4-FFF2-40B4-BE49-F238E27FC236}">
                <a16:creationId xmlns:a16="http://schemas.microsoft.com/office/drawing/2014/main" id="{BF559E00-278D-4D0A-8649-053274B63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5172075"/>
            <a:ext cx="42957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6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14. Revise Stage 1 claims, figures and methods</a:t>
            </a:r>
          </a:p>
        </p:txBody>
      </p:sp>
      <p:sp>
        <p:nvSpPr>
          <p:cNvPr id="121" name="Status 12">
            <a:extLst xmlns:a="http://schemas.openxmlformats.org/drawingml/2006/main">
              <a:ext uri="{FF2B5EF4-FFF2-40B4-BE49-F238E27FC236}">
                <a16:creationId xmlns:a16="http://schemas.microsoft.com/office/drawing/2014/main" id="{37891DC7-8AB7-4698-AD03-D120A928E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5172075"/>
            <a:ext cx="838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Planned</a:t>
            </a:r>
          </a:p>
        </p:txBody>
      </p:sp>
      <p:sp>
        <p:nvSpPr>
          <p:cNvPr id="122" name="Dates 12">
            <a:extLst xmlns:a="http://schemas.openxmlformats.org/drawingml/2006/main">
              <a:ext uri="{FF2B5EF4-FFF2-40B4-BE49-F238E27FC236}">
                <a16:creationId xmlns:a16="http://schemas.microsoft.com/office/drawing/2014/main" id="{703B7FED-9B04-4933-AB45-104E6597E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5172075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10/8-10/11</a:t>
            </a:r>
          </a:p>
        </p:txBody>
      </p:sp>
      <p:sp>
        <p:nvSpPr>
          <p:cNvPr id="123" name="Week rule 12 2026-09-21">
            <a:extLst xmlns:a="http://schemas.openxmlformats.org/drawingml/2006/main">
              <a:ext uri="{FF2B5EF4-FFF2-40B4-BE49-F238E27FC236}">
                <a16:creationId xmlns:a16="http://schemas.microsoft.com/office/drawing/2014/main" id="{60657371-283F-4438-AD56-A95A1D3D7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517207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24" name="Week rule 12 2026-09-28">
            <a:extLst xmlns:a="http://schemas.openxmlformats.org/drawingml/2006/main">
              <a:ext uri="{FF2B5EF4-FFF2-40B4-BE49-F238E27FC236}">
                <a16:creationId xmlns:a16="http://schemas.microsoft.com/office/drawing/2014/main" id="{F1580A82-D362-4886-90A6-143B88367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5150" y="517207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25" name="Week rule 12 2026-10-05">
            <a:extLst xmlns:a="http://schemas.openxmlformats.org/drawingml/2006/main">
              <a:ext uri="{FF2B5EF4-FFF2-40B4-BE49-F238E27FC236}">
                <a16:creationId xmlns:a16="http://schemas.microsoft.com/office/drawing/2014/main" id="{75010D56-582A-4987-993B-8076419F8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7125" y="517207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26" name="Bar 12 0">
            <a:extLst xmlns:a="http://schemas.openxmlformats.org/drawingml/2006/main">
              <a:ext uri="{FF2B5EF4-FFF2-40B4-BE49-F238E27FC236}">
                <a16:creationId xmlns:a16="http://schemas.microsoft.com/office/drawing/2014/main" id="{6763E3BC-FFDB-4A37-B9E3-C2F02A5B8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6451" y="5243513"/>
            <a:ext cx="1045028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EC4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27" name="Row rule 12">
            <a:extLst xmlns:a="http://schemas.openxmlformats.org/drawingml/2006/main">
              <a:ext uri="{FF2B5EF4-FFF2-40B4-BE49-F238E27FC236}">
                <a16:creationId xmlns:a16="http://schemas.microsoft.com/office/drawing/2014/main" id="{FC37E477-43E0-49DA-A6D7-E91C30CB7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419725"/>
            <a:ext cx="1152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28" name="Row tint 13">
            <a:extLst xmlns:a="http://schemas.openxmlformats.org/drawingml/2006/main">
              <a:ext uri="{FF2B5EF4-FFF2-40B4-BE49-F238E27FC236}">
                <a16:creationId xmlns:a16="http://schemas.microsoft.com/office/drawing/2014/main" id="{D1601F06-4425-4D17-B0B5-5F6DBA138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419725"/>
            <a:ext cx="11525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29" name="Task 13">
            <a:extLst xmlns:a="http://schemas.openxmlformats.org/drawingml/2006/main">
              <a:ext uri="{FF2B5EF4-FFF2-40B4-BE49-F238E27FC236}">
                <a16:creationId xmlns:a16="http://schemas.microsoft.com/office/drawing/2014/main" id="{D2144D97-2F5D-46CF-934B-0C01A46EE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5419725"/>
            <a:ext cx="42957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6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15. Specify the next matched comparison</a:t>
            </a:r>
          </a:p>
        </p:txBody>
      </p:sp>
      <p:sp>
        <p:nvSpPr>
          <p:cNvPr id="130" name="Status 13">
            <a:extLst xmlns:a="http://schemas.openxmlformats.org/drawingml/2006/main">
              <a:ext uri="{FF2B5EF4-FFF2-40B4-BE49-F238E27FC236}">
                <a16:creationId xmlns:a16="http://schemas.microsoft.com/office/drawing/2014/main" id="{C66AA3FF-8332-41B1-941A-0E8CB2910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5419725"/>
            <a:ext cx="838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Planned</a:t>
            </a:r>
          </a:p>
        </p:txBody>
      </p:sp>
      <p:sp>
        <p:nvSpPr>
          <p:cNvPr id="131" name="Dates 13">
            <a:extLst xmlns:a="http://schemas.openxmlformats.org/drawingml/2006/main">
              <a:ext uri="{FF2B5EF4-FFF2-40B4-BE49-F238E27FC236}">
                <a16:creationId xmlns:a16="http://schemas.microsoft.com/office/drawing/2014/main" id="{6AB89CDE-9C3F-4B86-AC01-79F9022AE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5419725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10/8-10/11</a:t>
            </a:r>
          </a:p>
        </p:txBody>
      </p:sp>
      <p:sp>
        <p:nvSpPr>
          <p:cNvPr id="132" name="Week rule 13 2026-09-21">
            <a:extLst xmlns:a="http://schemas.openxmlformats.org/drawingml/2006/main">
              <a:ext uri="{FF2B5EF4-FFF2-40B4-BE49-F238E27FC236}">
                <a16:creationId xmlns:a16="http://schemas.microsoft.com/office/drawing/2014/main" id="{EE69BBB7-46C7-4D84-9FB7-0A6018C7B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541972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33" name="Week rule 13 2026-09-28">
            <a:extLst xmlns:a="http://schemas.openxmlformats.org/drawingml/2006/main">
              <a:ext uri="{FF2B5EF4-FFF2-40B4-BE49-F238E27FC236}">
                <a16:creationId xmlns:a16="http://schemas.microsoft.com/office/drawing/2014/main" id="{5F4621E9-77C7-43FD-911A-A32C8248B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5150" y="541972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34" name="Week rule 13 2026-10-05">
            <a:extLst xmlns:a="http://schemas.openxmlformats.org/drawingml/2006/main">
              <a:ext uri="{FF2B5EF4-FFF2-40B4-BE49-F238E27FC236}">
                <a16:creationId xmlns:a16="http://schemas.microsoft.com/office/drawing/2014/main" id="{E5894A6B-6340-417A-8A3D-6B6AEC534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7125" y="541972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35" name="Bar 13 0">
            <a:extLst xmlns:a="http://schemas.openxmlformats.org/drawingml/2006/main">
              <a:ext uri="{FF2B5EF4-FFF2-40B4-BE49-F238E27FC236}">
                <a16:creationId xmlns:a16="http://schemas.microsoft.com/office/drawing/2014/main" id="{949D4054-B953-433F-9A59-79AAFDB8D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6451" y="5491163"/>
            <a:ext cx="1045028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EC4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36" name="Row rule 13">
            <a:extLst xmlns:a="http://schemas.openxmlformats.org/drawingml/2006/main">
              <a:ext uri="{FF2B5EF4-FFF2-40B4-BE49-F238E27FC236}">
                <a16:creationId xmlns:a16="http://schemas.microsoft.com/office/drawing/2014/main" id="{56543474-FCE5-4015-BE33-62956D5D9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667375"/>
            <a:ext cx="1152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37" name="Legend swatch Complete">
            <a:extLst xmlns:a="http://schemas.openxmlformats.org/drawingml/2006/main">
              <a:ext uri="{FF2B5EF4-FFF2-40B4-BE49-F238E27FC236}">
                <a16:creationId xmlns:a16="http://schemas.microsoft.com/office/drawing/2014/main" id="{FCE90F28-A2FB-4069-BC37-57612F1D1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943600"/>
            <a:ext cx="2190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5959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38" name="Legend Complete">
            <a:extLst xmlns:a="http://schemas.openxmlformats.org/drawingml/2006/main">
              <a:ext uri="{FF2B5EF4-FFF2-40B4-BE49-F238E27FC236}">
                <a16:creationId xmlns:a16="http://schemas.microsoft.com/office/drawing/2014/main" id="{D076AB04-93E1-4567-9A44-9F8FA8148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905500"/>
            <a:ext cx="1285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Complete</a:t>
            </a:r>
          </a:p>
        </p:txBody>
      </p:sp>
      <p:sp>
        <p:nvSpPr>
          <p:cNvPr id="139" name="Legend swatch In progress">
            <a:extLst xmlns:a="http://schemas.openxmlformats.org/drawingml/2006/main">
              <a:ext uri="{FF2B5EF4-FFF2-40B4-BE49-F238E27FC236}">
                <a16:creationId xmlns:a16="http://schemas.microsoft.com/office/drawing/2014/main" id="{5B3A2664-3B7D-42E4-9320-2C98D0697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5943600"/>
            <a:ext cx="2190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A323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40" name="Legend In progress">
            <a:extLst xmlns:a="http://schemas.openxmlformats.org/drawingml/2006/main">
              <a:ext uri="{FF2B5EF4-FFF2-40B4-BE49-F238E27FC236}">
                <a16:creationId xmlns:a16="http://schemas.microsoft.com/office/drawing/2014/main" id="{2CE459B6-DEB0-412E-A788-29AE066ED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905500"/>
            <a:ext cx="1285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In progress</a:t>
            </a:r>
          </a:p>
        </p:txBody>
      </p:sp>
      <p:sp>
        <p:nvSpPr>
          <p:cNvPr id="141" name="Legend swatch Planned">
            <a:extLst xmlns:a="http://schemas.openxmlformats.org/drawingml/2006/main">
              <a:ext uri="{FF2B5EF4-FFF2-40B4-BE49-F238E27FC236}">
                <a16:creationId xmlns:a16="http://schemas.microsoft.com/office/drawing/2014/main" id="{F27CCD18-5481-492E-A947-DE3F4EA90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5943600"/>
            <a:ext cx="2190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EC4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42" name="Legend Planned">
            <a:extLst xmlns:a="http://schemas.openxmlformats.org/drawingml/2006/main">
              <a:ext uri="{FF2B5EF4-FFF2-40B4-BE49-F238E27FC236}">
                <a16:creationId xmlns:a16="http://schemas.microsoft.com/office/drawing/2014/main" id="{947E6E90-5596-4D28-9E67-313BD8390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5905500"/>
            <a:ext cx="1285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Planned</a:t>
            </a:r>
          </a:p>
        </p:txBody>
      </p:sp>
      <p:sp>
        <p:nvSpPr>
          <p:cNvPr id="143" name="Legend swatch Conditional">
            <a:extLst xmlns:a="http://schemas.openxmlformats.org/drawingml/2006/main">
              <a:ext uri="{FF2B5EF4-FFF2-40B4-BE49-F238E27FC236}">
                <a16:creationId xmlns:a16="http://schemas.microsoft.com/office/drawing/2014/main" id="{AE4C3283-B933-4E72-82D8-51C158299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5943600"/>
            <a:ext cx="2190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66666"/>
            </a:solidFill>
          </a:ln>
        </p:spPr>
        <p:txBody xmlns:a="http://schemas.openxmlformats.org/drawingml/2006/main">
          <a:bodyPr/>
          <a:p/>
        </p:txBody>
      </p:sp>
      <p:sp>
        <p:nvSpPr>
          <p:cNvPr id="144" name="Legend Conditional">
            <a:extLst xmlns:a="http://schemas.openxmlformats.org/drawingml/2006/main">
              <a:ext uri="{FF2B5EF4-FFF2-40B4-BE49-F238E27FC236}">
                <a16:creationId xmlns:a16="http://schemas.microsoft.com/office/drawing/2014/main" id="{AB1CD595-7544-469F-8256-7FE6523E0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5905500"/>
            <a:ext cx="1285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Conditional</a:t>
            </a:r>
          </a:p>
        </p:txBody>
      </p:sp>
      <p:sp>
        <p:nvSpPr>
          <p:cNvPr id="145" name="Milestone legend">
            <a:extLst xmlns:a="http://schemas.openxmlformats.org/drawingml/2006/main">
              <a:ext uri="{FF2B5EF4-FFF2-40B4-BE49-F238E27FC236}">
                <a16:creationId xmlns:a16="http://schemas.microsoft.com/office/drawing/2014/main" id="{E688A77E-3C7B-4566-96A9-B26A9972D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5943600"/>
            <a:ext cx="95250" cy="952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46" name="Milestone legend text">
            <a:extLst xmlns:a="http://schemas.openxmlformats.org/drawingml/2006/main">
              <a:ext uri="{FF2B5EF4-FFF2-40B4-BE49-F238E27FC236}">
                <a16:creationId xmlns:a16="http://schemas.microsoft.com/office/drawing/2014/main" id="{F49CABAD-7A27-4C75-9F18-5C4D2A6AA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9055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Milestone / deadline</a:t>
            </a:r>
          </a:p>
        </p:txBody>
      </p:sp>
      <p:sp>
        <p:nvSpPr>
          <p:cNvPr id="147" name="Date stamp">
            <a:extLst xmlns:a="http://schemas.openxmlformats.org/drawingml/2006/main">
              <a:ext uri="{FF2B5EF4-FFF2-40B4-BE49-F238E27FC236}">
                <a16:creationId xmlns:a16="http://schemas.microsoft.com/office/drawing/2014/main" id="{F3EF7702-B48F-4E8E-83A9-E0D9E8DFB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90550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63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As of Oct 15, 2026</a:t>
            </a:r>
          </a:p>
        </p:txBody>
      </p:sp>
      <p:sp>
        <p:nvSpPr>
          <p:cNvPr id="148" name="Footer 1">
            <a:extLst xmlns:a="http://schemas.openxmlformats.org/drawingml/2006/main">
              <a:ext uri="{FF2B5EF4-FFF2-40B4-BE49-F238E27FC236}">
                <a16:creationId xmlns:a16="http://schemas.microsoft.com/office/drawing/2014/main" id="{02C19714-DA7F-465F-8155-55B3AC82B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38875"/>
            <a:ext cx="1152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October 7 milestone: agree what alignment means for this study, how to measure it, and the first Stage 3 fusion comparison.</a:t>
            </a:r>
          </a:p>
        </p:txBody>
      </p:sp>
      <p:sp>
        <p:nvSpPr>
          <p:cNvPr id="149" name="Footer 2">
            <a:extLst xmlns:a="http://schemas.openxmlformats.org/drawingml/2006/main">
              <a:ext uri="{FF2B5EF4-FFF2-40B4-BE49-F238E27FC236}">
                <a16:creationId xmlns:a16="http://schemas.microsoft.com/office/drawing/2014/main" id="{4A68017A-A952-4625-BCAE-87EA9750F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15100"/>
            <a:ext cx="11287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444444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The following week is reserved for feedback and corrections. Continued study informs the experiments and manuscript.</a:t>
            </a:r>
          </a:p>
        </p:txBody>
      </p:sp>
      <p:sp>
        <p:nvSpPr>
          <p:cNvPr id="150" name="Page">
            <a:extLst xmlns:a="http://schemas.openxmlformats.org/drawingml/2006/main">
              <a:ext uri="{FF2B5EF4-FFF2-40B4-BE49-F238E27FC236}">
                <a16:creationId xmlns:a16="http://schemas.microsoft.com/office/drawing/2014/main" id="{577AFB4D-4F1B-496A-ACFE-8DD2EB7C9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600825"/>
            <a:ext cx="2286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00240092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4" name="Title">
            <a:extLst xmlns:a="http://schemas.openxmlformats.org/drawingml/2006/main">
              <a:ext uri="{FF2B5EF4-FFF2-40B4-BE49-F238E27FC236}">
                <a16:creationId xmlns:a16="http://schemas.microsoft.com/office/drawing/2014/main" id="{90513592-B61D-466C-9272-5F4435169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61925"/>
            <a:ext cx="11601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Stages 3 and 4 | Fusion Experiments, Evaluation and Revision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37ED397-6B14-47AD-A8CF-07F20FB6C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81025"/>
            <a:ext cx="1160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Comparison schedule with the research plan's items in its order: the reproduction, then encoder swaps, then LucaOne.</a:t>
            </a:r>
          </a:p>
        </p:txBody>
      </p:sp>
      <p:sp>
        <p:nvSpPr>
          <p:cNvPr id="3" name="Column header">
            <a:extLst xmlns:a="http://schemas.openxmlformats.org/drawingml/2006/main">
              <a:ext uri="{FF2B5EF4-FFF2-40B4-BE49-F238E27FC236}">
                <a16:creationId xmlns:a16="http://schemas.microsoft.com/office/drawing/2014/main" id="{698B6E1D-B398-4E30-BAEB-882792CE4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990600"/>
            <a:ext cx="115252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4" name="Task header">
            <a:extLst xmlns:a="http://schemas.openxmlformats.org/drawingml/2006/main">
              <a:ext uri="{FF2B5EF4-FFF2-40B4-BE49-F238E27FC236}">
                <a16:creationId xmlns:a16="http://schemas.microsoft.com/office/drawing/2014/main" id="{4BAD35A8-80AB-46B0-ACE7-11C42299B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990600"/>
            <a:ext cx="4333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Task / research outcome</a:t>
            </a:r>
          </a:p>
        </p:txBody>
      </p:sp>
      <p:sp>
        <p:nvSpPr>
          <p:cNvPr id="5" name="Status header">
            <a:extLst xmlns:a="http://schemas.openxmlformats.org/drawingml/2006/main">
              <a:ext uri="{FF2B5EF4-FFF2-40B4-BE49-F238E27FC236}">
                <a16:creationId xmlns:a16="http://schemas.microsoft.com/office/drawing/2014/main" id="{6C80C196-45B7-404D-A8DF-A6EE829D1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990600"/>
            <a:ext cx="838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Status</a:t>
            </a:r>
          </a:p>
        </p:txBody>
      </p:sp>
      <p:sp>
        <p:nvSpPr>
          <p:cNvPr id="6" name="Date header">
            <a:extLst xmlns:a="http://schemas.openxmlformats.org/drawingml/2006/main">
              <a:ext uri="{FF2B5EF4-FFF2-40B4-BE49-F238E27FC236}">
                <a16:creationId xmlns:a16="http://schemas.microsoft.com/office/drawing/2014/main" id="{0BF201B5-FB6C-4E0B-9ECD-C5F907DB5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990600"/>
            <a:ext cx="857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Dates</a:t>
            </a:r>
          </a:p>
        </p:txBody>
      </p:sp>
      <p:sp>
        <p:nvSpPr>
          <p:cNvPr id="7" name="Week 2026-10-05">
            <a:extLst xmlns:a="http://schemas.openxmlformats.org/drawingml/2006/main">
              <a:ext uri="{FF2B5EF4-FFF2-40B4-BE49-F238E27FC236}">
                <a16:creationId xmlns:a16="http://schemas.microsoft.com/office/drawing/2014/main" id="{4AF17D77-C0F7-4BA8-A05E-AFA2007F4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990600"/>
            <a:ext cx="686991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10/5</a:t>
            </a:r>
          </a:p>
        </p:txBody>
      </p:sp>
      <p:sp>
        <p:nvSpPr>
          <p:cNvPr id="8" name="Week 2026-10-12">
            <a:extLst xmlns:a="http://schemas.openxmlformats.org/drawingml/2006/main">
              <a:ext uri="{FF2B5EF4-FFF2-40B4-BE49-F238E27FC236}">
                <a16:creationId xmlns:a16="http://schemas.microsoft.com/office/drawing/2014/main" id="{3DD004AF-E6E7-4F65-85DC-18A48C991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166" y="990600"/>
            <a:ext cx="686991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10/12</a:t>
            </a:r>
          </a:p>
        </p:txBody>
      </p:sp>
      <p:sp>
        <p:nvSpPr>
          <p:cNvPr id="9" name="Week 2026-10-19">
            <a:extLst xmlns:a="http://schemas.openxmlformats.org/drawingml/2006/main">
              <a:ext uri="{FF2B5EF4-FFF2-40B4-BE49-F238E27FC236}">
                <a16:creationId xmlns:a16="http://schemas.microsoft.com/office/drawing/2014/main" id="{145D4DC7-EB7A-4A44-BDFD-3FB4C264D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7156" y="990600"/>
            <a:ext cx="686991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10/19</a:t>
            </a:r>
          </a:p>
        </p:txBody>
      </p:sp>
      <p:sp>
        <p:nvSpPr>
          <p:cNvPr id="10" name="Week 2026-10-26">
            <a:extLst xmlns:a="http://schemas.openxmlformats.org/drawingml/2006/main">
              <a:ext uri="{FF2B5EF4-FFF2-40B4-BE49-F238E27FC236}">
                <a16:creationId xmlns:a16="http://schemas.microsoft.com/office/drawing/2014/main" id="{1EEED11F-24B0-4B97-93BA-B98485C0E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4147" y="990600"/>
            <a:ext cx="686991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10/26</a:t>
            </a:r>
          </a:p>
        </p:txBody>
      </p:sp>
      <p:sp>
        <p:nvSpPr>
          <p:cNvPr id="11" name="Week 2026-11-02">
            <a:extLst xmlns:a="http://schemas.openxmlformats.org/drawingml/2006/main">
              <a:ext uri="{FF2B5EF4-FFF2-40B4-BE49-F238E27FC236}">
                <a16:creationId xmlns:a16="http://schemas.microsoft.com/office/drawing/2014/main" id="{490F91CA-6DE8-427A-9E19-492D83D58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1138" y="990600"/>
            <a:ext cx="686991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11/2</a:t>
            </a:r>
          </a:p>
        </p:txBody>
      </p:sp>
      <p:sp>
        <p:nvSpPr>
          <p:cNvPr id="12" name="Week 2026-11-09">
            <a:extLst xmlns:a="http://schemas.openxmlformats.org/drawingml/2006/main">
              <a:ext uri="{FF2B5EF4-FFF2-40B4-BE49-F238E27FC236}">
                <a16:creationId xmlns:a16="http://schemas.microsoft.com/office/drawing/2014/main" id="{A189BEC0-27EF-4D9B-81C2-839C96CC2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8128" y="990600"/>
            <a:ext cx="686991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11/9</a:t>
            </a:r>
          </a:p>
        </p:txBody>
      </p:sp>
      <p:sp>
        <p:nvSpPr>
          <p:cNvPr id="13" name="Week 2026-11-16">
            <a:extLst xmlns:a="http://schemas.openxmlformats.org/drawingml/2006/main">
              <a:ext uri="{FF2B5EF4-FFF2-40B4-BE49-F238E27FC236}">
                <a16:creationId xmlns:a16="http://schemas.microsoft.com/office/drawing/2014/main" id="{4AF4A15A-132F-40A6-BC05-1CCBE2171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5119" y="990600"/>
            <a:ext cx="686991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11/16</a:t>
            </a:r>
          </a:p>
        </p:txBody>
      </p:sp>
      <p:sp>
        <p:nvSpPr>
          <p:cNvPr id="14" name="Week 2026-11-23">
            <a:extLst xmlns:a="http://schemas.openxmlformats.org/drawingml/2006/main">
              <a:ext uri="{FF2B5EF4-FFF2-40B4-BE49-F238E27FC236}">
                <a16:creationId xmlns:a16="http://schemas.microsoft.com/office/drawing/2014/main" id="{260AA12F-2316-4C43-B3B2-74C65BC62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2109" y="990600"/>
            <a:ext cx="686991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11/23</a:t>
            </a:r>
          </a:p>
        </p:txBody>
      </p:sp>
      <p:sp>
        <p:nvSpPr>
          <p:cNvPr id="210" name="Legend swatch Complete">
            <a:extLst xmlns:a="http://schemas.openxmlformats.org/drawingml/2006/main">
              <a:ext uri="{FF2B5EF4-FFF2-40B4-BE49-F238E27FC236}">
                <a16:creationId xmlns:a16="http://schemas.microsoft.com/office/drawing/2014/main" id="{D2B5D12F-9C2A-4896-A2A5-865E50DC8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943600"/>
            <a:ext cx="2190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5959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11" name="Legend Complete">
            <a:extLst xmlns:a="http://schemas.openxmlformats.org/drawingml/2006/main">
              <a:ext uri="{FF2B5EF4-FFF2-40B4-BE49-F238E27FC236}">
                <a16:creationId xmlns:a16="http://schemas.microsoft.com/office/drawing/2014/main" id="{8A3F67C0-6065-4174-A593-9A2207A72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905500"/>
            <a:ext cx="1285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Complete</a:t>
            </a:r>
          </a:p>
        </p:txBody>
      </p:sp>
      <p:sp>
        <p:nvSpPr>
          <p:cNvPr id="212" name="Legend swatch In progress">
            <a:extLst xmlns:a="http://schemas.openxmlformats.org/drawingml/2006/main">
              <a:ext uri="{FF2B5EF4-FFF2-40B4-BE49-F238E27FC236}">
                <a16:creationId xmlns:a16="http://schemas.microsoft.com/office/drawing/2014/main" id="{7202B8DF-008E-47F8-94D1-14EBF93CA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5943600"/>
            <a:ext cx="2190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A323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13" name="Legend In progress">
            <a:extLst xmlns:a="http://schemas.openxmlformats.org/drawingml/2006/main">
              <a:ext uri="{FF2B5EF4-FFF2-40B4-BE49-F238E27FC236}">
                <a16:creationId xmlns:a16="http://schemas.microsoft.com/office/drawing/2014/main" id="{CC1F3AE9-9636-4CD1-BB3F-D896E5C13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905500"/>
            <a:ext cx="1285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In progress</a:t>
            </a:r>
          </a:p>
        </p:txBody>
      </p:sp>
      <p:sp>
        <p:nvSpPr>
          <p:cNvPr id="214" name="Legend swatch Planned">
            <a:extLst xmlns:a="http://schemas.openxmlformats.org/drawingml/2006/main">
              <a:ext uri="{FF2B5EF4-FFF2-40B4-BE49-F238E27FC236}">
                <a16:creationId xmlns:a16="http://schemas.microsoft.com/office/drawing/2014/main" id="{83A4B281-1096-49EF-905E-0EB458D87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5943600"/>
            <a:ext cx="2190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EC4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15" name="Legend Planned">
            <a:extLst xmlns:a="http://schemas.openxmlformats.org/drawingml/2006/main">
              <a:ext uri="{FF2B5EF4-FFF2-40B4-BE49-F238E27FC236}">
                <a16:creationId xmlns:a16="http://schemas.microsoft.com/office/drawing/2014/main" id="{5EA9DE9D-EBD8-44E6-A82E-900FB6D10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5905500"/>
            <a:ext cx="1285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Planned</a:t>
            </a:r>
          </a:p>
        </p:txBody>
      </p:sp>
      <p:sp>
        <p:nvSpPr>
          <p:cNvPr id="216" name="Legend swatch Conditional">
            <a:extLst xmlns:a="http://schemas.openxmlformats.org/drawingml/2006/main">
              <a:ext uri="{FF2B5EF4-FFF2-40B4-BE49-F238E27FC236}">
                <a16:creationId xmlns:a16="http://schemas.microsoft.com/office/drawing/2014/main" id="{0C0E0BF3-7E42-41E4-A1A4-F48A69049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5943600"/>
            <a:ext cx="2190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66666"/>
            </a:solidFill>
          </a:ln>
        </p:spPr>
        <p:txBody xmlns:a="http://schemas.openxmlformats.org/drawingml/2006/main">
          <a:bodyPr/>
          <a:p/>
        </p:txBody>
      </p:sp>
      <p:sp>
        <p:nvSpPr>
          <p:cNvPr id="217" name="Legend Conditional">
            <a:extLst xmlns:a="http://schemas.openxmlformats.org/drawingml/2006/main">
              <a:ext uri="{FF2B5EF4-FFF2-40B4-BE49-F238E27FC236}">
                <a16:creationId xmlns:a16="http://schemas.microsoft.com/office/drawing/2014/main" id="{4AC8451C-4FA9-4D69-B7F6-79A70224A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5905500"/>
            <a:ext cx="1285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Conditional</a:t>
            </a:r>
          </a:p>
        </p:txBody>
      </p:sp>
      <p:sp>
        <p:nvSpPr>
          <p:cNvPr id="218" name="Milestone legend">
            <a:extLst xmlns:a="http://schemas.openxmlformats.org/drawingml/2006/main">
              <a:ext uri="{FF2B5EF4-FFF2-40B4-BE49-F238E27FC236}">
                <a16:creationId xmlns:a16="http://schemas.microsoft.com/office/drawing/2014/main" id="{F4198B37-7CBF-4DA8-8040-BD4326905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5943600"/>
            <a:ext cx="95250" cy="952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19" name="Milestone legend text">
            <a:extLst xmlns:a="http://schemas.openxmlformats.org/drawingml/2006/main">
              <a:ext uri="{FF2B5EF4-FFF2-40B4-BE49-F238E27FC236}">
                <a16:creationId xmlns:a16="http://schemas.microsoft.com/office/drawing/2014/main" id="{C67AF67B-2431-48DD-921B-AC661E1D1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9055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Milestone / deadline</a:t>
            </a:r>
          </a:p>
        </p:txBody>
      </p:sp>
      <p:sp>
        <p:nvSpPr>
          <p:cNvPr id="220" name="Date stamp">
            <a:extLst xmlns:a="http://schemas.openxmlformats.org/drawingml/2006/main">
              <a:ext uri="{FF2B5EF4-FFF2-40B4-BE49-F238E27FC236}">
                <a16:creationId xmlns:a16="http://schemas.microsoft.com/office/drawing/2014/main" id="{8DA0DB20-034D-40CC-AD91-18F8F4FA2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90550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63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As of Oct 15, 2026</a:t>
            </a:r>
          </a:p>
        </p:txBody>
      </p:sp>
      <p:sp>
        <p:nvSpPr>
          <p:cNvPr id="221" name="Footer 1">
            <a:extLst xmlns:a="http://schemas.openxmlformats.org/drawingml/2006/main">
              <a:ext uri="{FF2B5EF4-FFF2-40B4-BE49-F238E27FC236}">
                <a16:creationId xmlns:a16="http://schemas.microsoft.com/office/drawing/2014/main" id="{4265C70D-72FB-4FD2-B93A-59B01BEEF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38875"/>
            <a:ext cx="1152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Each comparison includes implementation, controlled runs, interpretation, revision and an update to the manuscript.</a:t>
            </a:r>
          </a:p>
        </p:txBody>
      </p:sp>
      <p:sp>
        <p:nvSpPr>
          <p:cNvPr id="222" name="Footer 2">
            <a:extLst xmlns:a="http://schemas.openxmlformats.org/drawingml/2006/main">
              <a:ext uri="{FF2B5EF4-FFF2-40B4-BE49-F238E27FC236}">
                <a16:creationId xmlns:a16="http://schemas.microsoft.com/office/drawing/2014/main" id="{C14B75ED-B014-48D5-ADA0-A3F91BB26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15100"/>
            <a:ext cx="11287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444444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AI assistance: OpenAI Codex helped organize this plan; Claude assisted with the DNA-scope revision and the October status updates. Dates and task descriptions were checked against course materials and project notes.</a:t>
            </a:r>
          </a:p>
        </p:txBody>
      </p:sp>
      <p:sp>
        <p:nvSpPr>
          <p:cNvPr id="223" name="Page">
            <a:extLst xmlns:a="http://schemas.openxmlformats.org/drawingml/2006/main">
              <a:ext uri="{FF2B5EF4-FFF2-40B4-BE49-F238E27FC236}">
                <a16:creationId xmlns:a16="http://schemas.microsoft.com/office/drawing/2014/main" id="{9F0B9AB2-7FC2-4CBC-B806-3DE074FE5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600825"/>
            <a:ext cx="2286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5565" name="Section Core comparison sequenc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85875"/>
            <a:ext cx="115252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566" name="Section title Core comparison sequenc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1285875"/>
            <a:ext cx="11468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Core comparison sequence</a:t>
            </a:r>
          </a:p>
        </p:txBody>
      </p:sp>
      <p:sp>
        <p:nvSpPr>
          <p:cNvPr id="5567" name="Week rule 0 2026-10-05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1504950"/>
            <a:ext cx="0" cy="2432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568" name="Week rule 0 2026-10-1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166" y="1504950"/>
            <a:ext cx="0" cy="2432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569" name="Week rule 0 2026-10-1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7157" y="1504950"/>
            <a:ext cx="0" cy="2432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570" name="Week rule 0 2026-10-2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4148" y="1504950"/>
            <a:ext cx="0" cy="2432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571" name="Week rule 0 2026-11-0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1139" y="1504950"/>
            <a:ext cx="0" cy="2432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572" name="Week rule 0 2026-11-0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8130" y="1504950"/>
            <a:ext cx="0" cy="2432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573" name="Week rule 0 2026-11-1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5121" y="1504950"/>
            <a:ext cx="0" cy="2432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574" name="Week rule 0 2026-11-2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2112" y="1504950"/>
            <a:ext cx="0" cy="2432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575" name="Task 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1504950"/>
            <a:ext cx="4295775" cy="2432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6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16. Harden single-model and simple-fusion baselines</a:t>
            </a:r>
          </a:p>
        </p:txBody>
      </p:sp>
      <p:sp>
        <p:nvSpPr>
          <p:cNvPr id="5576" name="Status 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1504950"/>
            <a:ext cx="838200" cy="2432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Planned</a:t>
            </a:r>
          </a:p>
        </p:txBody>
      </p:sp>
      <p:sp>
        <p:nvSpPr>
          <p:cNvPr id="5577" name="Dates 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1504950"/>
            <a:ext cx="857250" cy="2432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10/6-10/11</a:t>
            </a:r>
          </a:p>
        </p:txBody>
      </p:sp>
      <p:sp>
        <p:nvSpPr>
          <p:cNvPr id="5578" name="Bar 0 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1316" y="1574165"/>
            <a:ext cx="588849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EC4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579" name="Row rule 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748155"/>
            <a:ext cx="1152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580" name="Row tint 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748155"/>
            <a:ext cx="11525250" cy="2432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581" name="Week rule 1 2026-10-05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1748155"/>
            <a:ext cx="0" cy="2432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582" name="Week rule 1 2026-10-1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166" y="1748155"/>
            <a:ext cx="0" cy="2432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583" name="Week rule 1 2026-10-1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7157" y="1748155"/>
            <a:ext cx="0" cy="2432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584" name="Week rule 1 2026-10-2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4148" y="1748155"/>
            <a:ext cx="0" cy="2432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585" name="Week rule 1 2026-11-0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1139" y="1748155"/>
            <a:ext cx="0" cy="2432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586" name="Week rule 1 2026-11-0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8130" y="1748155"/>
            <a:ext cx="0" cy="2432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587" name="Week rule 1 2026-11-1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5121" y="1748155"/>
            <a:ext cx="0" cy="2432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588" name="Week rule 1 2026-11-2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2112" y="1748155"/>
            <a:ext cx="0" cy="2432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589" name="Task 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1748155"/>
            <a:ext cx="4295775" cy="2432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6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17. Reproduce BioLangFusion, five datasets (item 1, Phase A)</a:t>
            </a:r>
          </a:p>
        </p:txBody>
      </p:sp>
      <p:sp>
        <p:nvSpPr>
          <p:cNvPr id="5590" name="Status 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1748155"/>
            <a:ext cx="838200" cy="2432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Planned</a:t>
            </a:r>
          </a:p>
        </p:txBody>
      </p:sp>
      <p:sp>
        <p:nvSpPr>
          <p:cNvPr id="5591" name="Dates 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1748155"/>
            <a:ext cx="857250" cy="2432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10/12-10/25</a:t>
            </a:r>
          </a:p>
        </p:txBody>
      </p:sp>
      <p:sp>
        <p:nvSpPr>
          <p:cNvPr id="5592" name="Bar 1 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166" y="1817370"/>
            <a:ext cx="1373982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EC4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593" name="Row rule 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991360"/>
            <a:ext cx="1152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594" name="Week rule 2 2026-10-05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1991360"/>
            <a:ext cx="0" cy="2432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595" name="Week rule 2 2026-10-1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166" y="1991360"/>
            <a:ext cx="0" cy="2432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596" name="Week rule 2 2026-10-1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7157" y="1991360"/>
            <a:ext cx="0" cy="2432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597" name="Week rule 2 2026-10-2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4148" y="1991360"/>
            <a:ext cx="0" cy="2432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598" name="Week rule 2 2026-11-0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1139" y="1991360"/>
            <a:ext cx="0" cy="2432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599" name="Week rule 2 2026-11-0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8130" y="1991360"/>
            <a:ext cx="0" cy="2432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600" name="Week rule 2 2026-11-1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5121" y="1991360"/>
            <a:ext cx="0" cy="2432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601" name="Week rule 2 2026-11-2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2112" y="1991360"/>
            <a:ext cx="0" cy="2432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602" name="Task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1991360"/>
            <a:ext cx="4295775" cy="2432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6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18. Diagnostics and controls, mRFP in parallel (item 5)</a:t>
            </a:r>
          </a:p>
        </p:txBody>
      </p:sp>
      <p:sp>
        <p:nvSpPr>
          <p:cNvPr id="5603" name="Status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1991360"/>
            <a:ext cx="838200" cy="2432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Planned</a:t>
            </a:r>
          </a:p>
        </p:txBody>
      </p:sp>
      <p:sp>
        <p:nvSpPr>
          <p:cNvPr id="5604" name="Dates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1991360"/>
            <a:ext cx="857250" cy="2432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10/12-10/18</a:t>
            </a:r>
          </a:p>
        </p:txBody>
      </p:sp>
      <p:sp>
        <p:nvSpPr>
          <p:cNvPr id="5605" name="Bar 2 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166" y="2060575"/>
            <a:ext cx="686991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EC4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606" name="Row rule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234565"/>
            <a:ext cx="1152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607" name="Row tint 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234565"/>
            <a:ext cx="11525250" cy="2432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608" name="Week rule 3 2026-10-05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234565"/>
            <a:ext cx="0" cy="2432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609" name="Week rule 3 2026-10-1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166" y="2234565"/>
            <a:ext cx="0" cy="2432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610" name="Week rule 3 2026-10-1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7157" y="2234565"/>
            <a:ext cx="0" cy="2432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611" name="Week rule 3 2026-10-2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4148" y="2234565"/>
            <a:ext cx="0" cy="2432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612" name="Week rule 3 2026-11-0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1139" y="2234565"/>
            <a:ext cx="0" cy="2432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613" name="Week rule 3 2026-11-0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8130" y="2234565"/>
            <a:ext cx="0" cy="2432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614" name="Week rule 3 2026-11-1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5121" y="2234565"/>
            <a:ext cx="0" cy="2432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615" name="Week rule 3 2026-11-2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2112" y="2234565"/>
            <a:ext cx="0" cy="2432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616" name="Task 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2234565"/>
            <a:ext cx="4295775" cy="2432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6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19. Interpret baselines and revise the next experiment</a:t>
            </a:r>
          </a:p>
        </p:txBody>
      </p:sp>
      <p:sp>
        <p:nvSpPr>
          <p:cNvPr id="5617" name="Status 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234565"/>
            <a:ext cx="838200" cy="2432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Planned</a:t>
            </a:r>
          </a:p>
        </p:txBody>
      </p:sp>
      <p:sp>
        <p:nvSpPr>
          <p:cNvPr id="5618" name="Dates 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2234565"/>
            <a:ext cx="857250" cy="2432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10/19-10/25</a:t>
            </a:r>
          </a:p>
        </p:txBody>
      </p:sp>
      <p:sp>
        <p:nvSpPr>
          <p:cNvPr id="5619" name="Bar 3 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7157" y="2303780"/>
            <a:ext cx="686991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EC4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620" name="Row rule 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477770"/>
            <a:ext cx="1152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621" name="Week rule 4 2026-10-05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477770"/>
            <a:ext cx="0" cy="2432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622" name="Week rule 4 2026-10-1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166" y="2477770"/>
            <a:ext cx="0" cy="2432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623" name="Week rule 4 2026-10-1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7157" y="2477770"/>
            <a:ext cx="0" cy="2432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624" name="Week rule 4 2026-10-2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4148" y="2477770"/>
            <a:ext cx="0" cy="2432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625" name="Week rule 4 2026-11-0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1139" y="2477770"/>
            <a:ext cx="0" cy="2432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626" name="Week rule 4 2026-11-0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8130" y="2477770"/>
            <a:ext cx="0" cy="2432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627" name="Week rule 4 2026-11-1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5121" y="2477770"/>
            <a:ext cx="0" cy="2432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628" name="Week rule 4 2026-11-2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2112" y="2477770"/>
            <a:ext cx="0" cy="2432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629" name="Task 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2477770"/>
            <a:ext cx="4295775" cy="2432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6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20. Prepare Coupled Mamba inputs and feasibility tests</a:t>
            </a:r>
          </a:p>
        </p:txBody>
      </p:sp>
      <p:sp>
        <p:nvSpPr>
          <p:cNvPr id="5630" name="Status 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477770"/>
            <a:ext cx="838200" cy="2432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Planned</a:t>
            </a:r>
          </a:p>
        </p:txBody>
      </p:sp>
      <p:sp>
        <p:nvSpPr>
          <p:cNvPr id="5631" name="Dates 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2477770"/>
            <a:ext cx="857250" cy="2432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10/12-10/25</a:t>
            </a:r>
          </a:p>
        </p:txBody>
      </p:sp>
      <p:sp>
        <p:nvSpPr>
          <p:cNvPr id="5632" name="Bar 4 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166" y="2546985"/>
            <a:ext cx="1373982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EC4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633" name="Row rule 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720975"/>
            <a:ext cx="1152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634" name="Row tint 5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720975"/>
            <a:ext cx="11525250" cy="2432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635" name="Week rule 5 2026-10-05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720975"/>
            <a:ext cx="0" cy="2432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636" name="Week rule 5 2026-10-1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166" y="2720975"/>
            <a:ext cx="0" cy="2432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637" name="Week rule 5 2026-10-1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7157" y="2720975"/>
            <a:ext cx="0" cy="2432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638" name="Week rule 5 2026-10-2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4148" y="2720975"/>
            <a:ext cx="0" cy="2432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639" name="Week rule 5 2026-11-0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1139" y="2720975"/>
            <a:ext cx="0" cy="2432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640" name="Week rule 5 2026-11-0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8130" y="2720975"/>
            <a:ext cx="0" cy="2432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641" name="Week rule 5 2026-11-1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5121" y="2720975"/>
            <a:ext cx="0" cy="2432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642" name="Week rule 5 2026-11-2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2112" y="2720975"/>
            <a:ext cx="0" cy="2432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643" name="Task 5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2720975"/>
            <a:ext cx="4295775" cy="2432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6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21. Compare Coupled Mamba with matched baselines</a:t>
            </a:r>
          </a:p>
        </p:txBody>
      </p:sp>
      <p:sp>
        <p:nvSpPr>
          <p:cNvPr id="5644" name="Status 5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720975"/>
            <a:ext cx="838200" cy="2432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Planned</a:t>
            </a:r>
          </a:p>
        </p:txBody>
      </p:sp>
      <p:sp>
        <p:nvSpPr>
          <p:cNvPr id="5645" name="Dates 5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2720975"/>
            <a:ext cx="857250" cy="2432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10/26-11/8</a:t>
            </a:r>
          </a:p>
        </p:txBody>
      </p:sp>
      <p:sp>
        <p:nvSpPr>
          <p:cNvPr id="5646" name="Bar 5 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4148" y="2790190"/>
            <a:ext cx="1373982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EC4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647" name="Row rule 5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964180"/>
            <a:ext cx="1152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648" name="Section Research plan items, in its orde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964180"/>
            <a:ext cx="115252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649" name="Section title Research plan items, in its orde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2964180"/>
            <a:ext cx="11468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Research plan items, in its order</a:t>
            </a:r>
          </a:p>
        </p:txBody>
      </p:sp>
      <p:sp>
        <p:nvSpPr>
          <p:cNvPr id="5650" name="Week rule 6 2026-10-05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183255"/>
            <a:ext cx="0" cy="2432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651" name="Week rule 6 2026-10-1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166" y="3183255"/>
            <a:ext cx="0" cy="2432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652" name="Week rule 6 2026-10-1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7157" y="3183255"/>
            <a:ext cx="0" cy="2432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653" name="Week rule 6 2026-10-2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4148" y="3183255"/>
            <a:ext cx="0" cy="2432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654" name="Week rule 6 2026-11-0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1139" y="3183255"/>
            <a:ext cx="0" cy="2432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655" name="Week rule 6 2026-11-0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8130" y="3183255"/>
            <a:ext cx="0" cy="2432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656" name="Week rule 6 2026-11-1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5121" y="3183255"/>
            <a:ext cx="0" cy="2432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657" name="Week rule 6 2026-11-2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2112" y="3183255"/>
            <a:ext cx="0" cy="2432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658" name="Task 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3183255"/>
            <a:ext cx="4295775" cy="2432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6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24. Encoder swaps in the reproduction (item 1, Phase B)</a:t>
            </a:r>
          </a:p>
        </p:txBody>
      </p:sp>
      <p:sp>
        <p:nvSpPr>
          <p:cNvPr id="5659" name="Status 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183255"/>
            <a:ext cx="838200" cy="2432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Planned</a:t>
            </a:r>
          </a:p>
        </p:txBody>
      </p:sp>
      <p:sp>
        <p:nvSpPr>
          <p:cNvPr id="5660" name="Dates 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3183255"/>
            <a:ext cx="857250" cy="2432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10/26-11/8</a:t>
            </a:r>
          </a:p>
        </p:txBody>
      </p:sp>
      <p:sp>
        <p:nvSpPr>
          <p:cNvPr id="5661" name="Bar 6 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4148" y="3252470"/>
            <a:ext cx="1373982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EC4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662" name="Row rule 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426460"/>
            <a:ext cx="1152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663" name="Row tint 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426460"/>
            <a:ext cx="11525250" cy="2432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664" name="Week rule 7 2026-10-05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426460"/>
            <a:ext cx="0" cy="2432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665" name="Week rule 7 2026-10-1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166" y="3426460"/>
            <a:ext cx="0" cy="2432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666" name="Week rule 7 2026-10-1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7157" y="3426460"/>
            <a:ext cx="0" cy="2432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667" name="Week rule 7 2026-10-2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4148" y="3426460"/>
            <a:ext cx="0" cy="2432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668" name="Week rule 7 2026-11-0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1139" y="3426460"/>
            <a:ext cx="0" cy="2432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669" name="Week rule 7 2026-11-0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8130" y="3426460"/>
            <a:ext cx="0" cy="2432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670" name="Week rule 7 2026-11-1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5121" y="3426460"/>
            <a:ext cx="0" cy="2432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671" name="Week rule 7 2026-11-2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2112" y="3426460"/>
            <a:ext cx="0" cy="2432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672" name="Task 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3426460"/>
            <a:ext cx="4295775" cy="2432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6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41. LucaOne frozen baseline, stability and GTEx (item 2)</a:t>
            </a:r>
          </a:p>
        </p:txBody>
      </p:sp>
      <p:sp>
        <p:nvSpPr>
          <p:cNvPr id="5673" name="Status 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426460"/>
            <a:ext cx="838200" cy="2432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Planned</a:t>
            </a:r>
          </a:p>
        </p:txBody>
      </p:sp>
      <p:sp>
        <p:nvSpPr>
          <p:cNvPr id="5674" name="Dates 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3426460"/>
            <a:ext cx="857250" cy="2432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11/9-11/22</a:t>
            </a:r>
          </a:p>
        </p:txBody>
      </p:sp>
      <p:sp>
        <p:nvSpPr>
          <p:cNvPr id="5675" name="Bar 7 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8130" y="3495675"/>
            <a:ext cx="1373982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EC4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676" name="Row rule 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669665"/>
            <a:ext cx="1152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677" name="Section Repeated runs, interpretation and revision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669665"/>
            <a:ext cx="115252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678" name="Section title Repeated runs, interpretation and revision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3669665"/>
            <a:ext cx="11468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Repeated runs, interpretation and revision</a:t>
            </a:r>
          </a:p>
        </p:txBody>
      </p:sp>
      <p:sp>
        <p:nvSpPr>
          <p:cNvPr id="5679" name="Week rule 8 2026-10-05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888740"/>
            <a:ext cx="0" cy="2432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680" name="Week rule 8 2026-10-1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166" y="3888740"/>
            <a:ext cx="0" cy="2432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681" name="Week rule 8 2026-10-1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7157" y="3888740"/>
            <a:ext cx="0" cy="2432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682" name="Week rule 8 2026-10-2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4148" y="3888740"/>
            <a:ext cx="0" cy="2432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683" name="Week rule 8 2026-11-0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1139" y="3888740"/>
            <a:ext cx="0" cy="2432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684" name="Week rule 8 2026-11-0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8130" y="3888740"/>
            <a:ext cx="0" cy="2432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685" name="Week rule 8 2026-11-1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5121" y="3888740"/>
            <a:ext cx="0" cy="2432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686" name="Week rule 8 2026-11-2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2112" y="3888740"/>
            <a:ext cx="0" cy="2432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687" name="Task 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3888740"/>
            <a:ext cx="4295775" cy="2432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6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28. Repeat runs, quantify uncertainty and revise claims</a:t>
            </a:r>
          </a:p>
        </p:txBody>
      </p:sp>
      <p:sp>
        <p:nvSpPr>
          <p:cNvPr id="5688" name="Status 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888740"/>
            <a:ext cx="838200" cy="2432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Planned</a:t>
            </a:r>
          </a:p>
        </p:txBody>
      </p:sp>
      <p:sp>
        <p:nvSpPr>
          <p:cNvPr id="5689" name="Dates 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3888740"/>
            <a:ext cx="857250" cy="2432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10/12-11/22</a:t>
            </a:r>
          </a:p>
        </p:txBody>
      </p:sp>
      <p:sp>
        <p:nvSpPr>
          <p:cNvPr id="5690" name="Bar 8 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166" y="3957955"/>
            <a:ext cx="4121946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EC4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691" name="Row rule 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131945"/>
            <a:ext cx="1152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692" name="Row tint 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131945"/>
            <a:ext cx="11525250" cy="2432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693" name="Week rule 9 2026-10-05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131945"/>
            <a:ext cx="0" cy="2432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694" name="Week rule 9 2026-10-1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166" y="4131945"/>
            <a:ext cx="0" cy="2432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695" name="Week rule 9 2026-10-1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7157" y="4131945"/>
            <a:ext cx="0" cy="2432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696" name="Week rule 9 2026-10-2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4148" y="4131945"/>
            <a:ext cx="0" cy="2432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697" name="Week rule 9 2026-11-0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1139" y="4131945"/>
            <a:ext cx="0" cy="2432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698" name="Week rule 9 2026-11-0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8130" y="4131945"/>
            <a:ext cx="0" cy="2432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699" name="Week rule 9 2026-11-1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5121" y="4131945"/>
            <a:ext cx="0" cy="2432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700" name="Week rule 9 2026-11-2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2112" y="4131945"/>
            <a:ext cx="0" cy="2432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701" name="Task 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4131945"/>
            <a:ext cx="4295775" cy="2432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6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29. Synthesize findings, limitations and next steps</a:t>
            </a:r>
          </a:p>
        </p:txBody>
      </p:sp>
      <p:sp>
        <p:nvSpPr>
          <p:cNvPr id="5702" name="Status 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131945"/>
            <a:ext cx="838200" cy="2432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Planned</a:t>
            </a:r>
          </a:p>
        </p:txBody>
      </p:sp>
      <p:sp>
        <p:nvSpPr>
          <p:cNvPr id="5703" name="Dates 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4131945"/>
            <a:ext cx="857250" cy="2432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11/16-11/29</a:t>
            </a:r>
          </a:p>
        </p:txBody>
      </p:sp>
      <p:sp>
        <p:nvSpPr>
          <p:cNvPr id="5704" name="Bar 9 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5121" y="4201160"/>
            <a:ext cx="1373982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EC4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705" name="Row rule 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375150"/>
            <a:ext cx="1152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706" name="Section Optional comparisons | Subject to scope and feasibilit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375150"/>
            <a:ext cx="115252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707" name="Section title Optional comparisons | Subject to scope and feasibilit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4375150"/>
            <a:ext cx="11468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Optional comparisons | Subject to scope and feasibility</a:t>
            </a:r>
          </a:p>
        </p:txBody>
      </p:sp>
      <p:sp>
        <p:nvSpPr>
          <p:cNvPr id="5708" name="Week rule 10 2026-10-05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594225"/>
            <a:ext cx="0" cy="2432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709" name="Week rule 10 2026-10-1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166" y="4594225"/>
            <a:ext cx="0" cy="2432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710" name="Week rule 10 2026-10-1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7157" y="4594225"/>
            <a:ext cx="0" cy="2432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711" name="Week rule 10 2026-10-2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4148" y="4594225"/>
            <a:ext cx="0" cy="2432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712" name="Week rule 10 2026-11-0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1139" y="4594225"/>
            <a:ext cx="0" cy="2432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713" name="Week rule 10 2026-11-0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8130" y="4594225"/>
            <a:ext cx="0" cy="2432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714" name="Week rule 10 2026-11-1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5121" y="4594225"/>
            <a:ext cx="0" cy="2432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715" name="Week rule 10 2026-11-2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2112" y="4594225"/>
            <a:ext cx="0" cy="2432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716" name="Task 1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4594225"/>
            <a:ext cx="4295775" cy="2432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6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22. Layer depth and PCA/variance comparisons</a:t>
            </a:r>
          </a:p>
        </p:txBody>
      </p:sp>
      <p:sp>
        <p:nvSpPr>
          <p:cNvPr id="5717" name="Status 1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594225"/>
            <a:ext cx="838200" cy="2432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Conditional</a:t>
            </a:r>
          </a:p>
        </p:txBody>
      </p:sp>
      <p:sp>
        <p:nvSpPr>
          <p:cNvPr id="5718" name="Dates 1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4594225"/>
            <a:ext cx="857250" cy="2432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10/19-11/1</a:t>
            </a:r>
          </a:p>
        </p:txBody>
      </p:sp>
      <p:sp>
        <p:nvSpPr>
          <p:cNvPr id="5719" name="Bar 10 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7157" y="4663440"/>
            <a:ext cx="1373982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66666"/>
            </a:solidFill>
          </a:ln>
        </p:spPr>
        <p:txBody xmlns:a="http://schemas.openxmlformats.org/drawingml/2006/main">
          <a:bodyPr/>
          <a:p/>
        </p:txBody>
      </p:sp>
      <p:sp>
        <p:nvSpPr>
          <p:cNvPr id="5720" name="Row rule 1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837430"/>
            <a:ext cx="1152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721" name="Row tint 1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837430"/>
            <a:ext cx="11525250" cy="2432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722" name="Week rule 11 2026-10-05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837430"/>
            <a:ext cx="0" cy="2432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723" name="Week rule 11 2026-10-1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166" y="4837430"/>
            <a:ext cx="0" cy="2432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724" name="Week rule 11 2026-10-1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7157" y="4837430"/>
            <a:ext cx="0" cy="2432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725" name="Week rule 11 2026-10-2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4148" y="4837430"/>
            <a:ext cx="0" cy="2432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726" name="Week rule 11 2026-11-0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1139" y="4837430"/>
            <a:ext cx="0" cy="2432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727" name="Week rule 11 2026-11-0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8130" y="4837430"/>
            <a:ext cx="0" cy="2432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728" name="Week rule 11 2026-11-1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5121" y="4837430"/>
            <a:ext cx="0" cy="2432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729" name="Week rule 11 2026-11-2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2112" y="4837430"/>
            <a:ext cx="0" cy="2432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730" name="Task 1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4837430"/>
            <a:ext cx="4295775" cy="2432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6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23. Alignment-objective ablation</a:t>
            </a:r>
          </a:p>
        </p:txBody>
      </p:sp>
      <p:sp>
        <p:nvSpPr>
          <p:cNvPr id="5731" name="Status 1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837430"/>
            <a:ext cx="838200" cy="2432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Conditional</a:t>
            </a:r>
          </a:p>
        </p:txBody>
      </p:sp>
      <p:sp>
        <p:nvSpPr>
          <p:cNvPr id="5732" name="Dates 1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4837430"/>
            <a:ext cx="857250" cy="2432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11/2-11/8</a:t>
            </a:r>
          </a:p>
        </p:txBody>
      </p:sp>
      <p:sp>
        <p:nvSpPr>
          <p:cNvPr id="5733" name="Bar 11 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1139" y="4906645"/>
            <a:ext cx="686991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66666"/>
            </a:solidFill>
          </a:ln>
        </p:spPr>
        <p:txBody xmlns:a="http://schemas.openxmlformats.org/drawingml/2006/main">
          <a:bodyPr/>
          <a:p/>
        </p:txBody>
      </p:sp>
      <p:sp>
        <p:nvSpPr>
          <p:cNvPr id="5734" name="Row rule 1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080635"/>
            <a:ext cx="1152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735" name="Week rule 12 2026-10-05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5080635"/>
            <a:ext cx="0" cy="2432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736" name="Week rule 12 2026-10-1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166" y="5080635"/>
            <a:ext cx="0" cy="2432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737" name="Week rule 12 2026-10-1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7157" y="5080635"/>
            <a:ext cx="0" cy="2432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738" name="Week rule 12 2026-10-2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4148" y="5080635"/>
            <a:ext cx="0" cy="2432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739" name="Week rule 12 2026-11-0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1139" y="5080635"/>
            <a:ext cx="0" cy="2432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740" name="Week rule 12 2026-11-0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8130" y="5080635"/>
            <a:ext cx="0" cy="2432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741" name="Week rule 12 2026-11-1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5121" y="5080635"/>
            <a:ext cx="0" cy="2432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742" name="Week rule 12 2026-11-2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2112" y="5080635"/>
            <a:ext cx="0" cy="2432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743" name="Task 1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5080635"/>
            <a:ext cx="4295775" cy="2432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6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25. IsoFormer-style fusion comparison</a:t>
            </a:r>
          </a:p>
        </p:txBody>
      </p:sp>
      <p:sp>
        <p:nvSpPr>
          <p:cNvPr id="5744" name="Status 1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5080635"/>
            <a:ext cx="838200" cy="2432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Conditional</a:t>
            </a:r>
          </a:p>
        </p:txBody>
      </p:sp>
      <p:sp>
        <p:nvSpPr>
          <p:cNvPr id="5745" name="Dates 1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5080635"/>
            <a:ext cx="857250" cy="2432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11/9-11/15</a:t>
            </a:r>
          </a:p>
        </p:txBody>
      </p:sp>
      <p:sp>
        <p:nvSpPr>
          <p:cNvPr id="5746" name="Bar 12 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8130" y="5149850"/>
            <a:ext cx="686991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66666"/>
            </a:solidFill>
          </a:ln>
        </p:spPr>
        <p:txBody xmlns:a="http://schemas.openxmlformats.org/drawingml/2006/main">
          <a:bodyPr/>
          <a:p/>
        </p:txBody>
      </p:sp>
      <p:sp>
        <p:nvSpPr>
          <p:cNvPr id="5747" name="Row rule 1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323840"/>
            <a:ext cx="1152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748" name="Row tint 1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323840"/>
            <a:ext cx="11525250" cy="2432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749" name="Week rule 13 2026-10-05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5323840"/>
            <a:ext cx="0" cy="2432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750" name="Week rule 13 2026-10-1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166" y="5323840"/>
            <a:ext cx="0" cy="2432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751" name="Week rule 13 2026-10-1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7157" y="5323840"/>
            <a:ext cx="0" cy="2432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752" name="Week rule 13 2026-10-2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4148" y="5323840"/>
            <a:ext cx="0" cy="2432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753" name="Week rule 13 2026-11-0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1139" y="5323840"/>
            <a:ext cx="0" cy="2432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754" name="Week rule 13 2026-11-0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8130" y="5323840"/>
            <a:ext cx="0" cy="2432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755" name="Week rule 13 2026-11-1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5121" y="5323840"/>
            <a:ext cx="0" cy="2432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756" name="Week rule 13 2026-11-2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2112" y="5323840"/>
            <a:ext cx="0" cy="2432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757" name="Task 1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5323840"/>
            <a:ext cx="4295775" cy="2432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6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26. Agree tokenizer benchmark scope and protocol</a:t>
            </a:r>
          </a:p>
        </p:txBody>
      </p:sp>
      <p:sp>
        <p:nvSpPr>
          <p:cNvPr id="5758" name="Status 1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5323840"/>
            <a:ext cx="838200" cy="2432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Conditional</a:t>
            </a:r>
          </a:p>
        </p:txBody>
      </p:sp>
      <p:sp>
        <p:nvSpPr>
          <p:cNvPr id="5759" name="Dates 1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5323840"/>
            <a:ext cx="857250" cy="2432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10/6-10/18</a:t>
            </a:r>
          </a:p>
        </p:txBody>
      </p:sp>
      <p:sp>
        <p:nvSpPr>
          <p:cNvPr id="5760" name="Bar 13 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1316" y="5393055"/>
            <a:ext cx="127584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66666"/>
            </a:solidFill>
          </a:ln>
        </p:spPr>
        <p:txBody xmlns:a="http://schemas.openxmlformats.org/drawingml/2006/main">
          <a:bodyPr/>
          <a:p/>
        </p:txBody>
      </p:sp>
      <p:sp>
        <p:nvSpPr>
          <p:cNvPr id="5761" name="Row rule 1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567045"/>
            <a:ext cx="1152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762" name="Week rule 14 2026-10-05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5567045"/>
            <a:ext cx="0" cy="2432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763" name="Week rule 14 2026-10-1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166" y="5567045"/>
            <a:ext cx="0" cy="2432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764" name="Week rule 14 2026-10-1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7157" y="5567045"/>
            <a:ext cx="0" cy="2432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765" name="Week rule 14 2026-10-2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4148" y="5567045"/>
            <a:ext cx="0" cy="2432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766" name="Week rule 14 2026-11-0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1139" y="5567045"/>
            <a:ext cx="0" cy="2432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767" name="Week rule 14 2026-11-0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8130" y="5567045"/>
            <a:ext cx="0" cy="2432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768" name="Week rule 14 2026-11-1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5121" y="5567045"/>
            <a:ext cx="0" cy="2432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769" name="Week rule 14 2026-11-2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2112" y="5567045"/>
            <a:ext cx="0" cy="2432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770" name="Task 1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5567045"/>
            <a:ext cx="4295775" cy="2432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6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27. Lab-tokenizer benchmark pilot</a:t>
            </a:r>
          </a:p>
        </p:txBody>
      </p:sp>
      <p:sp>
        <p:nvSpPr>
          <p:cNvPr id="5771" name="Status 1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5567045"/>
            <a:ext cx="838200" cy="2432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Conditional</a:t>
            </a:r>
          </a:p>
        </p:txBody>
      </p:sp>
      <p:sp>
        <p:nvSpPr>
          <p:cNvPr id="5772" name="Dates 1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5567045"/>
            <a:ext cx="857250" cy="2432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11/2-11/15</a:t>
            </a:r>
          </a:p>
        </p:txBody>
      </p:sp>
      <p:sp>
        <p:nvSpPr>
          <p:cNvPr id="5773" name="Bar 14 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1139" y="5636260"/>
            <a:ext cx="1373982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66666"/>
            </a:solidFill>
          </a:ln>
        </p:spPr>
        <p:txBody xmlns:a="http://schemas.openxmlformats.org/drawingml/2006/main">
          <a:bodyPr/>
          <a:p/>
        </p:txBody>
      </p:sp>
      <p:sp>
        <p:nvSpPr>
          <p:cNvPr id="5774" name="Row rule 1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810250"/>
            <a:ext cx="1152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</p:spTree>
    <p:extLst>
      <p:ext uri="{BB962C8B-B14F-4D97-AF65-F5344CB8AC3E}">
        <p14:creationId xmlns:p14="http://schemas.microsoft.com/office/powerpoint/2010/main" val="1516037728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2026-09-27T03:31:25.9170000Z</dcterms:created>
  <dcterms:modified xsi:type="dcterms:W3CDTF">2026-09-27T03:31:25.9170000Z</dcterms:modified>
</coreProperties>
</file>