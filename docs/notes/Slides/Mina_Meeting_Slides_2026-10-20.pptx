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14"/>
    <p:sldId id="269" r:id="rId15"/>
    <p:sldId id="267" r:id="rId13"/>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4.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Mina has the Overleaf, so this deck does not walk through every result. It covers the four findings that shape the project, what we think alignment should mean for DNA, RNA, and protein, and the experimental design with the research plan's seven items in its own order and numbering: one, reproduce BioLangFusion, then change the encoders; two, LucaOne; three and four, half-life and translation efficiency; five, the mRFP control; six, structure; and seven, the distillation idea to think about. About twenty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Four encoders per modality, chosen to vary tokenizer, training corpus, and model family. Two datasets with opposite designs: on the mRNA stability benchmark every encoder reads one coding sequence, so differences between encoders are differences between models, not between molecules; on IsoFormer's GTEx data the DNA window, the transcript, and the protein are physically different molecules. Three tracks: what a linear probe can read, how the embedding spaces relate, and diagnostics. Everything else today is built on those twelve encoders and two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whole project on one slide, because every later slide is a step in this chain. Stage 1 asked what each frozen encoder carries and how the twelve spaces relate; its four findings force Stage 2, a biology-specific definition of alignment, because the usual ML meaning would mislead. Stage 2's decision, no alignment loss and a grid only on coding sequence, forces Stage 3's designs: architectures that let modalities interact without forcing similarity, scored against the published system reproduced exactly. Stage 4 tests whether fusion helps, for which task, and whether Stage 1 could have told us in advance. Mina's research plan and the October papers are placed in this chain rather than beside it: her items one and two, the reproduction and LucaOne, are the baselines in Stage 3, built before our own designs; the encoder swaps of item one and items three to seven are Stage 4, with items one to five done first; and Fusion or Confusion gives the evaluation rules on every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protein encoders and the two codon-level RNA encoders, mRNA-FM and CaLM, carry the most linearly readable stability signal, about 11 to 14 percent of the variance. That result does not depend on one model: two codon encoders from different groups land in the protein range. The second number is the one I want to highlight for alignment later: when we probe for GC3, the GC fraction at the third codon position, the protein encoders lose 0.26 to 0.30 of R squared while the nucleotide encoders lose almost nothing. Translation erases synonymous codon choice, and that is information the nucleotide side has that the protein side cannot. Remember the ceiling: repeated sequences carry labels that differ by about 0.49, so no sequence-only model can go above about 0.59 on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66 encoder pairs agrees above chance, and every pair shares a strong low-dimensional subspace. But when we regress 87 composition features out of each embedding and recompute agreement, every pair involving a DNA encoder loses 52 to 90 percent of its CKA. That agreement was letter counts, which any model could learn. Three groups keep their agreement: the ESM-2 models with each other, RNA-FM with RiNALMo, and CaLM with the protein encoders. Those are two models of one molecule, and a codon encoder with the protein encoders, which share the coding sequence and its translation by construction. That is the first hint that alignment in biology should be defined on what the central dogma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decides the Stage 2 question. On the x axis, alignment after the composition control; on the y axis, how much a pair gains when concatenated over its better member. On the stability data there is no usable relation: mRNA-FM, which agrees with almost nothing, gains with every protein encoder, and so does CaLM, the most aligned cross-modal encoder. On GTEx the relation is negative: the pairs that gain most are the least aligned. And at the level of individual sequences, how well a gene's two embeddings line up has no relation to how well it is predicted, for any of the 66 pairs. That is exactly the regime the alignment-theory paper describes, where task-relevant information is unique to one modality and alignment stops predicting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analysis, both datasets side by side. On stability, where every encoder reads one coding sequence, the consistent gains sit in one block, codon-level RNA with protein. On GTEx, where the DNA window, the transcript, and the protein are different molecules, nearly every cross-modal pair gains, and every DNA encoder gains with every protein encoder even though the window and the protein have almost no retrievable correspondence. That is the uniqueness case: the window adds signal because it carries information the other molecules do not have. The sobering number is the length baseline. Transcript, coding-sequence, and UTR lengths alone reach 0.242, which is what all twelve encoders reach together, so any GTEx result has to be read against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definition we are proposing, and the reason we spend a section on it. In machine learning, alignment means two views of one thing are trained to coincide. For DNA, RNA, and protein that is the wrong picture, and as far as we can find nobody has written down what the right one is for sequence encoders. Our definition: alignment is agreement on what the central dogma shares, measured after composition is removed, and not imposed on the parts each molecule has alone. The next slide shows why the biology forces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machine-learning picture, two views of one scene, representations trained to coincide, which works because the views share almost everything. Middle: the biology. Each molecule is made from the previous one by a map that runs one way and loses information at each step. Three consequences, each of which we measured. Redundancy by construction: the coding sequence determines the protein, so that is the part they share, and it is where CaLM and the protein encoders stay aligned after the control. Uniqueness by construction: 61 sense codons encode 20 amino acids, so the coding sequence holds the synonymous codon choice that translation erases, which is the GC3 result and why codon encoders complement protein encoders. Unique context at every level: promoters, introns, UTRs, the protein fold; nothing to align those to, which is why on GTEx the DNA window adds signal with no retrievable correspondence. Right: what follows. Positional alignment is given by the genetic code and only on coding sequence. Representational alignment is measured on the shared part, after composition, and is partial. And nothing is imposed on the unique parts, because an alignment loss would erase exactly what fusion is meant to combine.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Alignment is not one number. The measures ask different questions and the questions get stricter. Rung one: do two encoders call the same genes similar; CKA, nearest neighbors, RSA. Rung two: is there any view in which one encoder can find the other's embedding of a gene; CCA and retrieval, and the answer is yes for every pair. Rung three: is the agreement more than counts; this is where most DNA agreement disappears, and it is where our definition sits. Rung four: does agreeing help prediction; it does not, and that is why alignment is something we report beside every fusion result rather than a loss we train toward. If we had read a single CKA value as alignment, the DNA pairs would have looked among the most aligned; the ladder puts them among the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design slides, the two stages in one picture. Stage 3 is the build: which fusion architectures we train. Mina's research plan comes first: items one and two are baselines built before anything of ours, a faithful reproduction of BioLangFusion with its encoders then swapped, and LucaOne, which is jointly pretrained, with IsoFormer reproduced on GTEx beside them. Concatenation plus an MLP is the floor. Then, from January, our designs: Coupled Mamba on coding sequence first and cross-attention second, for GTEx where there is no shared grid. Stage 4 is the test: the hypotheses, the baselines every result has to clear, the datasets, the ablations, and the method test, which asks whether the cheap Stage 1 measurements predict where fusion helps. The rest of her seven items land in Stage 4, in her order and under her numbers, and her datasets are in place before our designs are trained. The next two slides are her plan; then our two designs; then how everything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two designs come after the research plan's baselines and datasets, from January; the designs themselves are unchanged: they turn the Stage 2 decision into trainable modules over token-level embeddings. Concatenation plus an MLP is the reference every fusion model must beat. Coupled Mamba is our first design on coding sequence, agreed in September: one recurrent chain per modality, coupled at every codon step, so the modalities exchange information without any term that makes them look alike, linear in sequence length. IsoFormer-style cross-attention is second, for GTEx where there is no grid, and the benchmark competitor on stability. Everything from her plan, the reproduced heads, the swaps, LucaOne, and IsoFormer, is what these are scored against. From the next slide on, we are in Stage 4: how all of this gets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items from Mina's research plan, in her order and under her numbers, and they come before anything of ours. Item one, Phase A, widens the matched BioLangFusion comparison in the Gantt chart, ID 17, now October 12 to 25, to a faithful reproduction on all five of its published datasets, and that reproduction becomes the matched baseline Coupled Mamba is scored against; Phase B, the encoder swaps on Fungal, E. coli, mRNA stability, and Ab1, with CoV-Vac if feasible, follows directly as ID 24, October 26 to November 8. Item two is LucaOne as a jointly pretrained baseline, the new row 41, November 9 to 22, after the swaps, which is the order her plan sets. Items three and four are half-life and translation efficiency on the mRNABench splits, row 42, November 23 to December 20, after their gates. IsoFormer is reproduced on GTEx beside LucaOne as row 44. Only then, from January, do Coupled Mamba and cross-attention get trained, scored against all of these. Item five, the mRFP control, runs in parallel, in the controls of ID 18. Item six, structure, is conditional in ID 38, in March. Item seven, distillation, is to think about, not build; it has its own row, 43, in March, after the core comparisons and our designs. Dates are as of October 15 and will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 is item one of the research plan. Solid boxes are BioLangFusion's own encoders; the dashed boxes under them are the Stage 1 candidates we swap in during Phase B, on Fungal, E. coli, mRNA stability, and Ab1, with CoV-Vac if feasible, one at a time, holding the grid, the three heads, the TextCNN head, the splits, and the evaluation fixed. Panel b is what we do where no global grid exists: pool each stream, the transcript by region, concatenate or gate, and always report the length and composition baseline beside it. Panel c is what everything is compared with: LucaOne, item two, as the jointly pretrained alternative, and our own Stage 3 designs, which come later, from January, and go into the same pipeline as a fourth head so their gain over the reproduced heads is measured on identical samples and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what Phase A has to hit. Three things to notice. RNA-FM is the strongest single encoder on four of the five sets, which is why swapping the RNA encoder is the most interesting swap. The published fusion gains are small, one to two hundredths, and the paper gives no variance, so we add seeds and paired differences. And the gap from our frozen linear probe, 0.364 on stability, to the trained heads, 0.55 to 0.56, is the gap the TextCNN head closes. On the right is the one definition of a fusion gain we use everywhere, and the six baselines a result has to clear. LucaOne sits in the last baseline, B5, as the jointly pretrained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the Stage 4 task set, grouped by the question each dataset answers, with the research plan's priority in the right column and the five datasets it added marked. The coding-sequence group at the top is where the codon grid applies, and Ab1 and CoV-Vac join it so the BioLangFusion reproduction covers all five benchmarks. The full-transcript sets are where the untranslated regions matter and the codon encoders cannot read part of the input, so the coding-sequence streams go on the grid and the UTRs are handled separately. One thing the plan is strict about and we have adopted: half-life, translation efficiency, and ribosome load are three different targets and are never relabeled as each other. The order of work is the one we had, with the added files folded in. COMET, from Mina's list, is the one new source that matters most here: its multi-molecule tasks already compare LucaOne with pairs of single-omics models, which is exactly the combination question, so our fusion designs get published numbers to beat on those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exploratory idea at the end of the plan, item seven, and the ask was to think about it, not build it. The plan sets six DNA, five RNA, and four protein teachers; we have four of each from Stage 1, so two DNA encoders and one RNA encoder join as teachers only, and Stage 1 stays as it is. The mechanism: each frozen teacher gives a batch-by-batch similarity matrix between sequences, and a small student with one projection per teacher learns to reproduce those matrices; then the three students are frozen and fused. Our Stage 1 measurements are directly about those similarity matrices, so we can already say three things. Most of what a DNA teacher's matrix contains is composition, so beside the plan's raw target we report the composition-controlled one, or we cannot tell whether the student learned more than counts. Several teachers carry the same structure, so equal weights double-count them, which the plan's uniform baseline will show. And a sequence-level loss cannot keep the codon-level detail that made the codon encoders useful; the plan allows a token-level term where it is justified. We would run it as written, RNA first as in her worked example, after the core comparisons and our designs, in Gantt 43 in March, and evaluate on the five BioLangFusion sets with the reproduced heads so the deltas line up with Phase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our Gantt chart with your research plan first: its baselines and datasets run through December 20, with IsoFormer added beside LucaOne as row 44, and Coupled Mamba and cross-attention follow from January. The right column is where your answer changes what we build. The first is the framing question for the paper. The second matters before any training: we could not verify an official code release, so Phase A is a reimplementation from the paper, and we want to agree on which unreported details to fix and flag. The third is the Gantt question: we moved her items ahead of our own designs, and we want to agree the placement before the dates move. The fourth is the LucaOne truncation policy, which decides what its comparison means on long sequences. The fifth is the distillation idea: her plan sets six DNA, five RNA, and four protein teachers and we have four of each, so we need to know which two DNA encoders and which RNA encoder to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470"/>
            <a:ext cx="10566400" cy="761702"/>
          </a:xfrm>
          <a:prstGeom prst="rect">
            <a:avLst/>
          </a:prstGeom>
          <a:noFill/>
          <a:ln/>
        </p:spPr>
        <p:txBody>
          <a:bodyPr wrap="square" lIns="0" tIns="0" rIns="0" bIns="0" rtlCol="0" anchor="t"/>
          <a:lstStyle>
            <a:lvl1pPr algn="l" indent="0" marL="0">
              <a:lnSpc>
                <a:spcPct val="115000"/>
              </a:lnSpc>
              <a:buNone/>
              <a:defRPr lang="en-US" sz="2868" dirty="0">
                <a:solidFill>
                  <a:srgbClr val="000000"/>
                </a:solidFill>
                <a:latin typeface="Inter" pitchFamily="34" charset="0"/>
                <a:ea typeface="Inter" pitchFamily="34" charset="-122"/>
                <a:cs typeface="Inter" pitchFamily="34" charset="-120"/>
              </a:defRPr>
            </a:lvl1pPr>
          </a:lstStyle>
          <a:p>
            <a:pPr algn="l" indent="0" marL="0">
              <a:lnSpc>
                <a:spcPct val="115000"/>
              </a:lnSpc>
              <a:buNone/>
            </a:pPr>
            <a:endParaRPr lang="en-US" sz="2868" dirty="0"/>
          </a:p>
        </p:txBody>
      </p:sp>
      <p:sp>
        <p:nvSpPr>
          <p:cNvPr id="3" name="Text Placeholder 2"/>
          <p:cNvSpPr/>
          <p:nvPr>
            <p:ph idx="101" type="body"/>
          </p:nvPr>
        </p:nvSpPr>
        <p:spPr>
          <a:xfrm>
            <a:off x="812800" y="2225973"/>
            <a:ext cx="10566400" cy="3819227"/>
          </a:xfrm>
          <a:prstGeom prst="rect">
            <a:avLst/>
          </a:prstGeom>
          <a:noFill/>
          <a:ln/>
        </p:spPr>
        <p:txBody>
          <a:bodyPr wrap="square" lIns="0" tIns="0" rIns="0" bIns="0" rtlCol="0" anchor="t"/>
          <a:lstStyle>
            <a:lvl1pPr algn="l" indent="0" marL="0">
              <a:lnSpc>
                <a:spcPct val="140000"/>
              </a:lnSpc>
              <a:buNone/>
              <a:defRPr lang="en-US" sz="1600" dirty="0">
                <a:solidFill>
                  <a:srgbClr val="00000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470"/>
            <a:ext cx="10566400" cy="761702"/>
          </a:xfrm>
          <a:prstGeom prst="rect">
            <a:avLst/>
          </a:prstGeom>
          <a:noFill/>
          <a:ln/>
        </p:spPr>
        <p:txBody>
          <a:bodyPr wrap="square" lIns="0" tIns="0" rIns="0" bIns="0" rtlCol="0" anchor="t"/>
          <a:lstStyle>
            <a:lvl1pPr algn="l" indent="0" marL="0">
              <a:lnSpc>
                <a:spcPct val="115000"/>
              </a:lnSpc>
              <a:buNone/>
              <a:defRPr lang="en-US" sz="2868" dirty="0">
                <a:solidFill>
                  <a:srgbClr val="000000"/>
                </a:solidFill>
                <a:latin typeface="Inter" pitchFamily="34" charset="0"/>
                <a:ea typeface="Inter" pitchFamily="34" charset="-122"/>
                <a:cs typeface="Inter" pitchFamily="34" charset="-120"/>
              </a:defRPr>
            </a:lvl1pPr>
          </a:lstStyle>
          <a:p>
            <a:pPr algn="l" indent="0" marL="0">
              <a:lnSpc>
                <a:spcPct val="115000"/>
              </a:lnSpc>
              <a:buNone/>
            </a:pPr>
            <a:endParaRPr lang="en-US" sz="2868" dirty="0"/>
          </a:p>
        </p:txBody>
      </p:sp>
      <p:sp>
        <p:nvSpPr>
          <p:cNvPr id="3" name="Text Placeholder 2"/>
          <p:cNvSpPr/>
          <p:nvPr>
            <p:ph idx="101" type="body"/>
          </p:nvPr>
        </p:nvSpPr>
        <p:spPr>
          <a:xfrm>
            <a:off x="812800" y="2225973"/>
            <a:ext cx="10566400" cy="3819227"/>
          </a:xfrm>
          <a:prstGeom prst="rect">
            <a:avLst/>
          </a:prstGeom>
          <a:noFill/>
          <a:ln/>
        </p:spPr>
        <p:txBody>
          <a:bodyPr wrap="square" lIns="0" tIns="0" rIns="0" bIns="0" rtlCol="0" anchor="t"/>
          <a:lstStyle>
            <a:lvl1pPr algn="l" indent="0" marL="0">
              <a:lnSpc>
                <a:spcPct val="140000"/>
              </a:lnSpc>
              <a:buNone/>
              <a:defRPr lang="en-US" sz="1600" dirty="0">
                <a:solidFill>
                  <a:srgbClr val="00000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18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alpha val="80000"/>
                  </a:srgbClr>
                </a:solidFill>
                <a:latin typeface="Inter" pitchFamily="34" charset="0"/>
                <a:ea typeface="Inter" pitchFamily="34" charset="-122"/>
                <a:cs typeface="Inter" pitchFamily="34" charset="-120"/>
              </a:rPr>
              <a:t>multimodal-bio-fusion  ·  Meeting with Mina Basirat  ·  October 20, 2026</a:t>
            </a:r>
            <a:endParaRPr lang="en-US" sz="1200" dirty="0"/>
          </a:p>
        </p:txBody>
      </p:sp>
      <p:sp>
        <p:nvSpPr>
          <p:cNvPr id="3" name="Text 1"/>
          <p:cNvSpPr/>
          <p:nvPr>
            <p:ph type="title"/>
          </p:nvPr>
        </p:nvSpPr>
        <p:spPr>
          <a:xfrm>
            <a:off x="812800" y="2142282"/>
            <a:ext cx="9810750" cy="1217116"/>
          </a:xfrm>
          <a:prstGeom prst="rect">
            <a:avLst/>
          </a:prstGeom>
          <a:noFill/>
          <a:ln/>
        </p:spPr>
        <p:txBody>
          <a:bodyPr wrap="square" lIns="0" tIns="0" rIns="0" bIns="0" rtlCol="0" anchor="t">
            <a:normAutofit/>
          </a:bodyPr>
          <a:lstStyle/>
          <a:p>
            <a:pPr algn="l" indent="0" marL="0">
              <a:lnSpc>
                <a:spcPts val="4692"/>
              </a:lnSpc>
              <a:buNone/>
            </a:pPr>
            <a:r>
              <a:rPr lang="en-US" sz="4600" b="1" i="0" spc="-150" kern="0" dirty="0">
                <a:solidFill>
                  <a:srgbClr val="FFFFFF"/>
                </a:solidFill>
                <a:latin typeface="Inter" pitchFamily="34" charset="0"/>
                <a:ea typeface="Inter" pitchFamily="34" charset="-122"/>
                <a:cs typeface="Inter" pitchFamily="34" charset="-120"/>
              </a:rPr>
              <a:t>Four findings, what alignment means in biology, and the plan</a:t>
            </a:r>
            <a:endParaRPr lang="en-US" sz="4600" dirty="0"/>
          </a:p>
        </p:txBody>
      </p:sp>
      <p:sp>
        <p:nvSpPr>
          <p:cNvPr id="4" name="Text 2"/>
          <p:cNvSpPr/>
          <p:nvPr/>
        </p:nvSpPr>
        <p:spPr>
          <a:xfrm>
            <a:off x="812800" y="3537198"/>
            <a:ext cx="9156700" cy="6350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FFFFFF">
                    <a:alpha val="85000"/>
                  </a:srgbClr>
                </a:solidFill>
                <a:latin typeface="Inter" pitchFamily="34" charset="0"/>
                <a:ea typeface="Inter" pitchFamily="34" charset="-122"/>
                <a:cs typeface="Inter" pitchFamily="34" charset="-120"/>
              </a:rPr>
              <a:t>Stage 1 on twelve frozen encoders and two datasets. The Stage 2 definition of alignment for DNA, RNA, and protein. The experimental design, in the research plan's order.</a:t>
            </a:r>
            <a:endParaRPr lang="en-US" sz="1600" dirty="0"/>
          </a:p>
        </p:txBody>
      </p:sp>
      <p:sp>
        <p:nvSpPr>
          <p:cNvPr id="5" name="Text 3"/>
          <p:cNvSpPr/>
          <p:nvPr/>
        </p:nvSpPr>
        <p:spPr>
          <a:xfrm>
            <a:off x="812800" y="5262959"/>
            <a:ext cx="3704332" cy="579041"/>
          </a:xfrm>
          <a:custGeom>
            <a:avLst/>
            <a:gdLst/>
            <a:ahLst/>
            <a:cxnLst/>
            <a:rect l="l" t="t" r="r" b="b"/>
            <a:pathLst>
              <a:path w="3704332" h="579041">
                <a:moveTo>
                  <a:pt x="289520" y="0"/>
                </a:moveTo>
                <a:lnTo>
                  <a:pt x="3414812" y="0"/>
                </a:lnTo>
                <a:arcTo hR="289520" wR="289520" stAng="16200000" swAng="5400000"/>
                <a:lnTo>
                  <a:pt x="3704332" y="289520"/>
                </a:lnTo>
                <a:arcTo hR="289520" wR="289520" stAng="0" swAng="5400000"/>
                <a:lnTo>
                  <a:pt x="289520" y="579041"/>
                </a:lnTo>
                <a:arcTo hR="289520" wR="289520" stAng="5400000" swAng="5400000"/>
                <a:lnTo>
                  <a:pt x="0" y="289520"/>
                </a:lnTo>
                <a:arcTo hR="289520" wR="289520" stAng="10800000" swAng="5400000"/>
                <a:close/>
              </a:path>
            </a:pathLst>
          </a:custGeom>
          <a:solidFill>
            <a:srgbClr val="FFFFFF"/>
          </a:solidFill>
          <a:ln/>
        </p:spPr>
        <p:txBody>
          <a:bodyPr wrap="square" lIns="152400" tIns="76200" rIns="50414" bIns="50800" rtlCol="0" anchor="t">
            <a:normAutofit/>
          </a:bodyPr>
          <a:lstStyle/>
          <a:p>
            <a:pPr algn="l" indent="0" marL="0">
              <a:lnSpc>
                <a:spcPts val="1680"/>
              </a:lnSpc>
              <a:buNone/>
            </a:pPr>
            <a:r>
              <a:rPr lang="en-US" sz="1200" dirty="0">
                <a:solidFill>
                  <a:srgbClr val="000000"/>
                </a:solidFill>
                <a:latin typeface="Inter" pitchFamily="34" charset="0"/>
                <a:ea typeface="Inter" pitchFamily="34" charset="-122"/>
                <a:cs typeface="Inter" pitchFamily="34" charset="-120"/>
              </a:rPr>
              <a:t>DNA · NT 500M, NT v2, DNABERT-2, HyenaDNA</a:t>
            </a:r>
            <a:endParaRPr lang="en-US" sz="1200" dirty="0"/>
          </a:p>
        </p:txBody>
      </p:sp>
      <p:sp>
        <p:nvSpPr>
          <p:cNvPr id="6" name="Text 4"/>
          <p:cNvSpPr/>
          <p:nvPr/>
        </p:nvSpPr>
        <p:spPr>
          <a:xfrm>
            <a:off x="4618732" y="5262959"/>
            <a:ext cx="3379490" cy="579041"/>
          </a:xfrm>
          <a:custGeom>
            <a:avLst/>
            <a:gdLst/>
            <a:ahLst/>
            <a:cxnLst/>
            <a:rect l="l" t="t" r="r" b="b"/>
            <a:pathLst>
              <a:path w="3379490" h="579041">
                <a:moveTo>
                  <a:pt x="289520" y="0"/>
                </a:moveTo>
                <a:lnTo>
                  <a:pt x="3089970" y="0"/>
                </a:lnTo>
                <a:arcTo hR="289520" wR="289520" stAng="16200000" swAng="5400000"/>
                <a:lnTo>
                  <a:pt x="3379490" y="289520"/>
                </a:lnTo>
                <a:arcTo hR="289520" wR="289520" stAng="0" swAng="5400000"/>
                <a:lnTo>
                  <a:pt x="289520" y="579041"/>
                </a:lnTo>
                <a:arcTo hR="289520" wR="289520" stAng="5400000" swAng="5400000"/>
                <a:lnTo>
                  <a:pt x="0" y="289520"/>
                </a:lnTo>
                <a:arcTo hR="289520" wR="289520" stAng="10800000" swAng="5400000"/>
                <a:close/>
              </a:path>
            </a:pathLst>
          </a:custGeom>
          <a:solidFill>
            <a:srgbClr val="FFFFFF"/>
          </a:solidFill>
          <a:ln/>
        </p:spPr>
        <p:txBody>
          <a:bodyPr wrap="square" lIns="152400" tIns="76200" rIns="60159" bIns="50800" rtlCol="0" anchor="t">
            <a:normAutofit/>
          </a:bodyPr>
          <a:lstStyle/>
          <a:p>
            <a:pPr algn="l" indent="0" marL="0">
              <a:lnSpc>
                <a:spcPts val="1680"/>
              </a:lnSpc>
              <a:buNone/>
            </a:pPr>
            <a:r>
              <a:rPr lang="en-US" sz="1200" dirty="0">
                <a:solidFill>
                  <a:srgbClr val="000000"/>
                </a:solidFill>
                <a:latin typeface="Inter" pitchFamily="34" charset="0"/>
                <a:ea typeface="Inter" pitchFamily="34" charset="-122"/>
                <a:cs typeface="Inter" pitchFamily="34" charset="-120"/>
              </a:rPr>
              <a:t>RNA · RNA-FM, RiNALMo, mRNA-FM, CaLM</a:t>
            </a:r>
            <a:endParaRPr lang="en-US" sz="1200" dirty="0"/>
          </a:p>
        </p:txBody>
      </p:sp>
      <p:sp>
        <p:nvSpPr>
          <p:cNvPr id="7" name="Text 5"/>
          <p:cNvSpPr/>
          <p:nvPr/>
        </p:nvSpPr>
        <p:spPr>
          <a:xfrm>
            <a:off x="8099822" y="5262959"/>
            <a:ext cx="3279378" cy="579041"/>
          </a:xfrm>
          <a:custGeom>
            <a:avLst/>
            <a:gdLst/>
            <a:ahLst/>
            <a:cxnLst/>
            <a:rect l="l" t="t" r="r" b="b"/>
            <a:pathLst>
              <a:path w="3279378" h="579041">
                <a:moveTo>
                  <a:pt x="289520" y="0"/>
                </a:moveTo>
                <a:lnTo>
                  <a:pt x="2989858" y="0"/>
                </a:lnTo>
                <a:arcTo hR="289520" wR="289520" stAng="16200000" swAng="5400000"/>
                <a:lnTo>
                  <a:pt x="3279378" y="289520"/>
                </a:lnTo>
                <a:arcTo hR="289520" wR="289520" stAng="0" swAng="5400000"/>
                <a:lnTo>
                  <a:pt x="289520" y="579041"/>
                </a:lnTo>
                <a:arcTo hR="289520" wR="289520" stAng="5400000" swAng="5400000"/>
                <a:lnTo>
                  <a:pt x="0" y="289520"/>
                </a:lnTo>
                <a:arcTo hR="289520" wR="289520" stAng="10800000" swAng="5400000"/>
                <a:close/>
              </a:path>
            </a:pathLst>
          </a:custGeom>
          <a:solidFill>
            <a:srgbClr val="FFFFFF"/>
          </a:solidFill>
          <a:ln/>
        </p:spPr>
        <p:txBody>
          <a:bodyPr wrap="square" lIns="152400" tIns="76200" rIns="63163" bIns="50800" rtlCol="0" anchor="t">
            <a:normAutofit/>
          </a:bodyPr>
          <a:lstStyle/>
          <a:p>
            <a:pPr algn="l" indent="0" marL="0">
              <a:lnSpc>
                <a:spcPts val="1680"/>
              </a:lnSpc>
              <a:buNone/>
            </a:pPr>
            <a:r>
              <a:rPr lang="en-US" sz="1200" dirty="0">
                <a:solidFill>
                  <a:srgbClr val="000000"/>
                </a:solidFill>
                <a:latin typeface="Inter" pitchFamily="34" charset="0"/>
                <a:ea typeface="Inter" pitchFamily="34" charset="-122"/>
                <a:cs typeface="Inter" pitchFamily="34" charset="-120"/>
              </a:rPr>
              <a:t>Protein · ESM-2 8M, 35M, 150M, ProtBERT</a:t>
            </a:r>
            <a:endParaRPr lang="en-US" sz="12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alpha val="70000"/>
                  </a:srgbClr>
                </a:solidFill>
                <a:latin typeface="Inter" pitchFamily="34" charset="0"/>
                <a:ea typeface="Inter" pitchFamily="34" charset="-122"/>
                <a:cs typeface="Inter" pitchFamily="34" charset="-120"/>
              </a:rPr>
              <a:t>Julian McKinley and Chase Di Maria Breisinger  |  MSDA AI Track, UCF  |  Full record: the Overleaf manuscript multimodal-bio-fusion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48717"/>
            <a:ext cx="114300" cy="114300"/>
          </a:xfrm>
          <a:prstGeom prst="rect">
            <a:avLst/>
          </a:prstGeom>
        </p:spPr>
      </p:pic>
      <p:sp>
        <p:nvSpPr>
          <p:cNvPr id="3" name="Text 0"/>
          <p:cNvSpPr/>
          <p:nvPr/>
        </p:nvSpPr>
        <p:spPr>
          <a:xfrm>
            <a:off x="1003300" y="799257"/>
            <a:ext cx="168312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1 in one slide</a:t>
            </a:r>
            <a:endParaRPr lang="en-US" sz="1200" dirty="0"/>
          </a:p>
        </p:txBody>
      </p:sp>
      <p:sp>
        <p:nvSpPr>
          <p:cNvPr id="4" name="Text 1"/>
          <p:cNvSpPr/>
          <p:nvPr>
            <p:ph type="title"/>
          </p:nvPr>
        </p:nvSpPr>
        <p:spPr>
          <a:xfrm>
            <a:off x="812800" y="1151384"/>
            <a:ext cx="10883392" cy="706686"/>
          </a:xfrm>
          <a:prstGeom prst="rect">
            <a:avLst/>
          </a:prstGeom>
          <a:noFill/>
          <a:ln/>
        </p:spPr>
        <p:txBody>
          <a:bodyPr wrap="square" lIns="0" tIns="0" rIns="0" bIns="0" rtlCol="0" anchor="t">
            <a:normAutofit/>
          </a:bodyPr>
          <a:lstStyle/>
          <a:p>
            <a:pPr algn="l" indent="0" marL="0">
              <a:lnSpc>
                <a:spcPts val="2680"/>
              </a:lnSpc>
              <a:buNone/>
            </a:pPr>
            <a:r>
              <a:rPr lang="en-US" sz="2528" b="1" i="0" spc="-100" kern="0" dirty="0">
                <a:solidFill>
                  <a:srgbClr val="000000"/>
                </a:solidFill>
                <a:latin typeface="Inter" pitchFamily="34" charset="0"/>
                <a:ea typeface="Inter" pitchFamily="34" charset="-122"/>
                <a:cs typeface="Inter" pitchFamily="34" charset="-120"/>
              </a:rPr>
              <a:t>Twelve frozen encoders, two datasets with opposite designs, three tracks</a:t>
            </a:r>
            <a:endParaRPr lang="en-US" sz="2528" dirty="0"/>
          </a:p>
        </p:txBody>
      </p:sp>
      <p:sp>
        <p:nvSpPr>
          <p:cNvPr id="5" name="Shape 2"/>
          <p:cNvSpPr/>
          <p:nvPr/>
        </p:nvSpPr>
        <p:spPr>
          <a:xfrm>
            <a:off x="2181225" y="1988245"/>
            <a:ext cx="7829550" cy="3850580"/>
          </a:xfrm>
          <a:prstGeom prst="roundRect">
            <a:avLst>
              <a:gd name="adj" fmla="val 2556"/>
            </a:avLst>
          </a:prstGeom>
          <a:solidFill>
            <a:srgbClr val="FFFFFF"/>
          </a:solidFill>
          <a:ln w="6350">
            <a:solidFill>
              <a:srgbClr val="E6E6E6"/>
            </a:solidFill>
            <a:prstDash val="solid"/>
          </a:ln>
        </p:spPr>
        <p:txBody>
          <a:bodyPr/>
          <a:p/>
        </p:txBody>
      </p:sp>
      <p:sp>
        <p:nvSpPr>
          <p:cNvPr id="6" name="Shape 3"/>
          <p:cNvSpPr/>
          <p:nvPr/>
        </p:nvSpPr>
        <p:spPr>
          <a:xfrm>
            <a:off x="2286000" y="2093020"/>
            <a:ext cx="7620000" cy="4203700"/>
          </a:xfrm>
          <a:prstGeom prst="roundRect">
            <a:avLst>
              <a:gd name="adj" fmla="val 1208"/>
            </a:avLst>
          </a:prstGeom>
          <a:solidFill>
            <a:srgbClr val="FFFFFF"/>
          </a:solidFill>
          <a:ln/>
        </p:spPr>
        <p:txBody>
          <a:bodyPr/>
          <a:p/>
        </p:txBody>
      </p:sp>
      <p:pic>
        <p:nvPicPr>
          <p:cNvPr id="7" name="Image 1" descr="Stage 1 design: two datasets, twelve frozen encoders, three analysis tracks, and Stages 2 to 4">    </p:cNvPr>
          <p:cNvPicPr>
            <a:picLocks noChangeAspect="1"/>
          </p:cNvPicPr>
          <p:nvPr/>
        </p:nvPicPr>
        <p:blipFill>
          <a:blip r:embed="rId2"/>
          <a:srcRect l="-5" r="-5" t="0" b="0"/>
          <a:stretch/>
        </p:blipFill>
        <p:spPr>
          <a:xfrm>
            <a:off x="2286000" y="2093020"/>
            <a:ext cx="7620000" cy="4203700"/>
          </a:xfrm>
          <a:prstGeom prst="roundRect">
            <a:avLst>
              <a:gd name="adj" fmla="val 1208"/>
            </a:avLst>
          </a:prstGeom>
        </p:spPr>
      </p:pic>
      <p:sp>
        <p:nvSpPr>
          <p:cNvPr id="8" name="Text 4"/>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On the stability data every encoder reads the same coding sequence; on GTEx each modality is a different molecule. All encoders frozen, final layer, mean-pooled; ridge probes on sequence- or gene-grouped folds.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212068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The project in one chain</a:t>
            </a:r>
            <a:endParaRPr lang="en-US" sz="1200" dirty="0"/>
          </a:p>
        </p:txBody>
      </p:sp>
      <p:sp>
        <p:nvSpPr>
          <p:cNvPr id="4" name="Text 1"/>
          <p:cNvSpPr/>
          <p:nvPr>
            <p:ph type="title"/>
          </p:nvPr>
        </p:nvSpPr>
        <p:spPr>
          <a:xfrm>
            <a:off x="812800" y="1153120"/>
            <a:ext cx="11379200" cy="415776"/>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Each stage asks one question, and what it finds forces the next</a:t>
            </a:r>
            <a:endParaRPr lang="en-US" sz="2900" dirty="0"/>
          </a:p>
        </p:txBody>
      </p:sp>
      <p:sp>
        <p:nvSpPr>
          <p:cNvPr id="5" name="Shape 2"/>
          <p:cNvSpPr/>
          <p:nvPr/>
        </p:nvSpPr>
        <p:spPr>
          <a:xfrm>
            <a:off x="1228725" y="1673671"/>
            <a:ext cx="9734550" cy="4000500"/>
          </a:xfrm>
          <a:prstGeom prst="roundRect">
            <a:avLst>
              <a:gd name="adj" fmla="val 2460"/>
            </a:avLst>
          </a:prstGeom>
          <a:solidFill>
            <a:srgbClr val="FFFFFF"/>
          </a:solidFill>
          <a:ln w="6350">
            <a:solidFill>
              <a:srgbClr val="E6E6E6"/>
            </a:solidFill>
            <a:prstDash val="solid"/>
          </a:ln>
        </p:spPr>
        <p:txBody>
          <a:bodyPr/>
          <a:p/>
        </p:txBody>
      </p:sp>
      <p:sp>
        <p:nvSpPr>
          <p:cNvPr id="6" name="Shape 3"/>
          <p:cNvSpPr/>
          <p:nvPr/>
        </p:nvSpPr>
        <p:spPr>
          <a:xfrm>
            <a:off x="1333500" y="1753046"/>
            <a:ext cx="9525000" cy="3841750"/>
          </a:xfrm>
          <a:prstGeom prst="roundRect">
            <a:avLst>
              <a:gd name="adj" fmla="val 1322"/>
            </a:avLst>
          </a:prstGeom>
          <a:solidFill>
            <a:srgbClr val="FFFFFF"/>
          </a:solidFill>
          <a:ln/>
        </p:spPr>
        <p:txBody>
          <a:bodyPr/>
          <a:p/>
        </p:txBody>
      </p:sp>
      <p:pic>
        <p:nvPicPr>
          <p:cNvPr id="7" name="Image 1" descr="The chain of stages: Stage 1 findings force the Stage 2 definition, which forces the Stage 3 designs, which Stage 4 tests">    </p:cNvPr>
          <p:cNvPicPr>
            <a:picLocks noChangeAspect="1"/>
          </p:cNvPicPr>
          <p:nvPr/>
        </p:nvPicPr>
        <p:blipFill>
          <a:blip r:embed="rId2"/>
          <a:srcRect l="0" r="0" t="-33" b="-33"/>
          <a:stretch/>
        </p:blipFill>
        <p:spPr>
          <a:xfrm>
            <a:off x="1333500" y="1753046"/>
            <a:ext cx="9525000" cy="3841750"/>
          </a:xfrm>
          <a:prstGeom prst="roundRect">
            <a:avLst>
              <a:gd name="adj" fmla="val 1322"/>
            </a:avLst>
          </a:prstGeom>
        </p:spPr>
      </p:pic>
      <p:sp>
        <p:nvSpPr>
          <p:cNvPr id="8" name="Text 4"/>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Goal: decide whether, when, and how to fuse frozen encoders for a biological task, and leave a method that predicts it before training. The burden of proof is on fusion.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59929"/>
            <a:ext cx="114300" cy="114300"/>
          </a:xfrm>
          <a:prstGeom prst="rect">
            <a:avLst/>
          </a:prstGeom>
        </p:spPr>
      </p:pic>
      <p:sp>
        <p:nvSpPr>
          <p:cNvPr id="3" name="Text 0"/>
          <p:cNvSpPr/>
          <p:nvPr/>
        </p:nvSpPr>
        <p:spPr>
          <a:xfrm>
            <a:off x="1003300" y="810419"/>
            <a:ext cx="257871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Finding 1 · where the signal is</a:t>
            </a:r>
            <a:endParaRPr lang="en-US" sz="1200" dirty="0"/>
          </a:p>
        </p:txBody>
      </p:sp>
      <p:sp>
        <p:nvSpPr>
          <p:cNvPr id="4" name="Text 1"/>
          <p:cNvSpPr/>
          <p:nvPr>
            <p:ph type="title"/>
          </p:nvPr>
        </p:nvSpPr>
        <p:spPr>
          <a:xfrm>
            <a:off x="812800" y="1173758"/>
            <a:ext cx="10883392" cy="788739"/>
          </a:xfrm>
          <a:prstGeom prst="rect">
            <a:avLst/>
          </a:prstGeom>
          <a:noFill/>
          <a:ln/>
        </p:spPr>
        <p:txBody>
          <a:bodyPr wrap="square" lIns="0" tIns="0" rIns="0" bIns="0" rtlCol="0" anchor="t">
            <a:normAutofit/>
          </a:bodyPr>
          <a:lstStyle/>
          <a:p>
            <a:pPr algn="l" indent="0" marL="0">
              <a:lnSpc>
                <a:spcPts val="3007"/>
              </a:lnSpc>
              <a:buNone/>
            </a:pPr>
            <a:r>
              <a:rPr lang="en-US" sz="2837" b="1" i="0" spc="-100" kern="0" dirty="0">
                <a:solidFill>
                  <a:srgbClr val="000000"/>
                </a:solidFill>
                <a:latin typeface="Inter" pitchFamily="34" charset="0"/>
                <a:ea typeface="Inter" pitchFamily="34" charset="-122"/>
                <a:cs typeface="Inter" pitchFamily="34" charset="-120"/>
              </a:rPr>
              <a:t>Protein and codon-level encoders carry the stability signal; translation erases codon choice</a:t>
            </a:r>
            <a:endParaRPr lang="en-US" sz="2837" dirty="0"/>
          </a:p>
        </p:txBody>
      </p:sp>
      <p:sp>
        <p:nvSpPr>
          <p:cNvPr id="5" name="Shape 2"/>
          <p:cNvSpPr/>
          <p:nvPr/>
        </p:nvSpPr>
        <p:spPr>
          <a:xfrm>
            <a:off x="815975" y="2092672"/>
            <a:ext cx="6813550" cy="3384550"/>
          </a:xfrm>
          <a:prstGeom prst="roundRect">
            <a:avLst>
              <a:gd name="adj" fmla="val 2908"/>
            </a:avLst>
          </a:prstGeom>
          <a:solidFill>
            <a:srgbClr val="FFFFFF"/>
          </a:solidFill>
          <a:ln w="6350">
            <a:solidFill>
              <a:srgbClr val="E6E6E6"/>
            </a:solidFill>
            <a:prstDash val="solid"/>
          </a:ln>
        </p:spPr>
        <p:txBody>
          <a:bodyPr/>
          <a:p/>
        </p:txBody>
      </p:sp>
      <p:sp>
        <p:nvSpPr>
          <p:cNvPr id="6" name="Shape 3"/>
          <p:cNvSpPr/>
          <p:nvPr/>
        </p:nvSpPr>
        <p:spPr>
          <a:xfrm>
            <a:off x="920750" y="2197447"/>
            <a:ext cx="6604000" cy="3175000"/>
          </a:xfrm>
          <a:prstGeom prst="roundRect">
            <a:avLst>
              <a:gd name="adj" fmla="val 1600"/>
            </a:avLst>
          </a:prstGeom>
          <a:solidFill>
            <a:srgbClr val="FFFFFF"/>
          </a:solidFill>
          <a:ln/>
        </p:spPr>
        <p:txBody>
          <a:bodyPr/>
          <a:p/>
        </p:txBody>
      </p:sp>
      <p:pic>
        <p:nvPicPr>
          <p:cNvPr id="7" name="Image 1" descr="Held-out R squared of ridge probes for each encoder on mRNA stability and GTEx expression">    </p:cNvPr>
          <p:cNvPicPr>
            <a:picLocks noChangeAspect="1"/>
          </p:cNvPicPr>
          <p:nvPr/>
        </p:nvPicPr>
        <p:blipFill>
          <a:blip r:embed="rId2"/>
          <a:srcRect l="-38" r="-38" t="0" b="0"/>
          <a:stretch/>
        </p:blipFill>
        <p:spPr>
          <a:xfrm>
            <a:off x="920750" y="2197447"/>
            <a:ext cx="6604000" cy="3175000"/>
          </a:xfrm>
          <a:prstGeom prst="roundRect">
            <a:avLst>
              <a:gd name="adj" fmla="val 1600"/>
            </a:avLst>
          </a:prstGeom>
        </p:spPr>
      </p:pic>
      <p:sp>
        <p:nvSpPr>
          <p:cNvPr id="8" name="Shape 4"/>
          <p:cNvSpPr/>
          <p:nvPr/>
        </p:nvSpPr>
        <p:spPr>
          <a:xfrm>
            <a:off x="7813675" y="2092672"/>
            <a:ext cx="3562350" cy="1733500"/>
          </a:xfrm>
          <a:prstGeom prst="roundRect">
            <a:avLst>
              <a:gd name="adj" fmla="val 5678"/>
            </a:avLst>
          </a:prstGeom>
          <a:solidFill>
            <a:srgbClr val="FFFFFF"/>
          </a:solidFill>
          <a:ln w="6350">
            <a:solidFill>
              <a:srgbClr val="E6E6E6"/>
            </a:solidFill>
            <a:prstDash val="solid"/>
          </a:ln>
        </p:spPr>
        <p:txBody>
          <a:bodyPr/>
          <a:p/>
        </p:txBody>
      </p:sp>
      <p:sp>
        <p:nvSpPr>
          <p:cNvPr id="9" name="Text 5"/>
          <p:cNvSpPr/>
          <p:nvPr/>
        </p:nvSpPr>
        <p:spPr>
          <a:xfrm>
            <a:off x="8020050" y="2273647"/>
            <a:ext cx="324408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0.11 to 0.14</a:t>
            </a:r>
            <a:endParaRPr lang="en-US" sz="2600" dirty="0"/>
          </a:p>
        </p:txBody>
      </p:sp>
      <p:sp>
        <p:nvSpPr>
          <p:cNvPr id="10" name="Text 6"/>
          <p:cNvSpPr/>
          <p:nvPr/>
        </p:nvSpPr>
        <p:spPr>
          <a:xfrm>
            <a:off x="8020050" y="2720677"/>
            <a:ext cx="324408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Stability R² for the protein encoders and both codon-level encoders; the other nucleotide encoders reach 0.03 to 0.08. Length alone: 0.003.</a:t>
            </a:r>
            <a:endParaRPr lang="en-US" sz="1300" dirty="0"/>
          </a:p>
        </p:txBody>
      </p:sp>
      <p:sp>
        <p:nvSpPr>
          <p:cNvPr id="11" name="Shape 7"/>
          <p:cNvSpPr/>
          <p:nvPr/>
        </p:nvSpPr>
        <p:spPr>
          <a:xfrm>
            <a:off x="7813675" y="3959523"/>
            <a:ext cx="3562350" cy="1964630"/>
          </a:xfrm>
          <a:prstGeom prst="roundRect">
            <a:avLst>
              <a:gd name="adj" fmla="val 5010"/>
            </a:avLst>
          </a:prstGeom>
          <a:solidFill>
            <a:srgbClr val="FFFFFF"/>
          </a:solidFill>
          <a:ln w="6350">
            <a:solidFill>
              <a:srgbClr val="E6E6E6"/>
            </a:solidFill>
            <a:prstDash val="solid"/>
          </a:ln>
        </p:spPr>
        <p:txBody>
          <a:bodyPr/>
          <a:p/>
        </p:txBody>
      </p:sp>
      <p:sp>
        <p:nvSpPr>
          <p:cNvPr id="12" name="Text 8"/>
          <p:cNvSpPr/>
          <p:nvPr/>
        </p:nvSpPr>
        <p:spPr>
          <a:xfrm>
            <a:off x="8020050" y="4140498"/>
            <a:ext cx="324408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0.26 to 0.30</a:t>
            </a:r>
            <a:endParaRPr lang="en-US" sz="2600" dirty="0"/>
          </a:p>
        </p:txBody>
      </p:sp>
      <p:sp>
        <p:nvSpPr>
          <p:cNvPr id="13" name="Text 9"/>
          <p:cNvSpPr/>
          <p:nvPr/>
        </p:nvSpPr>
        <p:spPr>
          <a:xfrm>
            <a:off x="8020050" y="4587528"/>
            <a:ext cx="3244088" cy="11810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R² lost from GC to GC3 by the protein encoders: translation discards synonymous codon choice, which every nucleotide encoder keeps (GC3 0.90 to 0.99).</a:t>
            </a:r>
            <a:endParaRPr lang="en-US" sz="1300" dirty="0"/>
          </a:p>
        </p:txBody>
      </p:sp>
      <p:sp>
        <p:nvSpPr>
          <p:cNvPr id="14" name="Text 10"/>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Label noise caps any sequence-only model near R² 0.59 on this file, so 0.14 is about a quarter of what is reachable. On GTEx, four transcript-length features (0.242) beat every single encoder.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59929"/>
            <a:ext cx="114300" cy="114300"/>
          </a:xfrm>
          <a:prstGeom prst="rect">
            <a:avLst/>
          </a:prstGeom>
        </p:spPr>
      </p:pic>
      <p:sp>
        <p:nvSpPr>
          <p:cNvPr id="3" name="Text 0"/>
          <p:cNvSpPr/>
          <p:nvPr/>
        </p:nvSpPr>
        <p:spPr>
          <a:xfrm>
            <a:off x="1003300" y="810419"/>
            <a:ext cx="30970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Finding 2 · how the encoders relate</a:t>
            </a:r>
            <a:endParaRPr lang="en-US" sz="1200" dirty="0"/>
          </a:p>
        </p:txBody>
      </p:sp>
      <p:sp>
        <p:nvSpPr>
          <p:cNvPr id="4" name="Text 1"/>
          <p:cNvSpPr/>
          <p:nvPr>
            <p:ph type="title"/>
          </p:nvPr>
        </p:nvSpPr>
        <p:spPr>
          <a:xfrm>
            <a:off x="812800" y="1173758"/>
            <a:ext cx="10883392" cy="788739"/>
          </a:xfrm>
          <a:prstGeom prst="rect">
            <a:avLst/>
          </a:prstGeom>
          <a:noFill/>
          <a:ln/>
        </p:spPr>
        <p:txBody>
          <a:bodyPr wrap="square" lIns="0" tIns="0" rIns="0" bIns="0" rtlCol="0" anchor="t">
            <a:normAutofit/>
          </a:bodyPr>
          <a:lstStyle/>
          <a:p>
            <a:pPr algn="l" indent="0" marL="0">
              <a:lnSpc>
                <a:spcPts val="3007"/>
              </a:lnSpc>
              <a:buNone/>
            </a:pPr>
            <a:r>
              <a:rPr lang="en-US" sz="2837" b="1" i="0" spc="-100" kern="0" dirty="0">
                <a:solidFill>
                  <a:srgbClr val="000000"/>
                </a:solidFill>
                <a:latin typeface="Inter" pitchFamily="34" charset="0"/>
                <a:ea typeface="Inter" pitchFamily="34" charset="-122"/>
                <a:cs typeface="Inter" pitchFamily="34" charset="-120"/>
              </a:rPr>
              <a:t>Most cross-encoder agreement is sequence composition, and the pairs that survive are the ones biology predicts</a:t>
            </a:r>
            <a:endParaRPr lang="en-US" sz="2837" dirty="0"/>
          </a:p>
        </p:txBody>
      </p:sp>
      <p:sp>
        <p:nvSpPr>
          <p:cNvPr id="5" name="Shape 2"/>
          <p:cNvSpPr/>
          <p:nvPr/>
        </p:nvSpPr>
        <p:spPr>
          <a:xfrm>
            <a:off x="815975" y="2092672"/>
            <a:ext cx="6686550" cy="3511550"/>
          </a:xfrm>
          <a:prstGeom prst="roundRect">
            <a:avLst>
              <a:gd name="adj" fmla="val 2803"/>
            </a:avLst>
          </a:prstGeom>
          <a:solidFill>
            <a:srgbClr val="FFFFFF"/>
          </a:solidFill>
          <a:ln w="6350">
            <a:solidFill>
              <a:srgbClr val="E6E6E6"/>
            </a:solidFill>
            <a:prstDash val="solid"/>
          </a:ln>
        </p:spPr>
        <p:txBody>
          <a:bodyPr/>
          <a:p/>
        </p:txBody>
      </p:sp>
      <p:sp>
        <p:nvSpPr>
          <p:cNvPr id="6" name="Shape 3"/>
          <p:cNvSpPr/>
          <p:nvPr/>
        </p:nvSpPr>
        <p:spPr>
          <a:xfrm>
            <a:off x="920750" y="2197447"/>
            <a:ext cx="6477000" cy="3302000"/>
          </a:xfrm>
          <a:prstGeom prst="roundRect">
            <a:avLst>
              <a:gd name="adj" fmla="val 1538"/>
            </a:avLst>
          </a:prstGeom>
          <a:solidFill>
            <a:srgbClr val="FFFFFF"/>
          </a:solidFill>
          <a:ln/>
        </p:spPr>
        <p:txBody>
          <a:bodyPr/>
          <a:p/>
        </p:txBody>
      </p:sp>
      <p:pic>
        <p:nvPicPr>
          <p:cNvPr id="7" name="Image 1" descr="Linear CKA and CCA retrieval for groups of encoder pairs before and after the composition control">    </p:cNvPr>
          <p:cNvPicPr>
            <a:picLocks noChangeAspect="1"/>
          </p:cNvPicPr>
          <p:nvPr/>
        </p:nvPicPr>
        <p:blipFill>
          <a:blip r:embed="rId2"/>
          <a:srcRect l="0" r="0" t="-36" b="-36"/>
          <a:stretch/>
        </p:blipFill>
        <p:spPr>
          <a:xfrm>
            <a:off x="920750" y="2197447"/>
            <a:ext cx="6477000" cy="3302000"/>
          </a:xfrm>
          <a:prstGeom prst="roundRect">
            <a:avLst>
              <a:gd name="adj" fmla="val 1538"/>
            </a:avLst>
          </a:prstGeom>
        </p:spPr>
      </p:pic>
      <p:sp>
        <p:nvSpPr>
          <p:cNvPr id="8" name="Shape 4"/>
          <p:cNvSpPr/>
          <p:nvPr/>
        </p:nvSpPr>
        <p:spPr>
          <a:xfrm>
            <a:off x="7686675" y="2092672"/>
            <a:ext cx="3689350" cy="1733500"/>
          </a:xfrm>
          <a:prstGeom prst="roundRect">
            <a:avLst>
              <a:gd name="adj" fmla="val 5678"/>
            </a:avLst>
          </a:prstGeom>
          <a:solidFill>
            <a:srgbClr val="FFFFFF"/>
          </a:solidFill>
          <a:ln w="6350">
            <a:solidFill>
              <a:srgbClr val="E6E6E6"/>
            </a:solidFill>
            <a:prstDash val="solid"/>
          </a:ln>
        </p:spPr>
        <p:txBody>
          <a:bodyPr/>
          <a:p/>
        </p:txBody>
      </p:sp>
      <p:sp>
        <p:nvSpPr>
          <p:cNvPr id="9" name="Text 5"/>
          <p:cNvSpPr/>
          <p:nvPr/>
        </p:nvSpPr>
        <p:spPr>
          <a:xfrm>
            <a:off x="7893050" y="2273647"/>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52% to 90%</a:t>
            </a:r>
            <a:endParaRPr lang="en-US" sz="2600" dirty="0"/>
          </a:p>
        </p:txBody>
      </p:sp>
      <p:sp>
        <p:nvSpPr>
          <p:cNvPr id="10" name="Text 6"/>
          <p:cNvSpPr/>
          <p:nvPr/>
        </p:nvSpPr>
        <p:spPr>
          <a:xfrm>
            <a:off x="7893050" y="2720677"/>
            <a:ext cx="337489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Drop in CKA for every pair with a DNA encoder once 87 composition features (GC, GC3, length, codon and amino-acid frequencies) are regressed out.</a:t>
            </a:r>
            <a:endParaRPr lang="en-US" sz="1300" dirty="0"/>
          </a:p>
        </p:txBody>
      </p:sp>
      <p:sp>
        <p:nvSpPr>
          <p:cNvPr id="11" name="Shape 7"/>
          <p:cNvSpPr/>
          <p:nvPr/>
        </p:nvSpPr>
        <p:spPr>
          <a:xfrm>
            <a:off x="7686675" y="3959523"/>
            <a:ext cx="3689350" cy="1964630"/>
          </a:xfrm>
          <a:prstGeom prst="roundRect">
            <a:avLst>
              <a:gd name="adj" fmla="val 5010"/>
            </a:avLst>
          </a:prstGeom>
          <a:solidFill>
            <a:srgbClr val="FFFFFF"/>
          </a:solidFill>
          <a:ln w="6350">
            <a:solidFill>
              <a:srgbClr val="E6E6E6"/>
            </a:solidFill>
            <a:prstDash val="solid"/>
          </a:ln>
        </p:spPr>
        <p:txBody>
          <a:bodyPr/>
          <a:p/>
        </p:txBody>
      </p:sp>
      <p:sp>
        <p:nvSpPr>
          <p:cNvPr id="12" name="Text 8"/>
          <p:cNvSpPr/>
          <p:nvPr/>
        </p:nvSpPr>
        <p:spPr>
          <a:xfrm>
            <a:off x="7893050" y="4140498"/>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58% to 69%</a:t>
            </a:r>
            <a:endParaRPr lang="en-US" sz="2600" dirty="0"/>
          </a:p>
        </p:txBody>
      </p:sp>
      <p:sp>
        <p:nvSpPr>
          <p:cNvPr id="13" name="Text 9"/>
          <p:cNvSpPr/>
          <p:nvPr/>
        </p:nvSpPr>
        <p:spPr>
          <a:xfrm>
            <a:off x="7893050" y="4587528"/>
            <a:ext cx="3374898" cy="11810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CaLM still finds its protein partner after the control, about 170 to 200 times chance. The ESM-2 models and RNA-FM with RiNALMo also keep theirs; little else does.</a:t>
            </a:r>
            <a:endParaRPr lang="en-US" sz="1300" dirty="0"/>
          </a:p>
        </p:txBody>
      </p:sp>
      <p:sp>
        <p:nvSpPr>
          <p:cNvPr id="14" name="Text 10"/>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Agreement follows tokenizer and training more than the modality label: RNA-FM with RiNALMo CKA 0.809, the two codon encoders with each other only 0.163.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59929"/>
            <a:ext cx="114300" cy="114300"/>
          </a:xfrm>
          <a:prstGeom prst="rect">
            <a:avLst/>
          </a:prstGeom>
        </p:spPr>
      </p:pic>
      <p:sp>
        <p:nvSpPr>
          <p:cNvPr id="3" name="Text 0"/>
          <p:cNvSpPr/>
          <p:nvPr/>
        </p:nvSpPr>
        <p:spPr>
          <a:xfrm>
            <a:off x="1003300" y="810419"/>
            <a:ext cx="409146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Finding 3 · alignment against complementarity</a:t>
            </a:r>
            <a:endParaRPr lang="en-US" sz="1200" dirty="0"/>
          </a:p>
        </p:txBody>
      </p:sp>
      <p:sp>
        <p:nvSpPr>
          <p:cNvPr id="4" name="Text 1"/>
          <p:cNvSpPr/>
          <p:nvPr>
            <p:ph type="title"/>
          </p:nvPr>
        </p:nvSpPr>
        <p:spPr>
          <a:xfrm>
            <a:off x="812800" y="1173758"/>
            <a:ext cx="10883392" cy="788739"/>
          </a:xfrm>
          <a:prstGeom prst="rect">
            <a:avLst/>
          </a:prstGeom>
          <a:noFill/>
          <a:ln/>
        </p:spPr>
        <p:txBody>
          <a:bodyPr wrap="square" lIns="0" tIns="0" rIns="0" bIns="0" rtlCol="0" anchor="t">
            <a:normAutofit/>
          </a:bodyPr>
          <a:lstStyle/>
          <a:p>
            <a:pPr algn="l" indent="0" marL="0">
              <a:lnSpc>
                <a:spcPts val="3007"/>
              </a:lnSpc>
              <a:buNone/>
            </a:pPr>
            <a:r>
              <a:rPr lang="en-US" sz="2837" b="1" i="0" spc="-100" kern="0" dirty="0">
                <a:solidFill>
                  <a:srgbClr val="000000"/>
                </a:solidFill>
                <a:latin typeface="Inter" pitchFamily="34" charset="0"/>
                <a:ea typeface="Inter" pitchFamily="34" charset="-122"/>
                <a:cs typeface="Inter" pitchFamily="34" charset="-120"/>
              </a:rPr>
              <a:t>Alignment does not predict where combining encoders helps, on either dataset</a:t>
            </a:r>
            <a:endParaRPr lang="en-US" sz="2837" dirty="0"/>
          </a:p>
        </p:txBody>
      </p:sp>
      <p:sp>
        <p:nvSpPr>
          <p:cNvPr id="5" name="Shape 2"/>
          <p:cNvSpPr/>
          <p:nvPr/>
        </p:nvSpPr>
        <p:spPr>
          <a:xfrm>
            <a:off x="815975" y="2092672"/>
            <a:ext cx="6686550" cy="3448050"/>
          </a:xfrm>
          <a:prstGeom prst="roundRect">
            <a:avLst>
              <a:gd name="adj" fmla="val 2855"/>
            </a:avLst>
          </a:prstGeom>
          <a:solidFill>
            <a:srgbClr val="FFFFFF"/>
          </a:solidFill>
          <a:ln w="6350">
            <a:solidFill>
              <a:srgbClr val="E6E6E6"/>
            </a:solidFill>
            <a:prstDash val="solid"/>
          </a:ln>
        </p:spPr>
        <p:txBody>
          <a:bodyPr/>
          <a:p/>
        </p:txBody>
      </p:sp>
      <p:sp>
        <p:nvSpPr>
          <p:cNvPr id="6" name="Shape 3"/>
          <p:cNvSpPr/>
          <p:nvPr/>
        </p:nvSpPr>
        <p:spPr>
          <a:xfrm>
            <a:off x="920750" y="2197447"/>
            <a:ext cx="6477000" cy="3238500"/>
          </a:xfrm>
          <a:prstGeom prst="roundRect">
            <a:avLst>
              <a:gd name="adj" fmla="val 1569"/>
            </a:avLst>
          </a:prstGeom>
          <a:solidFill>
            <a:srgbClr val="FFFFFF"/>
          </a:solidFill>
          <a:ln/>
        </p:spPr>
        <p:txBody>
          <a:bodyPr/>
          <a:p/>
        </p:txBody>
      </p:sp>
      <p:pic>
        <p:nvPicPr>
          <p:cNvPr id="7" name="Image 1" descr="Concatenation gain against linear CKA after the composition control for all 66 pairs on stability and GTEx">    </p:cNvPr>
          <p:cNvPicPr>
            <a:picLocks noChangeAspect="1"/>
          </p:cNvPicPr>
          <p:nvPr/>
        </p:nvPicPr>
        <p:blipFill>
          <a:blip r:embed="rId2"/>
          <a:srcRect l="0" r="0" t="0" b="0"/>
          <a:stretch/>
        </p:blipFill>
        <p:spPr>
          <a:xfrm>
            <a:off x="920750" y="2197447"/>
            <a:ext cx="6477000" cy="3238500"/>
          </a:xfrm>
          <a:prstGeom prst="roundRect">
            <a:avLst>
              <a:gd name="adj" fmla="val 1569"/>
            </a:avLst>
          </a:prstGeom>
        </p:spPr>
      </p:pic>
      <p:sp>
        <p:nvSpPr>
          <p:cNvPr id="8" name="Shape 4"/>
          <p:cNvSpPr/>
          <p:nvPr/>
        </p:nvSpPr>
        <p:spPr>
          <a:xfrm>
            <a:off x="7686675" y="2092672"/>
            <a:ext cx="3689350" cy="1733500"/>
          </a:xfrm>
          <a:prstGeom prst="roundRect">
            <a:avLst>
              <a:gd name="adj" fmla="val 5678"/>
            </a:avLst>
          </a:prstGeom>
          <a:solidFill>
            <a:srgbClr val="FFFFFF"/>
          </a:solidFill>
          <a:ln w="6350">
            <a:solidFill>
              <a:srgbClr val="E6E6E6"/>
            </a:solidFill>
            <a:prstDash val="solid"/>
          </a:ln>
        </p:spPr>
        <p:txBody>
          <a:bodyPr/>
          <a:p/>
        </p:txBody>
      </p:sp>
      <p:sp>
        <p:nvSpPr>
          <p:cNvPr id="9" name="Text 5"/>
          <p:cNvSpPr/>
          <p:nvPr/>
        </p:nvSpPr>
        <p:spPr>
          <a:xfrm>
            <a:off x="7893050" y="2273647"/>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8 of 8</a:t>
            </a:r>
            <a:endParaRPr lang="en-US" sz="2600" dirty="0"/>
          </a:p>
        </p:txBody>
      </p:sp>
      <p:sp>
        <p:nvSpPr>
          <p:cNvPr id="10" name="Text 6"/>
          <p:cNvSpPr/>
          <p:nvPr/>
        </p:nvSpPr>
        <p:spPr>
          <a:xfrm>
            <a:off x="7893050" y="2720677"/>
            <a:ext cx="337489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Codon-level RNA with protein pairs gain under every fold assignment on stability, whether aligned (CaLM) or not (mRNA-FM). Larger concatenations add nothing.</a:t>
            </a:r>
            <a:endParaRPr lang="en-US" sz="1300" dirty="0"/>
          </a:p>
        </p:txBody>
      </p:sp>
      <p:sp>
        <p:nvSpPr>
          <p:cNvPr id="11" name="Shape 7"/>
          <p:cNvSpPr/>
          <p:nvPr/>
        </p:nvSpPr>
        <p:spPr>
          <a:xfrm>
            <a:off x="7686675" y="3959523"/>
            <a:ext cx="3689350" cy="1964630"/>
          </a:xfrm>
          <a:prstGeom prst="roundRect">
            <a:avLst>
              <a:gd name="adj" fmla="val 5010"/>
            </a:avLst>
          </a:prstGeom>
          <a:solidFill>
            <a:srgbClr val="FFFFFF"/>
          </a:solidFill>
          <a:ln w="6350">
            <a:solidFill>
              <a:srgbClr val="E6E6E6"/>
            </a:solidFill>
            <a:prstDash val="solid"/>
          </a:ln>
        </p:spPr>
        <p:txBody>
          <a:bodyPr/>
          <a:p/>
        </p:txBody>
      </p:sp>
      <p:sp>
        <p:nvSpPr>
          <p:cNvPr id="12" name="Text 8"/>
          <p:cNvSpPr/>
          <p:nvPr/>
        </p:nvSpPr>
        <p:spPr>
          <a:xfrm>
            <a:off x="7893050" y="4140498"/>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0 of 66</a:t>
            </a:r>
            <a:endParaRPr lang="en-US" sz="2600" dirty="0"/>
          </a:p>
        </p:txBody>
      </p:sp>
      <p:sp>
        <p:nvSpPr>
          <p:cNvPr id="13" name="Text 9"/>
          <p:cNvSpPr/>
          <p:nvPr/>
        </p:nvSpPr>
        <p:spPr>
          <a:xfrm>
            <a:off x="7893050" y="4587528"/>
            <a:ext cx="3374898" cy="11810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Pairs on either dataset where a sequence's alignment across two encoders tracks its prediction error after correction (Spearman between -0.13 and +0.12).</a:t>
            </a:r>
            <a:endParaRPr lang="en-US" sz="1300" dirty="0"/>
          </a:p>
        </p:txBody>
      </p:sp>
      <p:sp>
        <p:nvSpPr>
          <p:cNvPr id="14" name="Text 10"/>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Across the 48 cross-modal pairs: Spearman +0.17 (p = 0.26) between alignment and gain on stability, and -0.42 (p = 0.003) on GTEx, where the least aligned pairs gain most.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258478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Finding 4 · distinct molecules</a:t>
            </a:r>
            <a:endParaRPr lang="en-US" sz="1200" dirty="0"/>
          </a:p>
        </p:txBody>
      </p:sp>
      <p:sp>
        <p:nvSpPr>
          <p:cNvPr id="4" name="Text 1"/>
          <p:cNvSpPr/>
          <p:nvPr>
            <p:ph type="title"/>
          </p:nvPr>
        </p:nvSpPr>
        <p:spPr>
          <a:xfrm>
            <a:off x="812800" y="1178520"/>
            <a:ext cx="10883392" cy="806152"/>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With different molecules, DNA adds signal it cannot be aligned to, and four length features match all twelve encoders</a:t>
            </a:r>
            <a:endParaRPr lang="en-US" sz="2900" dirty="0"/>
          </a:p>
        </p:txBody>
      </p:sp>
      <p:sp>
        <p:nvSpPr>
          <p:cNvPr id="5" name="Shape 2"/>
          <p:cNvSpPr/>
          <p:nvPr/>
        </p:nvSpPr>
        <p:spPr>
          <a:xfrm>
            <a:off x="815975" y="2114848"/>
            <a:ext cx="6686550" cy="3511550"/>
          </a:xfrm>
          <a:prstGeom prst="roundRect">
            <a:avLst>
              <a:gd name="adj" fmla="val 2803"/>
            </a:avLst>
          </a:prstGeom>
          <a:solidFill>
            <a:srgbClr val="FFFFFF"/>
          </a:solidFill>
          <a:ln w="6350">
            <a:solidFill>
              <a:srgbClr val="E6E6E6"/>
            </a:solidFill>
            <a:prstDash val="solid"/>
          </a:ln>
        </p:spPr>
        <p:txBody>
          <a:bodyPr/>
          <a:p/>
        </p:txBody>
      </p:sp>
      <p:sp>
        <p:nvSpPr>
          <p:cNvPr id="6" name="Shape 3"/>
          <p:cNvSpPr/>
          <p:nvPr/>
        </p:nvSpPr>
        <p:spPr>
          <a:xfrm>
            <a:off x="920750" y="2219623"/>
            <a:ext cx="6477000" cy="3302000"/>
          </a:xfrm>
          <a:prstGeom prst="roundRect">
            <a:avLst>
              <a:gd name="adj" fmla="val 1538"/>
            </a:avLst>
          </a:prstGeom>
          <a:solidFill>
            <a:srgbClr val="FFFFFF"/>
          </a:solidFill>
          <a:ln/>
        </p:spPr>
        <p:txBody>
          <a:bodyPr/>
          <a:p/>
        </p:txBody>
      </p:sp>
      <p:pic>
        <p:nvPicPr>
          <p:cNvPr id="7" name="Image 1" descr="Concatenation gain matrices for every encoder pair on stability and on GTEx">    </p:cNvPr>
          <p:cNvPicPr>
            <a:picLocks noChangeAspect="1"/>
          </p:cNvPicPr>
          <p:nvPr/>
        </p:nvPicPr>
        <p:blipFill>
          <a:blip r:embed="rId2"/>
          <a:srcRect l="0" r="0" t="-70" b="-70"/>
          <a:stretch/>
        </p:blipFill>
        <p:spPr>
          <a:xfrm>
            <a:off x="920750" y="2219623"/>
            <a:ext cx="6477000" cy="3302000"/>
          </a:xfrm>
          <a:prstGeom prst="roundRect">
            <a:avLst>
              <a:gd name="adj" fmla="val 1538"/>
            </a:avLst>
          </a:prstGeom>
        </p:spPr>
      </p:pic>
      <p:sp>
        <p:nvSpPr>
          <p:cNvPr id="8" name="Shape 4"/>
          <p:cNvSpPr/>
          <p:nvPr/>
        </p:nvSpPr>
        <p:spPr>
          <a:xfrm>
            <a:off x="7686675" y="2114848"/>
            <a:ext cx="3689350" cy="1733500"/>
          </a:xfrm>
          <a:prstGeom prst="roundRect">
            <a:avLst>
              <a:gd name="adj" fmla="val 5678"/>
            </a:avLst>
          </a:prstGeom>
          <a:solidFill>
            <a:srgbClr val="FFFFFF"/>
          </a:solidFill>
          <a:ln w="6350">
            <a:solidFill>
              <a:srgbClr val="E6E6E6"/>
            </a:solidFill>
            <a:prstDash val="solid"/>
          </a:ln>
        </p:spPr>
        <p:txBody>
          <a:bodyPr/>
          <a:p/>
        </p:txBody>
      </p:sp>
      <p:sp>
        <p:nvSpPr>
          <p:cNvPr id="9" name="Text 5"/>
          <p:cNvSpPr/>
          <p:nvPr/>
        </p:nvSpPr>
        <p:spPr>
          <a:xfrm>
            <a:off x="7893050" y="2295823"/>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16 of 16</a:t>
            </a:r>
            <a:endParaRPr lang="en-US" sz="2600" dirty="0"/>
          </a:p>
        </p:txBody>
      </p:sp>
      <p:sp>
        <p:nvSpPr>
          <p:cNvPr id="10" name="Text 6"/>
          <p:cNvSpPr/>
          <p:nvPr/>
        </p:nvSpPr>
        <p:spPr>
          <a:xfrm>
            <a:off x="7893050" y="2742853"/>
            <a:ext cx="337489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DNA with protein pairs gain on GTEx under every fold assignment, although the DNA window retrieves its own protein at most 1.6% of the time.</a:t>
            </a:r>
            <a:endParaRPr lang="en-US" sz="1300" dirty="0"/>
          </a:p>
        </p:txBody>
      </p:sp>
      <p:sp>
        <p:nvSpPr>
          <p:cNvPr id="11" name="Shape 7"/>
          <p:cNvSpPr/>
          <p:nvPr/>
        </p:nvSpPr>
        <p:spPr>
          <a:xfrm>
            <a:off x="7686675" y="3981698"/>
            <a:ext cx="3689350" cy="1733500"/>
          </a:xfrm>
          <a:prstGeom prst="roundRect">
            <a:avLst>
              <a:gd name="adj" fmla="val 5678"/>
            </a:avLst>
          </a:prstGeom>
          <a:solidFill>
            <a:srgbClr val="FFFFFF"/>
          </a:solidFill>
          <a:ln w="6350">
            <a:solidFill>
              <a:srgbClr val="E6E6E6"/>
            </a:solidFill>
            <a:prstDash val="solid"/>
          </a:ln>
        </p:spPr>
        <p:txBody>
          <a:bodyPr/>
          <a:p/>
        </p:txBody>
      </p:sp>
      <p:sp>
        <p:nvSpPr>
          <p:cNvPr id="12" name="Text 8"/>
          <p:cNvSpPr/>
          <p:nvPr/>
        </p:nvSpPr>
        <p:spPr>
          <a:xfrm>
            <a:off x="7893050" y="4162673"/>
            <a:ext cx="3374898" cy="421630"/>
          </a:xfrm>
          <a:prstGeom prst="rect">
            <a:avLst/>
          </a:prstGeom>
          <a:noFill/>
          <a:ln/>
        </p:spPr>
        <p:txBody>
          <a:bodyPr wrap="square" lIns="0" tIns="0" rIns="0" bIns="0" rtlCol="0" anchor="t">
            <a:normAutofit/>
          </a:bodyPr>
          <a:lstStyle/>
          <a:p>
            <a:pPr algn="l" indent="0" marL="0">
              <a:lnSpc>
                <a:spcPts val="3120"/>
              </a:lnSpc>
              <a:buNone/>
            </a:pPr>
            <a:r>
              <a:rPr lang="en-US" sz="2600" b="1" spc="-75" kern="0" dirty="0">
                <a:solidFill>
                  <a:srgbClr val="000000"/>
                </a:solidFill>
                <a:latin typeface="Inter" pitchFamily="34" charset="0"/>
                <a:ea typeface="Inter" pitchFamily="34" charset="-122"/>
                <a:cs typeface="Inter" pitchFamily="34" charset="-120"/>
              </a:rPr>
              <a:t>0.242 vs 0.239</a:t>
            </a:r>
            <a:endParaRPr lang="en-US" sz="2600" dirty="0"/>
          </a:p>
        </p:txBody>
      </p:sp>
      <p:sp>
        <p:nvSpPr>
          <p:cNvPr id="13" name="Text 9"/>
          <p:cNvSpPr/>
          <p:nvPr/>
        </p:nvSpPr>
        <p:spPr>
          <a:xfrm>
            <a:off x="7893050" y="4609703"/>
            <a:ext cx="337489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1302E"/>
                </a:solidFill>
                <a:latin typeface="Inter" pitchFamily="34" charset="0"/>
                <a:ea typeface="Inter" pitchFamily="34" charset="-122"/>
                <a:cs typeface="Inter" pitchFamily="34" charset="-120"/>
              </a:rPr>
              <a:t>Four transcript-length features against all twelve encoders concatenated. On GTEx the bar a fusion model must clear is length, not zero.</a:t>
            </a:r>
            <a:endParaRPr lang="en-US" sz="1300" dirty="0"/>
          </a:p>
        </p:txBody>
      </p:sp>
      <p:sp>
        <p:nvSpPr>
          <p:cNvPr id="14" name="Text 10"/>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Boxed cells gain under all ten fold assignments: 16 pairs on stability, 47 on GTEx. The window adds information precisely because it does not repeat what the other encoders read.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13183"/>
        </a:solidFill>
      </p:bgPr>
    </p:bg>
    <p:spTree>
      <p:nvGrpSpPr>
        <p:cNvPr id="1" name=""/>
        <p:cNvGrpSpPr/>
        <p:nvPr/>
      </p:nvGrpSpPr>
      <p:grpSpPr>
        <a:xfrm>
          <a:off x="0" y="0"/>
          <a:ext cx="0" cy="0"/>
          <a:chOff x="0" y="0"/>
          <a:chExt cx="0" cy="0"/>
        </a:xfrm>
      </p:grpSpPr>
      <p:sp>
        <p:nvSpPr>
          <p:cNvPr id="2" name="Text 0"/>
          <p:cNvSpPr/>
          <p:nvPr/>
        </p:nvSpPr>
        <p:spPr>
          <a:xfrm>
            <a:off x="812800" y="812800"/>
            <a:ext cx="10883392" cy="237629"/>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FFFFFF">
                    <a:alpha val="80000"/>
                  </a:srgbClr>
                </a:solidFill>
                <a:latin typeface="Inter" pitchFamily="34" charset="0"/>
                <a:ea typeface="Inter" pitchFamily="34" charset="-122"/>
                <a:cs typeface="Inter" pitchFamily="34" charset="-120"/>
              </a:rPr>
              <a:t>Stage 2 · what alignment means in biology</a:t>
            </a:r>
            <a:endParaRPr lang="en-US" sz="1196" dirty="0"/>
          </a:p>
        </p:txBody>
      </p:sp>
      <p:sp>
        <p:nvSpPr>
          <p:cNvPr id="3" name="Text 1"/>
          <p:cNvSpPr/>
          <p:nvPr>
            <p:ph type="title"/>
          </p:nvPr>
        </p:nvSpPr>
        <p:spPr>
          <a:xfrm>
            <a:off x="812800" y="1329829"/>
            <a:ext cx="10595610" cy="1632645"/>
          </a:xfrm>
          <a:prstGeom prst="rect">
            <a:avLst/>
          </a:prstGeom>
          <a:noFill/>
          <a:ln/>
        </p:spPr>
        <p:txBody>
          <a:bodyPr wrap="square" lIns="0" tIns="0" rIns="0" bIns="0" rtlCol="0" anchor="t">
            <a:normAutofit/>
          </a:bodyPr>
          <a:lstStyle/>
          <a:p>
            <a:pPr algn="l" indent="0" marL="0">
              <a:lnSpc>
                <a:spcPts val="4214"/>
              </a:lnSpc>
              <a:buNone/>
            </a:pPr>
            <a:r>
              <a:rPr lang="en-US" sz="3975" b="1" i="0" spc="-125" kern="0" dirty="0">
                <a:solidFill>
                  <a:srgbClr val="FFFFFF"/>
                </a:solidFill>
                <a:latin typeface="Inter" pitchFamily="34" charset="0"/>
                <a:ea typeface="Inter" pitchFamily="34" charset="-122"/>
                <a:cs typeface="Inter" pitchFamily="34" charset="-120"/>
              </a:rPr>
              <a:t>Alignment is agreement on what the central dogma shares, beyond composition, with nothing imposed on what it does not share.</a:t>
            </a:r>
            <a:endParaRPr lang="en-US" sz="3975" dirty="0"/>
          </a:p>
        </p:txBody>
      </p:sp>
      <p:sp>
        <p:nvSpPr>
          <p:cNvPr id="4" name="Shape 2"/>
          <p:cNvSpPr/>
          <p:nvPr/>
        </p:nvSpPr>
        <p:spPr>
          <a:xfrm>
            <a:off x="812800" y="3241873"/>
            <a:ext cx="5194300" cy="2600127"/>
          </a:xfrm>
          <a:prstGeom prst="roundRect">
            <a:avLst>
              <a:gd name="adj" fmla="val 3908"/>
            </a:avLst>
          </a:prstGeom>
          <a:solidFill>
            <a:srgbClr val="FFFFFF"/>
          </a:solidFill>
          <a:ln/>
        </p:spPr>
        <p:txBody>
          <a:bodyPr/>
          <a:p/>
        </p:txBody>
      </p:sp>
      <p:sp>
        <p:nvSpPr>
          <p:cNvPr id="5" name="Text 3"/>
          <p:cNvSpPr/>
          <p:nvPr/>
        </p:nvSpPr>
        <p:spPr>
          <a:xfrm>
            <a:off x="1041400" y="3445073"/>
            <a:ext cx="4879213" cy="254000"/>
          </a:xfrm>
          <a:prstGeom prst="rect">
            <a:avLst/>
          </a:prstGeom>
          <a:noFill/>
          <a:ln/>
        </p:spPr>
        <p:txBody>
          <a:bodyPr wrap="square" lIns="0" tIns="0" rIns="0" bIns="0" rtlCol="0" anchor="t">
            <a:normAutofit/>
          </a:bodyPr>
          <a:lstStyle/>
          <a:p>
            <a:pPr algn="l" indent="0" marL="0">
              <a:lnSpc>
                <a:spcPts val="1800"/>
              </a:lnSpc>
              <a:buNone/>
            </a:pPr>
            <a:r>
              <a:rPr lang="en-US" sz="1500" b="1" spc="-25" kern="0" dirty="0">
                <a:solidFill>
                  <a:srgbClr val="000000"/>
                </a:solidFill>
                <a:latin typeface="Inter" pitchFamily="34" charset="0"/>
                <a:ea typeface="Inter" pitchFamily="34" charset="-122"/>
                <a:cs typeface="Inter" pitchFamily="34" charset="-120"/>
              </a:rPr>
              <a:t>Why we have to say it</a:t>
            </a:r>
            <a:endParaRPr lang="en-US" sz="1500" dirty="0"/>
          </a:p>
        </p:txBody>
      </p:sp>
      <p:sp>
        <p:nvSpPr>
          <p:cNvPr id="6" name="Text 4"/>
          <p:cNvSpPr/>
          <p:nvPr/>
        </p:nvSpPr>
        <p:spPr>
          <a:xfrm>
            <a:off x="1041400" y="3737173"/>
            <a:ext cx="4879213" cy="122222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1302E"/>
                </a:solidFill>
                <a:latin typeface="Inter" pitchFamily="34" charset="0"/>
                <a:ea typeface="Inter" pitchFamily="34" charset="-122"/>
                <a:cs typeface="Inter" pitchFamily="34" charset="-120"/>
              </a:rPr>
              <a:t>No published work defines alignment for DNA, RNA, and protein representations or measures it. BioLangFusion assumes it (a codon grid), IsoFormer learns it unnamed (cross-attention), the Central Dogma Transformer orders it; the general theory is not biology-specific.</a:t>
            </a:r>
            <a:endParaRPr lang="en-US" sz="1300" dirty="0"/>
          </a:p>
        </p:txBody>
      </p:sp>
      <p:sp>
        <p:nvSpPr>
          <p:cNvPr id="7" name="Shape 5"/>
          <p:cNvSpPr/>
          <p:nvPr/>
        </p:nvSpPr>
        <p:spPr>
          <a:xfrm>
            <a:off x="6184900" y="3241873"/>
            <a:ext cx="5194300" cy="2600127"/>
          </a:xfrm>
          <a:prstGeom prst="roundRect">
            <a:avLst>
              <a:gd name="adj" fmla="val 3908"/>
            </a:avLst>
          </a:prstGeom>
          <a:solidFill>
            <a:srgbClr val="FFFFFF"/>
          </a:solidFill>
          <a:ln/>
        </p:spPr>
        <p:txBody>
          <a:bodyPr/>
          <a:p/>
        </p:txBody>
      </p:sp>
      <p:sp>
        <p:nvSpPr>
          <p:cNvPr id="8" name="Text 6"/>
          <p:cNvSpPr/>
          <p:nvPr/>
        </p:nvSpPr>
        <p:spPr>
          <a:xfrm>
            <a:off x="6413500" y="3445073"/>
            <a:ext cx="4879213" cy="252611"/>
          </a:xfrm>
          <a:prstGeom prst="rect">
            <a:avLst/>
          </a:prstGeom>
          <a:noFill/>
          <a:ln/>
        </p:spPr>
        <p:txBody>
          <a:bodyPr wrap="square" lIns="0" tIns="0" rIns="0" bIns="0" rtlCol="0" anchor="t">
            <a:normAutofit/>
          </a:bodyPr>
          <a:lstStyle/>
          <a:p>
            <a:pPr algn="l" indent="0" marL="0">
              <a:lnSpc>
                <a:spcPts val="1800"/>
              </a:lnSpc>
              <a:buNone/>
            </a:pPr>
            <a:r>
              <a:rPr lang="en-US" sz="1500" b="1" spc="-25" kern="0" dirty="0">
                <a:solidFill>
                  <a:srgbClr val="000000"/>
                </a:solidFill>
                <a:latin typeface="Inter" pitchFamily="34" charset="0"/>
                <a:ea typeface="Inter" pitchFamily="34" charset="-122"/>
                <a:cs typeface="Inter" pitchFamily="34" charset="-120"/>
              </a:rPr>
              <a:t>What it changes</a:t>
            </a:r>
            <a:endParaRPr lang="en-US" sz="1500" dirty="0"/>
          </a:p>
        </p:txBody>
      </p:sp>
      <p:sp>
        <p:nvSpPr>
          <p:cNvPr id="9" name="Text 7"/>
          <p:cNvSpPr/>
          <p:nvPr/>
        </p:nvSpPr>
        <p:spPr>
          <a:xfrm>
            <a:off x="6413500" y="3735784"/>
            <a:ext cx="4879213" cy="1928416"/>
          </a:xfrm>
          <a:prstGeom prst="rect">
            <a:avLst/>
          </a:prstGeom>
          <a:noFill/>
          <a:ln/>
        </p:spPr>
        <p:txBody>
          <a:bodyPr wrap="square" lIns="0" tIns="0" rIns="0" bIns="0" rtlCol="0" anchor="t">
            <a:normAutofit/>
          </a:bodyPr>
          <a:lstStyle/>
          <a:p>
            <a:pPr algn="l" indent="0" marL="0">
              <a:lnSpc>
                <a:spcPts val="1873"/>
              </a:lnSpc>
              <a:buNone/>
            </a:pPr>
            <a:r>
              <a:rPr lang="en-US" sz="1292" dirty="0">
                <a:solidFill>
                  <a:srgbClr val="31302E"/>
                </a:solidFill>
                <a:latin typeface="Inter" pitchFamily="34" charset="0"/>
                <a:ea typeface="Inter" pitchFamily="34" charset="-122"/>
                <a:cs typeface="Inter" pitchFamily="34" charset="-120"/>
              </a:rPr>
              <a:t>Positional alignment is given by the genetic code and only on coding sequence; resampling to the codon grid is a token-location step, not evidence of shared information. Representational alignment is measured after the composition control and reported next to every fusion result; it is not a training loss and not a prerequisite. Whether fusion helps is settled by a held-out gain over the best single encoder.</a:t>
            </a:r>
            <a:endParaRPr lang="en-US" sz="1292"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55762"/>
            <a:ext cx="114300" cy="114300"/>
          </a:xfrm>
          <a:prstGeom prst="rect">
            <a:avLst/>
          </a:prstGeom>
        </p:spPr>
      </p:pic>
      <p:sp>
        <p:nvSpPr>
          <p:cNvPr id="3" name="Text 0"/>
          <p:cNvSpPr/>
          <p:nvPr/>
        </p:nvSpPr>
        <p:spPr>
          <a:xfrm>
            <a:off x="1003300" y="806301"/>
            <a:ext cx="36296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Why the usual meaning does not transfer</a:t>
            </a:r>
            <a:endParaRPr lang="en-US" sz="1200" dirty="0"/>
          </a:p>
        </p:txBody>
      </p:sp>
      <p:sp>
        <p:nvSpPr>
          <p:cNvPr id="4" name="Text 1"/>
          <p:cNvSpPr/>
          <p:nvPr>
            <p:ph type="title"/>
          </p:nvPr>
        </p:nvSpPr>
        <p:spPr>
          <a:xfrm>
            <a:off x="812800" y="1140073"/>
            <a:ext cx="10883392" cy="391864"/>
          </a:xfrm>
          <a:prstGeom prst="rect">
            <a:avLst/>
          </a:prstGeom>
          <a:noFill/>
          <a:ln/>
        </p:spPr>
        <p:txBody>
          <a:bodyPr wrap="square" lIns="0" tIns="0" rIns="0" bIns="0" rtlCol="0" anchor="t">
            <a:normAutofit/>
          </a:bodyPr>
          <a:lstStyle/>
          <a:p>
            <a:pPr algn="l" indent="0" marL="0">
              <a:lnSpc>
                <a:spcPts val="2920"/>
              </a:lnSpc>
              <a:buNone/>
            </a:pPr>
            <a:r>
              <a:rPr lang="en-US" sz="2755" b="1" i="0" spc="-100" kern="0" dirty="0">
                <a:solidFill>
                  <a:srgbClr val="000000"/>
                </a:solidFill>
                <a:latin typeface="Inter" pitchFamily="34" charset="0"/>
                <a:ea typeface="Inter" pitchFamily="34" charset="-122"/>
                <a:cs typeface="Inter" pitchFamily="34" charset="-120"/>
              </a:rPr>
              <a:t>The central dogma is not two views of one thing</a:t>
            </a:r>
            <a:endParaRPr lang="en-US" sz="2755" dirty="0"/>
          </a:p>
        </p:txBody>
      </p:sp>
      <p:sp>
        <p:nvSpPr>
          <p:cNvPr id="5" name="Shape 2"/>
          <p:cNvSpPr/>
          <p:nvPr/>
        </p:nvSpPr>
        <p:spPr>
          <a:xfrm>
            <a:off x="1038225" y="1636713"/>
            <a:ext cx="10115550" cy="4202113"/>
          </a:xfrm>
          <a:prstGeom prst="roundRect">
            <a:avLst>
              <a:gd name="adj" fmla="val 2342"/>
            </a:avLst>
          </a:prstGeom>
          <a:solidFill>
            <a:srgbClr val="FFFFFF"/>
          </a:solidFill>
          <a:ln w="6350">
            <a:solidFill>
              <a:srgbClr val="E6E6E6"/>
            </a:solidFill>
            <a:prstDash val="solid"/>
          </a:ln>
        </p:spPr>
        <p:txBody>
          <a:bodyPr/>
          <a:p/>
        </p:txBody>
      </p:sp>
      <p:sp>
        <p:nvSpPr>
          <p:cNvPr id="6" name="Shape 3"/>
          <p:cNvSpPr/>
          <p:nvPr/>
        </p:nvSpPr>
        <p:spPr>
          <a:xfrm>
            <a:off x="1143000" y="1741488"/>
            <a:ext cx="9906000" cy="4267200"/>
          </a:xfrm>
          <a:prstGeom prst="roundRect">
            <a:avLst>
              <a:gd name="adj" fmla="val 1190"/>
            </a:avLst>
          </a:prstGeom>
          <a:solidFill>
            <a:srgbClr val="FFFFFF"/>
          </a:solidFill>
          <a:ln/>
        </p:spPr>
        <p:txBody>
          <a:bodyPr/>
          <a:p/>
        </p:txBody>
      </p:sp>
      <p:pic>
        <p:nvPicPr>
          <p:cNvPr id="7" name="Image 1" descr="Alignment in machine learning compared with the central dogma's one-way information loss, and what follows for alignment">    </p:cNvPr>
          <p:cNvPicPr>
            <a:picLocks noChangeAspect="1"/>
          </p:cNvPicPr>
          <p:nvPr/>
        </p:nvPicPr>
        <p:blipFill>
          <a:blip r:embed="rId2"/>
          <a:srcRect l="-31" r="-31" t="0" b="0"/>
          <a:stretch/>
        </p:blipFill>
        <p:spPr>
          <a:xfrm>
            <a:off x="1143000" y="1741488"/>
            <a:ext cx="9906000" cy="4267200"/>
          </a:xfrm>
          <a:prstGeom prst="roundRect">
            <a:avLst>
              <a:gd name="adj" fmla="val 1190"/>
            </a:avLst>
          </a:prstGeom>
        </p:spPr>
      </p:pic>
      <p:sp>
        <p:nvSpPr>
          <p:cNvPr id="8" name="Text 4"/>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Redundancy by construction: the coding sequence determines the protein. Uniqueness by construction: 61 codons to 20 amino acids. Unique context at every level: genome, UTRs, fold. Each one was measured in Stage 1.</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393739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How representational alignment is measured</a:t>
            </a:r>
            <a:endParaRPr lang="en-US" sz="1200" dirty="0"/>
          </a:p>
        </p:txBody>
      </p:sp>
      <p:sp>
        <p:nvSpPr>
          <p:cNvPr id="4" name="Text 1"/>
          <p:cNvSpPr/>
          <p:nvPr>
            <p:ph type="title"/>
          </p:nvPr>
        </p:nvSpPr>
        <p:spPr>
          <a:xfrm>
            <a:off x="812800" y="1178520"/>
            <a:ext cx="10883392" cy="415776"/>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Four rungs, each stricter; our definition sits at the third</a:t>
            </a:r>
            <a:endParaRPr lang="en-US" sz="2900" dirty="0"/>
          </a:p>
        </p:txBody>
      </p:sp>
      <p:sp>
        <p:nvSpPr>
          <p:cNvPr id="5" name="Shape 2"/>
          <p:cNvSpPr/>
          <p:nvPr/>
        </p:nvSpPr>
        <p:spPr>
          <a:xfrm>
            <a:off x="815975" y="1724471"/>
            <a:ext cx="10560050" cy="4097139"/>
          </a:xfrm>
          <a:prstGeom prst="roundRect">
            <a:avLst>
              <a:gd name="adj" fmla="val 2402"/>
            </a:avLst>
          </a:prstGeom>
          <a:solidFill>
            <a:srgbClr val="FFFFFF"/>
          </a:solidFill>
          <a:ln w="6350">
            <a:solidFill>
              <a:srgbClr val="E6E6E6"/>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3450" y="1791146"/>
          <a:ext cx="10337800" cy="3976489"/>
        </p:xfrm>
        <a:graphic>
          <a:graphicData uri="http://schemas.openxmlformats.org/drawingml/2006/table">
            <a:tbl>
              <a:tblPr/>
              <a:tblGrid>
                <a:gridCol w="2687828"/>
                <a:gridCol w="3824986"/>
                <a:gridCol w="3824986"/>
              </a:tblGrid>
              <a:tr h="438745">
                <a:tc>
                  <a:txBody>
                    <a:bodyPr/>
                    <a:lstStyle/>
                    <a:p>
                      <a:pPr indent="0" marL="0">
                        <a:lnSpc>
                          <a:spcPts val="1820"/>
                        </a:lnSpc>
                        <a:buNone/>
                      </a:pPr>
                      <a:r>
                        <a:rPr lang="en-US" sz="1300" b="1" dirty="0">
                          <a:solidFill>
                            <a:srgbClr val="615D59"/>
                          </a:solidFill>
                          <a:latin typeface="Inter" pitchFamily="34" charset="0"/>
                          <a:ea typeface="Inter" pitchFamily="34" charset="-122"/>
                          <a:cs typeface="Inter" pitchFamily="34" charset="-120"/>
                        </a:rPr>
                        <a:t>Rung and measure</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615D59"/>
                          </a:solidFill>
                          <a:latin typeface="Inter" pitchFamily="34" charset="0"/>
                          <a:ea typeface="Inter" pitchFamily="34" charset="-122"/>
                          <a:cs typeface="Inter" pitchFamily="34" charset="-120"/>
                        </a:rPr>
                        <a:t>The question, in biological terms</a:t>
                      </a:r>
                      <a:endParaRPr lang="en-US" sz="1300" dirty="0">
                        <a:latin typeface="Inter" charset="0"/>
                        <a:ea typeface="Inter" charset="0"/>
                        <a:cs typeface="Inter" charset="0"/>
                      </a:endParaRPr>
                    </a:p>
                  </a:txBody>
                  <a:tcPr marL="127000" marR="127000" marT="101600" marB="1016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615D59"/>
                          </a:solidFill>
                          <a:latin typeface="Inter" pitchFamily="34" charset="0"/>
                          <a:ea typeface="Inter" pitchFamily="34" charset="-122"/>
                          <a:cs typeface="Inter" pitchFamily="34" charset="-120"/>
                        </a:rPr>
                        <a:t>What Stage 1 found</a:t>
                      </a:r>
                      <a:endParaRPr lang="en-US" sz="1300" dirty="0">
                        <a:latin typeface="Inter" charset="0"/>
                        <a:ea typeface="Inter" charset="0"/>
                        <a:cs typeface="Inter" charset="0"/>
                      </a:endParaRPr>
                    </a:p>
                  </a:txBody>
                  <a:tcPr marL="127000" marR="127000" marT="101600" marB="1016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661591">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1. Raw similarity: linear CKA, mutual k-NN, RSA</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Do the two encoders call the same genes similar?</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Follows tokenizer and training corpus, not the modality label; every pair above chance.</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84436">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2. Shared directions: CCA, Recall@1</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Is there any view in which one encoder's embedding of a gene finds the other's?</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Yes for every pair (first canonical correlation 0.90 to 0.99): a learnable mapping always exists.</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1107281">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3. After the composition control</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Is the agreement more than letter, codon, and amino-acid counts, which any model could learn from the sequence alone?</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For pairs with a DNA encoder, mostly not. The protein encoders, RNA-FM with RiNALMo, and CaLM with protein keep most of theirs.</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84436">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4. Against prediction: concatenation gain, alignment-error association</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Does agreeing help, and do better-aligned genes get better predictions?</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000000"/>
                          </a:solidFill>
                          <a:latin typeface="Inter" pitchFamily="34" charset="0"/>
                          <a:ea typeface="Inter" pitchFamily="34" charset="-122"/>
                          <a:cs typeface="Inter" pitchFamily="34" charset="-120"/>
                        </a:rPr>
                        <a:t>Complementarity is largest where alignment is low; per-sequence alignment never tracks error.</a:t>
                      </a:r>
                      <a:endParaRPr lang="en-US" sz="13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A pair can pass rung 1 and fail rung 3, which is what every pair with a DNA encoder does on the stability data. Rung 4 is why alignment is reported beside every fusion result rather than trained for.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27646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Experimental design · overview</a:t>
            </a:r>
            <a:endParaRPr lang="en-US" sz="1200" dirty="0"/>
          </a:p>
        </p:txBody>
      </p:sp>
      <p:sp>
        <p:nvSpPr>
          <p:cNvPr id="4" name="Text 1"/>
          <p:cNvSpPr/>
          <p:nvPr>
            <p:ph type="title"/>
          </p:nvPr>
        </p:nvSpPr>
        <p:spPr>
          <a:xfrm>
            <a:off x="812800" y="1203920"/>
            <a:ext cx="10883392" cy="806152"/>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Stage 3 builds the fusion models; Stage 4 tests whether they help</a:t>
            </a:r>
            <a:endParaRPr lang="en-US" sz="2900" dirty="0"/>
          </a:p>
        </p:txBody>
      </p:sp>
      <p:sp>
        <p:nvSpPr>
          <p:cNvPr id="5" name="Shape 2"/>
          <p:cNvSpPr/>
          <p:nvPr/>
        </p:nvSpPr>
        <p:spPr>
          <a:xfrm>
            <a:off x="815975" y="2165648"/>
            <a:ext cx="5194300" cy="3209826"/>
          </a:xfrm>
          <a:prstGeom prst="roundRect">
            <a:avLst>
              <a:gd name="adj" fmla="val 3066"/>
            </a:avLst>
          </a:prstGeom>
          <a:solidFill>
            <a:srgbClr val="FFFFFF"/>
          </a:solidFill>
          <a:ln w="6350">
            <a:solidFill>
              <a:srgbClr val="E6E6E6"/>
            </a:solidFill>
            <a:prstDash val="solid"/>
          </a:ln>
        </p:spPr>
        <p:txBody>
          <a:bodyPr/>
          <a:p/>
        </p:txBody>
      </p:sp>
      <p:sp>
        <p:nvSpPr>
          <p:cNvPr id="6" name="Text 3"/>
          <p:cNvSpPr/>
          <p:nvPr/>
        </p:nvSpPr>
        <p:spPr>
          <a:xfrm>
            <a:off x="1047750" y="2372023"/>
            <a:ext cx="48726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3 · fusion architecture design</a:t>
            </a:r>
            <a:endParaRPr lang="en-US" sz="1200" dirty="0"/>
          </a:p>
        </p:txBody>
      </p:sp>
      <p:sp>
        <p:nvSpPr>
          <p:cNvPr id="7" name="Text 4"/>
          <p:cNvSpPr/>
          <p:nvPr/>
        </p:nvSpPr>
        <p:spPr>
          <a:xfrm>
            <a:off x="1047750" y="2674243"/>
            <a:ext cx="4872673" cy="284460"/>
          </a:xfrm>
          <a:prstGeom prst="rect">
            <a:avLst/>
          </a:prstGeom>
          <a:noFill/>
          <a:ln/>
        </p:spPr>
        <p:txBody>
          <a:bodyPr wrap="square" lIns="0" tIns="0" rIns="0" bIns="0" rtlCol="0" anchor="t">
            <a:normAutofit/>
          </a:bodyPr>
          <a:lstStyle/>
          <a:p>
            <a:pPr algn="l" indent="0" marL="0">
              <a:lnSpc>
                <a:spcPts val="2040"/>
              </a:lnSpc>
              <a:buNone/>
            </a:pPr>
            <a:r>
              <a:rPr lang="en-US" sz="1700" b="1" spc="-25" kern="0" dirty="0">
                <a:solidFill>
                  <a:srgbClr val="000000"/>
                </a:solidFill>
                <a:latin typeface="Inter" pitchFamily="34" charset="0"/>
                <a:ea typeface="Inter" pitchFamily="34" charset="-122"/>
                <a:cs typeface="Inter" pitchFamily="34" charset="-120"/>
              </a:rPr>
              <a:t>How do we combine the encoders?</a:t>
            </a:r>
            <a:endParaRPr lang="en-US" sz="1700" dirty="0"/>
          </a:p>
        </p:txBody>
      </p:sp>
      <p:sp>
        <p:nvSpPr>
          <p:cNvPr id="8" name="Text 5"/>
          <p:cNvSpPr/>
          <p:nvPr/>
        </p:nvSpPr>
        <p:spPr>
          <a:xfrm>
            <a:off x="1146175" y="3022203"/>
            <a:ext cx="4766628" cy="1692275"/>
          </a:xfrm>
          <a:prstGeom prst="rect">
            <a:avLst/>
          </a:prstGeom>
          <a:noFill/>
          <a:ln/>
        </p:spPr>
        <p:txBody>
          <a:bodyPr wrap="square" lIns="0" tIns="0" rIns="0" bIns="0" rtlCol="0" anchor="t">
            <a:normAutofit/>
          </a:bodyPr>
          <a:lstStyle/>
          <a:p>
            <a:pPr algn="l" marL="155575" indent="-155575">
              <a:lnSpc>
                <a:spcPts val="1875"/>
              </a:lnSpc>
              <a:buSzPct val="100000"/>
              <a:buChar char="•"/>
            </a:pPr>
            <a:r>
              <a:rPr lang="en-US" sz="1250" b="1" dirty="0">
                <a:solidFill>
                  <a:srgbClr val="31302E"/>
                </a:solidFill>
                <a:latin typeface="Inter" pitchFamily="34" charset="0"/>
                <a:ea typeface="Inter" pitchFamily="34" charset="-122"/>
                <a:cs typeface="Inter" pitchFamily="34" charset="-120"/>
              </a:rPr>
              <a:t>Research plan first:</a:t>
            </a:r>
            <a:r>
              <a:rPr lang="en-US" sz="1250" dirty="0">
                <a:solidFill>
                  <a:srgbClr val="31302E"/>
                </a:solidFill>
                <a:latin typeface="Inter" pitchFamily="34" charset="0"/>
                <a:ea typeface="Inter" pitchFamily="34" charset="-122"/>
                <a:cs typeface="Inter" pitchFamily="34" charset="-120"/>
              </a:rPr>
              <a:t> BioLangFusion reproduced exactly, then encoder swaps (1); LucaOne (2); IsoFormer on GTEx</a:t>
            </a:r>
            <a:endParaRPr lang="en-US" sz="1250" dirty="0"/>
          </a:p>
          <a:p>
            <a:pPr algn="l" marL="155575" indent="-155575">
              <a:lnSpc>
                <a:spcPts val="1875"/>
              </a:lnSpc>
              <a:buSzPct val="100000"/>
              <a:buChar char="•"/>
            </a:pPr>
            <a:r>
              <a:rPr lang="en-US" sz="1250" b="1" dirty="0">
                <a:solidFill>
                  <a:srgbClr val="31302E"/>
                </a:solidFill>
                <a:latin typeface="Inter" pitchFamily="34" charset="0"/>
                <a:ea typeface="Inter" pitchFamily="34" charset="-122"/>
                <a:cs typeface="Inter" pitchFamily="34" charset="-120"/>
              </a:rPr>
              <a:t>Floor:</a:t>
            </a:r>
            <a:r>
              <a:rPr lang="en-US" sz="1250" dirty="0">
                <a:solidFill>
                  <a:srgbClr val="31302E"/>
                </a:solidFill>
                <a:latin typeface="Inter" pitchFamily="34" charset="0"/>
                <a:ea typeface="Inter" pitchFamily="34" charset="-122"/>
                <a:cs typeface="Inter" pitchFamily="34" charset="-120"/>
              </a:rPr>
              <a:t> concatenation + MLP, which every model must beat</a:t>
            </a:r>
            <a:endParaRPr lang="en-US" sz="1250" dirty="0"/>
          </a:p>
          <a:p>
            <a:pPr algn="l" marL="155575" indent="-155575">
              <a:lnSpc>
                <a:spcPts val="1875"/>
              </a:lnSpc>
              <a:buSzPct val="100000"/>
              <a:buChar char="•"/>
            </a:pPr>
            <a:r>
              <a:rPr lang="en-US" sz="1250" b="1" dirty="0">
                <a:solidFill>
                  <a:srgbClr val="31302E"/>
                </a:solidFill>
                <a:latin typeface="Inter" pitchFamily="34" charset="0"/>
                <a:ea typeface="Inter" pitchFamily="34" charset="-122"/>
                <a:cs typeface="Inter" pitchFamily="34" charset="-120"/>
              </a:rPr>
              <a:t>Then design 1, from January:</a:t>
            </a:r>
            <a:r>
              <a:rPr lang="en-US" sz="1250" dirty="0">
                <a:solidFill>
                  <a:srgbClr val="31302E"/>
                </a:solidFill>
                <a:latin typeface="Inter" pitchFamily="34" charset="0"/>
                <a:ea typeface="Inter" pitchFamily="34" charset="-122"/>
                <a:cs typeface="Inter" pitchFamily="34" charset="-120"/>
              </a:rPr>
              <a:t> Coupled Mamba on the codon grid (coding sequence)</a:t>
            </a:r>
            <a:endParaRPr lang="en-US" sz="1250" dirty="0"/>
          </a:p>
          <a:p>
            <a:pPr algn="l" marL="155575" indent="-155575">
              <a:lnSpc>
                <a:spcPts val="1875"/>
              </a:lnSpc>
              <a:buSzPct val="100000"/>
              <a:buChar char="•"/>
            </a:pPr>
            <a:r>
              <a:rPr lang="en-US" sz="1250" b="1" dirty="0">
                <a:solidFill>
                  <a:srgbClr val="31302E"/>
                </a:solidFill>
                <a:latin typeface="Inter" pitchFamily="34" charset="0"/>
                <a:ea typeface="Inter" pitchFamily="34" charset="-122"/>
                <a:cs typeface="Inter" pitchFamily="34" charset="-120"/>
              </a:rPr>
              <a:t>Then design 2:</a:t>
            </a:r>
            <a:r>
              <a:rPr lang="en-US" sz="1250" dirty="0">
                <a:solidFill>
                  <a:srgbClr val="31302E"/>
                </a:solidFill>
                <a:latin typeface="Inter" pitchFamily="34" charset="0"/>
                <a:ea typeface="Inter" pitchFamily="34" charset="-122"/>
                <a:cs typeface="Inter" pitchFamily="34" charset="-120"/>
              </a:rPr>
              <a:t> IsoFormer-style cross-attention (GTEx, no grid)</a:t>
            </a:r>
            <a:endParaRPr lang="en-US" sz="1250" dirty="0"/>
          </a:p>
        </p:txBody>
      </p:sp>
      <p:sp>
        <p:nvSpPr>
          <p:cNvPr id="9" name="Text 6"/>
          <p:cNvSpPr/>
          <p:nvPr/>
        </p:nvSpPr>
        <p:spPr>
          <a:xfrm>
            <a:off x="1047750" y="4777978"/>
            <a:ext cx="4872673" cy="41652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615D59"/>
                </a:solidFill>
                <a:latin typeface="Inter" pitchFamily="34" charset="0"/>
                <a:ea typeface="Inter" pitchFamily="34" charset="-122"/>
                <a:cs typeface="Inter" pitchFamily="34" charset="-120"/>
              </a:rPr>
              <a:t>Frozen encoders, no alignment loss by default, positional alignment only where the genetic code gives it.</a:t>
            </a:r>
            <a:endParaRPr lang="en-US" sz="1100" dirty="0"/>
          </a:p>
        </p:txBody>
      </p:sp>
      <p:sp>
        <p:nvSpPr>
          <p:cNvPr id="10" name="Shape 7"/>
          <p:cNvSpPr/>
          <p:nvPr/>
        </p:nvSpPr>
        <p:spPr>
          <a:xfrm>
            <a:off x="6191250" y="2162473"/>
            <a:ext cx="5187950" cy="3216176"/>
          </a:xfrm>
          <a:prstGeom prst="roundRect">
            <a:avLst>
              <a:gd name="adj" fmla="val 3159"/>
            </a:avLst>
          </a:prstGeom>
          <a:solidFill>
            <a:srgbClr val="213183"/>
          </a:solidFill>
          <a:ln/>
        </p:spPr>
        <p:txBody>
          <a:bodyPr/>
          <a:p/>
        </p:txBody>
      </p:sp>
      <p:sp>
        <p:nvSpPr>
          <p:cNvPr id="11" name="Text 8"/>
          <p:cNvSpPr/>
          <p:nvPr/>
        </p:nvSpPr>
        <p:spPr>
          <a:xfrm>
            <a:off x="6419850" y="2365673"/>
            <a:ext cx="48726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alpha val="80000"/>
                  </a:srgbClr>
                </a:solidFill>
                <a:latin typeface="Inter" pitchFamily="34" charset="0"/>
                <a:ea typeface="Inter" pitchFamily="34" charset="-122"/>
                <a:cs typeface="Inter" pitchFamily="34" charset="-120"/>
              </a:rPr>
              <a:t>Stage 4 · experimental design and benchmarking</a:t>
            </a:r>
            <a:endParaRPr lang="en-US" sz="1200" dirty="0"/>
          </a:p>
        </p:txBody>
      </p:sp>
      <p:sp>
        <p:nvSpPr>
          <p:cNvPr id="12" name="Text 9"/>
          <p:cNvSpPr/>
          <p:nvPr/>
        </p:nvSpPr>
        <p:spPr>
          <a:xfrm>
            <a:off x="6419850" y="2667893"/>
            <a:ext cx="4872673" cy="543520"/>
          </a:xfrm>
          <a:prstGeom prst="rect">
            <a:avLst/>
          </a:prstGeom>
          <a:noFill/>
          <a:ln/>
        </p:spPr>
        <p:txBody>
          <a:bodyPr wrap="square" lIns="0" tIns="0" rIns="0" bIns="0" rtlCol="0" anchor="t">
            <a:normAutofit/>
          </a:bodyPr>
          <a:lstStyle/>
          <a:p>
            <a:pPr algn="l" indent="0" marL="0">
              <a:lnSpc>
                <a:spcPts val="2040"/>
              </a:lnSpc>
              <a:buNone/>
            </a:pPr>
            <a:r>
              <a:rPr lang="en-US" sz="1700" b="1" spc="-25" kern="0" dirty="0">
                <a:solidFill>
                  <a:srgbClr val="FFFFFF"/>
                </a:solidFill>
                <a:latin typeface="Inter" pitchFamily="34" charset="0"/>
                <a:ea typeface="Inter" pitchFamily="34" charset="-122"/>
                <a:cs typeface="Inter" pitchFamily="34" charset="-120"/>
              </a:rPr>
              <a:t>Does fusion beat the best single encoder, and could Stage 1 predict it?</a:t>
            </a:r>
            <a:endParaRPr lang="en-US" sz="1700" dirty="0"/>
          </a:p>
        </p:txBody>
      </p:sp>
      <p:sp>
        <p:nvSpPr>
          <p:cNvPr id="13" name="Text 10"/>
          <p:cNvSpPr/>
          <p:nvPr/>
        </p:nvSpPr>
        <p:spPr>
          <a:xfrm>
            <a:off x="6518275" y="3274913"/>
            <a:ext cx="4766628" cy="1692275"/>
          </a:xfrm>
          <a:prstGeom prst="rect">
            <a:avLst/>
          </a:prstGeom>
          <a:noFill/>
          <a:ln/>
        </p:spPr>
        <p:txBody>
          <a:bodyPr wrap="square" lIns="0" tIns="0" rIns="0" bIns="0" rtlCol="0" anchor="t">
            <a:normAutofit/>
          </a:bodyPr>
          <a:lstStyle/>
          <a:p>
            <a:pPr algn="l" marL="155575" indent="-155575">
              <a:lnSpc>
                <a:spcPts val="1875"/>
              </a:lnSpc>
              <a:buSzPct val="100000"/>
              <a:buChar char="•"/>
            </a:pPr>
            <a:r>
              <a:rPr lang="en-US" sz="1250" b="1" dirty="0">
                <a:solidFill>
                  <a:srgbClr val="FFFFFF"/>
                </a:solidFill>
                <a:latin typeface="Inter" pitchFamily="34" charset="0"/>
                <a:ea typeface="Inter" pitchFamily="34" charset="-122"/>
                <a:cs typeface="Inter" pitchFamily="34" charset="-120"/>
              </a:rPr>
              <a:t>Hypotheses</a:t>
            </a:r>
            <a:r>
              <a:rPr lang="en-US" sz="1250" dirty="0">
                <a:solidFill>
                  <a:srgbClr val="FFFFFF"/>
                </a:solidFill>
                <a:latin typeface="Inter" pitchFamily="34" charset="0"/>
                <a:ea typeface="Inter" pitchFamily="34" charset="-122"/>
                <a:cs typeface="Inter" pitchFamily="34" charset="-120"/>
              </a:rPr>
              <a:t> H1 to H6 and baselines B0 to B5</a:t>
            </a:r>
            <a:endParaRPr lang="en-US" sz="1250" dirty="0"/>
          </a:p>
          <a:p>
            <a:pPr algn="l" marL="155575" indent="-155575">
              <a:lnSpc>
                <a:spcPts val="1875"/>
              </a:lnSpc>
              <a:buSzPct val="100000"/>
              <a:buChar char="•"/>
            </a:pPr>
            <a:r>
              <a:rPr lang="en-US" sz="1250" b="1" dirty="0">
                <a:solidFill>
                  <a:srgbClr val="FFFFFF"/>
                </a:solidFill>
                <a:latin typeface="Inter" pitchFamily="34" charset="0"/>
                <a:ea typeface="Inter" pitchFamily="34" charset="-122"/>
                <a:cs typeface="Inter" pitchFamily="34" charset="-120"/>
              </a:rPr>
              <a:t>Datasets and tests</a:t>
            </a:r>
            <a:r>
              <a:rPr lang="en-US" sz="1250" dirty="0">
                <a:solidFill>
                  <a:srgbClr val="FFFFFF"/>
                </a:solidFill>
                <a:latin typeface="Inter" pitchFamily="34" charset="0"/>
                <a:ea typeface="Inter" pitchFamily="34" charset="-122"/>
                <a:cs typeface="Inter" pitchFamily="34" charset="-120"/>
              </a:rPr>
              <a:t> chosen so each isolates one question</a:t>
            </a:r>
            <a:endParaRPr lang="en-US" sz="1250" dirty="0"/>
          </a:p>
          <a:p>
            <a:pPr algn="l" marL="155575" indent="-155575">
              <a:lnSpc>
                <a:spcPts val="1875"/>
              </a:lnSpc>
              <a:buSzPct val="100000"/>
              <a:buChar char="•"/>
            </a:pPr>
            <a:r>
              <a:rPr lang="en-US" sz="1250" b="1" dirty="0">
                <a:solidFill>
                  <a:srgbClr val="FFFFFF"/>
                </a:solidFill>
                <a:latin typeface="Inter" pitchFamily="34" charset="0"/>
                <a:ea typeface="Inter" pitchFamily="34" charset="-122"/>
                <a:cs typeface="Inter" pitchFamily="34" charset="-120"/>
              </a:rPr>
              <a:t>Ablations:</a:t>
            </a:r>
            <a:r>
              <a:rPr lang="en-US" sz="1250" dirty="0">
                <a:solidFill>
                  <a:srgbClr val="FFFFFF"/>
                </a:solidFill>
                <a:latin typeface="Inter" pitchFamily="34" charset="0"/>
                <a:ea typeface="Inter" pitchFamily="34" charset="-122"/>
                <a:cs typeface="Inter" pitchFamily="34" charset="-120"/>
              </a:rPr>
              <a:t> alignment loss, codon grid, modality dropping</a:t>
            </a:r>
            <a:endParaRPr lang="en-US" sz="1250" dirty="0"/>
          </a:p>
          <a:p>
            <a:pPr algn="l" marL="155575" indent="-155575">
              <a:lnSpc>
                <a:spcPts val="1875"/>
              </a:lnSpc>
              <a:buSzPct val="100000"/>
              <a:buChar char="•"/>
            </a:pPr>
            <a:r>
              <a:rPr lang="en-US" sz="1250" b="1" dirty="0">
                <a:solidFill>
                  <a:srgbClr val="FFFFFF"/>
                </a:solidFill>
                <a:latin typeface="Inter" pitchFamily="34" charset="0"/>
                <a:ea typeface="Inter" pitchFamily="34" charset="-122"/>
                <a:cs typeface="Inter" pitchFamily="34" charset="-120"/>
              </a:rPr>
              <a:t>Method test:</a:t>
            </a:r>
            <a:r>
              <a:rPr lang="en-US" sz="1250" dirty="0">
                <a:solidFill>
                  <a:srgbClr val="FFFFFF"/>
                </a:solidFill>
                <a:latin typeface="Inter" pitchFamily="34" charset="0"/>
                <a:ea typeface="Inter" pitchFamily="34" charset="-122"/>
                <a:cs typeface="Inter" pitchFamily="34" charset="-120"/>
              </a:rPr>
              <a:t> do Stage 1 metrics predict the fusion gain?</a:t>
            </a:r>
            <a:endParaRPr lang="en-US" sz="1250" dirty="0"/>
          </a:p>
          <a:p>
            <a:pPr algn="l" marL="155575" indent="-155575">
              <a:lnSpc>
                <a:spcPts val="1875"/>
              </a:lnSpc>
              <a:buSzPct val="100000"/>
              <a:buChar char="•"/>
            </a:pPr>
            <a:r>
              <a:rPr lang="en-US" sz="1250" b="1" dirty="0">
                <a:solidFill>
                  <a:srgbClr val="FFFFFF"/>
                </a:solidFill>
                <a:latin typeface="Inter" pitchFamily="34" charset="0"/>
                <a:ea typeface="Inter" pitchFamily="34" charset="-122"/>
                <a:cs typeface="Inter" pitchFamily="34" charset="-120"/>
              </a:rPr>
              <a:t>Research plan first:</a:t>
            </a:r>
            <a:r>
              <a:rPr lang="en-US" sz="1250" dirty="0">
                <a:solidFill>
                  <a:srgbClr val="FFFFFF"/>
                </a:solidFill>
                <a:latin typeface="Inter" pitchFamily="34" charset="0"/>
                <a:ea typeface="Inter" pitchFamily="34" charset="-122"/>
                <a:cs typeface="Inter" pitchFamily="34" charset="-120"/>
              </a:rPr>
              <a:t> half-life (3), translation efficiency (4), and the mRFP control (5) before our designs; structure (6) and distillation (7) after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332654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4 · the research plan first</a:t>
            </a:r>
            <a:endParaRPr lang="en-US" sz="1200" dirty="0"/>
          </a:p>
        </p:txBody>
      </p:sp>
      <p:sp>
        <p:nvSpPr>
          <p:cNvPr id="4" name="Text 1"/>
          <p:cNvSpPr/>
          <p:nvPr>
            <p:ph type="title"/>
          </p:nvPr>
        </p:nvSpPr>
        <p:spPr>
          <a:xfrm>
            <a:off x="812800" y="1153120"/>
            <a:ext cx="10883392" cy="806152"/>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The research plan's seven items, in its order, each with a place in the tiers and the Gantt chart</a:t>
            </a:r>
            <a:endParaRPr lang="en-US" sz="2900" dirty="0"/>
          </a:p>
        </p:txBody>
      </p:sp>
      <p:sp>
        <p:nvSpPr>
          <p:cNvPr id="5" name="Shape 2"/>
          <p:cNvSpPr/>
          <p:nvPr/>
        </p:nvSpPr>
        <p:spPr>
          <a:xfrm>
            <a:off x="1546225" y="2064048"/>
            <a:ext cx="9099550" cy="3746500"/>
          </a:xfrm>
          <a:prstGeom prst="roundRect">
            <a:avLst>
              <a:gd name="adj" fmla="val 2627"/>
            </a:avLst>
          </a:prstGeom>
          <a:solidFill>
            <a:srgbClr val="FFFFFF"/>
          </a:solidFill>
          <a:ln w="6350">
            <a:solidFill>
              <a:srgbClr val="E6E6E6"/>
            </a:solidFill>
            <a:prstDash val="solid"/>
          </a:ln>
        </p:spPr>
        <p:txBody>
          <a:bodyPr/>
          <a:p/>
        </p:txBody>
      </p:sp>
      <p:sp>
        <p:nvSpPr>
          <p:cNvPr id="6" name="Shape 3"/>
          <p:cNvSpPr/>
          <p:nvPr/>
        </p:nvSpPr>
        <p:spPr>
          <a:xfrm>
            <a:off x="1651000" y="2143423"/>
            <a:ext cx="8890000" cy="3587750"/>
          </a:xfrm>
          <a:prstGeom prst="roundRect">
            <a:avLst>
              <a:gd name="adj" fmla="val 1416"/>
            </a:avLst>
          </a:prstGeom>
          <a:solidFill>
            <a:srgbClr val="FFFFFF"/>
          </a:solidFill>
          <a:ln/>
        </p:spPr>
        <p:txBody>
          <a:bodyPr/>
          <a:p/>
        </p:txBody>
      </p:sp>
      <p:pic>
        <p:nvPicPr>
          <p:cNvPr id="7" name="Image 1" descr="The research plan's seven items: BioLangFusion reproduction and encoder swaps, LucaOne, half-life, translation efficiency, the mRFP control, structure features, and the distillation idea, each with its Gantt slot">    </p:cNvPr>
          <p:cNvPicPr>
            <a:picLocks noChangeAspect="1"/>
          </p:cNvPicPr>
          <p:nvPr/>
        </p:nvPicPr>
        <p:blipFill>
          <a:blip r:embed="rId2"/>
          <a:srcRect l="0" r="0" t="-62" b="-62"/>
          <a:stretch/>
        </p:blipFill>
        <p:spPr>
          <a:xfrm>
            <a:off x="1651000" y="2143423"/>
            <a:ext cx="8890000" cy="3587750"/>
          </a:xfrm>
          <a:prstGeom prst="roundRect">
            <a:avLst>
              <a:gd name="adj" fmla="val 1416"/>
            </a:avLst>
          </a:prstGeom>
        </p:spPr>
      </p:pic>
      <p:sp>
        <p:nvSpPr>
          <p:cNvPr id="8" name="Text 4"/>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Items 1 to 5 come first, with IsoFormer on GTEx beside LucaOne; Coupled Mamba and cross-attention follow from January and are scored against all of them. Items 6 and 7 come last.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469481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Stages 3 and 4 · research plan item 1, Phases A and B</a:t>
            </a:r>
            <a:endParaRPr lang="en-US" sz="1200" dirty="0"/>
          </a:p>
        </p:txBody>
      </p:sp>
      <p:sp>
        <p:nvSpPr>
          <p:cNvPr id="4" name="Text 1"/>
          <p:cNvSpPr/>
          <p:nvPr>
            <p:ph type="title"/>
          </p:nvPr>
        </p:nvSpPr>
        <p:spPr>
          <a:xfrm>
            <a:off x="812800" y="1153120"/>
            <a:ext cx="10883392" cy="806152"/>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Reproduce BioLangFusion exactly, then change the encoders and nothing else</a:t>
            </a:r>
            <a:endParaRPr lang="en-US" sz="2900" dirty="0"/>
          </a:p>
        </p:txBody>
      </p:sp>
      <p:sp>
        <p:nvSpPr>
          <p:cNvPr id="5" name="Shape 2"/>
          <p:cNvSpPr/>
          <p:nvPr/>
        </p:nvSpPr>
        <p:spPr>
          <a:xfrm>
            <a:off x="815975" y="2064048"/>
            <a:ext cx="7296150" cy="3276600"/>
          </a:xfrm>
          <a:prstGeom prst="roundRect">
            <a:avLst>
              <a:gd name="adj" fmla="val 3004"/>
            </a:avLst>
          </a:prstGeom>
          <a:solidFill>
            <a:srgbClr val="FFFFFF"/>
          </a:solidFill>
          <a:ln w="6350">
            <a:solidFill>
              <a:srgbClr val="E6E6E6"/>
            </a:solidFill>
            <a:prstDash val="solid"/>
          </a:ln>
        </p:spPr>
        <p:txBody>
          <a:bodyPr/>
          <a:p/>
        </p:txBody>
      </p:sp>
      <p:sp>
        <p:nvSpPr>
          <p:cNvPr id="6" name="Shape 3"/>
          <p:cNvSpPr/>
          <p:nvPr/>
        </p:nvSpPr>
        <p:spPr>
          <a:xfrm>
            <a:off x="908050" y="2143423"/>
            <a:ext cx="7112000" cy="3117850"/>
          </a:xfrm>
          <a:prstGeom prst="roundRect">
            <a:avLst>
              <a:gd name="adj" fmla="val 1629"/>
            </a:avLst>
          </a:prstGeom>
          <a:solidFill>
            <a:srgbClr val="FFFFFF"/>
          </a:solidFill>
          <a:ln/>
        </p:spPr>
        <p:txBody>
          <a:bodyPr/>
          <a:p/>
        </p:txBody>
      </p:sp>
      <p:pic>
        <p:nvPicPr>
          <p:cNvPr id="7" name="Image 1" descr="The BioLangFusion architecture reproduced then run with swapped encoders; pooled or region-aware fusion where no grid exists; LucaOne and the Stage 3 designs it is compared with">    </p:cNvPr>
          <p:cNvPicPr>
            <a:picLocks noChangeAspect="1"/>
          </p:cNvPicPr>
          <p:nvPr/>
        </p:nvPicPr>
        <p:blipFill>
          <a:blip r:embed="rId2"/>
          <a:srcRect l="-23" r="-23" t="0" b="0"/>
          <a:stretch/>
        </p:blipFill>
        <p:spPr>
          <a:xfrm>
            <a:off x="908050" y="2143423"/>
            <a:ext cx="7112000" cy="3117850"/>
          </a:xfrm>
          <a:prstGeom prst="roundRect">
            <a:avLst>
              <a:gd name="adj" fmla="val 1629"/>
            </a:avLst>
          </a:prstGeom>
        </p:spPr>
      </p:pic>
      <p:sp>
        <p:nvSpPr>
          <p:cNvPr id="8" name="Text 4"/>
          <p:cNvSpPr/>
          <p:nvPr/>
        </p:nvSpPr>
        <p:spPr>
          <a:xfrm>
            <a:off x="8270875" y="2064048"/>
            <a:ext cx="3105150" cy="1136551"/>
          </a:xfrm>
          <a:prstGeom prst="roundRect">
            <a:avLst>
              <a:gd name="adj" fmla="val 6425"/>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40"/>
              </a:lnSpc>
              <a:buNone/>
            </a:pPr>
            <a:r>
              <a:rPr lang="en-US" sz="1100" b="1" dirty="0">
                <a:solidFill>
                  <a:srgbClr val="31302E"/>
                </a:solidFill>
                <a:latin typeface="Inter" pitchFamily="34" charset="0"/>
                <a:ea typeface="Inter" pitchFamily="34" charset="-122"/>
                <a:cs typeface="Inter" pitchFamily="34" charset="-120"/>
              </a:rPr>
              <a:t>Phase A, fixed:</a:t>
            </a:r>
            <a:r>
              <a:rPr lang="en-US" sz="1100" dirty="0">
                <a:solidFill>
                  <a:srgbClr val="31302E"/>
                </a:solidFill>
                <a:latin typeface="Inter" pitchFamily="34" charset="0"/>
                <a:ea typeface="Inter" pitchFamily="34" charset="-122"/>
                <a:cs typeface="Inter" pitchFamily="34" charset="-120"/>
              </a:rPr>
              <a:t> NT v2 100M, RNA-FM, ESM-2 8M on the codon grid; the three heads; one TextCNN head; the CodonBERT splits and recipe; every unreported detail recorded as a deviation.</a:t>
            </a:r>
            <a:endParaRPr lang="en-US" sz="1100" dirty="0"/>
          </a:p>
        </p:txBody>
      </p:sp>
      <p:sp>
        <p:nvSpPr>
          <p:cNvPr id="9" name="Text 5"/>
          <p:cNvSpPr/>
          <p:nvPr/>
        </p:nvSpPr>
        <p:spPr>
          <a:xfrm>
            <a:off x="8270875" y="3283148"/>
            <a:ext cx="3105150" cy="1136551"/>
          </a:xfrm>
          <a:prstGeom prst="roundRect">
            <a:avLst>
              <a:gd name="adj" fmla="val 6425"/>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40"/>
              </a:lnSpc>
              <a:buNone/>
            </a:pPr>
            <a:r>
              <a:rPr lang="en-US" sz="1100" b="1" dirty="0">
                <a:solidFill>
                  <a:srgbClr val="31302E"/>
                </a:solidFill>
                <a:latin typeface="Inter" pitchFamily="34" charset="0"/>
                <a:ea typeface="Inter" pitchFamily="34" charset="-122"/>
                <a:cs typeface="Inter" pitchFamily="34" charset="-120"/>
              </a:rPr>
              <a:t>Phase B, swapped one at a time:</a:t>
            </a:r>
            <a:r>
              <a:rPr lang="en-US" sz="1100" dirty="0">
                <a:solidFill>
                  <a:srgbClr val="31302E"/>
                </a:solidFill>
                <a:latin typeface="Inter" pitchFamily="34" charset="0"/>
                <a:ea typeface="Inter" pitchFamily="34" charset="-122"/>
                <a:cs typeface="Inter" pitchFamily="34" charset="-120"/>
              </a:rPr>
              <a:t> CaLM or mRNA-FM for RNA-FM; ESM-2 150M or ProtBERT for ESM-2 8M; NT 500M, DNABERT-2, or HyenaDNA for NT v2. Then the promising triples.</a:t>
            </a:r>
            <a:endParaRPr lang="en-US" sz="1100" dirty="0"/>
          </a:p>
        </p:txBody>
      </p:sp>
      <p:sp>
        <p:nvSpPr>
          <p:cNvPr id="10" name="Text 6"/>
          <p:cNvSpPr/>
          <p:nvPr/>
        </p:nvSpPr>
        <p:spPr>
          <a:xfrm>
            <a:off x="8270875" y="4502249"/>
            <a:ext cx="3105150" cy="1136551"/>
          </a:xfrm>
          <a:prstGeom prst="roundRect">
            <a:avLst>
              <a:gd name="adj" fmla="val 6425"/>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40"/>
              </a:lnSpc>
              <a:buNone/>
            </a:pPr>
            <a:r>
              <a:rPr lang="en-US" sz="1100" b="1" dirty="0">
                <a:solidFill>
                  <a:srgbClr val="31302E"/>
                </a:solidFill>
                <a:latin typeface="Inter" pitchFamily="34" charset="0"/>
                <a:ea typeface="Inter" pitchFamily="34" charset="-122"/>
                <a:cs typeface="Inter" pitchFamily="34" charset="-120"/>
              </a:rPr>
              <a:t>What it gives the plan:</a:t>
            </a:r>
            <a:r>
              <a:rPr lang="en-US" sz="1100" dirty="0">
                <a:solidFill>
                  <a:srgbClr val="31302E"/>
                </a:solidFill>
                <a:latin typeface="Inter" pitchFamily="34" charset="0"/>
                <a:ea typeface="Inter" pitchFamily="34" charset="-122"/>
                <a:cs typeface="Inter" pitchFamily="34" charset="-120"/>
              </a:rPr>
              <a:t> a matched published baseline for Coupled Mamba on identical samples and splits, and the cleanest test of whether Stage 1 predicts which swaps gain (H2).</a:t>
            </a:r>
            <a:endParaRPr lang="en-US" sz="1100" dirty="0"/>
          </a:p>
        </p:txBody>
      </p:sp>
      <p:sp>
        <p:nvSpPr>
          <p:cNvPr id="11" name="Text 7"/>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15D59"/>
                </a:solidFill>
                <a:latin typeface="Inter" pitchFamily="34" charset="0"/>
                <a:ea typeface="Inter" pitchFamily="34" charset="-122"/>
                <a:cs typeface="Inter" pitchFamily="34" charset="-120"/>
              </a:rPr>
              <a:t>The codon grid is positional alignment: a token-location operation, part of the reproduced system, not evidence that the embeddings carry the same information. Where no grid exists (GTEx, untranslated regions) fusion is pooled or region-aware.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45046"/>
            <a:ext cx="114300" cy="114300"/>
          </a:xfrm>
          <a:prstGeom prst="rect">
            <a:avLst/>
          </a:prstGeom>
        </p:spPr>
      </p:pic>
      <p:sp>
        <p:nvSpPr>
          <p:cNvPr id="3" name="Text 0"/>
          <p:cNvSpPr/>
          <p:nvPr/>
        </p:nvSpPr>
        <p:spPr>
          <a:xfrm>
            <a:off x="1003300" y="795536"/>
            <a:ext cx="313920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3 · then our fusion designs</a:t>
            </a:r>
            <a:endParaRPr lang="en-US" sz="1200" dirty="0"/>
          </a:p>
        </p:txBody>
      </p:sp>
      <p:sp>
        <p:nvSpPr>
          <p:cNvPr id="4" name="Text 1"/>
          <p:cNvSpPr/>
          <p:nvPr>
            <p:ph type="title"/>
          </p:nvPr>
        </p:nvSpPr>
        <p:spPr>
          <a:xfrm>
            <a:off x="812800" y="1118592"/>
            <a:ext cx="10883392" cy="352524"/>
          </a:xfrm>
          <a:prstGeom prst="rect">
            <a:avLst/>
          </a:prstGeom>
          <a:noFill/>
          <a:ln/>
        </p:spPr>
        <p:txBody>
          <a:bodyPr wrap="square" lIns="0" tIns="0" rIns="0" bIns="0" rtlCol="0" anchor="t">
            <a:normAutofit/>
          </a:bodyPr>
          <a:lstStyle/>
          <a:p>
            <a:pPr algn="l" indent="0" marL="0">
              <a:lnSpc>
                <a:spcPts val="2623"/>
              </a:lnSpc>
              <a:buNone/>
            </a:pPr>
            <a:r>
              <a:rPr lang="en-US" sz="2474" b="1" i="0" spc="-100" kern="0" dirty="0">
                <a:solidFill>
                  <a:srgbClr val="000000"/>
                </a:solidFill>
                <a:latin typeface="Inter" pitchFamily="34" charset="0"/>
                <a:ea typeface="Inter" pitchFamily="34" charset="-122"/>
                <a:cs typeface="Inter" pitchFamily="34" charset="-120"/>
              </a:rPr>
              <a:t>Three fusion designs, and the decision they follow</a:t>
            </a:r>
            <a:endParaRPr lang="en-US" sz="2474" dirty="0"/>
          </a:p>
        </p:txBody>
      </p:sp>
      <p:sp>
        <p:nvSpPr>
          <p:cNvPr id="5" name="Shape 2"/>
          <p:cNvSpPr/>
          <p:nvPr/>
        </p:nvSpPr>
        <p:spPr>
          <a:xfrm>
            <a:off x="1673225" y="1575891"/>
            <a:ext cx="8845550" cy="3239889"/>
          </a:xfrm>
          <a:prstGeom prst="roundRect">
            <a:avLst>
              <a:gd name="adj" fmla="val 3038"/>
            </a:avLst>
          </a:prstGeom>
          <a:solidFill>
            <a:srgbClr val="FFFFFF"/>
          </a:solidFill>
          <a:ln w="6350">
            <a:solidFill>
              <a:srgbClr val="E6E6E6"/>
            </a:solidFill>
            <a:prstDash val="solid"/>
          </a:ln>
        </p:spPr>
        <p:txBody>
          <a:bodyPr/>
          <a:p/>
        </p:txBody>
      </p:sp>
      <p:sp>
        <p:nvSpPr>
          <p:cNvPr id="6" name="Shape 3"/>
          <p:cNvSpPr/>
          <p:nvPr/>
        </p:nvSpPr>
        <p:spPr>
          <a:xfrm>
            <a:off x="2511818" y="1655266"/>
            <a:ext cx="7168364" cy="3081139"/>
          </a:xfrm>
          <a:prstGeom prst="roundRect">
            <a:avLst>
              <a:gd name="adj" fmla="val 1370"/>
            </a:avLst>
          </a:prstGeom>
          <a:solidFill>
            <a:srgbClr val="FFFFFF"/>
          </a:solidFill>
          <a:ln/>
        </p:spPr>
        <p:txBody>
          <a:bodyPr/>
          <a:p/>
        </p:txBody>
      </p:sp>
      <p:pic>
        <p:nvPicPr>
          <p:cNvPr id="7" name="Image 1" descr="Concatenation plus MLP, Coupled Mamba on the codon grid, and IsoFormer-style cross-attention">    </p:cNvPr>
          <p:cNvPicPr>
            <a:picLocks noChangeAspect="1"/>
          </p:cNvPicPr>
          <p:nvPr/>
        </p:nvPicPr>
        <p:blipFill>
          <a:blip r:embed="rId2"/>
          <a:srcRect l="-48" r="-48" t="0" b="0"/>
          <a:stretch/>
        </p:blipFill>
        <p:spPr>
          <a:xfrm>
            <a:off x="2511818" y="1655266"/>
            <a:ext cx="7168364" cy="3081139"/>
          </a:xfrm>
          <a:prstGeom prst="roundRect">
            <a:avLst>
              <a:gd name="adj" fmla="val 1370"/>
            </a:avLst>
          </a:prstGeom>
        </p:spPr>
      </p:pic>
      <p:sp>
        <p:nvSpPr>
          <p:cNvPr id="8" name="Shape 4"/>
          <p:cNvSpPr/>
          <p:nvPr/>
        </p:nvSpPr>
        <p:spPr>
          <a:xfrm>
            <a:off x="815975" y="4949130"/>
            <a:ext cx="3448050" cy="889695"/>
          </a:xfrm>
          <a:prstGeom prst="roundRect">
            <a:avLst>
              <a:gd name="adj" fmla="val 8208"/>
            </a:avLst>
          </a:prstGeom>
          <a:solidFill>
            <a:srgbClr val="FFFFFF"/>
          </a:solidFill>
          <a:ln w="6350">
            <a:solidFill>
              <a:srgbClr val="E6E6E6"/>
            </a:solidFill>
            <a:prstDash val="solid"/>
          </a:ln>
        </p:spPr>
        <p:txBody>
          <a:bodyPr/>
          <a:p/>
        </p:txBody>
      </p:sp>
      <p:sp>
        <p:nvSpPr>
          <p:cNvPr id="9" name="Text 5"/>
          <p:cNvSpPr/>
          <p:nvPr/>
        </p:nvSpPr>
        <p:spPr>
          <a:xfrm>
            <a:off x="946150" y="5053905"/>
            <a:ext cx="3283331" cy="70554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1302E"/>
                </a:solidFill>
                <a:latin typeface="Inter" pitchFamily="34" charset="0"/>
                <a:ea typeface="Inter" pitchFamily="34" charset="-122"/>
                <a:cs typeface="Inter" pitchFamily="34" charset="-120"/>
              </a:rPr>
              <a:t>Positional alignment only where biology gives it:</a:t>
            </a:r>
            <a:r>
              <a:rPr lang="en-US" sz="1200" dirty="0">
                <a:solidFill>
                  <a:srgbClr val="31302E"/>
                </a:solidFill>
                <a:latin typeface="Inter" pitchFamily="34" charset="0"/>
                <a:ea typeface="Inter" pitchFamily="34" charset="-122"/>
                <a:cs typeface="Inter" pitchFamily="34" charset="-120"/>
              </a:rPr>
              <a:t> the codon grid on coding sequence, cross-attention or pooled fusion on GTEx.</a:t>
            </a:r>
            <a:endParaRPr lang="en-US" sz="1200" dirty="0"/>
          </a:p>
        </p:txBody>
      </p:sp>
      <p:sp>
        <p:nvSpPr>
          <p:cNvPr id="10" name="Text 6"/>
          <p:cNvSpPr/>
          <p:nvPr/>
        </p:nvSpPr>
        <p:spPr>
          <a:xfrm>
            <a:off x="4371975" y="4949130"/>
            <a:ext cx="3448050" cy="889695"/>
          </a:xfrm>
          <a:prstGeom prst="roundRect">
            <a:avLst>
              <a:gd name="adj" fmla="val 8208"/>
            </a:avLst>
          </a:prstGeom>
          <a:solidFill>
            <a:srgbClr val="FFFFFF"/>
          </a:solidFill>
          <a:ln w="6350">
            <a:solidFill>
              <a:srgbClr val="E6E6E6"/>
            </a:solidFill>
            <a:prstDash val="solid"/>
          </a:ln>
        </p:spPr>
        <p:txBody>
          <a:bodyPr wrap="square" lIns="108787" tIns="83387" rIns="13156" bIns="57987" rtlCol="0" anchor="t">
            <a:normAutofit/>
          </a:bodyPr>
          <a:lstStyle/>
          <a:p>
            <a:pPr algn="l" indent="0" marL="0">
              <a:lnSpc>
                <a:spcPts val="1680"/>
              </a:lnSpc>
              <a:buNone/>
            </a:pPr>
            <a:r>
              <a:rPr lang="en-US" sz="1200" b="1" dirty="0">
                <a:solidFill>
                  <a:srgbClr val="31302E"/>
                </a:solidFill>
                <a:latin typeface="Inter" pitchFamily="34" charset="0"/>
                <a:ea typeface="Inter" pitchFamily="34" charset="-122"/>
                <a:cs typeface="Inter" pitchFamily="34" charset="-120"/>
              </a:rPr>
              <a:t>No alignment loss by default;</a:t>
            </a:r>
            <a:r>
              <a:rPr lang="en-US" sz="1200" dirty="0">
                <a:solidFill>
                  <a:srgbClr val="31302E"/>
                </a:solidFill>
                <a:latin typeface="Inter" pitchFamily="34" charset="0"/>
                <a:ea typeface="Inter" pitchFamily="34" charset="-122"/>
                <a:cs typeface="Inter" pitchFamily="34" charset="-120"/>
              </a:rPr>
              <a:t> one paired ablation on CaLM and on mRNA-FM with the same protein encoder.</a:t>
            </a:r>
            <a:endParaRPr lang="en-US" sz="1200" dirty="0"/>
          </a:p>
        </p:txBody>
      </p:sp>
      <p:sp>
        <p:nvSpPr>
          <p:cNvPr id="11" name="Shape 7"/>
          <p:cNvSpPr/>
          <p:nvPr/>
        </p:nvSpPr>
        <p:spPr>
          <a:xfrm>
            <a:off x="7927975" y="4949130"/>
            <a:ext cx="3448050" cy="889695"/>
          </a:xfrm>
          <a:prstGeom prst="roundRect">
            <a:avLst>
              <a:gd name="adj" fmla="val 8208"/>
            </a:avLst>
          </a:prstGeom>
          <a:solidFill>
            <a:srgbClr val="FFFFFF"/>
          </a:solidFill>
          <a:ln w="6350">
            <a:solidFill>
              <a:srgbClr val="E6E6E6"/>
            </a:solidFill>
            <a:prstDash val="solid"/>
          </a:ln>
        </p:spPr>
        <p:txBody>
          <a:bodyPr/>
          <a:p/>
        </p:txBody>
      </p:sp>
      <p:sp>
        <p:nvSpPr>
          <p:cNvPr id="12" name="Text 8"/>
          <p:cNvSpPr/>
          <p:nvPr/>
        </p:nvSpPr>
        <p:spPr>
          <a:xfrm>
            <a:off x="8058150" y="5053905"/>
            <a:ext cx="3283331" cy="70554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1302E"/>
                </a:solidFill>
                <a:latin typeface="Inter" pitchFamily="34" charset="0"/>
                <a:ea typeface="Inter" pitchFamily="34" charset="-122"/>
                <a:cs typeface="Inter" pitchFamily="34" charset="-120"/>
              </a:rPr>
              <a:t>After the research plan's baselines, from January:</a:t>
            </a:r>
            <a:r>
              <a:rPr lang="en-US" sz="1200" dirty="0">
                <a:solidFill>
                  <a:srgbClr val="31302E"/>
                </a:solidFill>
                <a:latin typeface="Inter" pitchFamily="34" charset="0"/>
                <a:ea typeface="Inter" pitchFamily="34" charset="-122"/>
                <a:cs typeface="Inter" pitchFamily="34" charset="-120"/>
              </a:rPr>
              <a:t> Coupled Mamba (Gantt 20 to 21), then cross-attention (25), each scored against every baseline.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41871"/>
            <a:ext cx="114300" cy="114300"/>
          </a:xfrm>
          <a:prstGeom prst="rect">
            <a:avLst/>
          </a:prstGeom>
        </p:spPr>
      </p:pic>
      <p:sp>
        <p:nvSpPr>
          <p:cNvPr id="3" name="Text 0"/>
          <p:cNvSpPr/>
          <p:nvPr/>
        </p:nvSpPr>
        <p:spPr>
          <a:xfrm>
            <a:off x="1003300" y="792361"/>
            <a:ext cx="3899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4 · baselines and how a gain is scored</a:t>
            </a:r>
            <a:endParaRPr lang="en-US" sz="1200" dirty="0"/>
          </a:p>
        </p:txBody>
      </p:sp>
      <p:sp>
        <p:nvSpPr>
          <p:cNvPr id="4" name="Text 1"/>
          <p:cNvSpPr/>
          <p:nvPr>
            <p:ph type="title"/>
          </p:nvPr>
        </p:nvSpPr>
        <p:spPr>
          <a:xfrm>
            <a:off x="812800" y="1124942"/>
            <a:ext cx="10883392" cy="656580"/>
          </a:xfrm>
          <a:prstGeom prst="rect">
            <a:avLst/>
          </a:prstGeom>
          <a:noFill/>
          <a:ln/>
        </p:spPr>
        <p:txBody>
          <a:bodyPr wrap="square" lIns="0" tIns="0" rIns="0" bIns="0" rtlCol="0" anchor="t">
            <a:normAutofit/>
          </a:bodyPr>
          <a:lstStyle/>
          <a:p>
            <a:pPr algn="l" indent="0" marL="0">
              <a:lnSpc>
                <a:spcPts val="2478"/>
              </a:lnSpc>
              <a:buNone/>
            </a:pPr>
            <a:r>
              <a:rPr lang="en-US" sz="2338" b="1" i="0" spc="-100" kern="0" dirty="0">
                <a:solidFill>
                  <a:srgbClr val="000000"/>
                </a:solidFill>
                <a:latin typeface="Inter" pitchFamily="34" charset="0"/>
                <a:ea typeface="Inter" pitchFamily="34" charset="-122"/>
                <a:cs typeface="Inter" pitchFamily="34" charset="-120"/>
              </a:rPr>
              <a:t>Five published scores to match, one definition of fusion gain, six baselines every result must clear</a:t>
            </a:r>
            <a:endParaRPr lang="en-US" sz="2338" dirty="0"/>
          </a:p>
        </p:txBody>
      </p:sp>
      <p:sp>
        <p:nvSpPr>
          <p:cNvPr id="5" name="Shape 2"/>
          <p:cNvSpPr/>
          <p:nvPr/>
        </p:nvSpPr>
        <p:spPr>
          <a:xfrm>
            <a:off x="815975" y="1898997"/>
            <a:ext cx="5711627" cy="3939828"/>
          </a:xfrm>
          <a:prstGeom prst="roundRect">
            <a:avLst>
              <a:gd name="adj" fmla="val 2498"/>
            </a:avLst>
          </a:prstGeom>
          <a:solidFill>
            <a:srgbClr val="FFFFFF"/>
          </a:solidFill>
          <a:ln w="6350">
            <a:solidFill>
              <a:srgbClr val="E6E6E6"/>
            </a:solidFill>
            <a:prstDash val="solid"/>
          </a:ln>
        </p:spPr>
        <p:txBody>
          <a:bodyPr/>
          <a:p/>
        </p:txBody>
      </p:sp>
      <p:sp>
        <p:nvSpPr>
          <p:cNvPr id="6" name="Text 3"/>
          <p:cNvSpPr/>
          <p:nvPr/>
        </p:nvSpPr>
        <p:spPr>
          <a:xfrm>
            <a:off x="971550" y="2016472"/>
            <a:ext cx="5562491" cy="194667"/>
          </a:xfrm>
          <a:prstGeom prst="rect">
            <a:avLst/>
          </a:prstGeom>
          <a:noFill/>
          <a:ln/>
        </p:spPr>
        <p:txBody>
          <a:bodyPr wrap="square" lIns="0" tIns="0" rIns="0" bIns="0" rtlCol="0" anchor="t">
            <a:normAutofit/>
          </a:bodyPr>
          <a:lstStyle/>
          <a:p>
            <a:pPr algn="l" indent="0" marL="0">
              <a:lnSpc>
                <a:spcPts val="1370"/>
              </a:lnSpc>
              <a:buNone/>
            </a:pPr>
            <a:r>
              <a:rPr lang="en-US" sz="1142" b="1" spc="-25" kern="0" dirty="0">
                <a:solidFill>
                  <a:srgbClr val="000000"/>
                </a:solidFill>
                <a:latin typeface="Inter" pitchFamily="34" charset="0"/>
                <a:ea typeface="Inter" pitchFamily="34" charset="-122"/>
                <a:cs typeface="Inter" pitchFamily="34" charset="-120"/>
              </a:rPr>
              <a:t>Phase A targets (BioLangFusion, Table 1)</a:t>
            </a:r>
            <a:endParaRPr lang="en-US" sz="1142"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84250" y="2249239"/>
          <a:ext cx="5387777" cy="2992983"/>
        </p:xfrm>
        <a:graphic>
          <a:graphicData uri="http://schemas.openxmlformats.org/drawingml/2006/table">
            <a:tbl>
              <a:tblPr/>
              <a:tblGrid>
                <a:gridCol w="1077555"/>
                <a:gridCol w="1077555"/>
                <a:gridCol w="1077555"/>
                <a:gridCol w="1077555"/>
                <a:gridCol w="1077555"/>
              </a:tblGrid>
              <a:tr h="268139">
                <a:tc>
                  <a:txBody>
                    <a:bodyPr/>
                    <a:lstStyle/>
                    <a:p>
                      <a:pPr indent="0" marL="0">
                        <a:lnSpc>
                          <a:spcPts val="1304"/>
                        </a:lnSpc>
                        <a:buNone/>
                      </a:pPr>
                      <a:r>
                        <a:rPr lang="en-US" sz="932" b="1" dirty="0">
                          <a:solidFill>
                            <a:srgbClr val="615D59"/>
                          </a:solidFill>
                          <a:latin typeface="Inter" pitchFamily="34" charset="0"/>
                          <a:ea typeface="Inter" pitchFamily="34" charset="-122"/>
                          <a:cs typeface="Inter" pitchFamily="34" charset="-120"/>
                        </a:rPr>
                        <a:t>Dataset · metric</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304"/>
                        </a:lnSpc>
                        <a:buNone/>
                      </a:pPr>
                      <a:r>
                        <a:rPr lang="en-US" sz="932" b="1" dirty="0">
                          <a:solidFill>
                            <a:srgbClr val="615D59"/>
                          </a:solidFill>
                          <a:latin typeface="Inter" pitchFamily="34" charset="0"/>
                          <a:ea typeface="Inter" pitchFamily="34" charset="-122"/>
                          <a:cs typeface="Inter" pitchFamily="34" charset="-120"/>
                        </a:rPr>
                        <a:t>NT</a:t>
                      </a:r>
                      <a:endParaRPr lang="en-US" sz="932" dirty="0">
                        <a:latin typeface="Inter" charset="0"/>
                        <a:ea typeface="Inter" charset="0"/>
                        <a:cs typeface="Inter" charset="0"/>
                      </a:endParaRPr>
                    </a:p>
                  </a:txBody>
                  <a:tcPr marL="63500" marR="63500" marT="50800" marB="508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304"/>
                        </a:lnSpc>
                        <a:buNone/>
                      </a:pPr>
                      <a:r>
                        <a:rPr lang="en-US" sz="932" b="1" dirty="0">
                          <a:solidFill>
                            <a:srgbClr val="615D59"/>
                          </a:solidFill>
                          <a:latin typeface="Inter" pitchFamily="34" charset="0"/>
                          <a:ea typeface="Inter" pitchFamily="34" charset="-122"/>
                          <a:cs typeface="Inter" pitchFamily="34" charset="-120"/>
                        </a:rPr>
                        <a:t>RNA-FM</a:t>
                      </a:r>
                      <a:endParaRPr lang="en-US" sz="932" dirty="0">
                        <a:latin typeface="Inter" charset="0"/>
                        <a:ea typeface="Inter" charset="0"/>
                        <a:cs typeface="Inter" charset="0"/>
                      </a:endParaRPr>
                    </a:p>
                  </a:txBody>
                  <a:tcPr marL="63500" marR="63500" marT="50800" marB="508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304"/>
                        </a:lnSpc>
                        <a:buNone/>
                      </a:pPr>
                      <a:r>
                        <a:rPr lang="en-US" sz="932" b="1" dirty="0">
                          <a:solidFill>
                            <a:srgbClr val="615D59"/>
                          </a:solidFill>
                          <a:latin typeface="Inter" pitchFamily="34" charset="0"/>
                          <a:ea typeface="Inter" pitchFamily="34" charset="-122"/>
                          <a:cs typeface="Inter" pitchFamily="34" charset="-120"/>
                        </a:rPr>
                        <a:t>ESM-2 8M</a:t>
                      </a:r>
                      <a:endParaRPr lang="en-US" sz="932" dirty="0">
                        <a:latin typeface="Inter" charset="0"/>
                        <a:ea typeface="Inter" charset="0"/>
                        <a:cs typeface="Inter" charset="0"/>
                      </a:endParaRPr>
                    </a:p>
                  </a:txBody>
                  <a:tcPr marL="63500" marR="63500" marT="50800" marB="508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304"/>
                        </a:lnSpc>
                        <a:buNone/>
                      </a:pPr>
                      <a:r>
                        <a:rPr lang="en-US" sz="932" b="1" dirty="0">
                          <a:solidFill>
                            <a:srgbClr val="615D59"/>
                          </a:solidFill>
                          <a:latin typeface="Inter" pitchFamily="34" charset="0"/>
                          <a:ea typeface="Inter" pitchFamily="34" charset="-122"/>
                          <a:cs typeface="Inter" pitchFamily="34" charset="-120"/>
                        </a:rPr>
                        <a:t>Best fused</a:t>
                      </a:r>
                      <a:endParaRPr lang="en-US" sz="932" dirty="0">
                        <a:latin typeface="Inter" charset="0"/>
                        <a:ea typeface="Inter" charset="0"/>
                        <a:cs typeface="Inter" charset="0"/>
                      </a:endParaRPr>
                    </a:p>
                  </a:txBody>
                  <a:tcPr marL="63500" marR="63500" marT="50800" marB="508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575717">
                <a:tc>
                  <a:txBody>
                    <a:bodyPr/>
                    <a:lstStyle/>
                    <a:p>
                      <a:pPr indent="0" marL="0">
                        <a:lnSpc>
                          <a:spcPts val="1304"/>
                        </a:lnSpc>
                        <a:buNone/>
                      </a:pPr>
                      <a:r>
                        <a:rPr lang="en-US" sz="932" dirty="0">
                          <a:solidFill>
                            <a:srgbClr val="000000"/>
                          </a:solidFill>
                          <a:latin typeface="Inter" pitchFamily="34" charset="0"/>
                          <a:ea typeface="Inter" pitchFamily="34" charset="-122"/>
                          <a:cs typeface="Inter" pitchFamily="34" charset="-120"/>
                        </a:rPr>
                        <a:t>Fungal expression · Spearman</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0.804</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0.767</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0.695</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0.824 MIL</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75717">
                <a:tc>
                  <a:txBody>
                    <a:bodyPr/>
                    <a:lstStyle/>
                    <a:p>
                      <a:pPr indent="0" marL="0">
                        <a:lnSpc>
                          <a:spcPts val="1304"/>
                        </a:lnSpc>
                        <a:buNone/>
                      </a:pPr>
                      <a:r>
                        <a:rPr lang="en-US" sz="932" dirty="0">
                          <a:solidFill>
                            <a:srgbClr val="000000"/>
                          </a:solidFill>
                          <a:latin typeface="Inter" pitchFamily="34" charset="0"/>
                          <a:ea typeface="Inter" pitchFamily="34" charset="-122"/>
                          <a:cs typeface="Inter" pitchFamily="34" charset="-120"/>
                        </a:rPr>
                        <a:t>E. coli expression · accuracy</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41.3</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52.9</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49.0</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53.9 cross-att.</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21928">
                <a:tc>
                  <a:txBody>
                    <a:bodyPr/>
                    <a:lstStyle/>
                    <a:p>
                      <a:pPr indent="0" marL="0">
                        <a:lnSpc>
                          <a:spcPts val="1304"/>
                        </a:lnSpc>
                        <a:buNone/>
                      </a:pPr>
                      <a:r>
                        <a:rPr lang="en-US" sz="932" dirty="0">
                          <a:solidFill>
                            <a:srgbClr val="000000"/>
                          </a:solidFill>
                          <a:latin typeface="Inter" pitchFamily="34" charset="0"/>
                          <a:ea typeface="Inter" pitchFamily="34" charset="-122"/>
                          <a:cs typeface="Inter" pitchFamily="34" charset="-120"/>
                        </a:rPr>
                        <a:t>mRNA stability · Spearman</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0.530</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0.553</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0.539</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0.563 MIL</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75717">
                <a:tc>
                  <a:txBody>
                    <a:bodyPr/>
                    <a:lstStyle/>
                    <a:p>
                      <a:pPr indent="0" marL="0">
                        <a:lnSpc>
                          <a:spcPts val="1304"/>
                        </a:lnSpc>
                        <a:buNone/>
                      </a:pPr>
                      <a:r>
                        <a:rPr lang="en-US" sz="932" dirty="0">
                          <a:solidFill>
                            <a:srgbClr val="000000"/>
                          </a:solidFill>
                          <a:latin typeface="Inter" pitchFamily="34" charset="0"/>
                          <a:ea typeface="Inter" pitchFamily="34" charset="-122"/>
                          <a:cs typeface="Inter" pitchFamily="34" charset="-120"/>
                        </a:rPr>
                        <a:t>Ab1 antibody mRNA · Spearman</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0.732</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0.743</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0.711</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0.765 cross-att.</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75766">
                <a:tc>
                  <a:txBody>
                    <a:bodyPr/>
                    <a:lstStyle/>
                    <a:p>
                      <a:pPr indent="0" marL="0">
                        <a:lnSpc>
                          <a:spcPts val="1304"/>
                        </a:lnSpc>
                        <a:buNone/>
                      </a:pPr>
                      <a:r>
                        <a:rPr lang="en-US" sz="932" dirty="0">
                          <a:solidFill>
                            <a:srgbClr val="000000"/>
                          </a:solidFill>
                          <a:latin typeface="Inter" pitchFamily="34" charset="0"/>
                          <a:ea typeface="Inter" pitchFamily="34" charset="-122"/>
                          <a:cs typeface="Inter" pitchFamily="34" charset="-120"/>
                        </a:rPr>
                        <a:t>CoV-Vac degradation · Spearman</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0.780</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0.841</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0.806</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304"/>
                        </a:lnSpc>
                        <a:buNone/>
                      </a:pPr>
                      <a:r>
                        <a:rPr lang="en-US" sz="932" dirty="0">
                          <a:solidFill>
                            <a:srgbClr val="000000"/>
                          </a:solidFill>
                          <a:latin typeface="Inter" pitchFamily="34" charset="0"/>
                          <a:ea typeface="Inter" pitchFamily="34" charset="-122"/>
                          <a:cs typeface="Inter" pitchFamily="34" charset="-120"/>
                        </a:rPr>
                        <a:t>0.864 MIL</a:t>
                      </a:r>
                      <a:endParaRPr lang="en-US" sz="932" dirty="0">
                        <a:latin typeface="Inter" charset="0"/>
                        <a:ea typeface="Inter" charset="0"/>
                        <a:cs typeface="Inter" charset="0"/>
                      </a:endParaRPr>
                    </a:p>
                  </a:txBody>
                  <a:tcPr marL="63500" marR="63500" marT="50800" marB="508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4"/>
          <p:cNvSpPr/>
          <p:nvPr/>
        </p:nvSpPr>
        <p:spPr>
          <a:xfrm>
            <a:off x="971550" y="5293023"/>
            <a:ext cx="5562491" cy="453727"/>
          </a:xfrm>
          <a:prstGeom prst="rect">
            <a:avLst/>
          </a:prstGeom>
          <a:noFill/>
          <a:ln/>
        </p:spPr>
        <p:txBody>
          <a:bodyPr wrap="square" lIns="0" tIns="0" rIns="0" bIns="0" rtlCol="0" anchor="t">
            <a:normAutofit/>
          </a:bodyPr>
          <a:lstStyle/>
          <a:p>
            <a:pPr algn="l" indent="0" marL="0">
              <a:lnSpc>
                <a:spcPts val="1156"/>
              </a:lnSpc>
              <a:buNone/>
            </a:pPr>
            <a:r>
              <a:rPr lang="en-US" sz="856" dirty="0">
                <a:solidFill>
                  <a:srgbClr val="615D59"/>
                </a:solidFill>
                <a:latin typeface="Inter" pitchFamily="34" charset="0"/>
                <a:ea typeface="Inter" pitchFamily="34" charset="-122"/>
                <a:cs typeface="Inter" pitchFamily="34" charset="-120"/>
              </a:rPr>
              <a:t>Bold: best single encoder. Fusion gains in the paper are 0.010 to 0.023; no variance reported, so we report mean and spread over seeds with paired differences. Our frozen probe on the stability split: 0.364.</a:t>
            </a:r>
            <a:endParaRPr lang="en-US" sz="856" dirty="0"/>
          </a:p>
        </p:txBody>
      </p:sp>
      <p:sp>
        <p:nvSpPr>
          <p:cNvPr id="9" name="Shape 5"/>
          <p:cNvSpPr/>
          <p:nvPr/>
        </p:nvSpPr>
        <p:spPr>
          <a:xfrm>
            <a:off x="6683177" y="1895822"/>
            <a:ext cx="4696023" cy="1654770"/>
          </a:xfrm>
          <a:prstGeom prst="roundRect">
            <a:avLst>
              <a:gd name="adj" fmla="val 6140"/>
            </a:avLst>
          </a:prstGeom>
          <a:solidFill>
            <a:srgbClr val="213183"/>
          </a:solidFill>
          <a:ln/>
        </p:spPr>
        <p:txBody>
          <a:bodyPr/>
          <a:p/>
        </p:txBody>
      </p:sp>
      <p:sp>
        <p:nvSpPr>
          <p:cNvPr id="10" name="Text 6"/>
          <p:cNvSpPr/>
          <p:nvPr/>
        </p:nvSpPr>
        <p:spPr>
          <a:xfrm>
            <a:off x="6860977" y="2035522"/>
            <a:ext cx="4470636" cy="238720"/>
          </a:xfrm>
          <a:prstGeom prst="rect">
            <a:avLst/>
          </a:prstGeom>
          <a:noFill/>
          <a:ln/>
        </p:spPr>
        <p:txBody>
          <a:bodyPr wrap="square" lIns="0" tIns="0" rIns="0" bIns="0" rtlCol="0" anchor="t">
            <a:normAutofit/>
          </a:bodyPr>
          <a:lstStyle/>
          <a:p>
            <a:pPr algn="l" indent="0" marL="0">
              <a:lnSpc>
                <a:spcPts val="1680"/>
              </a:lnSpc>
              <a:buNone/>
            </a:pPr>
            <a:r>
              <a:rPr lang="en-US" sz="1400" b="1" spc="-25" kern="0" dirty="0">
                <a:solidFill>
                  <a:srgbClr val="FFFFFF"/>
                </a:solidFill>
                <a:latin typeface="Inter" pitchFamily="34" charset="0"/>
                <a:ea typeface="Inter" pitchFamily="34" charset="-122"/>
                <a:cs typeface="Inter" pitchFamily="34" charset="-120"/>
              </a:rPr>
              <a:t>The fusion gain, everywhere the same</a:t>
            </a:r>
            <a:endParaRPr lang="en-US" sz="1400" dirty="0"/>
          </a:p>
        </p:txBody>
      </p:sp>
      <p:sp>
        <p:nvSpPr>
          <p:cNvPr id="11" name="Text 7"/>
          <p:cNvSpPr/>
          <p:nvPr/>
        </p:nvSpPr>
        <p:spPr>
          <a:xfrm>
            <a:off x="6860977" y="2299643"/>
            <a:ext cx="4470636" cy="1136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FFFFFF"/>
                </a:solidFill>
                <a:latin typeface="Inter" pitchFamily="34" charset="0"/>
                <a:ea typeface="Inter" pitchFamily="34" charset="-122"/>
                <a:cs typeface="Inter" pitchFamily="34" charset="-120"/>
              </a:rPr>
              <a:t>Δfusion = Perf(fused) minus the best single encoder it fuses, on the same held-out examples, metric, splits, and head, with a confidence interval. Positive means an incremental predictive benefit under that protocol, not independent biological information.</a:t>
            </a:r>
            <a:endParaRPr lang="en-US" sz="1250" dirty="0"/>
          </a:p>
        </p:txBody>
      </p:sp>
      <p:sp>
        <p:nvSpPr>
          <p:cNvPr id="12" name="Shape 8"/>
          <p:cNvSpPr/>
          <p:nvPr/>
        </p:nvSpPr>
        <p:spPr>
          <a:xfrm>
            <a:off x="6686352" y="3642668"/>
            <a:ext cx="4689673" cy="1329531"/>
          </a:xfrm>
          <a:prstGeom prst="roundRect">
            <a:avLst>
              <a:gd name="adj" fmla="val 7403"/>
            </a:avLst>
          </a:prstGeom>
          <a:solidFill>
            <a:srgbClr val="FFFFFF"/>
          </a:solidFill>
          <a:ln w="6350">
            <a:solidFill>
              <a:srgbClr val="E6E6E6"/>
            </a:solidFill>
            <a:prstDash val="solid"/>
          </a:ln>
        </p:spPr>
        <p:txBody>
          <a:bodyPr/>
          <a:p/>
        </p:txBody>
      </p:sp>
      <p:sp>
        <p:nvSpPr>
          <p:cNvPr id="13" name="Text 9"/>
          <p:cNvSpPr/>
          <p:nvPr/>
        </p:nvSpPr>
        <p:spPr>
          <a:xfrm>
            <a:off x="6867327" y="3772843"/>
            <a:ext cx="4457555" cy="238720"/>
          </a:xfrm>
          <a:prstGeom prst="rect">
            <a:avLst/>
          </a:prstGeom>
          <a:noFill/>
          <a:ln/>
        </p:spPr>
        <p:txBody>
          <a:bodyPr wrap="square" lIns="0" tIns="0" rIns="0" bIns="0" rtlCol="0" anchor="t">
            <a:normAutofit/>
          </a:bodyPr>
          <a:lstStyle/>
          <a:p>
            <a:pPr algn="l" indent="0" marL="0">
              <a:lnSpc>
                <a:spcPts val="1680"/>
              </a:lnSpc>
              <a:buNone/>
            </a:pPr>
            <a:r>
              <a:rPr lang="en-US" sz="1400" b="1" spc="-25" kern="0" dirty="0">
                <a:solidFill>
                  <a:srgbClr val="000000"/>
                </a:solidFill>
                <a:latin typeface="Inter" pitchFamily="34" charset="0"/>
                <a:ea typeface="Inter" pitchFamily="34" charset="-122"/>
                <a:cs typeface="Inter" pitchFamily="34" charset="-120"/>
              </a:rPr>
              <a:t>Baselines B0 to B5</a:t>
            </a:r>
            <a:endParaRPr lang="en-US" sz="1400" dirty="0"/>
          </a:p>
        </p:txBody>
      </p:sp>
      <p:sp>
        <p:nvSpPr>
          <p:cNvPr id="14" name="Text 10"/>
          <p:cNvSpPr/>
          <p:nvPr/>
        </p:nvSpPr>
        <p:spPr>
          <a:xfrm>
            <a:off x="6867327" y="4024263"/>
            <a:ext cx="4457555" cy="84316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31302E"/>
                </a:solidFill>
                <a:latin typeface="Inter" pitchFamily="34" charset="0"/>
                <a:ea typeface="Inter" pitchFamily="34" charset="-122"/>
                <a:cs typeface="Inter" pitchFamily="34" charset="-120"/>
              </a:rPr>
              <a:t>Mean predictor · length and composition (GTEx: four length features, R² 0.242) · best single encoder · same-modality ensemble · concatenation + MLP · the reproduced BioLangFusion and IsoFormer, LucaOne, and the published scores.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59482"/>
            <a:ext cx="114300" cy="114300"/>
          </a:xfrm>
          <a:prstGeom prst="rect">
            <a:avLst/>
          </a:prstGeom>
        </p:spPr>
      </p:pic>
      <p:sp>
        <p:nvSpPr>
          <p:cNvPr id="3" name="Text 0"/>
          <p:cNvSpPr/>
          <p:nvPr/>
        </p:nvSpPr>
        <p:spPr>
          <a:xfrm>
            <a:off x="1003300" y="809972"/>
            <a:ext cx="2450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4 · datasets and tests</a:t>
            </a:r>
            <a:endParaRPr lang="en-US" sz="1200" dirty="0"/>
          </a:p>
        </p:txBody>
      </p:sp>
      <p:sp>
        <p:nvSpPr>
          <p:cNvPr id="4" name="Text 1"/>
          <p:cNvSpPr/>
          <p:nvPr>
            <p:ph type="title"/>
          </p:nvPr>
        </p:nvSpPr>
        <p:spPr>
          <a:xfrm>
            <a:off x="812800" y="1134765"/>
            <a:ext cx="10883392" cy="785465"/>
          </a:xfrm>
          <a:prstGeom prst="rect">
            <a:avLst/>
          </a:prstGeom>
          <a:noFill/>
          <a:ln/>
        </p:spPr>
        <p:txBody>
          <a:bodyPr wrap="square" lIns="0" tIns="0" rIns="0" bIns="0" rtlCol="0" anchor="t">
            <a:normAutofit/>
          </a:bodyPr>
          <a:lstStyle/>
          <a:p>
            <a:pPr algn="l" indent="0" marL="0">
              <a:lnSpc>
                <a:spcPts val="3007"/>
              </a:lnSpc>
              <a:buNone/>
            </a:pPr>
            <a:r>
              <a:rPr lang="en-US" sz="2837" b="1" i="0" spc="-100" kern="0" dirty="0">
                <a:solidFill>
                  <a:srgbClr val="000000"/>
                </a:solidFill>
                <a:latin typeface="Inter" pitchFamily="34" charset="0"/>
                <a:ea typeface="Inter" pitchFamily="34" charset="-122"/>
                <a:cs typeface="Inter" pitchFamily="34" charset="-120"/>
              </a:rPr>
              <a:t>Each dataset isolates one question; the research plan adds five and marks its priorities</a:t>
            </a:r>
            <a:endParaRPr lang="en-US" sz="2837" dirty="0"/>
          </a:p>
        </p:txBody>
      </p:sp>
      <p:sp>
        <p:nvSpPr>
          <p:cNvPr id="5" name="Shape 2"/>
          <p:cNvSpPr/>
          <p:nvPr/>
        </p:nvSpPr>
        <p:spPr>
          <a:xfrm>
            <a:off x="815975" y="2012305"/>
            <a:ext cx="5518150" cy="3930650"/>
          </a:xfrm>
          <a:prstGeom prst="roundRect">
            <a:avLst>
              <a:gd name="adj" fmla="val 2504"/>
            </a:avLst>
          </a:prstGeom>
          <a:solidFill>
            <a:srgbClr val="FFFFFF"/>
          </a:solidFill>
          <a:ln w="6350">
            <a:solidFill>
              <a:srgbClr val="E6E6E6"/>
            </a:solidFill>
            <a:prstDash val="solid"/>
          </a:ln>
        </p:spPr>
        <p:txBody>
          <a:bodyPr/>
          <a:p/>
        </p:txBody>
      </p:sp>
      <p:sp>
        <p:nvSpPr>
          <p:cNvPr id="6" name="Shape 3"/>
          <p:cNvSpPr/>
          <p:nvPr/>
        </p:nvSpPr>
        <p:spPr>
          <a:xfrm>
            <a:off x="908050" y="2104380"/>
            <a:ext cx="5334000" cy="3746500"/>
          </a:xfrm>
          <a:prstGeom prst="roundRect">
            <a:avLst>
              <a:gd name="adj" fmla="val 1356"/>
            </a:avLst>
          </a:prstGeom>
          <a:solidFill>
            <a:srgbClr val="FFFFFF"/>
          </a:solidFill>
          <a:ln/>
        </p:spPr>
        <p:txBody>
          <a:bodyPr/>
          <a:p/>
        </p:txBody>
      </p:sp>
      <p:pic>
        <p:nvPicPr>
          <p:cNvPr id="7" name="Image 1" descr="Candidate datasets, the regions and molecules each provides, and each one's priority in the plan">    </p:cNvPr>
          <p:cNvPicPr>
            <a:picLocks noChangeAspect="1"/>
          </p:cNvPicPr>
          <p:nvPr/>
        </p:nvPicPr>
        <p:blipFill>
          <a:blip r:embed="rId2"/>
          <a:stretch>
            <a:fillRect/>
          </a:stretch>
        </p:blipFill>
        <p:spPr>
          <a:xfrm>
            <a:off x="1108999" y="2104380"/>
            <a:ext cx="4932101" cy="3746500"/>
          </a:xfrm>
          <a:prstGeom prst="rect">
            <a:avLst/>
          </a:prstGeom>
        </p:spPr>
      </p:pic>
      <p:sp>
        <p:nvSpPr>
          <p:cNvPr id="8" name="Text 4"/>
          <p:cNvSpPr/>
          <p:nvPr/>
        </p:nvSpPr>
        <p:spPr>
          <a:xfrm>
            <a:off x="6518275" y="2012305"/>
            <a:ext cx="4857750" cy="763290"/>
          </a:xfrm>
          <a:prstGeom prst="roundRect">
            <a:avLst>
              <a:gd name="adj" fmla="val 9567"/>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87"/>
              </a:lnSpc>
              <a:buNone/>
            </a:pPr>
            <a:r>
              <a:rPr lang="en-US" sz="1150" b="1" dirty="0">
                <a:solidFill>
                  <a:srgbClr val="31302E"/>
                </a:solidFill>
                <a:latin typeface="Inter" pitchFamily="34" charset="0"/>
                <a:ea typeface="Inter" pitchFamily="34" charset="-122"/>
                <a:cs typeface="Inter" pitchFamily="34" charset="-120"/>
              </a:rPr>
              <a:t>Same coding sequence to every encoder.</a:t>
            </a:r>
            <a:r>
              <a:rPr lang="en-US" sz="1150" dirty="0">
                <a:solidFill>
                  <a:srgbClr val="31302E"/>
                </a:solidFill>
                <a:latin typeface="Inter" pitchFamily="34" charset="0"/>
                <a:ea typeface="Inter" pitchFamily="34" charset="-122"/>
                <a:cs typeface="Inter" pitchFamily="34" charset="-120"/>
              </a:rPr>
              <a:t> Codon against amino-acid tokens; Ab1 and CoV-Vac added so the BioLangFusion reproduction covers all five benchmarks.</a:t>
            </a:r>
            <a:endParaRPr lang="en-US" sz="1150" dirty="0"/>
          </a:p>
        </p:txBody>
      </p:sp>
      <p:sp>
        <p:nvSpPr>
          <p:cNvPr id="9" name="Text 5"/>
          <p:cNvSpPr/>
          <p:nvPr/>
        </p:nvSpPr>
        <p:spPr>
          <a:xfrm>
            <a:off x="6518275" y="2858145"/>
            <a:ext cx="4857750" cy="964803"/>
          </a:xfrm>
          <a:prstGeom prst="roundRect">
            <a:avLst>
              <a:gd name="adj" fmla="val 7569"/>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87"/>
              </a:lnSpc>
              <a:buNone/>
            </a:pPr>
            <a:r>
              <a:rPr lang="en-US" sz="1150" b="1" dirty="0">
                <a:solidFill>
                  <a:srgbClr val="31302E"/>
                </a:solidFill>
                <a:latin typeface="Inter" pitchFamily="34" charset="0"/>
                <a:ea typeface="Inter" pitchFamily="34" charset="-122"/>
                <a:cs typeface="Inter" pitchFamily="34" charset="-120"/>
              </a:rPr>
              <a:t>Distinct molecules and full transcripts.</a:t>
            </a:r>
            <a:r>
              <a:rPr lang="en-US" sz="1150" dirty="0">
                <a:solidFill>
                  <a:srgbClr val="31302E"/>
                </a:solidFill>
                <a:latin typeface="Inter" pitchFamily="34" charset="0"/>
                <a:ea typeface="Inter" pitchFamily="34" charset="-122"/>
                <a:cs typeface="Inter" pitchFamily="34" charset="-120"/>
              </a:rPr>
              <a:t> UTRs the codon encoders cannot read; CDS only against plus 3' UTR against the full transcript, plus protein. The mRNABench splits add gates on regions, labels, and grouped splits.</a:t>
            </a:r>
            <a:endParaRPr lang="en-US" sz="1150" dirty="0"/>
          </a:p>
        </p:txBody>
      </p:sp>
      <p:sp>
        <p:nvSpPr>
          <p:cNvPr id="10" name="Text 6"/>
          <p:cNvSpPr/>
          <p:nvPr/>
        </p:nvSpPr>
        <p:spPr>
          <a:xfrm>
            <a:off x="6518275" y="3905498"/>
            <a:ext cx="4857750" cy="763290"/>
          </a:xfrm>
          <a:prstGeom prst="roundRect">
            <a:avLst>
              <a:gd name="adj" fmla="val 9567"/>
            </a:avLst>
          </a:prstGeom>
          <a:solidFill>
            <a:srgbClr val="FFFFFF"/>
          </a:solidFill>
          <a:ln w="6350">
            <a:solidFill>
              <a:srgbClr val="E6E6E6"/>
            </a:solidFill>
            <a:prstDash val="solid"/>
          </a:ln>
        </p:spPr>
        <p:txBody>
          <a:bodyPr wrap="square" lIns="83387" tIns="57987" rIns="0" bIns="32587" rtlCol="0" anchor="t">
            <a:normAutofit/>
          </a:bodyPr>
          <a:lstStyle/>
          <a:p>
            <a:pPr algn="l" indent="0" marL="0">
              <a:lnSpc>
                <a:spcPts val="1587"/>
              </a:lnSpc>
              <a:buNone/>
            </a:pPr>
            <a:r>
              <a:rPr lang="en-US" sz="1150" b="1" dirty="0">
                <a:solidFill>
                  <a:srgbClr val="31302E"/>
                </a:solidFill>
                <a:latin typeface="Inter" pitchFamily="34" charset="0"/>
                <a:ea typeface="Inter" pitchFamily="34" charset="-122"/>
                <a:cs typeface="Inter" pitchFamily="34" charset="-120"/>
              </a:rPr>
              <a:t>Labels kept distinct.</a:t>
            </a:r>
            <a:r>
              <a:rPr lang="en-US" sz="1150" dirty="0">
                <a:solidFill>
                  <a:srgbClr val="31302E"/>
                </a:solidFill>
                <a:latin typeface="Inter" pitchFamily="34" charset="0"/>
                <a:ea typeface="Inter" pitchFamily="34" charset="-122"/>
                <a:cs typeface="Inter" pitchFamily="34" charset="-120"/>
              </a:rPr>
              <a:t> Half-life (Saluki, LBKWK), translation efficiency (TE human, mouse), and ribosome load (Sugimoto, LBKWK MRL) each on their own split and metric.</a:t>
            </a:r>
            <a:endParaRPr lang="en-US" sz="1150" dirty="0"/>
          </a:p>
        </p:txBody>
      </p:sp>
      <p:sp>
        <p:nvSpPr>
          <p:cNvPr id="11" name="Text 7"/>
          <p:cNvSpPr/>
          <p:nvPr/>
        </p:nvSpPr>
        <p:spPr>
          <a:xfrm>
            <a:off x="6515100" y="4748163"/>
            <a:ext cx="5010023" cy="831453"/>
          </a:xfrm>
          <a:prstGeom prst="rect">
            <a:avLst/>
          </a:prstGeom>
          <a:noFill/>
          <a:ln/>
        </p:spPr>
        <p:txBody>
          <a:bodyPr wrap="square" lIns="0" tIns="0" rIns="0" bIns="0" rtlCol="0" anchor="t">
            <a:normAutofit/>
          </a:bodyPr>
          <a:lstStyle/>
          <a:p>
            <a:pPr algn="l" indent="0" marL="0">
              <a:lnSpc>
                <a:spcPts val="1587"/>
              </a:lnSpc>
              <a:buNone/>
            </a:pPr>
            <a:r>
              <a:rPr lang="en-US" sz="1150" b="1" dirty="0">
                <a:solidFill>
                  <a:srgbClr val="31302E"/>
                </a:solidFill>
                <a:latin typeface="Inter" pitchFamily="34" charset="0"/>
                <a:ea typeface="Inter" pitchFamily="34" charset="-122"/>
                <a:cs typeface="Inter" pitchFamily="34" charset="-120"/>
              </a:rPr>
              <a:t>From the October papers:</a:t>
            </a:r>
            <a:r>
              <a:rPr lang="en-US" sz="1150" dirty="0">
                <a:solidFill>
                  <a:srgbClr val="31302E"/>
                </a:solidFill>
                <a:latin typeface="Inter" pitchFamily="34" charset="0"/>
                <a:ea typeface="Inter" pitchFamily="34" charset="-122"/>
                <a:cs typeface="Inter" pitchFamily="34" charset="-120"/>
              </a:rPr>
              <a:t> COMET's multi-molecule tasks (RNA-protein, enhancer-promoter, CRISPR off-target) already report LucaOne and pairs of single-omics models, so "which encoder with which for which task" has published reference points there.</a:t>
            </a:r>
            <a:endParaRPr lang="en-US" sz="1150" dirty="0"/>
          </a:p>
        </p:txBody>
      </p:sp>
      <p:sp>
        <p:nvSpPr>
          <p:cNvPr id="12" name="Text 8"/>
          <p:cNvSpPr/>
          <p:nvPr/>
        </p:nvSpPr>
        <p:spPr>
          <a:xfrm>
            <a:off x="812800" y="6060480"/>
            <a:ext cx="10883392" cy="41652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615D59"/>
                </a:solidFill>
                <a:latin typeface="Inter" pitchFamily="34" charset="0"/>
                <a:ea typeface="Inter" pitchFamily="34" charset="-122"/>
                <a:cs typeface="Inter" pitchFamily="34" charset="-120"/>
              </a:rPr>
              <a:t>Reference points: Saluki r 0.77 with codon and exon-junction tracks; RiboNN 5' UTR about 22%, CDS about 73%, 3' UTR about 5%; LucaOne's 1,280-token limit truncates most stability coding sequences and the whole GTEx window.</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2310"/>
            <a:ext cx="114300" cy="114300"/>
          </a:xfrm>
          <a:prstGeom prst="rect">
            <a:avLst/>
          </a:prstGeom>
        </p:spPr>
      </p:pic>
      <p:sp>
        <p:nvSpPr>
          <p:cNvPr id="3" name="Text 0"/>
          <p:cNvSpPr/>
          <p:nvPr/>
        </p:nvSpPr>
        <p:spPr>
          <a:xfrm>
            <a:off x="1003300" y="812800"/>
            <a:ext cx="498895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 4 · item 7 · multi-teacher distillation, to think about</a:t>
            </a:r>
            <a:endParaRPr lang="en-US" sz="1200" dirty="0"/>
          </a:p>
        </p:txBody>
      </p:sp>
      <p:sp>
        <p:nvSpPr>
          <p:cNvPr id="4" name="Text 1"/>
          <p:cNvSpPr/>
          <p:nvPr>
            <p:ph type="title"/>
          </p:nvPr>
        </p:nvSpPr>
        <p:spPr>
          <a:xfrm>
            <a:off x="812800" y="1165820"/>
            <a:ext cx="10883392" cy="806152"/>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Compact students that copy their teachers' similarity structure, then fused: what Stage 1 already says</a:t>
            </a:r>
            <a:endParaRPr lang="en-US" sz="2900" dirty="0"/>
          </a:p>
        </p:txBody>
      </p:sp>
      <p:sp>
        <p:nvSpPr>
          <p:cNvPr id="5" name="Shape 2"/>
          <p:cNvSpPr/>
          <p:nvPr/>
        </p:nvSpPr>
        <p:spPr>
          <a:xfrm>
            <a:off x="815975" y="2089448"/>
            <a:ext cx="5194300" cy="3508673"/>
          </a:xfrm>
          <a:prstGeom prst="roundRect">
            <a:avLst>
              <a:gd name="adj" fmla="val 2805"/>
            </a:avLst>
          </a:prstGeom>
          <a:solidFill>
            <a:srgbClr val="FFFFFF"/>
          </a:solidFill>
          <a:ln w="6350">
            <a:solidFill>
              <a:srgbClr val="E6E6E6"/>
            </a:solidFill>
            <a:prstDash val="solid"/>
          </a:ln>
        </p:spPr>
        <p:txBody>
          <a:bodyPr/>
          <a:p/>
        </p:txBody>
      </p:sp>
      <p:sp>
        <p:nvSpPr>
          <p:cNvPr id="6" name="Text 3"/>
          <p:cNvSpPr/>
          <p:nvPr/>
        </p:nvSpPr>
        <p:spPr>
          <a:xfrm>
            <a:off x="984250" y="2232323"/>
            <a:ext cx="5003483" cy="238720"/>
          </a:xfrm>
          <a:prstGeom prst="rect">
            <a:avLst/>
          </a:prstGeom>
          <a:noFill/>
          <a:ln/>
        </p:spPr>
        <p:txBody>
          <a:bodyPr wrap="square" lIns="0" tIns="0" rIns="0" bIns="0" rtlCol="0" anchor="t">
            <a:normAutofit/>
          </a:bodyPr>
          <a:lstStyle/>
          <a:p>
            <a:pPr algn="l" indent="0" marL="0">
              <a:lnSpc>
                <a:spcPts val="1680"/>
              </a:lnSpc>
              <a:buNone/>
            </a:pPr>
            <a:r>
              <a:rPr lang="en-US" sz="1400" b="1" spc="-25" kern="0" dirty="0">
                <a:solidFill>
                  <a:srgbClr val="000000"/>
                </a:solidFill>
                <a:latin typeface="Inter" pitchFamily="34" charset="0"/>
                <a:ea typeface="Inter" pitchFamily="34" charset="-122"/>
                <a:cs typeface="Inter" pitchFamily="34" charset="-120"/>
              </a:rPr>
              <a:t>The idea</a:t>
            </a:r>
            <a:endParaRPr lang="en-US" sz="1400" dirty="0"/>
          </a:p>
        </p:txBody>
      </p:sp>
      <p:sp>
        <p:nvSpPr>
          <p:cNvPr id="7" name="Text 4"/>
          <p:cNvSpPr/>
          <p:nvPr/>
        </p:nvSpPr>
        <p:spPr>
          <a:xfrm>
            <a:off x="984250" y="2521843"/>
            <a:ext cx="1436191" cy="288280"/>
          </a:xfrm>
          <a:custGeom>
            <a:avLst/>
            <a:gdLst/>
            <a:ahLst/>
            <a:cxnLst/>
            <a:rect l="l" t="t" r="r" b="b"/>
            <a:pathLst>
              <a:path w="1436191" h="288280">
                <a:moveTo>
                  <a:pt x="63500" y="0"/>
                </a:moveTo>
                <a:lnTo>
                  <a:pt x="1372691" y="0"/>
                </a:lnTo>
                <a:arcTo hR="63500" wR="63500" stAng="16200000" swAng="5400000"/>
                <a:lnTo>
                  <a:pt x="1436191" y="224780"/>
                </a:lnTo>
                <a:arcTo hR="63500" wR="63500" stAng="0" swAng="5400000"/>
                <a:lnTo>
                  <a:pt x="63500" y="288280"/>
                </a:lnTo>
                <a:arcTo hR="63500" wR="63500" stAng="5400000" swAng="5400000"/>
                <a:lnTo>
                  <a:pt x="0" y="63500"/>
                </a:lnTo>
                <a:arcTo hR="63500" wR="63500" stAng="10800000" swAng="5400000"/>
                <a:close/>
              </a:path>
            </a:pathLst>
          </a:custGeom>
          <a:solidFill>
            <a:srgbClr val="1BAF7A"/>
          </a:solidFill>
          <a:ln/>
        </p:spPr>
        <p:txBody>
          <a:bodyPr wrap="square" lIns="38100" tIns="50800" rIns="38100" bIns="25400" rtlCol="0" anchor="t">
            <a:normAutofit/>
          </a:bodyPr>
          <a:lstStyle/>
          <a:p>
            <a:pPr algn="ctr" indent="0" marL="0">
              <a:lnSpc>
                <a:spcPts val="1470"/>
              </a:lnSpc>
              <a:buNone/>
            </a:pPr>
            <a:r>
              <a:rPr lang="en-US" sz="1050" b="1" dirty="0">
                <a:solidFill>
                  <a:srgbClr val="FFFFFF"/>
                </a:solidFill>
                <a:latin typeface="Inter" pitchFamily="34" charset="0"/>
                <a:ea typeface="Inter" pitchFamily="34" charset="-122"/>
                <a:cs typeface="Inter" pitchFamily="34" charset="-120"/>
              </a:rPr>
              <a:t>RNA teacher 1</a:t>
            </a:r>
            <a:endParaRPr lang="en-US" sz="1050" dirty="0"/>
          </a:p>
        </p:txBody>
      </p:sp>
      <p:sp>
        <p:nvSpPr>
          <p:cNvPr id="8" name="Text 5"/>
          <p:cNvSpPr/>
          <p:nvPr/>
        </p:nvSpPr>
        <p:spPr>
          <a:xfrm>
            <a:off x="984250" y="2848223"/>
            <a:ext cx="1436191" cy="288280"/>
          </a:xfrm>
          <a:custGeom>
            <a:avLst/>
            <a:gdLst/>
            <a:ahLst/>
            <a:cxnLst/>
            <a:rect l="l" t="t" r="r" b="b"/>
            <a:pathLst>
              <a:path w="1436191" h="288280">
                <a:moveTo>
                  <a:pt x="63500" y="0"/>
                </a:moveTo>
                <a:lnTo>
                  <a:pt x="1372691" y="0"/>
                </a:lnTo>
                <a:arcTo hR="63500" wR="63500" stAng="16200000" swAng="5400000"/>
                <a:lnTo>
                  <a:pt x="1436191" y="224780"/>
                </a:lnTo>
                <a:arcTo hR="63500" wR="63500" stAng="0" swAng="5400000"/>
                <a:lnTo>
                  <a:pt x="63500" y="288280"/>
                </a:lnTo>
                <a:arcTo hR="63500" wR="63500" stAng="5400000" swAng="5400000"/>
                <a:lnTo>
                  <a:pt x="0" y="63500"/>
                </a:lnTo>
                <a:arcTo hR="63500" wR="63500" stAng="10800000" swAng="5400000"/>
                <a:close/>
              </a:path>
            </a:pathLst>
          </a:custGeom>
          <a:solidFill>
            <a:srgbClr val="1BAF7A"/>
          </a:solidFill>
          <a:ln/>
        </p:spPr>
        <p:txBody>
          <a:bodyPr wrap="square" lIns="38100" tIns="50800" rIns="38100" bIns="25400" rtlCol="0" anchor="t">
            <a:normAutofit/>
          </a:bodyPr>
          <a:lstStyle/>
          <a:p>
            <a:pPr algn="ctr" indent="0" marL="0">
              <a:lnSpc>
                <a:spcPts val="1470"/>
              </a:lnSpc>
              <a:buNone/>
            </a:pPr>
            <a:r>
              <a:rPr lang="en-US" sz="1050" b="1" dirty="0">
                <a:solidFill>
                  <a:srgbClr val="FFFFFF"/>
                </a:solidFill>
                <a:latin typeface="Inter" pitchFamily="34" charset="0"/>
                <a:ea typeface="Inter" pitchFamily="34" charset="-122"/>
                <a:cs typeface="Inter" pitchFamily="34" charset="-120"/>
              </a:rPr>
              <a:t>RNA teacher 2</a:t>
            </a:r>
            <a:endParaRPr lang="en-US" sz="1050" dirty="0"/>
          </a:p>
        </p:txBody>
      </p:sp>
      <p:sp>
        <p:nvSpPr>
          <p:cNvPr id="9" name="Text 6"/>
          <p:cNvSpPr/>
          <p:nvPr/>
        </p:nvSpPr>
        <p:spPr>
          <a:xfrm>
            <a:off x="984250" y="3174603"/>
            <a:ext cx="1436191" cy="288280"/>
          </a:xfrm>
          <a:custGeom>
            <a:avLst/>
            <a:gdLst/>
            <a:ahLst/>
            <a:cxnLst/>
            <a:rect l="l" t="t" r="r" b="b"/>
            <a:pathLst>
              <a:path w="1436191" h="288280">
                <a:moveTo>
                  <a:pt x="63500" y="0"/>
                </a:moveTo>
                <a:lnTo>
                  <a:pt x="1372691" y="0"/>
                </a:lnTo>
                <a:arcTo hR="63500" wR="63500" stAng="16200000" swAng="5400000"/>
                <a:lnTo>
                  <a:pt x="1436191" y="224780"/>
                </a:lnTo>
                <a:arcTo hR="63500" wR="63500" stAng="0" swAng="5400000"/>
                <a:lnTo>
                  <a:pt x="63500" y="288280"/>
                </a:lnTo>
                <a:arcTo hR="63500" wR="63500" stAng="5400000" swAng="5400000"/>
                <a:lnTo>
                  <a:pt x="0" y="63500"/>
                </a:lnTo>
                <a:arcTo hR="63500" wR="63500" stAng="10800000" swAng="5400000"/>
                <a:close/>
              </a:path>
            </a:pathLst>
          </a:custGeom>
          <a:solidFill>
            <a:srgbClr val="1BAF7A"/>
          </a:solidFill>
          <a:ln/>
        </p:spPr>
        <p:txBody>
          <a:bodyPr wrap="square" lIns="38100" tIns="50800" rIns="38100" bIns="25400" rtlCol="0" anchor="t">
            <a:normAutofit/>
          </a:bodyPr>
          <a:lstStyle/>
          <a:p>
            <a:pPr algn="ctr" indent="0" marL="0">
              <a:lnSpc>
                <a:spcPts val="1470"/>
              </a:lnSpc>
              <a:buNone/>
            </a:pPr>
            <a:r>
              <a:rPr lang="en-US" sz="1050" b="1" dirty="0">
                <a:solidFill>
                  <a:srgbClr val="FFFFFF"/>
                </a:solidFill>
                <a:latin typeface="Inter" pitchFamily="34" charset="0"/>
                <a:ea typeface="Inter" pitchFamily="34" charset="-122"/>
                <a:cs typeface="Inter" pitchFamily="34" charset="-120"/>
              </a:rPr>
              <a:t>... teacher K</a:t>
            </a:r>
            <a:endParaRPr lang="en-US" sz="1050" dirty="0"/>
          </a:p>
        </p:txBody>
      </p:sp>
      <p:sp>
        <p:nvSpPr>
          <p:cNvPr id="10" name="Text 7"/>
          <p:cNvSpPr/>
          <p:nvPr/>
        </p:nvSpPr>
        <p:spPr>
          <a:xfrm>
            <a:off x="2483941" y="2858988"/>
            <a:ext cx="24130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15D59"/>
                </a:solidFill>
                <a:latin typeface="Inter" pitchFamily="34" charset="0"/>
                <a:ea typeface="Inter" pitchFamily="34" charset="-122"/>
                <a:cs typeface="Inter" pitchFamily="34" charset="-120"/>
              </a:rPr>
              <a:t>→</a:t>
            </a:r>
            <a:endParaRPr lang="en-US" sz="1500" dirty="0"/>
          </a:p>
        </p:txBody>
      </p:sp>
      <p:sp>
        <p:nvSpPr>
          <p:cNvPr id="11" name="Text 8"/>
          <p:cNvSpPr/>
          <p:nvPr/>
        </p:nvSpPr>
        <p:spPr>
          <a:xfrm>
            <a:off x="2741116" y="2658368"/>
            <a:ext cx="1429891" cy="667990"/>
          </a:xfrm>
          <a:custGeom>
            <a:avLst/>
            <a:gdLst/>
            <a:ahLst/>
            <a:cxnLst/>
            <a:rect l="l" t="t" r="r" b="b"/>
            <a:pathLst>
              <a:path w="1429891" h="667990">
                <a:moveTo>
                  <a:pt x="60325" y="0"/>
                </a:moveTo>
                <a:lnTo>
                  <a:pt x="1369566" y="0"/>
                </a:lnTo>
                <a:arcTo hR="60325" wR="60325" stAng="16200000" swAng="5400000"/>
                <a:lnTo>
                  <a:pt x="1429891" y="607665"/>
                </a:lnTo>
                <a:arcTo hR="60325" wR="60325" stAng="0" swAng="5400000"/>
                <a:lnTo>
                  <a:pt x="60325" y="667990"/>
                </a:lnTo>
                <a:arcTo hR="60325" wR="60325" stAng="5400000" swAng="5400000"/>
                <a:lnTo>
                  <a:pt x="0" y="60325"/>
                </a:lnTo>
                <a:arcTo hR="60325" wR="60325" stAng="10800000" swAng="5400000"/>
                <a:close/>
              </a:path>
            </a:pathLst>
          </a:custGeom>
          <a:solidFill>
            <a:srgbClr val="F6F5F4"/>
          </a:solidFill>
          <a:ln w="6350">
            <a:solidFill>
              <a:srgbClr val="E6E6E6"/>
            </a:solidFill>
            <a:prstDash val="solid"/>
          </a:ln>
        </p:spPr>
        <p:txBody>
          <a:bodyPr wrap="square" lIns="41275" tIns="53975" rIns="41275" bIns="28575" rtlCol="0" anchor="t">
            <a:normAutofit/>
          </a:bodyPr>
          <a:lstStyle/>
          <a:p>
            <a:pPr algn="ctr" indent="0" marL="0">
              <a:lnSpc>
                <a:spcPts val="1470"/>
              </a:lnSpc>
              <a:buNone/>
            </a:pPr>
            <a:r>
              <a:rPr lang="en-US" sz="1050" dirty="0">
                <a:solidFill>
                  <a:srgbClr val="31302E"/>
                </a:solidFill>
                <a:latin typeface="Inter" pitchFamily="34" charset="0"/>
                <a:ea typeface="Inter" pitchFamily="34" charset="-122"/>
                <a:cs typeface="Inter" pitchFamily="34" charset="-120"/>
              </a:rPr>
              <a:t>B × B cosine similarity matrix per teacher</a:t>
            </a:r>
            <a:endParaRPr lang="en-US" sz="1050" dirty="0"/>
          </a:p>
        </p:txBody>
      </p:sp>
      <p:sp>
        <p:nvSpPr>
          <p:cNvPr id="12" name="Text 9"/>
          <p:cNvSpPr/>
          <p:nvPr/>
        </p:nvSpPr>
        <p:spPr>
          <a:xfrm>
            <a:off x="4237682" y="2858988"/>
            <a:ext cx="15537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15D59"/>
                </a:solidFill>
                <a:latin typeface="Inter" pitchFamily="34" charset="0"/>
                <a:ea typeface="Inter" pitchFamily="34" charset="-122"/>
                <a:cs typeface="Inter" pitchFamily="34" charset="-120"/>
              </a:rPr>
              <a:t>≈</a:t>
            </a:r>
            <a:endParaRPr lang="en-US" sz="1500" dirty="0"/>
          </a:p>
        </p:txBody>
      </p:sp>
      <p:sp>
        <p:nvSpPr>
          <p:cNvPr id="13" name="Text 10"/>
          <p:cNvSpPr/>
          <p:nvPr/>
        </p:nvSpPr>
        <p:spPr>
          <a:xfrm>
            <a:off x="4408934" y="2658368"/>
            <a:ext cx="1429891" cy="667990"/>
          </a:xfrm>
          <a:custGeom>
            <a:avLst/>
            <a:gdLst/>
            <a:ahLst/>
            <a:cxnLst/>
            <a:rect l="l" t="t" r="r" b="b"/>
            <a:pathLst>
              <a:path w="1429891" h="667990">
                <a:moveTo>
                  <a:pt x="60325" y="0"/>
                </a:moveTo>
                <a:lnTo>
                  <a:pt x="1369566" y="0"/>
                </a:lnTo>
                <a:arcTo hR="60325" wR="60325" stAng="16200000" swAng="5400000"/>
                <a:lnTo>
                  <a:pt x="1429891" y="607665"/>
                </a:lnTo>
                <a:arcTo hR="60325" wR="60325" stAng="0" swAng="5400000"/>
                <a:lnTo>
                  <a:pt x="60325" y="667990"/>
                </a:lnTo>
                <a:arcTo hR="60325" wR="60325" stAng="5400000" swAng="5400000"/>
                <a:lnTo>
                  <a:pt x="0" y="60325"/>
                </a:lnTo>
                <a:arcTo hR="60325" wR="60325" stAng="10800000" swAng="5400000"/>
                <a:close/>
              </a:path>
            </a:pathLst>
          </a:custGeom>
          <a:solidFill>
            <a:srgbClr val="F6F5F4"/>
          </a:solidFill>
          <a:ln w="6350">
            <a:solidFill>
              <a:srgbClr val="E6E6E6"/>
            </a:solidFill>
            <a:prstDash val="solid"/>
          </a:ln>
        </p:spPr>
        <p:txBody>
          <a:bodyPr wrap="square" lIns="41275" tIns="53975" rIns="41275" bIns="28575" rtlCol="0" anchor="t">
            <a:normAutofit/>
          </a:bodyPr>
          <a:lstStyle/>
          <a:p>
            <a:pPr algn="ctr" indent="0" marL="0">
              <a:lnSpc>
                <a:spcPts val="1470"/>
              </a:lnSpc>
              <a:buNone/>
            </a:pPr>
            <a:r>
              <a:rPr lang="en-US" sz="1050" dirty="0">
                <a:solidFill>
                  <a:srgbClr val="31302E"/>
                </a:solidFill>
                <a:latin typeface="Inter" pitchFamily="34" charset="0"/>
                <a:ea typeface="Inter" pitchFamily="34" charset="-122"/>
                <a:cs typeface="Inter" pitchFamily="34" charset="-120"/>
              </a:rPr>
              <a:t>student + one projection per teacher</a:t>
            </a:r>
            <a:endParaRPr lang="en-US" sz="1050" dirty="0"/>
          </a:p>
        </p:txBody>
      </p:sp>
      <p:sp>
        <p:nvSpPr>
          <p:cNvPr id="14" name="Text 11"/>
          <p:cNvSpPr/>
          <p:nvPr/>
        </p:nvSpPr>
        <p:spPr>
          <a:xfrm>
            <a:off x="984250" y="3539083"/>
            <a:ext cx="5003483" cy="104760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31302E"/>
                </a:solidFill>
                <a:latin typeface="Inter" pitchFamily="34" charset="0"/>
                <a:ea typeface="Inter" pitchFamily="34" charset="-122"/>
                <a:cs typeface="Inter" pitchFamily="34" charset="-120"/>
              </a:rPr>
              <a:t>One student per modality (six DNA, five RNA, four protein teachers). Loss: mean squared difference between the teacher's and the projected student's off-diagonal similarities, averaged over teachers with equal weights. Teachers frozen; relational distillation (Park 2019) with teacher-specific heads.</a:t>
            </a:r>
            <a:endParaRPr lang="en-US" sz="1150" dirty="0"/>
          </a:p>
        </p:txBody>
      </p:sp>
      <p:sp>
        <p:nvSpPr>
          <p:cNvPr id="15" name="Text 12"/>
          <p:cNvSpPr/>
          <p:nvPr/>
        </p:nvSpPr>
        <p:spPr>
          <a:xfrm>
            <a:off x="984250" y="4637484"/>
            <a:ext cx="5003483" cy="84316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31302E"/>
                </a:solidFill>
                <a:latin typeface="Inter" pitchFamily="34" charset="0"/>
                <a:ea typeface="Inter" pitchFamily="34" charset="-122"/>
                <a:cs typeface="Inter" pitchFamily="34" charset="-120"/>
              </a:rPr>
              <a:t>Then freeze the students, concatenate, train a task head. Report Δstudent (over the best student) and Δteacher (against full teacher fusion), with parameters, memory, and inference cost. Neither is a training loss.</a:t>
            </a:r>
            <a:endParaRPr lang="en-US" sz="1150" dirty="0"/>
          </a:p>
        </p:txBody>
      </p:sp>
      <p:sp>
        <p:nvSpPr>
          <p:cNvPr id="16" name="Shape 13"/>
          <p:cNvSpPr/>
          <p:nvPr/>
        </p:nvSpPr>
        <p:spPr>
          <a:xfrm>
            <a:off x="6165850" y="2086273"/>
            <a:ext cx="5213350" cy="3515023"/>
          </a:xfrm>
          <a:prstGeom prst="roundRect">
            <a:avLst>
              <a:gd name="adj" fmla="val 2890"/>
            </a:avLst>
          </a:prstGeom>
          <a:solidFill>
            <a:srgbClr val="213183"/>
          </a:solidFill>
          <a:ln/>
        </p:spPr>
        <p:txBody>
          <a:bodyPr/>
          <a:p/>
        </p:txBody>
      </p:sp>
      <p:sp>
        <p:nvSpPr>
          <p:cNvPr id="17" name="Text 14"/>
          <p:cNvSpPr/>
          <p:nvPr/>
        </p:nvSpPr>
        <p:spPr>
          <a:xfrm>
            <a:off x="6343650" y="2225973"/>
            <a:ext cx="5003483" cy="238720"/>
          </a:xfrm>
          <a:prstGeom prst="rect">
            <a:avLst/>
          </a:prstGeom>
          <a:noFill/>
          <a:ln/>
        </p:spPr>
        <p:txBody>
          <a:bodyPr wrap="square" lIns="0" tIns="0" rIns="0" bIns="0" rtlCol="0" anchor="t">
            <a:normAutofit/>
          </a:bodyPr>
          <a:lstStyle/>
          <a:p>
            <a:pPr algn="l" indent="0" marL="0">
              <a:lnSpc>
                <a:spcPts val="1680"/>
              </a:lnSpc>
              <a:buNone/>
            </a:pPr>
            <a:r>
              <a:rPr lang="en-US" sz="1400" b="1" spc="-25" kern="0" dirty="0">
                <a:solidFill>
                  <a:srgbClr val="FFFFFF"/>
                </a:solidFill>
                <a:latin typeface="Inter" pitchFamily="34" charset="0"/>
                <a:ea typeface="Inter" pitchFamily="34" charset="-122"/>
                <a:cs typeface="Inter" pitchFamily="34" charset="-120"/>
              </a:rPr>
              <a:t>What Track B and Track A say</a:t>
            </a:r>
            <a:endParaRPr lang="en-US" sz="1400" dirty="0"/>
          </a:p>
        </p:txBody>
      </p:sp>
      <p:sp>
        <p:nvSpPr>
          <p:cNvPr id="18" name="Text 15"/>
          <p:cNvSpPr/>
          <p:nvPr/>
        </p:nvSpPr>
        <p:spPr>
          <a:xfrm>
            <a:off x="6343650" y="2515493"/>
            <a:ext cx="5003483" cy="1305322"/>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The loss distills exactly what we measured.</a:t>
            </a:r>
            <a:r>
              <a:rPr lang="en-US" sz="1200" dirty="0">
                <a:solidFill>
                  <a:srgbClr val="FFFFFF"/>
                </a:solidFill>
                <a:latin typeface="Inter" pitchFamily="34" charset="0"/>
                <a:ea typeface="Inter" pitchFamily="34" charset="-122"/>
                <a:cs typeface="Inter" pitchFamily="34" charset="-120"/>
              </a:rPr>
              <a:t> A teacher's similarity matrix is its RSA structure; for every pair with a DNA encoder, 52% to 90% of that structure is letter, codon, and amino-acid composition. A DNA student trained on raw similarities would mostly learn counts, so we report the composition-controlled target beside the plan's raw one.</a:t>
            </a:r>
            <a:endParaRPr lang="en-US" sz="1200" dirty="0"/>
          </a:p>
        </p:txBody>
      </p:sp>
      <p:sp>
        <p:nvSpPr>
          <p:cNvPr id="19" name="Text 16"/>
          <p:cNvSpPr/>
          <p:nvPr/>
        </p:nvSpPr>
        <p:spPr>
          <a:xfrm>
            <a:off x="6343650" y="3871615"/>
            <a:ext cx="5003483"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Teachers are not all distinct.</a:t>
            </a:r>
            <a:r>
              <a:rPr lang="en-US" sz="1200" dirty="0">
                <a:solidFill>
                  <a:srgbClr val="FFFFFF"/>
                </a:solidFill>
                <a:latin typeface="Inter" pitchFamily="34" charset="0"/>
                <a:ea typeface="Inter" pitchFamily="34" charset="-122"/>
                <a:cs typeface="Inter" pitchFamily="34" charset="-120"/>
              </a:rPr>
              <a:t> RNA-FM and RiNALMo agree at CKA 0.81; the ESM-2 family is near-redundant. Equal weights count it twice; the plan's uniform baseline shows how much.</a:t>
            </a:r>
            <a:endParaRPr lang="en-US" sz="1200" dirty="0"/>
          </a:p>
        </p:txBody>
      </p:sp>
      <p:sp>
        <p:nvSpPr>
          <p:cNvPr id="20" name="Text 17"/>
          <p:cNvSpPr/>
          <p:nvPr/>
        </p:nvSpPr>
        <p:spPr>
          <a:xfrm>
            <a:off x="6343650" y="4587776"/>
            <a:ext cx="5003483"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Sequence-level loses the codon signal.</a:t>
            </a:r>
            <a:r>
              <a:rPr lang="en-US" sz="1200" dirty="0">
                <a:solidFill>
                  <a:srgbClr val="FFFFFF"/>
                </a:solidFill>
                <a:latin typeface="Inter" pitchFamily="34" charset="0"/>
                <a:ea typeface="Inter" pitchFamily="34" charset="-122"/>
                <a:cs typeface="Inter" pitchFamily="34" charset="-120"/>
              </a:rPr>
              <a:t> The codon encoders' contribution lives in local detail (GC3 at R² 0.90 to 0.99 against 0.38 to 0.44 for protein encoders); a token-level term, only where justified, would keep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4"/>
        </a:solidFill>
      </p:bgPr>
    </p:bg>
    <p:spTree>
      <p:nvGrpSpPr>
        <p:cNvPr id="1" name=""/>
        <p:cNvGrpSpPr/>
        <p:nvPr/>
      </p:nvGrpSpPr>
      <p:grpSpPr>
        <a:xfrm>
          <a:off x="0" y="0"/>
          <a:ext cx="0" cy="0"/>
          <a:chOff x="0" y="0"/>
          <a:chExt cx="0" cy="0"/>
        </a:xfrm>
      </p:grpSpPr>
      <p:pic>
        <p:nvPicPr>
          <p:cNvPr id="2" name="Image 0" descr="ellipse">    </p:cNvPr>
          <p:cNvPicPr>
            <a:picLocks noChangeAspect="1"/>
          </p:cNvPicPr>
          <p:nvPr/>
        </p:nvPicPr>
        <p:blipFill>
          <a:blip r:embed="rId1"/>
          <a:srcRect l="0" r="0" t="0" b="0"/>
          <a:stretch/>
        </p:blipFill>
        <p:spPr>
          <a:xfrm>
            <a:off x="812800" y="860772"/>
            <a:ext cx="114300" cy="114300"/>
          </a:xfrm>
          <a:prstGeom prst="rect">
            <a:avLst/>
          </a:prstGeom>
        </p:spPr>
      </p:pic>
      <p:sp>
        <p:nvSpPr>
          <p:cNvPr id="3" name="Text 0"/>
          <p:cNvSpPr/>
          <p:nvPr/>
        </p:nvSpPr>
        <p:spPr>
          <a:xfrm>
            <a:off x="1003300" y="811262"/>
            <a:ext cx="395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15D59"/>
                </a:solidFill>
                <a:latin typeface="Inter" pitchFamily="34" charset="0"/>
                <a:ea typeface="Inter" pitchFamily="34" charset="-122"/>
                <a:cs typeface="Inter" pitchFamily="34" charset="-120"/>
              </a:rPr>
              <a:t>Stages 3 and 4 · order of work and questions</a:t>
            </a:r>
            <a:endParaRPr lang="en-US" sz="1200" dirty="0"/>
          </a:p>
        </p:txBody>
      </p:sp>
      <p:sp>
        <p:nvSpPr>
          <p:cNvPr id="4" name="Text 1"/>
          <p:cNvSpPr/>
          <p:nvPr>
            <p:ph type="title"/>
          </p:nvPr>
        </p:nvSpPr>
        <p:spPr>
          <a:xfrm>
            <a:off x="812800" y="1200845"/>
            <a:ext cx="10883392" cy="410121"/>
          </a:xfrm>
          <a:prstGeom prst="rect">
            <a:avLst/>
          </a:prstGeom>
          <a:noFill/>
          <a:ln/>
        </p:spPr>
        <p:txBody>
          <a:bodyPr wrap="square" lIns="0" tIns="0" rIns="0" bIns="0" rtlCol="0" anchor="t">
            <a:normAutofit/>
          </a:bodyPr>
          <a:lstStyle/>
          <a:p>
            <a:pPr algn="l" indent="0" marL="0">
              <a:lnSpc>
                <a:spcPts val="3074"/>
              </a:lnSpc>
              <a:buNone/>
            </a:pPr>
            <a:r>
              <a:rPr lang="en-US" sz="2900" b="1" i="0" spc="-100" kern="0" dirty="0">
                <a:solidFill>
                  <a:srgbClr val="000000"/>
                </a:solidFill>
                <a:latin typeface="Inter" pitchFamily="34" charset="0"/>
                <a:ea typeface="Inter" pitchFamily="34" charset="-122"/>
                <a:cs typeface="Inter" pitchFamily="34" charset="-120"/>
              </a:rPr>
              <a:t>What we build first, and what we need from you</a:t>
            </a:r>
            <a:endParaRPr lang="en-US" sz="2900" dirty="0"/>
          </a:p>
        </p:txBody>
      </p:sp>
      <p:sp>
        <p:nvSpPr>
          <p:cNvPr id="5" name="Shape 2"/>
          <p:cNvSpPr/>
          <p:nvPr/>
        </p:nvSpPr>
        <p:spPr>
          <a:xfrm>
            <a:off x="815975" y="1766540"/>
            <a:ext cx="5194300" cy="4072285"/>
          </a:xfrm>
          <a:prstGeom prst="roundRect">
            <a:avLst>
              <a:gd name="adj" fmla="val 2417"/>
            </a:avLst>
          </a:prstGeom>
          <a:solidFill>
            <a:srgbClr val="FFFFFF"/>
          </a:solidFill>
          <a:ln w="6350">
            <a:solidFill>
              <a:srgbClr val="E6E6E6"/>
            </a:solidFill>
            <a:prstDash val="solid"/>
          </a:ln>
        </p:spPr>
        <p:txBody>
          <a:bodyPr/>
          <a:p/>
        </p:txBody>
      </p:sp>
      <p:sp>
        <p:nvSpPr>
          <p:cNvPr id="6" name="Text 3"/>
          <p:cNvSpPr/>
          <p:nvPr/>
        </p:nvSpPr>
        <p:spPr>
          <a:xfrm>
            <a:off x="1047750" y="1960215"/>
            <a:ext cx="4872673" cy="254000"/>
          </a:xfrm>
          <a:prstGeom prst="rect">
            <a:avLst/>
          </a:prstGeom>
          <a:noFill/>
          <a:ln/>
        </p:spPr>
        <p:txBody>
          <a:bodyPr wrap="square" lIns="0" tIns="0" rIns="0" bIns="0" rtlCol="0" anchor="t">
            <a:normAutofit/>
          </a:bodyPr>
          <a:lstStyle/>
          <a:p>
            <a:pPr algn="l" indent="0" marL="0">
              <a:lnSpc>
                <a:spcPts val="1800"/>
              </a:lnSpc>
              <a:buNone/>
            </a:pPr>
            <a:r>
              <a:rPr lang="en-US" sz="1500" b="1" spc="-25" kern="0" dirty="0">
                <a:solidFill>
                  <a:srgbClr val="000000"/>
                </a:solidFill>
                <a:latin typeface="Inter" pitchFamily="34" charset="0"/>
                <a:ea typeface="Inter" pitchFamily="34" charset="-122"/>
                <a:cs typeface="Inter" pitchFamily="34" charset="-120"/>
              </a:rPr>
              <a:t>Her plan first, then our designs</a:t>
            </a:r>
            <a:endParaRPr lang="en-US" sz="1500" dirty="0"/>
          </a:p>
        </p:txBody>
      </p:sp>
      <p:sp>
        <p:nvSpPr>
          <p:cNvPr id="7" name="Text 4"/>
          <p:cNvSpPr/>
          <p:nvPr/>
        </p:nvSpPr>
        <p:spPr>
          <a:xfrm>
            <a:off x="1113532" y="2265015"/>
            <a:ext cx="4799270" cy="3017838"/>
          </a:xfrm>
          <a:prstGeom prst="rect">
            <a:avLst/>
          </a:prstGeom>
          <a:noFill/>
          <a:ln/>
        </p:spPr>
        <p:txBody>
          <a:bodyPr wrap="square" lIns="0" tIns="0" rIns="0" bIns="0" rtlCol="0" anchor="t">
            <a:normAutofit/>
          </a:bodyPr>
          <a:lstStyle/>
          <a:p>
            <a:pPr algn="l" marL="188218" indent="-188218">
              <a:lnSpc>
                <a:spcPts val="1813"/>
              </a:lnSpc>
              <a:buSzPct val="100000"/>
              <a:buFontTx/>
              <a:buAutoNum type="arabicPeriod" startAt="1"/>
            </a:pPr>
            <a:r>
              <a:rPr lang="en-US" sz="1250" dirty="0">
                <a:solidFill>
                  <a:srgbClr val="31302E"/>
                </a:solidFill>
                <a:latin typeface="Inter" pitchFamily="34" charset="0"/>
                <a:ea typeface="Inter" pitchFamily="34" charset="-122"/>
                <a:cs typeface="Inter" pitchFamily="34" charset="-120"/>
              </a:rPr>
              <a:t>Harden baselines (Gantt 16) and reproduce BioLangFusion on all five published datasets, deviations recorded (17, widened); mRFP in the controls, in parallel (18)</a:t>
            </a:r>
            <a:endParaRPr lang="en-US" sz="1250" dirty="0"/>
          </a:p>
          <a:p>
            <a:pPr algn="l" marL="188218" indent="-188218">
              <a:lnSpc>
                <a:spcPts val="1813"/>
              </a:lnSpc>
              <a:buSzPct val="100000"/>
              <a:buFontTx/>
              <a:buAutoNum type="arabicPeriod" startAt="1"/>
            </a:pPr>
            <a:r>
              <a:rPr lang="en-US" sz="1250" dirty="0">
                <a:solidFill>
                  <a:srgbClr val="31302E"/>
                </a:solidFill>
                <a:latin typeface="Inter" pitchFamily="34" charset="0"/>
                <a:ea typeface="Inter" pitchFamily="34" charset="-122"/>
                <a:cs typeface="Inter" pitchFamily="34" charset="-120"/>
              </a:rPr>
              <a:t>Encoder swaps right after the reproduction (24, now planned), then LucaOne (41) and IsoFormer on GTEx (44)</a:t>
            </a:r>
            <a:endParaRPr lang="en-US" sz="1250" dirty="0"/>
          </a:p>
          <a:p>
            <a:pPr algn="l" marL="188218" indent="-188218">
              <a:lnSpc>
                <a:spcPts val="1813"/>
              </a:lnSpc>
              <a:buSzPct val="100000"/>
              <a:buFontTx/>
              <a:buAutoNum type="arabicPeriod" startAt="1"/>
            </a:pPr>
            <a:r>
              <a:rPr lang="en-US" sz="1250" dirty="0">
                <a:solidFill>
                  <a:srgbClr val="31302E"/>
                </a:solidFill>
                <a:latin typeface="Inter" pitchFamily="34" charset="0"/>
                <a:ea typeface="Inter" pitchFamily="34" charset="-122"/>
                <a:cs typeface="Inter" pitchFamily="34" charset="-120"/>
              </a:rPr>
              <a:t>Half-life and translation efficiency after the gates (42, by December 20); repeated runs (28); synthesis (29)</a:t>
            </a:r>
            <a:endParaRPr lang="en-US" sz="1250" dirty="0"/>
          </a:p>
          <a:p>
            <a:pPr algn="l" marL="188218" indent="-188218">
              <a:lnSpc>
                <a:spcPts val="1813"/>
              </a:lnSpc>
              <a:buSzPct val="100000"/>
              <a:buFontTx/>
              <a:buAutoNum type="arabicPeriod" startAt="1"/>
            </a:pPr>
            <a:r>
              <a:rPr lang="en-US" sz="1250" dirty="0">
                <a:solidFill>
                  <a:srgbClr val="31302E"/>
                </a:solidFill>
                <a:latin typeface="Inter" pitchFamily="34" charset="0"/>
                <a:ea typeface="Inter" pitchFamily="34" charset="-122"/>
                <a:cs typeface="Inter" pitchFamily="34" charset="-120"/>
              </a:rPr>
              <a:t>From January: Coupled Mamba (20, 21), then cross-attention (25), against every baseline; the alignment-loss ablation (23)</a:t>
            </a:r>
            <a:endParaRPr lang="en-US" sz="1250" dirty="0"/>
          </a:p>
          <a:p>
            <a:pPr algn="l" marL="188218" indent="-188218">
              <a:lnSpc>
                <a:spcPts val="1813"/>
              </a:lnSpc>
              <a:buSzPct val="100000"/>
              <a:buFontTx/>
              <a:buAutoNum type="arabicPeriod" startAt="1"/>
            </a:pPr>
            <a:r>
              <a:rPr lang="en-US" sz="1250" dirty="0">
                <a:solidFill>
                  <a:srgbClr val="31302E"/>
                </a:solidFill>
                <a:latin typeface="Inter" pitchFamily="34" charset="0"/>
                <a:ea typeface="Inter" pitchFamily="34" charset="-122"/>
                <a:cs typeface="Inter" pitchFamily="34" charset="-120"/>
              </a:rPr>
              <a:t>March, conditional: structure (38) and distillation (43)</a:t>
            </a:r>
            <a:endParaRPr lang="en-US" sz="1250" dirty="0"/>
          </a:p>
        </p:txBody>
      </p:sp>
      <p:sp>
        <p:nvSpPr>
          <p:cNvPr id="8" name="Shape 5"/>
          <p:cNvSpPr/>
          <p:nvPr/>
        </p:nvSpPr>
        <p:spPr>
          <a:xfrm>
            <a:off x="6191250" y="1763365"/>
            <a:ext cx="5187950" cy="4078635"/>
          </a:xfrm>
          <a:prstGeom prst="roundRect">
            <a:avLst>
              <a:gd name="adj" fmla="val 2491"/>
            </a:avLst>
          </a:prstGeom>
          <a:solidFill>
            <a:srgbClr val="213183"/>
          </a:solidFill>
          <a:ln/>
        </p:spPr>
        <p:txBody>
          <a:bodyPr/>
          <a:p/>
        </p:txBody>
      </p:sp>
      <p:sp>
        <p:nvSpPr>
          <p:cNvPr id="9" name="Text 6"/>
          <p:cNvSpPr/>
          <p:nvPr/>
        </p:nvSpPr>
        <p:spPr>
          <a:xfrm>
            <a:off x="6419850" y="1953865"/>
            <a:ext cx="4872673" cy="250279"/>
          </a:xfrm>
          <a:prstGeom prst="rect">
            <a:avLst/>
          </a:prstGeom>
          <a:noFill/>
          <a:ln/>
        </p:spPr>
        <p:txBody>
          <a:bodyPr wrap="square" lIns="0" tIns="0" rIns="0" bIns="0" rtlCol="0" anchor="t">
            <a:normAutofit/>
          </a:bodyPr>
          <a:lstStyle/>
          <a:p>
            <a:pPr algn="l" indent="0" marL="0">
              <a:lnSpc>
                <a:spcPts val="1772"/>
              </a:lnSpc>
              <a:buNone/>
            </a:pPr>
            <a:r>
              <a:rPr lang="en-US" sz="1477" b="1" spc="-25" kern="0" dirty="0">
                <a:solidFill>
                  <a:srgbClr val="FFFFFF"/>
                </a:solidFill>
                <a:latin typeface="Inter" pitchFamily="34" charset="0"/>
                <a:ea typeface="Inter" pitchFamily="34" charset="-122"/>
                <a:cs typeface="Inter" pitchFamily="34" charset="-120"/>
              </a:rPr>
              <a:t>Questions for Mina</a:t>
            </a:r>
            <a:endParaRPr lang="en-US" sz="1477" dirty="0"/>
          </a:p>
        </p:txBody>
      </p:sp>
      <p:sp>
        <p:nvSpPr>
          <p:cNvPr id="10" name="Text 7"/>
          <p:cNvSpPr/>
          <p:nvPr/>
        </p:nvSpPr>
        <p:spPr>
          <a:xfrm>
            <a:off x="6486823" y="2254945"/>
            <a:ext cx="4798080" cy="3421955"/>
          </a:xfrm>
          <a:prstGeom prst="rect">
            <a:avLst/>
          </a:prstGeom>
          <a:noFill/>
          <a:ln/>
        </p:spPr>
        <p:txBody>
          <a:bodyPr wrap="square" lIns="0" tIns="0" rIns="0" bIns="0" rtlCol="0" anchor="t">
            <a:normAutofit/>
          </a:bodyPr>
          <a:lstStyle/>
          <a:p>
            <a:pPr algn="l" marL="187027" indent="-187027">
              <a:lnSpc>
                <a:spcPts val="1801"/>
              </a:lnSpc>
              <a:buSzPct val="100000"/>
              <a:buFontTx/>
              <a:buAutoNum type="arabicPeriod" startAt="1"/>
            </a:pPr>
            <a:r>
              <a:rPr lang="en-US" sz="1242" dirty="0">
                <a:solidFill>
                  <a:srgbClr val="FFFFFF"/>
                </a:solidFill>
                <a:latin typeface="Inter" pitchFamily="34" charset="0"/>
                <a:ea typeface="Inter" pitchFamily="34" charset="-122"/>
                <a:cs typeface="Inter" pitchFamily="34" charset="-120"/>
              </a:rPr>
              <a:t>Is "agreement on what the central dogma shares, beyond composition" the representational-alignment framing for the paper, with the codon grid named as a token-location step?</a:t>
            </a:r>
            <a:endParaRPr lang="en-US" sz="1242" dirty="0"/>
          </a:p>
          <a:p>
            <a:pPr algn="l" marL="187027" indent="-187027">
              <a:lnSpc>
                <a:spcPts val="1801"/>
              </a:lnSpc>
              <a:buSzPct val="100000"/>
              <a:buFontTx/>
              <a:buAutoNum type="arabicPeriod" startAt="1"/>
            </a:pPr>
            <a:r>
              <a:rPr lang="en-US" sz="1242" dirty="0">
                <a:solidFill>
                  <a:srgbClr val="FFFFFF"/>
                </a:solidFill>
                <a:latin typeface="Inter" pitchFamily="34" charset="0"/>
                <a:ea typeface="Inter" pitchFamily="34" charset="-122"/>
                <a:cs typeface="Inter" pitchFamily="34" charset="-120"/>
              </a:rPr>
              <a:t>No official BioLangFusion code: is a reimplementation with documented deviations (TextCNN sizes, projections, seeds) acceptable as the faithful baseline?</a:t>
            </a:r>
            <a:endParaRPr lang="en-US" sz="1242" dirty="0"/>
          </a:p>
          <a:p>
            <a:pPr algn="l" marL="187027" indent="-187027">
              <a:lnSpc>
                <a:spcPts val="1801"/>
              </a:lnSpc>
              <a:buSzPct val="100000"/>
              <a:buFontTx/>
              <a:buAutoNum type="arabicPeriod" startAt="1"/>
            </a:pPr>
            <a:r>
              <a:rPr lang="en-US" sz="1242" dirty="0">
                <a:solidFill>
                  <a:srgbClr val="FFFFFF"/>
                </a:solidFill>
                <a:latin typeface="Inter" pitchFamily="34" charset="0"/>
                <a:ea typeface="Inter" pitchFamily="34" charset="-122"/>
                <a:cs typeface="Inter" pitchFamily="34" charset="-120"/>
              </a:rPr>
              <a:t>Your list first: the reproduction (17), the swaps (24), LucaOne and IsoFormer (41, 44), half-life and translation efficiency (42) by December 20; our designs from January. Does that order work?</a:t>
            </a:r>
            <a:endParaRPr lang="en-US" sz="1242" dirty="0"/>
          </a:p>
          <a:p>
            <a:pPr algn="l" marL="187027" indent="-187027">
              <a:lnSpc>
                <a:spcPts val="1801"/>
              </a:lnSpc>
              <a:buSzPct val="100000"/>
              <a:buFontTx/>
              <a:buAutoNum type="arabicPeriod" startAt="1"/>
            </a:pPr>
            <a:r>
              <a:rPr lang="en-US" sz="1242" dirty="0">
                <a:solidFill>
                  <a:srgbClr val="FFFFFF"/>
                </a:solidFill>
                <a:latin typeface="Inter" pitchFamily="34" charset="0"/>
                <a:ea typeface="Inter" pitchFamily="34" charset="-122"/>
                <a:cs typeface="Inter" pitchFamily="34" charset="-120"/>
              </a:rPr>
              <a:t>LucaOne's 1,280-token limit: run truncated inputs with truncation reported, or restrict to sequences that fit?</a:t>
            </a:r>
            <a:endParaRPr lang="en-US" sz="1242" dirty="0"/>
          </a:p>
          <a:p>
            <a:pPr algn="l" marL="187027" indent="-187027">
              <a:lnSpc>
                <a:spcPts val="1801"/>
              </a:lnSpc>
              <a:buSzPct val="100000"/>
              <a:buFontTx/>
              <a:buAutoNum type="arabicPeriod" startAt="1"/>
            </a:pPr>
            <a:r>
              <a:rPr lang="en-US" sz="1242" dirty="0">
                <a:solidFill>
                  <a:srgbClr val="FFFFFF"/>
                </a:solidFill>
                <a:latin typeface="Inter" pitchFamily="34" charset="0"/>
                <a:ea typeface="Inter" pitchFamily="34" charset="-122"/>
                <a:cs typeface="Inter" pitchFamily="34" charset="-120"/>
              </a:rPr>
              <a:t>Distillation: which two DNA encoders and which RNA encoder join our twelve to make the 6, 5, and 4 teachers?</a:t>
            </a:r>
            <a:endParaRPr lang="en-US" sz="1242" dirty="0"/>
          </a:p>
        </p:txBody>
      </p:sp>
    </p:spTree>
  </p:cSld>
  <p:clrMapOvr>
    <a:masterClrMapping/>
  </p:clrMapOvr>
</p:sld>
</file>

<file path=ppt/theme/theme1.xml><?xml version="1.0" encoding="utf-8"?>
<a:theme xmlns:a="http://schemas.openxmlformats.org/drawingml/2006/main" name="Mina meeting, October 20: findings, alignment in biology, experimental plan">
  <a:themeElements>
    <a:clrScheme name="Mina meeting, October 20: findings, alignment in biology, experimental plan">
      <a:dk1>
        <a:srgbClr val="000000"/>
      </a:dk1>
      <a:lt1>
        <a:srgbClr val="F6F5F4"/>
      </a:lt1>
      <a:dk2>
        <a:srgbClr val="3E3D3D"/>
      </a:dk2>
      <a:lt2>
        <a:srgbClr val="DDDDDC"/>
      </a:lt2>
      <a:accent1>
        <a:srgbClr val="213183"/>
      </a:accent1>
      <a:accent2>
        <a:srgbClr val="1BAF7A"/>
      </a:accent2>
      <a:accent3>
        <a:srgbClr val="615D59"/>
      </a:accent3>
      <a:accent4>
        <a:srgbClr val="31302E"/>
      </a:accent4>
      <a:accent5>
        <a:srgbClr val="9AA0A6"/>
      </a:accent5>
      <a:accent6>
        <a:srgbClr val="626262"/>
      </a:accent6>
      <a:hlink>
        <a:srgbClr val="0563C1"/>
      </a:hlink>
      <a:folHlink>
        <a:srgbClr val="954F72"/>
      </a:folHlink>
    </a:clrScheme>
    <a:fontScheme name="Mina meeting, October 20: findings, alignment in biology, experimental plan">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Mina meeting, October 20: findings, alignment in biology, experimental plan</dc:title>
  <dc:subject/>
  <dc:creator/>
  <cp:lastModifiedBy/>
  <cp:revision>1</cp:revision>
  <dcterms:created xsi:type="dcterms:W3CDTF">2026-10-15T19:10:21Z</dcterms:created>
  <dcterms:modified xsi:type="dcterms:W3CDTF">2026-10-15T19:10:21Z</dcterms:modified>
</cp:coreProperties>
</file>