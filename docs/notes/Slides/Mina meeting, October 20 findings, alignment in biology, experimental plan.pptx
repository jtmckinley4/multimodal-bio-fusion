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Mina has the Overleaf, so this deck does not walk through every result. It covers the four findings that shape the project, what we think alignment should mean for DNA, RNA, and protein, and the experimental design in the order the research plan sets: reproduce BioLangFusion, change encoders, LucaOne, full transcripts, and the distillation idea to think about. About twenty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Four encoders per modality, chosen to vary tokenizer, training corpus, and model family. Two datasets with opposite designs: on the mRNA stability benchmark every encoder reads one coding sequence, so differences between encoders are differences between models, not between molecules; on IsoFormer's GTEx data the DNA window, the transcript, and the protein are physically different molecules. Three tracks: what a linear probe can read, how the embedding spaces relate, and diagnostics. Everything else today is built on those twelve encoders and two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the whole project on one slide, because every later slide is a step in this chain. Stage 1 asked what each frozen encoder carries and how the twelve spaces relate; its four findings force Stage 2, a biology-specific definition of alignment, because the usual ML meaning would mislead. Stage 2's decision, no alignment loss and a grid only on coding sequence, forces Stage 3's designs: architectures that let modalities interact without forcing similarity, scored against the published system reproduced exactly. Stage 4 tests whether fusion helps, for which task, and whether Stage 1 could have told us in advance. Mina's research plan and the October papers are placed in this chain rather than beside it: the reproduction and LucaOne are the baselines in Stage 3, the encoder swaps and the new tasks are Stage 4, and Fusion or Confusion gives the evaluation rules on every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protein encoders and the two codon-level RNA encoders, mRNA-FM and CaLM, carry the most linearly readable stability signal, about 11 to 14 percent of the variance. That result does not depend on one model: two codon encoders from different groups land in the protein range. The second number is the one I want to highlight for alignment later: when we probe for GC3, the GC fraction at the third codon position, the protein encoders lose 0.26 to 0.30 of R squared while the nucleotide encoders lose almost nothing. Translation erases synonymous codon choice, and that is information the nucleotide side has that the protein side cannot. Remember the ceiling: repeated sequences carry labels that differ by about 0.49, so no sequence-only model can go above about 0.59 on this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66 encoder pairs agrees above chance, and every pair shares a strong low-dimensional subspace. But when we regress 87 composition features out of each embedding and recompute agreement, every pair involving a DNA encoder loses 52 to 90 percent of its CKA. That agreement was letter counts, which any model could learn. Three groups keep their agreement: the ESM-2 models with each other, RNA-FM with RiNALMo, and CaLM with the protein encoders. Those are two models of one molecule, and a codon encoder with the protein encoders, which share the coding sequence and its translation by construction. That is the first hint that alignment in biology should be defined on what the central dogma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decides the Stage 2 question. On the x axis, alignment after the composition control; on the y axis, how much a pair gains when concatenated over its better member. On the stability data there is no usable relation: mRNA-FM, which agrees with almost nothing, gains with every protein encoder, and so does CaLM, the most aligned cross-modal encoder. On GTEx the relation is negative: the pairs that gain most are the least aligned. And at the level of individual sequences, how well a gene's two embeddings line up has no relation to how well it is predicted, for any of the 66 pairs. That is exactly the regime the alignment-theory paper describes, where task-relevant information is unique to one modality and alignment stops predicting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analysis, both datasets side by side. On stability, where every encoder reads one coding sequence, the consistent gains sit in one block, codon-level RNA with protein. On GTEx, where the DNA window, the transcript, and the protein are different molecules, nearly every cross-modal pair gains, and every DNA encoder gains with every protein encoder even though the window and the protein have almost no retrievable correspondence. That is the uniqueness case: the window adds signal because it carries information the other molecules do not have. The sobering number is the length baseline. Transcript, coding-sequence, and UTR lengths alone reach 0.242, which is what all twelve encoders reach together, so any GTEx result has to be read against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we are proposing, and the reason we spend a section on it. In machine learning, alignment means two views of one thing are trained to coincide. For DNA, RNA, and protein that is the wrong picture, and as far as we can find nobody has written down what the right one is for sequence encoders. Our definition: alignment is agreement on what the central dogma shares, measured after composition is removed, and not imposed on the parts each molecule has alone. The next slide shows why the biology forces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machine-learning picture, two views of one scene, representations trained to coincide, which works because the views share almost everything. Middle: the biology. Each molecule is made from the previous one by a map that runs one way and loses information at each step. Three consequences, each of which we measured. Redundancy by construction: the coding sequence determines the protein, so that is the part they share, and it is where CaLM and the protein encoders stay aligned after the control. Uniqueness by construction: 61 sense codons encode 20 amino acids, so the coding sequence holds the synonymous codon choice that translation erases, which is the GC3 result and why codon encoders complement protein encoders. Unique context at every level: promoters, introns, UTRs, the protein fold; nothing to align those to, which is why on GTEx the DNA window adds signal with no retrievable correspondence. Right: what follows. Positional alignment is given by the genetic code and only on coding sequence. Representational alignment is measured on the shared part, after composition, and is partial. And nothing is imposed on the unique parts, because an alignment loss would erase exactly what fusion is meant to combine.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is not one number. The measures ask different questions and the questions get stricter. Rung one: do two encoders call the same genes similar; CKA, nearest neighbors, RSA. Rung two: is there any view in which one encoder can find the other's embedding of a gene; CCA and retrieval, and the answer is yes for every pair. Rung three: is the agreement more than counts; this is where most DNA agreement disappears, and it is where our definition sits. Rung four: does agreeing help prediction; it does not, and that is why alignment is something we report beside every fusion result rather than a loss we train toward. If we had read a single CKA value as alignment, the DNA pairs would have looked among the most aligned; the ladder puts them among the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design slides, the two stages in one picture. Stage 3 is the build: which fusion architectures we train. Concatenation plus an MLP is the floor; Coupled Mamba is our first choice on coding sequence and cross-attention second, for GTEx where there is no shared grid. Mina's research plan adds two baselines here, a faithful reproduction of BioLangFusion and LucaOne, which is jointly pretrained. Stage 4 is the test: the hypotheses, the baselines every result has to clear, the datasets, the ablations, and the method test, which asks whether the cheap Stage 1 measurements predict where fusion helps. Most of the research plan's add-ons land in Stage 4. The next slide is Stage 3; everything after it is Stage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is unchanged: it turns the Stage 2 decision into trainable modules over token-level embeddings. Concatenation plus an MLP is the reference every fusion model must beat. Coupled Mamba is the priority architecture on coding sequence, agreed in September: one recurrent chain per modality, coupled at every codon step, so the modalities exchange information without any term that makes them look alike, linear in sequence length. IsoFormer-style cross-attention is second, for GTEx where there is no grid, and the benchmark competitor on stability. What the research plan adds is the baseline these are scored against. From the next slide on, we are in Stage 4: how all of this gets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items from the research plan, shown as add-ons to the design on the previous slide. Add-on one widens the matched BioLangFusion comparison already in the Gantt chart, ID 17, to a faithful reproduction on all five of its published datasets, and that reproduction becomes the matched baseline Coupled Mamba is scored against. Add-on two turns the conditional encoder comparison, ID 24, into a planned one. Add-on three is LucaOne as a jointly pretrained baseline, a new row. Add-on four is half-life and translation efficiency on the mRNABench splits, which sits in the January to February extension slot unless cluster time allows earlier. Add-on five, the mRFP control, is already in the controls of ID 18. Structure features are conditional. The distillation idea is to think about, not build; we have thoughts on it near the end. Dates are as of October 3 and will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is the add-on baseline. Solid boxes are BioLangFusion's own encoders; the dashed boxes under them are the Stage 1 candidates we swap in during Phase B, one at a time, holding the grid, the three heads, the TextCNN head, the splits, and the evaluation fixed. Panel b is what we do where no global grid exists: pool each stream, the transcript by region, concatenate or gate, and always report the length and composition baseline beside it. Panel c is what everything is compared with: LucaOne as the jointly pretrained alternative, and our own Stage 3 designs, which go into the same pipeline as a fourth head so their gain over the reproduced heads is measured on identical samples and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what Phase A has to hit. Three things to notice. RNA-FM is the strongest single encoder on four of the five sets, which is why swapping the RNA encoder is the most interesting swap. The published fusion gains are small, one to two hundredths, and the paper gives no variance, so we add seeds and paired differences. And the gap from our frozen linear probe, 0.364 on stability, to the trained heads, 0.55 to 0.56, is the gap the TextCNN head closes. On the right is the one definition of a fusion gain we use everywhere, and the six baselines a result has to clear. LucaOne sits in the last baseline, B5, as the jointly pretrained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is the Stage 4 task set, grouped by the question each dataset answers, with the research plan's priority in the right column and the five datasets it added marked. The coding-sequence group at the top is where the codon grid applies, and Ab1 and CoV-Vac join it so the BioLangFusion reproduction covers all five benchmarks. The full-transcript sets are where the untranslated regions matter and the codon encoders cannot read part of the input, so the coding-sequence streams go on the grid and the UTRs are handled separately. One thing the plan is strict about and we have adopted: half-life, translation efficiency, and ribosome load are three different targets and are never relabeled as each other. The order of work is the one we had, with the added files folded in. COMET, from Mina's list, is the one new source that matters most here: its multi-molecule tasks already compare LucaOne with pairs of single-omics models, which is exactly the combination question, so our fusion designs get published numbers to beat on those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exploratory idea at the end of the plan, and the ask was to think about it, not build it. The mechanism: each frozen teacher gives a batch-by-batch similarity matrix between sequences, and a small student with one projection per teacher learns to reproduce those matrices; then the three students are frozen and fused. Our Stage 1 measurements are directly about those similarity matrices, so we can already say three things. Most of what a DNA teacher's matrix contains is composition, so the target should probably be the composition-controlled structure, or the student will learn to count. Several teachers carry the same structure, so equal weights double-count them. And a sequence-level loss cannot keep the codon-level detail that made the codon encoders useful in the first place. The natural place to evaluate it is on the five BioLangFusion sets with the reproduced heads, so the deltas line up with Phase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our Gantt chart with the research plan's add-ons folded into the existing IDs; Coupled Mamba keeps its slot. The right column is where your answer changes what we build. The first is the framing question for the paper. The second matters before any training: we could not verify an official code release, so Phase A is a reimplementation from the paper, and we want to agree on which unreported details to fix and flag. The third is the Gantt question: we are proposing to fold the add-ons into the existing IDs rather than reorder the plan, and we want to agree the placement before the dates move. The fourth is the LucaOne truncation policy, which decides what its comparison means on long sequences. The fifth is the distillation idea: we need to know which encoders count as teachers, and whether the students should reproduce the raw similarity structure or the one left after composition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470"/>
            <a:ext cx="10566400" cy="761702"/>
          </a:xfrm>
          <a:prstGeom prst="rect">
            <a:avLst/>
          </a:prstGeom>
          <a:noFill/>
          <a:ln/>
        </p:spPr>
        <p:txBody>
          <a:bodyPr wrap="square" lIns="0" tIns="0" rIns="0" bIns="0" rtlCol="0" anchor="t"/>
          <a:lstStyle>
            <a:lvl1pPr algn="l" indent="0" marL="0">
              <a:lnSpc>
                <a:spcPct val="115000"/>
              </a:lnSpc>
              <a:buNone/>
              <a:defRPr lang="en-US" sz="2837" dirty="0">
                <a:solidFill>
                  <a:srgbClr val="000000"/>
                </a:solidFill>
                <a:latin typeface="Inter" pitchFamily="34" charset="0"/>
                <a:ea typeface="Inter" pitchFamily="34" charset="-122"/>
                <a:cs typeface="Inter" pitchFamily="34" charset="-120"/>
              </a:defRPr>
            </a:lvl1pPr>
          </a:lstStyle>
          <a:p>
            <a:pPr algn="l" indent="0" marL="0">
              <a:lnSpc>
                <a:spcPct val="115000"/>
              </a:lnSpc>
              <a:buNone/>
            </a:pPr>
            <a:endParaRPr lang="en-US" sz="2837" dirty="0"/>
          </a:p>
        </p:txBody>
      </p:sp>
      <p:sp>
        <p:nvSpPr>
          <p:cNvPr id="3" name="Text Placeholder 2"/>
          <p:cNvSpPr/>
          <p:nvPr>
            <p:ph idx="101" type="body"/>
          </p:nvPr>
        </p:nvSpPr>
        <p:spPr>
          <a:xfrm>
            <a:off x="812800" y="2225973"/>
            <a:ext cx="10566400" cy="3819227"/>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470"/>
            <a:ext cx="10566400" cy="761702"/>
          </a:xfrm>
          <a:prstGeom prst="rect">
            <a:avLst/>
          </a:prstGeom>
          <a:noFill/>
          <a:ln/>
        </p:spPr>
        <p:txBody>
          <a:bodyPr wrap="square" lIns="0" tIns="0" rIns="0" bIns="0" rtlCol="0" anchor="t"/>
          <a:lstStyle>
            <a:lvl1pPr algn="l" indent="0" marL="0">
              <a:lnSpc>
                <a:spcPct val="115000"/>
              </a:lnSpc>
              <a:buNone/>
              <a:defRPr lang="en-US" sz="2837" dirty="0">
                <a:solidFill>
                  <a:srgbClr val="000000"/>
                </a:solidFill>
                <a:latin typeface="Inter" pitchFamily="34" charset="0"/>
                <a:ea typeface="Inter" pitchFamily="34" charset="-122"/>
                <a:cs typeface="Inter" pitchFamily="34" charset="-120"/>
              </a:defRPr>
            </a:lvl1pPr>
          </a:lstStyle>
          <a:p>
            <a:pPr algn="l" indent="0" marL="0">
              <a:lnSpc>
                <a:spcPct val="115000"/>
              </a:lnSpc>
              <a:buNone/>
            </a:pPr>
            <a:endParaRPr lang="en-US" sz="2837" dirty="0"/>
          </a:p>
        </p:txBody>
      </p:sp>
      <p:sp>
        <p:nvSpPr>
          <p:cNvPr id="3" name="Text Placeholder 2"/>
          <p:cNvSpPr/>
          <p:nvPr>
            <p:ph idx="101" type="body"/>
          </p:nvPr>
        </p:nvSpPr>
        <p:spPr>
          <a:xfrm>
            <a:off x="812800" y="2225973"/>
            <a:ext cx="10566400" cy="3819227"/>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8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alpha val="80000"/>
                  </a:srgbClr>
                </a:solidFill>
                <a:latin typeface="Inter" pitchFamily="34" charset="0"/>
                <a:ea typeface="Inter" pitchFamily="34" charset="-122"/>
                <a:cs typeface="Inter" pitchFamily="34" charset="-120"/>
              </a:rPr>
              <a:t>multimodal-bio-fusion  ·  Meeting with Mina Basirat  ·  October 20, 2026</a:t>
            </a:r>
            <a:endParaRPr lang="en-US" sz="1200" dirty="0"/>
          </a:p>
        </p:txBody>
      </p:sp>
      <p:sp>
        <p:nvSpPr>
          <p:cNvPr id="3" name="Text 1"/>
          <p:cNvSpPr/>
          <p:nvPr>
            <p:ph type="title"/>
          </p:nvPr>
        </p:nvSpPr>
        <p:spPr>
          <a:xfrm>
            <a:off x="812800" y="2142331"/>
            <a:ext cx="9810750" cy="1217017"/>
          </a:xfrm>
          <a:prstGeom prst="rect">
            <a:avLst/>
          </a:prstGeom>
          <a:noFill/>
          <a:ln/>
        </p:spPr>
        <p:txBody>
          <a:bodyPr wrap="square" lIns="0" tIns="0" rIns="0" bIns="0" rtlCol="0" anchor="t">
            <a:normAutofit/>
          </a:bodyPr>
          <a:lstStyle/>
          <a:p>
            <a:pPr algn="l" indent="0" marL="0">
              <a:lnSpc>
                <a:spcPts val="4692"/>
              </a:lnSpc>
              <a:buNone/>
            </a:pPr>
            <a:r>
              <a:rPr lang="en-US" sz="4600" b="1" i="0" spc="-150" kern="0" dirty="0">
                <a:solidFill>
                  <a:srgbClr val="FFFFFF"/>
                </a:solidFill>
                <a:latin typeface="Inter" pitchFamily="34" charset="0"/>
                <a:ea typeface="Inter" pitchFamily="34" charset="-122"/>
                <a:cs typeface="Inter" pitchFamily="34" charset="-120"/>
              </a:rPr>
              <a:t>Four findings, what alignment means in biology, and the plan</a:t>
            </a:r>
            <a:endParaRPr lang="en-US" sz="4600" dirty="0"/>
          </a:p>
        </p:txBody>
      </p:sp>
      <p:sp>
        <p:nvSpPr>
          <p:cNvPr id="4" name="Text 2"/>
          <p:cNvSpPr/>
          <p:nvPr/>
        </p:nvSpPr>
        <p:spPr>
          <a:xfrm>
            <a:off x="812800" y="3537148"/>
            <a:ext cx="91567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FFFF">
                    <a:alpha val="85000"/>
                  </a:srgbClr>
                </a:solidFill>
                <a:latin typeface="Inter" pitchFamily="34" charset="0"/>
                <a:ea typeface="Inter" pitchFamily="34" charset="-122"/>
                <a:cs typeface="Inter" pitchFamily="34" charset="-120"/>
              </a:rPr>
              <a:t>Stage 1 on twelve frozen encoders and two datasets. The Stage 2 definition of alignment for DNA, RNA, and protein. The experimental design, in the research plan's order.</a:t>
            </a:r>
            <a:endParaRPr lang="en-US" sz="1600" dirty="0"/>
          </a:p>
        </p:txBody>
      </p:sp>
      <p:sp>
        <p:nvSpPr>
          <p:cNvPr id="5" name="Text 3"/>
          <p:cNvSpPr/>
          <p:nvPr/>
        </p:nvSpPr>
        <p:spPr>
          <a:xfrm>
            <a:off x="812800" y="5262959"/>
            <a:ext cx="3704332" cy="579041"/>
          </a:xfrm>
          <a:custGeom>
            <a:avLst/>
            <a:gdLst/>
            <a:ahLst/>
            <a:cxnLst/>
            <a:rect l="l" t="t" r="r" b="b"/>
            <a:pathLst>
              <a:path w="3704332" h="579041">
                <a:moveTo>
                  <a:pt x="289520" y="0"/>
                </a:moveTo>
                <a:lnTo>
                  <a:pt x="3414812" y="0"/>
                </a:lnTo>
                <a:arcTo hR="289520" wR="289520" stAng="16200000" swAng="5400000"/>
                <a:lnTo>
                  <a:pt x="3704332"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50414"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DNA · NT 500M, NT v2, DNABERT-2, HyenaDNA</a:t>
            </a:r>
            <a:endParaRPr lang="en-US" sz="1200" dirty="0"/>
          </a:p>
        </p:txBody>
      </p:sp>
      <p:sp>
        <p:nvSpPr>
          <p:cNvPr id="6" name="Text 4"/>
          <p:cNvSpPr/>
          <p:nvPr/>
        </p:nvSpPr>
        <p:spPr>
          <a:xfrm>
            <a:off x="4618732" y="5262959"/>
            <a:ext cx="3379490" cy="579041"/>
          </a:xfrm>
          <a:custGeom>
            <a:avLst/>
            <a:gdLst/>
            <a:ahLst/>
            <a:cxnLst/>
            <a:rect l="l" t="t" r="r" b="b"/>
            <a:pathLst>
              <a:path w="3379490" h="579041">
                <a:moveTo>
                  <a:pt x="289520" y="0"/>
                </a:moveTo>
                <a:lnTo>
                  <a:pt x="3089970" y="0"/>
                </a:lnTo>
                <a:arcTo hR="289520" wR="289520" stAng="16200000" swAng="5400000"/>
                <a:lnTo>
                  <a:pt x="3379490"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60159"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RNA · RNA-FM, RiNALMo, mRNA-FM, CaLM</a:t>
            </a:r>
            <a:endParaRPr lang="en-US" sz="1200" dirty="0"/>
          </a:p>
        </p:txBody>
      </p:sp>
      <p:sp>
        <p:nvSpPr>
          <p:cNvPr id="7" name="Text 5"/>
          <p:cNvSpPr/>
          <p:nvPr/>
        </p:nvSpPr>
        <p:spPr>
          <a:xfrm>
            <a:off x="8099822" y="5262959"/>
            <a:ext cx="3279378" cy="579041"/>
          </a:xfrm>
          <a:custGeom>
            <a:avLst/>
            <a:gdLst/>
            <a:ahLst/>
            <a:cxnLst/>
            <a:rect l="l" t="t" r="r" b="b"/>
            <a:pathLst>
              <a:path w="3279378" h="579041">
                <a:moveTo>
                  <a:pt x="289520" y="0"/>
                </a:moveTo>
                <a:lnTo>
                  <a:pt x="2989858" y="0"/>
                </a:lnTo>
                <a:arcTo hR="289520" wR="289520" stAng="16200000" swAng="5400000"/>
                <a:lnTo>
                  <a:pt x="3279378"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63163"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Protein · ESM-2 8M, 35M, 150M, ProtBERT</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alpha val="70000"/>
                  </a:srgbClr>
                </a:solidFill>
                <a:latin typeface="Inter" pitchFamily="34" charset="0"/>
                <a:ea typeface="Inter" pitchFamily="34" charset="-122"/>
                <a:cs typeface="Inter" pitchFamily="34" charset="-120"/>
              </a:rPr>
              <a:t>Julian McKinley and Chase Di Maria Breisinger  |  MSDA AI Track, UCF  |  Full record: the Overleaf manuscript multimodal-bio-fusion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8717"/>
            <a:ext cx="114300" cy="114300"/>
          </a:xfrm>
          <a:prstGeom prst="rect">
            <a:avLst/>
          </a:prstGeom>
        </p:spPr>
      </p:pic>
      <p:sp>
        <p:nvSpPr>
          <p:cNvPr id="3" name="Text 0"/>
          <p:cNvSpPr/>
          <p:nvPr/>
        </p:nvSpPr>
        <p:spPr>
          <a:xfrm>
            <a:off x="1003300" y="799207"/>
            <a:ext cx="16831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1 in one slide</a:t>
            </a:r>
            <a:endParaRPr lang="en-US" sz="1200" dirty="0"/>
          </a:p>
        </p:txBody>
      </p:sp>
      <p:sp>
        <p:nvSpPr>
          <p:cNvPr id="4" name="Text 1"/>
          <p:cNvSpPr/>
          <p:nvPr>
            <p:ph type="title"/>
          </p:nvPr>
        </p:nvSpPr>
        <p:spPr>
          <a:xfrm>
            <a:off x="812800" y="1151334"/>
            <a:ext cx="10883392" cy="706735"/>
          </a:xfrm>
          <a:prstGeom prst="rect">
            <a:avLst/>
          </a:prstGeom>
          <a:noFill/>
          <a:ln/>
        </p:spPr>
        <p:txBody>
          <a:bodyPr wrap="square" lIns="0" tIns="0" rIns="0" bIns="0" rtlCol="0" anchor="t">
            <a:normAutofit/>
          </a:bodyPr>
          <a:lstStyle/>
          <a:p>
            <a:pPr algn="l" indent="0" marL="0">
              <a:lnSpc>
                <a:spcPts val="2680"/>
              </a:lnSpc>
              <a:buNone/>
            </a:pPr>
            <a:r>
              <a:rPr lang="en-US" sz="2528" b="1" i="0" spc="-100" kern="0" dirty="0">
                <a:solidFill>
                  <a:srgbClr val="000000"/>
                </a:solidFill>
                <a:latin typeface="Inter" pitchFamily="34" charset="0"/>
                <a:ea typeface="Inter" pitchFamily="34" charset="-122"/>
                <a:cs typeface="Inter" pitchFamily="34" charset="-120"/>
              </a:rPr>
              <a:t>Twelve frozen encoders, two datasets with opposite designs, three tracks</a:t>
            </a:r>
            <a:endParaRPr lang="en-US" sz="2528" dirty="0"/>
          </a:p>
        </p:txBody>
      </p:sp>
      <p:sp>
        <p:nvSpPr>
          <p:cNvPr id="5" name="Shape 2"/>
          <p:cNvSpPr/>
          <p:nvPr/>
        </p:nvSpPr>
        <p:spPr>
          <a:xfrm>
            <a:off x="2181225" y="1988245"/>
            <a:ext cx="7829550" cy="3850580"/>
          </a:xfrm>
          <a:prstGeom prst="roundRect">
            <a:avLst>
              <a:gd name="adj" fmla="val 2556"/>
            </a:avLst>
          </a:prstGeom>
          <a:solidFill>
            <a:srgbClr val="FFFFFF"/>
          </a:solidFill>
          <a:ln w="6350">
            <a:solidFill>
              <a:srgbClr val="E6E6E6"/>
            </a:solidFill>
            <a:prstDash val="solid"/>
          </a:ln>
        </p:spPr>
      </p:sp>
      <p:sp>
        <p:nvSpPr>
          <p:cNvPr id="6" name="Shape 3"/>
          <p:cNvSpPr/>
          <p:nvPr/>
        </p:nvSpPr>
        <p:spPr>
          <a:xfrm>
            <a:off x="2286000" y="2093020"/>
            <a:ext cx="7620000" cy="4203700"/>
          </a:xfrm>
          <a:prstGeom prst="roundRect">
            <a:avLst>
              <a:gd name="adj" fmla="val 1208"/>
            </a:avLst>
          </a:prstGeom>
          <a:solidFill>
            <a:srgbClr val="FFFFFF"/>
          </a:solidFill>
          <a:ln/>
        </p:spPr>
      </p:sp>
      <p:pic>
        <p:nvPicPr>
          <p:cNvPr id="7" name="Image 1" descr="Stage 1 design: two datasets, twelve frozen encoders, three analysis tracks, and Stages 2 to 4">    </p:cNvPr>
          <p:cNvPicPr>
            <a:picLocks noChangeAspect="1"/>
          </p:cNvPicPr>
          <p:nvPr/>
        </p:nvPicPr>
        <p:blipFill>
          <a:blip r:embed="rId2"/>
          <a:srcRect l="-5" r="-5" t="0" b="0"/>
          <a:stretch/>
        </p:blipFill>
        <p:spPr>
          <a:xfrm>
            <a:off x="2286000" y="2093020"/>
            <a:ext cx="7620000" cy="4203700"/>
          </a:xfrm>
          <a:prstGeom prst="roundRect">
            <a:avLst>
              <a:gd name="adj" fmla="val 1208"/>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On the stability data every encoder reads the same coding sequence; on GTEx each modality is a different molecule. All encoders frozen, final layer, mean-pooled; ridge probes on sequence- or gene-grouped folds.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1207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The project in one chain</a:t>
            </a:r>
            <a:endParaRPr lang="en-US" sz="1200" dirty="0"/>
          </a:p>
        </p:txBody>
      </p:sp>
      <p:sp>
        <p:nvSpPr>
          <p:cNvPr id="4" name="Text 1"/>
          <p:cNvSpPr/>
          <p:nvPr>
            <p:ph type="title"/>
          </p:nvPr>
        </p:nvSpPr>
        <p:spPr>
          <a:xfrm>
            <a:off x="812800" y="1153120"/>
            <a:ext cx="11379200" cy="415727"/>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Each stage asks one question, and what it finds forces the next</a:t>
            </a:r>
            <a:endParaRPr lang="en-US" sz="2900" dirty="0"/>
          </a:p>
        </p:txBody>
      </p:sp>
      <p:sp>
        <p:nvSpPr>
          <p:cNvPr id="5" name="Shape 2"/>
          <p:cNvSpPr/>
          <p:nvPr/>
        </p:nvSpPr>
        <p:spPr>
          <a:xfrm>
            <a:off x="1228725" y="1673622"/>
            <a:ext cx="9734550" cy="4000500"/>
          </a:xfrm>
          <a:prstGeom prst="roundRect">
            <a:avLst>
              <a:gd name="adj" fmla="val 2460"/>
            </a:avLst>
          </a:prstGeom>
          <a:solidFill>
            <a:srgbClr val="FFFFFF"/>
          </a:solidFill>
          <a:ln w="6350">
            <a:solidFill>
              <a:srgbClr val="E6E6E6"/>
            </a:solidFill>
            <a:prstDash val="solid"/>
          </a:ln>
        </p:spPr>
      </p:sp>
      <p:sp>
        <p:nvSpPr>
          <p:cNvPr id="6" name="Shape 3"/>
          <p:cNvSpPr/>
          <p:nvPr/>
        </p:nvSpPr>
        <p:spPr>
          <a:xfrm>
            <a:off x="1333500" y="1752997"/>
            <a:ext cx="9525000" cy="3841750"/>
          </a:xfrm>
          <a:prstGeom prst="roundRect">
            <a:avLst>
              <a:gd name="adj" fmla="val 1322"/>
            </a:avLst>
          </a:prstGeom>
          <a:solidFill>
            <a:srgbClr val="FFFFFF"/>
          </a:solidFill>
          <a:ln/>
        </p:spPr>
      </p:sp>
      <p:pic>
        <p:nvPicPr>
          <p:cNvPr id="7" name="Image 1" descr="The chain of stages: Stage 1 findings force the Stage 2 definition, which forces the Stage 3 designs, which Stage 4 tests">    </p:cNvPr>
          <p:cNvPicPr>
            <a:picLocks noChangeAspect="1"/>
          </p:cNvPicPr>
          <p:nvPr/>
        </p:nvPicPr>
        <p:blipFill>
          <a:blip r:embed="rId2"/>
          <a:srcRect l="-22" r="-22" t="0" b="0"/>
          <a:stretch/>
        </p:blipFill>
        <p:spPr>
          <a:xfrm>
            <a:off x="1333500" y="1752997"/>
            <a:ext cx="9525000" cy="3841750"/>
          </a:xfrm>
          <a:prstGeom prst="roundRect">
            <a:avLst>
              <a:gd name="adj" fmla="val 1322"/>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Goal: decide whether, when, and how to fuse frozen encoders for a biological task, and leave a method that predicts it before training. The burden of proof is on fusion.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25787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1 · where the signal is</a:t>
            </a:r>
            <a:endParaRPr lang="en-US" sz="1200" dirty="0"/>
          </a:p>
        </p:txBody>
      </p:sp>
      <p:sp>
        <p:nvSpPr>
          <p:cNvPr id="4" name="Text 1"/>
          <p:cNvSpPr/>
          <p:nvPr>
            <p:ph type="title"/>
          </p:nvPr>
        </p:nvSpPr>
        <p:spPr>
          <a:xfrm>
            <a:off x="812800" y="1173758"/>
            <a:ext cx="10883392" cy="78878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Protein and codon-level encoders carry the stability signal; translation erases codon choice</a:t>
            </a:r>
            <a:endParaRPr lang="en-US" sz="2837" dirty="0"/>
          </a:p>
        </p:txBody>
      </p:sp>
      <p:sp>
        <p:nvSpPr>
          <p:cNvPr id="5" name="Shape 2"/>
          <p:cNvSpPr/>
          <p:nvPr/>
        </p:nvSpPr>
        <p:spPr>
          <a:xfrm>
            <a:off x="815975" y="2092722"/>
            <a:ext cx="6813550" cy="3384550"/>
          </a:xfrm>
          <a:prstGeom prst="roundRect">
            <a:avLst>
              <a:gd name="adj" fmla="val 2908"/>
            </a:avLst>
          </a:prstGeom>
          <a:solidFill>
            <a:srgbClr val="FFFFFF"/>
          </a:solidFill>
          <a:ln w="6350">
            <a:solidFill>
              <a:srgbClr val="E6E6E6"/>
            </a:solidFill>
            <a:prstDash val="solid"/>
          </a:ln>
        </p:spPr>
      </p:sp>
      <p:sp>
        <p:nvSpPr>
          <p:cNvPr id="6" name="Shape 3"/>
          <p:cNvSpPr/>
          <p:nvPr/>
        </p:nvSpPr>
        <p:spPr>
          <a:xfrm>
            <a:off x="920750" y="2197497"/>
            <a:ext cx="6604000" cy="3175000"/>
          </a:xfrm>
          <a:prstGeom prst="roundRect">
            <a:avLst>
              <a:gd name="adj" fmla="val 1600"/>
            </a:avLst>
          </a:prstGeom>
          <a:solidFill>
            <a:srgbClr val="FFFFFF"/>
          </a:solidFill>
          <a:ln/>
        </p:spPr>
      </p:sp>
      <p:pic>
        <p:nvPicPr>
          <p:cNvPr id="7" name="Image 1" descr="Held-out R squared of ridge probes for each encoder on mRNA stability and GTEx expression">    </p:cNvPr>
          <p:cNvPicPr>
            <a:picLocks noChangeAspect="1"/>
          </p:cNvPicPr>
          <p:nvPr/>
        </p:nvPicPr>
        <p:blipFill>
          <a:blip r:embed="rId2"/>
          <a:srcRect l="-38" r="-38" t="0" b="0"/>
          <a:stretch/>
        </p:blipFill>
        <p:spPr>
          <a:xfrm>
            <a:off x="920750" y="2197497"/>
            <a:ext cx="6604000" cy="3175000"/>
          </a:xfrm>
          <a:prstGeom prst="roundRect">
            <a:avLst>
              <a:gd name="adj" fmla="val 1600"/>
            </a:avLst>
          </a:prstGeom>
        </p:spPr>
      </p:pic>
      <p:sp>
        <p:nvSpPr>
          <p:cNvPr id="8" name="Shape 4"/>
          <p:cNvSpPr/>
          <p:nvPr/>
        </p:nvSpPr>
        <p:spPr>
          <a:xfrm>
            <a:off x="7813675" y="2092722"/>
            <a:ext cx="3562350" cy="1733252"/>
          </a:xfrm>
          <a:prstGeom prst="roundRect">
            <a:avLst>
              <a:gd name="adj" fmla="val 5679"/>
            </a:avLst>
          </a:prstGeom>
          <a:solidFill>
            <a:srgbClr val="FFFFFF"/>
          </a:solidFill>
          <a:ln w="6350">
            <a:solidFill>
              <a:srgbClr val="E6E6E6"/>
            </a:solidFill>
            <a:prstDash val="solid"/>
          </a:ln>
        </p:spPr>
      </p:sp>
      <p:sp>
        <p:nvSpPr>
          <p:cNvPr id="9" name="Text 5"/>
          <p:cNvSpPr/>
          <p:nvPr/>
        </p:nvSpPr>
        <p:spPr>
          <a:xfrm>
            <a:off x="8020050" y="2273697"/>
            <a:ext cx="324408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0.11 to 0.14</a:t>
            </a:r>
            <a:endParaRPr lang="en-US" sz="2600" dirty="0"/>
          </a:p>
        </p:txBody>
      </p:sp>
      <p:sp>
        <p:nvSpPr>
          <p:cNvPr id="10" name="Text 6"/>
          <p:cNvSpPr/>
          <p:nvPr/>
        </p:nvSpPr>
        <p:spPr>
          <a:xfrm>
            <a:off x="8020050" y="2720677"/>
            <a:ext cx="324408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Stability R² for the protein encoders and both codon-level encoders; the other nucleotide encoders reach 0.03 to 0.08. Length alone: 0.003.</a:t>
            </a:r>
            <a:endParaRPr lang="en-US" sz="1300" dirty="0"/>
          </a:p>
        </p:txBody>
      </p:sp>
      <p:sp>
        <p:nvSpPr>
          <p:cNvPr id="11" name="Shape 7"/>
          <p:cNvSpPr/>
          <p:nvPr/>
        </p:nvSpPr>
        <p:spPr>
          <a:xfrm>
            <a:off x="7813675" y="3959324"/>
            <a:ext cx="3562350" cy="1964333"/>
          </a:xfrm>
          <a:prstGeom prst="roundRect">
            <a:avLst>
              <a:gd name="adj" fmla="val 5011"/>
            </a:avLst>
          </a:prstGeom>
          <a:solidFill>
            <a:srgbClr val="FFFFFF"/>
          </a:solidFill>
          <a:ln w="6350">
            <a:solidFill>
              <a:srgbClr val="E6E6E6"/>
            </a:solidFill>
            <a:prstDash val="solid"/>
          </a:ln>
        </p:spPr>
      </p:sp>
      <p:sp>
        <p:nvSpPr>
          <p:cNvPr id="12" name="Text 8"/>
          <p:cNvSpPr/>
          <p:nvPr/>
        </p:nvSpPr>
        <p:spPr>
          <a:xfrm>
            <a:off x="8020050" y="4140299"/>
            <a:ext cx="324408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0.26 to 0.30</a:t>
            </a:r>
            <a:endParaRPr lang="en-US" sz="2600" dirty="0"/>
          </a:p>
        </p:txBody>
      </p:sp>
      <p:sp>
        <p:nvSpPr>
          <p:cNvPr id="13" name="Text 9"/>
          <p:cNvSpPr/>
          <p:nvPr/>
        </p:nvSpPr>
        <p:spPr>
          <a:xfrm>
            <a:off x="8020050" y="4587280"/>
            <a:ext cx="3244088"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R² lost from GC to GC3 by the protein encoders: translation discards synonymous codon choice, which every nucleotide encoder keeps (GC3 0.90 to 0.99).</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Label noise caps any sequence-only model near R² 0.59 on this file, so 0.14 is about a quarter of what is reachable. On GTEx, four transcript-length features (0.242) beat every single encoder.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30970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2 · how the encoders relate</a:t>
            </a:r>
            <a:endParaRPr lang="en-US" sz="1200" dirty="0"/>
          </a:p>
        </p:txBody>
      </p:sp>
      <p:sp>
        <p:nvSpPr>
          <p:cNvPr id="4" name="Text 1"/>
          <p:cNvSpPr/>
          <p:nvPr>
            <p:ph type="title"/>
          </p:nvPr>
        </p:nvSpPr>
        <p:spPr>
          <a:xfrm>
            <a:off x="812800" y="1173758"/>
            <a:ext cx="10883392" cy="78878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Most cross-encoder agreement is sequence composition, and the pairs that survive are the ones biology predicts</a:t>
            </a:r>
            <a:endParaRPr lang="en-US" sz="2837" dirty="0"/>
          </a:p>
        </p:txBody>
      </p:sp>
      <p:sp>
        <p:nvSpPr>
          <p:cNvPr id="5" name="Shape 2"/>
          <p:cNvSpPr/>
          <p:nvPr/>
        </p:nvSpPr>
        <p:spPr>
          <a:xfrm>
            <a:off x="815975" y="2092722"/>
            <a:ext cx="6686550" cy="3511550"/>
          </a:xfrm>
          <a:prstGeom prst="roundRect">
            <a:avLst>
              <a:gd name="adj" fmla="val 2803"/>
            </a:avLst>
          </a:prstGeom>
          <a:solidFill>
            <a:srgbClr val="FFFFFF"/>
          </a:solidFill>
          <a:ln w="6350">
            <a:solidFill>
              <a:srgbClr val="E6E6E6"/>
            </a:solidFill>
            <a:prstDash val="solid"/>
          </a:ln>
        </p:spPr>
      </p:sp>
      <p:sp>
        <p:nvSpPr>
          <p:cNvPr id="6" name="Shape 3"/>
          <p:cNvSpPr/>
          <p:nvPr/>
        </p:nvSpPr>
        <p:spPr>
          <a:xfrm>
            <a:off x="920750" y="2197497"/>
            <a:ext cx="6477000" cy="3302000"/>
          </a:xfrm>
          <a:prstGeom prst="roundRect">
            <a:avLst>
              <a:gd name="adj" fmla="val 1538"/>
            </a:avLst>
          </a:prstGeom>
          <a:solidFill>
            <a:srgbClr val="FFFFFF"/>
          </a:solidFill>
          <a:ln/>
        </p:spPr>
      </p:sp>
      <p:pic>
        <p:nvPicPr>
          <p:cNvPr id="7" name="Image 1" descr="Linear CKA and CCA retrieval for groups of encoder pairs before and after the composition control">    </p:cNvPr>
          <p:cNvPicPr>
            <a:picLocks noChangeAspect="1"/>
          </p:cNvPicPr>
          <p:nvPr/>
        </p:nvPicPr>
        <p:blipFill>
          <a:blip r:embed="rId2"/>
          <a:srcRect l="0" r="0" t="-36" b="-36"/>
          <a:stretch/>
        </p:blipFill>
        <p:spPr>
          <a:xfrm>
            <a:off x="920750" y="2197497"/>
            <a:ext cx="6477000" cy="3302000"/>
          </a:xfrm>
          <a:prstGeom prst="roundRect">
            <a:avLst>
              <a:gd name="adj" fmla="val 1538"/>
            </a:avLst>
          </a:prstGeom>
        </p:spPr>
      </p:pic>
      <p:sp>
        <p:nvSpPr>
          <p:cNvPr id="8" name="Shape 4"/>
          <p:cNvSpPr/>
          <p:nvPr/>
        </p:nvSpPr>
        <p:spPr>
          <a:xfrm>
            <a:off x="7686675" y="2092722"/>
            <a:ext cx="3689350" cy="1733252"/>
          </a:xfrm>
          <a:prstGeom prst="roundRect">
            <a:avLst>
              <a:gd name="adj" fmla="val 5679"/>
            </a:avLst>
          </a:prstGeom>
          <a:solidFill>
            <a:srgbClr val="FFFFFF"/>
          </a:solidFill>
          <a:ln w="6350">
            <a:solidFill>
              <a:srgbClr val="E6E6E6"/>
            </a:solidFill>
            <a:prstDash val="solid"/>
          </a:ln>
        </p:spPr>
      </p:sp>
      <p:sp>
        <p:nvSpPr>
          <p:cNvPr id="9" name="Text 5"/>
          <p:cNvSpPr/>
          <p:nvPr/>
        </p:nvSpPr>
        <p:spPr>
          <a:xfrm>
            <a:off x="7893050" y="2273697"/>
            <a:ext cx="337489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52% to 90%</a:t>
            </a:r>
            <a:endParaRPr lang="en-US" sz="2600" dirty="0"/>
          </a:p>
        </p:txBody>
      </p:sp>
      <p:sp>
        <p:nvSpPr>
          <p:cNvPr id="10" name="Text 6"/>
          <p:cNvSpPr/>
          <p:nvPr/>
        </p:nvSpPr>
        <p:spPr>
          <a:xfrm>
            <a:off x="7893050" y="2720677"/>
            <a:ext cx="337489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Drop in CKA for every pair with a DNA encoder once 87 composition features (GC, GC3, length, codon and amino-acid frequencies) are regressed out.</a:t>
            </a:r>
            <a:endParaRPr lang="en-US" sz="1300" dirty="0"/>
          </a:p>
        </p:txBody>
      </p:sp>
      <p:sp>
        <p:nvSpPr>
          <p:cNvPr id="11" name="Shape 7"/>
          <p:cNvSpPr/>
          <p:nvPr/>
        </p:nvSpPr>
        <p:spPr>
          <a:xfrm>
            <a:off x="7686675" y="3959324"/>
            <a:ext cx="3689350" cy="1964333"/>
          </a:xfrm>
          <a:prstGeom prst="roundRect">
            <a:avLst>
              <a:gd name="adj" fmla="val 5011"/>
            </a:avLst>
          </a:prstGeom>
          <a:solidFill>
            <a:srgbClr val="FFFFFF"/>
          </a:solidFill>
          <a:ln w="6350">
            <a:solidFill>
              <a:srgbClr val="E6E6E6"/>
            </a:solidFill>
            <a:prstDash val="solid"/>
          </a:ln>
        </p:spPr>
      </p:sp>
      <p:sp>
        <p:nvSpPr>
          <p:cNvPr id="12" name="Text 8"/>
          <p:cNvSpPr/>
          <p:nvPr/>
        </p:nvSpPr>
        <p:spPr>
          <a:xfrm>
            <a:off x="7893050" y="4140299"/>
            <a:ext cx="337489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58% to 69%</a:t>
            </a:r>
            <a:endParaRPr lang="en-US" sz="2600" dirty="0"/>
          </a:p>
        </p:txBody>
      </p:sp>
      <p:sp>
        <p:nvSpPr>
          <p:cNvPr id="13" name="Text 9"/>
          <p:cNvSpPr/>
          <p:nvPr/>
        </p:nvSpPr>
        <p:spPr>
          <a:xfrm>
            <a:off x="7893050" y="4587280"/>
            <a:ext cx="3374898"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CaLM still finds its protein partner after the control, about 170 to 200 times chance. The ESM-2 models and RNA-FM with RiNALMo also keep theirs; little else does.</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Agreement follows tokenizer and training more than the modality label: RNA-FM with RiNALMo CKA 0.809, the two codon encoders with each other only 0.163.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40914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3 · alignment against complementarity</a:t>
            </a:r>
            <a:endParaRPr lang="en-US" sz="1200" dirty="0"/>
          </a:p>
        </p:txBody>
      </p:sp>
      <p:sp>
        <p:nvSpPr>
          <p:cNvPr id="4" name="Text 1"/>
          <p:cNvSpPr/>
          <p:nvPr>
            <p:ph type="title"/>
          </p:nvPr>
        </p:nvSpPr>
        <p:spPr>
          <a:xfrm>
            <a:off x="812800" y="1173758"/>
            <a:ext cx="10883392" cy="78878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Alignment does not predict where combining encoders helps, on either dataset</a:t>
            </a:r>
            <a:endParaRPr lang="en-US" sz="2837" dirty="0"/>
          </a:p>
        </p:txBody>
      </p:sp>
      <p:sp>
        <p:nvSpPr>
          <p:cNvPr id="5" name="Shape 2"/>
          <p:cNvSpPr/>
          <p:nvPr/>
        </p:nvSpPr>
        <p:spPr>
          <a:xfrm>
            <a:off x="815975" y="2092722"/>
            <a:ext cx="6686550" cy="3448050"/>
          </a:xfrm>
          <a:prstGeom prst="roundRect">
            <a:avLst>
              <a:gd name="adj" fmla="val 2855"/>
            </a:avLst>
          </a:prstGeom>
          <a:solidFill>
            <a:srgbClr val="FFFFFF"/>
          </a:solidFill>
          <a:ln w="6350">
            <a:solidFill>
              <a:srgbClr val="E6E6E6"/>
            </a:solidFill>
            <a:prstDash val="solid"/>
          </a:ln>
        </p:spPr>
      </p:sp>
      <p:sp>
        <p:nvSpPr>
          <p:cNvPr id="6" name="Shape 3"/>
          <p:cNvSpPr/>
          <p:nvPr/>
        </p:nvSpPr>
        <p:spPr>
          <a:xfrm>
            <a:off x="920750" y="2197497"/>
            <a:ext cx="6477000" cy="3238500"/>
          </a:xfrm>
          <a:prstGeom prst="roundRect">
            <a:avLst>
              <a:gd name="adj" fmla="val 1569"/>
            </a:avLst>
          </a:prstGeom>
          <a:solidFill>
            <a:srgbClr val="FFFFFF"/>
          </a:solidFill>
          <a:ln/>
        </p:spPr>
      </p:sp>
      <p:pic>
        <p:nvPicPr>
          <p:cNvPr id="7" name="Image 1" descr="Concatenation gain against linear CKA after the composition control for all 66 pairs on stability and GTEx">    </p:cNvPr>
          <p:cNvPicPr>
            <a:picLocks noChangeAspect="1"/>
          </p:cNvPicPr>
          <p:nvPr/>
        </p:nvPicPr>
        <p:blipFill>
          <a:blip r:embed="rId2"/>
          <a:srcRect l="0" r="0" t="0" b="0"/>
          <a:stretch/>
        </p:blipFill>
        <p:spPr>
          <a:xfrm>
            <a:off x="920750" y="2197497"/>
            <a:ext cx="6477000" cy="3238500"/>
          </a:xfrm>
          <a:prstGeom prst="roundRect">
            <a:avLst>
              <a:gd name="adj" fmla="val 1569"/>
            </a:avLst>
          </a:prstGeom>
        </p:spPr>
      </p:pic>
      <p:sp>
        <p:nvSpPr>
          <p:cNvPr id="8" name="Shape 4"/>
          <p:cNvSpPr/>
          <p:nvPr/>
        </p:nvSpPr>
        <p:spPr>
          <a:xfrm>
            <a:off x="7686675" y="2092722"/>
            <a:ext cx="3689350" cy="1733252"/>
          </a:xfrm>
          <a:prstGeom prst="roundRect">
            <a:avLst>
              <a:gd name="adj" fmla="val 5679"/>
            </a:avLst>
          </a:prstGeom>
          <a:solidFill>
            <a:srgbClr val="FFFFFF"/>
          </a:solidFill>
          <a:ln w="6350">
            <a:solidFill>
              <a:srgbClr val="E6E6E6"/>
            </a:solidFill>
            <a:prstDash val="solid"/>
          </a:ln>
        </p:spPr>
      </p:sp>
      <p:sp>
        <p:nvSpPr>
          <p:cNvPr id="9" name="Text 5"/>
          <p:cNvSpPr/>
          <p:nvPr/>
        </p:nvSpPr>
        <p:spPr>
          <a:xfrm>
            <a:off x="7893050" y="2273697"/>
            <a:ext cx="337489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8 of 8</a:t>
            </a:r>
            <a:endParaRPr lang="en-US" sz="2600" dirty="0"/>
          </a:p>
        </p:txBody>
      </p:sp>
      <p:sp>
        <p:nvSpPr>
          <p:cNvPr id="10" name="Text 6"/>
          <p:cNvSpPr/>
          <p:nvPr/>
        </p:nvSpPr>
        <p:spPr>
          <a:xfrm>
            <a:off x="7893050" y="2720677"/>
            <a:ext cx="337489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Codon-level RNA with protein pairs gain under every fold assignment on stability, whether aligned (CaLM) or not (mRNA-FM). Larger concatenations add nothing.</a:t>
            </a:r>
            <a:endParaRPr lang="en-US" sz="1300" dirty="0"/>
          </a:p>
        </p:txBody>
      </p:sp>
      <p:sp>
        <p:nvSpPr>
          <p:cNvPr id="11" name="Shape 7"/>
          <p:cNvSpPr/>
          <p:nvPr/>
        </p:nvSpPr>
        <p:spPr>
          <a:xfrm>
            <a:off x="7686675" y="3959324"/>
            <a:ext cx="3689350" cy="1964333"/>
          </a:xfrm>
          <a:prstGeom prst="roundRect">
            <a:avLst>
              <a:gd name="adj" fmla="val 5011"/>
            </a:avLst>
          </a:prstGeom>
          <a:solidFill>
            <a:srgbClr val="FFFFFF"/>
          </a:solidFill>
          <a:ln w="6350">
            <a:solidFill>
              <a:srgbClr val="E6E6E6"/>
            </a:solidFill>
            <a:prstDash val="solid"/>
          </a:ln>
        </p:spPr>
      </p:sp>
      <p:sp>
        <p:nvSpPr>
          <p:cNvPr id="12" name="Text 8"/>
          <p:cNvSpPr/>
          <p:nvPr/>
        </p:nvSpPr>
        <p:spPr>
          <a:xfrm>
            <a:off x="7893050" y="4140299"/>
            <a:ext cx="337489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 of 66</a:t>
            </a:r>
            <a:endParaRPr lang="en-US" sz="2600" dirty="0"/>
          </a:p>
        </p:txBody>
      </p:sp>
      <p:sp>
        <p:nvSpPr>
          <p:cNvPr id="13" name="Text 9"/>
          <p:cNvSpPr/>
          <p:nvPr/>
        </p:nvSpPr>
        <p:spPr>
          <a:xfrm>
            <a:off x="7893050" y="4587280"/>
            <a:ext cx="3374898"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Pairs on either dataset where a sequence's alignment across two encoders tracks its prediction error after correction (Spearman between -0.13 and +0.12).</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Across the 48 cross-modal pairs: Spearman +0.17 (p = 0.26) between alignment and gain on stability, and -0.42 (p = 0.003) on GTEx, where the least aligned pairs gain most.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5848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4 · distinct molecules</a:t>
            </a:r>
            <a:endParaRPr lang="en-US" sz="1200" dirty="0"/>
          </a:p>
        </p:txBody>
      </p:sp>
      <p:sp>
        <p:nvSpPr>
          <p:cNvPr id="4" name="Text 1"/>
          <p:cNvSpPr/>
          <p:nvPr>
            <p:ph type="title"/>
          </p:nvPr>
        </p:nvSpPr>
        <p:spPr>
          <a:xfrm>
            <a:off x="812800" y="1178520"/>
            <a:ext cx="10883392" cy="806053"/>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With different molecules, DNA adds signal it cannot be aligned to, and four length features match all twelve encoders</a:t>
            </a:r>
            <a:endParaRPr lang="en-US" sz="2900" dirty="0"/>
          </a:p>
        </p:txBody>
      </p:sp>
      <p:sp>
        <p:nvSpPr>
          <p:cNvPr id="5" name="Shape 2"/>
          <p:cNvSpPr/>
          <p:nvPr/>
        </p:nvSpPr>
        <p:spPr>
          <a:xfrm>
            <a:off x="815975" y="2114748"/>
            <a:ext cx="6686550" cy="3511550"/>
          </a:xfrm>
          <a:prstGeom prst="roundRect">
            <a:avLst>
              <a:gd name="adj" fmla="val 2803"/>
            </a:avLst>
          </a:prstGeom>
          <a:solidFill>
            <a:srgbClr val="FFFFFF"/>
          </a:solidFill>
          <a:ln w="6350">
            <a:solidFill>
              <a:srgbClr val="E6E6E6"/>
            </a:solidFill>
            <a:prstDash val="solid"/>
          </a:ln>
        </p:spPr>
      </p:sp>
      <p:sp>
        <p:nvSpPr>
          <p:cNvPr id="6" name="Shape 3"/>
          <p:cNvSpPr/>
          <p:nvPr/>
        </p:nvSpPr>
        <p:spPr>
          <a:xfrm>
            <a:off x="920750" y="2219523"/>
            <a:ext cx="6477000" cy="3302000"/>
          </a:xfrm>
          <a:prstGeom prst="roundRect">
            <a:avLst>
              <a:gd name="adj" fmla="val 1538"/>
            </a:avLst>
          </a:prstGeom>
          <a:solidFill>
            <a:srgbClr val="FFFFFF"/>
          </a:solidFill>
          <a:ln/>
        </p:spPr>
      </p:sp>
      <p:pic>
        <p:nvPicPr>
          <p:cNvPr id="7" name="Image 1" descr="Concatenation gain matrices for every encoder pair on stability and on GTEx">    </p:cNvPr>
          <p:cNvPicPr>
            <a:picLocks noChangeAspect="1"/>
          </p:cNvPicPr>
          <p:nvPr/>
        </p:nvPicPr>
        <p:blipFill>
          <a:blip r:embed="rId2"/>
          <a:srcRect l="0" r="0" t="-70" b="-70"/>
          <a:stretch/>
        </p:blipFill>
        <p:spPr>
          <a:xfrm>
            <a:off x="920750" y="2219523"/>
            <a:ext cx="6477000" cy="3302000"/>
          </a:xfrm>
          <a:prstGeom prst="roundRect">
            <a:avLst>
              <a:gd name="adj" fmla="val 1538"/>
            </a:avLst>
          </a:prstGeom>
        </p:spPr>
      </p:pic>
      <p:sp>
        <p:nvSpPr>
          <p:cNvPr id="8" name="Shape 4"/>
          <p:cNvSpPr/>
          <p:nvPr/>
        </p:nvSpPr>
        <p:spPr>
          <a:xfrm>
            <a:off x="7686675" y="2114748"/>
            <a:ext cx="3689350" cy="1733252"/>
          </a:xfrm>
          <a:prstGeom prst="roundRect">
            <a:avLst>
              <a:gd name="adj" fmla="val 5679"/>
            </a:avLst>
          </a:prstGeom>
          <a:solidFill>
            <a:srgbClr val="FFFFFF"/>
          </a:solidFill>
          <a:ln w="6350">
            <a:solidFill>
              <a:srgbClr val="E6E6E6"/>
            </a:solidFill>
            <a:prstDash val="solid"/>
          </a:ln>
        </p:spPr>
      </p:sp>
      <p:sp>
        <p:nvSpPr>
          <p:cNvPr id="9" name="Text 5"/>
          <p:cNvSpPr/>
          <p:nvPr/>
        </p:nvSpPr>
        <p:spPr>
          <a:xfrm>
            <a:off x="7893050" y="2295723"/>
            <a:ext cx="337489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16 of 16</a:t>
            </a:r>
            <a:endParaRPr lang="en-US" sz="2600" dirty="0"/>
          </a:p>
        </p:txBody>
      </p:sp>
      <p:sp>
        <p:nvSpPr>
          <p:cNvPr id="10" name="Text 6"/>
          <p:cNvSpPr/>
          <p:nvPr/>
        </p:nvSpPr>
        <p:spPr>
          <a:xfrm>
            <a:off x="7893050" y="2742704"/>
            <a:ext cx="337489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DNA with protein pairs gain on GTEx under every fold assignment, although the DNA window retrieves its own protein at most 1.6% of the time.</a:t>
            </a:r>
            <a:endParaRPr lang="en-US" sz="1300" dirty="0"/>
          </a:p>
        </p:txBody>
      </p:sp>
      <p:sp>
        <p:nvSpPr>
          <p:cNvPr id="11" name="Shape 7"/>
          <p:cNvSpPr/>
          <p:nvPr/>
        </p:nvSpPr>
        <p:spPr>
          <a:xfrm>
            <a:off x="7686675" y="3981351"/>
            <a:ext cx="3689350" cy="1733252"/>
          </a:xfrm>
          <a:prstGeom prst="roundRect">
            <a:avLst>
              <a:gd name="adj" fmla="val 5679"/>
            </a:avLst>
          </a:prstGeom>
          <a:solidFill>
            <a:srgbClr val="FFFFFF"/>
          </a:solidFill>
          <a:ln w="6350">
            <a:solidFill>
              <a:srgbClr val="E6E6E6"/>
            </a:solidFill>
            <a:prstDash val="solid"/>
          </a:ln>
        </p:spPr>
      </p:sp>
      <p:sp>
        <p:nvSpPr>
          <p:cNvPr id="12" name="Text 8"/>
          <p:cNvSpPr/>
          <p:nvPr/>
        </p:nvSpPr>
        <p:spPr>
          <a:xfrm>
            <a:off x="7893050" y="4162326"/>
            <a:ext cx="3374898" cy="42158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0.242 vs 0.239</a:t>
            </a:r>
            <a:endParaRPr lang="en-US" sz="2600" dirty="0"/>
          </a:p>
        </p:txBody>
      </p:sp>
      <p:sp>
        <p:nvSpPr>
          <p:cNvPr id="13" name="Text 9"/>
          <p:cNvSpPr/>
          <p:nvPr/>
        </p:nvSpPr>
        <p:spPr>
          <a:xfrm>
            <a:off x="7893050" y="4609306"/>
            <a:ext cx="337489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Four transcript-length features against all twelve encoders concatenated. On GTEx the bar a fusion model must clear is length, not zero.</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Boxed cells gain under all ten fold assignments: 16 pairs on stability, 47 on GTEx. The window adds information precisely because it does not repeat what the other encoders read.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3183"/>
        </a:solidFill>
      </p:bgPr>
    </p:bg>
    <p:spTree>
      <p:nvGrpSpPr>
        <p:cNvPr id="1" name=""/>
        <p:cNvGrpSpPr/>
        <p:nvPr/>
      </p:nvGrpSpPr>
      <p:grpSpPr>
        <a:xfrm>
          <a:off x="0" y="0"/>
          <a:ext cx="0" cy="0"/>
          <a:chOff x="0" y="0"/>
          <a:chExt cx="0" cy="0"/>
        </a:xfrm>
      </p:grpSpPr>
      <p:sp>
        <p:nvSpPr>
          <p:cNvPr id="2" name="Text 0"/>
          <p:cNvSpPr/>
          <p:nvPr/>
        </p:nvSpPr>
        <p:spPr>
          <a:xfrm>
            <a:off x="812800" y="812800"/>
            <a:ext cx="10883392" cy="237629"/>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FFFFFF">
                    <a:alpha val="80000"/>
                  </a:srgbClr>
                </a:solidFill>
                <a:latin typeface="Inter" pitchFamily="34" charset="0"/>
                <a:ea typeface="Inter" pitchFamily="34" charset="-122"/>
                <a:cs typeface="Inter" pitchFamily="34" charset="-120"/>
              </a:rPr>
              <a:t>Stage 2 · what alignment means in biology</a:t>
            </a:r>
            <a:endParaRPr lang="en-US" sz="1196" dirty="0"/>
          </a:p>
        </p:txBody>
      </p:sp>
      <p:sp>
        <p:nvSpPr>
          <p:cNvPr id="3" name="Text 1"/>
          <p:cNvSpPr/>
          <p:nvPr>
            <p:ph type="title"/>
          </p:nvPr>
        </p:nvSpPr>
        <p:spPr>
          <a:xfrm>
            <a:off x="812800" y="1329829"/>
            <a:ext cx="10595610" cy="1632744"/>
          </a:xfrm>
          <a:prstGeom prst="rect">
            <a:avLst/>
          </a:prstGeom>
          <a:noFill/>
          <a:ln/>
        </p:spPr>
        <p:txBody>
          <a:bodyPr wrap="square" lIns="0" tIns="0" rIns="0" bIns="0" rtlCol="0" anchor="t">
            <a:normAutofit/>
          </a:bodyPr>
          <a:lstStyle/>
          <a:p>
            <a:pPr algn="l" indent="0" marL="0">
              <a:lnSpc>
                <a:spcPts val="4214"/>
              </a:lnSpc>
              <a:buNone/>
            </a:pPr>
            <a:r>
              <a:rPr lang="en-US" sz="3975" b="1" i="0" spc="-125" kern="0" dirty="0">
                <a:solidFill>
                  <a:srgbClr val="FFFFFF"/>
                </a:solidFill>
                <a:latin typeface="Inter" pitchFamily="34" charset="0"/>
                <a:ea typeface="Inter" pitchFamily="34" charset="-122"/>
                <a:cs typeface="Inter" pitchFamily="34" charset="-120"/>
              </a:rPr>
              <a:t>Alignment is agreement on what the central dogma shares, beyond composition, with nothing imposed on what it does not share.</a:t>
            </a:r>
            <a:endParaRPr lang="en-US" sz="3975" dirty="0"/>
          </a:p>
        </p:txBody>
      </p:sp>
      <p:sp>
        <p:nvSpPr>
          <p:cNvPr id="4" name="Shape 2"/>
          <p:cNvSpPr/>
          <p:nvPr/>
        </p:nvSpPr>
        <p:spPr>
          <a:xfrm>
            <a:off x="812800" y="3241973"/>
            <a:ext cx="5194300" cy="2600027"/>
          </a:xfrm>
          <a:prstGeom prst="roundRect">
            <a:avLst>
              <a:gd name="adj" fmla="val 3908"/>
            </a:avLst>
          </a:prstGeom>
          <a:solidFill>
            <a:srgbClr val="FFFFFF"/>
          </a:solidFill>
          <a:ln/>
        </p:spPr>
      </p:sp>
      <p:sp>
        <p:nvSpPr>
          <p:cNvPr id="5" name="Text 3"/>
          <p:cNvSpPr/>
          <p:nvPr/>
        </p:nvSpPr>
        <p:spPr>
          <a:xfrm>
            <a:off x="1041400" y="3445173"/>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Why we have to say it</a:t>
            </a:r>
            <a:endParaRPr lang="en-US" sz="1500" dirty="0"/>
          </a:p>
        </p:txBody>
      </p:sp>
      <p:sp>
        <p:nvSpPr>
          <p:cNvPr id="6" name="Text 4"/>
          <p:cNvSpPr/>
          <p:nvPr/>
        </p:nvSpPr>
        <p:spPr>
          <a:xfrm>
            <a:off x="1041400" y="3737273"/>
            <a:ext cx="4879213" cy="122197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1302E"/>
                </a:solidFill>
                <a:latin typeface="Inter" pitchFamily="34" charset="0"/>
                <a:ea typeface="Inter" pitchFamily="34" charset="-122"/>
                <a:cs typeface="Inter" pitchFamily="34" charset="-120"/>
              </a:rPr>
              <a:t>No published work defines alignment for DNA, RNA, and protein representations or measures it. BioLangFusion assumes it (a codon grid), IsoFormer learns it unnamed (cross-attention), the Central Dogma Transformer orders it; the general theory is not biology-specific.</a:t>
            </a:r>
            <a:endParaRPr lang="en-US" sz="1300" dirty="0"/>
          </a:p>
        </p:txBody>
      </p:sp>
      <p:sp>
        <p:nvSpPr>
          <p:cNvPr id="7" name="Shape 5"/>
          <p:cNvSpPr/>
          <p:nvPr/>
        </p:nvSpPr>
        <p:spPr>
          <a:xfrm>
            <a:off x="6184900" y="3241973"/>
            <a:ext cx="5194300" cy="2600027"/>
          </a:xfrm>
          <a:prstGeom prst="roundRect">
            <a:avLst>
              <a:gd name="adj" fmla="val 3908"/>
            </a:avLst>
          </a:prstGeom>
          <a:solidFill>
            <a:srgbClr val="FFFFFF"/>
          </a:solidFill>
          <a:ln/>
        </p:spPr>
      </p:sp>
      <p:sp>
        <p:nvSpPr>
          <p:cNvPr id="8" name="Text 6"/>
          <p:cNvSpPr/>
          <p:nvPr/>
        </p:nvSpPr>
        <p:spPr>
          <a:xfrm>
            <a:off x="6413500" y="3445173"/>
            <a:ext cx="4879213" cy="252611"/>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What it changes</a:t>
            </a:r>
            <a:endParaRPr lang="en-US" sz="1500" dirty="0"/>
          </a:p>
        </p:txBody>
      </p:sp>
      <p:sp>
        <p:nvSpPr>
          <p:cNvPr id="9" name="Text 7"/>
          <p:cNvSpPr/>
          <p:nvPr/>
        </p:nvSpPr>
        <p:spPr>
          <a:xfrm>
            <a:off x="6413500" y="3735884"/>
            <a:ext cx="4879213" cy="1928316"/>
          </a:xfrm>
          <a:prstGeom prst="rect">
            <a:avLst/>
          </a:prstGeom>
          <a:noFill/>
          <a:ln/>
        </p:spPr>
        <p:txBody>
          <a:bodyPr wrap="square" lIns="0" tIns="0" rIns="0" bIns="0" rtlCol="0" anchor="t">
            <a:normAutofit/>
          </a:bodyPr>
          <a:lstStyle/>
          <a:p>
            <a:pPr algn="l" indent="0" marL="0">
              <a:lnSpc>
                <a:spcPts val="1873"/>
              </a:lnSpc>
              <a:buNone/>
            </a:pPr>
            <a:r>
              <a:rPr lang="en-US" sz="1292" dirty="0">
                <a:solidFill>
                  <a:srgbClr val="31302E"/>
                </a:solidFill>
                <a:latin typeface="Inter" pitchFamily="34" charset="0"/>
                <a:ea typeface="Inter" pitchFamily="34" charset="-122"/>
                <a:cs typeface="Inter" pitchFamily="34" charset="-120"/>
              </a:rPr>
              <a:t>Positional alignment is given by the genetic code and only on coding sequence; resampling to the codon grid is a token-location step, not evidence of shared information. Representational alignment is measured after the composition control and reported next to every fusion result; it is not a training loss and not a prerequisite. Whether fusion helps is settled by a held-out gain over the best single encoder.</a:t>
            </a:r>
            <a:endParaRPr lang="en-US" sz="129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5762"/>
            <a:ext cx="114300" cy="114300"/>
          </a:xfrm>
          <a:prstGeom prst="rect">
            <a:avLst/>
          </a:prstGeom>
        </p:spPr>
      </p:pic>
      <p:sp>
        <p:nvSpPr>
          <p:cNvPr id="3" name="Text 0"/>
          <p:cNvSpPr/>
          <p:nvPr/>
        </p:nvSpPr>
        <p:spPr>
          <a:xfrm>
            <a:off x="1003300" y="806252"/>
            <a:ext cx="36297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Why the usual meaning does not transfer</a:t>
            </a:r>
            <a:endParaRPr lang="en-US" sz="1200" dirty="0"/>
          </a:p>
        </p:txBody>
      </p:sp>
      <p:sp>
        <p:nvSpPr>
          <p:cNvPr id="4" name="Text 1"/>
          <p:cNvSpPr/>
          <p:nvPr>
            <p:ph type="title"/>
          </p:nvPr>
        </p:nvSpPr>
        <p:spPr>
          <a:xfrm>
            <a:off x="812800" y="1140023"/>
            <a:ext cx="10883392" cy="391815"/>
          </a:xfrm>
          <a:prstGeom prst="rect">
            <a:avLst/>
          </a:prstGeom>
          <a:noFill/>
          <a:ln/>
        </p:spPr>
        <p:txBody>
          <a:bodyPr wrap="square" lIns="0" tIns="0" rIns="0" bIns="0" rtlCol="0" anchor="t">
            <a:normAutofit/>
          </a:bodyPr>
          <a:lstStyle/>
          <a:p>
            <a:pPr algn="l" indent="0" marL="0">
              <a:lnSpc>
                <a:spcPts val="2920"/>
              </a:lnSpc>
              <a:buNone/>
            </a:pPr>
            <a:r>
              <a:rPr lang="en-US" sz="2755" b="1" i="0" spc="-100" kern="0" dirty="0">
                <a:solidFill>
                  <a:srgbClr val="000000"/>
                </a:solidFill>
                <a:latin typeface="Inter" pitchFamily="34" charset="0"/>
                <a:ea typeface="Inter" pitchFamily="34" charset="-122"/>
                <a:cs typeface="Inter" pitchFamily="34" charset="-120"/>
              </a:rPr>
              <a:t>The central dogma is not two views of one thing</a:t>
            </a:r>
            <a:endParaRPr lang="en-US" sz="2755" dirty="0"/>
          </a:p>
        </p:txBody>
      </p:sp>
      <p:sp>
        <p:nvSpPr>
          <p:cNvPr id="5" name="Shape 2"/>
          <p:cNvSpPr/>
          <p:nvPr/>
        </p:nvSpPr>
        <p:spPr>
          <a:xfrm>
            <a:off x="1038225" y="1636613"/>
            <a:ext cx="10115550" cy="4202212"/>
          </a:xfrm>
          <a:prstGeom prst="roundRect">
            <a:avLst>
              <a:gd name="adj" fmla="val 2342"/>
            </a:avLst>
          </a:prstGeom>
          <a:solidFill>
            <a:srgbClr val="FFFFFF"/>
          </a:solidFill>
          <a:ln w="6350">
            <a:solidFill>
              <a:srgbClr val="E6E6E6"/>
            </a:solidFill>
            <a:prstDash val="solid"/>
          </a:ln>
        </p:spPr>
      </p:sp>
      <p:sp>
        <p:nvSpPr>
          <p:cNvPr id="6" name="Shape 3"/>
          <p:cNvSpPr/>
          <p:nvPr/>
        </p:nvSpPr>
        <p:spPr>
          <a:xfrm>
            <a:off x="1143000" y="1741388"/>
            <a:ext cx="9906000" cy="4267200"/>
          </a:xfrm>
          <a:prstGeom prst="roundRect">
            <a:avLst>
              <a:gd name="adj" fmla="val 1190"/>
            </a:avLst>
          </a:prstGeom>
          <a:solidFill>
            <a:srgbClr val="FFFFFF"/>
          </a:solidFill>
          <a:ln/>
        </p:spPr>
      </p:sp>
      <p:pic>
        <p:nvPicPr>
          <p:cNvPr id="7" name="Image 1" descr="Alignment in machine learning compared with the central dogma's one-way information loss, and what follows for alignment">    </p:cNvPr>
          <p:cNvPicPr>
            <a:picLocks noChangeAspect="1"/>
          </p:cNvPicPr>
          <p:nvPr/>
        </p:nvPicPr>
        <p:blipFill>
          <a:blip r:embed="rId2"/>
          <a:srcRect l="-31" r="-31" t="0" b="0"/>
          <a:stretch/>
        </p:blipFill>
        <p:spPr>
          <a:xfrm>
            <a:off x="1143000" y="1741388"/>
            <a:ext cx="9906000" cy="4267200"/>
          </a:xfrm>
          <a:prstGeom prst="roundRect">
            <a:avLst>
              <a:gd name="adj" fmla="val 1190"/>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Redundancy by construction: the coding sequence determines the protein. Uniqueness by construction: 61 codons to 20 amino acids. Unique context at every level: genome, UTRs, fold. Each one was measured in Stage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39373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How representational alignment is measured</a:t>
            </a:r>
            <a:endParaRPr lang="en-US" sz="1200" dirty="0"/>
          </a:p>
        </p:txBody>
      </p:sp>
      <p:sp>
        <p:nvSpPr>
          <p:cNvPr id="4" name="Text 1"/>
          <p:cNvSpPr/>
          <p:nvPr>
            <p:ph type="title"/>
          </p:nvPr>
        </p:nvSpPr>
        <p:spPr>
          <a:xfrm>
            <a:off x="812800" y="1178520"/>
            <a:ext cx="10883392" cy="415727"/>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Four rungs, each stricter; our definition sits at the third</a:t>
            </a:r>
            <a:endParaRPr lang="en-US" sz="2900" dirty="0"/>
          </a:p>
        </p:txBody>
      </p:sp>
      <p:sp>
        <p:nvSpPr>
          <p:cNvPr id="5" name="Shape 2"/>
          <p:cNvSpPr/>
          <p:nvPr/>
        </p:nvSpPr>
        <p:spPr>
          <a:xfrm>
            <a:off x="815975" y="1724422"/>
            <a:ext cx="10560050" cy="4097139"/>
          </a:xfrm>
          <a:prstGeom prst="roundRect">
            <a:avLst>
              <a:gd name="adj" fmla="val 2402"/>
            </a:avLst>
          </a:prstGeom>
          <a:solidFill>
            <a:srgbClr val="FFFFFF"/>
          </a:solidFill>
          <a:ln w="6350">
            <a:solidFill>
              <a:srgbClr val="E6E6E6"/>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3450" y="1791097"/>
          <a:ext cx="10337800" cy="3976489"/>
        </p:xfrm>
        <a:graphic>
          <a:graphicData uri="http://schemas.openxmlformats.org/drawingml/2006/table">
            <a:tbl>
              <a:tblPr/>
              <a:tblGrid>
                <a:gridCol w="2687828"/>
                <a:gridCol w="3824986"/>
                <a:gridCol w="3824986"/>
              </a:tblGrid>
              <a:tr h="438745">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Rung and measure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The question, in biological terms</a:t>
                      </a:r>
                      <a:endParaRPr lang="en-US" sz="1300" dirty="0">
                        <a:latin typeface="Inter" charset="0"/>
                        <a:ea typeface="Inter" charset="0"/>
                        <a:cs typeface="Inter" charset="0"/>
                      </a:endParaRPr>
                    </a:p>
                  </a:txBody>
                  <a:tcPr marL="127000" marR="1270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What Stage 1 found</a:t>
                      </a:r>
                      <a:endParaRPr lang="en-US" sz="1300" dirty="0">
                        <a:latin typeface="Inter" charset="0"/>
                        <a:ea typeface="Inter" charset="0"/>
                        <a:cs typeface="Inter" charset="0"/>
                      </a:endParaRPr>
                    </a:p>
                  </a:txBody>
                  <a:tcPr marL="127000" marR="1270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661591">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1. Raw similarity: linear CKA, mutual k-NN, RSA</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Do the two encoders call the same genes similar?</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Follows tokenizer and training corpus, not the modality label; every pair above chance.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84436">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2. Shared directions: CCA, Recall@1</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Is there any view in which one encoder's embedding of a gene finds the other's?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Yes for every pair (first canonical correlation 0.90 to 0.99): a learnable mapping always exists.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1107281">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3. After the composition control</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Is the agreement more than letter, codon, and amino-acid counts, which any model could learn from the sequence alone?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For pairs with a DNA encoder, mostly not. The protein encoders, RNA-FM with RiNALMo, and CaLM with protein keep most of theirs.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84436">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4. Against prediction: concatenation gain, alignment-error association</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Does agreeing help, and do better-aligned genes get better predictions?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Complementarity is largest where alignment is low; per-sequence alignment never tracks error.</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 pair can pass rung 1 and fail rung 3, which is what every pair with a DNA encoder does on the stability data. Rung 4 is why alignment is reported beside every fusion result rather than trained for.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7647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Experimental design · overview</a:t>
            </a:r>
            <a:endParaRPr lang="en-US" sz="1200" dirty="0"/>
          </a:p>
        </p:txBody>
      </p:sp>
      <p:sp>
        <p:nvSpPr>
          <p:cNvPr id="4" name="Text 1"/>
          <p:cNvSpPr/>
          <p:nvPr>
            <p:ph type="title"/>
          </p:nvPr>
        </p:nvSpPr>
        <p:spPr>
          <a:xfrm>
            <a:off x="812800" y="1203920"/>
            <a:ext cx="10883392" cy="806053"/>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Stage 3 builds the fusion models; Stage 4 tests whether they help</a:t>
            </a:r>
            <a:endParaRPr lang="en-US" sz="2900" dirty="0"/>
          </a:p>
        </p:txBody>
      </p:sp>
      <p:sp>
        <p:nvSpPr>
          <p:cNvPr id="5" name="Shape 2"/>
          <p:cNvSpPr/>
          <p:nvPr/>
        </p:nvSpPr>
        <p:spPr>
          <a:xfrm>
            <a:off x="815975" y="2165548"/>
            <a:ext cx="5194300" cy="2971701"/>
          </a:xfrm>
          <a:prstGeom prst="roundRect">
            <a:avLst>
              <a:gd name="adj" fmla="val 3312"/>
            </a:avLst>
          </a:prstGeom>
          <a:solidFill>
            <a:srgbClr val="FFFFFF"/>
          </a:solidFill>
          <a:ln w="6350">
            <a:solidFill>
              <a:srgbClr val="E6E6E6"/>
            </a:solidFill>
            <a:prstDash val="solid"/>
          </a:ln>
        </p:spPr>
      </p:sp>
      <p:sp>
        <p:nvSpPr>
          <p:cNvPr id="6" name="Text 3"/>
          <p:cNvSpPr/>
          <p:nvPr/>
        </p:nvSpPr>
        <p:spPr>
          <a:xfrm>
            <a:off x="1047750" y="2371923"/>
            <a:ext cx="48726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3 · fusion architecture design</a:t>
            </a:r>
            <a:endParaRPr lang="en-US" sz="1200" dirty="0"/>
          </a:p>
        </p:txBody>
      </p:sp>
      <p:sp>
        <p:nvSpPr>
          <p:cNvPr id="7" name="Text 4"/>
          <p:cNvSpPr/>
          <p:nvPr/>
        </p:nvSpPr>
        <p:spPr>
          <a:xfrm>
            <a:off x="1047750" y="2674144"/>
            <a:ext cx="4872673" cy="284460"/>
          </a:xfrm>
          <a:prstGeom prst="rect">
            <a:avLst/>
          </a:prstGeom>
          <a:noFill/>
          <a:ln/>
        </p:spPr>
        <p:txBody>
          <a:bodyPr wrap="square" lIns="0" tIns="0" rIns="0" bIns="0" rtlCol="0" anchor="t">
            <a:normAutofit/>
          </a:bodyPr>
          <a:lstStyle/>
          <a:p>
            <a:pPr algn="l" indent="0" marL="0">
              <a:lnSpc>
                <a:spcPts val="2040"/>
              </a:lnSpc>
              <a:buNone/>
            </a:pPr>
            <a:r>
              <a:rPr lang="en-US" sz="1700" b="1" spc="-25" kern="0" dirty="0">
                <a:solidFill>
                  <a:srgbClr val="000000"/>
                </a:solidFill>
                <a:latin typeface="Inter" pitchFamily="34" charset="0"/>
                <a:ea typeface="Inter" pitchFamily="34" charset="-122"/>
                <a:cs typeface="Inter" pitchFamily="34" charset="-120"/>
              </a:rPr>
              <a:t>How do we combine the encoders?</a:t>
            </a:r>
            <a:endParaRPr lang="en-US" sz="1700" dirty="0"/>
          </a:p>
        </p:txBody>
      </p:sp>
      <p:sp>
        <p:nvSpPr>
          <p:cNvPr id="8" name="Text 5"/>
          <p:cNvSpPr/>
          <p:nvPr/>
        </p:nvSpPr>
        <p:spPr>
          <a:xfrm>
            <a:off x="1146175" y="3022104"/>
            <a:ext cx="4766628" cy="1454150"/>
          </a:xfrm>
          <a:prstGeom prst="rect">
            <a:avLst/>
          </a:prstGeom>
          <a:noFill/>
          <a:ln/>
        </p:spPr>
        <p:txBody>
          <a:bodyPr wrap="square" lIns="0" tIns="0" rIns="0" bIns="0" rtlCol="0" anchor="t">
            <a:normAutofit/>
          </a:bodyPr>
          <a:lstStyle/>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Floor:</a:t>
            </a:r>
            <a:r>
              <a:rPr lang="en-US" sz="1250" dirty="0">
                <a:solidFill>
                  <a:srgbClr val="31302E"/>
                </a:solidFill>
                <a:latin typeface="Inter" pitchFamily="34" charset="0"/>
                <a:ea typeface="Inter" pitchFamily="34" charset="-122"/>
                <a:cs typeface="Inter" pitchFamily="34" charset="-120"/>
              </a:rPr>
              <a:t> concatenation + MLP, which every model must beat</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Priority 1:</a:t>
            </a:r>
            <a:r>
              <a:rPr lang="en-US" sz="1250" dirty="0">
                <a:solidFill>
                  <a:srgbClr val="31302E"/>
                </a:solidFill>
                <a:latin typeface="Inter" pitchFamily="34" charset="0"/>
                <a:ea typeface="Inter" pitchFamily="34" charset="-122"/>
                <a:cs typeface="Inter" pitchFamily="34" charset="-120"/>
              </a:rPr>
              <a:t> Coupled Mamba on the codon grid (coding sequence)</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Priority 2:</a:t>
            </a:r>
            <a:r>
              <a:rPr lang="en-US" sz="1250" dirty="0">
                <a:solidFill>
                  <a:srgbClr val="31302E"/>
                </a:solidFill>
                <a:latin typeface="Inter" pitchFamily="34" charset="0"/>
                <a:ea typeface="Inter" pitchFamily="34" charset="-122"/>
                <a:cs typeface="Inter" pitchFamily="34" charset="-120"/>
              </a:rPr>
              <a:t> IsoFormer-style cross-attention (GTEx, no grid)</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Added baselines:</a:t>
            </a:r>
            <a:r>
              <a:rPr lang="en-US" sz="1250" dirty="0">
                <a:solidFill>
                  <a:srgbClr val="31302E"/>
                </a:solidFill>
                <a:latin typeface="Inter" pitchFamily="34" charset="0"/>
                <a:ea typeface="Inter" pitchFamily="34" charset="-122"/>
                <a:cs typeface="Inter" pitchFamily="34" charset="-120"/>
              </a:rPr>
              <a:t> BioLangFusion reproduced exactly; LucaOne</a:t>
            </a:r>
            <a:endParaRPr lang="en-US" sz="1250" dirty="0"/>
          </a:p>
        </p:txBody>
      </p:sp>
      <p:sp>
        <p:nvSpPr>
          <p:cNvPr id="9" name="Text 6"/>
          <p:cNvSpPr/>
          <p:nvPr/>
        </p:nvSpPr>
        <p:spPr>
          <a:xfrm>
            <a:off x="1047750" y="4539754"/>
            <a:ext cx="4872673"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15D59"/>
                </a:solidFill>
                <a:latin typeface="Inter" pitchFamily="34" charset="0"/>
                <a:ea typeface="Inter" pitchFamily="34" charset="-122"/>
                <a:cs typeface="Inter" pitchFamily="34" charset="-120"/>
              </a:rPr>
              <a:t>Frozen encoders, no alignment loss by default, positional alignment only where the genetic code gives it.</a:t>
            </a:r>
            <a:endParaRPr lang="en-US" sz="1100" dirty="0"/>
          </a:p>
        </p:txBody>
      </p:sp>
      <p:sp>
        <p:nvSpPr>
          <p:cNvPr id="10" name="Shape 7"/>
          <p:cNvSpPr/>
          <p:nvPr/>
        </p:nvSpPr>
        <p:spPr>
          <a:xfrm>
            <a:off x="6191250" y="2162373"/>
            <a:ext cx="5187950" cy="2978051"/>
          </a:xfrm>
          <a:prstGeom prst="roundRect">
            <a:avLst>
              <a:gd name="adj" fmla="val 3412"/>
            </a:avLst>
          </a:prstGeom>
          <a:solidFill>
            <a:srgbClr val="213183"/>
          </a:solidFill>
          <a:ln/>
        </p:spPr>
      </p:sp>
      <p:sp>
        <p:nvSpPr>
          <p:cNvPr id="11" name="Text 8"/>
          <p:cNvSpPr/>
          <p:nvPr/>
        </p:nvSpPr>
        <p:spPr>
          <a:xfrm>
            <a:off x="6419850" y="2365573"/>
            <a:ext cx="48726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alpha val="80000"/>
                  </a:srgbClr>
                </a:solidFill>
                <a:latin typeface="Inter" pitchFamily="34" charset="0"/>
                <a:ea typeface="Inter" pitchFamily="34" charset="-122"/>
                <a:cs typeface="Inter" pitchFamily="34" charset="-120"/>
              </a:rPr>
              <a:t>Stage 4 · experimental design and benchmarking</a:t>
            </a:r>
            <a:endParaRPr lang="en-US" sz="1200" dirty="0"/>
          </a:p>
        </p:txBody>
      </p:sp>
      <p:sp>
        <p:nvSpPr>
          <p:cNvPr id="12" name="Text 9"/>
          <p:cNvSpPr/>
          <p:nvPr/>
        </p:nvSpPr>
        <p:spPr>
          <a:xfrm>
            <a:off x="6419850" y="2667794"/>
            <a:ext cx="4872673" cy="543520"/>
          </a:xfrm>
          <a:prstGeom prst="rect">
            <a:avLst/>
          </a:prstGeom>
          <a:noFill/>
          <a:ln/>
        </p:spPr>
        <p:txBody>
          <a:bodyPr wrap="square" lIns="0" tIns="0" rIns="0" bIns="0" rtlCol="0" anchor="t">
            <a:normAutofit/>
          </a:bodyPr>
          <a:lstStyle/>
          <a:p>
            <a:pPr algn="l" indent="0" marL="0">
              <a:lnSpc>
                <a:spcPts val="2040"/>
              </a:lnSpc>
              <a:buNone/>
            </a:pPr>
            <a:r>
              <a:rPr lang="en-US" sz="1700" b="1" spc="-25" kern="0" dirty="0">
                <a:solidFill>
                  <a:srgbClr val="FFFFFF"/>
                </a:solidFill>
                <a:latin typeface="Inter" pitchFamily="34" charset="0"/>
                <a:ea typeface="Inter" pitchFamily="34" charset="-122"/>
                <a:cs typeface="Inter" pitchFamily="34" charset="-120"/>
              </a:rPr>
              <a:t>Does fusion beat the best single encoder, and could Stage 1 predict it?</a:t>
            </a:r>
            <a:endParaRPr lang="en-US" sz="1700" dirty="0"/>
          </a:p>
        </p:txBody>
      </p:sp>
      <p:sp>
        <p:nvSpPr>
          <p:cNvPr id="13" name="Text 10"/>
          <p:cNvSpPr/>
          <p:nvPr/>
        </p:nvSpPr>
        <p:spPr>
          <a:xfrm>
            <a:off x="6518275" y="3274814"/>
            <a:ext cx="4766628" cy="1454150"/>
          </a:xfrm>
          <a:prstGeom prst="rect">
            <a:avLst/>
          </a:prstGeom>
          <a:noFill/>
          <a:ln/>
        </p:spPr>
        <p:txBody>
          <a:bodyPr wrap="square" lIns="0" tIns="0" rIns="0" bIns="0" rtlCol="0" anchor="t">
            <a:normAutofit/>
          </a:bodyPr>
          <a:lstStyle/>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Hypotheses</a:t>
            </a:r>
            <a:r>
              <a:rPr lang="en-US" sz="1250" dirty="0">
                <a:solidFill>
                  <a:srgbClr val="FFFFFF"/>
                </a:solidFill>
                <a:latin typeface="Inter" pitchFamily="34" charset="0"/>
                <a:ea typeface="Inter" pitchFamily="34" charset="-122"/>
                <a:cs typeface="Inter" pitchFamily="34" charset="-120"/>
              </a:rPr>
              <a:t> H1 to H6 and baselines B0 to B5</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Datasets and tests</a:t>
            </a:r>
            <a:r>
              <a:rPr lang="en-US" sz="1250" dirty="0">
                <a:solidFill>
                  <a:srgbClr val="FFFFFF"/>
                </a:solidFill>
                <a:latin typeface="Inter" pitchFamily="34" charset="0"/>
                <a:ea typeface="Inter" pitchFamily="34" charset="-122"/>
                <a:cs typeface="Inter" pitchFamily="34" charset="-120"/>
              </a:rPr>
              <a:t> chosen so each isolates one question</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Ablations:</a:t>
            </a:r>
            <a:r>
              <a:rPr lang="en-US" sz="1250" dirty="0">
                <a:solidFill>
                  <a:srgbClr val="FFFFFF"/>
                </a:solidFill>
                <a:latin typeface="Inter" pitchFamily="34" charset="0"/>
                <a:ea typeface="Inter" pitchFamily="34" charset="-122"/>
                <a:cs typeface="Inter" pitchFamily="34" charset="-120"/>
              </a:rPr>
              <a:t> alignment loss, codon grid, modality dropping</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Method test:</a:t>
            </a:r>
            <a:r>
              <a:rPr lang="en-US" sz="1250" dirty="0">
                <a:solidFill>
                  <a:srgbClr val="FFFFFF"/>
                </a:solidFill>
                <a:latin typeface="Inter" pitchFamily="34" charset="0"/>
                <a:ea typeface="Inter" pitchFamily="34" charset="-122"/>
                <a:cs typeface="Inter" pitchFamily="34" charset="-120"/>
              </a:rPr>
              <a:t> do Stage 1 metrics predict the fusion gain?</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Added:</a:t>
            </a:r>
            <a:r>
              <a:rPr lang="en-US" sz="1250" dirty="0">
                <a:solidFill>
                  <a:srgbClr val="FFFFFF"/>
                </a:solidFill>
                <a:latin typeface="Inter" pitchFamily="34" charset="0"/>
                <a:ea typeface="Inter" pitchFamily="34" charset="-122"/>
                <a:cs typeface="Inter" pitchFamily="34" charset="-120"/>
              </a:rPr>
              <a:t> encoder swaps, mRNABench tasks, mRFP control, distillation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5046"/>
            <a:ext cx="114300" cy="114300"/>
          </a:xfrm>
          <a:prstGeom prst="rect">
            <a:avLst/>
          </a:prstGeom>
        </p:spPr>
      </p:pic>
      <p:sp>
        <p:nvSpPr>
          <p:cNvPr id="3" name="Text 0"/>
          <p:cNvSpPr/>
          <p:nvPr/>
        </p:nvSpPr>
        <p:spPr>
          <a:xfrm>
            <a:off x="1003300" y="795536"/>
            <a:ext cx="31392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3 · fusion architecture design</a:t>
            </a:r>
            <a:endParaRPr lang="en-US" sz="1200" dirty="0"/>
          </a:p>
        </p:txBody>
      </p:sp>
      <p:sp>
        <p:nvSpPr>
          <p:cNvPr id="4" name="Text 1"/>
          <p:cNvSpPr/>
          <p:nvPr>
            <p:ph type="title"/>
          </p:nvPr>
        </p:nvSpPr>
        <p:spPr>
          <a:xfrm>
            <a:off x="812800" y="1118592"/>
            <a:ext cx="10883392" cy="352524"/>
          </a:xfrm>
          <a:prstGeom prst="rect">
            <a:avLst/>
          </a:prstGeom>
          <a:noFill/>
          <a:ln/>
        </p:spPr>
        <p:txBody>
          <a:bodyPr wrap="square" lIns="0" tIns="0" rIns="0" bIns="0" rtlCol="0" anchor="t">
            <a:normAutofit/>
          </a:bodyPr>
          <a:lstStyle/>
          <a:p>
            <a:pPr algn="l" indent="0" marL="0">
              <a:lnSpc>
                <a:spcPts val="2623"/>
              </a:lnSpc>
              <a:buNone/>
            </a:pPr>
            <a:r>
              <a:rPr lang="en-US" sz="2474" b="1" i="0" spc="-100" kern="0" dirty="0">
                <a:solidFill>
                  <a:srgbClr val="000000"/>
                </a:solidFill>
                <a:latin typeface="Inter" pitchFamily="34" charset="0"/>
                <a:ea typeface="Inter" pitchFamily="34" charset="-122"/>
                <a:cs typeface="Inter" pitchFamily="34" charset="-120"/>
              </a:rPr>
              <a:t>Three fusion designs, and the decision they follow</a:t>
            </a:r>
            <a:endParaRPr lang="en-US" sz="2474" dirty="0"/>
          </a:p>
        </p:txBody>
      </p:sp>
      <p:sp>
        <p:nvSpPr>
          <p:cNvPr id="5" name="Shape 2"/>
          <p:cNvSpPr/>
          <p:nvPr/>
        </p:nvSpPr>
        <p:spPr>
          <a:xfrm>
            <a:off x="1673225" y="1575891"/>
            <a:ext cx="8845550" cy="3239889"/>
          </a:xfrm>
          <a:prstGeom prst="roundRect">
            <a:avLst>
              <a:gd name="adj" fmla="val 3038"/>
            </a:avLst>
          </a:prstGeom>
          <a:solidFill>
            <a:srgbClr val="FFFFFF"/>
          </a:solidFill>
          <a:ln w="6350">
            <a:solidFill>
              <a:srgbClr val="E6E6E6"/>
            </a:solidFill>
            <a:prstDash val="solid"/>
          </a:ln>
        </p:spPr>
      </p:sp>
      <p:sp>
        <p:nvSpPr>
          <p:cNvPr id="6" name="Shape 3"/>
          <p:cNvSpPr/>
          <p:nvPr/>
        </p:nvSpPr>
        <p:spPr>
          <a:xfrm>
            <a:off x="1778000" y="1655266"/>
            <a:ext cx="8636000" cy="3708400"/>
          </a:xfrm>
          <a:prstGeom prst="roundRect">
            <a:avLst>
              <a:gd name="adj" fmla="val 1370"/>
            </a:avLst>
          </a:prstGeom>
          <a:solidFill>
            <a:srgbClr val="FFFFFF"/>
          </a:solidFill>
          <a:ln/>
        </p:spPr>
      </p:sp>
      <p:pic>
        <p:nvPicPr>
          <p:cNvPr id="7" name="Image 1" descr="Concatenation plus MLP, Coupled Mamba on the codon grid, and IsoFormer-style cross-attention">    </p:cNvPr>
          <p:cNvPicPr>
            <a:picLocks noChangeAspect="1"/>
          </p:cNvPicPr>
          <p:nvPr/>
        </p:nvPicPr>
        <p:blipFill>
          <a:blip r:embed="rId2"/>
          <a:srcRect l="-48" r="-48" t="0" b="0"/>
          <a:stretch/>
        </p:blipFill>
        <p:spPr>
          <a:xfrm>
            <a:off x="1778000" y="1655266"/>
            <a:ext cx="8636000" cy="3708400"/>
          </a:xfrm>
          <a:prstGeom prst="roundRect">
            <a:avLst>
              <a:gd name="adj" fmla="val 1370"/>
            </a:avLst>
          </a:prstGeom>
        </p:spPr>
      </p:pic>
      <p:sp>
        <p:nvSpPr>
          <p:cNvPr id="8" name="Shape 4"/>
          <p:cNvSpPr/>
          <p:nvPr/>
        </p:nvSpPr>
        <p:spPr>
          <a:xfrm>
            <a:off x="815975" y="4949130"/>
            <a:ext cx="3448050" cy="889695"/>
          </a:xfrm>
          <a:prstGeom prst="roundRect">
            <a:avLst>
              <a:gd name="adj" fmla="val 8208"/>
            </a:avLst>
          </a:prstGeom>
          <a:solidFill>
            <a:srgbClr val="FFFFFF"/>
          </a:solidFill>
          <a:ln w="6350">
            <a:solidFill>
              <a:srgbClr val="E6E6E6"/>
            </a:solidFill>
            <a:prstDash val="solid"/>
          </a:ln>
        </p:spPr>
      </p:sp>
      <p:sp>
        <p:nvSpPr>
          <p:cNvPr id="9" name="Text 5"/>
          <p:cNvSpPr/>
          <p:nvPr/>
        </p:nvSpPr>
        <p:spPr>
          <a:xfrm>
            <a:off x="946150" y="5053905"/>
            <a:ext cx="3283331" cy="70554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Positional alignment only where biology gives it:</a:t>
            </a:r>
            <a:r>
              <a:rPr lang="en-US" sz="1200" dirty="0">
                <a:solidFill>
                  <a:srgbClr val="31302E"/>
                </a:solidFill>
                <a:latin typeface="Inter" pitchFamily="34" charset="0"/>
                <a:ea typeface="Inter" pitchFamily="34" charset="-122"/>
                <a:cs typeface="Inter" pitchFamily="34" charset="-120"/>
              </a:rPr>
              <a:t> the codon grid on coding sequence, cross-attention or pooled fusion on GTEx.</a:t>
            </a:r>
            <a:endParaRPr lang="en-US" sz="1200" dirty="0"/>
          </a:p>
        </p:txBody>
      </p:sp>
      <p:sp>
        <p:nvSpPr>
          <p:cNvPr id="10" name="Text 6"/>
          <p:cNvSpPr/>
          <p:nvPr/>
        </p:nvSpPr>
        <p:spPr>
          <a:xfrm>
            <a:off x="4371975" y="4949130"/>
            <a:ext cx="3448050" cy="889695"/>
          </a:xfrm>
          <a:prstGeom prst="roundRect">
            <a:avLst>
              <a:gd name="adj" fmla="val 8208"/>
            </a:avLst>
          </a:prstGeom>
          <a:solidFill>
            <a:srgbClr val="FFFFFF"/>
          </a:solidFill>
          <a:ln w="6350">
            <a:solidFill>
              <a:srgbClr val="E6E6E6"/>
            </a:solidFill>
            <a:prstDash val="solid"/>
          </a:ln>
        </p:spPr>
        <p:txBody>
          <a:bodyPr wrap="square" lIns="108787" tIns="83387" rIns="13156" bIns="57987"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No alignment loss by default;</a:t>
            </a:r>
            <a:r>
              <a:rPr lang="en-US" sz="1200" dirty="0">
                <a:solidFill>
                  <a:srgbClr val="31302E"/>
                </a:solidFill>
                <a:latin typeface="Inter" pitchFamily="34" charset="0"/>
                <a:ea typeface="Inter" pitchFamily="34" charset="-122"/>
                <a:cs typeface="Inter" pitchFamily="34" charset="-120"/>
              </a:rPr>
              <a:t> one paired ablation on CaLM and on mRNA-FM with the same protein encoder.</a:t>
            </a:r>
            <a:endParaRPr lang="en-US" sz="1200" dirty="0"/>
          </a:p>
        </p:txBody>
      </p:sp>
      <p:sp>
        <p:nvSpPr>
          <p:cNvPr id="11" name="Shape 7"/>
          <p:cNvSpPr/>
          <p:nvPr/>
        </p:nvSpPr>
        <p:spPr>
          <a:xfrm>
            <a:off x="7927975" y="4949130"/>
            <a:ext cx="3448050" cy="889695"/>
          </a:xfrm>
          <a:prstGeom prst="roundRect">
            <a:avLst>
              <a:gd name="adj" fmla="val 8208"/>
            </a:avLst>
          </a:prstGeom>
          <a:solidFill>
            <a:srgbClr val="FFFFFF"/>
          </a:solidFill>
          <a:ln w="6350">
            <a:solidFill>
              <a:srgbClr val="E6E6E6"/>
            </a:solidFill>
            <a:prstDash val="solid"/>
          </a:ln>
        </p:spPr>
      </p:sp>
      <p:sp>
        <p:nvSpPr>
          <p:cNvPr id="12" name="Text 8"/>
          <p:cNvSpPr/>
          <p:nvPr/>
        </p:nvSpPr>
        <p:spPr>
          <a:xfrm>
            <a:off x="8058150" y="5053905"/>
            <a:ext cx="3283331" cy="70554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Coupled Mamba first (Gantt 20 to 21), cross-attention second (25);</a:t>
            </a:r>
            <a:r>
              <a:rPr lang="en-US" sz="1200" dirty="0">
                <a:solidFill>
                  <a:srgbClr val="31302E"/>
                </a:solidFill>
                <a:latin typeface="Inter" pitchFamily="34" charset="0"/>
                <a:ea typeface="Inter" pitchFamily="34" charset="-122"/>
                <a:cs typeface="Inter" pitchFamily="34" charset="-120"/>
              </a:rPr>
              <a:t> both scored against the reproduced BioLangFusion heads on identical splits.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33266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what the research plan adds</a:t>
            </a:r>
            <a:endParaRPr lang="en-US" sz="1200" dirty="0"/>
          </a:p>
        </p:txBody>
      </p:sp>
      <p:sp>
        <p:nvSpPr>
          <p:cNvPr id="4" name="Text 1"/>
          <p:cNvSpPr/>
          <p:nvPr>
            <p:ph type="title"/>
          </p:nvPr>
        </p:nvSpPr>
        <p:spPr>
          <a:xfrm>
            <a:off x="812800" y="1153120"/>
            <a:ext cx="10883392" cy="806053"/>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Seven add-ons to the Stage 4 design, each with a place in the tiers and the Gantt chart</a:t>
            </a:r>
            <a:endParaRPr lang="en-US" sz="2900" dirty="0"/>
          </a:p>
        </p:txBody>
      </p:sp>
      <p:sp>
        <p:nvSpPr>
          <p:cNvPr id="5" name="Shape 2"/>
          <p:cNvSpPr/>
          <p:nvPr/>
        </p:nvSpPr>
        <p:spPr>
          <a:xfrm>
            <a:off x="1546225" y="2063948"/>
            <a:ext cx="9099550" cy="3746500"/>
          </a:xfrm>
          <a:prstGeom prst="roundRect">
            <a:avLst>
              <a:gd name="adj" fmla="val 2627"/>
            </a:avLst>
          </a:prstGeom>
          <a:solidFill>
            <a:srgbClr val="FFFFFF"/>
          </a:solidFill>
          <a:ln w="6350">
            <a:solidFill>
              <a:srgbClr val="E6E6E6"/>
            </a:solidFill>
            <a:prstDash val="solid"/>
          </a:ln>
        </p:spPr>
      </p:sp>
      <p:sp>
        <p:nvSpPr>
          <p:cNvPr id="6" name="Shape 3"/>
          <p:cNvSpPr/>
          <p:nvPr/>
        </p:nvSpPr>
        <p:spPr>
          <a:xfrm>
            <a:off x="1651000" y="2143323"/>
            <a:ext cx="8890000" cy="3587750"/>
          </a:xfrm>
          <a:prstGeom prst="roundRect">
            <a:avLst>
              <a:gd name="adj" fmla="val 1416"/>
            </a:avLst>
          </a:prstGeom>
          <a:solidFill>
            <a:srgbClr val="FFFFFF"/>
          </a:solidFill>
          <a:ln/>
        </p:spPr>
      </p:sp>
      <p:pic>
        <p:nvPicPr>
          <p:cNvPr id="7" name="Image 1" descr="The research plan's add-ons: BioLangFusion reproduction, encoder swaps, LucaOne, full-transcript tasks, the mRFP control, structure features, and the distillation idea, each with its Gantt slot">    </p:cNvPr>
          <p:cNvPicPr>
            <a:picLocks noChangeAspect="1"/>
          </p:cNvPicPr>
          <p:nvPr/>
        </p:nvPicPr>
        <p:blipFill>
          <a:blip r:embed="rId2"/>
          <a:srcRect l="0" r="0" t="-8" b="-8"/>
          <a:stretch/>
        </p:blipFill>
        <p:spPr>
          <a:xfrm>
            <a:off x="1651000" y="2143323"/>
            <a:ext cx="8890000" cy="3587750"/>
          </a:xfrm>
          <a:prstGeom prst="roundRect">
            <a:avLst>
              <a:gd name="adj" fmla="val 1416"/>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Nothing planned is replaced: Coupled Mamba stays the priority architecture, the tiers and ablations stand, the task set keeps its order. Each add-on sharpens one thing: a matched published baseline, the cleanest test of H2, a joint-pretraining comparison, precise label gates.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43204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Stages 3 and 4 · added baseline, add-ons 1 and 2</a:t>
            </a:r>
            <a:endParaRPr lang="en-US" sz="1200" dirty="0"/>
          </a:p>
        </p:txBody>
      </p:sp>
      <p:sp>
        <p:nvSpPr>
          <p:cNvPr id="4" name="Text 1"/>
          <p:cNvSpPr/>
          <p:nvPr>
            <p:ph type="title"/>
          </p:nvPr>
        </p:nvSpPr>
        <p:spPr>
          <a:xfrm>
            <a:off x="812800" y="1153120"/>
            <a:ext cx="10883392" cy="806053"/>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Reproduce BioLangFusion exactly, then change the encoders and nothing else</a:t>
            </a:r>
            <a:endParaRPr lang="en-US" sz="2900" dirty="0"/>
          </a:p>
        </p:txBody>
      </p:sp>
      <p:sp>
        <p:nvSpPr>
          <p:cNvPr id="5" name="Shape 2"/>
          <p:cNvSpPr/>
          <p:nvPr/>
        </p:nvSpPr>
        <p:spPr>
          <a:xfrm>
            <a:off x="815975" y="2063948"/>
            <a:ext cx="7296150" cy="3276600"/>
          </a:xfrm>
          <a:prstGeom prst="roundRect">
            <a:avLst>
              <a:gd name="adj" fmla="val 3004"/>
            </a:avLst>
          </a:prstGeom>
          <a:solidFill>
            <a:srgbClr val="FFFFFF"/>
          </a:solidFill>
          <a:ln w="6350">
            <a:solidFill>
              <a:srgbClr val="E6E6E6"/>
            </a:solidFill>
            <a:prstDash val="solid"/>
          </a:ln>
        </p:spPr>
      </p:sp>
      <p:sp>
        <p:nvSpPr>
          <p:cNvPr id="6" name="Shape 3"/>
          <p:cNvSpPr/>
          <p:nvPr/>
        </p:nvSpPr>
        <p:spPr>
          <a:xfrm>
            <a:off x="908050" y="2143323"/>
            <a:ext cx="7112000" cy="3117850"/>
          </a:xfrm>
          <a:prstGeom prst="roundRect">
            <a:avLst>
              <a:gd name="adj" fmla="val 1629"/>
            </a:avLst>
          </a:prstGeom>
          <a:solidFill>
            <a:srgbClr val="FFFFFF"/>
          </a:solidFill>
          <a:ln/>
        </p:spPr>
      </p:sp>
      <p:pic>
        <p:nvPicPr>
          <p:cNvPr id="7" name="Image 1" descr="The BioLangFusion architecture reproduced then run with swapped encoders; pooled or region-aware fusion where no grid exists; LucaOne and the Stage 3 designs it is compared with">    </p:cNvPr>
          <p:cNvPicPr>
            <a:picLocks noChangeAspect="1"/>
          </p:cNvPicPr>
          <p:nvPr/>
        </p:nvPicPr>
        <p:blipFill>
          <a:blip r:embed="rId2"/>
          <a:srcRect l="-23" r="-23" t="0" b="0"/>
          <a:stretch/>
        </p:blipFill>
        <p:spPr>
          <a:xfrm>
            <a:off x="908050" y="2143323"/>
            <a:ext cx="7112000" cy="3117850"/>
          </a:xfrm>
          <a:prstGeom prst="roundRect">
            <a:avLst>
              <a:gd name="adj" fmla="val 1629"/>
            </a:avLst>
          </a:prstGeom>
        </p:spPr>
      </p:pic>
      <p:sp>
        <p:nvSpPr>
          <p:cNvPr id="8" name="Text 4"/>
          <p:cNvSpPr/>
          <p:nvPr/>
        </p:nvSpPr>
        <p:spPr>
          <a:xfrm>
            <a:off x="8270875" y="2063948"/>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Phase A, fixed:</a:t>
            </a:r>
            <a:r>
              <a:rPr lang="en-US" sz="1100" dirty="0">
                <a:solidFill>
                  <a:srgbClr val="31302E"/>
                </a:solidFill>
                <a:latin typeface="Inter" pitchFamily="34" charset="0"/>
                <a:ea typeface="Inter" pitchFamily="34" charset="-122"/>
                <a:cs typeface="Inter" pitchFamily="34" charset="-120"/>
              </a:rPr>
              <a:t> NT v2 100M, RNA-FM, ESM-2 8M on the codon grid; the three heads; one TextCNN head; the CodonBERT splits and recipe; every unreported detail recorded as a deviation.</a:t>
            </a:r>
            <a:endParaRPr lang="en-US" sz="1100" dirty="0"/>
          </a:p>
        </p:txBody>
      </p:sp>
      <p:sp>
        <p:nvSpPr>
          <p:cNvPr id="9" name="Text 5"/>
          <p:cNvSpPr/>
          <p:nvPr/>
        </p:nvSpPr>
        <p:spPr>
          <a:xfrm>
            <a:off x="8270875" y="3283049"/>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Phase B, swapped one at a time:</a:t>
            </a:r>
            <a:r>
              <a:rPr lang="en-US" sz="1100" dirty="0">
                <a:solidFill>
                  <a:srgbClr val="31302E"/>
                </a:solidFill>
                <a:latin typeface="Inter" pitchFamily="34" charset="0"/>
                <a:ea typeface="Inter" pitchFamily="34" charset="-122"/>
                <a:cs typeface="Inter" pitchFamily="34" charset="-120"/>
              </a:rPr>
              <a:t> CaLM or mRNA-FM for RNA-FM; ESM-2 150M or ProtBERT for ESM-2 8M; NT 500M, DNABERT-2, or HyenaDNA for NT v2. Then the promising triples.</a:t>
            </a:r>
            <a:endParaRPr lang="en-US" sz="1100" dirty="0"/>
          </a:p>
        </p:txBody>
      </p:sp>
      <p:sp>
        <p:nvSpPr>
          <p:cNvPr id="10" name="Text 6"/>
          <p:cNvSpPr/>
          <p:nvPr/>
        </p:nvSpPr>
        <p:spPr>
          <a:xfrm>
            <a:off x="8270875" y="4502150"/>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What it gives the plan:</a:t>
            </a:r>
            <a:r>
              <a:rPr lang="en-US" sz="1100" dirty="0">
                <a:solidFill>
                  <a:srgbClr val="31302E"/>
                </a:solidFill>
                <a:latin typeface="Inter" pitchFamily="34" charset="0"/>
                <a:ea typeface="Inter" pitchFamily="34" charset="-122"/>
                <a:cs typeface="Inter" pitchFamily="34" charset="-120"/>
              </a:rPr>
              <a:t> a matched published baseline for Coupled Mamba on identical samples and splits, and the cleanest test of whether Stage 1 predicts which swaps gain (H2).</a:t>
            </a:r>
            <a:endParaRPr lang="en-US" sz="1100" dirty="0"/>
          </a:p>
        </p:txBody>
      </p:sp>
      <p:sp>
        <p:nvSpPr>
          <p:cNvPr id="11" name="Text 7"/>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The codon grid is positional alignment: a token-location operation, part of the reproduced system, not evidence that the embeddings carry the same information. Where no grid exists (GTEx, untranslated regions) fusion is pooled or region-aware.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1871"/>
            <a:ext cx="114300" cy="114300"/>
          </a:xfrm>
          <a:prstGeom prst="rect">
            <a:avLst/>
          </a:prstGeom>
        </p:spPr>
      </p:pic>
      <p:sp>
        <p:nvSpPr>
          <p:cNvPr id="3" name="Text 0"/>
          <p:cNvSpPr/>
          <p:nvPr/>
        </p:nvSpPr>
        <p:spPr>
          <a:xfrm>
            <a:off x="1003300" y="792361"/>
            <a:ext cx="3899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baselines and how a gain is scored</a:t>
            </a:r>
            <a:endParaRPr lang="en-US" sz="1200" dirty="0"/>
          </a:p>
        </p:txBody>
      </p:sp>
      <p:sp>
        <p:nvSpPr>
          <p:cNvPr id="4" name="Text 1"/>
          <p:cNvSpPr/>
          <p:nvPr>
            <p:ph type="title"/>
          </p:nvPr>
        </p:nvSpPr>
        <p:spPr>
          <a:xfrm>
            <a:off x="812800" y="1124942"/>
            <a:ext cx="10883392" cy="656530"/>
          </a:xfrm>
          <a:prstGeom prst="rect">
            <a:avLst/>
          </a:prstGeom>
          <a:noFill/>
          <a:ln/>
        </p:spPr>
        <p:txBody>
          <a:bodyPr wrap="square" lIns="0" tIns="0" rIns="0" bIns="0" rtlCol="0" anchor="t">
            <a:normAutofit/>
          </a:bodyPr>
          <a:lstStyle/>
          <a:p>
            <a:pPr algn="l" indent="0" marL="0">
              <a:lnSpc>
                <a:spcPts val="2478"/>
              </a:lnSpc>
              <a:buNone/>
            </a:pPr>
            <a:r>
              <a:rPr lang="en-US" sz="2338" b="1" i="0" spc="-100" kern="0" dirty="0">
                <a:solidFill>
                  <a:srgbClr val="000000"/>
                </a:solidFill>
                <a:latin typeface="Inter" pitchFamily="34" charset="0"/>
                <a:ea typeface="Inter" pitchFamily="34" charset="-122"/>
                <a:cs typeface="Inter" pitchFamily="34" charset="-120"/>
              </a:rPr>
              <a:t>Five published scores to match, one definition of fusion gain, six baselines every result must clear</a:t>
            </a:r>
            <a:endParaRPr lang="en-US" sz="2338" dirty="0"/>
          </a:p>
        </p:txBody>
      </p:sp>
      <p:sp>
        <p:nvSpPr>
          <p:cNvPr id="5" name="Shape 2"/>
          <p:cNvSpPr/>
          <p:nvPr/>
        </p:nvSpPr>
        <p:spPr>
          <a:xfrm>
            <a:off x="815975" y="1898948"/>
            <a:ext cx="5711627" cy="3939877"/>
          </a:xfrm>
          <a:prstGeom prst="roundRect">
            <a:avLst>
              <a:gd name="adj" fmla="val 2498"/>
            </a:avLst>
          </a:prstGeom>
          <a:solidFill>
            <a:srgbClr val="FFFFFF"/>
          </a:solidFill>
          <a:ln w="6350">
            <a:solidFill>
              <a:srgbClr val="E6E6E6"/>
            </a:solidFill>
            <a:prstDash val="solid"/>
          </a:ln>
        </p:spPr>
      </p:sp>
      <p:sp>
        <p:nvSpPr>
          <p:cNvPr id="6" name="Text 3"/>
          <p:cNvSpPr/>
          <p:nvPr/>
        </p:nvSpPr>
        <p:spPr>
          <a:xfrm>
            <a:off x="971550" y="2016423"/>
            <a:ext cx="5562491" cy="194667"/>
          </a:xfrm>
          <a:prstGeom prst="rect">
            <a:avLst/>
          </a:prstGeom>
          <a:noFill/>
          <a:ln/>
        </p:spPr>
        <p:txBody>
          <a:bodyPr wrap="square" lIns="0" tIns="0" rIns="0" bIns="0" rtlCol="0" anchor="t">
            <a:normAutofit/>
          </a:bodyPr>
          <a:lstStyle/>
          <a:p>
            <a:pPr algn="l" indent="0" marL="0">
              <a:lnSpc>
                <a:spcPts val="1370"/>
              </a:lnSpc>
              <a:buNone/>
            </a:pPr>
            <a:r>
              <a:rPr lang="en-US" sz="1142" b="1" spc="-25" kern="0" dirty="0">
                <a:solidFill>
                  <a:srgbClr val="000000"/>
                </a:solidFill>
                <a:latin typeface="Inter" pitchFamily="34" charset="0"/>
                <a:ea typeface="Inter" pitchFamily="34" charset="-122"/>
                <a:cs typeface="Inter" pitchFamily="34" charset="-120"/>
              </a:rPr>
              <a:t>Phase A targets (BioLangFusion, Table 1)</a:t>
            </a:r>
            <a:endParaRPr lang="en-US" sz="1142"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84250" y="2249190"/>
          <a:ext cx="5387777" cy="2993033"/>
        </p:xfrm>
        <a:graphic>
          <a:graphicData uri="http://schemas.openxmlformats.org/drawingml/2006/table">
            <a:tbl>
              <a:tblPr/>
              <a:tblGrid>
                <a:gridCol w="1077555"/>
                <a:gridCol w="1077555"/>
                <a:gridCol w="1077555"/>
                <a:gridCol w="1077555"/>
                <a:gridCol w="1077555"/>
              </a:tblGrid>
              <a:tr h="268288">
                <a:tc>
                  <a:txBody>
                    <a:bodyPr/>
                    <a:lstStyle/>
                    <a:p>
                      <a:pPr indent="0" marL="0">
                        <a:lnSpc>
                          <a:spcPts val="1304"/>
                        </a:lnSpc>
                        <a:buNone/>
                      </a:pPr>
                      <a:r>
                        <a:rPr lang="en-US" sz="932" b="1" dirty="0">
                          <a:solidFill>
                            <a:srgbClr val="615D59"/>
                          </a:solidFill>
                          <a:latin typeface="Inter" pitchFamily="34" charset="0"/>
                          <a:ea typeface="Inter" pitchFamily="34" charset="-122"/>
                          <a:cs typeface="Inter" pitchFamily="34" charset="-120"/>
                        </a:rPr>
                        <a:t>Dataset · metric</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NT</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RNA-FM</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ESM-2 8M</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Best fused</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7566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Fungal expression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0.804</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0.767</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0.695</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0.824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66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E. coli expression · accuracy</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41.3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52.9</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49.0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53.9 cross-att.</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97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mRNA stability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0.530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0.553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0.539</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0.563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66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Ab1 antibody mRNA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0.732</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0.743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0.711</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0.765 cross-att.</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766">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CoV-Vac degradation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0.780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0.841</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0.806</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0.864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4"/>
          <p:cNvSpPr/>
          <p:nvPr/>
        </p:nvSpPr>
        <p:spPr>
          <a:xfrm>
            <a:off x="971550" y="5293023"/>
            <a:ext cx="5562491" cy="453727"/>
          </a:xfrm>
          <a:prstGeom prst="rect">
            <a:avLst/>
          </a:prstGeom>
          <a:noFill/>
          <a:ln/>
        </p:spPr>
        <p:txBody>
          <a:bodyPr wrap="square" lIns="0" tIns="0" rIns="0" bIns="0" rtlCol="0" anchor="t">
            <a:normAutofit/>
          </a:bodyPr>
          <a:lstStyle/>
          <a:p>
            <a:pPr algn="l" indent="0" marL="0">
              <a:lnSpc>
                <a:spcPts val="1156"/>
              </a:lnSpc>
              <a:buNone/>
            </a:pPr>
            <a:r>
              <a:rPr lang="en-US" sz="856" dirty="0">
                <a:solidFill>
                  <a:srgbClr val="615D59"/>
                </a:solidFill>
                <a:latin typeface="Inter" pitchFamily="34" charset="0"/>
                <a:ea typeface="Inter" pitchFamily="34" charset="-122"/>
                <a:cs typeface="Inter" pitchFamily="34" charset="-120"/>
              </a:rPr>
              <a:t>Bold: best single encoder. Fusion gains in the paper are 0.010 to 0.023; no variance reported, so we report mean and spread over seeds with paired differences. Our frozen probe on the stability split: 0.364.</a:t>
            </a:r>
            <a:endParaRPr lang="en-US" sz="856" dirty="0"/>
          </a:p>
        </p:txBody>
      </p:sp>
      <p:sp>
        <p:nvSpPr>
          <p:cNvPr id="9" name="Shape 5"/>
          <p:cNvSpPr/>
          <p:nvPr/>
        </p:nvSpPr>
        <p:spPr>
          <a:xfrm>
            <a:off x="6683177" y="1895773"/>
            <a:ext cx="4696023" cy="1654770"/>
          </a:xfrm>
          <a:prstGeom prst="roundRect">
            <a:avLst>
              <a:gd name="adj" fmla="val 6140"/>
            </a:avLst>
          </a:prstGeom>
          <a:solidFill>
            <a:srgbClr val="213183"/>
          </a:solidFill>
          <a:ln/>
        </p:spPr>
      </p:sp>
      <p:sp>
        <p:nvSpPr>
          <p:cNvPr id="10" name="Text 6"/>
          <p:cNvSpPr/>
          <p:nvPr/>
        </p:nvSpPr>
        <p:spPr>
          <a:xfrm>
            <a:off x="6860977" y="2035473"/>
            <a:ext cx="4470636"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FFFFFF"/>
                </a:solidFill>
                <a:latin typeface="Inter" pitchFamily="34" charset="0"/>
                <a:ea typeface="Inter" pitchFamily="34" charset="-122"/>
                <a:cs typeface="Inter" pitchFamily="34" charset="-120"/>
              </a:rPr>
              <a:t>The fusion gain, everywhere the same</a:t>
            </a:r>
            <a:endParaRPr lang="en-US" sz="1400" dirty="0"/>
          </a:p>
        </p:txBody>
      </p:sp>
      <p:sp>
        <p:nvSpPr>
          <p:cNvPr id="11" name="Text 7"/>
          <p:cNvSpPr/>
          <p:nvPr/>
        </p:nvSpPr>
        <p:spPr>
          <a:xfrm>
            <a:off x="6860977" y="2299593"/>
            <a:ext cx="4470636" cy="1136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FFFFF"/>
                </a:solidFill>
                <a:latin typeface="Inter" pitchFamily="34" charset="0"/>
                <a:ea typeface="Inter" pitchFamily="34" charset="-122"/>
                <a:cs typeface="Inter" pitchFamily="34" charset="-120"/>
              </a:rPr>
              <a:t>Δfusion = Perf(fused) minus the best single encoder it fuses, on the same held-out examples, metric, splits, and head, with a confidence interval. Positive means an incremental predictive benefit under that protocol, not independent biological information.</a:t>
            </a:r>
            <a:endParaRPr lang="en-US" sz="1250" dirty="0"/>
          </a:p>
        </p:txBody>
      </p:sp>
      <p:sp>
        <p:nvSpPr>
          <p:cNvPr id="12" name="Shape 8"/>
          <p:cNvSpPr/>
          <p:nvPr/>
        </p:nvSpPr>
        <p:spPr>
          <a:xfrm>
            <a:off x="6686352" y="3642618"/>
            <a:ext cx="4689673" cy="1329333"/>
          </a:xfrm>
          <a:prstGeom prst="roundRect">
            <a:avLst>
              <a:gd name="adj" fmla="val 7404"/>
            </a:avLst>
          </a:prstGeom>
          <a:solidFill>
            <a:srgbClr val="FFFFFF"/>
          </a:solidFill>
          <a:ln w="6350">
            <a:solidFill>
              <a:srgbClr val="E6E6E6"/>
            </a:solidFill>
            <a:prstDash val="solid"/>
          </a:ln>
        </p:spPr>
      </p:sp>
      <p:sp>
        <p:nvSpPr>
          <p:cNvPr id="13" name="Text 9"/>
          <p:cNvSpPr/>
          <p:nvPr/>
        </p:nvSpPr>
        <p:spPr>
          <a:xfrm>
            <a:off x="6867327" y="3772793"/>
            <a:ext cx="4457555"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000000"/>
                </a:solidFill>
                <a:latin typeface="Inter" pitchFamily="34" charset="0"/>
                <a:ea typeface="Inter" pitchFamily="34" charset="-122"/>
                <a:cs typeface="Inter" pitchFamily="34" charset="-120"/>
              </a:rPr>
              <a:t>Baselines B0 to B5</a:t>
            </a:r>
            <a:endParaRPr lang="en-US" sz="1400" dirty="0"/>
          </a:p>
        </p:txBody>
      </p:sp>
      <p:sp>
        <p:nvSpPr>
          <p:cNvPr id="14" name="Text 10"/>
          <p:cNvSpPr/>
          <p:nvPr/>
        </p:nvSpPr>
        <p:spPr>
          <a:xfrm>
            <a:off x="6867327" y="4024213"/>
            <a:ext cx="4457555" cy="842963"/>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Mean predictor · length and composition (GTEx: four length features, R² 0.242) · best single encoder · same-modality ensemble · concatenation + MLP · the reproduced BioLangFusion, LucaOne, and the published scores.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433"/>
            <a:ext cx="114300" cy="114300"/>
          </a:xfrm>
          <a:prstGeom prst="rect">
            <a:avLst/>
          </a:prstGeom>
        </p:spPr>
      </p:pic>
      <p:sp>
        <p:nvSpPr>
          <p:cNvPr id="3" name="Text 0"/>
          <p:cNvSpPr/>
          <p:nvPr/>
        </p:nvSpPr>
        <p:spPr>
          <a:xfrm>
            <a:off x="1003300" y="810022"/>
            <a:ext cx="2450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datasets and tests</a:t>
            </a:r>
            <a:endParaRPr lang="en-US" sz="1200" dirty="0"/>
          </a:p>
        </p:txBody>
      </p:sp>
      <p:sp>
        <p:nvSpPr>
          <p:cNvPr id="4" name="Text 1"/>
          <p:cNvSpPr/>
          <p:nvPr>
            <p:ph type="title"/>
          </p:nvPr>
        </p:nvSpPr>
        <p:spPr>
          <a:xfrm>
            <a:off x="812800" y="1134765"/>
            <a:ext cx="10883392" cy="785416"/>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Each dataset isolates one question; the research plan adds five and marks its priorities</a:t>
            </a:r>
            <a:endParaRPr lang="en-US" sz="2837" dirty="0"/>
          </a:p>
        </p:txBody>
      </p:sp>
      <p:sp>
        <p:nvSpPr>
          <p:cNvPr id="5" name="Shape 2"/>
          <p:cNvSpPr/>
          <p:nvPr/>
        </p:nvSpPr>
        <p:spPr>
          <a:xfrm>
            <a:off x="815975" y="2012255"/>
            <a:ext cx="5518150" cy="3930650"/>
          </a:xfrm>
          <a:prstGeom prst="roundRect">
            <a:avLst>
              <a:gd name="adj" fmla="val 2504"/>
            </a:avLst>
          </a:prstGeom>
          <a:solidFill>
            <a:srgbClr val="FFFFFF"/>
          </a:solidFill>
          <a:ln w="6350">
            <a:solidFill>
              <a:srgbClr val="E6E6E6"/>
            </a:solidFill>
            <a:prstDash val="solid"/>
          </a:ln>
        </p:spPr>
      </p:sp>
      <p:sp>
        <p:nvSpPr>
          <p:cNvPr id="6" name="Shape 3"/>
          <p:cNvSpPr/>
          <p:nvPr/>
        </p:nvSpPr>
        <p:spPr>
          <a:xfrm>
            <a:off x="908050" y="2104330"/>
            <a:ext cx="5334000" cy="3746500"/>
          </a:xfrm>
          <a:prstGeom prst="roundRect">
            <a:avLst>
              <a:gd name="adj" fmla="val 1356"/>
            </a:avLst>
          </a:prstGeom>
          <a:solidFill>
            <a:srgbClr val="FFFFFF"/>
          </a:solidFill>
          <a:ln/>
        </p:spPr>
      </p:sp>
      <p:pic>
        <p:nvPicPr>
          <p:cNvPr id="7" name="Image 1" descr="Candidate datasets, the regions and molecules each provides, and each one's priority in the plan">    </p:cNvPr>
          <p:cNvPicPr>
            <a:picLocks noChangeAspect="1"/>
          </p:cNvPicPr>
          <p:nvPr/>
        </p:nvPicPr>
        <p:blipFill>
          <a:blip r:embed="rId2"/>
          <a:stretch>
            <a:fillRect/>
          </a:stretch>
        </p:blipFill>
        <p:spPr>
          <a:xfrm>
            <a:off x="1108999" y="2104330"/>
            <a:ext cx="4932101" cy="3746500"/>
          </a:xfrm>
          <a:prstGeom prst="rect">
            <a:avLst/>
          </a:prstGeom>
        </p:spPr>
      </p:pic>
      <p:sp>
        <p:nvSpPr>
          <p:cNvPr id="8" name="Text 4"/>
          <p:cNvSpPr/>
          <p:nvPr/>
        </p:nvSpPr>
        <p:spPr>
          <a:xfrm>
            <a:off x="6518275" y="2012255"/>
            <a:ext cx="4857750" cy="763290"/>
          </a:xfrm>
          <a:prstGeom prst="roundRect">
            <a:avLst>
              <a:gd name="adj" fmla="val 9567"/>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Same coding sequence to every encoder.</a:t>
            </a:r>
            <a:r>
              <a:rPr lang="en-US" sz="1150" dirty="0">
                <a:solidFill>
                  <a:srgbClr val="31302E"/>
                </a:solidFill>
                <a:latin typeface="Inter" pitchFamily="34" charset="0"/>
                <a:ea typeface="Inter" pitchFamily="34" charset="-122"/>
                <a:cs typeface="Inter" pitchFamily="34" charset="-120"/>
              </a:rPr>
              <a:t> Codon against amino-acid tokens; Ab1 and CoV-Vac added so the BioLangFusion reproduction covers all five benchmarks.</a:t>
            </a:r>
            <a:endParaRPr lang="en-US" sz="1150" dirty="0"/>
          </a:p>
        </p:txBody>
      </p:sp>
      <p:sp>
        <p:nvSpPr>
          <p:cNvPr id="9" name="Text 5"/>
          <p:cNvSpPr/>
          <p:nvPr/>
        </p:nvSpPr>
        <p:spPr>
          <a:xfrm>
            <a:off x="6518275" y="2858095"/>
            <a:ext cx="4857750" cy="964803"/>
          </a:xfrm>
          <a:prstGeom prst="roundRect">
            <a:avLst>
              <a:gd name="adj" fmla="val 7569"/>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Distinct molecules and full transcripts.</a:t>
            </a:r>
            <a:r>
              <a:rPr lang="en-US" sz="1150" dirty="0">
                <a:solidFill>
                  <a:srgbClr val="31302E"/>
                </a:solidFill>
                <a:latin typeface="Inter" pitchFamily="34" charset="0"/>
                <a:ea typeface="Inter" pitchFamily="34" charset="-122"/>
                <a:cs typeface="Inter" pitchFamily="34" charset="-120"/>
              </a:rPr>
              <a:t> UTRs the codon encoders cannot read; CDS only against plus 3' UTR against the full transcript, plus protein. The mRNABench splits add gates on regions, labels, and grouped splits.</a:t>
            </a:r>
            <a:endParaRPr lang="en-US" sz="1150" dirty="0"/>
          </a:p>
        </p:txBody>
      </p:sp>
      <p:sp>
        <p:nvSpPr>
          <p:cNvPr id="10" name="Text 6"/>
          <p:cNvSpPr/>
          <p:nvPr/>
        </p:nvSpPr>
        <p:spPr>
          <a:xfrm>
            <a:off x="6518275" y="3905448"/>
            <a:ext cx="4857750" cy="763290"/>
          </a:xfrm>
          <a:prstGeom prst="roundRect">
            <a:avLst>
              <a:gd name="adj" fmla="val 9567"/>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Labels kept distinct.</a:t>
            </a:r>
            <a:r>
              <a:rPr lang="en-US" sz="1150" dirty="0">
                <a:solidFill>
                  <a:srgbClr val="31302E"/>
                </a:solidFill>
                <a:latin typeface="Inter" pitchFamily="34" charset="0"/>
                <a:ea typeface="Inter" pitchFamily="34" charset="-122"/>
                <a:cs typeface="Inter" pitchFamily="34" charset="-120"/>
              </a:rPr>
              <a:t> Half-life (Saluki, LBKWK), translation efficiency (TE human, mouse), and ribosome load (Sugimoto, LBKWK MRL) each on their own split and metric.</a:t>
            </a:r>
            <a:endParaRPr lang="en-US" sz="1150" dirty="0"/>
          </a:p>
        </p:txBody>
      </p:sp>
      <p:sp>
        <p:nvSpPr>
          <p:cNvPr id="11" name="Text 7"/>
          <p:cNvSpPr/>
          <p:nvPr/>
        </p:nvSpPr>
        <p:spPr>
          <a:xfrm>
            <a:off x="6515100" y="4748113"/>
            <a:ext cx="5010023" cy="831453"/>
          </a:xfrm>
          <a:prstGeom prst="rect">
            <a:avLst/>
          </a:prstGeom>
          <a:noFill/>
          <a:ln/>
        </p:spPr>
        <p:txBody>
          <a:bodyPr wrap="square" lIns="0" tIns="0" rIns="0" bIns="0"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From the October papers:</a:t>
            </a:r>
            <a:r>
              <a:rPr lang="en-US" sz="1150" dirty="0">
                <a:solidFill>
                  <a:srgbClr val="31302E"/>
                </a:solidFill>
                <a:latin typeface="Inter" pitchFamily="34" charset="0"/>
                <a:ea typeface="Inter" pitchFamily="34" charset="-122"/>
                <a:cs typeface="Inter" pitchFamily="34" charset="-120"/>
              </a:rPr>
              <a:t> COMET's multi-molecule tasks (RNA-protein, enhancer-promoter, CRISPR off-target) already report LucaOne and pairs of single-omics models, so "which encoder with which for which task" has published reference points there.</a:t>
            </a:r>
            <a:endParaRPr lang="en-US" sz="1150" dirty="0"/>
          </a:p>
        </p:txBody>
      </p:sp>
      <p:sp>
        <p:nvSpPr>
          <p:cNvPr id="12" name="Text 8"/>
          <p:cNvSpPr/>
          <p:nvPr/>
        </p:nvSpPr>
        <p:spPr>
          <a:xfrm>
            <a:off x="812800" y="6060480"/>
            <a:ext cx="10883392"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15D59"/>
                </a:solidFill>
                <a:latin typeface="Inter" pitchFamily="34" charset="0"/>
                <a:ea typeface="Inter" pitchFamily="34" charset="-122"/>
                <a:cs typeface="Inter" pitchFamily="34" charset="-120"/>
              </a:rPr>
              <a:t>Reference points: Saluki r 0.77 with codon and exon-junction tracks; RiboNN 5' UTR about 22%, CDS about 73%, 3' UTR about 5%; LucaOne's 1,280-token limit truncates most stability coding sequences and the whole GTEx window.</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49914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add-on · multi-teacher distillation, to think about</a:t>
            </a:r>
            <a:endParaRPr lang="en-US" sz="1200" dirty="0"/>
          </a:p>
        </p:txBody>
      </p:sp>
      <p:sp>
        <p:nvSpPr>
          <p:cNvPr id="4" name="Text 1"/>
          <p:cNvSpPr/>
          <p:nvPr>
            <p:ph type="title"/>
          </p:nvPr>
        </p:nvSpPr>
        <p:spPr>
          <a:xfrm>
            <a:off x="812800" y="1165820"/>
            <a:ext cx="10883392" cy="806053"/>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Compact students that copy their teachers' similarity structure, then fused: what Stage 1 already says</a:t>
            </a:r>
            <a:endParaRPr lang="en-US" sz="2900" dirty="0"/>
          </a:p>
        </p:txBody>
      </p:sp>
      <p:sp>
        <p:nvSpPr>
          <p:cNvPr id="5" name="Shape 2"/>
          <p:cNvSpPr/>
          <p:nvPr/>
        </p:nvSpPr>
        <p:spPr>
          <a:xfrm>
            <a:off x="815975" y="2089348"/>
            <a:ext cx="5194300" cy="3508077"/>
          </a:xfrm>
          <a:prstGeom prst="roundRect">
            <a:avLst>
              <a:gd name="adj" fmla="val 2806"/>
            </a:avLst>
          </a:prstGeom>
          <a:solidFill>
            <a:srgbClr val="FFFFFF"/>
          </a:solidFill>
          <a:ln w="6350">
            <a:solidFill>
              <a:srgbClr val="E6E6E6"/>
            </a:solidFill>
            <a:prstDash val="solid"/>
          </a:ln>
        </p:spPr>
      </p:sp>
      <p:sp>
        <p:nvSpPr>
          <p:cNvPr id="6" name="Text 3"/>
          <p:cNvSpPr/>
          <p:nvPr/>
        </p:nvSpPr>
        <p:spPr>
          <a:xfrm>
            <a:off x="984250" y="2232223"/>
            <a:ext cx="5003483"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000000"/>
                </a:solidFill>
                <a:latin typeface="Inter" pitchFamily="34" charset="0"/>
                <a:ea typeface="Inter" pitchFamily="34" charset="-122"/>
                <a:cs typeface="Inter" pitchFamily="34" charset="-120"/>
              </a:rPr>
              <a:t>The idea</a:t>
            </a:r>
            <a:endParaRPr lang="en-US" sz="1400" dirty="0"/>
          </a:p>
        </p:txBody>
      </p:sp>
      <p:sp>
        <p:nvSpPr>
          <p:cNvPr id="7" name="Text 4"/>
          <p:cNvSpPr/>
          <p:nvPr/>
        </p:nvSpPr>
        <p:spPr>
          <a:xfrm>
            <a:off x="984250" y="2521744"/>
            <a:ext cx="1436191" cy="288230"/>
          </a:xfrm>
          <a:custGeom>
            <a:avLst/>
            <a:gdLst/>
            <a:ahLst/>
            <a:cxnLst/>
            <a:rect l="l" t="t" r="r" b="b"/>
            <a:pathLst>
              <a:path w="1436191" h="288230">
                <a:moveTo>
                  <a:pt x="63500" y="0"/>
                </a:moveTo>
                <a:lnTo>
                  <a:pt x="1372691" y="0"/>
                </a:lnTo>
                <a:arcTo hR="63500" wR="63500" stAng="16200000" swAng="5400000"/>
                <a:lnTo>
                  <a:pt x="1436191" y="224730"/>
                </a:lnTo>
                <a:arcTo hR="63500" wR="63500" stAng="0" swAng="5400000"/>
                <a:lnTo>
                  <a:pt x="63500" y="28823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RNA teacher 1</a:t>
            </a:r>
            <a:endParaRPr lang="en-US" sz="1050" dirty="0"/>
          </a:p>
        </p:txBody>
      </p:sp>
      <p:sp>
        <p:nvSpPr>
          <p:cNvPr id="8" name="Text 5"/>
          <p:cNvSpPr/>
          <p:nvPr/>
        </p:nvSpPr>
        <p:spPr>
          <a:xfrm>
            <a:off x="984250" y="2848074"/>
            <a:ext cx="1436191" cy="288230"/>
          </a:xfrm>
          <a:custGeom>
            <a:avLst/>
            <a:gdLst/>
            <a:ahLst/>
            <a:cxnLst/>
            <a:rect l="l" t="t" r="r" b="b"/>
            <a:pathLst>
              <a:path w="1436191" h="288230">
                <a:moveTo>
                  <a:pt x="63500" y="0"/>
                </a:moveTo>
                <a:lnTo>
                  <a:pt x="1372691" y="0"/>
                </a:lnTo>
                <a:arcTo hR="63500" wR="63500" stAng="16200000" swAng="5400000"/>
                <a:lnTo>
                  <a:pt x="1436191" y="224730"/>
                </a:lnTo>
                <a:arcTo hR="63500" wR="63500" stAng="0" swAng="5400000"/>
                <a:lnTo>
                  <a:pt x="63500" y="28823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RNA teacher 2</a:t>
            </a:r>
            <a:endParaRPr lang="en-US" sz="1050" dirty="0"/>
          </a:p>
        </p:txBody>
      </p:sp>
      <p:sp>
        <p:nvSpPr>
          <p:cNvPr id="9" name="Text 6"/>
          <p:cNvSpPr/>
          <p:nvPr/>
        </p:nvSpPr>
        <p:spPr>
          <a:xfrm>
            <a:off x="984250" y="3174405"/>
            <a:ext cx="1436191" cy="288230"/>
          </a:xfrm>
          <a:custGeom>
            <a:avLst/>
            <a:gdLst/>
            <a:ahLst/>
            <a:cxnLst/>
            <a:rect l="l" t="t" r="r" b="b"/>
            <a:pathLst>
              <a:path w="1436191" h="288230">
                <a:moveTo>
                  <a:pt x="63500" y="0"/>
                </a:moveTo>
                <a:lnTo>
                  <a:pt x="1372691" y="0"/>
                </a:lnTo>
                <a:arcTo hR="63500" wR="63500" stAng="16200000" swAng="5400000"/>
                <a:lnTo>
                  <a:pt x="1436191" y="224730"/>
                </a:lnTo>
                <a:arcTo hR="63500" wR="63500" stAng="0" swAng="5400000"/>
                <a:lnTo>
                  <a:pt x="63500" y="28823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 teacher K</a:t>
            </a:r>
            <a:endParaRPr lang="en-US" sz="1050" dirty="0"/>
          </a:p>
        </p:txBody>
      </p:sp>
      <p:sp>
        <p:nvSpPr>
          <p:cNvPr id="10" name="Text 7"/>
          <p:cNvSpPr/>
          <p:nvPr/>
        </p:nvSpPr>
        <p:spPr>
          <a:xfrm>
            <a:off x="2483941" y="2858790"/>
            <a:ext cx="241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15D59"/>
                </a:solidFill>
                <a:latin typeface="Inter" pitchFamily="34" charset="0"/>
                <a:ea typeface="Inter" pitchFamily="34" charset="-122"/>
                <a:cs typeface="Inter" pitchFamily="34" charset="-120"/>
              </a:rPr>
              <a:t>→</a:t>
            </a:r>
            <a:endParaRPr lang="en-US" sz="1500" dirty="0"/>
          </a:p>
        </p:txBody>
      </p:sp>
      <p:sp>
        <p:nvSpPr>
          <p:cNvPr id="11" name="Text 8"/>
          <p:cNvSpPr/>
          <p:nvPr/>
        </p:nvSpPr>
        <p:spPr>
          <a:xfrm>
            <a:off x="2741116" y="2658269"/>
            <a:ext cx="1429941" cy="667841"/>
          </a:xfrm>
          <a:custGeom>
            <a:avLst/>
            <a:gdLst/>
            <a:ahLst/>
            <a:cxnLst/>
            <a:rect l="l" t="t" r="r" b="b"/>
            <a:pathLst>
              <a:path w="1429941" h="667841">
                <a:moveTo>
                  <a:pt x="60325" y="0"/>
                </a:moveTo>
                <a:lnTo>
                  <a:pt x="1369616" y="0"/>
                </a:lnTo>
                <a:arcTo hR="60325" wR="60325" stAng="16200000" swAng="5400000"/>
                <a:lnTo>
                  <a:pt x="1429941" y="607516"/>
                </a:lnTo>
                <a:arcTo hR="60325" wR="60325" stAng="0" swAng="5400000"/>
                <a:lnTo>
                  <a:pt x="60325" y="667841"/>
                </a:lnTo>
                <a:arcTo hR="60325" wR="60325" stAng="5400000" swAng="5400000"/>
                <a:lnTo>
                  <a:pt x="0" y="60325"/>
                </a:lnTo>
                <a:arcTo hR="60325" wR="60325" stAng="10800000" swAng="5400000"/>
                <a:close/>
              </a:path>
            </a:pathLst>
          </a:custGeom>
          <a:solidFill>
            <a:srgbClr val="F6F5F4"/>
          </a:solidFill>
          <a:ln w="6350">
            <a:solidFill>
              <a:srgbClr val="E6E6E6"/>
            </a:solidFill>
            <a:prstDash val="solid"/>
          </a:ln>
        </p:spPr>
        <p:txBody>
          <a:bodyPr wrap="square" lIns="41275" tIns="53975" rIns="41275" bIns="28575" rtlCol="0" anchor="t">
            <a:normAutofit/>
          </a:bodyPr>
          <a:lstStyle/>
          <a:p>
            <a:pPr algn="ctr" indent="0" marL="0">
              <a:lnSpc>
                <a:spcPts val="1470"/>
              </a:lnSpc>
              <a:buNone/>
            </a:pPr>
            <a:r>
              <a:rPr lang="en-US" sz="1050" dirty="0">
                <a:solidFill>
                  <a:srgbClr val="31302E"/>
                </a:solidFill>
                <a:latin typeface="Inter" pitchFamily="34" charset="0"/>
                <a:ea typeface="Inter" pitchFamily="34" charset="-122"/>
                <a:cs typeface="Inter" pitchFamily="34" charset="-120"/>
              </a:rPr>
              <a:t>B × B cosine similarity matrix per teacher</a:t>
            </a:r>
            <a:endParaRPr lang="en-US" sz="1050" dirty="0"/>
          </a:p>
        </p:txBody>
      </p:sp>
      <p:sp>
        <p:nvSpPr>
          <p:cNvPr id="12" name="Text 9"/>
          <p:cNvSpPr/>
          <p:nvPr/>
        </p:nvSpPr>
        <p:spPr>
          <a:xfrm>
            <a:off x="4237732" y="2858790"/>
            <a:ext cx="15537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15D59"/>
                </a:solidFill>
                <a:latin typeface="Inter" pitchFamily="34" charset="0"/>
                <a:ea typeface="Inter" pitchFamily="34" charset="-122"/>
                <a:cs typeface="Inter" pitchFamily="34" charset="-120"/>
              </a:rPr>
              <a:t>≈</a:t>
            </a:r>
            <a:endParaRPr lang="en-US" sz="1500" dirty="0"/>
          </a:p>
        </p:txBody>
      </p:sp>
      <p:sp>
        <p:nvSpPr>
          <p:cNvPr id="13" name="Text 10"/>
          <p:cNvSpPr/>
          <p:nvPr/>
        </p:nvSpPr>
        <p:spPr>
          <a:xfrm>
            <a:off x="4408984" y="2658269"/>
            <a:ext cx="1429841" cy="667841"/>
          </a:xfrm>
          <a:custGeom>
            <a:avLst/>
            <a:gdLst/>
            <a:ahLst/>
            <a:cxnLst/>
            <a:rect l="l" t="t" r="r" b="b"/>
            <a:pathLst>
              <a:path w="1429841" h="667841">
                <a:moveTo>
                  <a:pt x="60325" y="0"/>
                </a:moveTo>
                <a:lnTo>
                  <a:pt x="1369516" y="0"/>
                </a:lnTo>
                <a:arcTo hR="60325" wR="60325" stAng="16200000" swAng="5400000"/>
                <a:lnTo>
                  <a:pt x="1429841" y="607516"/>
                </a:lnTo>
                <a:arcTo hR="60325" wR="60325" stAng="0" swAng="5400000"/>
                <a:lnTo>
                  <a:pt x="60325" y="667841"/>
                </a:lnTo>
                <a:arcTo hR="60325" wR="60325" stAng="5400000" swAng="5400000"/>
                <a:lnTo>
                  <a:pt x="0" y="60325"/>
                </a:lnTo>
                <a:arcTo hR="60325" wR="60325" stAng="10800000" swAng="5400000"/>
                <a:close/>
              </a:path>
            </a:pathLst>
          </a:custGeom>
          <a:solidFill>
            <a:srgbClr val="F6F5F4"/>
          </a:solidFill>
          <a:ln w="6350">
            <a:solidFill>
              <a:srgbClr val="E6E6E6"/>
            </a:solidFill>
            <a:prstDash val="solid"/>
          </a:ln>
        </p:spPr>
        <p:txBody>
          <a:bodyPr wrap="square" lIns="41275" tIns="53975" rIns="41275" bIns="28575" rtlCol="0" anchor="t">
            <a:normAutofit/>
          </a:bodyPr>
          <a:lstStyle/>
          <a:p>
            <a:pPr algn="ctr" indent="0" marL="0">
              <a:lnSpc>
                <a:spcPts val="1470"/>
              </a:lnSpc>
              <a:buNone/>
            </a:pPr>
            <a:r>
              <a:rPr lang="en-US" sz="1050" dirty="0">
                <a:solidFill>
                  <a:srgbClr val="31302E"/>
                </a:solidFill>
                <a:latin typeface="Inter" pitchFamily="34" charset="0"/>
                <a:ea typeface="Inter" pitchFamily="34" charset="-122"/>
                <a:cs typeface="Inter" pitchFamily="34" charset="-120"/>
              </a:rPr>
              <a:t>student + one projection per teacher</a:t>
            </a:r>
            <a:endParaRPr lang="en-US" sz="1050" dirty="0"/>
          </a:p>
        </p:txBody>
      </p:sp>
      <p:sp>
        <p:nvSpPr>
          <p:cNvPr id="14" name="Text 11"/>
          <p:cNvSpPr/>
          <p:nvPr/>
        </p:nvSpPr>
        <p:spPr>
          <a:xfrm>
            <a:off x="984250" y="3538835"/>
            <a:ext cx="5003483" cy="1047353"/>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One student per modality (six DNA, five RNA, four protein teachers). Loss: mean squared difference between the teacher's and the projected student's off-diagonal similarities, averaged over teachers with equal weights. Teachers frozen; relational distillation (Park 2019) with teacher-specific heads.</a:t>
            </a:r>
            <a:endParaRPr lang="en-US" sz="1150" dirty="0"/>
          </a:p>
        </p:txBody>
      </p:sp>
      <p:sp>
        <p:nvSpPr>
          <p:cNvPr id="15" name="Text 12"/>
          <p:cNvSpPr/>
          <p:nvPr/>
        </p:nvSpPr>
        <p:spPr>
          <a:xfrm>
            <a:off x="984250" y="4636988"/>
            <a:ext cx="5003483" cy="842963"/>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Then freeze the students, concatenate, train a task head. Report Δstudent (over the best student) and Δteacher (against full teacher fusion), with parameters, memory, and inference cost. Neither is a training loss.</a:t>
            </a:r>
            <a:endParaRPr lang="en-US" sz="1150" dirty="0"/>
          </a:p>
        </p:txBody>
      </p:sp>
      <p:sp>
        <p:nvSpPr>
          <p:cNvPr id="16" name="Shape 13"/>
          <p:cNvSpPr/>
          <p:nvPr/>
        </p:nvSpPr>
        <p:spPr>
          <a:xfrm>
            <a:off x="6165850" y="2086173"/>
            <a:ext cx="5213350" cy="3514427"/>
          </a:xfrm>
          <a:prstGeom prst="roundRect">
            <a:avLst>
              <a:gd name="adj" fmla="val 2891"/>
            </a:avLst>
          </a:prstGeom>
          <a:solidFill>
            <a:srgbClr val="213183"/>
          </a:solidFill>
          <a:ln/>
        </p:spPr>
      </p:sp>
      <p:sp>
        <p:nvSpPr>
          <p:cNvPr id="17" name="Text 14"/>
          <p:cNvSpPr/>
          <p:nvPr/>
        </p:nvSpPr>
        <p:spPr>
          <a:xfrm>
            <a:off x="6343650" y="2225873"/>
            <a:ext cx="5003483"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FFFFFF"/>
                </a:solidFill>
                <a:latin typeface="Inter" pitchFamily="34" charset="0"/>
                <a:ea typeface="Inter" pitchFamily="34" charset="-122"/>
                <a:cs typeface="Inter" pitchFamily="34" charset="-120"/>
              </a:rPr>
              <a:t>What Track B and Track A say</a:t>
            </a:r>
            <a:endParaRPr lang="en-US" sz="1400" dirty="0"/>
          </a:p>
        </p:txBody>
      </p:sp>
      <p:sp>
        <p:nvSpPr>
          <p:cNvPr id="18" name="Text 15"/>
          <p:cNvSpPr/>
          <p:nvPr/>
        </p:nvSpPr>
        <p:spPr>
          <a:xfrm>
            <a:off x="6343650" y="2515394"/>
            <a:ext cx="5003483" cy="130532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The loss distills exactly what we measured.</a:t>
            </a:r>
            <a:r>
              <a:rPr lang="en-US" sz="1200" dirty="0">
                <a:solidFill>
                  <a:srgbClr val="FFFFFF"/>
                </a:solidFill>
                <a:latin typeface="Inter" pitchFamily="34" charset="0"/>
                <a:ea typeface="Inter" pitchFamily="34" charset="-122"/>
                <a:cs typeface="Inter" pitchFamily="34" charset="-120"/>
              </a:rPr>
              <a:t> A teacher's similarity matrix is its RSA structure; for every pair with a DNA encoder, 52% to 90% of that structure is letter, codon, and amino-acid composition. A DNA student trained on raw similarities would mostly learn counts. Raw or composition-controlled target is the first decision.</a:t>
            </a:r>
            <a:endParaRPr lang="en-US" sz="1200" dirty="0"/>
          </a:p>
        </p:txBody>
      </p:sp>
      <p:sp>
        <p:nvSpPr>
          <p:cNvPr id="19" name="Text 16"/>
          <p:cNvSpPr/>
          <p:nvPr/>
        </p:nvSpPr>
        <p:spPr>
          <a:xfrm>
            <a:off x="6343650" y="3871516"/>
            <a:ext cx="500348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Teachers are not all distinct.</a:t>
            </a:r>
            <a:r>
              <a:rPr lang="en-US" sz="1200" dirty="0">
                <a:solidFill>
                  <a:srgbClr val="FFFFFF"/>
                </a:solidFill>
                <a:latin typeface="Inter" pitchFamily="34" charset="0"/>
                <a:ea typeface="Inter" pitchFamily="34" charset="-122"/>
                <a:cs typeface="Inter" pitchFamily="34" charset="-120"/>
              </a:rPr>
              <a:t> RNA-FM and RiNALMo agree at CKA 0.81; the ESM-2 family is near-redundant. Equal weights count a redundant structure twice.</a:t>
            </a:r>
            <a:endParaRPr lang="en-US" sz="1200" dirty="0"/>
          </a:p>
        </p:txBody>
      </p:sp>
      <p:sp>
        <p:nvSpPr>
          <p:cNvPr id="20" name="Text 17"/>
          <p:cNvSpPr/>
          <p:nvPr/>
        </p:nvSpPr>
        <p:spPr>
          <a:xfrm>
            <a:off x="6343650" y="4587677"/>
            <a:ext cx="5003483"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Sequence-level loses the codon signal.</a:t>
            </a:r>
            <a:r>
              <a:rPr lang="en-US" sz="1200" dirty="0">
                <a:solidFill>
                  <a:srgbClr val="FFFFFF"/>
                </a:solidFill>
                <a:latin typeface="Inter" pitchFamily="34" charset="0"/>
                <a:ea typeface="Inter" pitchFamily="34" charset="-122"/>
                <a:cs typeface="Inter" pitchFamily="34" charset="-120"/>
              </a:rPr>
              <a:t> The codon encoders' contribution lives in local detail (GC3 at R² 0.90 to 0.99 against 0.38 to 0.44 for protein encoders); a region- or token-level term would be needed to keep 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1396"/>
            <a:ext cx="114300" cy="114300"/>
          </a:xfrm>
          <a:prstGeom prst="rect">
            <a:avLst/>
          </a:prstGeom>
        </p:spPr>
      </p:pic>
      <p:sp>
        <p:nvSpPr>
          <p:cNvPr id="3" name="Text 0"/>
          <p:cNvSpPr/>
          <p:nvPr/>
        </p:nvSpPr>
        <p:spPr>
          <a:xfrm>
            <a:off x="1003300" y="801985"/>
            <a:ext cx="395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Stages 3 and 4 · order of work and questions</a:t>
            </a:r>
            <a:endParaRPr lang="en-US" sz="1200" dirty="0"/>
          </a:p>
        </p:txBody>
      </p:sp>
      <p:sp>
        <p:nvSpPr>
          <p:cNvPr id="4" name="Text 1"/>
          <p:cNvSpPr/>
          <p:nvPr>
            <p:ph type="title"/>
          </p:nvPr>
        </p:nvSpPr>
        <p:spPr>
          <a:xfrm>
            <a:off x="812800" y="1182191"/>
            <a:ext cx="10883392" cy="376039"/>
          </a:xfrm>
          <a:prstGeom prst="rect">
            <a:avLst/>
          </a:prstGeom>
          <a:noFill/>
          <a:ln/>
        </p:spPr>
        <p:txBody>
          <a:bodyPr wrap="square" lIns="0" tIns="0" rIns="0" bIns="0" rtlCol="0" anchor="t">
            <a:normAutofit/>
          </a:bodyPr>
          <a:lstStyle/>
          <a:p>
            <a:pPr algn="l" indent="0" marL="0">
              <a:lnSpc>
                <a:spcPts val="2767"/>
              </a:lnSpc>
              <a:buNone/>
            </a:pPr>
            <a:r>
              <a:rPr lang="en-US" sz="2610" b="1" i="0" spc="-100" kern="0" dirty="0">
                <a:solidFill>
                  <a:srgbClr val="000000"/>
                </a:solidFill>
                <a:latin typeface="Inter" pitchFamily="34" charset="0"/>
                <a:ea typeface="Inter" pitchFamily="34" charset="-122"/>
                <a:cs typeface="Inter" pitchFamily="34" charset="-120"/>
              </a:rPr>
              <a:t>What we build first, and what we need from you</a:t>
            </a:r>
            <a:endParaRPr lang="en-US" sz="2610" dirty="0"/>
          </a:p>
        </p:txBody>
      </p:sp>
      <p:sp>
        <p:nvSpPr>
          <p:cNvPr id="5" name="Shape 2"/>
          <p:cNvSpPr/>
          <p:nvPr/>
        </p:nvSpPr>
        <p:spPr>
          <a:xfrm>
            <a:off x="815975" y="1713805"/>
            <a:ext cx="5194300" cy="4125020"/>
          </a:xfrm>
          <a:prstGeom prst="roundRect">
            <a:avLst>
              <a:gd name="adj" fmla="val 2386"/>
            </a:avLst>
          </a:prstGeom>
          <a:solidFill>
            <a:srgbClr val="FFFFFF"/>
          </a:solidFill>
          <a:ln w="6350">
            <a:solidFill>
              <a:srgbClr val="E6E6E6"/>
            </a:solidFill>
            <a:prstDash val="solid"/>
          </a:ln>
        </p:spPr>
      </p:sp>
      <p:sp>
        <p:nvSpPr>
          <p:cNvPr id="6" name="Text 3"/>
          <p:cNvSpPr/>
          <p:nvPr/>
        </p:nvSpPr>
        <p:spPr>
          <a:xfrm>
            <a:off x="1047750" y="1907480"/>
            <a:ext cx="4872673" cy="254000"/>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The Gantt chart with the add-ons folded in</a:t>
            </a:r>
            <a:endParaRPr lang="en-US" sz="1500" dirty="0"/>
          </a:p>
        </p:txBody>
      </p:sp>
      <p:sp>
        <p:nvSpPr>
          <p:cNvPr id="7" name="Text 4"/>
          <p:cNvSpPr/>
          <p:nvPr/>
        </p:nvSpPr>
        <p:spPr>
          <a:xfrm>
            <a:off x="1113433" y="2212280"/>
            <a:ext cx="4799370" cy="3017838"/>
          </a:xfrm>
          <a:prstGeom prst="rect">
            <a:avLst/>
          </a:prstGeom>
          <a:noFill/>
          <a:ln/>
        </p:spPr>
        <p:txBody>
          <a:bodyPr wrap="square" lIns="0" tIns="0" rIns="0" bIns="0" rtlCol="0" anchor="t">
            <a:normAutofit/>
          </a:bodyPr>
          <a:lstStyle/>
          <a:p>
            <a:pPr algn="l" marL="188317" indent="-188317">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Harden baselines (Gantt 16) and reproduce BioLangFusion on all five published datasets, deviations recorded (17, widened); mRFP in the controls (18)</a:t>
            </a:r>
            <a:endParaRPr lang="en-US" sz="1250" dirty="0"/>
          </a:p>
          <a:p>
            <a:pPr algn="l" marL="188317" indent="-188317">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Coupled Mamba feasibility (20) in parallel, then evaluated against the reproduced heads on identical splits (21)</a:t>
            </a:r>
            <a:endParaRPr lang="en-US" sz="1250" dirty="0"/>
          </a:p>
          <a:p>
            <a:pPr algn="l" marL="188317" indent="-188317">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Encoder swaps in the reproduced pipeline (24, now planned), and the alignment-loss ablation (23); LucaOne frozen baseline beside 16 and 17</a:t>
            </a:r>
            <a:endParaRPr lang="en-US" sz="1250" dirty="0"/>
          </a:p>
          <a:p>
            <a:pPr algn="l" marL="188317" indent="-188317">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Cross-attention on GTEx (25, conditional); repeated runs and uncertainty (28); synthesis (29)</a:t>
            </a:r>
            <a:endParaRPr lang="en-US" sz="1250" dirty="0"/>
          </a:p>
          <a:p>
            <a:pPr algn="l" marL="188317" indent="-188317">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mRNABench half-life and translation efficiency after the gates (38, or earlier if time allows); structure features conditional</a:t>
            </a:r>
            <a:endParaRPr lang="en-US" sz="1250" dirty="0"/>
          </a:p>
        </p:txBody>
      </p:sp>
      <p:sp>
        <p:nvSpPr>
          <p:cNvPr id="8" name="Shape 5"/>
          <p:cNvSpPr/>
          <p:nvPr/>
        </p:nvSpPr>
        <p:spPr>
          <a:xfrm>
            <a:off x="6191250" y="1710630"/>
            <a:ext cx="5187950" cy="4131370"/>
          </a:xfrm>
          <a:prstGeom prst="roundRect">
            <a:avLst>
              <a:gd name="adj" fmla="val 2459"/>
            </a:avLst>
          </a:prstGeom>
          <a:solidFill>
            <a:srgbClr val="213183"/>
          </a:solidFill>
          <a:ln/>
        </p:spPr>
      </p:sp>
      <p:sp>
        <p:nvSpPr>
          <p:cNvPr id="9" name="Text 6"/>
          <p:cNvSpPr/>
          <p:nvPr/>
        </p:nvSpPr>
        <p:spPr>
          <a:xfrm>
            <a:off x="6419850" y="1901130"/>
            <a:ext cx="4872673" cy="228203"/>
          </a:xfrm>
          <a:prstGeom prst="rect">
            <a:avLst/>
          </a:prstGeom>
          <a:noFill/>
          <a:ln/>
        </p:spPr>
        <p:txBody>
          <a:bodyPr wrap="square" lIns="0" tIns="0" rIns="0" bIns="0" rtlCol="0" anchor="t">
            <a:normAutofit/>
          </a:bodyPr>
          <a:lstStyle/>
          <a:p>
            <a:pPr algn="l" indent="0" marL="0">
              <a:lnSpc>
                <a:spcPts val="1620"/>
              </a:lnSpc>
              <a:buNone/>
            </a:pPr>
            <a:r>
              <a:rPr lang="en-US" sz="1350" b="1" spc="-25" kern="0" dirty="0">
                <a:solidFill>
                  <a:srgbClr val="FFFFFF"/>
                </a:solidFill>
                <a:latin typeface="Inter" pitchFamily="34" charset="0"/>
                <a:ea typeface="Inter" pitchFamily="34" charset="-122"/>
                <a:cs typeface="Inter" pitchFamily="34" charset="-120"/>
              </a:rPr>
              <a:t>Questions for Mina</a:t>
            </a:r>
            <a:endParaRPr lang="en-US" sz="1350" dirty="0"/>
          </a:p>
        </p:txBody>
      </p:sp>
      <p:sp>
        <p:nvSpPr>
          <p:cNvPr id="10" name="Text 7"/>
          <p:cNvSpPr/>
          <p:nvPr/>
        </p:nvSpPr>
        <p:spPr>
          <a:xfrm>
            <a:off x="6489105" y="2180134"/>
            <a:ext cx="4795798" cy="3496766"/>
          </a:xfrm>
          <a:prstGeom prst="rect">
            <a:avLst/>
          </a:prstGeom>
          <a:noFill/>
          <a:ln/>
        </p:spPr>
        <p:txBody>
          <a:bodyPr wrap="square" lIns="0" tIns="0" rIns="0" bIns="0" rtlCol="0" anchor="t">
            <a:normAutofit/>
          </a:bodyPr>
          <a:lstStyle/>
          <a:p>
            <a:pPr algn="l" marL="184745" indent="-184745">
              <a:lnSpc>
                <a:spcPts val="1779"/>
              </a:lnSpc>
              <a:buSzPct val="100000"/>
              <a:buFontTx/>
              <a:buAutoNum type="arabicPeriod" startAt="1"/>
            </a:pPr>
            <a:r>
              <a:rPr lang="en-US" sz="1227" dirty="0">
                <a:solidFill>
                  <a:srgbClr val="FFFFFF"/>
                </a:solidFill>
                <a:latin typeface="Inter" pitchFamily="34" charset="0"/>
                <a:ea typeface="Inter" pitchFamily="34" charset="-122"/>
                <a:cs typeface="Inter" pitchFamily="34" charset="-120"/>
              </a:rPr>
              <a:t>Is "agreement on what the central dogma shares, beyond composition" the representational-alignment framing for the paper, with the codon grid named as a token-location step?</a:t>
            </a:r>
            <a:endParaRPr lang="en-US" sz="1227" dirty="0"/>
          </a:p>
          <a:p>
            <a:pPr algn="l" marL="184745" indent="-184745">
              <a:lnSpc>
                <a:spcPts val="1779"/>
              </a:lnSpc>
              <a:buSzPct val="100000"/>
              <a:buFontTx/>
              <a:buAutoNum type="arabicPeriod" startAt="1"/>
            </a:pPr>
            <a:r>
              <a:rPr lang="en-US" sz="1227" dirty="0">
                <a:solidFill>
                  <a:srgbClr val="FFFFFF"/>
                </a:solidFill>
                <a:latin typeface="Inter" pitchFamily="34" charset="0"/>
                <a:ea typeface="Inter" pitchFamily="34" charset="-122"/>
                <a:cs typeface="Inter" pitchFamily="34" charset="-120"/>
              </a:rPr>
              <a:t>No official BioLangFusion code: is a reimplementation with documented deviations (TextCNN sizes, projections, seeds) acceptable as the faithful baseline?</a:t>
            </a:r>
            <a:endParaRPr lang="en-US" sz="1227" dirty="0"/>
          </a:p>
          <a:p>
            <a:pPr algn="l" marL="184745" indent="-184745">
              <a:lnSpc>
                <a:spcPts val="1779"/>
              </a:lnSpc>
              <a:buSzPct val="100000"/>
              <a:buFontTx/>
              <a:buAutoNum type="arabicPeriod" startAt="1"/>
            </a:pPr>
            <a:r>
              <a:rPr lang="en-US" sz="1227" dirty="0">
                <a:solidFill>
                  <a:srgbClr val="FFFFFF"/>
                </a:solidFill>
                <a:latin typeface="Inter" pitchFamily="34" charset="0"/>
                <a:ea typeface="Inter" pitchFamily="34" charset="-122"/>
                <a:cs typeface="Inter" pitchFamily="34" charset="-120"/>
              </a:rPr>
              <a:t>Where the add-ons sit in the Gantt chart: widen ID 17 to the five published datasets, make ID 24 (swaps) planned and move it ahead of ID 23, add a LucaOne row, put mRNABench in ID 38 unless time allows earlier. Does that order work?</a:t>
            </a:r>
            <a:endParaRPr lang="en-US" sz="1227" dirty="0"/>
          </a:p>
          <a:p>
            <a:pPr algn="l" marL="184745" indent="-184745">
              <a:lnSpc>
                <a:spcPts val="1779"/>
              </a:lnSpc>
              <a:buSzPct val="100000"/>
              <a:buFontTx/>
              <a:buAutoNum type="arabicPeriod" startAt="1"/>
            </a:pPr>
            <a:r>
              <a:rPr lang="en-US" sz="1227" dirty="0">
                <a:solidFill>
                  <a:srgbClr val="FFFFFF"/>
                </a:solidFill>
                <a:latin typeface="Inter" pitchFamily="34" charset="0"/>
                <a:ea typeface="Inter" pitchFamily="34" charset="-122"/>
                <a:cs typeface="Inter" pitchFamily="34" charset="-120"/>
              </a:rPr>
              <a:t>LucaOne's 1,280-token limit: run truncated inputs with truncation reported, or restrict to sequences that fit?</a:t>
            </a:r>
            <a:endParaRPr lang="en-US" sz="1227" dirty="0"/>
          </a:p>
          <a:p>
            <a:pPr algn="l" marL="184745" indent="-184745">
              <a:lnSpc>
                <a:spcPts val="1779"/>
              </a:lnSpc>
              <a:buSzPct val="100000"/>
              <a:buFontTx/>
              <a:buAutoNum type="arabicPeriod" startAt="1"/>
            </a:pPr>
            <a:r>
              <a:rPr lang="en-US" sz="1227" dirty="0">
                <a:solidFill>
                  <a:srgbClr val="FFFFFF"/>
                </a:solidFill>
                <a:latin typeface="Inter" pitchFamily="34" charset="0"/>
                <a:ea typeface="Inter" pitchFamily="34" charset="-122"/>
                <a:cs typeface="Inter" pitchFamily="34" charset="-120"/>
              </a:rPr>
              <a:t>Distillation: which encoders are the 6, 5, and 4 teachers, and should students match the raw or the composition-controlled similarity?</a:t>
            </a:r>
            <a:endParaRPr lang="en-US" sz="1227" dirty="0"/>
          </a:p>
        </p:txBody>
      </p:sp>
    </p:spTree>
  </p:cSld>
  <p:clrMapOvr>
    <a:masterClrMapping/>
  </p:clrMapOvr>
</p:sld>
</file>

<file path=ppt/theme/theme1.xml><?xml version="1.0" encoding="utf-8"?>
<a:theme xmlns:a="http://schemas.openxmlformats.org/drawingml/2006/main" name="Mina meeting, October 20: findings, alignment in biology, experimental plan">
  <a:themeElements>
    <a:clrScheme name="Mina meeting, October 20: findings, alignment in biology, experimental plan">
      <a:dk1>
        <a:srgbClr val="000000"/>
      </a:dk1>
      <a:lt1>
        <a:srgbClr val="F6F5F4"/>
      </a:lt1>
      <a:dk2>
        <a:srgbClr val="3E3D3D"/>
      </a:dk2>
      <a:lt2>
        <a:srgbClr val="DDDDDC"/>
      </a:lt2>
      <a:accent1>
        <a:srgbClr val="213183"/>
      </a:accent1>
      <a:accent2>
        <a:srgbClr val="1BAF7A"/>
      </a:accent2>
      <a:accent3>
        <a:srgbClr val="615D59"/>
      </a:accent3>
      <a:accent4>
        <a:srgbClr val="31302E"/>
      </a:accent4>
      <a:accent5>
        <a:srgbClr val="9AA0A6"/>
      </a:accent5>
      <a:accent6>
        <a:srgbClr val="626262"/>
      </a:accent6>
      <a:hlink>
        <a:srgbClr val="0563C1"/>
      </a:hlink>
      <a:folHlink>
        <a:srgbClr val="954F72"/>
      </a:folHlink>
    </a:clrScheme>
    <a:fontScheme name="Mina meeting, October 20: findings, alignment in biology, experimental pla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Mina meeting, October 20: findings, alignment in biology, experimental plan</dc:title>
  <dc:subject/>
  <dc:creator/>
  <cp:lastModifiedBy/>
  <cp:revision>1</cp:revision>
  <dcterms:created xsi:type="dcterms:W3CDTF">2026-10-10T16:22:25Z</dcterms:created>
  <dcterms:modified xsi:type="dcterms:W3CDTF">2026-10-10T16:22:25Z</dcterms:modified>
</cp:coreProperties>
</file>