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DECK IS. Progress between the October 7 and October 22 meetings, in the order of Mina's October 9 research plan: Priority 1 (BioLangFusion reproduced, then its encoders swapped), Priority 2 (LucaOne), Priorities 3 and 4 (full-transcript half-life and translation efficiency), Priority 5 (the mRFP control).
THE STORY IN FIVE SENTENCES. (1) We rebuilt BioLangFusion from its text and our copy gives the paper's scores for every single encoder and for its cross-attention head, so the build is right. (2) The paper's best head, gated attention, does not reproduce, and its own weights show why: it picks one modality instead of mixing three, and on CoV-Vac it picks the wrong one. (3) The paper's central claim, fusion beats the best single encoder, holds on two of six settings, and the biggest of those (E. coli, +6.9 points) disappeared when we swapped the paper's weak RNA encoder for a better one: the better encoder alone gained 8 points and fusion then added nothing. (4) Fusion still clearly helps where the inputs are physically different molecules (GTEx; full transcript with protein), and one jointly pretrained model (LucaOne) beats three fused ones on stability. (5) So the question is shifting from "does fusion help" to "when does it help, and which encoder goes in each slot", which is what the alignment work in Stages 1 and 2 was built to answer.
VOCABULARY. Encoder: a pretrained sequence model we use only to turn a sequence into numbers. Frozen: its weights never change; everything we train sits on top. Embedding: the numbers it produces (one vector per token, or pooled to one per sequence). Head: the small trained network on top. Probe: a ridge regression on pooled vectors. Resolved: a paired-bootstrap interval that excludes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ORDER. The plan's rule is reproduce first, then change one thing at a time. So: adopt the plan and place it in the Gantt chart; build the pipeline; check that the pipeline reproduces the paper on the cleanest benchmark (fungal expression); run the two things that need no codon grid (IsoFormer on GTEx, the LucaOne feasibility check); run the cheap control (mRFP); run Phase A on the other three benchmarks (27 hours on Julian's laptop); then Phase B, LucaOne and the half-life and translation-efficiency probes on Chase's GPU.
WHY FUNGAL WAS THE BUILD CHECK. It is the only benchmark with clean published splits (no test sequence appears in training), published values for all six model variants, and no preprocessing choice of ours in the way. If the build reproduces anywhere, it has to reproduce there.
WHAT EACH STEP DECIDED. Oct 17 to 18: singles reproduce, so the plumbing is right; no fusion head beats NT alone at 95%; the paper's appendix convolution is two codons out of register. Oct 18 to 19: with frozen encoders, IsoFormer's fusion beats RNA alone (+0.047, resolved); LucaOne's 1,280-token context admits none of the 6,000-nt GTEx windows. Oct 19: protein encoders predict nothing on synonymous recodings (the control holds); mRNA-FM carries by far the most codon information. Oct 19 to 20: singles and cross-attention reproduce on all four benchmarks; the gated head does not; fusion appeared to win on E. coli. Oct 21 to 22: the RNA-encoder swap erased that E. coli gain; LucaOne beats the three fused on stability; full transcript plus protein helps on both new tasks.
Ab1, the paper's fifth benchmark, is from Yazdani-Jahromi et al. at UCF and is not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1 asks for a faithful reproduction before any encoder is swapped. There is no official code, so the paper's text, equations and appendix lists are the specification. Where the paper contradicts itself we picked a reading and measured which one is right.
HOW THE PIPELINE WORKS. (1) Three frozen encoders read the same coding sequence in three alphabets: Nucleotide Transformer v2 100M reads DNA as 6-mer tokens (one token per six nucleotides); RNA-FM reads RNA one nucleotide per token; ESM-2 8M reads the translated protein one amino acid per token. (2) The three token streams are placed on one codon grid. A codon is three nucleotides and codes one amino acid, so the protein stream is already on the grid; the RNA stream is averaged in groups of three; the DNA stream has one token per two codons, so it is upsampled by two with a learned transposed convolution (the paper's Equation 1). Result: three streams of equal length, one vector per codon per modality. (3) One of three fusion heads combines them (slide 6). (4) The TextCNN prediction head: three parallel convolutions of width 3, 4 and 5 codons, ReLU, max over positions, dropout 0.2, one linear layer. Same head for every variant so only the fusion changes. (5) Training: Adam at 3e-5, weight decay 1e-5, batch 32, up to 500 epochs, early stopping on validation, best validation epoch restored; MSE for regression, cross-entropy for classification.
THE CONTRADICTIONS SETTLED BY MEASUREMENT. Length rule: the paper says it truncates at 1,000 tokens, but its own row counts (23,929 stability sequences used, 3,138 fungal, 4,450 E. coli, 2,400 CoV-Vac) only come out if sequences over 999 nucleotides are dropped. Dropping reproduces all four counts exactly. DNA upsampling: Equation 1 says kernel 2, stride 2; the appendix lists say kernel 3, stride 2, padding 2. An impulse test (feed one token, see where it lands) shows the appendix setting places the DNA stream two codons out of register with the protein frame and three codons short; Equation 1 lands exactly. Retraining under Equation 1 raised the two heads that combine streams position by position (concatenation +0.015, gated +0.008) and left cross-attention flat, which is the signature of an alignment fault. TextCNN width: the paper gives its "fixed" head 1,280 channels for the gated head and 100 for the others; we use 100 everywhere so capacity is matched, and run the gated head at 1,280 as a diagnostic.
ERROR BARS. The paper reports one number per cell with no error bar. Every one of our runs saves per-row test predictions, so any two models can be compared by a paired bootstrap on the same rows. That is what lets later slides say resolved or 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is the proof that the build is the paper's. A single-encoder run uses everything in the pipeline except the fusion head: the token caches, the splits, the codon grid, the TextCNN and the training loop. If the single encoders give the paper's numbers, all of that is right. If a fusion head then misses, the miss is in the head or in the paper's description of it.
HOW TO READ THE TABLE. Each cell is ours (paper). Spearman correlation everywhere except E. coli, which is accuracy in percent. Rows 1 to 4 are single encoders; "RNA-FM read on the codon grid" is RNA-FM with its nucleotide tokens averaged three to one, which is how it enters every fusion head and which the paper does not report. Rows 5 to 8 are the three heads, with the gated head shown with and without its entropy term (the paper's Table 4 ablation). Within 0.01 counts as reproduced: a Spearman on a few hundred test rows carries about plus or minus 0.03 of noise, and E. coli accuracy on 712 rows carries about plus or minus 3.7 points, so every E. coli difference here is within noise.
WHAT THE NUMBERS MEAN. Every single encoder matches within 0.01 on CoV-Vac and stability; NT and ESM-2 match on fungal. The one single-encoder number we cannot place is RNA-FM on fungal. Read as the encoder writes it (one token per nucleotide) it is 0.722 against 0.767; pooled three to one onto the codon grid, as every fusion head sees it, it is 0.794. The published value sits between the two readings, 0.045 above one and 0.027 below the other, and both of ours are one seed. On the other three benchmarks the published RNA-FM numbers track the unpooled reading (CoV-Vac 0.841 vs our 0.838, E. coli 52.9 vs 50.7, stability 0.553 vs 0.552), so the paper's baselines look unpooled and the fungal row is the outlier. Do not say the paper's baseline was pooled: that would explain fungal and contradict CoV-Vac.
WHY RNA-FM IS THE ONLY ENCODER WITH TWO READINGS. The codon grid exists to make three streams the same length so they can be combined; a single encoder has nothing to line up against, so an alone row is simply that encoder's own tokens into the TextCNN. ESM-2 writes one token per amino acid, which is already one per codon, so for it the two readings are the same object. Nucleotide Transformer writes one token per 6-mer, one per two codons, and its grid version needs the learned transposed convolution that only exists inside a fusion model, so alone it is read natively. RNA-FM writes one token per nucleotide, three per codon, and pooling them three to one is a fixed average that needs no training, so both readings exist and they are genuinely different inputs: the TextCNN's kernels of 3, 4 and 5 span 3 to 5 nucleotides on the native stream and 3 to 5 codons, 9 to 15 nucleotides, on the grid. Cross-attention reproduces everywhere, within 0.01 on all four benchmarks and above the paper on three. The gated head, the paper's best head on three of five benchmarks, is the best head on none here. It is below the paper on fungal (0.801 vs 0.824), far below on CoV-Vac (0.783 vs 0.864) and 0.012 low on stability; on E. coli it is above the paper (54.5 vs 52.1), where every difference in the table is inside the plus or minus 3.7 points of accuracy noise and so decides nothing. The two misses that count are the two benchmarks where the comparison is tightest, and CoV-Vac is the largest miss in the reproduction. Without the entropy term the picture is the same: fungal 0.802 vs 0.826 and CoV-Vac 0.792 vs 0.854 still miss, stability matches (0.558 vs 0.556). Concatenation is close on fungal and stability, above the paper on E. coli (58.7 vs 50.3) and below on CoV-Vac (0.799 vs 0.831).
MINA'S NOTE ("another table"). This table is only the comparison with the paper, not the comparison between heads. Read it as three questions: do the single-encoder rows match (yes), does cross-attention match (yes), does the gated head match (no). Slide 5 is the table for the fusion question.
ONE SENTENCE. Our build gives the paper's numbers for every encoder alone and for cross-attention; the paper's headline head, gated attention, is the one thing that does not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paper's claim is not "fusion scores 0.82" but "fusion beats each encoder alone". That is a paired comparison on the same test rows, and the paper gives no error bar for it. This table is Mina's delta-fusion from the research plan, one line per task, with an interval.
HOW. For each benchmark the best single encoder is chosen on the validation split (not on test, to avoid picking the winner after the fact), and so is the best head. Both are scored on the published test split; 4,000 paired resamples of the test rows; identical sequences resampled together so a repeated sequence does not count as independent evidence; the three seeds averaged inside each draw where three exist. The interval is the middle 95% of the resampled differences. Interval excludes zero: resolved. Contains zero: tie on this split.
THE VERDICTS, AND WHY EACH CAME OUT THAT WAY. Fungal: tie. All three streams are readings of one coding sequence; NT alone (pretrained on whole genomes of many species) already carries what the task needs, and the paper's own +0.020 sits inside our interval, so the paper's gain is the size of noise on a 430-row split. CoV-Vac: tie for cross-attention; concatenation and the gated head are resolved worse than RNA-FM alone. These are 81-nt fragments scored for degradation, which is about RNA structure, which is what RNA-FM (nucleotide-level, pretrained on structured non-coding RNA) is good at; the "protein" of an 81-nt fragment is a 27-residue peptide in an arbitrary frame and the DNA stream is the same letters at coarser resolution, so adding them adds noise. E. coli: fusion won in Phase A (+6.9 points), and slide 9 shows it was fusion compensating for a weak RNA encoder. Stability, published split: tie, but 68% of its test rows repeat a training sequence (slide 7). Stability, unseen rows: leans fusion (+0.040), one seed. GTEx: fusion wins, the only setting where the three inputs are different molecules (slide 13).
THE PATTERN (the interpretation Mina asked for). Fusion of three readings of one coding sequence does not beat the best single encoder, because the three encoders see the same information in three alphabets and the one that saw the most relevant data in pretraining wins alone. Fusion beats the best single encoder when the inputs carry information no single encoder could have seen (the genomic window on GTEx; the untranslated regions on half-life and translation efficiency).
MINA'S NOTE ("if someone wants to train a foundation model, train on task-specific datasets"). Her reading matches the evidence: on each benchmark the strongest single encoder is the one whose pretraining data is closest to the task's biology. RNA-FM (non-coding RNA, structure) wins CoV-Vac. mRNA-FM and CaLM (coding sequences, codon tokens) win E. coli, and mRNA-FM carries by far the most synonymous-codon information in the mRFP control. NT (many genomes) wins fungal. Practical rule: match the encoder's pretraining domain to the task before asking whether to fuse, and expect fusion to add something only when the second input is a different molecule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THE FIGURE. Three panels, one per fusion head, all starting from the same three streams on the codon grid (a stream is one vector per codon for one encoder). Panel a, concatenation: at each codon the three vectors are glued end to end into 1,560 numbers (DNA is first projected from 512 to 600) and one linear layer maps that to 600; nothing is discarded and the TextCNN that follows decides which features of which modality to use. Panel b, gated attention: each stream is averaged over its codons into one summary, a gate scores the three summaries, a softmax turns the scores into three weights that add to one, and those same three weights multiply the full streams codon by codon; the example weights (0.14 DNA, 0.00 RNA, 0.86 protein) are the measured E. coli weights for seed 0, and with RNA at 0.00 the whole RNA stream is gone from every position. Panel c, cross-modal attention: the three streams are laid end to end into one context of 3T positions, every position of every modality queries that context, and the updated streams are merged back; arrow width in the drawing stands for attention weight. The source figure is docs/notes/figures/figures_overleaf/fusion_heads_slide.pdf, and the Overleaf version is Figure "fusion heads".
THE MEASURED WEIGHTS, BENCHMARK BY BENCHMARK (entropy weight 0.01, averaged over the test split; three values are seeds 0, 1 and 2). Fungal: DNA 0.20 / 0.16 / 0.14, RNA 0.20 / 0.25 / 0.26, protein 0.61 / 0.59 / 0.60. CoV-Vac: DNA 0.83 / 0.92 / 0.94, RNA 0.01 / 0.03 / 0.00, protein 0.16 / 0.05 / 0.06. E. coli: DNA 0.11 / 0.18 / 0.10, RNA 0.00, protein 0.89 / 0.82 / 0.90. Stability: DNA 0.28, RNA 0.00, protein 0.71. At entropy weight 0.5 or 1.0, one modality takes 1.00 and the other two 0.00 on every benchmark.
WHAT THE GATED HEAD IS (Mina: "what is the gated head and how does it work"). After the three streams are projected to a common width, each modality's stream is summarized by one vector, the mean of its codon vectors. Each summary goes through a gate, tanh(V h) times sigmoid(U h), then a linear score. The three scores go through a softmax (we also learn a temperature, which the paper does not mention), giving three weights that add to one. The fused stream is weight_DNA times the DNA stream plus weight_RNA times the RNA stream plus weight_protein times the protein stream, codon by codon. The whole decision is three numbers per sequence. The paper calls these weights an interpretability output: how much each modality is used.
IS IT MIL ATTENTION? (Mina: "is gated MIL attention related?") Yes. It is the attention-based multiple instance learning pooling of Ilse, Tomczak and Welling (2018), where a bag of instances gets one attention weight per instance and the bag representation is the weighted sum. BioLangFusion uses the same equations with the three modalities as the three instances of one bag.
THE ENTROPY TERM. Loss = task loss + lambda times the negative entropy of the three weights, so it pushes the weights toward one-sided values. Lambda is chosen on validation among 0.01, 0.5 and 1; validation chose 0.01 everywhere. At 0.5 or 1.0 one modality takes 1.00 on every benchmark. The term never helps: on all four benchmarks the head without it scores at or above the head with it.
WHAT THE WEIGHTS SHOW. Nearly one-hot even at lambda 0.01. RNA is at zero on all three Phase A benchmarks. On E. coli the head keeps protein (0.89). On CoV-Vac it keeps DNA (0.83 to 0.94 across seeds) and scores 0.783, almost exactly the DNA-only score of 0.779, although RNA-FM alone is the best single encoder at 0.838. So on CoV-Vac the head selected against the best encoder, and that choice is the largest miss in the reproduction.
WHY RNA GOES TO ZERO (Mina: "E. coli, why is RNA 0"). Three things combine. First, softmax plus the entropy penalty is winner-take-all: once one modality's weight pulls ahead early in training, the others get almost no gradient and cannot recover (the same collapse seen in gating networks generally). Second, the RNA-FM stream carries the least usable codon information of the three for an expression task (smallest gain above the codon-frequency controls in the mRFP control) and on E. coli it is redundant with the DNA stream, which is the same letters read as 6-mers. Third, the gate decides from a mean over all codons, which erases the positional detail that makes a stream useful. The clearest demonstration is Phase B: with mRNA-FM in the RNA slot on E. coli, mRNA-FM alone is the best single encoder at 58.7%, and the gated head still gives RNA 0.0007 and scores 53.1%, five points below the encoder it threw away.
HOW THIS RELATES TO FUSION AND CONCATENATION (Mina: "how does it help with fusion / concatenation"). It does not add information; it reweights. With near one-hot weights it behaves like a single encoder plus a projection, and its score tracks whichever modality it kept. Concatenation keeps all three streams at every codon and lets the TextCNN pick features from any of them, so where the modalities are complementary (E. coli, Phase A) concatenation wins by seven points and the gated head by three. Cross-attention can move information across modalities and positions, so it is the only head that never loses to the best single encoder in Phase A. Measured order: cross-attention above concatenation above gated, the reverse of the paper; on fungal, cross minus gated is resolved (+0.022 [+0.009, +0.036]).
WIDTH. The paper gives the gated head a 1,280-channel TextCNN and the others 100. At 1,280 on fungal the gated head recovers about half its gap (0.801 to 0.812 vs 0.824). The other three benchmarks at 1,280 are the last check before the verdict is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Stage 3 dataset audit found that the published mRNA stability split repeats a training sequence in 2,444 of its 3,579 test rows (68%), usually with a different label (the same sequence measured again; median label spread 0.49). Validation leaks the same way (2,360 of 3,608 rows), so early stopping was also watching a leaky split. A score on this split is mostly a test of whether the model remembers sequences it has seen. We had to know how much of the published 0.55 is memory.
HOW. No retraining. The models trained on the published split were scored on all 3,579 test rows (the published number) and then on only the 1,135 unseen-sequence rows. One seed.
WHAT THE NUMBERS MEAN. Published-split scores cluster at 0.53 to 0.56 for every model, ours and the paper's, and that range is carried by the repeated rows. On unseen sequences the scores are 0.27 to 0.36: the honest generalization range for this benchmark, a third lower than the paper reports. On the unseen rows the three fusion heads (0.347 to 0.359) sit above RNA-FM as the encoder writes it (0.319) by 0.03 to 0.04, just short of resolving at one seed (concatenation +0.040 [-0.003, +0.083]). But RNA-FM pooled onto the codon grid, the stream every fusion head actually receives, scores 0.340 on the same rows, so the part of that gap fusion itself adds is 0.007 to 0.019. Whether the leak hides a real fusion gain is open, and the sequence-grouped re-split with seeds is the run that settles it.
MINA'S QUESTION ("did it report 1,000 rows or 3,000 rows in BioLangFusion?"). The 3,000. BioLangFusion reports its stability numbers on the full published test split, which is 3,579 rows after its own 999-nucleotide filter. The evidence: our full-split numbers match the paper's within 0.01 for every single encoder (RNA-FM 0.552 vs 0.553, NT 0.539 vs 0.530, ESM-2 0.531 vs 0.539). The 1,135 unseen rows are our construction; the paper never scores them and no published number exists for them. So the paper's stability column is a score on a split where two thirds of the test sequences were seen in training.
ONE SENTENCE. The paper's 0.55 on stability is on a split where 68% of test sequences are in training; on sequences the models have never seen, everyone is at about 0.3, and fusion is slightly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(plan item 5). The mRFP data set is one gene (a red fluorescent protein) recoded 1,000 ways with synonymous codons, so every sequence encodes the identical protein and expression differs only because of the codons chosen. That gives two clean tests. The protein encoders must be invariant: they see the same amino-acid string every time, so they must predict nothing; this is a negative control on the whole pipeline. And a nucleotide encoder is only interesting if it predicts expression beyond simple codon statistics; otherwise it has just memorized codon frequencies.
HOW. Stage 1's pooled embeddings of the twelve encoders. Controls: GC, GC3 (GC at the third codon position), the 64 codon frequencies, a Nussinov base-pairing proxy on the first 200 nt, and ViennaRNA minimum free energy of the first 60 nt and of the whole sequence. Together the controls reach R-squared 0.306. For each encoder a ridge probe is fit on the controls with inner cross-validation, the encoder is fit on the residual, and the gain in held-out R-squared is recorded over ten grouped fold assignments (identical sequences kept in one fold).
WHAT THE NUMBERS MEAN. The protein control holds: 0.000 gain, in every fold assignment. Every nucleotide encoder beats the Track A controls (GC3, codon use, Nussinov) in 10 of 10 fold assignments, so all of them carry codon information beyond frequencies. mRNA-FM carries far more than the others (+0.18 above every control, +0.26 above the Track A set); RNA-FM, BioLangFusion's own RNA encoder, carries the least (+0.02). Among the controls, the one structure feature that matters is the folding energy of the first 60 nt after the start codon (R-squared 0.11 alone; a weaker fold means higher expression), the classic Kudla et al. 2009 result. The Nussinov proxy carries nothing.
WHY mRNA-FM. mRNA-FM and CaLM read coding sequences one codon per token and were pretrained on coding sequences, so their vocabulary is codon identity in context. RNA-FM reads single nucleotides and was pretrained on non-coding RNA, so synonymous codon choice is not something its pretraining ever rewarded. Nucleotide Transformer reads 6-mers across whole genomes, which contain codon structure but dilute it. The ranking is the ranking of how much codon context each encoder's pretraining exposed it to.
MINA'S NOTE ("mRNA-FM performs best; maybe do fusion against mRNA-FM, like DNA or RNA fusion with mRNA-FM; try different mRNA encoders as well"). Agreed, and Phase B already put mRNA-FM in the RNA slot first because this control predicted it (slide 9). The follow-up is to make mRNA-FM the anchor: DNA + mRNA-FM, mRNA-FM + protein, and mRNA-FM beside other codon-level RNA encoders (CaLM, and RiNALMo, the remaining RNA swap) on the coding-sequence benchmarks. This goes into the plan as a Phase B extension under Gantt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1, Phase B). Keep the splits, preprocessing, heads and training fixed and change encoders only. The plan's success criterion is that at least one swap improves test performance under the same architecture; the plan's measure is delta-fusion against the best single encoder of that triple. The RNA slot went first because the mRFP control predicted mRNA-FM should carry the most; CaLM is its control (another codon-level encoder with a different pretraining set).
HOW. Token embeddings for mRNA-FM and CaLM were extracted on the benchmarks (both read one token per codon, so they drop onto the grid without RNA-FM's three-to-one average). The Phase A sweep was rerun with the swapped encoder: alone, concatenation, the gated head at the validation-chosen lambda, and cross-attention. Each is compared by paired bootstrap on the same test rows against its own best single encoder (delta-fusion) and against the same head with the original encoders. Run on Chase's GPU, scored independently twice.
E. COLI. mRNA-FM alone 58.7%, +8.0 points over RNA-FM alone [+3.9, +11.9], resolved, and +8.6 over ESM-2 alone (the validation-chosen single encoder in Phase A). CaLM alone 57.6%, +6.8 [+2.5, +10.8], resolved. With mRNA-FM in place: concatenation 59.0% (+0.3 over mRNA-FM alone, [-2.9, +3.5], not resolved); gated head 53.1% (-5.6, resolved worse); cross-attention 54.8% (-3.9, [-7.9, 0.0], not resolved). With CaLM: concatenation 57.7% (+0.1), gated 56.7% (-0.8), cross-attention 53.9% (-3.7, resolved worse). So Phase A's +6.9 for fusion was the fusion heads compensating for a weak RNA stream: give the model the right RNA encoder and the gain is gone. The 8-point single-encoder jump is the largest effect anywhere in Stage 4, and it is not a fusion effect.
COV-VAC. The swap does not help: mRNA-FM alone 0.812 (-0.021 vs RNA-FM alone, a tie), CaLM alone 0.844 (+0.011, a tie). With either codon-level encoder, concatenation and the gated head are resolved worse than the encoder alone (mRNA-FM: -0.054, -0.050; CaLM: -0.027, -0.042) and cross-attention ties (+0.009, -0.017). Same pattern as Phase A: on a structure-driven task on RNA fragments, a codon-level encoder has no advantage and fusing three readings adds noise.
MINA'S NOTES. "We want to see if fusion replaces RNA-FM and see if it works": that is exactly this comparison, each head with the swapped encoder against that encoder alone. On E. coli a good RNA encoder makes the single encoder as good as the fusion was, and fusion on top adds +0.3, unresolved: a good encoder replaces the fusion, not the other way around. "Check RNA-FM": it is the weakest of the four RNA encoders on codon information (mRFP: +0.02 vs +0.18 for mRNA-FM), but still the best choice on CoV-Vac, because that task is about RNA structure. "Explain fusion and what these mean": concat keeps every feature of every modality at every codon; gated keeps a weighted average with one weight per modality; cross lets each modality attend to every position of every modality. "Mark if cross-attention will be better": with the swapped encoders, no; it ties the encoder alone on CoV-Vac and on E. coli with mRNA-FM, and is resolved worse on E. coli with CaLM. The project's own cross-attention design (January, Gantt 25) will be scored against these baselines.
STILL TO RUN. The DNA swaps (NT 500M, DNABERT-2 with an adapter, HyenaDNA), the protein swaps (ESM-2 150M, ProtBERT), RiNALMo, fungal and stability, and seeds on the swaps that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RAN. Chase completed Phase B between October 25 and 27 on his GPU: eight single-encoder swaps (DNA slot: NT 500M human-ref and HyenaDNA large in place of NT v2 100M; RNA slot: RiNALMo 150M, mRNA-FM and CaLM in place of RNA-FM; protein slot: ESM-2 35M, ESM-2 150M and ProtBERT in place of ESM-2 8M) on fungal, CoV-Vac and E. coli, plus three of them (mRNA-FM, CaLM, ESM-2 150M) on mRNA stability. That is 27 swap-benchmark pairs, each with the swapped encoder read alone and all three fusion heads, seed 0, everything else at Phase A's settings, including the gated head's entropy weight. DNABERT-2 is left out because its variable-length tokens need a grid adapter. The paired intervals are from Chase's notebook (2,000 draws, identical sequences resampled together).
HOW TO READ THE GRID. Each cell is one fusion head minus the best single encoder validation chose, for that swap on that benchmark. Blue: fusion ahead and the interval excludes zero. Orange: fusion behind, resolved. Grey: a tie. The dashed top row is the original encoders at seed 0, for reference. The table underneath is the encoder question: each swapped encoder read alone, with the original it replaces in brackets.
THE ENCODER QUESTION. The RNA swaps change the most. On fungal, RiNALMo, mRNA-FM and CaLM alone score 0.844 to 0.852, against 0.722 for RNA-FM and 0.813 for NT v2, the best original encoder; one swapped encoder alone beats the paper's best fusion on fungal (0.824). On E. coli the same three lift the single encoder from 50.7 to 57.3 to 58.7. The DNA swaps are worse than NT v2 on fungal and CoV-Vac, and the protein swaps move little except ESM-2 150M on E. coli (53.9 against 50.1).
THE FUSION QUESTION. 81 comparisons: 15 resolved ahead, 14 resolved behind, 52 ties. Three of the 15 are fungal with ProtBERT, measured against ProtBERT alone because validation picked it, although NT v2 alone scores 0.813 on test; against NT v2 those three are ties. So 12 real candidates. Ten are on E. coli, and eight of those ten come from configurations where the weak RNA-FM still sits in the RNA slot (the DNA and protein swaps): the same compensation as Phase A. With mRNA-FM or CaLM in the slot, E. coli fusion gains vanish and two heads are resolved worse (gated -5.6 with mRNA-FM, cross-attention -3.7 with CaLM). Fungal: every other comparison ties. Stability: all nine tie.
WHAT IS NEW. Three gains that a weak encoder does not explain. On CoV-Vac, cross-attention with HyenaDNA is +0.039 over the best single encoder (RNA-FM, 0.833), reaching 0.872, above the paper's best CoV-Vac number (0.864); cross-attention with RiNALMo is +0.031. Both swaps are nucleotide-resolution encoders, and CoV-Vac is the folding of 81-nucleotide fragments, so this is the first sign that combining nucleotide-level streams through attention can help a nucleotide-scale task. On E. coli, the gated head with RiNALMo reaches 62.5%, the highest E. coli accuracy in the project, +6.5 over the best single encoder, and here its weights actually mix (RNA 0.42, protein 0.50). Also: on CoV-Vac, concatenation and the gated head are resolved worse than the best single encoder in 12 of 16 configurations, while cross-attention is never resolved worse.
THE GATED HEAD, REVISITED. With a strong RNA encoder the gate now gives RNA real weight (fungal 0.48 to 0.60, stability with mRNA-FM 0.79, CoV-Vac with RiNALMo 0.94), so it is a selector that often picks the strongest stream. But on E. coli with mRNA-FM, the best single encoder there, it still gives RNA 0.00 and scores 53.1: it selects, and sometimes selects wrong.
CAVEATS. One seed per configuration; the intervals measure test-row sampling, not training variation, so the three new gains are candidates. The entropy weight is inherited, not retuned per swap. The single reference is chosen on validation, which went wrong once (fungal, ProtBERT).
NEXT. Seeds on the three new gains; the mRNA-FM-anchored fusions Mina asked for; the plan's two-encoder replacements, chosen from these single swaps.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2). Does one model pretrained jointly on nucleotide and protein sequences (LucaOne: 1.8 billion parameters, both alphabets, one vocabulary) give a stronger representation than three separately pretrained encoders and their fusion? If joint pretraining already captures the cross-modal structure, fusing separately pretrained models is solving a problem pretraining can solve better.
HOW. LucaOne cannot be dropped into the BioLangFusion grid (different tokenizer and context), so the comparison is at the level of pooled vectors with an identical ridge probe for every row: same rows, same split, same probe. LucaOne reads the coding sequence as its gene stream and the translated protein as its protein stream; "both streams" is the two pooled vectors concatenated. The bootstrap groups identical test sequences together.
WHAT "BLF THREE FUSED" MEANS (Mina's question). The pooled vector of each of BioLangFusion's three encoders (NT v2 100M, 512 wide; RNA-FM, 640; ESM-2 8M, 320) concatenated into one 1,472-wide vector, with the same ridge probe fit on it. It is the probe-level equivalent of concatenation fusion, included so that LucaOne is compared against the three encoders combined and not only against each alone. It is not the trained TextCNN concatenation head of slides 4 and 5; those are trained on token streams, these are linear probes on pooled vectors, and the two are not interchangeable.
WHAT THE NUMBERS MEAN. LucaOne's two streams reach 0.483 against 0.390 for the three BioLangFusion encoders concatenated: +0.092 [+0.066, +0.120], resolved. Against the best single BioLangFusion encoder (NT, 0.312) it is +0.170. Even LucaOne's gene stream alone (0.443) beats the three fused. So one jointly pretrained model carries more linearly accessible stability signal than three separately pretrained encoders combined.
CAVEATS. This is the published split with its 68% train/test sequence overlap; grouping repeated sequences in the bootstrap does not remove the overlap, so read it beside slide 7. LucaOne is 1.8B parameters against 108M for the three encoders combined, so this compares representations, not matched budgets.
MINA'S NOTE ("do LucaOne on the other datasets"). Agreed. E. coli, CoV-Vac and fungal all fit LucaOne's 1,280-token context after the 999-nucleotide rule, so the same probe comparison runs on each. GTEx cannot: the 6,000-nt DNA window does not fit and only 40% of transcripts do. Added to the plan under Gantt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(Priorities 3 and 4). The stability benchmark in Phase A is coding sequence only. Real mRNA half-life and translation efficiency depend heavily on the untranslated regions (the 5' UTR for initiation, the 3' UTR for decay), which that benchmark cannot see. The plan put a feasibility gate in front of the datasets: confirm every row has both UTRs, a recoverable coding frame, and gene-grouped splits. The gate passed on all four primary sets (human and mouse half-life, human and mouse translation efficiency).
HOW. mRNABench's human half-life (12,939 transcripts; the target is the first principal component over 39 half-life studies) and human translation efficiency (10,281 transcripts, from ribosome profiling). Frozen encoders (RNA-FM, NT v2 100M, ESM-2 8M), windowed pooling for transcripts longer than an encoder's context, ridge probes, nine gene-grouped splits, mean and standard error. The composition baselines are counted features (nucleotide and codon frequencies, length) on each region set.
WHAT THE NUMBERS MEAN. Counted features of the whole transcript already reach 0.542 on half-life and 0.702 on translation efficiency. Those are the floors an encoder has to clear, not zero. The UTRs add about +0.055 to half-life and +0.019 to translation efficiency over coding-sequence composition before any encoder is involved. The 5' UTR alone carries real signal (0.178 and 0.433), and the full transcript beats the coding sequence alone on half-life (0.512 vs 0.473), so there is information outside the coding sequence the Phase A benchmark could never see. The protein encoder is the best single representation on both tasks (0.552 and 0.682), which is not what a transcript-level task would predict. A plausible reading: half-life and translation efficiency track codon optimality and ORF length, and amino-acid composition and protein length carry that side cleanly, while the RNA encoder reads a transcript of median length about 3,000 nt in 1,024-nt windows and averages them, losing long-range structure. The DNA encoder (NT v2, 6-mer tokens, a context of about 12,000 nt, so it reads most transcripts whole) on the full transcript reaches 0.660 on translation efficiency, above the RNA encoder's 0.610, which supports the context explanation. Fusing the full transcript with the protein gains +0.053 on half-life (0.606) and +0.030 on translation efficiency (0.712) over the best single encoder; the three-encoder fusion is within error of it (0.602, 0.713).
WHY NOT YET PROOF. These are means and standard errors over nine splits, with no per-split predictions kept, so there is no paired interval. The fused rows are within each other's error, and the gain over composition is +0.064 on half-life but only +0.010 on translation efficiency. Mouse is embedded and not yet scored.
ONE SENTENCE. Once the input is a full transcript with its protein, fusion helps on both tasks, which fits the pattern: fusion adds something when the second input carries information the first one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(Gantt 44, the counterpart to BioLangFusion). Every benchmark where fusion failed gives all three encoders the same coding sequence. GTEx gives them three different molecules: 6,000 nucleotides of genomic DNA centered on the transcription start site (promoter and first exons), the transcript, and the protein. No codon grid could align those, so IsoFormer fuses them with successive cross-attention between pooled modality representations. If fusion helps anywhere it should help here, and Stage 1 found cross-modal alignment lowest exactly here (the DNA window shares almost nothing retrievable with the transcript or protein).
HOW. NT v2 100M reads both the DNA window and the transcript, ESM-2 150M reads the protein, all frozen; IsoFormer's aggregator on top; predicting expression in 30 tissues; Spearman averaged over tissues; the 2,000-transcript pilot split by gene (no gene shared between halves); one seed; paired bootstrap over the 1,000 test transcripts.
WHAT THE NUMBERS MEAN. All three modalities beat RNA alone by +0.047 [+0.027, +0.069], resolved; DNA with RNA beats RNA alone by +0.055 [+0.032, +0.078], resolved. What carries the gain is RNA with DNA; protein adds nothing measurable (all three minus DNA with RNA is -0.007, a tie). Three of the paper's four orderings reproduce: RNA is the strongest single modality, all three beat the best single, DNA with RNA beats DNA with protein. The gap between our absolute values (0.50) and IsoFormer's (0.65) is what freezing costs: IsoFormer fine-tunes its encoders end to end and reports that RNA-encoder specialization during fine-tuning is what makes its representation strong. Freezing is this project's premise, so the gap is a measurement, not a failure.
WHY THIS IS THE KEY SLIDE FOR THE ALIGNMENT QUESTION. Low alignment and high complementarity went together here: the DNA window and the transcript share almost nothing retrievable, and that is exactly why combining them adds information. Where alignment was high (three readings of one coding sequence), fusion added nothing. This is the empirical content of the Stage 2 definition: alignment measured after the composition control, reported separately from complementarity, and the two can move in opposite directions.
ONE SENTENCE. Where the three inputs are three different molecules, fusion wins by a margin that resolves, with frozen encoders, and the gain comes from DNA with 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CONCLUSIONS AND THEIR EVIDENCE. (1) The build is right: singles within 0.01 of the paper, cross-attention within 0.01 on all four benchmarks (slide 4). (2) The encoder matters more than the fusion head: one swap moved E. coli by 8 points and dissolved the fusion gain that had been compensating for the weak encoder (slide 9), and across all eight swaps the better RNA encoders lift fungal and E. coli alone while fusion on top of them adds nothing resolved; the three new fusion gains (cross-attention with HyenaDNA and RiNALMo on CoV-Vac, gated with RiNALMo on E. coli) are single-seed candidates (slide 10). (3) Fusion still wins where the modalities are different molecules: GTEx +0.047 resolved (slide 13); full transcript with protein +0.053 and +0.030 (slide 12). (4) One jointly pretrained model beats three fused ones on stability: LucaOne +0.092 resolved, on the leaky split (slide 11). (5) The gated head is a selector, not a mixer; the paper reports no error bars, and its fungal gain is the size of noise on that split (slides 5 and 6).
WHAT MINA ASKED ON OCTOBER 22, AND WHERE EACH LANDS. Interpret why things work better, not only that they do: the guide and these notes carry the interpretation on every slide (pretraining domain predicts the best single encoder; fusion helps when the second input is a different molecule or region). Build fusion around mRNA-FM and try other mRNA encoders: a Phase B extension on the coding-sequence benchmarks (Gantt 24). Does cross-attention do better with the swapped encoders: not on the four swaps run so far (slide 9); the project's own cross-attention design is still scored in January (Gantt 25). Run LucaOne on the other datasets: E. coli, CoV-Vac and fungal fit its context, GTEx does not (Gantt 41). Which rows the paper reports on stability: the full 3,579-row published split (slide 7).
STILL OPEN FROM THE DECK'S OWN LIST. Ab1 (not public; can it be obtained through UCF); seeds plus a paired bootstrap as the reporting standard for everything; GPU access for Coupled Mamba; the distillation teachers (which two DNA encoders and which RNA encoder join the twelve).
OPEN RUNS, IN ORDER. Seeds on the three new Phase B gains (cross-attention with HyenaDNA and with RiNALMo on CoV-Vac, gated with RiNALMo on E. coli); the gated head at 1,280 channels on the other three benchmarks; the sequence-grouped stability re-split with seeds; seeds on the swaps that matter; the mouse half-life and translation-efficiency scores; LucaOne on the three coding-sequence benchmarks; the mRNA-FM-anchored fusions.
ONE SENTENCE. The reproduction is faithful, the paper's fusion gains mostly do not survive a stronger single encoder, and the project's question is now which encoder to put in each slot and when a second molecule is worth fusing.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183"/>
        </a:solidFill>
      </p:bgPr>
    </p:bg>
    <p:spTree>
      <p:nvGrpSpPr>
        <p:cNvPr id="1" name=""/>
        <p:cNvGrpSpPr/>
        <p:nvPr/>
      </p:nvGrpSpPr>
      <p:grpSpPr>
        <a:xfrm>
          <a:off x="0" y="0"/>
          <a:ext cx="0" cy="0"/>
          <a:chOff x="0" y="0"/>
          <a:chExt cx="0" cy="0"/>
        </a:xfrm>
      </p:grpSpPr>
      <p:sp>
        <p:nvSpPr>
          <p:cNvPr id="2" name="Text 0"/>
          <p:cNvSpPr txBox="1"/>
          <p:nvPr/>
        </p:nvSpPr>
        <p:spPr>
          <a:xfrm>
            <a:off x="813816" y="813816"/>
            <a:ext cx="10881360" cy="274320"/>
          </a:xfrm>
          <a:prstGeom prst="rect">
            <a:avLst/>
          </a:prstGeom>
          <a:noFill/>
          <a:ln/>
        </p:spPr>
        <p:txBody>
          <a:bodyPr wrap="square" lIns="0" tIns="0" rIns="0" bIns="0" rtlCol="0" anchor="t"/>
          <a:lstStyle/>
          <a:p>
            <a:pPr indent="0" marL="0">
              <a:buNone/>
            </a:pPr>
            <a:r>
              <a:rPr lang="en-US" sz="1200" dirty="0">
                <a:solidFill>
                  <a:srgbClr val="FFFFFF"/>
                </a:solidFill>
                <a:latin typeface="Inter" pitchFamily="34" charset="0"/>
                <a:ea typeface="Inter" pitchFamily="34" charset="-122"/>
                <a:cs typeface="Inter" pitchFamily="34" charset="-120"/>
              </a:rPr>
              <a:t>multimodal-bio-fusion  ·  Meeting with Mina Basirat  ·  October 22, 2026  ·  refined after the meeting</a:t>
            </a:r>
            <a:endParaRPr lang="en-US" sz="1200" dirty="0"/>
          </a:p>
        </p:txBody>
      </p:sp>
      <p:sp>
        <p:nvSpPr>
          <p:cNvPr id="3" name="Text 1"/>
          <p:cNvSpPr txBox="1"/>
          <p:nvPr/>
        </p:nvSpPr>
        <p:spPr>
          <a:xfrm>
            <a:off x="813816" y="1828800"/>
            <a:ext cx="10241280" cy="1463040"/>
          </a:xfrm>
          <a:prstGeom prst="rect">
            <a:avLst/>
          </a:prstGeom>
          <a:noFill/>
          <a:ln/>
        </p:spPr>
        <p:txBody>
          <a:bodyPr wrap="square" lIns="0" tIns="0" rIns="0" bIns="0" rtlCol="0" anchor="t"/>
          <a:lstStyle/>
          <a:p>
            <a:pPr indent="0" marL="0">
              <a:buNone/>
            </a:pPr>
            <a:r>
              <a:rPr lang="en-US" sz="3800" b="1" dirty="0">
                <a:solidFill>
                  <a:srgbClr val="FFFFFF"/>
                </a:solidFill>
                <a:latin typeface="Inter" pitchFamily="34" charset="0"/>
                <a:ea typeface="Inter" pitchFamily="34" charset="-122"/>
                <a:cs typeface="Inter" pitchFamily="34" charset="-120"/>
              </a:rPr>
              <a:t>Progress since October 7: what was built, what ran, and what it found</a:t>
            </a:r>
            <a:endParaRPr lang="en-US" sz="3800" dirty="0"/>
          </a:p>
        </p:txBody>
      </p:sp>
      <p:sp>
        <p:nvSpPr>
          <p:cNvPr id="4" name="Text 2"/>
          <p:cNvSpPr txBox="1"/>
          <p:nvPr/>
        </p:nvSpPr>
        <p:spPr>
          <a:xfrm>
            <a:off x="813816" y="3474720"/>
            <a:ext cx="9692640" cy="1097280"/>
          </a:xfrm>
          <a:prstGeom prst="rect">
            <a:avLst/>
          </a:prstGeom>
          <a:noFill/>
          <a:ln/>
        </p:spPr>
        <p:txBody>
          <a:bodyPr wrap="square" lIns="0" tIns="0" rIns="0" bIns="0" rtlCol="0" anchor="t"/>
          <a:lstStyle/>
          <a:p>
            <a:pPr indent="0" marL="0">
              <a:buNone/>
            </a:pPr>
            <a:r>
              <a:rPr lang="en-US" sz="1600" dirty="0">
                <a:solidFill>
                  <a:srgbClr val="FFFFFF"/>
                </a:solidFill>
                <a:latin typeface="Inter" pitchFamily="34" charset="0"/>
                <a:ea typeface="Inter" pitchFamily="34" charset="-122"/>
                <a:cs typeface="Inter" pitchFamily="34" charset="-120"/>
              </a:rPr>
              <a:t>We rebuilt BioLangFusion and it gives the paper's numbers where it should. Its fusion gains hold on fewer tasks than the paper suggests, because a better single encoder closes the largest of them. Fusion still wins when the inputs are physically different molecules.</a:t>
            </a:r>
            <a:endParaRPr lang="en-US" sz="1600" dirty="0"/>
          </a:p>
        </p:txBody>
      </p:sp>
      <p:sp>
        <p:nvSpPr>
          <p:cNvPr id="5" name="Shape 3"/>
          <p:cNvSpPr/>
          <p:nvPr/>
        </p:nvSpPr>
        <p:spPr>
          <a:xfrm>
            <a:off x="813816" y="5175504"/>
            <a:ext cx="3474720" cy="713232"/>
          </a:xfrm>
          <a:prstGeom prst="roundRect">
            <a:avLst>
              <a:gd name="adj" fmla="val 10256"/>
            </a:avLst>
          </a:prstGeom>
          <a:solidFill>
            <a:srgbClr val="FFFFFF"/>
          </a:solidFill>
          <a:ln w="12700">
            <a:solidFill>
              <a:srgbClr val="FFFFFF"/>
            </a:solidFill>
            <a:prstDash val="solid"/>
          </a:ln>
        </p:spPr>
      </p:sp>
      <p:sp>
        <p:nvSpPr>
          <p:cNvPr id="6" name="Text 4"/>
          <p:cNvSpPr txBox="1"/>
          <p:nvPr/>
        </p:nvSpPr>
        <p:spPr>
          <a:xfrm>
            <a:off x="9784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1, 2, 5</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Phase A, all eight Phase B swaps, LucaOne, mRFP</a:t>
            </a:r>
            <a:endParaRPr lang="en-US" sz="1200" dirty="0"/>
          </a:p>
        </p:txBody>
      </p:sp>
      <p:sp>
        <p:nvSpPr>
          <p:cNvPr id="7" name="Shape 5"/>
          <p:cNvSpPr/>
          <p:nvPr/>
        </p:nvSpPr>
        <p:spPr>
          <a:xfrm>
            <a:off x="4471416" y="5175504"/>
            <a:ext cx="3474720" cy="713232"/>
          </a:xfrm>
          <a:prstGeom prst="roundRect">
            <a:avLst>
              <a:gd name="adj" fmla="val 10256"/>
            </a:avLst>
          </a:prstGeom>
          <a:solidFill>
            <a:srgbClr val="FFFFFF"/>
          </a:solidFill>
          <a:ln w="12700">
            <a:solidFill>
              <a:srgbClr val="FFFFFF"/>
            </a:solidFill>
            <a:prstDash val="solid"/>
          </a:ln>
        </p:spPr>
      </p:sp>
      <p:sp>
        <p:nvSpPr>
          <p:cNvPr id="8" name="Text 6"/>
          <p:cNvSpPr txBox="1"/>
          <p:nvPr/>
        </p:nvSpPr>
        <p:spPr>
          <a:xfrm>
            <a:off x="46360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3 and 4</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half-life and translation efficiency, gate passed</a:t>
            </a:r>
            <a:endParaRPr lang="en-US" sz="1200" dirty="0"/>
          </a:p>
        </p:txBody>
      </p:sp>
      <p:sp>
        <p:nvSpPr>
          <p:cNvPr id="9" name="Shape 7"/>
          <p:cNvSpPr/>
          <p:nvPr/>
        </p:nvSpPr>
        <p:spPr>
          <a:xfrm>
            <a:off x="8129016" y="5175504"/>
            <a:ext cx="3474720" cy="713232"/>
          </a:xfrm>
          <a:prstGeom prst="roundRect">
            <a:avLst>
              <a:gd name="adj" fmla="val 10256"/>
            </a:avLst>
          </a:prstGeom>
          <a:solidFill>
            <a:srgbClr val="FFFFFF"/>
          </a:solidFill>
          <a:ln w="12700">
            <a:solidFill>
              <a:srgbClr val="FFFFFF"/>
            </a:solidFill>
            <a:prstDash val="solid"/>
          </a:ln>
        </p:spPr>
      </p:sp>
      <p:sp>
        <p:nvSpPr>
          <p:cNvPr id="10" name="Text 8"/>
          <p:cNvSpPr txBox="1"/>
          <p:nvPr/>
        </p:nvSpPr>
        <p:spPr>
          <a:xfrm>
            <a:off x="82936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Left to run</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seeds on the new wins, the stability re-split</a:t>
            </a:r>
            <a:endParaRPr lang="en-US" sz="1200" dirty="0"/>
          </a:p>
        </p:txBody>
      </p:sp>
      <p:sp>
        <p:nvSpPr>
          <p:cNvPr id="11" name="Text 9"/>
          <p:cNvSpPr txBox="1"/>
          <p:nvPr/>
        </p:nvSpPr>
        <p:spPr>
          <a:xfrm>
            <a:off x="813816" y="6172200"/>
            <a:ext cx="10881360" cy="320040"/>
          </a:xfrm>
          <a:prstGeom prst="rect">
            <a:avLst/>
          </a:prstGeom>
          <a:noFill/>
          <a:ln/>
        </p:spPr>
        <p:txBody>
          <a:bodyPr wrap="square" lIns="0" tIns="0" rIns="0" bIns="0" rtlCol="0" anchor="t"/>
          <a:lstStyle/>
          <a:p>
            <a:pPr indent="0" marL="0">
              <a:buNone/>
            </a:pPr>
            <a:r>
              <a:rPr lang="en-US" sz="1100" dirty="0">
                <a:solidFill>
                  <a:srgbClr val="FFFFFF"/>
                </a:solidFill>
                <a:latin typeface="Inter" pitchFamily="34" charset="0"/>
                <a:ea typeface="Inter" pitchFamily="34" charset="-122"/>
                <a:cs typeface="Inter" pitchFamily="34" charset="-120"/>
              </a:rPr>
              <a:t>Julian McKinley and Chase Di Maria Breisinger  |  MSDA AI Track, UCF  |  Full record: the Overleaf manuscript and docs/run-records.md  |  Every slide has speaker notes that explain 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Since the last meeting · October 7 to 22</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Seven steps in two weeks, in the research plan's order: reproduce first, then change one thing at a time</a:t>
            </a:r>
            <a:endParaRPr lang="en-US" sz="2400" dirty="0"/>
          </a:p>
        </p:txBody>
      </p:sp>
      <p:sp>
        <p:nvSpPr>
          <p:cNvPr id="4" name="Shape 2"/>
          <p:cNvSpPr/>
          <p:nvPr/>
        </p:nvSpPr>
        <p:spPr>
          <a:xfrm>
            <a:off x="877824" y="2185416"/>
            <a:ext cx="128016" cy="128016"/>
          </a:xfrm>
          <a:prstGeom prst="ellipse">
            <a:avLst/>
          </a:prstGeom>
          <a:solidFill>
            <a:srgbClr val="213183"/>
          </a:solidFill>
          <a:ln w="12700">
            <a:solidFill>
              <a:srgbClr val="213183"/>
            </a:solidFill>
            <a:prstDash val="solid"/>
          </a:ln>
        </p:spPr>
      </p:sp>
      <p:sp>
        <p:nvSpPr>
          <p:cNvPr id="5" name="Text 3"/>
          <p:cNvSpPr txBox="1"/>
          <p:nvPr/>
        </p:nvSpPr>
        <p:spPr>
          <a:xfrm>
            <a:off x="1143000" y="202996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9 to 15</a:t>
            </a:r>
            <a:endParaRPr lang="en-US" sz="1150" dirty="0"/>
          </a:p>
        </p:txBody>
      </p:sp>
      <p:sp>
        <p:nvSpPr>
          <p:cNvPr id="6" name="Text 4"/>
          <p:cNvSpPr txBox="1"/>
          <p:nvPr/>
        </p:nvSpPr>
        <p:spPr>
          <a:xfrm>
            <a:off x="2423160" y="202996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Research plan adopted and placed first. </a:t>
            </a:r>
            <a:pPr indent="0" marL="0">
              <a:buNone/>
            </a:pPr>
            <a:r>
              <a:rPr lang="en-US" sz="1150" dirty="0">
                <a:solidFill>
                  <a:srgbClr val="615D59"/>
                </a:solidFill>
                <a:latin typeface="Inter" pitchFamily="34" charset="0"/>
                <a:ea typeface="Inter" pitchFamily="34" charset="-122"/>
                <a:cs typeface="Inter" pitchFamily="34" charset="-120"/>
              </a:rPr>
              <a:t>Mina's seven items went into the Gantt chart in her order; our own designs (Coupled Mamba, cross-attention) move to January so they are scored against every baseline at once.</a:t>
            </a:r>
            <a:endParaRPr lang="en-US" sz="1150" dirty="0"/>
          </a:p>
        </p:txBody>
      </p:sp>
      <p:sp>
        <p:nvSpPr>
          <p:cNvPr id="7" name="Shape 5"/>
          <p:cNvSpPr/>
          <p:nvPr/>
        </p:nvSpPr>
        <p:spPr>
          <a:xfrm>
            <a:off x="877824" y="2734056"/>
            <a:ext cx="128016" cy="128016"/>
          </a:xfrm>
          <a:prstGeom prst="ellipse">
            <a:avLst/>
          </a:prstGeom>
          <a:solidFill>
            <a:srgbClr val="213183"/>
          </a:solidFill>
          <a:ln w="12700">
            <a:solidFill>
              <a:srgbClr val="213183"/>
            </a:solidFill>
            <a:prstDash val="solid"/>
          </a:ln>
        </p:spPr>
      </p:sp>
      <p:sp>
        <p:nvSpPr>
          <p:cNvPr id="8" name="Text 6"/>
          <p:cNvSpPr txBox="1"/>
          <p:nvPr/>
        </p:nvSpPr>
        <p:spPr>
          <a:xfrm>
            <a:off x="1143000" y="257860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15 to 19</a:t>
            </a:r>
            <a:endParaRPr lang="en-US" sz="1150" dirty="0"/>
          </a:p>
        </p:txBody>
      </p:sp>
      <p:sp>
        <p:nvSpPr>
          <p:cNvPr id="9" name="Text 7"/>
          <p:cNvSpPr txBox="1"/>
          <p:nvPr/>
        </p:nvSpPr>
        <p:spPr>
          <a:xfrm>
            <a:off x="2423160" y="257860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Stage 3 round 1 built. </a:t>
            </a:r>
            <a:pPr indent="0" marL="0">
              <a:buNone/>
            </a:pPr>
            <a:r>
              <a:rPr lang="en-US" sz="1150" dirty="0">
                <a:solidFill>
                  <a:srgbClr val="615D59"/>
                </a:solidFill>
                <a:latin typeface="Inter" pitchFamily="34" charset="0"/>
                <a:ea typeface="Inter" pitchFamily="34" charset="-122"/>
                <a:cs typeface="Inter" pitchFamily="34" charset="-120"/>
              </a:rPr>
              <a:t>BioLangFusion rebuilt from the paper: benchmarks and splits, token embeddings, the codon grid, three fusion heads, the TextCNN head, one training loop that saves per-row predictions for error bars.</a:t>
            </a:r>
            <a:endParaRPr lang="en-US" sz="1150" dirty="0"/>
          </a:p>
        </p:txBody>
      </p:sp>
      <p:sp>
        <p:nvSpPr>
          <p:cNvPr id="10" name="Shape 8"/>
          <p:cNvSpPr/>
          <p:nvPr/>
        </p:nvSpPr>
        <p:spPr>
          <a:xfrm>
            <a:off x="877824" y="3282696"/>
            <a:ext cx="128016" cy="128016"/>
          </a:xfrm>
          <a:prstGeom prst="ellipse">
            <a:avLst/>
          </a:prstGeom>
          <a:solidFill>
            <a:srgbClr val="213183"/>
          </a:solidFill>
          <a:ln w="12700">
            <a:solidFill>
              <a:srgbClr val="213183"/>
            </a:solidFill>
            <a:prstDash val="solid"/>
          </a:ln>
        </p:spPr>
      </p:sp>
      <p:sp>
        <p:nvSpPr>
          <p:cNvPr id="11" name="Text 9"/>
          <p:cNvSpPr txBox="1"/>
          <p:nvPr/>
        </p:nvSpPr>
        <p:spPr>
          <a:xfrm>
            <a:off x="1143000" y="312724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17 to 18</a:t>
            </a:r>
            <a:endParaRPr lang="en-US" sz="1150" dirty="0"/>
          </a:p>
        </p:txBody>
      </p:sp>
      <p:sp>
        <p:nvSpPr>
          <p:cNvPr id="12" name="Text 10"/>
          <p:cNvSpPr txBox="1"/>
          <p:nvPr/>
        </p:nvSpPr>
        <p:spPr>
          <a:xfrm>
            <a:off x="2423160" y="312724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Reproduction checked on fungal expression, the cleanest benchmark. </a:t>
            </a:r>
            <a:pPr indent="0" marL="0">
              <a:buNone/>
            </a:pPr>
            <a:r>
              <a:rPr lang="en-US" sz="1150" dirty="0">
                <a:solidFill>
                  <a:srgbClr val="615D59"/>
                </a:solidFill>
                <a:latin typeface="Inter" pitchFamily="34" charset="0"/>
                <a:ea typeface="Inter" pitchFamily="34" charset="-122"/>
                <a:cs typeface="Inter" pitchFamily="34" charset="-120"/>
              </a:rPr>
              <a:t>Single encoders reproduce; no fusion head beats the best single encoder; the paper's appendix version of the DNA upsampling is two codons out of register.</a:t>
            </a:r>
            <a:endParaRPr lang="en-US" sz="1150" dirty="0"/>
          </a:p>
        </p:txBody>
      </p:sp>
      <p:sp>
        <p:nvSpPr>
          <p:cNvPr id="13" name="Shape 11"/>
          <p:cNvSpPr/>
          <p:nvPr/>
        </p:nvSpPr>
        <p:spPr>
          <a:xfrm>
            <a:off x="877824" y="3831336"/>
            <a:ext cx="128016" cy="128016"/>
          </a:xfrm>
          <a:prstGeom prst="ellipse">
            <a:avLst/>
          </a:prstGeom>
          <a:solidFill>
            <a:srgbClr val="213183"/>
          </a:solidFill>
          <a:ln w="12700">
            <a:solidFill>
              <a:srgbClr val="213183"/>
            </a:solidFill>
            <a:prstDash val="solid"/>
          </a:ln>
        </p:spPr>
      </p:sp>
      <p:sp>
        <p:nvSpPr>
          <p:cNvPr id="14" name="Text 12"/>
          <p:cNvSpPr txBox="1"/>
          <p:nvPr/>
        </p:nvSpPr>
        <p:spPr>
          <a:xfrm>
            <a:off x="1143000" y="367588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18 to 19</a:t>
            </a:r>
            <a:endParaRPr lang="en-US" sz="1150" dirty="0"/>
          </a:p>
        </p:txBody>
      </p:sp>
      <p:sp>
        <p:nvSpPr>
          <p:cNvPr id="15" name="Text 13"/>
          <p:cNvSpPr txBox="1"/>
          <p:nvPr/>
        </p:nvSpPr>
        <p:spPr>
          <a:xfrm>
            <a:off x="2423160" y="367588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IsoFormer on GTEx; LucaOne scoped. </a:t>
            </a:r>
            <a:pPr indent="0" marL="0">
              <a:buNone/>
            </a:pPr>
            <a:r>
              <a:rPr lang="en-US" sz="1150" dirty="0">
                <a:solidFill>
                  <a:srgbClr val="615D59"/>
                </a:solidFill>
                <a:latin typeface="Inter" pitchFamily="34" charset="0"/>
                <a:ea typeface="Inter" pitchFamily="34" charset="-122"/>
                <a:cs typeface="Inter" pitchFamily="34" charset="-120"/>
              </a:rPr>
              <a:t>With frozen encoders, fusing three different molecules beats RNA alone by +0.047, resolved. LucaOne's 1,280-token context cannot read the GTEx windows.</a:t>
            </a:r>
            <a:endParaRPr lang="en-US" sz="1150" dirty="0"/>
          </a:p>
        </p:txBody>
      </p:sp>
      <p:sp>
        <p:nvSpPr>
          <p:cNvPr id="16" name="Shape 14"/>
          <p:cNvSpPr/>
          <p:nvPr/>
        </p:nvSpPr>
        <p:spPr>
          <a:xfrm>
            <a:off x="877824" y="4379976"/>
            <a:ext cx="128016" cy="128016"/>
          </a:xfrm>
          <a:prstGeom prst="ellipse">
            <a:avLst/>
          </a:prstGeom>
          <a:solidFill>
            <a:srgbClr val="213183"/>
          </a:solidFill>
          <a:ln w="12700">
            <a:solidFill>
              <a:srgbClr val="213183"/>
            </a:solidFill>
            <a:prstDash val="solid"/>
          </a:ln>
        </p:spPr>
      </p:sp>
      <p:sp>
        <p:nvSpPr>
          <p:cNvPr id="17" name="Text 15"/>
          <p:cNvSpPr txBox="1"/>
          <p:nvPr/>
        </p:nvSpPr>
        <p:spPr>
          <a:xfrm>
            <a:off x="1143000" y="422452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a:t>
            </a:r>
            <a:endParaRPr lang="en-US" sz="1150" dirty="0"/>
          </a:p>
        </p:txBody>
      </p:sp>
      <p:sp>
        <p:nvSpPr>
          <p:cNvPr id="18" name="Text 16"/>
          <p:cNvSpPr txBox="1"/>
          <p:nvPr/>
        </p:nvSpPr>
        <p:spPr>
          <a:xfrm>
            <a:off x="2423160" y="422452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mRFP synonymous control. </a:t>
            </a:r>
            <a:pPr indent="0" marL="0">
              <a:buNone/>
            </a:pPr>
            <a:r>
              <a:rPr lang="en-US" sz="1150" dirty="0">
                <a:solidFill>
                  <a:srgbClr val="615D59"/>
                </a:solidFill>
                <a:latin typeface="Inter" pitchFamily="34" charset="0"/>
                <a:ea typeface="Inter" pitchFamily="34" charset="-122"/>
                <a:cs typeface="Inter" pitchFamily="34" charset="-120"/>
              </a:rPr>
              <a:t>Same protein, 1,000 codon recodings: protein encoders predict nothing (as they must); every nucleotide encoder predicts expression beyond codon statistics, mRNA-FM by far the most.</a:t>
            </a:r>
            <a:endParaRPr lang="en-US" sz="1150" dirty="0"/>
          </a:p>
        </p:txBody>
      </p:sp>
      <p:sp>
        <p:nvSpPr>
          <p:cNvPr id="19" name="Shape 17"/>
          <p:cNvSpPr/>
          <p:nvPr/>
        </p:nvSpPr>
        <p:spPr>
          <a:xfrm>
            <a:off x="877824" y="4928616"/>
            <a:ext cx="128016" cy="128016"/>
          </a:xfrm>
          <a:prstGeom prst="ellipse">
            <a:avLst/>
          </a:prstGeom>
          <a:solidFill>
            <a:srgbClr val="213183"/>
          </a:solidFill>
          <a:ln w="12700">
            <a:solidFill>
              <a:srgbClr val="213183"/>
            </a:solidFill>
            <a:prstDash val="solid"/>
          </a:ln>
        </p:spPr>
      </p:sp>
      <p:sp>
        <p:nvSpPr>
          <p:cNvPr id="20" name="Text 18"/>
          <p:cNvSpPr txBox="1"/>
          <p:nvPr/>
        </p:nvSpPr>
        <p:spPr>
          <a:xfrm>
            <a:off x="1143000" y="477316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 to 20</a:t>
            </a:r>
            <a:endParaRPr lang="en-US" sz="1150" dirty="0"/>
          </a:p>
        </p:txBody>
      </p:sp>
      <p:sp>
        <p:nvSpPr>
          <p:cNvPr id="21" name="Text 19"/>
          <p:cNvSpPr txBox="1"/>
          <p:nvPr/>
        </p:nvSpPr>
        <p:spPr>
          <a:xfrm>
            <a:off x="2423160" y="477316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A on CoV-Vac, E. coli and stability, 27 hours on a laptop. </a:t>
            </a:r>
            <a:pPr indent="0" marL="0">
              <a:buNone/>
            </a:pPr>
            <a:r>
              <a:rPr lang="en-US" sz="1150" dirty="0">
                <a:solidFill>
                  <a:srgbClr val="615D59"/>
                </a:solidFill>
                <a:latin typeface="Inter" pitchFamily="34" charset="0"/>
                <a:ea typeface="Inter" pitchFamily="34" charset="-122"/>
                <a:cs typeface="Inter" pitchFamily="34" charset="-120"/>
              </a:rPr>
              <a:t>Single encoders and cross-attention reproduce; the gated head does not; fusion appeared to win on E. coli.</a:t>
            </a:r>
            <a:endParaRPr lang="en-US" sz="1150" dirty="0"/>
          </a:p>
        </p:txBody>
      </p:sp>
      <p:sp>
        <p:nvSpPr>
          <p:cNvPr id="22" name="Shape 20"/>
          <p:cNvSpPr/>
          <p:nvPr/>
        </p:nvSpPr>
        <p:spPr>
          <a:xfrm>
            <a:off x="877824" y="5477256"/>
            <a:ext cx="128016" cy="128016"/>
          </a:xfrm>
          <a:prstGeom prst="ellipse">
            <a:avLst/>
          </a:prstGeom>
          <a:solidFill>
            <a:srgbClr val="DCA323"/>
          </a:solidFill>
          <a:ln w="12700">
            <a:solidFill>
              <a:srgbClr val="DCA323"/>
            </a:solidFill>
            <a:prstDash val="solid"/>
          </a:ln>
        </p:spPr>
      </p:sp>
      <p:sp>
        <p:nvSpPr>
          <p:cNvPr id="23" name="Text 21"/>
          <p:cNvSpPr txBox="1"/>
          <p:nvPr/>
        </p:nvSpPr>
        <p:spPr>
          <a:xfrm>
            <a:off x="1143000" y="532180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21 to 22</a:t>
            </a:r>
            <a:endParaRPr lang="en-US" sz="1150" dirty="0"/>
          </a:p>
        </p:txBody>
      </p:sp>
      <p:sp>
        <p:nvSpPr>
          <p:cNvPr id="24" name="Text 22"/>
          <p:cNvSpPr txBox="1"/>
          <p:nvPr/>
        </p:nvSpPr>
        <p:spPr>
          <a:xfrm>
            <a:off x="2423160" y="532180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B, LucaOne, half-life and TE on Chase's GPU. </a:t>
            </a:r>
            <a:pPr indent="0" marL="0">
              <a:buNone/>
            </a:pPr>
            <a:r>
              <a:rPr lang="en-US" sz="1150" dirty="0">
                <a:solidFill>
                  <a:srgbClr val="615D59"/>
                </a:solidFill>
                <a:latin typeface="Inter" pitchFamily="34" charset="0"/>
                <a:ea typeface="Inter" pitchFamily="34" charset="-122"/>
                <a:cs typeface="Inter" pitchFamily="34" charset="-120"/>
              </a:rPr>
              <a:t>Swapping the RNA encoder erased the E. coli fusion gain; LucaOne beats the three fused on stability; full transcript + protein helps on both new tasks.</a:t>
            </a:r>
            <a:endParaRPr lang="en-US" sz="1150" dirty="0"/>
          </a:p>
        </p:txBody>
      </p:sp>
      <p:sp>
        <p:nvSpPr>
          <p:cNvPr id="25" name="Text 23"/>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step has a run record in docs/run-records.md and a result file beside its notebook. Ab1, the fifth BioLangFusion benchmark, is not public.</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Stage 3, round 1 · what exists in code</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BioLangFusion rebuilt from the paper, with its two contradictions settled by measurement</a:t>
            </a:r>
            <a:endParaRPr lang="en-US" sz="2400" dirty="0"/>
          </a:p>
        </p:txBody>
      </p:sp>
      <p:sp>
        <p:nvSpPr>
          <p:cNvPr id="4" name="Shape 2"/>
          <p:cNvSpPr/>
          <p:nvPr/>
        </p:nvSpPr>
        <p:spPr>
          <a:xfrm>
            <a:off x="813816" y="2029968"/>
            <a:ext cx="3977640" cy="3794760"/>
          </a:xfrm>
          <a:prstGeom prst="roundRect">
            <a:avLst>
              <a:gd name="adj" fmla="val 1928"/>
            </a:avLst>
          </a:prstGeom>
          <a:solidFill>
            <a:srgbClr val="FFFFFF"/>
          </a:solidFill>
          <a:ln w="9525">
            <a:solidFill>
              <a:srgbClr val="E6E6E6"/>
            </a:solidFill>
            <a:prstDash val="solid"/>
          </a:ln>
        </p:spPr>
      </p:sp>
      <p:pic>
        <p:nvPicPr>
          <p:cNvPr id="5" name="Image 0" descr="/tmp/claude-0/-home-claude/585091c6-c086-52e1-bab3-37f93535e6c5/scratchpad/blf_pipeline_a.png">    </p:cNvPr>
          <p:cNvPicPr>
            <a:picLocks noChangeAspect="1"/>
          </p:cNvPicPr>
          <p:nvPr/>
        </p:nvPicPr>
        <p:blipFill>
          <a:blip r:embed="rId1"/>
          <a:stretch>
            <a:fillRect/>
          </a:stretch>
        </p:blipFill>
        <p:spPr>
          <a:xfrm>
            <a:off x="969264" y="2121408"/>
            <a:ext cx="3666744" cy="3611880"/>
          </a:xfrm>
          <a:prstGeom prst="rect">
            <a:avLst/>
          </a:prstGeom>
        </p:spPr>
      </p:pic>
      <p:sp>
        <p:nvSpPr>
          <p:cNvPr id="6" name="Text 3"/>
          <p:cNvSpPr txBox="1"/>
          <p:nvPr/>
        </p:nvSpPr>
        <p:spPr>
          <a:xfrm>
            <a:off x="5029200" y="2029968"/>
            <a:ext cx="6400800" cy="3794760"/>
          </a:xfrm>
          <a:prstGeom prst="rect">
            <a:avLst/>
          </a:prstGeom>
          <a:noFill/>
          <a:ln/>
        </p:spPr>
        <p:txBody>
          <a:bodyPr wrap="square" lIns="0" tIns="0" rIns="0" bIns="0" rtlCol="0" anchor="t"/>
          <a:lstStyle/>
          <a:p>
            <a:pPr indent="0" marL="0">
              <a:spcAft>
                <a:spcPts val="300"/>
              </a:spcAft>
              <a:buNone/>
            </a:pPr>
            <a:r>
              <a:rPr lang="en-US" sz="1150" b="1" dirty="0">
                <a:solidFill>
                  <a:srgbClr val="31302E"/>
                </a:solidFill>
                <a:latin typeface="Inter" pitchFamily="34" charset="0"/>
                <a:ea typeface="Inter" pitchFamily="34" charset="-122"/>
                <a:cs typeface="Inter" pitchFamily="34" charset="-120"/>
              </a:rPr>
              <a:t>How the pipeline works</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1. Three frozen encoders read the same coding sequence in three alphabets: NT v2 100M (DNA, one token per 6-mer), RNA-FM (RNA, one token per nucleotide), ESM-2 8M (protein, one token per amino acid).</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2. The streams are placed on one codon grid. A codon is 3 nucleotides and 1 amino acid, so protein is already on it; RNA is averaged 3 to 1; DNA (one token per 2 codons) is upsampled by 2 with a learned transposed convolution.</a:t>
            </a:r>
            <a:endParaRPr lang="en-US" sz="1150" dirty="0"/>
          </a:p>
          <a:p>
            <a:pPr indent="0" marL="0">
              <a:spcAft>
                <a:spcPts val="800"/>
              </a:spcAft>
              <a:buNone/>
            </a:pPr>
            <a:r>
              <a:rPr lang="en-US" sz="1150" dirty="0">
                <a:solidFill>
                  <a:srgbClr val="31302E"/>
                </a:solidFill>
                <a:latin typeface="Inter" pitchFamily="34" charset="0"/>
                <a:ea typeface="Inter" pitchFamily="34" charset="-122"/>
                <a:cs typeface="Inter" pitchFamily="34" charset="-120"/>
              </a:rPr>
              <a:t>3. One of three fusion heads combines the streams codon by codon (slide 6).  4. One fixed TextCNN (convolutions over 3, 4 and 5 codons, max pool) makes the prediction. Training is the paper's recipe, early stopping on validation.</a:t>
            </a:r>
            <a:endParaRPr lang="en-US" sz="1150" dirty="0"/>
          </a:p>
          <a:p>
            <a:pPr indent="0" marL="0">
              <a:spcAft>
                <a:spcPts val="300"/>
              </a:spcAft>
              <a:buNone/>
            </a:pPr>
            <a:r>
              <a:rPr lang="en-US" sz="1150" b="1" dirty="0">
                <a:solidFill>
                  <a:srgbClr val="31302E"/>
                </a:solidFill>
                <a:latin typeface="Inter" pitchFamily="34" charset="0"/>
                <a:ea typeface="Inter" pitchFamily="34" charset="-122"/>
                <a:cs typeface="Inter" pitchFamily="34" charset="-120"/>
              </a:rPr>
              <a:t>Two contradictions in the paper, settled by measurement</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Length rule. "Truncate at 1,000" cannot give the paper's own row counts; dropping sequences over 999 nt gives all four counts exactly.</a:t>
            </a:r>
            <a:endParaRPr lang="en-US" sz="1150" dirty="0"/>
          </a:p>
          <a:p>
            <a:pPr indent="0" marL="0">
              <a:buNone/>
            </a:pPr>
            <a:r>
              <a:rPr lang="en-US" sz="1150" dirty="0">
                <a:solidFill>
                  <a:srgbClr val="31302E"/>
                </a:solidFill>
                <a:latin typeface="Inter" pitchFamily="34" charset="0"/>
                <a:ea typeface="Inter" pitchFamily="34" charset="-122"/>
                <a:cs typeface="Inter" pitchFamily="34" charset="-120"/>
              </a:rPr>
              <a:t>DNA upsampling. Equation 1 (kernel 2, stride 2) lands each 6-mer on its two codons; the appendix setting (kernel 3, stride 2, pad 2) lands it two codons early. An impulse test showed it; Equation 1 is used.</a:t>
            </a:r>
            <a:endParaRPr lang="en-US" sz="1150" dirty="0"/>
          </a:p>
        </p:txBody>
      </p:sp>
      <p:sp>
        <p:nvSpPr>
          <p:cNvPr id="7" name="Text 4"/>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run saves per-row test predictions, so any two models are compared by a paired bootstrap on the same rows (the paper has no error bars). Code: Code/shared_code/fusion/, imported by the Stage 4 notebooks. Token caches: 34 GB in float16, kept off Git.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reproduction, ours against the paper</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single encoders and cross-attention reproduce; the gated head does not</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3931920"/>
                <a:gridCol w="1737360"/>
                <a:gridCol w="1737360"/>
                <a:gridCol w="1737360"/>
                <a:gridCol w="173736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Model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(acc., %)</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Nucleotide Transformer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0.807 (0.804)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0.779 (0.780)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47.8 (41.3)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0.539 (0.530)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0.722 (0.767)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0.838 (0.841)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50.7 (52.9)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 (0.553)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read on the codon grid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49.3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ESM-2 8M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0.706 (0.695)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0.815 (0.806)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51.7 (49.0)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0.531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0.791 (0.805)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0.799 (0.831)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58.7 (50.3)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0.801 (0.824)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0.783 (0.864)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54.5 (52.1)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0.551 (0.563)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without entropy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0.802 (0.826)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0.792 (0.854)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55.8 (52.0)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(0.556)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 (0.812)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0.836 (0.828)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53.5 (53.9)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0.553 (0.550)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reproduction.png">    </p:cNvPr>
          <p:cNvPicPr>
            <a:picLocks noChangeAspect="1"/>
          </p:cNvPicPr>
          <p:nvPr/>
        </p:nvPicPr>
        <p:blipFill>
          <a:blip r:embed="rId1"/>
          <a:stretch>
            <a:fillRect/>
          </a:stretch>
        </p:blipFill>
        <p:spPr>
          <a:xfrm>
            <a:off x="813816" y="4480560"/>
            <a:ext cx="6400800" cy="1984248"/>
          </a:xfrm>
          <a:prstGeom prst="rect">
            <a:avLst/>
          </a:prstGeom>
        </p:spPr>
      </p:pic>
      <p:sp>
        <p:nvSpPr>
          <p:cNvPr id="6" name="Text 2"/>
          <p:cNvSpPr txBox="1"/>
          <p:nvPr/>
        </p:nvSpPr>
        <p:spPr>
          <a:xfrm>
            <a:off x="7543800" y="4425696"/>
            <a:ext cx="4160520" cy="219456"/>
          </a:xfrm>
          <a:prstGeom prst="rect">
            <a:avLst/>
          </a:prstGeom>
          <a:noFill/>
          <a:ln/>
        </p:spPr>
        <p:txBody>
          <a:bodyPr wrap="square" lIns="0" tIns="0" rIns="0" bIns="0" rtlCol="0" anchor="t"/>
          <a:lstStyle/>
          <a:p>
            <a:pPr indent="0" marL="0">
              <a:buNone/>
            </a:pPr>
            <a:r>
              <a:rPr lang="en-US" sz="950" b="1" dirty="0">
                <a:solidFill>
                  <a:srgbClr val="31302E"/>
                </a:solidFill>
                <a:latin typeface="Inter" pitchFamily="34" charset="0"/>
                <a:ea typeface="Inter" pitchFamily="34" charset="-122"/>
                <a:cs typeface="Inter" pitchFamily="34" charset="-120"/>
              </a:rPr>
              <a:t>The paper's Table 1: head minus its best single</a:t>
            </a:r>
            <a:endParaRPr lang="en-US" sz="9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543800" y="4663440"/>
          <a:ext cx="4160520" cy="914400"/>
        </p:xfrm>
        <a:graphic>
          <a:graphicData uri="http://schemas.openxmlformats.org/drawingml/2006/table">
            <a:tbl>
              <a:tblPr/>
              <a:tblGrid>
                <a:gridCol w="1234440"/>
                <a:gridCol w="585216"/>
                <a:gridCol w="585216"/>
                <a:gridCol w="585216"/>
                <a:gridCol w="585216"/>
                <a:gridCol w="585216"/>
              </a:tblGrid>
              <a:tr h="219456">
                <a:tc>
                  <a:txBody>
                    <a:bodyPr/>
                    <a:lstStyle/>
                    <a:p>
                      <a:pPr indent="0" marL="0">
                        <a:buNone/>
                      </a:pP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CoV-Vac</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Fungal</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E. coli</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Stab.</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Ab1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Concatenation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-2.67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MIL + entropy</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-0.84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Cross-attention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+0.98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+0.022</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7543800" y="5724144"/>
            <a:ext cx="4160520" cy="91440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Nine wins and six losses in fifteen comparisons, with no interval anywhere in the paper. The claim "fusion consistently outperforms unimodal baselines" holds only by taking the best head per task after seeing the test scores, and a different head wins on different tasks. E. coli in accuracy points. Ab1 is the one task where all three heads win, and it is the one not in the public release.</a:t>
            </a:r>
            <a:endParaRPr lang="en-US" sz="850" dirty="0"/>
          </a:p>
        </p:txBody>
      </p:sp>
      <p:sp>
        <p:nvSpPr>
          <p:cNvPr id="9" name="Text 4"/>
          <p:cNvSpPr txBox="1"/>
          <p:nvPr/>
        </p:nvSpPr>
        <p:spPr>
          <a:xfrm>
            <a:off x="813816" y="6483096"/>
            <a:ext cx="6400800" cy="274320"/>
          </a:xfrm>
          <a:prstGeom prst="rect">
            <a:avLst/>
          </a:prstGeom>
          <a:noFill/>
          <a:ln/>
        </p:spPr>
        <p:txBody>
          <a:bodyPr wrap="square" lIns="0" tIns="0" rIns="0" bIns="0" rtlCol="0" anchor="t"/>
          <a:lstStyle/>
          <a:p>
            <a:pPr indent="0" marL="0">
              <a:buNone/>
            </a:pPr>
            <a:r>
              <a:rPr lang="en-US" sz="800" dirty="0">
                <a:solidFill>
                  <a:srgbClr val="615D59"/>
                </a:solidFill>
                <a:latin typeface="Inter" pitchFamily="34" charset="0"/>
                <a:ea typeface="Inter" pitchFamily="34" charset="-122"/>
                <a:cs typeface="Inter" pitchFamily="34" charset="-120"/>
              </a:rPr>
              <a:t>Ours (paper). Shaded: below the paper by more than 0.01. Within 0.01 counts as reproduced; Spearman carries ±0.03 of noise on these splits and E. coli accuracy ±3.7 points. The figure is the same numbers: filled ours, open published.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the paper's central claim</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Fusion against the best single encoder: three resolved wins in fourteen comparisons, and two resolved losses</a:t>
            </a:r>
            <a:endParaRPr lang="en-US" sz="2400" dirty="0"/>
          </a:p>
        </p:txBody>
      </p:sp>
      <p:pic>
        <p:nvPicPr>
          <p:cNvPr id="4" name="Image 0" descr="/tmp/claude-0/-home-claude/585091c6-c086-52e1-bab3-37f93535e6c5/scratchpad/deck/ovfigs/r34_fusion_forest.png">    </p:cNvPr>
          <p:cNvPicPr>
            <a:picLocks noChangeAspect="1"/>
          </p:cNvPicPr>
          <p:nvPr/>
        </p:nvPicPr>
        <p:blipFill>
          <a:blip r:embed="rId1"/>
          <a:stretch>
            <a:fillRect/>
          </a:stretch>
        </p:blipFill>
        <p:spPr>
          <a:xfrm>
            <a:off x="1847088" y="1975104"/>
            <a:ext cx="8503920" cy="2980944"/>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5047488"/>
          <a:ext cx="10881360" cy="914400"/>
        </p:xfrm>
        <a:graphic>
          <a:graphicData uri="http://schemas.openxmlformats.org/drawingml/2006/table">
            <a:tbl>
              <a:tblPr/>
              <a:tblGrid>
                <a:gridCol w="2651760"/>
                <a:gridCol w="2057400"/>
                <a:gridCol w="2057400"/>
                <a:gridCol w="2057400"/>
                <a:gridCol w="2057400"/>
              </a:tblGrid>
              <a:tr h="237744">
                <a:tc>
                  <a:txBody>
                    <a:bodyPr/>
                    <a:lstStyle/>
                    <a:p>
                      <a:pPr indent="0" marL="0">
                        <a:buNone/>
                      </a:pPr>
                      <a:r>
                        <a:rPr lang="en-US" sz="1100" b="1" dirty="0">
                          <a:solidFill>
                            <a:srgbClr val="31302E"/>
                          </a:solidFill>
                          <a:latin typeface="Inter" pitchFamily="34" charset="0"/>
                          <a:ea typeface="Inter" pitchFamily="34" charset="-122"/>
                          <a:cs typeface="Inter" pitchFamily="34" charset="-120"/>
                        </a:rPr>
                        <a:t>Head minus the best single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(points)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 published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-0.015  [-0.049, +0.017]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-0.038  [-0.066,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+6.9  [+4.2, +9.6]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+0.007  [-0.006,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-0.005  [-0.041, +0.031]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-0.055  [-0.093,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+2.8  [+0.9, +4.8]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[-0.014,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+0.016  [-0.014, +0.048]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-0.002  [-0.026, +0.020]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+1.8  [-0.9, +4.5]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[-0.012, +0.015]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053328"/>
            <a:ext cx="10881360" cy="594360"/>
          </a:xfrm>
          <a:prstGeom prst="rect">
            <a:avLst/>
          </a:prstGeom>
          <a:noFill/>
          <a:ln/>
        </p:spPr>
        <p:txBody>
          <a:bodyPr wrap="square" lIns="0" tIns="0" rIns="0" bIns="0" rtlCol="0" anchor="t"/>
          <a:lstStyle/>
          <a:p>
            <a:pPr indent="0" marL="0">
              <a:buNone/>
            </a:pPr>
            <a:r>
              <a:rPr lang="en-US" sz="950" dirty="0">
                <a:solidFill>
                  <a:srgbClr val="615D59"/>
                </a:solidFill>
                <a:latin typeface="Inter" pitchFamily="34" charset="0"/>
                <a:ea typeface="Inter" pitchFamily="34" charset="-122"/>
                <a:cs typeface="Inter" pitchFamily="34" charset="-120"/>
              </a:rPr>
              <a:t>Read the interval before the number. It is the 95% paired bootstrap over the published test rows: the range the difference falls in across 4,000 resamples of that test set. If it crosses zero the benchmark cannot tell the two apart, whichever way the point estimate leans. Shaded cells are the four differences that resolve, two wins and two losses. In the figure the same thing is the line through each dot, and filled markers are the resolved ones. Cross-attention minus gated MIL resolves on fungal (+0.022) and CoV-Vac (+0.052), so the paper's ordering of the heads is reversed.</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the three fusion heads, and why only the gated one fails</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Concatenation keeps everything, the gated head keeps one modality, cross-attention lets any position read any modality</a:t>
            </a:r>
            <a:endParaRPr lang="en-US" sz="2400" dirty="0"/>
          </a:p>
        </p:txBody>
      </p:sp>
      <p:pic>
        <p:nvPicPr>
          <p:cNvPr id="4" name="Image 0" descr="/tmp/claude-0/-home-claude/585091c6-c086-52e1-bab3-37f93535e6c5/scratchpad/fusion_heads_slide.png">    </p:cNvPr>
          <p:cNvPicPr>
            <a:picLocks noChangeAspect="1"/>
          </p:cNvPicPr>
          <p:nvPr/>
        </p:nvPicPr>
        <p:blipFill>
          <a:blip r:embed="rId1"/>
          <a:stretch>
            <a:fillRect/>
          </a:stretch>
        </p:blipFill>
        <p:spPr>
          <a:xfrm>
            <a:off x="1956816" y="1975104"/>
            <a:ext cx="8275320" cy="29260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4992624"/>
          <a:ext cx="10881360" cy="914400"/>
        </p:xfrm>
        <a:graphic>
          <a:graphicData uri="http://schemas.openxmlformats.org/drawingml/2006/table">
            <a:tbl>
              <a:tblPr/>
              <a:tblGrid>
                <a:gridCol w="2926080"/>
                <a:gridCol w="1554480"/>
                <a:gridCol w="2194560"/>
                <a:gridCol w="2103120"/>
                <a:gridCol w="2103120"/>
              </a:tblGrid>
              <a:tr h="20116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Measured gated weights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Entropy weight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DNA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0.16 / 0.14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0.25 / 0.26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 / 0.59 / 0.60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 / 0.92 / 0.94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 / 0.03 / 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 / 0.05 / 0.06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E. coli</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0.11 / 0.18 / 0.10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0.89 / 0.82 / 0.90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Any benchmark</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 or 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gridSpan="3">
                  <a:txBody>
                    <a:bodyPr/>
                    <a:lstStyle/>
                    <a:p>
                      <a:pPr algn="ctr" indent="0" marL="0">
                        <a:buNone/>
                      </a:pPr>
                      <a:r>
                        <a:rPr lang="en-US" sz="1100" dirty="0">
                          <a:solidFill>
                            <a:srgbClr val="31302E"/>
                          </a:solidFill>
                          <a:latin typeface="Inter" pitchFamily="34" charset="0"/>
                          <a:ea typeface="Inter" pitchFamily="34" charset="-122"/>
                          <a:cs typeface="Inter" pitchFamily="34" charset="-120"/>
                        </a:rPr>
                        <a:t>one modality takes 1.00, the other two 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hMerge="1">
                  <a:tcPr/>
                </a:tc>
                <a:tc hMerge="1">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Weights averaged over each test split; three values are seeds 0, 1 and 2. RNA is at zero everywhere. On CoV-Vac the head keeps DNA and scores 0.783, the DNA-only score, while RNA-FM alone is the best encoder at 0.838.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mRNA stability</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published stability split is mostly memorization: every model drops 0.2 on sequences it has never seen</a:t>
            </a:r>
            <a:endParaRPr lang="en-US" sz="2400" dirty="0"/>
          </a:p>
        </p:txBody>
      </p:sp>
      <p:pic>
        <p:nvPicPr>
          <p:cNvPr id="4" name="Image 0" descr="/tmp/claude-0/-home-claude/585091c6-c086-52e1-bab3-37f93535e6c5/scratchpad/deck/ovfigs/r34_gated_leak.png">    </p:cNvPr>
          <p:cNvPicPr>
            <a:picLocks noChangeAspect="1"/>
          </p:cNvPicPr>
          <p:nvPr/>
        </p:nvPicPr>
        <p:blipFill>
          <a:blip r:embed="rId1"/>
          <a:stretch>
            <a:fillRect/>
          </a:stretch>
        </p:blipFill>
        <p:spPr>
          <a:xfrm>
            <a:off x="1188720" y="2103120"/>
            <a:ext cx="6858000" cy="3794760"/>
          </a:xfrm>
          <a:prstGeom prst="rect">
            <a:avLst/>
          </a:prstGeom>
        </p:spPr>
      </p:pic>
      <p:sp>
        <p:nvSpPr>
          <p:cNvPr id="5" name="Shape 2"/>
          <p:cNvSpPr/>
          <p:nvPr/>
        </p:nvSpPr>
        <p:spPr>
          <a:xfrm>
            <a:off x="8641080" y="2029968"/>
            <a:ext cx="2743200" cy="1783080"/>
          </a:xfrm>
          <a:prstGeom prst="roundRect">
            <a:avLst>
              <a:gd name="adj" fmla="val 4103"/>
            </a:avLst>
          </a:prstGeom>
          <a:solidFill>
            <a:srgbClr val="FFFFFF"/>
          </a:solidFill>
          <a:ln w="9525">
            <a:solidFill>
              <a:srgbClr val="E6E6E6"/>
            </a:solidFill>
            <a:prstDash val="solid"/>
          </a:ln>
        </p:spPr>
      </p:sp>
      <p:sp>
        <p:nvSpPr>
          <p:cNvPr id="6" name="Text 3"/>
          <p:cNvSpPr txBox="1"/>
          <p:nvPr/>
        </p:nvSpPr>
        <p:spPr>
          <a:xfrm>
            <a:off x="8842248" y="2176272"/>
            <a:ext cx="2340864" cy="411480"/>
          </a:xfrm>
          <a:prstGeom prst="rect">
            <a:avLst/>
          </a:prstGeom>
          <a:noFill/>
          <a:ln/>
        </p:spPr>
        <p:txBody>
          <a:bodyPr wrap="square" lIns="0" tIns="0" rIns="0" bIns="0" rtlCol="0" anchor="t"/>
          <a:lstStyle/>
          <a:p>
            <a:pPr indent="0" marL="0">
              <a:buNone/>
            </a:pPr>
            <a:r>
              <a:rPr lang="en-US" sz="2000" b="1" dirty="0">
                <a:solidFill>
                  <a:srgbClr val="31302E"/>
                </a:solidFill>
                <a:latin typeface="Inter" pitchFamily="34" charset="0"/>
                <a:ea typeface="Inter" pitchFamily="34" charset="-122"/>
                <a:cs typeface="Inter" pitchFamily="34" charset="-120"/>
              </a:rPr>
              <a:t>3,579 rows</a:t>
            </a:r>
            <a:endParaRPr lang="en-US" sz="2000" dirty="0"/>
          </a:p>
        </p:txBody>
      </p:sp>
      <p:sp>
        <p:nvSpPr>
          <p:cNvPr id="7" name="Text 4"/>
          <p:cNvSpPr txBox="1"/>
          <p:nvPr/>
        </p:nvSpPr>
        <p:spPr>
          <a:xfrm>
            <a:off x="8842248" y="2615184"/>
            <a:ext cx="2340864" cy="1106424"/>
          </a:xfrm>
          <a:prstGeom prst="rect">
            <a:avLst/>
          </a:prstGeom>
          <a:noFill/>
          <a:ln/>
        </p:spPr>
        <p:txBody>
          <a:bodyPr wrap="square" lIns="0" tIns="0" rIns="0" bIns="0" rtlCol="0" anchor="t"/>
          <a:lstStyle/>
          <a:p>
            <a:pPr indent="0" marL="0">
              <a:buNone/>
            </a:pPr>
            <a:r>
              <a:rPr lang="en-US" sz="1050" dirty="0">
                <a:solidFill>
                  <a:srgbClr val="615D59"/>
                </a:solidFill>
                <a:latin typeface="Inter" pitchFamily="34" charset="0"/>
                <a:ea typeface="Inter" pitchFamily="34" charset="-122"/>
                <a:cs typeface="Inter" pitchFamily="34" charset="-120"/>
              </a:rPr>
              <a:t>The published test split. The paper's stability numbers are on this split (ours match within 0.01). 2,444 of its rows repeat a training sequence, usually with a different label.</a:t>
            </a:r>
            <a:endParaRPr lang="en-US" sz="1050" dirty="0"/>
          </a:p>
        </p:txBody>
      </p:sp>
      <p:sp>
        <p:nvSpPr>
          <p:cNvPr id="8" name="Shape 5"/>
          <p:cNvSpPr/>
          <p:nvPr/>
        </p:nvSpPr>
        <p:spPr>
          <a:xfrm>
            <a:off x="8641080" y="3995928"/>
            <a:ext cx="2743200" cy="1783080"/>
          </a:xfrm>
          <a:prstGeom prst="roundRect">
            <a:avLst>
              <a:gd name="adj" fmla="val 4103"/>
            </a:avLst>
          </a:prstGeom>
          <a:solidFill>
            <a:srgbClr val="213183"/>
          </a:solidFill>
          <a:ln w="9525">
            <a:solidFill>
              <a:srgbClr val="213183"/>
            </a:solidFill>
            <a:prstDash val="solid"/>
          </a:ln>
        </p:spPr>
      </p:sp>
      <p:sp>
        <p:nvSpPr>
          <p:cNvPr id="9" name="Text 6"/>
          <p:cNvSpPr txBox="1"/>
          <p:nvPr/>
        </p:nvSpPr>
        <p:spPr>
          <a:xfrm>
            <a:off x="8842248" y="4142232"/>
            <a:ext cx="2340864" cy="411480"/>
          </a:xfrm>
          <a:prstGeom prst="rect">
            <a:avLst/>
          </a:prstGeom>
          <a:noFill/>
          <a:ln/>
        </p:spPr>
        <p:txBody>
          <a:bodyPr wrap="square" lIns="0" tIns="0" rIns="0" bIns="0" rtlCol="0" anchor="t"/>
          <a:lstStyle/>
          <a:p>
            <a:pPr indent="0" marL="0">
              <a:buNone/>
            </a:pPr>
            <a:r>
              <a:rPr lang="en-US" sz="2000" b="1" dirty="0">
                <a:solidFill>
                  <a:srgbClr val="FFFFFF"/>
                </a:solidFill>
                <a:latin typeface="Inter" pitchFamily="34" charset="0"/>
                <a:ea typeface="Inter" pitchFamily="34" charset="-122"/>
                <a:cs typeface="Inter" pitchFamily="34" charset="-120"/>
              </a:rPr>
              <a:t>1,135 rows</a:t>
            </a:r>
            <a:endParaRPr lang="en-US" sz="2000" dirty="0"/>
          </a:p>
        </p:txBody>
      </p:sp>
      <p:sp>
        <p:nvSpPr>
          <p:cNvPr id="10" name="Text 7"/>
          <p:cNvSpPr txBox="1"/>
          <p:nvPr/>
        </p:nvSpPr>
        <p:spPr>
          <a:xfrm>
            <a:off x="8842248" y="4581144"/>
            <a:ext cx="2340864" cy="1106424"/>
          </a:xfrm>
          <a:prstGeom prst="rect">
            <a:avLst/>
          </a:prstGeom>
          <a:noFill/>
          <a:ln/>
        </p:spPr>
        <p:txBody>
          <a:bodyPr wrap="square" lIns="0" tIns="0" rIns="0" bIns="0" rtlCol="0" anchor="t"/>
          <a:lstStyle/>
          <a:p>
            <a:pPr indent="0" marL="0">
              <a:buNone/>
            </a:pPr>
            <a:r>
              <a:rPr lang="en-US" sz="1050" dirty="0">
                <a:solidFill>
                  <a:srgbClr val="FFFFFF"/>
                </a:solidFill>
                <a:latin typeface="Inter" pitchFamily="34" charset="0"/>
                <a:ea typeface="Inter" pitchFamily="34" charset="-122"/>
                <a:cs typeface="Inter" pitchFamily="34" charset="-120"/>
              </a:rPr>
              <a:t>Never seen in training. Every model drops about 0.2. Fusion is +0.03 to +0.04 over RNA-FM as written, but only +0.007 to +0.019 over RNA-FM on the codon grid (0.340). Unresolved.</a:t>
            </a:r>
            <a:endParaRPr lang="en-US" sz="1050" dirty="0"/>
          </a:p>
        </p:txBody>
      </p:sp>
      <p:sp>
        <p:nvSpPr>
          <p:cNvPr id="11"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Seed 0; the same trained models, scored twice. Validation leaks too (2,360 of 3,608 rows), so early stopping watched a leaky split. A sequence-grouped re-split with seeds would settle the fusion question here.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Plan item 5 · the mRFP synonymous control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Same protein, 1,000 codon recodings: every nucleotide encoder carries codon information beyond composition; mRNA-FM by far the most</a:t>
            </a:r>
            <a:endParaRPr lang="en-US" sz="2400" dirty="0"/>
          </a:p>
        </p:txBody>
      </p:sp>
      <p:pic>
        <p:nvPicPr>
          <p:cNvPr id="4" name="Image 0" descr="/tmp/claude-0/-home-claude/585091c6-c086-52e1-bab3-37f93535e6c5/scratchpad/deck/ovfigs/r34_mrfp.png">    </p:cNvPr>
          <p:cNvPicPr>
            <a:picLocks noChangeAspect="1"/>
          </p:cNvPicPr>
          <p:nvPr/>
        </p:nvPicPr>
        <p:blipFill>
          <a:blip r:embed="rId1"/>
          <a:stretch>
            <a:fillRect/>
          </a:stretch>
        </p:blipFill>
        <p:spPr>
          <a:xfrm>
            <a:off x="658368" y="2103120"/>
            <a:ext cx="10881360" cy="2999232"/>
          </a:xfrm>
          <a:prstGeom prst="rect">
            <a:avLst/>
          </a:prstGeom>
        </p:spPr>
      </p:pic>
      <p:sp>
        <p:nvSpPr>
          <p:cNvPr id="5" name="Text 2"/>
          <p:cNvSpPr txBox="1"/>
          <p:nvPr/>
        </p:nvSpPr>
        <p:spPr>
          <a:xfrm>
            <a:off x="813816" y="5257800"/>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The four protein encoders add 0.000, in all ten fold assignments: they see the identical protein in every row, so they must predict nothing, and the negative control holds. Gain is held-out R² added on top of GC, GC3, the 64 codon frequencies, a pairing proxy and two folding energies (together R² 0.306), averaged over ten grouped fold assignments; the one structure feature that matters is the folding energy of the first 60 nucleotides (Kudla et al. 2009). Mina, Oct 22: anchor fusion on the best encoder (DNA with mRNA-FM, mRNA-FM with protein) and try the other codon-level mRNA encoders. Added to Phase B, Gantt 24.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one encoder swapped at a time</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A better RNA encoder raises the single-encoder score by 8 points and erases the fusion gain; cross-attention does not change that</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3200400"/>
                <a:gridCol w="960120"/>
                <a:gridCol w="960120"/>
                <a:gridCol w="960120"/>
                <a:gridCol w="960120"/>
                <a:gridCol w="960120"/>
                <a:gridCol w="960120"/>
                <a:gridCol w="960120"/>
                <a:gridCol w="960120"/>
              </a:tblGrid>
              <a:tr h="256032">
                <a:tc rowSpan="2">
                  <a:txBody>
                    <a:bodyPr/>
                    <a:lstStyle/>
                    <a:p>
                      <a:pPr indent="0" marL="0">
                        <a:buNone/>
                      </a:pPr>
                      <a:r>
                        <a:rPr lang="en-US" sz="1100" b="1" dirty="0">
                          <a:solidFill>
                            <a:srgbClr val="31302E"/>
                          </a:solidFill>
                          <a:latin typeface="Inter" pitchFamily="34" charset="0"/>
                          <a:ea typeface="Inter" pitchFamily="34" charset="-122"/>
                          <a:cs typeface="Inter" pitchFamily="34" charset="-120"/>
                        </a:rPr>
                        <a:t>Encoder in the RNA slot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gridSpan="4">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 (Spearman)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hMerge="1">
                  <a:tcPr/>
                </a:tc>
                <a:tc hMerge="1">
                  <a:tcPr/>
                </a:tc>
                <a:tc hMerge="1">
                  <a:tcPr/>
                </a:tc>
                <a:tc gridSpan="4">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(accuracy, %)</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hMerge="1">
                  <a:tcPr/>
                </a:tc>
                <a:tc hMerge="1">
                  <a:tcPr/>
                </a:tc>
                <a:tc hMerge="1">
                  <a:tcPr/>
                </a:tc>
              </a:tr>
              <a:tr h="256032">
                <a:tc vMerge="1">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concat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gated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cross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concat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gated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cross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56032">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(the paper's own)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0.783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50.7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60.7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54.4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53.8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1302E"/>
                          </a:solidFill>
                          <a:latin typeface="Inter" pitchFamily="34" charset="0"/>
                          <a:ea typeface="Inter" pitchFamily="34" charset="-122"/>
                          <a:cs typeface="Inter" pitchFamily="34" charset="-120"/>
                        </a:rPr>
                        <a:t>mRNA-FM</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0.759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0.762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58.7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1302E"/>
                          </a:solidFill>
                          <a:latin typeface="Inter" pitchFamily="34" charset="0"/>
                          <a:ea typeface="Inter" pitchFamily="34" charset="-122"/>
                          <a:cs typeface="Inter" pitchFamily="34" charset="-120"/>
                        </a:rPr>
                        <a:t>CaLM</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0.844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0.817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57.6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57.7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56.7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phaseB.png">    </p:cNvPr>
          <p:cNvPicPr>
            <a:picLocks noChangeAspect="1"/>
          </p:cNvPicPr>
          <p:nvPr/>
        </p:nvPicPr>
        <p:blipFill>
          <a:blip r:embed="rId1"/>
          <a:stretch>
            <a:fillRect/>
          </a:stretch>
        </p:blipFill>
        <p:spPr>
          <a:xfrm>
            <a:off x="813816" y="3401568"/>
            <a:ext cx="5614416" cy="3273552"/>
          </a:xfrm>
          <a:prstGeom prst="rect">
            <a:avLst/>
          </a:prstGeom>
        </p:spPr>
      </p:pic>
      <p:sp>
        <p:nvSpPr>
          <p:cNvPr id="6" name="Text 2"/>
          <p:cNvSpPr txBox="1"/>
          <p:nvPr/>
        </p:nvSpPr>
        <p:spPr>
          <a:xfrm>
            <a:off x="6720840" y="3401568"/>
            <a:ext cx="4983480" cy="274320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What changed. </a:t>
            </a:r>
            <a:pPr indent="0" marL="0">
              <a:spcAft>
                <a:spcPts val="400"/>
              </a:spcAft>
              <a:buNone/>
            </a:pPr>
            <a:r>
              <a:rPr lang="en-US" sz="1050" dirty="0">
                <a:solidFill>
                  <a:srgbClr val="615D59"/>
                </a:solidFill>
                <a:latin typeface="Inter" pitchFamily="34" charset="0"/>
                <a:ea typeface="Inter" pitchFamily="34" charset="-122"/>
                <a:cs typeface="Inter" pitchFamily="34" charset="-120"/>
              </a:rPr>
              <a:t>E. coli: mRNA-FM alone is +8.0 points over RNA-FM alone [+3.9, +11.9], resolved; CaLM +6.8 [+2.5, +10.8]. Fusion on top of mRNA-FM: concatenation +0.3 [-2.9, +3.5], not resolved; gated -5.6, resolved worse; cross-attention -3.9, not better. Phase A's +6.9 was fusion compensating for a weak RNA encoder. CoV-Vac: the codon-level swap does not help (both tie RNA-FM alone), concatenation and the gated head are resolved worse than the encoder alone, and cross-attention ties.</a:t>
            </a:r>
            <a:endParaRPr lang="en-US" sz="1050" dirty="0"/>
          </a:p>
          <a:p>
            <a:pPr indent="0" marL="0">
              <a:buNone/>
            </a:pPr>
            <a:r>
              <a:rPr lang="en-US" sz="1050" b="1" dirty="0">
                <a:solidFill>
                  <a:srgbClr val="31302E"/>
                </a:solidFill>
                <a:latin typeface="Inter" pitchFamily="34" charset="0"/>
                <a:ea typeface="Inter" pitchFamily="34" charset="-122"/>
                <a:cs typeface="Inter" pitchFamily="34" charset="-120"/>
              </a:rPr>
              <a:t>Why. </a:t>
            </a:r>
            <a:pPr indent="0" marL="0">
              <a:buNone/>
            </a:pPr>
            <a:r>
              <a:rPr lang="en-US" sz="1050" dirty="0">
                <a:solidFill>
                  <a:srgbClr val="615D59"/>
                </a:solidFill>
                <a:latin typeface="Inter" pitchFamily="34" charset="0"/>
                <a:ea typeface="Inter" pitchFamily="34" charset="-122"/>
                <a:cs typeface="Inter" pitchFamily="34" charset="-120"/>
              </a:rPr>
              <a:t>E. coli expression is driven by codon usage, which codon-level encoders (mRNA-FM, CaLM) were pretrained on. CoV-Vac degradation is driven by the folding of a short RNA fragment, which nucleotide-level RNA-FM was pretrained on. Match the encoder to the task first; fusion of three readings of one sequence adds nothing after that.</a:t>
            </a:r>
            <a:endParaRPr lang="en-US" sz="1050" dirty="0"/>
          </a:p>
        </p:txBody>
      </p:sp>
      <p:sp>
        <p:nvSpPr>
          <p:cNvPr id="7" name="Text 3"/>
          <p:cNvSpPr txBox="1"/>
          <p:nvPr/>
        </p:nvSpPr>
        <p:spPr>
          <a:xfrm>
            <a:off x="6720840" y="6263640"/>
            <a:ext cx="4983480" cy="411480"/>
          </a:xfrm>
          <a:prstGeom prst="rect">
            <a:avLst/>
          </a:prstGeom>
          <a:noFill/>
          <a:ln/>
        </p:spPr>
        <p:txBody>
          <a:bodyPr wrap="square" lIns="0" tIns="0" rIns="0" bIns="0" rtlCol="0" anchor="t"/>
          <a:lstStyle/>
          <a:p>
            <a:pPr indent="0" marL="0">
              <a:buNone/>
            </a:pPr>
            <a:r>
              <a:rPr lang="en-US" sz="900" dirty="0">
                <a:solidFill>
                  <a:srgbClr val="615D59"/>
                </a:solidFill>
                <a:latin typeface="Inter" pitchFamily="34" charset="0"/>
                <a:ea typeface="Inter" pitchFamily="34" charset="-122"/>
                <a:cs typeface="Inter" pitchFamily="34" charset="-120"/>
              </a:rPr>
              <a:t>Seed 0, Equation 1, 100 channels, everything else at Phase A's settings; paired bootstrap on the same test rows. These are the first four swaps in detail; all eight are on the next slide.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all eight swaps, run October 25 to 27</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Across all eight swaps a better single encoder does the work; three new fusion gains remain to confirm with seeds</a:t>
            </a:r>
            <a:endParaRPr lang="en-US" sz="2400" dirty="0"/>
          </a:p>
        </p:txBody>
      </p:sp>
      <p:pic>
        <p:nvPicPr>
          <p:cNvPr id="4" name="Image 0" descr="/tmp/claude-0/-home-claude/585091c6-c086-52e1-bab3-37f93535e6c5/scratchpad/deck/ovfigs/r34_phaseB_grid_slide.png">    </p:cNvPr>
          <p:cNvPicPr>
            <a:picLocks noChangeAspect="1"/>
          </p:cNvPicPr>
          <p:nvPr/>
        </p:nvPicPr>
        <p:blipFill>
          <a:blip r:embed="rId1"/>
          <a:stretch>
            <a:fillRect/>
          </a:stretch>
        </p:blipFill>
        <p:spPr>
          <a:xfrm>
            <a:off x="1709928" y="1938528"/>
            <a:ext cx="8375904" cy="320040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5212080"/>
          <a:ext cx="10881360" cy="914400"/>
        </p:xfrm>
        <a:graphic>
          <a:graphicData uri="http://schemas.openxmlformats.org/drawingml/2006/table">
            <a:tbl>
              <a:tblPr/>
              <a:tblGrid>
                <a:gridCol w="2322576"/>
                <a:gridCol w="1069848"/>
                <a:gridCol w="1069848"/>
                <a:gridCol w="1069848"/>
                <a:gridCol w="1069848"/>
                <a:gridCol w="1069848"/>
                <a:gridCol w="1069848"/>
                <a:gridCol w="1069848"/>
                <a:gridCol w="1069848"/>
              </a:tblGrid>
              <a:tr h="201168">
                <a:tc>
                  <a:txBody>
                    <a:bodyPr/>
                    <a:lstStyle/>
                    <a:p>
                      <a:pPr indent="0" marL="0">
                        <a:buNone/>
                      </a:pPr>
                      <a:r>
                        <a:rPr lang="en-US" sz="900" b="1" dirty="0">
                          <a:solidFill>
                            <a:srgbClr val="31302E"/>
                          </a:solidFill>
                          <a:latin typeface="Inter" pitchFamily="34" charset="0"/>
                          <a:ea typeface="Inter" pitchFamily="34" charset="-122"/>
                          <a:cs typeface="Inter" pitchFamily="34" charset="-120"/>
                        </a:rPr>
                        <a:t>Swapped in, alone (original it replaces)</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NT 500M</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HyenaDNA</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RiNALMo</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mRNA-FM</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CaLM</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ESM-2 35M</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ESM-2 150M</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ProtBERT</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01168">
                <a:tc>
                  <a:txBody>
                    <a:bodyPr/>
                    <a:lstStyle/>
                    <a:p>
                      <a:pPr indent="0" marL="0">
                        <a:buNone/>
                      </a:pPr>
                      <a:r>
                        <a:rPr lang="en-US" sz="900" dirty="0">
                          <a:solidFill>
                            <a:srgbClr val="31302E"/>
                          </a:solidFill>
                          <a:latin typeface="Inter" pitchFamily="34" charset="0"/>
                          <a:ea typeface="Inter" pitchFamily="34" charset="-122"/>
                          <a:cs typeface="Inter" pitchFamily="34" charset="-120"/>
                        </a:rPr>
                        <a:t>Fungal</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0.740 (0.813)</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0.737 (0.813)</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0.844 (0.722)</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0.852 (0.722)</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0.851 (0.722)</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0.696 (0.698)</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0.729 (0.698)</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0.761 (0.698)</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900" dirty="0">
                          <a:solidFill>
                            <a:srgbClr val="31302E"/>
                          </a:solidFill>
                          <a:latin typeface="Inter" pitchFamily="34" charset="0"/>
                          <a:ea typeface="Inter" pitchFamily="34" charset="-122"/>
                          <a:cs typeface="Inter" pitchFamily="34" charset="-120"/>
                        </a:rPr>
                        <a:t>CoV-Vac</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0.727 (0.779)</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0.755 (0.779)</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0.823 (0.833)</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0.812 (0.833)</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0.844 (0.833)</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0.814 (0.816)</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0.827 (0.816)</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0.776 (0.816)</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900" dirty="0">
                          <a:solidFill>
                            <a:srgbClr val="31302E"/>
                          </a:solidFill>
                          <a:latin typeface="Inter" pitchFamily="34" charset="0"/>
                          <a:ea typeface="Inter" pitchFamily="34" charset="-122"/>
                          <a:cs typeface="Inter" pitchFamily="34" charset="-120"/>
                        </a:rPr>
                        <a:t>E. coli (%)</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47.5 (47.8)</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50.4 (47.8)</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57.3 (50.7)</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58.7 (50.7)</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31302E"/>
                          </a:solidFill>
                          <a:latin typeface="Inter" pitchFamily="34" charset="0"/>
                          <a:ea typeface="Inter" pitchFamily="34" charset="-122"/>
                          <a:cs typeface="Inter" pitchFamily="34" charset="-120"/>
                        </a:rPr>
                        <a:t>57.6 (50.7)</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52.1 (50.1)</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53.9 (50.1)</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52.5 (50.1)</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900" dirty="0">
                          <a:solidFill>
                            <a:srgbClr val="31302E"/>
                          </a:solidFill>
                          <a:latin typeface="Inter" pitchFamily="34" charset="0"/>
                          <a:ea typeface="Inter" pitchFamily="34" charset="-122"/>
                          <a:cs typeface="Inter" pitchFamily="34" charset="-120"/>
                        </a:rPr>
                        <a:t>Stability</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not run</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not run</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not run</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0.565 (0.552)</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0.559 (0.552)</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not run</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0.537 (0.531)</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1302E"/>
                          </a:solidFill>
                          <a:latin typeface="Inter" pitchFamily="34" charset="0"/>
                          <a:ea typeface="Inter" pitchFamily="34" charset="-122"/>
                          <a:cs typeface="Inter" pitchFamily="34" charset="-120"/>
                        </a:rPr>
                        <a:t>not run</a:t>
                      </a:r>
                      <a:endParaRPr lang="en-US" sz="9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400800"/>
            <a:ext cx="10881360" cy="365760"/>
          </a:xfrm>
          <a:prstGeom prst="rect">
            <a:avLst/>
          </a:prstGeom>
          <a:noFill/>
          <a:ln/>
        </p:spPr>
        <p:txBody>
          <a:bodyPr wrap="square" lIns="0" tIns="0" rIns="0" bIns="0" rtlCol="0" anchor="t"/>
          <a:lstStyle/>
          <a:p>
            <a:pPr indent="0" marL="0">
              <a:buNone/>
            </a:pPr>
            <a:r>
              <a:rPr lang="en-US" sz="800" dirty="0">
                <a:solidFill>
                  <a:srgbClr val="615D59"/>
                </a:solidFill>
                <a:latin typeface="Inter" pitchFamily="34" charset="0"/>
                <a:ea typeface="Inter" pitchFamily="34" charset="-122"/>
                <a:cs typeface="Inter" pitchFamily="34" charset="-120"/>
              </a:rPr>
              <a:t>Grid: each head minus the best single encoder validation chose, one seed, 95% paired interval; shaded cells resolve. † Fungal with ProtBERT: validation chose ProtBERT alone (0.761) while NT v2 alone scores 0.813, so those three gains are measured against a weak reference. Bold in the table: the swap beats the encoder it replaces by a wide margin.</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2 · LucaOne, one jointly pretrained model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mRNA stability, one model pretrained on both alphabets beats the three separately pretrained encoders fused</a:t>
            </a:r>
            <a:endParaRPr lang="en-US" sz="2400" dirty="0"/>
          </a:p>
        </p:txBody>
      </p:sp>
      <p:pic>
        <p:nvPicPr>
          <p:cNvPr id="4" name="Image 0" descr="/tmp/claude-0/-home-claude/585091c6-c086-52e1-bab3-37f93535e6c5/scratchpad/deck/ovfigs/r34_lucaone.png">    </p:cNvPr>
          <p:cNvPicPr>
            <a:picLocks noChangeAspect="1"/>
          </p:cNvPicPr>
          <p:nvPr/>
        </p:nvPicPr>
        <p:blipFill>
          <a:blip r:embed="rId1"/>
          <a:stretch>
            <a:fillRect/>
          </a:stretch>
        </p:blipFill>
        <p:spPr>
          <a:xfrm>
            <a:off x="658368" y="2103120"/>
            <a:ext cx="10881360" cy="3017520"/>
          </a:xfrm>
          <a:prstGeom prst="rect">
            <a:avLst/>
          </a:prstGeom>
        </p:spPr>
      </p:pic>
      <p:sp>
        <p:nvSpPr>
          <p:cNvPr id="5" name="Text 2"/>
          <p:cNvSpPr txBox="1"/>
          <p:nvPr/>
        </p:nvSpPr>
        <p:spPr>
          <a:xfrm>
            <a:off x="813816" y="5276088"/>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LucaOne's two streams are +0.092 over the three BioLangFusion encoders concatenated, interval [+0.066, +0.120], resolved, and +0.170 over the best single encoder. "BLF three fused" is the pooled vectors of NT v2, RNA-FM and ESM-2 glued into one 1,472-wide vector and read by the same ridge probe: the probe-level version of concatenation, not the trained head. Ridge probe on frozen pooled vectors, identical for every row, on the published split, which is the leaky one (slide 7). LucaOne is 1.8B parameters against 108M for the three combined. Next, Mina Oct 22: the same comparison on E. coli, CoV-Vac and fungal; GTEx does not fit LucaOne's 1,280-token context.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Priorities 3 and 4 · full transcripts</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Outside the coding sequence there is real signal, and fusing a full transcript with its protein helps on both tasks</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5394960"/>
                <a:gridCol w="2743200"/>
                <a:gridCol w="274320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Representation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Half-life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Translation efficiency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coding sequence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0.487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whole transcript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5' UTR,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0.178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Coding sequence,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0.473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DNA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 of the coding sequence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0.606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Three encoders fused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0.713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halflife.png">    </p:cNvPr>
          <p:cNvPicPr>
            <a:picLocks noChangeAspect="1"/>
          </p:cNvPicPr>
          <p:nvPr/>
        </p:nvPicPr>
        <p:blipFill>
          <a:blip r:embed="rId1"/>
          <a:stretch>
            <a:fillRect/>
          </a:stretch>
        </p:blipFill>
        <p:spPr>
          <a:xfrm>
            <a:off x="813816" y="4407408"/>
            <a:ext cx="6711696" cy="2267712"/>
          </a:xfrm>
          <a:prstGeom prst="rect">
            <a:avLst/>
          </a:prstGeom>
        </p:spPr>
      </p:pic>
      <p:sp>
        <p:nvSpPr>
          <p:cNvPr id="6" name="Text 2"/>
          <p:cNvSpPr txBox="1"/>
          <p:nvPr/>
        </p:nvSpPr>
        <p:spPr>
          <a:xfrm>
            <a:off x="7818120" y="4407408"/>
            <a:ext cx="3886200" cy="192024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+0.053 / +0.030. </a:t>
            </a:r>
            <a:pPr indent="0" marL="0">
              <a:spcAft>
                <a:spcPts val="500"/>
              </a:spcAft>
              <a:buNone/>
            </a:pPr>
            <a:r>
              <a:rPr lang="en-US" sz="1050" dirty="0">
                <a:solidFill>
                  <a:srgbClr val="615D59"/>
                </a:solidFill>
                <a:latin typeface="Inter" pitchFamily="34" charset="0"/>
                <a:ea typeface="Inter" pitchFamily="34" charset="-122"/>
                <a:cs typeface="Inter" pitchFamily="34" charset="-120"/>
              </a:rPr>
              <a:t>Full transcript with protein over the best single encoder, on half-life and on translation efficiency. Means over nine gene-grouped splits; no paired interval yet, so not proof.</a:t>
            </a:r>
            <a:endParaRPr lang="en-US" sz="1050" dirty="0"/>
          </a:p>
          <a:p>
            <a:pPr indent="0" marL="0">
              <a:buNone/>
            </a:pPr>
            <a:r>
              <a:rPr lang="en-US" sz="1050" b="1" dirty="0">
                <a:solidFill>
                  <a:srgbClr val="31302E"/>
                </a:solidFill>
                <a:latin typeface="Inter" pitchFamily="34" charset="0"/>
                <a:ea typeface="Inter" pitchFamily="34" charset="-122"/>
                <a:cs typeface="Inter" pitchFamily="34" charset="-120"/>
              </a:rPr>
              <a:t>The floor is 0.542 / 0.702. </a:t>
            </a:r>
            <a:pPr indent="0" marL="0">
              <a:buNone/>
            </a:pPr>
            <a:r>
              <a:rPr lang="en-US" sz="1050" dirty="0">
                <a:solidFill>
                  <a:srgbClr val="615D59"/>
                </a:solidFill>
                <a:latin typeface="Inter" pitchFamily="34" charset="0"/>
                <a:ea typeface="Inter" pitchFamily="34" charset="-122"/>
                <a:cs typeface="Inter" pitchFamily="34" charset="-120"/>
              </a:rPr>
              <a:t>Counted composition of the whole transcript, no foundation model (the dashed line in each panel). An encoder has to clear that, not zero, and only the fused rows clearly do. Protein is the best single representation because both tasks track codon optimality and ORF length.</a:t>
            </a:r>
            <a:endParaRPr lang="en-US" sz="1050" dirty="0"/>
          </a:p>
        </p:txBody>
      </p:sp>
      <p:sp>
        <p:nvSpPr>
          <p:cNvPr id="7" name="Text 3"/>
          <p:cNvSpPr txBox="1"/>
          <p:nvPr/>
        </p:nvSpPr>
        <p:spPr>
          <a:xfrm>
            <a:off x="7818120" y="6355080"/>
            <a:ext cx="3886200" cy="320040"/>
          </a:xfrm>
          <a:prstGeom prst="rect">
            <a:avLst/>
          </a:prstGeom>
          <a:noFill/>
          <a:ln/>
        </p:spPr>
        <p:txBody>
          <a:bodyPr wrap="square" lIns="0" tIns="0" rIns="0" bIns="0" rtlCol="0" anchor="t"/>
          <a:lstStyle/>
          <a:p>
            <a:pPr indent="0" marL="0">
              <a:buNone/>
            </a:pPr>
            <a:r>
              <a:rPr lang="en-US" sz="900" dirty="0">
                <a:solidFill>
                  <a:srgbClr val="615D59"/>
                </a:solidFill>
                <a:latin typeface="Inter" pitchFamily="34" charset="0"/>
                <a:ea typeface="Inter" pitchFamily="34" charset="-122"/>
                <a:cs typeface="Inter" pitchFamily="34" charset="-120"/>
              </a:rPr>
              <a:t>Human only; mouse is embedded and not yet scored. Frozen encoders, windowed pooling, ridge probes, nine gene-grouped splits.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Baseline · IsoFormer on GTEx (Gantt 44)</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three physically different molecules, with no codon grid, fusion wins clearly</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4663440"/>
                <a:gridCol w="3108960"/>
                <a:gridCol w="3108960"/>
              </a:tblGrid>
              <a:tr h="24688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Modalities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Ours, frozen encoders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IsoFormer, fine-tuned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(6,000-nt genomic window)</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RNA (transcript)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0.507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13816" y="3822192"/>
            <a:ext cx="10881360" cy="86868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Why this one is different. </a:t>
            </a:r>
            <a:pPr indent="0" marL="0">
              <a:buNone/>
            </a:pPr>
            <a:r>
              <a:rPr lang="en-US" sz="1050" dirty="0">
                <a:solidFill>
                  <a:srgbClr val="615D59"/>
                </a:solidFill>
                <a:latin typeface="Inter" pitchFamily="34" charset="0"/>
                <a:ea typeface="Inter" pitchFamily="34" charset="-122"/>
                <a:cs typeface="Inter" pitchFamily="34" charset="-120"/>
              </a:rPr>
              <a:t>Every benchmark where fusion failed gives the three encoders one coding sequence. Here they get a genomic window around the transcription start site, the transcript and the protein: information no single encoder could see. Stage 1 measured cross-modal alignment lowest exactly here, and this is where fusion adds the most: low alignment, high complementarity. Three of the paper's four orderings reproduce, and the gap to IsoFormer's absolute values is what freezing costs, since IsoFormer fine-tunes its encoders.</a:t>
            </a:r>
            <a:endParaRPr lang="en-US" sz="1050" dirty="0"/>
          </a:p>
        </p:txBody>
      </p:sp>
      <p:pic>
        <p:nvPicPr>
          <p:cNvPr id="6" name="Image 0" descr="/tmp/claude-0/-home-claude/585091c6-c086-52e1-bab3-37f93535e6c5/scratchpad/deck/ovfigs/r34_isoformer.png">    </p:cNvPr>
          <p:cNvPicPr>
            <a:picLocks noChangeAspect="1"/>
          </p:cNvPicPr>
          <p:nvPr/>
        </p:nvPicPr>
        <p:blipFill>
          <a:blip r:embed="rId1"/>
          <a:stretch>
            <a:fillRect/>
          </a:stretch>
        </p:blipFill>
        <p:spPr>
          <a:xfrm>
            <a:off x="2295144" y="4773168"/>
            <a:ext cx="7598664" cy="190195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What it adds up to · and what Mina asked for on October 22</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reproduction is faithful; the paper's fusion gains mostly do not survive a stronger single encoder</a:t>
            </a:r>
            <a:endParaRPr lang="en-US" sz="2400" dirty="0"/>
          </a:p>
        </p:txBody>
      </p:sp>
      <p:sp>
        <p:nvSpPr>
          <p:cNvPr id="4" name="Shape 2"/>
          <p:cNvSpPr/>
          <p:nvPr/>
        </p:nvSpPr>
        <p:spPr>
          <a:xfrm>
            <a:off x="813816" y="2029968"/>
            <a:ext cx="5193792" cy="3794760"/>
          </a:xfrm>
          <a:prstGeom prst="roundRect">
            <a:avLst>
              <a:gd name="adj" fmla="val 1928"/>
            </a:avLst>
          </a:prstGeom>
          <a:solidFill>
            <a:srgbClr val="FFFFFF"/>
          </a:solidFill>
          <a:ln w="9525">
            <a:solidFill>
              <a:srgbClr val="E6E6E6"/>
            </a:solidFill>
            <a:prstDash val="solid"/>
          </a:ln>
        </p:spPr>
      </p:sp>
      <p:sp>
        <p:nvSpPr>
          <p:cNvPr id="5" name="Text 3"/>
          <p:cNvSpPr txBox="1"/>
          <p:nvPr/>
        </p:nvSpPr>
        <p:spPr>
          <a:xfrm>
            <a:off x="1051560" y="2194560"/>
            <a:ext cx="4846320" cy="274320"/>
          </a:xfrm>
          <a:prstGeom prst="rect">
            <a:avLst/>
          </a:prstGeom>
          <a:noFill/>
          <a:ln/>
        </p:spPr>
        <p:txBody>
          <a:bodyPr wrap="square" lIns="0" tIns="0" rIns="0" bIns="0" rtlCol="0" anchor="t"/>
          <a:lstStyle/>
          <a:p>
            <a:pPr indent="0" marL="0">
              <a:buNone/>
            </a:pPr>
            <a:r>
              <a:rPr lang="en-US" sz="1300" b="1" dirty="0">
                <a:solidFill>
                  <a:srgbClr val="31302E"/>
                </a:solidFill>
                <a:latin typeface="Inter" pitchFamily="34" charset="0"/>
                <a:ea typeface="Inter" pitchFamily="34" charset="-122"/>
                <a:cs typeface="Inter" pitchFamily="34" charset="-120"/>
              </a:rPr>
              <a:t>What it adds up to</a:t>
            </a:r>
            <a:endParaRPr lang="en-US" sz="1300" dirty="0"/>
          </a:p>
        </p:txBody>
      </p:sp>
      <p:sp>
        <p:nvSpPr>
          <p:cNvPr id="6" name="Text 4"/>
          <p:cNvSpPr txBox="1"/>
          <p:nvPr/>
        </p:nvSpPr>
        <p:spPr>
          <a:xfrm>
            <a:off x="1051560"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build is right. Single encoders within 0.01 of the paper; cross-attention within 0.01 on all four benchmarks.</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encoder matters more than the fusion head. Across all eight swaps, better RNA encoders lift fungal and E. coli alone, and fusion on top of them adds nothing resolved (slides 9 and 10).</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Fusion still wins where the modalities are different molecules: GTEx +0.047 resolved; full transcript + protein +0.053 and +0.030.</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One jointly pretrained model beats three fused ones on stability: LucaOne +0.092 resolved, on the leaky split.</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gated head is a selector, not a mixer, and the paper reports no error bars that would show which of its gains resolve.</a:t>
            </a:r>
            <a:endParaRPr lang="en-US" sz="1150" dirty="0"/>
          </a:p>
        </p:txBody>
      </p:sp>
      <p:sp>
        <p:nvSpPr>
          <p:cNvPr id="7" name="Shape 5"/>
          <p:cNvSpPr/>
          <p:nvPr/>
        </p:nvSpPr>
        <p:spPr>
          <a:xfrm>
            <a:off x="6190488" y="2029968"/>
            <a:ext cx="5193792" cy="3794760"/>
          </a:xfrm>
          <a:prstGeom prst="roundRect">
            <a:avLst>
              <a:gd name="adj" fmla="val 1928"/>
            </a:avLst>
          </a:prstGeom>
          <a:solidFill>
            <a:srgbClr val="213183"/>
          </a:solidFill>
          <a:ln w="12700">
            <a:solidFill>
              <a:srgbClr val="213183"/>
            </a:solidFill>
            <a:prstDash val="solid"/>
          </a:ln>
        </p:spPr>
      </p:sp>
      <p:sp>
        <p:nvSpPr>
          <p:cNvPr id="8" name="Text 6"/>
          <p:cNvSpPr txBox="1"/>
          <p:nvPr/>
        </p:nvSpPr>
        <p:spPr>
          <a:xfrm>
            <a:off x="6419088" y="2194560"/>
            <a:ext cx="4846320" cy="274320"/>
          </a:xfrm>
          <a:prstGeom prst="rect">
            <a:avLst/>
          </a:prstGeom>
          <a:noFill/>
          <a:ln/>
        </p:spPr>
        <p:txBody>
          <a:bodyPr wrap="square" lIns="0" tIns="0" rIns="0" bIns="0" rtlCol="0" anchor="t"/>
          <a:lstStyle/>
          <a:p>
            <a:pPr indent="0" marL="0">
              <a:buNone/>
            </a:pPr>
            <a:r>
              <a:rPr lang="en-US" sz="1300" b="1" dirty="0">
                <a:solidFill>
                  <a:srgbClr val="FFFFFF"/>
                </a:solidFill>
                <a:latin typeface="Inter" pitchFamily="34" charset="0"/>
                <a:ea typeface="Inter" pitchFamily="34" charset="-122"/>
                <a:cs typeface="Inter" pitchFamily="34" charset="-120"/>
              </a:rPr>
              <a:t>What Mina asked for, and where each lands</a:t>
            </a:r>
            <a:endParaRPr lang="en-US" sz="1300" dirty="0"/>
          </a:p>
        </p:txBody>
      </p:sp>
      <p:sp>
        <p:nvSpPr>
          <p:cNvPr id="9" name="Text 7"/>
          <p:cNvSpPr txBox="1"/>
          <p:nvPr/>
        </p:nvSpPr>
        <p:spPr>
          <a:xfrm>
            <a:off x="6419088"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Interpret why, not only what: the speaker notes and the slide guide now explain every slide; pretraining domain predicts the best single encoder, and fusion helps across molecules.</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Fusion built around mRNA-FM (DNA + mRNA-FM, mRNA-FM + protein) and other mRNA encoders: added to Phase B (Gantt 24).</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Does cross-attention do better with the swaps? On CoV-Vac, yes with two nucleotide-level swaps (HyenaDNA +0.039, RiNALMo +0.031, one seed), and it is never resolved worse there (slide 10).</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LucaOne on the other datasets: E. coli, CoV-Vac and fungal fit its context; GTEx does not (Gantt 41).</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Still open: Ab1 access; seeds + paired bootstrap as the reporting standard; GPU access for Coupled Mamba; the distillation teachers.</a:t>
            </a:r>
            <a:endParaRPr lang="en-US" sz="1150" dirty="0"/>
          </a:p>
        </p:txBody>
      </p:sp>
      <p:sp>
        <p:nvSpPr>
          <p:cNvPr id="10"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Open runs, in order: seeds on the new Phase B wins (cross-attention with HyenaDNA and RiNALMo on CoV-Vac, gated with RiNALMo on E. coli); the gated head at 1,280 channels; the sequence-grouped stability re-split; mouse half-life and TE; LucaOne on three more benchmarks; the mRNA-FM-anchored fusions.</a:t>
            </a:r>
            <a:endParaRPr lang="en-US" sz="1100" dirty="0"/>
          </a:p>
        </p:txBody>
      </p:sp>
    </p:spTree>
  </p:cSld>
  <p:clrMapOvr>
    <a:masterClrMapping/>
  </p:clrMapOvr>
</p:sld>
</file>

<file path=ppt/theme/theme1.xml><?xml version="1.0" encoding="utf-8"?>
<a:theme xmlns:a="http://schemas.openxmlformats.org/drawingml/2006/main" name="multimodal-bio-fusion">
  <a:themeElements>
    <a:clrScheme name="multimodal-bio-fusion">
      <a:dk1>
        <a:srgbClr val="31302E"/>
      </a:dk1>
      <a:lt1>
        <a:srgbClr val="FFFFFF"/>
      </a:lt1>
      <a:dk2>
        <a:srgbClr val="615D59"/>
      </a:dk2>
      <a:lt2>
        <a:srgbClr val="F6F5F4"/>
      </a:lt2>
      <a:accent1>
        <a:srgbClr val="213183"/>
      </a:accent1>
      <a:accent2>
        <a:srgbClr val="DCA323"/>
      </a:accent2>
      <a:accent3>
        <a:srgbClr val="2F7A4D"/>
      </a:accent3>
      <a:accent4>
        <a:srgbClr val="CBCBCB"/>
      </a:accent4>
      <a:accent5>
        <a:srgbClr val="E6E6E6"/>
      </a:accent5>
      <a:accent6>
        <a:srgbClr val="615D59"/>
      </a:accent6>
      <a:hlink>
        <a:srgbClr val="213183"/>
      </a:hlink>
      <a:folHlink>
        <a:srgbClr val="213183"/>
      </a:folHlink>
    </a:clrScheme>
    <a:fontScheme name="multimodal-bio-fusion">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multimodal-bio-fusion: progress since October 7</dc:title>
  <dc:subject>PptxGenJS Presentation</dc:subject>
  <dc:creator>Julian McKinley and Chase Di Maria Breisinger</dc:creator>
  <cp:lastModifiedBy>Julian McKinley and Chase Di Maria Breisinger</cp:lastModifiedBy>
  <cp:revision>1</cp:revision>
  <dcterms:created xsi:type="dcterms:W3CDTF">2026-10-27T18:52:35Z</dcterms:created>
  <dcterms:modified xsi:type="dcterms:W3CDTF">2026-10-27T18:52:35Z</dcterms:modified>
</cp:coreProperties>
</file>