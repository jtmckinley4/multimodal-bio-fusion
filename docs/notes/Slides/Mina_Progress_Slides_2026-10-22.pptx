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1302E"/>
                </a:solidFill>
                <a:latin typeface="+mn-lt"/>
              </a:defRPr>
            </a:pPr>
            <a:r>
              <a:rPr sz="1200" b="0" i="0" u="none" strike="noStrike">
                <a:solidFill>
                  <a:srgbClr val="31302E"/>
                </a:solidFill>
                <a:latin typeface="+mn-lt"/>
              </a:rPr>
              <a:t>Test Spearman, mRNA stability, seed 0</a:t>
            </a:r>
          </a:p>
        </c:rich>
      </c:tx>
      <c:layout/>
      <c:overlay val="0"/>
    </c:title>
    <c:autoTitleDeleted val="0"/>
    <c:plotArea>
      <c:layout/>
      <c:barChart>
        <c:barDir val="col"/>
        <c:grouping val="clustered"/>
        <c:varyColors val="0"/>
        <c:ser>
          <c:idx val="0"/>
          <c:order val="0"/>
          <c:tx>
            <c:strRef>
              <c:f>Sheet1!$B$1</c:f>
              <c:strCache>
                <c:ptCount val="1"/>
                <c:pt idx="0">
                  <c:v>Published test split</c:v>
                </c:pt>
              </c:strCache>
            </c:strRef>
          </c:tx>
          <c:spPr>
            <a:solidFill>
              <a:srgbClr val="CBCBCB"/>
            </a:solidFill>
            <a:effectLst/>
          </c:spPr>
          <c:invertIfNegative val="0"/>
          <c:dLbls>
            <c:numFmt formatCode="0.000" sourceLinked="0"/>
            <c:txPr>
              <a:bodyPr/>
              <a:lstStyle/>
              <a:p>
                <a:pPr>
                  <a:defRPr b="0" i="0" strike="noStrike" sz="900" u="none">
                    <a:solidFill>
                      <a:srgbClr val="31302E"/>
                    </a:solidFill>
                    <a:latin typeface="+mn-lt"/>
                  </a:defRPr>
                </a:pPr>
              </a:p>
            </c:txPr>
            <c:showLegendKey val="0"/>
            <c:showVal val="1"/>
            <c:showCatName val="0"/>
            <c:showSerName val="0"/>
            <c:showPercent val="0"/>
            <c:showBubbleSize val="0"/>
            <c:showLeaderLines val="0"/>
          </c:dLbls>
          <c:cat>
            <c:multiLvlStrRef>
              <c:f>Sheet1!$A$2:$A$8</c:f>
              <c:multiLvlStrCache>
                <c:ptCount val="7"/>
                <c:lvl>
                  <c:pt idx="0">
                    <c:v>NT alone</c:v>
                  </c:pt>
                  <c:pt idx="1">
                    <c:v>RNA-FM alone</c:v>
                  </c:pt>
                  <c:pt idx="2">
                    <c:v>RNA-FM on grid</c:v>
                  </c:pt>
                  <c:pt idx="3">
                    <c:v>ESM-2 alone</c:v>
                  </c:pt>
                  <c:pt idx="4">
                    <c:v>Concatenation</c:v>
                  </c:pt>
                  <c:pt idx="5">
                    <c:v>Gated MIL</c:v>
                  </c:pt>
                  <c:pt idx="6">
                    <c:v>Cross-attention</c:v>
                  </c:pt>
                </c:lvl>
              </c:multiLvlStrCache>
            </c:multiLvlStrRef>
          </c:cat>
          <c:val>
            <c:numRef>
              <c:f>Sheet1!$B$2:$B$8</c:f>
              <c:numCache>
                <c:formatCode>General</c:formatCode>
                <c:ptCount val="7"/>
                <c:pt idx="0">
                  <c:v>0.539</c:v>
                </c:pt>
                <c:pt idx="1">
                  <c:v>0.552</c:v>
                </c:pt>
                <c:pt idx="2">
                  <c:v>0.547</c:v>
                </c:pt>
                <c:pt idx="3">
                  <c:v>0.531</c:v>
                </c:pt>
                <c:pt idx="4">
                  <c:v>0.558</c:v>
                </c:pt>
                <c:pt idx="5">
                  <c:v>0.551</c:v>
                </c:pt>
                <c:pt idx="6">
                  <c:v>0.553</c:v>
                </c:pt>
              </c:numCache>
            </c:numRef>
          </c:val>
        </c:ser>
        <c:ser>
          <c:idx val="1"/>
          <c:order val="1"/>
          <c:tx>
            <c:strRef>
              <c:f>Sheet1!$C$1</c:f>
              <c:strCache>
                <c:ptCount val="1"/>
                <c:pt idx="0">
                  <c:v>Unseen sequences</c:v>
                </c:pt>
              </c:strCache>
            </c:strRef>
          </c:tx>
          <c:spPr>
            <a:solidFill>
              <a:srgbClr val="213183"/>
            </a:solidFill>
            <a:effectLst/>
          </c:spPr>
          <c:invertIfNegative val="0"/>
          <c:dLbls>
            <c:numFmt formatCode="0.000" sourceLinked="0"/>
            <c:txPr>
              <a:bodyPr/>
              <a:lstStyle/>
              <a:p>
                <a:pPr>
                  <a:defRPr b="0" i="0" strike="noStrike" sz="900" u="none">
                    <a:solidFill>
                      <a:srgbClr val="31302E"/>
                    </a:solidFill>
                    <a:latin typeface="+mn-lt"/>
                  </a:defRPr>
                </a:pPr>
              </a:p>
            </c:txPr>
            <c:showLegendKey val="0"/>
            <c:showVal val="1"/>
            <c:showCatName val="0"/>
            <c:showSerName val="0"/>
            <c:showPercent val="0"/>
            <c:showBubbleSize val="0"/>
            <c:showLeaderLines val="0"/>
          </c:dLbls>
          <c:cat>
            <c:multiLvlStrRef>
              <c:f>Sheet1!$A$2:$A$8</c:f>
              <c:multiLvlStrCache>
                <c:ptCount val="7"/>
                <c:lvl>
                  <c:pt idx="0">
                    <c:v>NT alone</c:v>
                  </c:pt>
                  <c:pt idx="1">
                    <c:v>RNA-FM alone</c:v>
                  </c:pt>
                  <c:pt idx="2">
                    <c:v>RNA-FM on grid</c:v>
                  </c:pt>
                  <c:pt idx="3">
                    <c:v>ESM-2 alone</c:v>
                  </c:pt>
                  <c:pt idx="4">
                    <c:v>Concatenation</c:v>
                  </c:pt>
                  <c:pt idx="5">
                    <c:v>Gated MIL</c:v>
                  </c:pt>
                  <c:pt idx="6">
                    <c:v>Cross-attention</c:v>
                  </c:pt>
                </c:lvl>
              </c:multiLvlStrCache>
            </c:multiLvlStrRef>
          </c:cat>
          <c:val>
            <c:numRef>
              <c:f>Sheet1!$C$2:$C$8</c:f>
              <c:numCache>
                <c:formatCode>General</c:formatCode>
                <c:ptCount val="7"/>
                <c:pt idx="0">
                  <c:v>0.266</c:v>
                </c:pt>
                <c:pt idx="1">
                  <c:v>0.319</c:v>
                </c:pt>
                <c:pt idx="2">
                  <c:v>0.34</c:v>
                </c:pt>
                <c:pt idx="3">
                  <c:v>0.314</c:v>
                </c:pt>
                <c:pt idx="4">
                  <c:v>0.359</c:v>
                </c:pt>
                <c:pt idx="5">
                  <c:v>0.353</c:v>
                </c:pt>
                <c:pt idx="6">
                  <c:v>0.347</c:v>
                </c:pt>
              </c:numCache>
            </c:numRef>
          </c:val>
        </c:ser>
        <c:dLbls>
          <c:numFmt formatCode="0.000" sourceLinked="0"/>
          <c:txPr>
            <a:bodyPr/>
            <a:lstStyle/>
            <a:p>
              <a:pPr>
                <a:defRPr b="0" i="0" strike="noStrike" sz="900" u="none">
                  <a:solidFill>
                    <a:srgbClr val="3130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1302E"/>
                </a:solidFill>
                <a:latin typeface="+mn-lt"/>
              </a:defRPr>
            </a:pPr>
            <a:endParaRPr lang="en-US"/>
          </a:p>
        </c:txPr>
        <c:crossAx val="2094734552"/>
        <c:crosses val="autoZero"/>
        <c:auto val="1"/>
        <c:lblAlgn val="ctr"/>
        <c:noMultiLvlLbl val="1"/>
      </c:catAx>
      <c:valAx>
        <c:axId val="2094734552"/>
        <c:scaling>
          <c:orientation val="minMax"/>
          <c:max val="0.65"/>
          <c:min val="0"/>
        </c:scaling>
        <c:delete val="0"/>
        <c:axPos val="l"/>
        <c:majorGridlines>
          <c:spPr>
            <a:ln w="6350" cap="flat">
              <a:solidFill>
                <a:srgbClr val="E6E6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15D59"/>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3130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1302E"/>
                </a:solidFill>
                <a:latin typeface="+mn-lt"/>
              </a:defRPr>
            </a:pPr>
            <a:r>
              <a:rPr sz="1200" b="0" i="0" u="none" strike="noStrike">
                <a:solidFill>
                  <a:srgbClr val="31302E"/>
                </a:solidFill>
                <a:latin typeface="+mn-lt"/>
              </a:rPr>
              <a:t>Held-out R² added above every control, mRFP expression</a:t>
            </a:r>
          </a:p>
        </c:rich>
      </c:tx>
      <c:layout/>
      <c:overlay val="0"/>
    </c:title>
    <c:autoTitleDeleted val="0"/>
    <c:plotArea>
      <c:layout/>
      <c:barChart>
        <c:barDir val="bar"/>
        <c:grouping val="clustered"/>
        <c:varyColors val="0"/>
        <c:ser>
          <c:idx val="0"/>
          <c:order val="0"/>
          <c:tx>
            <c:strRef>
              <c:f>Sheet1!$B$1</c:f>
              <c:strCache>
                <c:ptCount val="1"/>
                <c:pt idx="0">
                  <c:v>Gain over all controls</c:v>
                </c:pt>
              </c:strCache>
            </c:strRef>
          </c:tx>
          <c:spPr>
            <a:solidFill>
              <a:srgbClr val="213183"/>
            </a:solidFill>
            <a:effectLst/>
          </c:spPr>
          <c:invertIfNegative val="0"/>
          <c:dLbls>
            <c:numFmt formatCode="+0.000;-0.000;0.000" sourceLinked="0"/>
            <c:txPr>
              <a:bodyPr/>
              <a:lstStyle/>
              <a:p>
                <a:pPr>
                  <a:defRPr b="0" i="0" strike="noStrike" sz="1000" u="none">
                    <a:solidFill>
                      <a:srgbClr val="31302E"/>
                    </a:solidFill>
                    <a:latin typeface="+mn-lt"/>
                  </a:defRPr>
                </a:pPr>
              </a:p>
            </c:txPr>
            <c:showLegendKey val="0"/>
            <c:showVal val="1"/>
            <c:showCatName val="0"/>
            <c:showSerName val="0"/>
            <c:showPercent val="0"/>
            <c:showBubbleSize val="0"/>
            <c:showLeaderLines val="0"/>
          </c:dLbls>
          <c:cat>
            <c:multiLvlStrRef>
              <c:f>Sheet1!$A$2:$A$10</c:f>
              <c:multiLvlStrCache>
                <c:ptCount val="9"/>
                <c:lvl>
                  <c:pt idx="0">
                    <c:v>mRNA-FM</c:v>
                  </c:pt>
                  <c:pt idx="1">
                    <c:v>NT 500M</c:v>
                  </c:pt>
                  <c:pt idx="2">
                    <c:v>RiNALMo</c:v>
                  </c:pt>
                  <c:pt idx="3">
                    <c:v>HyenaDNA</c:v>
                  </c:pt>
                  <c:pt idx="4">
                    <c:v>NT v2 100M</c:v>
                  </c:pt>
                  <c:pt idx="5">
                    <c:v>DNABERT-2</c:v>
                  </c:pt>
                  <c:pt idx="6">
                    <c:v>CaLM</c:v>
                  </c:pt>
                  <c:pt idx="7">
                    <c:v>RNA-FM</c:v>
                  </c:pt>
                  <c:pt idx="8">
                    <c:v>Protein encoders (4)</c:v>
                  </c:pt>
                </c:lvl>
              </c:multiLvlStrCache>
            </c:multiLvlStrRef>
          </c:cat>
          <c:val>
            <c:numRef>
              <c:f>Sheet1!$B$2:$B$10</c:f>
              <c:numCache>
                <c:formatCode>General</c:formatCode>
                <c:ptCount val="9"/>
                <c:pt idx="0">
                  <c:v>0.182</c:v>
                </c:pt>
                <c:pt idx="1">
                  <c:v>0.076</c:v>
                </c:pt>
                <c:pt idx="2">
                  <c:v>0.049</c:v>
                </c:pt>
                <c:pt idx="3">
                  <c:v>0.036</c:v>
                </c:pt>
                <c:pt idx="4">
                  <c:v>0.029</c:v>
                </c:pt>
                <c:pt idx="5">
                  <c:v>0.026</c:v>
                </c:pt>
                <c:pt idx="6">
                  <c:v>0.022</c:v>
                </c:pt>
                <c:pt idx="7">
                  <c:v>0.021</c:v>
                </c:pt>
                <c:pt idx="8">
                  <c:v>0</c:v>
                </c:pt>
              </c:numCache>
            </c:numRef>
          </c:val>
        </c:ser>
        <c:dLbls>
          <c:numFmt formatCode="+0.000;-0.000;0.000" sourceLinked="0"/>
          <c:txPr>
            <a:bodyPr/>
            <a:lstStyle/>
            <a:p>
              <a:pPr>
                <a:defRPr b="0" i="0" strike="noStrike" sz="1000" u="none">
                  <a:solidFill>
                    <a:srgbClr val="3130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1302E"/>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b"/>
        <c:majorGridlines>
          <c:spPr>
            <a:ln w="6350" cap="flat">
              <a:solidFill>
                <a:srgbClr val="E6E6E6"/>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15D59"/>
                </a:solidFill>
                <a:latin typeface="+mn-lt"/>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1318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13816" y="813816"/>
            <a:ext cx="10881360" cy="237744"/>
          </a:xfrm>
          <a:prstGeom prst="rect">
            <a:avLst/>
          </a:prstGeom>
          <a:noFill/>
          <a:ln/>
        </p:spPr>
        <p:txBody>
          <a:bodyPr wrap="square" rtlCol="0"/>
          <a:lstStyle>
            <a:lvl1pPr indent="0" marL="0">
              <a:buNone/>
              <a:defRPr lang="en-US" sz="1200" dirty="0">
                <a:solidFill>
                  <a:schemeClr val="bg1"/>
                </a:solidFill>
              </a:defRPr>
            </a:lvl1pPr>
          </a:lstStyle>
          <a:p>
            <a:pPr indent="0" marL="0">
              <a:buNone/>
            </a:pPr>
            <a:endParaRPr lang="en-US" sz="1200" dirty="0"/>
          </a:p>
        </p:txBody>
      </p:sp>
      <p:sp>
        <p:nvSpPr>
          <p:cNvPr id="3" name="Text 0"/>
          <p:cNvSpPr/>
          <p:nvPr>
            <p:ph idx="101" type="title" hasCustomPrompt="1"/>
          </p:nvPr>
        </p:nvSpPr>
        <p:spPr>
          <a:xfrm>
            <a:off x="813816" y="2011680"/>
            <a:ext cx="1024128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813816" y="3611880"/>
            <a:ext cx="9509760" cy="91440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
        <p:nvSpPr>
          <p:cNvPr id="5" name="Text 0"/>
          <p:cNvSpPr/>
          <p:nvPr/>
        </p:nvSpPr>
        <p:spPr>
          <a:xfrm>
            <a:off x="813816" y="6236208"/>
            <a:ext cx="10881360" cy="237744"/>
          </a:xfrm>
          <a:prstGeom prst="rect">
            <a:avLst/>
          </a:prstGeom>
          <a:noFill/>
          <a:ln/>
        </p:spPr>
        <p:txBody>
          <a:bodyPr wrap="square" lIns="0" tIns="0" rIns="0" bIns="0" rtlCol="0" anchor="ctr"/>
          <a:lstStyle/>
          <a:p>
            <a:pPr indent="0" marL="0">
              <a:buNone/>
            </a:pPr>
            <a:r>
              <a:rPr lang="en-US" sz="1100" dirty="0">
                <a:solidFill>
                  <a:schemeClr val="bg1"/>
                </a:solidFill>
              </a:rPr>
              <a:t>Julian McKinley and Chase Di Maria Breisinger  |  MSDA AI Track, UCF  |  Full record: the Overleaf manuscript and docs/run-records.md</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5F4"/>
        </a:solidFill>
      </p:bgPr>
    </p:bg>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rtlCol="0"/>
          <a:lstStyle>
            <a:lvl1pPr indent="0" marL="0">
              <a:buNone/>
              <a:defRPr lang="en-US" sz="1200" dirty="0">
                <a:solidFill>
                  <a:schemeClr val="accent2"/>
                </a:solidFill>
              </a:defRPr>
            </a:lvl1pPr>
          </a:lstStyle>
          <a:p>
            <a:pPr indent="0" marL="0">
              <a:buNone/>
            </a:pP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rtlCol="0"/>
          <a:lstStyle>
            <a:lvl1pPr algn="l" indent="0" marL="0">
              <a:buNone/>
              <a:defRPr lang="en-US" sz="2500" b="1" dirty="0">
                <a:solidFill>
                  <a:schemeClr val="tx1"/>
                </a:solidFill>
              </a:defRPr>
            </a:lvl1pPr>
          </a:lstStyle>
          <a:p>
            <a:pPr algn="l" indent="0" marL="0">
              <a:buNone/>
            </a:pP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rtlCol="0"/>
          <a:lstStyle>
            <a:lvl1pPr indent="0" marL="0">
              <a:buNone/>
              <a:defRPr lang="en-US" sz="1150" dirty="0">
                <a:solidFill>
                  <a:schemeClr val="accent2"/>
                </a:solidFill>
              </a:defRPr>
            </a:lvl1pPr>
          </a:lstStyle>
          <a:p>
            <a:pPr indent="0" marL="0">
              <a:buNone/>
            </a:pP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3816" y="813816"/>
            <a:ext cx="10881360" cy="237744"/>
          </a:xfrm>
          <a:prstGeom prst="rect">
            <a:avLst/>
          </a:prstGeom>
          <a:noFill/>
          <a:ln/>
        </p:spPr>
        <p:txBody>
          <a:bodyPr wrap="square" lIns="0" tIns="0" rIns="0" bIns="0" rtlCol="0"/>
          <a:lstStyle/>
          <a:p>
            <a:pPr indent="0" marL="0">
              <a:buNone/>
            </a:pPr>
            <a:r>
              <a:rPr lang="en-US" sz="1200" dirty="0">
                <a:solidFill>
                  <a:schemeClr val="bg1"/>
                </a:solidFill>
              </a:rPr>
              <a:t>multimodal-bio-fusion  ·  Meeting with Mina Basirat  ·  October 22, 2026</a:t>
            </a:r>
            <a:endParaRPr lang="en-US" sz="1200" dirty="0"/>
          </a:p>
        </p:txBody>
      </p:sp>
      <p:sp>
        <p:nvSpPr>
          <p:cNvPr id="3" name="Text 0"/>
          <p:cNvSpPr/>
          <p:nvPr>
            <p:ph idx="101" type="title" hasCustomPrompt="1"/>
          </p:nvPr>
        </p:nvSpPr>
        <p:spPr>
          <a:xfrm>
            <a:off x="813816" y="2011680"/>
            <a:ext cx="10241280" cy="1463040"/>
          </a:xfrm>
          <a:prstGeom prst="rect">
            <a:avLst/>
          </a:prstGeom>
          <a:noFill/>
          <a:ln/>
        </p:spPr>
        <p:txBody>
          <a:bodyPr wrap="square" lIns="0" tIns="0" rIns="0" bIns="0" rtlCol="0" anchor="t"/>
          <a:lstStyle/>
          <a:p>
            <a:pPr algn="l" indent="0" marL="0">
              <a:buNone/>
            </a:pPr>
            <a:r>
              <a:rPr lang="en-US" sz="4000" b="1" dirty="0">
                <a:solidFill>
                  <a:schemeClr val="bg1"/>
                </a:solidFill>
              </a:rPr>
              <a:t>Progress since October 7: what was built, what ran, and what it found</a:t>
            </a:r>
            <a:endParaRPr lang="en-US" sz="4000" dirty="0"/>
          </a:p>
        </p:txBody>
      </p:sp>
      <p:sp>
        <p:nvSpPr>
          <p:cNvPr id="4" name="Text 0"/>
          <p:cNvSpPr/>
          <p:nvPr>
            <p:ph idx="102" type="body" hasCustomPrompt="1"/>
          </p:nvPr>
        </p:nvSpPr>
        <p:spPr>
          <a:xfrm>
            <a:off x="813816" y="3611880"/>
            <a:ext cx="9509760" cy="914400"/>
          </a:xfrm>
          <a:prstGeom prst="rect">
            <a:avLst/>
          </a:prstGeom>
          <a:noFill/>
          <a:ln/>
        </p:spPr>
        <p:txBody>
          <a:bodyPr wrap="square" lIns="0" tIns="0" rIns="0" bIns="0" rtlCol="0" anchor="t"/>
          <a:lstStyle/>
          <a:p>
            <a:pPr indent="0" marL="0">
              <a:buNone/>
            </a:pPr>
            <a:r>
              <a:rPr lang="en-US" sz="1600" dirty="0">
                <a:solidFill>
                  <a:schemeClr val="bg1"/>
                </a:solidFill>
              </a:rPr>
              <a:t>The research plan's baselines were built and run: BioLangFusion on four benchmarks, the mRFP control, and IsoFormer's aggregator on GTEx. The reproduction holds where it should; the paper's fusion gains hold on some tasks and not others.</a:t>
            </a:r>
            <a:endParaRPr lang="en-US" sz="1600" dirty="0"/>
          </a:p>
        </p:txBody>
      </p:sp>
      <p:sp>
        <p:nvSpPr>
          <p:cNvPr id="5" name="chip"/>
          <p:cNvSpPr/>
          <p:nvPr/>
        </p:nvSpPr>
        <p:spPr>
          <a:xfrm>
            <a:off x="813816" y="5175504"/>
            <a:ext cx="3474720" cy="713232"/>
          </a:xfrm>
          <a:prstGeom prst="roundRect">
            <a:avLst>
              <a:gd name="adj" fmla="val 7692"/>
            </a:avLst>
          </a:prstGeom>
          <a:solidFill>
            <a:srgbClr val="FFFFFF"/>
          </a:solidFill>
          <a:ln w="12700">
            <a:solidFill>
              <a:srgbClr val="FFFFFF"/>
            </a:solidFill>
            <a:prstDash val="solid"/>
          </a:ln>
        </p:spPr>
      </p:sp>
      <p:sp>
        <p:nvSpPr>
          <p:cNvPr id="6" name="chip text"/>
          <p:cNvSpPr txBox="1"/>
          <p:nvPr/>
        </p:nvSpPr>
        <p:spPr>
          <a:xfrm>
            <a:off x="9784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rPr>
              <a:t>Stage 3, round 1</a:t>
            </a:r>
            <a:endParaRPr lang="en-US" sz="1200" dirty="0"/>
          </a:p>
          <a:p>
            <a:pPr indent="0" marL="0">
              <a:buNone/>
            </a:pPr>
            <a:r>
              <a:rPr lang="en-US" sz="1200" dirty="0">
                <a:solidFill>
                  <a:srgbClr val="31302E"/>
                </a:solidFill>
              </a:rPr>
              <a:t>built October 15 to 19</a:t>
            </a:r>
            <a:endParaRPr lang="en-US" sz="1200" dirty="0"/>
          </a:p>
        </p:txBody>
      </p:sp>
      <p:sp>
        <p:nvSpPr>
          <p:cNvPr id="7" name="chip"/>
          <p:cNvSpPr/>
          <p:nvPr/>
        </p:nvSpPr>
        <p:spPr>
          <a:xfrm>
            <a:off x="4471416" y="5175504"/>
            <a:ext cx="3474720" cy="713232"/>
          </a:xfrm>
          <a:prstGeom prst="roundRect">
            <a:avLst>
              <a:gd name="adj" fmla="val 7692"/>
            </a:avLst>
          </a:prstGeom>
          <a:solidFill>
            <a:srgbClr val="FFFFFF"/>
          </a:solidFill>
          <a:ln w="12700">
            <a:solidFill>
              <a:srgbClr val="FFFFFF"/>
            </a:solidFill>
            <a:prstDash val="solid"/>
          </a:ln>
        </p:spPr>
      </p:sp>
      <p:sp>
        <p:nvSpPr>
          <p:cNvPr id="8" name="chip text"/>
          <p:cNvSpPr txBox="1"/>
          <p:nvPr/>
        </p:nvSpPr>
        <p:spPr>
          <a:xfrm>
            <a:off x="46360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rPr>
              <a:t>Stage 4, round 1</a:t>
            </a:r>
            <a:endParaRPr lang="en-US" sz="1200" dirty="0"/>
          </a:p>
          <a:p>
            <a:pPr indent="0" marL="0">
              <a:buNone/>
            </a:pPr>
            <a:r>
              <a:rPr lang="en-US" sz="1200" dirty="0">
                <a:solidFill>
                  <a:srgbClr val="31302E"/>
                </a:solidFill>
              </a:rPr>
              <a:t>mRFP and Phase A run, October 17 to 20</a:t>
            </a:r>
            <a:endParaRPr lang="en-US" sz="1200" dirty="0"/>
          </a:p>
        </p:txBody>
      </p:sp>
      <p:sp>
        <p:nvSpPr>
          <p:cNvPr id="9" name="chip"/>
          <p:cNvSpPr/>
          <p:nvPr/>
        </p:nvSpPr>
        <p:spPr>
          <a:xfrm>
            <a:off x="8129016" y="5175504"/>
            <a:ext cx="3474720" cy="713232"/>
          </a:xfrm>
          <a:prstGeom prst="roundRect">
            <a:avLst>
              <a:gd name="adj" fmla="val 7692"/>
            </a:avLst>
          </a:prstGeom>
          <a:solidFill>
            <a:srgbClr val="FFFFFF"/>
          </a:solidFill>
          <a:ln w="12700">
            <a:solidFill>
              <a:srgbClr val="FFFFFF"/>
            </a:solidFill>
            <a:prstDash val="solid"/>
          </a:ln>
        </p:spPr>
      </p:sp>
      <p:sp>
        <p:nvSpPr>
          <p:cNvPr id="10" name="chip text"/>
          <p:cNvSpPr txBox="1"/>
          <p:nvPr/>
        </p:nvSpPr>
        <p:spPr>
          <a:xfrm>
            <a:off x="82936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rPr>
              <a:t>Next</a:t>
            </a:r>
            <a:endParaRPr lang="en-US" sz="1200" dirty="0"/>
          </a:p>
          <a:p>
            <a:pPr indent="0" marL="0">
              <a:buNone/>
            </a:pPr>
            <a:r>
              <a:rPr lang="en-US" sz="1200" dirty="0">
                <a:solidFill>
                  <a:srgbClr val="31302E"/>
                </a:solidFill>
              </a:rPr>
              <a:t>Phase B, the encoder swaps, built and waiting for a GPU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Since the last meeting · October 7 to 20</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Seven steps in thirteen days, in the research plan's order</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Every step has a run record in docs/run-records.md and a result file beside its notebook. Ab1, the fifth BioLangFusion benchmark, is not public.</a:t>
            </a:r>
            <a:endParaRPr lang="en-US" sz="1150" dirty="0"/>
          </a:p>
        </p:txBody>
      </p:sp>
      <p:sp>
        <p:nvSpPr>
          <p:cNvPr id="5" name="step dot"/>
          <p:cNvSpPr/>
          <p:nvPr/>
        </p:nvSpPr>
        <p:spPr>
          <a:xfrm>
            <a:off x="877824" y="2185416"/>
            <a:ext cx="128016" cy="128016"/>
          </a:xfrm>
          <a:prstGeom prst="ellipse">
            <a:avLst/>
          </a:prstGeom>
          <a:solidFill>
            <a:srgbClr val="213183"/>
          </a:solidFill>
          <a:ln w="12700">
            <a:solidFill>
              <a:srgbClr val="213183"/>
            </a:solidFill>
            <a:prstDash val="solid"/>
          </a:ln>
        </p:spPr>
      </p:sp>
      <p:sp>
        <p:nvSpPr>
          <p:cNvPr id="6" name="step date"/>
          <p:cNvSpPr txBox="1"/>
          <p:nvPr/>
        </p:nvSpPr>
        <p:spPr>
          <a:xfrm>
            <a:off x="1143000" y="202996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9 to 15</a:t>
            </a:r>
            <a:endParaRPr lang="en-US" sz="1200" dirty="0"/>
          </a:p>
        </p:txBody>
      </p:sp>
      <p:sp>
        <p:nvSpPr>
          <p:cNvPr id="7" name="step text"/>
          <p:cNvSpPr txBox="1"/>
          <p:nvPr/>
        </p:nvSpPr>
        <p:spPr>
          <a:xfrm>
            <a:off x="2423160" y="202996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Research plan adopted and placed first  </a:t>
            </a:r>
            <a:pPr indent="0" marL="0">
              <a:buNone/>
            </a:pPr>
            <a:r>
              <a:rPr lang="en-US" sz="1200" dirty="0">
                <a:solidFill>
                  <a:srgbClr val="615D59"/>
                </a:solidFill>
              </a:rPr>
              <a:t>Her seven items slotted into the Gantt chart under their numbers; Coupled Mamba and cross-attention move to January, scored against every baseline at once.</a:t>
            </a:r>
            <a:endParaRPr lang="en-US" sz="1200" dirty="0"/>
          </a:p>
        </p:txBody>
      </p:sp>
      <p:sp>
        <p:nvSpPr>
          <p:cNvPr id="8" name="step dot"/>
          <p:cNvSpPr/>
          <p:nvPr/>
        </p:nvSpPr>
        <p:spPr>
          <a:xfrm>
            <a:off x="877824" y="2734056"/>
            <a:ext cx="128016" cy="128016"/>
          </a:xfrm>
          <a:prstGeom prst="ellipse">
            <a:avLst/>
          </a:prstGeom>
          <a:solidFill>
            <a:srgbClr val="213183"/>
          </a:solidFill>
          <a:ln w="12700">
            <a:solidFill>
              <a:srgbClr val="213183"/>
            </a:solidFill>
            <a:prstDash val="solid"/>
          </a:ln>
        </p:spPr>
      </p:sp>
      <p:sp>
        <p:nvSpPr>
          <p:cNvPr id="9" name="step date"/>
          <p:cNvSpPr txBox="1"/>
          <p:nvPr/>
        </p:nvSpPr>
        <p:spPr>
          <a:xfrm>
            <a:off x="1143000" y="257860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15 to 19</a:t>
            </a:r>
            <a:endParaRPr lang="en-US" sz="1200" dirty="0"/>
          </a:p>
        </p:txBody>
      </p:sp>
      <p:sp>
        <p:nvSpPr>
          <p:cNvPr id="10" name="step text"/>
          <p:cNvSpPr txBox="1"/>
          <p:nvPr/>
        </p:nvSpPr>
        <p:spPr>
          <a:xfrm>
            <a:off x="2423160" y="257860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Stage 3 round 1 built  </a:t>
            </a:r>
            <a:pPr indent="0" marL="0">
              <a:buNone/>
            </a:pPr>
            <a:r>
              <a:rPr lang="en-US" sz="1200" dirty="0">
                <a:solidFill>
                  <a:srgbClr val="615D59"/>
                </a:solidFill>
              </a:rPr>
              <a:t>BioLangFusion's benchmarks, embeddings, codon grid, three heads and TextCNN; IsoFormer's aggregator; LucaOne's input limit; one training loop with seeds and a paired bootstrap.</a:t>
            </a:r>
            <a:endParaRPr lang="en-US" sz="1200" dirty="0"/>
          </a:p>
        </p:txBody>
      </p:sp>
      <p:sp>
        <p:nvSpPr>
          <p:cNvPr id="11" name="step dot"/>
          <p:cNvSpPr/>
          <p:nvPr/>
        </p:nvSpPr>
        <p:spPr>
          <a:xfrm>
            <a:off x="877824" y="3282696"/>
            <a:ext cx="128016" cy="128016"/>
          </a:xfrm>
          <a:prstGeom prst="ellipse">
            <a:avLst/>
          </a:prstGeom>
          <a:solidFill>
            <a:srgbClr val="213183"/>
          </a:solidFill>
          <a:ln w="12700">
            <a:solidFill>
              <a:srgbClr val="213183"/>
            </a:solidFill>
            <a:prstDash val="solid"/>
          </a:ln>
        </p:spPr>
      </p:sp>
      <p:sp>
        <p:nvSpPr>
          <p:cNvPr id="12" name="step date"/>
          <p:cNvSpPr txBox="1"/>
          <p:nvPr/>
        </p:nvSpPr>
        <p:spPr>
          <a:xfrm>
            <a:off x="1143000" y="312724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17 to 18</a:t>
            </a:r>
            <a:endParaRPr lang="en-US" sz="1200" dirty="0"/>
          </a:p>
        </p:txBody>
      </p:sp>
      <p:sp>
        <p:nvSpPr>
          <p:cNvPr id="13" name="step text"/>
          <p:cNvSpPr txBox="1"/>
          <p:nvPr/>
        </p:nvSpPr>
        <p:spPr>
          <a:xfrm>
            <a:off x="2423160" y="312724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BioLangFusion reproduced on fungal  </a:t>
            </a:r>
            <a:pPr indent="0" marL="0">
              <a:buNone/>
            </a:pPr>
            <a:r>
              <a:rPr lang="en-US" sz="1200" dirty="0">
                <a:solidFill>
                  <a:srgbClr val="615D59"/>
                </a:solidFill>
              </a:rPr>
              <a:t>Single encoders reproduce; no fusion head beats the best one at 95%; the paper's head ordering is reversed; its appendix convolution misaligns the DNA stream.</a:t>
            </a:r>
            <a:endParaRPr lang="en-US" sz="1200" dirty="0"/>
          </a:p>
        </p:txBody>
      </p:sp>
      <p:sp>
        <p:nvSpPr>
          <p:cNvPr id="14" name="step dot"/>
          <p:cNvSpPr/>
          <p:nvPr/>
        </p:nvSpPr>
        <p:spPr>
          <a:xfrm>
            <a:off x="877824" y="3831336"/>
            <a:ext cx="128016" cy="128016"/>
          </a:xfrm>
          <a:prstGeom prst="ellipse">
            <a:avLst/>
          </a:prstGeom>
          <a:solidFill>
            <a:srgbClr val="213183"/>
          </a:solidFill>
          <a:ln w="12700">
            <a:solidFill>
              <a:srgbClr val="213183"/>
            </a:solidFill>
            <a:prstDash val="solid"/>
          </a:ln>
        </p:spPr>
      </p:sp>
      <p:sp>
        <p:nvSpPr>
          <p:cNvPr id="15" name="step date"/>
          <p:cNvSpPr txBox="1"/>
          <p:nvPr/>
        </p:nvSpPr>
        <p:spPr>
          <a:xfrm>
            <a:off x="1143000" y="367588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18 to 19</a:t>
            </a:r>
            <a:endParaRPr lang="en-US" sz="1200" dirty="0"/>
          </a:p>
        </p:txBody>
      </p:sp>
      <p:sp>
        <p:nvSpPr>
          <p:cNvPr id="16" name="step text"/>
          <p:cNvSpPr txBox="1"/>
          <p:nvPr/>
        </p:nvSpPr>
        <p:spPr>
          <a:xfrm>
            <a:off x="2423160" y="367588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IsoFormer on GTEx; LucaOne ruled out  </a:t>
            </a:r>
            <a:pPr indent="0" marL="0">
              <a:buNone/>
            </a:pPr>
            <a:r>
              <a:rPr lang="en-US" sz="1200" dirty="0">
                <a:solidFill>
                  <a:srgbClr val="615D59"/>
                </a:solidFill>
              </a:rPr>
              <a:t>With frozen encoders, fusion beats RNA alone by +0.047, resolved. LucaOne's 1,280-token context admits none of the GTEx windows.</a:t>
            </a:r>
            <a:endParaRPr lang="en-US" sz="1200" dirty="0"/>
          </a:p>
        </p:txBody>
      </p:sp>
      <p:sp>
        <p:nvSpPr>
          <p:cNvPr id="17" name="step dot"/>
          <p:cNvSpPr/>
          <p:nvPr/>
        </p:nvSpPr>
        <p:spPr>
          <a:xfrm>
            <a:off x="877824" y="4379976"/>
            <a:ext cx="128016" cy="128016"/>
          </a:xfrm>
          <a:prstGeom prst="ellipse">
            <a:avLst/>
          </a:prstGeom>
          <a:solidFill>
            <a:srgbClr val="213183"/>
          </a:solidFill>
          <a:ln w="12700">
            <a:solidFill>
              <a:srgbClr val="213183"/>
            </a:solidFill>
            <a:prstDash val="solid"/>
          </a:ln>
        </p:spPr>
      </p:sp>
      <p:sp>
        <p:nvSpPr>
          <p:cNvPr id="18" name="step date"/>
          <p:cNvSpPr txBox="1"/>
          <p:nvPr/>
        </p:nvSpPr>
        <p:spPr>
          <a:xfrm>
            <a:off x="1143000" y="422452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19</a:t>
            </a:r>
            <a:endParaRPr lang="en-US" sz="1200" dirty="0"/>
          </a:p>
        </p:txBody>
      </p:sp>
      <p:sp>
        <p:nvSpPr>
          <p:cNvPr id="19" name="step text"/>
          <p:cNvSpPr txBox="1"/>
          <p:nvPr/>
        </p:nvSpPr>
        <p:spPr>
          <a:xfrm>
            <a:off x="2423160" y="422452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mRFP synonymous control  </a:t>
            </a:r>
            <a:pPr indent="0" marL="0">
              <a:buNone/>
            </a:pPr>
            <a:r>
              <a:rPr lang="en-US" sz="1200" dirty="0">
                <a:solidFill>
                  <a:srgbClr val="615D59"/>
                </a:solidFill>
              </a:rPr>
              <a:t>Protein encoders invariant, as they should be; every nucleotide encoder predicts expression beyond composition and folding; mRNA-FM by far the most.</a:t>
            </a:r>
            <a:endParaRPr lang="en-US" sz="1200" dirty="0"/>
          </a:p>
        </p:txBody>
      </p:sp>
      <p:sp>
        <p:nvSpPr>
          <p:cNvPr id="20" name="step dot"/>
          <p:cNvSpPr/>
          <p:nvPr/>
        </p:nvSpPr>
        <p:spPr>
          <a:xfrm>
            <a:off x="877824" y="4928616"/>
            <a:ext cx="128016" cy="128016"/>
          </a:xfrm>
          <a:prstGeom prst="ellipse">
            <a:avLst/>
          </a:prstGeom>
          <a:solidFill>
            <a:srgbClr val="213183"/>
          </a:solidFill>
          <a:ln w="12700">
            <a:solidFill>
              <a:srgbClr val="213183"/>
            </a:solidFill>
            <a:prstDash val="solid"/>
          </a:ln>
        </p:spPr>
      </p:sp>
      <p:sp>
        <p:nvSpPr>
          <p:cNvPr id="21" name="step date"/>
          <p:cNvSpPr txBox="1"/>
          <p:nvPr/>
        </p:nvSpPr>
        <p:spPr>
          <a:xfrm>
            <a:off x="1143000" y="477316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19 to 20</a:t>
            </a:r>
            <a:endParaRPr lang="en-US" sz="1200" dirty="0"/>
          </a:p>
        </p:txBody>
      </p:sp>
      <p:sp>
        <p:nvSpPr>
          <p:cNvPr id="22" name="step text"/>
          <p:cNvSpPr txBox="1"/>
          <p:nvPr/>
        </p:nvSpPr>
        <p:spPr>
          <a:xfrm>
            <a:off x="2423160" y="477316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Phase A on CoV-Vac, E. coli and stability  </a:t>
            </a:r>
            <a:pPr indent="0" marL="0">
              <a:buNone/>
            </a:pPr>
            <a:r>
              <a:rPr lang="en-US" sz="1200" dirty="0">
                <a:solidFill>
                  <a:srgbClr val="615D59"/>
                </a:solidFill>
              </a:rPr>
              <a:t>27 hours on a laptop. Singles and cross-attention reproduce; the gated head does not; fusion wins on E. coli, loses on CoV-Vac, ties on stability.</a:t>
            </a:r>
            <a:endParaRPr lang="en-US" sz="1200" dirty="0"/>
          </a:p>
        </p:txBody>
      </p:sp>
      <p:sp>
        <p:nvSpPr>
          <p:cNvPr id="23" name="step dot"/>
          <p:cNvSpPr/>
          <p:nvPr/>
        </p:nvSpPr>
        <p:spPr>
          <a:xfrm>
            <a:off x="877824" y="5477256"/>
            <a:ext cx="128016" cy="128016"/>
          </a:xfrm>
          <a:prstGeom prst="ellipse">
            <a:avLst/>
          </a:prstGeom>
          <a:solidFill>
            <a:srgbClr val="DCA323"/>
          </a:solidFill>
          <a:ln w="12700">
            <a:solidFill>
              <a:srgbClr val="DCA323"/>
            </a:solidFill>
            <a:prstDash val="solid"/>
          </a:ln>
        </p:spPr>
      </p:sp>
      <p:sp>
        <p:nvSpPr>
          <p:cNvPr id="24" name="step date"/>
          <p:cNvSpPr txBox="1"/>
          <p:nvPr/>
        </p:nvSpPr>
        <p:spPr>
          <a:xfrm>
            <a:off x="1143000" y="5321808"/>
            <a:ext cx="1234440" cy="548640"/>
          </a:xfrm>
          <a:prstGeom prst="rect">
            <a:avLst/>
          </a:prstGeom>
          <a:noFill/>
          <a:ln/>
        </p:spPr>
        <p:txBody>
          <a:bodyPr wrap="square" lIns="0" tIns="0" rIns="0" bIns="0" rtlCol="0" anchor="ctr"/>
          <a:lstStyle/>
          <a:p>
            <a:pPr indent="0" marL="0">
              <a:buNone/>
            </a:pPr>
            <a:r>
              <a:rPr lang="en-US" sz="1200" b="1" dirty="0">
                <a:solidFill>
                  <a:srgbClr val="31302E"/>
                </a:solidFill>
              </a:rPr>
              <a:t>Oct 19</a:t>
            </a:r>
            <a:endParaRPr lang="en-US" sz="1200" dirty="0"/>
          </a:p>
        </p:txBody>
      </p:sp>
      <p:sp>
        <p:nvSpPr>
          <p:cNvPr id="25" name="step text"/>
          <p:cNvSpPr txBox="1"/>
          <p:nvPr/>
        </p:nvSpPr>
        <p:spPr>
          <a:xfrm>
            <a:off x="2423160" y="5321808"/>
            <a:ext cx="9052560" cy="548640"/>
          </a:xfrm>
          <a:prstGeom prst="rect">
            <a:avLst/>
          </a:prstGeom>
          <a:noFill/>
          <a:ln/>
        </p:spPr>
        <p:txBody>
          <a:bodyPr wrap="square" lIns="0" tIns="0" rIns="0" bIns="0" rtlCol="0" anchor="ctr"/>
          <a:lstStyle/>
          <a:p>
            <a:pPr indent="0" marL="0">
              <a:buNone/>
            </a:pPr>
            <a:r>
              <a:rPr lang="en-US" sz="1200" b="1" dirty="0">
                <a:solidFill>
                  <a:srgbClr val="31302E"/>
                </a:solidFill>
              </a:rPr>
              <a:t>Phase B built  </a:t>
            </a:r>
            <a:pPr indent="0" marL="0">
              <a:buNone/>
            </a:pPr>
            <a:r>
              <a:rPr lang="en-US" sz="1200" dirty="0">
                <a:solidFill>
                  <a:srgbClr val="615D59"/>
                </a:solidFill>
              </a:rPr>
              <a:t>Eight encoder swaps, one at a time, each beside Stage 1's alignment for the pairs it creates. Waiting for a GPU night.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Stage 3, round 1 · what exists in code</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BioLangFusion rebuilt from the paper, with two of its inconsistencies settled by measurement</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Everything lives in Code/shared_code/fusion/ and is imported by the Stage 4 notebooks, so an experiment runs exactly what was checked. Token embeddings: 34 GB in float16, kept off Git.</a:t>
            </a:r>
            <a:endParaRPr lang="en-US" sz="1150" dirty="0"/>
          </a:p>
        </p:txBody>
      </p:sp>
      <p:sp>
        <p:nvSpPr>
          <p:cNvPr id="5" name="figure card"/>
          <p:cNvSpPr/>
          <p:nvPr/>
        </p:nvSpPr>
        <p:spPr>
          <a:xfrm>
            <a:off x="813816" y="2029968"/>
            <a:ext cx="3977640" cy="3794760"/>
          </a:xfrm>
          <a:prstGeom prst="roundRect">
            <a:avLst>
              <a:gd name="adj" fmla="val 1446"/>
            </a:avLst>
          </a:prstGeom>
          <a:solidFill>
            <a:srgbClr val="FFFFFF"/>
          </a:solidFill>
          <a:ln w="9525">
            <a:solidFill>
              <a:srgbClr val="E6E6E6"/>
            </a:solidFill>
            <a:prstDash val="solid"/>
          </a:ln>
        </p:spPr>
      </p:sp>
      <p:pic>
        <p:nvPicPr>
          <p:cNvPr id="6" name="pipeline figure" descr="blf_pipeline_a.png">    </p:cNvPr>
          <p:cNvPicPr>
            <a:picLocks noChangeAspect="1"/>
          </p:cNvPicPr>
          <p:nvPr/>
        </p:nvPicPr>
        <p:blipFill>
          <a:blip r:embed="rId1"/>
          <a:stretch>
            <a:fillRect/>
          </a:stretch>
        </p:blipFill>
        <p:spPr>
          <a:xfrm>
            <a:off x="969264" y="2121408"/>
            <a:ext cx="3666744" cy="3611880"/>
          </a:xfrm>
          <a:prstGeom prst="rect">
            <a:avLst/>
          </a:prstGeom>
        </p:spPr>
      </p:pic>
      <p:sp>
        <p:nvSpPr>
          <p:cNvPr id="7" name="built bullets"/>
          <p:cNvSpPr txBox="1"/>
          <p:nvPr/>
        </p:nvSpPr>
        <p:spPr>
          <a:xfrm>
            <a:off x="5029200" y="2029968"/>
            <a:ext cx="6400800" cy="3794760"/>
          </a:xfrm>
          <a:prstGeom prst="rect">
            <a:avLst/>
          </a:prstGeom>
          <a:noFill/>
          <a:ln/>
        </p:spPr>
        <p:txBody>
          <a:bodyPr wrap="square" lIns="0" tIns="0" rIns="0" bIns="0" rtlCol="0" anchor="t"/>
          <a:lstStyle/>
          <a:p>
            <a:pPr marL="152400" indent="-152400">
              <a:buSzPct val="100000"/>
              <a:buChar char="•"/>
            </a:pPr>
            <a:r>
              <a:rPr lang="en-US" sz="1250" b="1" dirty="0">
                <a:solidFill>
                  <a:srgbClr val="31302E"/>
                </a:solidFill>
              </a:rPr>
              <a:t>Three frozen encoders on one codon grid.</a:t>
            </a:r>
            <a:pPr indent="0" marL="0">
              <a:spcAft>
                <a:spcPts val="700"/>
              </a:spcAft>
              <a:buNone/>
            </a:pPr>
            <a:r>
              <a:rPr lang="en-US" sz="1250" dirty="0">
                <a:solidFill>
                  <a:srgbClr val="615D59"/>
                </a:solidFill>
              </a:rPr>
              <a:t> NT v2 100M 6-mers upsampled by a transposed convolution, RNA-FM averaged three to one, ESM-2 8M one residue per codon.</a:t>
            </a:r>
            <a:endParaRPr lang="en-US" sz="1250" dirty="0"/>
          </a:p>
          <a:p>
            <a:pPr marL="152400" indent="-152400">
              <a:buSzPct val="100000"/>
              <a:buChar char="•"/>
            </a:pPr>
            <a:r>
              <a:rPr lang="en-US" sz="1250" b="1" dirty="0">
                <a:solidFill>
                  <a:srgbClr val="31302E"/>
                </a:solidFill>
              </a:rPr>
              <a:t>Three heads, one TextCNN, the paper's recipe.</a:t>
            </a:r>
            <a:pPr indent="0" marL="0">
              <a:spcAft>
                <a:spcPts val="700"/>
              </a:spcAft>
              <a:buNone/>
            </a:pPr>
            <a:r>
              <a:rPr lang="en-US" sz="1250" dirty="0">
                <a:solidFill>
                  <a:srgbClr val="615D59"/>
                </a:solidFill>
              </a:rPr>
              <a:t> Concatenation, gated MIL attention with its entropy term, cross-modal attention; Adam at 3e-5, early stopping on validation, best epoch restored.</a:t>
            </a:r>
            <a:endParaRPr lang="en-US" sz="1250" dirty="0"/>
          </a:p>
          <a:p>
            <a:pPr marL="152400" indent="-152400">
              <a:buSzPct val="100000"/>
              <a:buChar char="•"/>
            </a:pPr>
            <a:r>
              <a:rPr lang="en-US" sz="1250" b="1" dirty="0">
                <a:solidFill>
                  <a:srgbClr val="31302E"/>
                </a:solidFill>
              </a:rPr>
              <a:t>Preprocessing, settled.</a:t>
            </a:r>
            <a:pPr indent="0" marL="0">
              <a:spcAft>
                <a:spcPts val="700"/>
              </a:spcAft>
              <a:buNone/>
            </a:pPr>
            <a:r>
              <a:rPr lang="en-US" sz="1250" dirty="0">
                <a:solidFill>
                  <a:srgbClr val="615D59"/>
                </a:solidFill>
              </a:rPr>
              <a:t> The paper says it truncates at 999 nt, but only dropping those sequences reproduces its own row counts, on all four benchmarks.</a:t>
            </a:r>
            <a:endParaRPr lang="en-US" sz="1250" dirty="0"/>
          </a:p>
          <a:p>
            <a:pPr marL="152400" indent="-152400">
              <a:buSzPct val="100000"/>
              <a:buChar char="•"/>
            </a:pPr>
            <a:r>
              <a:rPr lang="en-US" sz="1250" b="1" dirty="0">
                <a:solidFill>
                  <a:srgbClr val="31302E"/>
                </a:solidFill>
              </a:rPr>
              <a:t>The convolution, settled.</a:t>
            </a:r>
            <a:pPr indent="0" marL="0">
              <a:spcAft>
                <a:spcPts val="700"/>
              </a:spcAft>
              <a:buNone/>
            </a:pPr>
            <a:r>
              <a:rPr lang="en-US" sz="1250" dirty="0">
                <a:solidFill>
                  <a:srgbClr val="615D59"/>
                </a:solidFill>
              </a:rPr>
              <a:t> The paper specifies the DNA upsampling twice; the appendix setting places the stream two codons out of register. Equation 1 is used.</a:t>
            </a:r>
            <a:endParaRPr lang="en-US" sz="1250" dirty="0"/>
          </a:p>
          <a:p>
            <a:pPr marL="152400" indent="-152400">
              <a:buSzPct val="100000"/>
              <a:buChar char="•"/>
            </a:pPr>
            <a:r>
              <a:rPr lang="en-US" sz="1250" b="1" dirty="0">
                <a:solidFill>
                  <a:srgbClr val="31302E"/>
                </a:solidFill>
              </a:rPr>
              <a:t>Error bars from the start.</a:t>
            </a:r>
            <a:pPr indent="0" marL="0">
              <a:spcAft>
                <a:spcPts val="700"/>
              </a:spcAft>
              <a:buNone/>
            </a:pPr>
            <a:r>
              <a:rPr lang="en-US" sz="1250" dirty="0">
                <a:solidFill>
                  <a:srgbClr val="615D59"/>
                </a:solidFill>
              </a:rPr>
              <a:t> Every run saves per-row test predictions, so any two models are compared by a paired bootstrap, seeds averaged inside each draw. The paper reports none.</a:t>
            </a:r>
            <a:endParaRPr lang="en-US" sz="1250" dirty="0"/>
          </a:p>
          <a:p>
            <a:pPr marL="152400" indent="-152400">
              <a:buSzPct val="100000"/>
              <a:buChar char="•"/>
            </a:pPr>
            <a:r>
              <a:rPr lang="en-US" sz="1250" b="1" dirty="0">
                <a:solidFill>
                  <a:srgbClr val="31302E"/>
                </a:solidFill>
              </a:rPr>
              <a:t>Also built:</a:t>
            </a:r>
            <a:pPr indent="0" marL="0">
              <a:spcAft>
                <a:spcPts val="700"/>
              </a:spcAft>
              <a:buNone/>
            </a:pPr>
            <a:r>
              <a:rPr lang="en-US" sz="1250" dirty="0">
                <a:solidFill>
                  <a:srgbClr val="615D59"/>
                </a:solidFill>
              </a:rPr>
              <a:t> IsoFormer's aggregator with memory-safe batching; the grid generalized so any Stage 1 encoder but DNABERT-2 can take any slot.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reproduction</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single encoders and cross-attention reproduce; the gated head does not</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Ours (published), Spearman except E. coli (accuracy, %). Means over three seeds on fungal, CoV-Vac and E. coli; stability is one seed. Published values from BioLangFusion Table 1 and Table 4.</a:t>
            </a:r>
            <a:endParaRPr lang="en-US" sz="1150" dirty="0"/>
          </a:p>
        </p:txBody>
      </p:sp>
      <p:graphicFrame>
        <p:nvGraphicFramePr>
          <p:cNvPr id="5" name="reproduction table"/>
          <p:cNvGraphicFramePr>
            <a:graphicFrameLocks noGrp="1"/>
          </p:cNvGraphicFramePr>
          <p:nvPr>
            <p:extLst>
              <p:ext uri="{D42A27DB-BD31-4B8C-83A1-F6EECF244321}">
                <p14:modId xmlns:p14="http://schemas.microsoft.com/office/powerpoint/2010/main" val="1579011935"/>
              </p:ext>
            </p:extLst>
          </p:nvPr>
        </p:nvGraphicFramePr>
        <p:xfrm>
          <a:off x="813816" y="2029968"/>
          <a:ext cx="7589520" cy="914400"/>
        </p:xfrm>
        <a:graphic>
          <a:graphicData uri="http://schemas.openxmlformats.org/drawingml/2006/table">
            <a:tbl>
              <a:tblPr/>
              <a:tblGrid>
                <a:gridCol w="2651760"/>
                <a:gridCol w="1234440"/>
                <a:gridCol w="1234440"/>
                <a:gridCol w="1234440"/>
                <a:gridCol w="1234440"/>
              </a:tblGrid>
              <a:tr h="329184">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Model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Fungal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CoV-Vac</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E. coli (acc., %)</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Stability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Nucleotide Transformer alone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0.807 (0.804)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0.779 (0.780)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47.8 (41.3)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0.539 (0.530)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RNA-FM alone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0.722 (0.767)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0.838 (0.841)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50.7 (52.9)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0.552 (0.553)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RNA-FM read on the codon grid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0.823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49.3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0.547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ESM-2 8M alone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0.706 (0.695)</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0.815 (0.806)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51.7 (49.0)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0.531 (0.539)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Concatenation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0.791 (0.805)</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0.799 (0.831)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58.7 (50.3)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0.558 (0.539)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Gated MIL attention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0.801 (0.824)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0.783 (0.864)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54.5 (52.1)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0.551 (0.563)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Gated MIL without entropy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0.802 (0.826)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0.792 (0.854)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55.8 (52.0)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0.558 (0.556)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29184">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Cross-attention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0.823 (0.812)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0.836 (0.828)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53.5 (53.9)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0.553 (0.550)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7"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Within 0.01</a:t>
            </a:r>
            <a:endParaRPr lang="en-US" sz="2400" dirty="0"/>
          </a:p>
        </p:txBody>
      </p:sp>
      <p:sp>
        <p:nvSpPr>
          <p:cNvPr id="8"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of the paper for every single encoder on CoV-Vac and stability, and for NT and ESM-2 on fungal. Fungal RNA-FM matches only on the codon grid; E. coli is within noise.</a:t>
            </a:r>
            <a:endParaRPr lang="en-US" sz="1150" dirty="0"/>
          </a:p>
        </p:txBody>
      </p:sp>
      <p:sp>
        <p:nvSpPr>
          <p:cNvPr id="9"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0"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3 of 4</a:t>
            </a:r>
            <a:endParaRPr lang="en-US" sz="2400" dirty="0"/>
          </a:p>
        </p:txBody>
      </p:sp>
      <p:sp>
        <p:nvSpPr>
          <p:cNvPr id="11"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benchmarks where cross-attention beats its published value; on E. coli it is half a point under. The gated head, the paper's best on three, is the best on none.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the paper's central claim</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Does fusion beat the best single encoder? On two benchmarks out of four</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Paired bootstrap over each published test split, 4,000 draws, seeds averaged inside each draw, repeated sequences resampled together. The best single encoder is the one validation chose.</a:t>
            </a:r>
            <a:endParaRPr lang="en-US" sz="1150" dirty="0"/>
          </a:p>
        </p:txBody>
      </p:sp>
      <p:graphicFrame>
        <p:nvGraphicFramePr>
          <p:cNvPr id="6" name="verdict table"/>
          <p:cNvGraphicFramePr>
            <a:graphicFrameLocks noGrp="1"/>
          </p:cNvGraphicFramePr>
          <p:nvPr>
            <p:extLst>
              <p:ext uri="{D42A27DB-BD31-4B8C-83A1-F6EECF244321}">
                <p14:modId xmlns:p14="http://schemas.microsoft.com/office/powerpoint/2010/main" val="1579011935"/>
              </p:ext>
            </p:extLst>
          </p:nvPr>
        </p:nvGraphicFramePr>
        <p:xfrm>
          <a:off x="813816" y="2029968"/>
          <a:ext cx="7589520" cy="914400"/>
        </p:xfrm>
        <a:graphic>
          <a:graphicData uri="http://schemas.openxmlformats.org/drawingml/2006/table">
            <a:tbl>
              <a:tblPr/>
              <a:tblGrid>
                <a:gridCol w="2240280"/>
                <a:gridCol w="1417320"/>
                <a:gridCol w="1828800"/>
                <a:gridCol w="2103120"/>
              </a:tblGrid>
              <a:tr h="384048">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Benchmark</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Best single encoder</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Best head minus it, 95% interval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Verdict</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Fungal expression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NT, 0.807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+0.016  [-0.014, +0.048]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tie; the paper's +0.020 sits inside the interval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CoV-Vac</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RNA-FM, 0.838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-0.002  [-0.026, +0.020]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tie; concatenation and the gated head are significantly worse</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E. coli (accuracy)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ESM-2, 51.7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+6.9  [+4.2, +9.6]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fusion wins, every head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Stability, published split</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RNA-FM, 0.552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+0.007  [-0.006, +0.019]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tie; the split repeats training sequences in 68% of test rows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Stability, unseen sequences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RNA-FM, 0.319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+0.040  [-0.003, +0.083]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leans fusion; one seed, not yet resolved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GTEx pilot, IsoFormer's aggregator</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RNA, 0.452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+0.047  [+0.027, +0.069]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fusion wins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7"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2 wins, 2 ties</a:t>
            </a:r>
            <a:endParaRPr lang="en-US" sz="2400" dirty="0"/>
          </a:p>
        </p:txBody>
      </p:sp>
      <p:sp>
        <p:nvSpPr>
          <p:cNvPr id="8"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Fusion beats the best single encoder on E. coli and on GTEx; the best single encoder wins or ties on fungal and CoV-Vac.</a:t>
            </a:r>
            <a:endParaRPr lang="en-US" sz="1150" dirty="0"/>
          </a:p>
        </p:txBody>
      </p:sp>
      <p:sp>
        <p:nvSpPr>
          <p:cNvPr id="9" name="stat card"/>
          <p:cNvSpPr/>
          <p:nvPr/>
        </p:nvSpPr>
        <p:spPr>
          <a:xfrm>
            <a:off x="8641080" y="3995928"/>
            <a:ext cx="2743200" cy="1783080"/>
          </a:xfrm>
          <a:prstGeom prst="roundRect">
            <a:avLst>
              <a:gd name="adj" fmla="val 3077"/>
            </a:avLst>
          </a:prstGeom>
          <a:solidFill>
            <a:srgbClr val="213183"/>
          </a:solidFill>
          <a:ln w="9525">
            <a:solidFill>
              <a:srgbClr val="213183"/>
            </a:solidFill>
            <a:prstDash val="solid"/>
          </a:ln>
        </p:spPr>
      </p:sp>
      <p:sp>
        <p:nvSpPr>
          <p:cNvPr id="10"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FFFFFF"/>
                </a:solidFill>
              </a:rPr>
              <a:t>Two and two</a:t>
            </a:r>
            <a:endParaRPr lang="en-US" sz="2400" dirty="0"/>
          </a:p>
        </p:txBody>
      </p:sp>
      <p:sp>
        <p:nvSpPr>
          <p:cNvPr id="11"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FFFFFF"/>
                </a:solidFill>
              </a:rPr>
              <a:t>Two positive and two negative cases is what the method test needs: can the Stage 1 alignment measurements say in advance which tasks gain from fusion?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why the gated head does not reproduce</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gated head is a modality selector, and on CoV-Vac it selects against the best encoder</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Attention weights averaged over each test split; three values are seeds 0, 1 and 2. The entropy term never helps: on all four benchmarks the head without it scores at or above the head with it.</a:t>
            </a:r>
            <a:endParaRPr lang="en-US" sz="1150" dirty="0"/>
          </a:p>
        </p:txBody>
      </p:sp>
      <p:graphicFrame>
        <p:nvGraphicFramePr>
          <p:cNvPr id="7" name="weights table"/>
          <p:cNvGraphicFramePr>
            <a:graphicFrameLocks noGrp="1"/>
          </p:cNvGraphicFramePr>
          <p:nvPr>
            <p:extLst>
              <p:ext uri="{D42A27DB-BD31-4B8C-83A1-F6EECF244321}">
                <p14:modId xmlns:p14="http://schemas.microsoft.com/office/powerpoint/2010/main" val="1579011935"/>
              </p:ext>
            </p:extLst>
          </p:nvPr>
        </p:nvGraphicFramePr>
        <p:xfrm>
          <a:off x="813816" y="2029968"/>
          <a:ext cx="7589520" cy="914400"/>
        </p:xfrm>
        <a:graphic>
          <a:graphicData uri="http://schemas.openxmlformats.org/drawingml/2006/table">
            <a:tbl>
              <a:tblPr/>
              <a:tblGrid>
                <a:gridCol w="1554480"/>
                <a:gridCol w="1371600"/>
                <a:gridCol w="1737360"/>
                <a:gridCol w="1371600"/>
                <a:gridCol w="1554480"/>
              </a:tblGrid>
              <a:tr h="384048">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Benchmark</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Entropy weight</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DNA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RNA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Fungal</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0.20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CoV-Vac</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0.83 / 0.92 / 0.94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 / 0.03 / 0.00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0.16 / 0.05 / 0.06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E. coli</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0.11 / 0.18 / 0.10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0.89 / 0.82 / 0.90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Stability</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0.28</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0.71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Any benchmark</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 or 1.0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one modality takes 1.00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weights reading"/>
          <p:cNvSpPr txBox="1"/>
          <p:nvPr/>
        </p:nvSpPr>
        <p:spPr>
          <a:xfrm>
            <a:off x="813816" y="4526280"/>
            <a:ext cx="7589520" cy="1325880"/>
          </a:xfrm>
          <a:prstGeom prst="rect">
            <a:avLst/>
          </a:prstGeom>
          <a:noFill/>
          <a:ln/>
        </p:spPr>
        <p:txBody>
          <a:bodyPr wrap="square" lIns="0" tIns="0" rIns="0" bIns="0" rtlCol="0" anchor="t"/>
          <a:lstStyle/>
          <a:p>
            <a:pPr indent="0" marL="0">
              <a:buNone/>
            </a:pPr>
            <a:r>
              <a:rPr lang="en-US" sz="1250" b="1" dirty="0">
                <a:solidFill>
                  <a:srgbClr val="31302E"/>
                </a:solidFill>
              </a:rPr>
              <a:t>What the paper says the weights are: </a:t>
            </a:r>
            <a:pPr indent="0" marL="0">
              <a:buNone/>
            </a:pPr>
            <a:r>
              <a:rPr lang="en-US" sz="1250" dirty="0">
                <a:solidFill>
                  <a:srgbClr val="615D59"/>
                </a:solidFill>
              </a:rPr>
              <a:t>how much each modality is used per sequence, an interpretability output.</a:t>
            </a:r>
            <a:endParaRPr lang="en-US" sz="1250" dirty="0"/>
          </a:p>
          <a:p>
            <a:pPr indent="0" marL="0">
              <a:buNone/>
            </a:pPr>
            <a:r>
              <a:rPr lang="en-US" sz="1250" b="1" dirty="0">
                <a:solidFill>
                  <a:srgbClr val="31302E"/>
                </a:solidFill>
              </a:rPr>
              <a:t>What they are here: </a:t>
            </a:r>
            <a:pPr indent="0" marL="0">
              <a:buNone/>
            </a:pPr>
            <a:r>
              <a:rPr lang="en-US" sz="1250" dirty="0">
                <a:solidFill>
                  <a:srgbClr val="615D59"/>
                </a:solidFill>
              </a:rPr>
              <a:t>which modality the head kept. RNA is at zero on all three Phase A benchmarks. On CoV-Vac, where RNA-FM is the strongest single encoder (0.838), the head puts 0.83 to 0.94 on DNA and scores like a DNA-only model: 0.783 against DNA alone at 0.779.</a:t>
            </a:r>
            <a:endParaRPr lang="en-US" sz="1250" dirty="0"/>
          </a:p>
        </p:txBody>
      </p:sp>
      <p:sp>
        <p:nvSpPr>
          <p:cNvPr id="7"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8"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0.783 vs 0.864</a:t>
            </a:r>
            <a:endParaRPr lang="en-US" sz="2400" dirty="0"/>
          </a:p>
        </p:txBody>
      </p:sp>
      <p:sp>
        <p:nvSpPr>
          <p:cNvPr id="9"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gated head on CoV-Vac, ours against published: the largest miss anywhere in the reproduction.</a:t>
            </a:r>
            <a:endParaRPr lang="en-US" sz="1150" dirty="0"/>
          </a:p>
        </p:txBody>
      </p:sp>
      <p:sp>
        <p:nvSpPr>
          <p:cNvPr id="10"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1"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0.801 to 0.812</a:t>
            </a:r>
            <a:endParaRPr lang="en-US" sz="2400" dirty="0"/>
          </a:p>
        </p:txBody>
      </p:sp>
      <p:sp>
        <p:nvSpPr>
          <p:cNvPr id="12"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fungal gated head at 100 and then 1,280 channels, against 0.824 published. Width is half its gap; the other benchmarks at 1,280 are the last check.</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Phase A · mRNA stability</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published stability split is mostly memorization: every model drops 0.2 on unseen sequences</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Seed 0, the same trained models scored on the whole published test split (3,579 rows) and on its 1,135 rows whose sequence never appears in training. Validation leaks too (2,360 of 3,608 rows), so early stopping still watched a leaky split.</a:t>
            </a:r>
            <a:endParaRPr lang="en-US" sz="1150" dirty="0"/>
          </a:p>
        </p:txBody>
      </p:sp>
      <p:sp>
        <p:nvSpPr>
          <p:cNvPr id="5" name="chart card"/>
          <p:cNvSpPr/>
          <p:nvPr/>
        </p:nvSpPr>
        <p:spPr>
          <a:xfrm>
            <a:off x="813816" y="2029968"/>
            <a:ext cx="7589520" cy="3794760"/>
          </a:xfrm>
          <a:prstGeom prst="roundRect">
            <a:avLst>
              <a:gd name="adj" fmla="val 1446"/>
            </a:avLst>
          </a:prstGeom>
          <a:solidFill>
            <a:srgbClr val="FFFFFF"/>
          </a:solidFill>
          <a:ln w="9525">
            <a:solidFill>
              <a:srgbClr val="E6E6E6"/>
            </a:solidFill>
            <a:prstDash val="solid"/>
          </a:ln>
        </p:spPr>
      </p:sp>
      <p:graphicFrame>
        <p:nvGraphicFramePr>
          <p:cNvPr id="6" name="stability leak chart" descr=""/>
          <p:cNvGraphicFramePr/>
          <p:nvPr/>
        </p:nvGraphicFramePr>
        <p:xfrm>
          <a:off x="914400" y="2121408"/>
          <a:ext cx="7406640" cy="3611880"/>
        </p:xfrm>
        <a:graphic xmlns:a="http://schemas.openxmlformats.org/drawingml/2006/main">
          <a:graphicData uri="http://schemas.openxmlformats.org/drawingml/2006/chart">
            <c:chart xmlns:c="http://schemas.openxmlformats.org/drawingml/2006/chart" r:id="rId1"/>
          </a:graphicData>
        </a:graphic>
      </p:graphicFrame>
      <p:sp>
        <p:nvSpPr>
          <p:cNvPr id="7"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8"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0.53 to 0.56</a:t>
            </a:r>
            <a:endParaRPr lang="en-US" sz="2400" dirty="0"/>
          </a:p>
        </p:txBody>
      </p:sp>
      <p:sp>
        <p:nvSpPr>
          <p:cNvPr id="9"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published range for every model, ours and the paper's, is carried by the 2,444 test rows that repeat a training sequence.</a:t>
            </a:r>
            <a:endParaRPr lang="en-US" sz="1150" dirty="0"/>
          </a:p>
        </p:txBody>
      </p:sp>
      <p:sp>
        <p:nvSpPr>
          <p:cNvPr id="10"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1"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+0.03 to +0.04</a:t>
            </a:r>
            <a:endParaRPr lang="en-US" sz="2400" dirty="0"/>
          </a:p>
        </p:txBody>
      </p:sp>
      <p:sp>
        <p:nvSpPr>
          <p:cNvPr id="12"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fusion heads above RNA-FM on the clean rows, just short of resolving at one seed. A sequence-grouped re-split with seeds would settle it.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Plan item 5 · the mRFP synonymous control</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Every nucleotide encoder carries codon information beyond composition and folding; mRNA-FM carries by far the most</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1,000 synonymous recodings of one gene, Stage 1's pooled embeddings. Gain in held-out R² when an encoder is stacked on GC, GC3, the 64 codon frequencies, a pairing proxy and two folding energies (together R² 0.306); mean over ten grouped fold assignments.</a:t>
            </a:r>
            <a:endParaRPr lang="en-US" sz="1150" dirty="0"/>
          </a:p>
        </p:txBody>
      </p:sp>
      <p:sp>
        <p:nvSpPr>
          <p:cNvPr id="5" name="chart card"/>
          <p:cNvSpPr/>
          <p:nvPr/>
        </p:nvSpPr>
        <p:spPr>
          <a:xfrm>
            <a:off x="813816" y="2029968"/>
            <a:ext cx="7589520" cy="3794760"/>
          </a:xfrm>
          <a:prstGeom prst="roundRect">
            <a:avLst>
              <a:gd name="adj" fmla="val 1446"/>
            </a:avLst>
          </a:prstGeom>
          <a:solidFill>
            <a:srgbClr val="FFFFFF"/>
          </a:solidFill>
          <a:ln w="9525">
            <a:solidFill>
              <a:srgbClr val="E6E6E6"/>
            </a:solidFill>
            <a:prstDash val="solid"/>
          </a:ln>
        </p:spPr>
      </p:sp>
      <p:graphicFrame>
        <p:nvGraphicFramePr>
          <p:cNvPr id="6" name="mrfp chart" descr=""/>
          <p:cNvGraphicFramePr/>
          <p:nvPr/>
        </p:nvGraphicFramePr>
        <p:xfrm>
          <a:off x="914400" y="2121408"/>
          <a:ext cx="7406640" cy="3611880"/>
        </p:xfrm>
        <a:graphic xmlns:a="http://schemas.openxmlformats.org/drawingml/2006/main">
          <a:graphicData uri="http://schemas.openxmlformats.org/drawingml/2006/chart">
            <c:chart xmlns:c="http://schemas.openxmlformats.org/drawingml/2006/chart" r:id="rId1"/>
          </a:graphicData>
        </a:graphic>
      </p:graphicFrame>
      <p:sp>
        <p:nvSpPr>
          <p:cNvPr id="7" name="stat card"/>
          <p:cNvSpPr/>
          <p:nvPr/>
        </p:nvSpPr>
        <p:spPr>
          <a:xfrm>
            <a:off x="8641080" y="2029968"/>
            <a:ext cx="2743200" cy="1783080"/>
          </a:xfrm>
          <a:prstGeom prst="roundRect">
            <a:avLst>
              <a:gd name="adj" fmla="val 3077"/>
            </a:avLst>
          </a:prstGeom>
          <a:solidFill>
            <a:srgbClr val="FFFFFF"/>
          </a:solidFill>
          <a:ln w="9525">
            <a:solidFill>
              <a:srgbClr val="E6E6E6"/>
            </a:solidFill>
            <a:prstDash val="solid"/>
          </a:ln>
        </p:spPr>
      </p:sp>
      <p:sp>
        <p:nvSpPr>
          <p:cNvPr id="8"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10 of 10</a:t>
            </a:r>
            <a:endParaRPr lang="en-US" sz="2400" dirty="0"/>
          </a:p>
        </p:txBody>
      </p:sp>
      <p:sp>
        <p:nvSpPr>
          <p:cNvPr id="9"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615D59"/>
                </a:solidFill>
              </a:rPr>
              <a:t>fold assignments in which each nucleotide encoder beats the Track A controls (GC3, codon use, Nussinov). The protein encoders add exactly nothing: the control holds.</a:t>
            </a:r>
            <a:endParaRPr lang="en-US" sz="1150" dirty="0"/>
          </a:p>
        </p:txBody>
      </p:sp>
      <p:sp>
        <p:nvSpPr>
          <p:cNvPr id="10"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1"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First 60 nt</a:t>
            </a:r>
            <a:endParaRPr lang="en-US" sz="2400" dirty="0"/>
          </a:p>
        </p:txBody>
      </p:sp>
      <p:sp>
        <p:nvSpPr>
          <p:cNvPr id="12"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The one structure feature that matters is folding energy after the start codon (R² 0.11; a weaker fold, higher expression), as Kudla et al. 2009 found. The Nussinov proxy carries nothing.</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Baselines · IsoFormer on GTEx (Gantt 44) and LucaOne (plan item 2)</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With frozen encoders, IsoFormer's fusion beats the best single modality; LucaOne cannot read GTEx</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IsoFormer's six-row modality ablation on the 2,000-transcript GTEx pilot, split by gene, Spearman over thirty tissues, one seed. IsoFormer fine-tunes its encoders and we freeze them, so the gap to its absolute values is what freezing costs.</a:t>
            </a:r>
            <a:endParaRPr lang="en-US" sz="1150" dirty="0"/>
          </a:p>
        </p:txBody>
      </p:sp>
      <p:graphicFrame>
        <p:nvGraphicFramePr>
          <p:cNvPr id="10" name="isoformer table"/>
          <p:cNvGraphicFramePr>
            <a:graphicFrameLocks noGrp="1"/>
          </p:cNvGraphicFramePr>
          <p:nvPr>
            <p:extLst>
              <p:ext uri="{D42A27DB-BD31-4B8C-83A1-F6EECF244321}">
                <p14:modId xmlns:p14="http://schemas.microsoft.com/office/powerpoint/2010/main" val="1579011935"/>
              </p:ext>
            </p:extLst>
          </p:nvPr>
        </p:nvGraphicFramePr>
        <p:xfrm>
          <a:off x="813816" y="2029968"/>
          <a:ext cx="4937760" cy="914400"/>
        </p:xfrm>
        <a:graphic>
          <a:graphicData uri="http://schemas.openxmlformats.org/drawingml/2006/table">
            <a:tbl>
              <a:tblPr/>
              <a:tblGrid>
                <a:gridCol w="2011680"/>
                <a:gridCol w="1463040"/>
                <a:gridCol w="1463040"/>
              </a:tblGrid>
              <a:tr h="365760">
                <a:tc>
                  <a:txBody>
                    <a:bodyPr/>
                    <a:lstStyle/>
                    <a:p>
                      <a:pPr algn="l" indent="0" marL="0">
                        <a:buNone/>
                      </a:pPr>
                      <a:r>
                        <a:rPr lang="en-US" sz="1150" b="1" dirty="0">
                          <a:solidFill>
                            <a:srgbClr val="31302E"/>
                          </a:solidFill>
                          <a:latin typeface="Inter" pitchFamily="34" charset="0"/>
                          <a:ea typeface="Inter" pitchFamily="34" charset="-122"/>
                          <a:cs typeface="Inter" pitchFamily="34" charset="-120"/>
                        </a:rPr>
                        <a:t>Modalities</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Ours, frozen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50" b="1" dirty="0">
                          <a:solidFill>
                            <a:srgbClr val="31302E"/>
                          </a:solidFill>
                          <a:latin typeface="Inter" pitchFamily="34" charset="0"/>
                          <a:ea typeface="Inter" pitchFamily="34" charset="-122"/>
                          <a:cs typeface="Inter" pitchFamily="34" charset="-120"/>
                        </a:rPr>
                        <a:t>IsoFormer, fine-tuned</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0.199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0.43</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RNA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0.61</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0.160</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0.46</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 + 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0.439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0.52</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 + RNA</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0.507</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0.64</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365760">
                <a:tc>
                  <a:txBody>
                    <a:bodyPr/>
                    <a:lstStyle/>
                    <a:p>
                      <a:pPr algn="l" indent="0" marL="0">
                        <a:buNone/>
                      </a:pPr>
                      <a:r>
                        <a:rPr lang="en-US" sz="1150" dirty="0">
                          <a:solidFill>
                            <a:srgbClr val="31302E"/>
                          </a:solidFill>
                          <a:latin typeface="Inter" pitchFamily="34" charset="0"/>
                          <a:ea typeface="Inter" pitchFamily="34" charset="-122"/>
                          <a:cs typeface="Inter" pitchFamily="34" charset="-120"/>
                        </a:rPr>
                        <a:t>DNA + RNA + protein</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0.499</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1302E"/>
                          </a:solidFill>
                          <a:latin typeface="Inter" pitchFamily="34" charset="0"/>
                          <a:ea typeface="Inter" pitchFamily="34" charset="-122"/>
                          <a:cs typeface="Inter" pitchFamily="34" charset="-120"/>
                        </a:rPr>
                        <a:t>0.65</a:t>
                      </a:r>
                      <a:endParaRPr lang="en-US" sz="1150" dirty="0">
                        <a:latin typeface="Inter" charset="0"/>
                        <a:ea typeface="Inter" charset="0"/>
                        <a:cs typeface="Inter" charset="0"/>
                      </a:endParaRPr>
                    </a:p>
                  </a:txBody>
                  <a:tcPr marL="73152" marR="73152" marT="36576" marB="36576"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lucaone card"/>
          <p:cNvSpPr/>
          <p:nvPr/>
        </p:nvSpPr>
        <p:spPr>
          <a:xfrm>
            <a:off x="5989320" y="2029968"/>
            <a:ext cx="2423160" cy="3794760"/>
          </a:xfrm>
          <a:prstGeom prst="roundRect">
            <a:avLst>
              <a:gd name="adj" fmla="val 2264"/>
            </a:avLst>
          </a:prstGeom>
          <a:solidFill>
            <a:srgbClr val="FFFFFF"/>
          </a:solidFill>
          <a:ln w="9525">
            <a:solidFill>
              <a:srgbClr val="E6E6E6"/>
            </a:solidFill>
            <a:prstDash val="solid"/>
          </a:ln>
        </p:spPr>
      </p:sp>
      <p:sp>
        <p:nvSpPr>
          <p:cNvPr id="7" name="lucaone text"/>
          <p:cNvSpPr txBox="1"/>
          <p:nvPr/>
        </p:nvSpPr>
        <p:spPr>
          <a:xfrm>
            <a:off x="6172200" y="2194560"/>
            <a:ext cx="2103120" cy="3520440"/>
          </a:xfrm>
          <a:prstGeom prst="rect">
            <a:avLst/>
          </a:prstGeom>
          <a:noFill/>
          <a:ln/>
        </p:spPr>
        <p:txBody>
          <a:bodyPr wrap="square" lIns="0" tIns="0" rIns="0" bIns="0" rtlCol="0" anchor="t"/>
          <a:lstStyle/>
          <a:p>
            <a:pPr indent="0" marL="0">
              <a:buNone/>
            </a:pPr>
            <a:r>
              <a:rPr lang="en-US" sz="1200" b="1" dirty="0">
                <a:solidFill>
                  <a:srgbClr val="31302E"/>
                </a:solidFill>
              </a:rPr>
              <a:t>LucaOne</a:t>
            </a:r>
            <a:endParaRPr lang="en-US" sz="1200" dirty="0"/>
          </a:p>
          <a:p>
            <a:pPr indent="0" marL="0">
              <a:buNone/>
            </a:pPr>
            <a:r>
              <a:rPr lang="en-US" sz="1200" dirty="0">
                <a:solidFill>
                  <a:srgbClr val="615D59"/>
                </a:solidFill>
              </a:rPr>
              <a:t>Its 1,280-token character-level context admits none of the pilot's 6,000-nt DNA windows and 40% of its transcripts; its joint mode caps a coding sequence at 957 nt. Joint checkpoints exist on the hub, so the context, not availability, rules it out on GTEx. A stability baseline remains possible.</a:t>
            </a:r>
            <a:endParaRPr lang="en-US" sz="1200" dirty="0"/>
          </a:p>
        </p:txBody>
      </p:sp>
      <p:sp>
        <p:nvSpPr>
          <p:cNvPr id="8" name="stat card"/>
          <p:cNvSpPr/>
          <p:nvPr/>
        </p:nvSpPr>
        <p:spPr>
          <a:xfrm>
            <a:off x="8641080" y="2029968"/>
            <a:ext cx="2743200" cy="1783080"/>
          </a:xfrm>
          <a:prstGeom prst="roundRect">
            <a:avLst>
              <a:gd name="adj" fmla="val 3077"/>
            </a:avLst>
          </a:prstGeom>
          <a:solidFill>
            <a:srgbClr val="213183"/>
          </a:solidFill>
          <a:ln w="9525">
            <a:solidFill>
              <a:srgbClr val="213183"/>
            </a:solidFill>
            <a:prstDash val="solid"/>
          </a:ln>
        </p:spPr>
      </p:sp>
      <p:sp>
        <p:nvSpPr>
          <p:cNvPr id="9" name="stat value"/>
          <p:cNvSpPr txBox="1"/>
          <p:nvPr/>
        </p:nvSpPr>
        <p:spPr>
          <a:xfrm>
            <a:off x="8842248" y="2212848"/>
            <a:ext cx="2340864" cy="457200"/>
          </a:xfrm>
          <a:prstGeom prst="rect">
            <a:avLst/>
          </a:prstGeom>
          <a:noFill/>
          <a:ln/>
        </p:spPr>
        <p:txBody>
          <a:bodyPr wrap="square" lIns="0" tIns="0" rIns="0" bIns="0" rtlCol="0" anchor="ctr"/>
          <a:lstStyle/>
          <a:p>
            <a:pPr indent="0" marL="0">
              <a:buNone/>
            </a:pPr>
            <a:r>
              <a:rPr lang="en-US" sz="2400" b="1" dirty="0">
                <a:solidFill>
                  <a:srgbClr val="FFFFFF"/>
                </a:solidFill>
              </a:rPr>
              <a:t>+0.047</a:t>
            </a:r>
            <a:endParaRPr lang="en-US" sz="2400" dirty="0"/>
          </a:p>
        </p:txBody>
      </p:sp>
      <p:sp>
        <p:nvSpPr>
          <p:cNvPr id="10" name="stat label"/>
          <p:cNvSpPr txBox="1"/>
          <p:nvPr/>
        </p:nvSpPr>
        <p:spPr>
          <a:xfrm>
            <a:off x="8842248" y="2688336"/>
            <a:ext cx="2340864" cy="1005840"/>
          </a:xfrm>
          <a:prstGeom prst="rect">
            <a:avLst/>
          </a:prstGeom>
          <a:noFill/>
          <a:ln/>
        </p:spPr>
        <p:txBody>
          <a:bodyPr wrap="square" lIns="0" tIns="0" rIns="0" bIns="0" rtlCol="0" anchor="t"/>
          <a:lstStyle/>
          <a:p>
            <a:pPr indent="0" marL="0">
              <a:buNone/>
            </a:pPr>
            <a:r>
              <a:rPr lang="en-US" sz="1150" dirty="0">
                <a:solidFill>
                  <a:srgbClr val="FFFFFF"/>
                </a:solidFill>
              </a:rPr>
              <a:t>All three modalities minus RNA alone, [+0.027, +0.069]: resolved. DNA with RNA minus RNA alone +0.055 [+0.032, +0.078]. Protein adds nothing measurable.</a:t>
            </a:r>
            <a:endParaRPr lang="en-US" sz="1150" dirty="0"/>
          </a:p>
        </p:txBody>
      </p:sp>
      <p:sp>
        <p:nvSpPr>
          <p:cNvPr id="11" name="stat card"/>
          <p:cNvSpPr/>
          <p:nvPr/>
        </p:nvSpPr>
        <p:spPr>
          <a:xfrm>
            <a:off x="8641080" y="3995928"/>
            <a:ext cx="2743200" cy="1783080"/>
          </a:xfrm>
          <a:prstGeom prst="roundRect">
            <a:avLst>
              <a:gd name="adj" fmla="val 3077"/>
            </a:avLst>
          </a:prstGeom>
          <a:solidFill>
            <a:srgbClr val="FFFFFF"/>
          </a:solidFill>
          <a:ln w="9525">
            <a:solidFill>
              <a:srgbClr val="E6E6E6"/>
            </a:solidFill>
            <a:prstDash val="solid"/>
          </a:ln>
        </p:spPr>
      </p:sp>
      <p:sp>
        <p:nvSpPr>
          <p:cNvPr id="12" name="stat value"/>
          <p:cNvSpPr txBox="1"/>
          <p:nvPr/>
        </p:nvSpPr>
        <p:spPr>
          <a:xfrm>
            <a:off x="8842248" y="4178808"/>
            <a:ext cx="2340864" cy="457200"/>
          </a:xfrm>
          <a:prstGeom prst="rect">
            <a:avLst/>
          </a:prstGeom>
          <a:noFill/>
          <a:ln/>
        </p:spPr>
        <p:txBody>
          <a:bodyPr wrap="square" lIns="0" tIns="0" rIns="0" bIns="0" rtlCol="0" anchor="ctr"/>
          <a:lstStyle/>
          <a:p>
            <a:pPr indent="0" marL="0">
              <a:buNone/>
            </a:pPr>
            <a:r>
              <a:rPr lang="en-US" sz="2400" b="1" dirty="0">
                <a:solidFill>
                  <a:srgbClr val="31302E"/>
                </a:solidFill>
              </a:rPr>
              <a:t>3 of 4</a:t>
            </a:r>
            <a:endParaRPr lang="en-US" sz="2400" dirty="0"/>
          </a:p>
        </p:txBody>
      </p:sp>
      <p:sp>
        <p:nvSpPr>
          <p:cNvPr id="13" name="stat label"/>
          <p:cNvSpPr txBox="1"/>
          <p:nvPr/>
        </p:nvSpPr>
        <p:spPr>
          <a:xfrm>
            <a:off x="8842248" y="4654296"/>
            <a:ext cx="2340864" cy="1005840"/>
          </a:xfrm>
          <a:prstGeom prst="rect">
            <a:avLst/>
          </a:prstGeom>
          <a:noFill/>
          <a:ln/>
        </p:spPr>
        <p:txBody>
          <a:bodyPr wrap="square" lIns="0" tIns="0" rIns="0" bIns="0" rtlCol="0" anchor="t"/>
          <a:lstStyle/>
          <a:p>
            <a:pPr indent="0" marL="0">
              <a:buNone/>
            </a:pPr>
            <a:r>
              <a:rPr lang="en-US" sz="1150" dirty="0">
                <a:solidFill>
                  <a:srgbClr val="615D59"/>
                </a:solidFill>
              </a:rPr>
              <a:t>of the paper's orderings reproduce: RNA is the strongest single modality, all three beat the best single one, DNA with RNA beats DNA with protein.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1005840" y="795528"/>
            <a:ext cx="8229600" cy="274320"/>
          </a:xfrm>
          <a:prstGeom prst="rect">
            <a:avLst/>
          </a:prstGeom>
          <a:noFill/>
          <a:ln/>
        </p:spPr>
        <p:txBody>
          <a:bodyPr wrap="square" lIns="0" tIns="0" rIns="0" bIns="0" rtlCol="0" anchor="ctr"/>
          <a:lstStyle/>
          <a:p>
            <a:pPr indent="0" marL="0">
              <a:buNone/>
            </a:pPr>
            <a:r>
              <a:rPr lang="en-US" sz="1200" dirty="0">
                <a:solidFill>
                  <a:schemeClr val="accent2"/>
                </a:solidFill>
              </a:rPr>
              <a:t>What it adds up to · and what we need from you</a:t>
            </a:r>
            <a:endParaRPr lang="en-US" sz="1200" dirty="0"/>
          </a:p>
        </p:txBody>
      </p:sp>
      <p:sp>
        <p:nvSpPr>
          <p:cNvPr id="3" name="Text 0"/>
          <p:cNvSpPr/>
          <p:nvPr>
            <p:ph idx="102" type="title" hasCustomPrompt="1"/>
          </p:nvPr>
        </p:nvSpPr>
        <p:spPr>
          <a:xfrm>
            <a:off x="813816" y="1152144"/>
            <a:ext cx="10881360" cy="822960"/>
          </a:xfrm>
          <a:prstGeom prst="rect">
            <a:avLst/>
          </a:prstGeom>
          <a:noFill/>
          <a:ln/>
        </p:spPr>
        <p:txBody>
          <a:bodyPr wrap="square" lIns="0" tIns="0" rIns="0" bIns="0" rtlCol="0" anchor="t"/>
          <a:lstStyle/>
          <a:p>
            <a:pPr algn="l" indent="0" marL="0">
              <a:buNone/>
            </a:pPr>
            <a:r>
              <a:rPr lang="en-US" sz="2500" b="1" dirty="0">
                <a:solidFill>
                  <a:schemeClr val="tx1"/>
                </a:solidFill>
              </a:rPr>
              <a:t>The reproduction is faithful, the paper's fusion gains are task-dependent, and the next runs are queued</a:t>
            </a:r>
            <a:endParaRPr lang="en-US" sz="2500" dirty="0"/>
          </a:p>
        </p:txBody>
      </p:sp>
      <p:sp>
        <p:nvSpPr>
          <p:cNvPr id="4" name="Text 0"/>
          <p:cNvSpPr/>
          <p:nvPr>
            <p:ph idx="103" type="body" hasCustomPrompt="1"/>
          </p:nvPr>
        </p:nvSpPr>
        <p:spPr>
          <a:xfrm>
            <a:off x="813816" y="5989320"/>
            <a:ext cx="10881360" cy="502920"/>
          </a:xfrm>
          <a:prstGeom prst="rect">
            <a:avLst/>
          </a:prstGeom>
          <a:noFill/>
          <a:ln/>
        </p:spPr>
        <p:txBody>
          <a:bodyPr wrap="square" lIns="0" tIns="0" rIns="0" bIns="0" rtlCol="0" anchor="t"/>
          <a:lstStyle/>
          <a:p>
            <a:pPr indent="0" marL="0">
              <a:buNone/>
            </a:pPr>
            <a:r>
              <a:rPr lang="en-US" sz="1150" dirty="0">
                <a:solidFill>
                  <a:schemeClr val="accent2"/>
                </a:solidFill>
              </a:rPr>
              <a:t>Open checks, in order: the gated head at 1,280 channels on CoV-Vac and E. coli; the sequence-grouped stability re-split with seeds; the grid ablation for E. coli's concatenation; LucaOne on stability; the half-life and translation-efficiency gate.</a:t>
            </a:r>
            <a:endParaRPr lang="en-US" sz="1150" dirty="0"/>
          </a:p>
        </p:txBody>
      </p:sp>
      <p:sp>
        <p:nvSpPr>
          <p:cNvPr id="5" name="summary card"/>
          <p:cNvSpPr/>
          <p:nvPr/>
        </p:nvSpPr>
        <p:spPr>
          <a:xfrm>
            <a:off x="813816" y="2029968"/>
            <a:ext cx="5193792" cy="3794760"/>
          </a:xfrm>
          <a:prstGeom prst="roundRect">
            <a:avLst>
              <a:gd name="adj" fmla="val 1446"/>
            </a:avLst>
          </a:prstGeom>
          <a:solidFill>
            <a:srgbClr val="FFFFFF"/>
          </a:solidFill>
          <a:ln w="9525">
            <a:solidFill>
              <a:srgbClr val="E6E6E6"/>
            </a:solidFill>
            <a:prstDash val="solid"/>
          </a:ln>
        </p:spPr>
      </p:sp>
      <p:sp>
        <p:nvSpPr>
          <p:cNvPr id="6" name="summary head"/>
          <p:cNvSpPr txBox="1"/>
          <p:nvPr/>
        </p:nvSpPr>
        <p:spPr>
          <a:xfrm>
            <a:off x="1051560" y="2194560"/>
            <a:ext cx="4846320" cy="274320"/>
          </a:xfrm>
          <a:prstGeom prst="rect">
            <a:avLst/>
          </a:prstGeom>
          <a:noFill/>
          <a:ln/>
        </p:spPr>
        <p:txBody>
          <a:bodyPr wrap="square" lIns="0" tIns="0" rIns="0" bIns="0" rtlCol="0" anchor="ctr"/>
          <a:lstStyle/>
          <a:p>
            <a:pPr indent="0" marL="0">
              <a:buNone/>
            </a:pPr>
            <a:r>
              <a:rPr lang="en-US" sz="1300" b="1" dirty="0">
                <a:solidFill>
                  <a:srgbClr val="31302E"/>
                </a:solidFill>
              </a:rPr>
              <a:t>What it adds up to</a:t>
            </a:r>
            <a:endParaRPr lang="en-US" sz="1300" dirty="0"/>
          </a:p>
        </p:txBody>
      </p:sp>
      <p:sp>
        <p:nvSpPr>
          <p:cNvPr id="7" name="summary bullets"/>
          <p:cNvSpPr txBox="1"/>
          <p:nvPr/>
        </p:nvSpPr>
        <p:spPr>
          <a:xfrm>
            <a:off x="1115568" y="2542032"/>
            <a:ext cx="4754880" cy="32004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31302E"/>
                </a:solidFill>
              </a:rPr>
              <a:t>The build is right. Single encoders within 0.01 of the paper, cross-attention within 0.01 (half a point on E. coli) of its published value on all four benchmarks.</a:t>
            </a:r>
            <a:endParaRPr lang="en-US" sz="1200" dirty="0"/>
          </a:p>
          <a:p>
            <a:pPr marL="152400" indent="-152400">
              <a:spcAft>
                <a:spcPts val="600"/>
              </a:spcAft>
              <a:buSzPct val="100000"/>
              <a:buChar char="•"/>
            </a:pPr>
            <a:r>
              <a:rPr lang="en-US" sz="1200" dirty="0">
                <a:solidFill>
                  <a:srgbClr val="31302E"/>
                </a:solidFill>
              </a:rPr>
              <a:t>A single well-chosen encoder is a much stronger baseline than the paper makes it look, and the paper reports no error bars that would show which of its gains resolve.</a:t>
            </a:r>
            <a:endParaRPr lang="en-US" sz="1200" dirty="0"/>
          </a:p>
          <a:p>
            <a:pPr marL="152400" indent="-152400">
              <a:spcAft>
                <a:spcPts val="600"/>
              </a:spcAft>
              <a:buSzPct val="100000"/>
              <a:buChar char="•"/>
            </a:pPr>
            <a:r>
              <a:rPr lang="en-US" sz="1200" dirty="0">
                <a:solidFill>
                  <a:srgbClr val="31302E"/>
                </a:solidFill>
              </a:rPr>
              <a:t>The gated head is a selector, not a mixer; its weights are not the interpretability readout the paper presents.</a:t>
            </a:r>
            <a:endParaRPr lang="en-US" sz="1200" dirty="0"/>
          </a:p>
          <a:p>
            <a:pPr marL="152400" indent="-152400">
              <a:spcAft>
                <a:spcPts val="600"/>
              </a:spcAft>
              <a:buSzPct val="100000"/>
              <a:buChar char="•"/>
            </a:pPr>
            <a:r>
              <a:rPr lang="en-US" sz="1200" dirty="0">
                <a:solidFill>
                  <a:srgbClr val="31302E"/>
                </a:solidFill>
              </a:rPr>
              <a:t>The stability benchmark overstates every model by about 0.2 through repeated sequences, and may hide a real fusion gain.</a:t>
            </a:r>
            <a:endParaRPr lang="en-US" sz="1200" dirty="0"/>
          </a:p>
          <a:p>
            <a:pPr marL="152400" indent="-152400">
              <a:spcAft>
                <a:spcPts val="600"/>
              </a:spcAft>
              <a:buSzPct val="100000"/>
              <a:buChar char="•"/>
            </a:pPr>
            <a:r>
              <a:rPr lang="en-US" sz="1200" dirty="0">
                <a:solidFill>
                  <a:srgbClr val="31302E"/>
                </a:solidFill>
              </a:rPr>
              <a:t>Codon-level RNA encoders, above all mRNA-FM, carry the most synonymous-codon information: what Stage 1 said the codon-with-protein pairs should fuse. Phase B tests it.</a:t>
            </a:r>
            <a:endParaRPr lang="en-US" sz="1200" dirty="0"/>
          </a:p>
        </p:txBody>
      </p:sp>
      <p:sp>
        <p:nvSpPr>
          <p:cNvPr id="8" name="questions card"/>
          <p:cNvSpPr/>
          <p:nvPr/>
        </p:nvSpPr>
        <p:spPr>
          <a:xfrm>
            <a:off x="6190488" y="2029968"/>
            <a:ext cx="5193792" cy="3794760"/>
          </a:xfrm>
          <a:prstGeom prst="roundRect">
            <a:avLst>
              <a:gd name="adj" fmla="val 1446"/>
            </a:avLst>
          </a:prstGeom>
          <a:solidFill>
            <a:srgbClr val="213183"/>
          </a:solidFill>
          <a:ln w="9525">
            <a:solidFill>
              <a:srgbClr val="213183"/>
            </a:solidFill>
            <a:prstDash val="solid"/>
          </a:ln>
        </p:spPr>
      </p:sp>
      <p:sp>
        <p:nvSpPr>
          <p:cNvPr id="9" name="questions head"/>
          <p:cNvSpPr txBox="1"/>
          <p:nvPr/>
        </p:nvSpPr>
        <p:spPr>
          <a:xfrm>
            <a:off x="6419088" y="2194560"/>
            <a:ext cx="4846320" cy="274320"/>
          </a:xfrm>
          <a:prstGeom prst="rect">
            <a:avLst/>
          </a:prstGeom>
          <a:noFill/>
          <a:ln/>
        </p:spPr>
        <p:txBody>
          <a:bodyPr wrap="square" lIns="0" tIns="0" rIns="0" bIns="0" rtlCol="0" anchor="ctr"/>
          <a:lstStyle/>
          <a:p>
            <a:pPr indent="0" marL="0">
              <a:buNone/>
            </a:pPr>
            <a:r>
              <a:rPr lang="en-US" sz="1300" b="1" dirty="0">
                <a:solidFill>
                  <a:srgbClr val="FFFFFF"/>
                </a:solidFill>
              </a:rPr>
              <a:t>Questions for you</a:t>
            </a:r>
            <a:endParaRPr lang="en-US" sz="1300" dirty="0"/>
          </a:p>
        </p:txBody>
      </p:sp>
      <p:sp>
        <p:nvSpPr>
          <p:cNvPr id="10" name="questions bullets"/>
          <p:cNvSpPr txBox="1"/>
          <p:nvPr/>
        </p:nvSpPr>
        <p:spPr>
          <a:xfrm>
            <a:off x="6483096" y="2542032"/>
            <a:ext cx="4754880" cy="32004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FFFFFF"/>
                </a:solidFill>
              </a:rPr>
              <a:t>Ab1: the fifth benchmark is Yazdani-Jahromi et al. (UCF) and not public. Can it be obtained?</a:t>
            </a:r>
            <a:endParaRPr lang="en-US" sz="1200" dirty="0"/>
          </a:p>
          <a:p>
            <a:pPr marL="152400" indent="-152400">
              <a:spcAft>
                <a:spcPts val="600"/>
              </a:spcAft>
              <a:buSzPct val="100000"/>
              <a:buChar char="•"/>
            </a:pPr>
            <a:r>
              <a:rPr lang="en-US" sz="1200" dirty="0">
                <a:solidFill>
                  <a:srgbClr val="FFFFFF"/>
                </a:solidFill>
              </a:rPr>
              <a:t>Is seeds plus a paired bootstrap the reporting standard for everything that follows?</a:t>
            </a:r>
            <a:endParaRPr lang="en-US" sz="1200" dirty="0"/>
          </a:p>
          <a:p>
            <a:pPr marL="152400" indent="-152400">
              <a:spcAft>
                <a:spcPts val="600"/>
              </a:spcAft>
              <a:buSzPct val="100000"/>
              <a:buChar char="•"/>
            </a:pPr>
            <a:r>
              <a:rPr lang="en-US" sz="1200" dirty="0">
                <a:solidFill>
                  <a:srgbClr val="FFFFFF"/>
                </a:solidFill>
              </a:rPr>
              <a:t>Does the alignment framing (agreement on what the central dogma shares, beyond composition, nothing imposed on the rest) match what the plan means?</a:t>
            </a:r>
            <a:endParaRPr lang="en-US" sz="1200" dirty="0"/>
          </a:p>
          <a:p>
            <a:pPr marL="152400" indent="-152400">
              <a:spcAft>
                <a:spcPts val="600"/>
              </a:spcAft>
              <a:buSzPct val="100000"/>
              <a:buChar char="•"/>
            </a:pPr>
            <a:r>
              <a:rPr lang="en-US" sz="1200" dirty="0">
                <a:solidFill>
                  <a:srgbClr val="FFFFFF"/>
                </a:solidFill>
              </a:rPr>
              <a:t>GPU access: Coupled Mamba needs CUDA, and stability took 19 hours on a laptop. Chase has a desktop GPU; is the cluster available too?</a:t>
            </a:r>
            <a:endParaRPr lang="en-US" sz="1200" dirty="0"/>
          </a:p>
          <a:p>
            <a:pPr marL="152400" indent="-152400">
              <a:spcAft>
                <a:spcPts val="600"/>
              </a:spcAft>
              <a:buSzPct val="100000"/>
              <a:buChar char="•"/>
            </a:pPr>
            <a:r>
              <a:rPr lang="en-US" sz="1200" dirty="0">
                <a:solidFill>
                  <a:srgbClr val="FFFFFF"/>
                </a:solidFill>
              </a:rPr>
              <a:t>LucaOne: is a stability-only baseline worth 1.8 billion parameters of inference?</a:t>
            </a:r>
            <a:endParaRPr lang="en-US" sz="1200" dirty="0"/>
          </a:p>
          <a:p>
            <a:pPr marL="152400" indent="-152400">
              <a:spcAft>
                <a:spcPts val="600"/>
              </a:spcAft>
              <a:buSzPct val="100000"/>
              <a:buChar char="•"/>
            </a:pPr>
            <a:r>
              <a:rPr lang="en-US" sz="1200" dirty="0">
                <a:solidFill>
                  <a:srgbClr val="FFFFFF"/>
                </a:solidFill>
              </a:rPr>
              <a:t>Distillation teachers: which two DNA encoders and which RNA encoder join the twelve?</a:t>
            </a:r>
            <a:endParaRPr lang="en-US" sz="1200" dirty="0"/>
          </a:p>
        </p:txBody>
      </p:sp>
    </p:spTree>
  </p:cSld>
  <p:clrMapOvr>
    <a:masterClrMapping/>
  </p:clrMapOvr>
</p:sld>
</file>

<file path=ppt/theme/theme1.xml><?xml version="1.0" encoding="utf-8"?>
<a:theme xmlns:a="http://schemas.openxmlformats.org/drawingml/2006/main" name="multimodal-bio-fusion progress">
  <a:themeElements>
    <a:clrScheme name="multimodal-bio-fusion progress">
      <a:dk1>
        <a:srgbClr val="000000"/>
      </a:dk1>
      <a:lt1>
        <a:srgbClr val="FFFFFF"/>
      </a:lt1>
      <a:dk2>
        <a:srgbClr val="31302E"/>
      </a:dk2>
      <a:lt2>
        <a:srgbClr val="F6F5F4"/>
      </a:lt2>
      <a:accent1>
        <a:srgbClr val="213183"/>
      </a:accent1>
      <a:accent2>
        <a:srgbClr val="615D59"/>
      </a:accent2>
      <a:accent3>
        <a:srgbClr val="CBCBCB"/>
      </a:accent3>
      <a:accent4>
        <a:srgbClr val="E6E6E6"/>
      </a:accent4>
      <a:accent5>
        <a:srgbClr val="DCA323"/>
      </a:accent5>
      <a:accent6>
        <a:srgbClr val="2F7A4D"/>
      </a:accent6>
      <a:hlink>
        <a:srgbClr val="213183"/>
      </a:hlink>
      <a:folHlink>
        <a:srgbClr val="213183"/>
      </a:folHlink>
    </a:clrScheme>
    <a:fontScheme name="multimodal-bio-fusion progres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since October 7</dc:title>
  <dc:subject>PptxGenJS Presentation</dc:subject>
  <dc:creator>Julian McKinley and Chase Di Maria Breisinger</dc:creator>
  <cp:lastModifiedBy>Julian McKinley and Chase Di Maria Breisinger</cp:lastModifiedBy>
  <cp:revision>1</cp:revision>
  <dcterms:created xsi:type="dcterms:W3CDTF">2026-10-21T22:00:28Z</dcterms:created>
  <dcterms:modified xsi:type="dcterms:W3CDTF">2026-10-21T22:00:28Z</dcterms:modified>
</cp:coreProperties>
</file>