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1302E"/>
                </a:solidFill>
                <a:latin typeface="+mn-lt"/>
              </a:defRPr>
            </a:pPr>
            <a:r>
              <a:rPr sz="1200" b="0" i="0" u="none" strike="noStrike">
                <a:solidFill>
                  <a:srgbClr val="31302E"/>
                </a:solidFill>
                <a:latin typeface="+mn-lt"/>
              </a:rPr>
              <a:t>Test Spearman, mRNA stability, seed 0</a:t>
            </a:r>
          </a:p>
        </c:rich>
      </c:tx>
      <c:layout/>
      <c:overlay val="0"/>
    </c:title>
    <c:autoTitleDeleted val="0"/>
    <c:plotArea>
      <c:layout/>
      <c:barChart>
        <c:barDir val="col"/>
        <c:grouping val="clustered"/>
        <c:varyColors val="0"/>
        <c:ser>
          <c:idx val="0"/>
          <c:order val="0"/>
          <c:tx>
            <c:strRef>
              <c:f>Sheet1!$B$1</c:f>
              <c:strCache>
                <c:ptCount val="1"/>
                <c:pt idx="0">
                  <c:v>Published test split</c:v>
                </c:pt>
              </c:strCache>
            </c:strRef>
          </c:tx>
          <c:spPr>
            <a:solidFill>
              <a:srgbClr val="CBCBCB"/>
            </a:solidFill>
            <a:effectLst/>
          </c:spPr>
          <c:invertIfNegative val="0"/>
          <c:dLbls>
            <c:numFmt formatCode="0.000" sourceLinked="0"/>
            <c:txPr>
              <a:bodyPr/>
              <a:lstStyle/>
              <a:p>
                <a:pPr>
                  <a:defRPr b="0" i="0" strike="noStrike" sz="900" u="none">
                    <a:solidFill>
                      <a:srgbClr val="31302E"/>
                    </a:solidFill>
                    <a:latin typeface="+mn-lt"/>
                  </a:defRPr>
                </a:pPr>
              </a:p>
            </c:txPr>
            <c:showLegendKey val="0"/>
            <c:showVal val="1"/>
            <c:showCatName val="0"/>
            <c:showSerName val="0"/>
            <c:showPercent val="0"/>
            <c:showBubbleSize val="0"/>
            <c:showLeaderLines val="0"/>
          </c:dLbls>
          <c:cat>
            <c:multiLvlStrRef>
              <c:f>Sheet1!$A$2:$A$8</c:f>
              <c:multiLvlStrCache>
                <c:ptCount val="7"/>
                <c:lvl>
                  <c:pt idx="0">
                    <c:v>NT alone</c:v>
                  </c:pt>
                  <c:pt idx="1">
                    <c:v>RNA-FM alone</c:v>
                  </c:pt>
                  <c:pt idx="2">
                    <c:v>RNA-FM on grid</c:v>
                  </c:pt>
                  <c:pt idx="3">
                    <c:v>ESM-2 alone</c:v>
                  </c:pt>
                  <c:pt idx="4">
                    <c:v>Concatenation</c:v>
                  </c:pt>
                  <c:pt idx="5">
                    <c:v>Gated MIL</c:v>
                  </c:pt>
                  <c:pt idx="6">
                    <c:v>Cross-attention</c:v>
                  </c:pt>
                </c:lvl>
              </c:multiLvlStrCache>
            </c:multiLvlStrRef>
          </c:cat>
          <c:val>
            <c:numRef>
              <c:f>Sheet1!$B$2:$B$8</c:f>
              <c:numCache>
                <c:formatCode>General</c:formatCode>
                <c:ptCount val="7"/>
                <c:pt idx="0">
                  <c:v>0.539</c:v>
                </c:pt>
                <c:pt idx="1">
                  <c:v>0.552</c:v>
                </c:pt>
                <c:pt idx="2">
                  <c:v>0.547</c:v>
                </c:pt>
                <c:pt idx="3">
                  <c:v>0.531</c:v>
                </c:pt>
                <c:pt idx="4">
                  <c:v>0.558</c:v>
                </c:pt>
                <c:pt idx="5">
                  <c:v>0.551</c:v>
                </c:pt>
                <c:pt idx="6">
                  <c:v>0.553</c:v>
                </c:pt>
              </c:numCache>
            </c:numRef>
          </c:val>
        </c:ser>
        <c:ser>
          <c:idx val="1"/>
          <c:order val="1"/>
          <c:tx>
            <c:strRef>
              <c:f>Sheet1!$C$1</c:f>
              <c:strCache>
                <c:ptCount val="1"/>
                <c:pt idx="0">
                  <c:v>Unseen sequences</c:v>
                </c:pt>
              </c:strCache>
            </c:strRef>
          </c:tx>
          <c:spPr>
            <a:solidFill>
              <a:srgbClr val="213183"/>
            </a:solidFill>
            <a:effectLst/>
          </c:spPr>
          <c:invertIfNegative val="0"/>
          <c:dLbls>
            <c:numFmt formatCode="0.000" sourceLinked="0"/>
            <c:txPr>
              <a:bodyPr/>
              <a:lstStyle/>
              <a:p>
                <a:pPr>
                  <a:defRPr b="0" i="0" strike="noStrike" sz="900" u="none">
                    <a:solidFill>
                      <a:srgbClr val="31302E"/>
                    </a:solidFill>
                    <a:latin typeface="+mn-lt"/>
                  </a:defRPr>
                </a:pPr>
              </a:p>
            </c:txPr>
            <c:showLegendKey val="0"/>
            <c:showVal val="1"/>
            <c:showCatName val="0"/>
            <c:showSerName val="0"/>
            <c:showPercent val="0"/>
            <c:showBubbleSize val="0"/>
            <c:showLeaderLines val="0"/>
          </c:dLbls>
          <c:cat>
            <c:multiLvlStrRef>
              <c:f>Sheet1!$A$2:$A$8</c:f>
              <c:multiLvlStrCache>
                <c:ptCount val="7"/>
                <c:lvl>
                  <c:pt idx="0">
                    <c:v>NT alone</c:v>
                  </c:pt>
                  <c:pt idx="1">
                    <c:v>RNA-FM alone</c:v>
                  </c:pt>
                  <c:pt idx="2">
                    <c:v>RNA-FM on grid</c:v>
                  </c:pt>
                  <c:pt idx="3">
                    <c:v>ESM-2 alone</c:v>
                  </c:pt>
                  <c:pt idx="4">
                    <c:v>Concatenation</c:v>
                  </c:pt>
                  <c:pt idx="5">
                    <c:v>Gated MIL</c:v>
                  </c:pt>
                  <c:pt idx="6">
                    <c:v>Cross-attention</c:v>
                  </c:pt>
                </c:lvl>
              </c:multiLvlStrCache>
            </c:multiLvlStrRef>
          </c:cat>
          <c:val>
            <c:numRef>
              <c:f>Sheet1!$C$2:$C$8</c:f>
              <c:numCache>
                <c:formatCode>General</c:formatCode>
                <c:ptCount val="7"/>
                <c:pt idx="0">
                  <c:v>0.266</c:v>
                </c:pt>
                <c:pt idx="1">
                  <c:v>0.319</c:v>
                </c:pt>
                <c:pt idx="2">
                  <c:v>0.34</c:v>
                </c:pt>
                <c:pt idx="3">
                  <c:v>0.314</c:v>
                </c:pt>
                <c:pt idx="4">
                  <c:v>0.359</c:v>
                </c:pt>
                <c:pt idx="5">
                  <c:v>0.353</c:v>
                </c:pt>
                <c:pt idx="6">
                  <c:v>0.347</c:v>
                </c:pt>
              </c:numCache>
            </c:numRef>
          </c:val>
        </c:ser>
        <c:dLbls>
          <c:numFmt formatCode="0.000" sourceLinked="0"/>
          <c:txPr>
            <a:bodyPr/>
            <a:lstStyle/>
            <a:p>
              <a:pPr>
                <a:defRPr b="0" i="0" strike="noStrike" sz="900" u="none">
                  <a:solidFill>
                    <a:srgbClr val="3130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1302E"/>
                </a:solidFill>
                <a:latin typeface="+mn-lt"/>
              </a:defRPr>
            </a:pPr>
            <a:endParaRPr lang="en-US"/>
          </a:p>
        </c:txPr>
        <c:crossAx val="2094734552"/>
        <c:crosses val="autoZero"/>
        <c:auto val="1"/>
        <c:lblAlgn val="ctr"/>
        <c:noMultiLvlLbl val="1"/>
      </c:catAx>
      <c:valAx>
        <c:axId val="2094734552"/>
        <c:scaling>
          <c:orientation val="minMax"/>
          <c:max val="0.65"/>
          <c:min val="0"/>
        </c:scaling>
        <c:delete val="0"/>
        <c:axPos val="l"/>
        <c:majorGridlines>
          <c:spPr>
            <a:ln w="6350" cap="flat">
              <a:solidFill>
                <a:srgbClr val="E6E6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15D59"/>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100">
              <a:solidFill>
                <a:srgbClr val="3130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1302E"/>
                </a:solidFill>
                <a:latin typeface="+mn-lt"/>
              </a:defRPr>
            </a:pPr>
            <a:r>
              <a:rPr sz="1200" b="0" i="0" u="none" strike="noStrike">
                <a:solidFill>
                  <a:srgbClr val="31302E"/>
                </a:solidFill>
                <a:latin typeface="+mn-lt"/>
              </a:rPr>
              <a:t>Held-out R² added above every control, mRFP expression</a:t>
            </a:r>
          </a:p>
        </c:rich>
      </c:tx>
      <c:layout/>
      <c:overlay val="0"/>
    </c:title>
    <c:autoTitleDeleted val="0"/>
    <c:plotArea>
      <c:layout/>
      <c:barChart>
        <c:barDir val="bar"/>
        <c:grouping val="clustered"/>
        <c:varyColors val="0"/>
        <c:ser>
          <c:idx val="0"/>
          <c:order val="0"/>
          <c:tx>
            <c:strRef>
              <c:f>Sheet1!$B$1</c:f>
              <c:strCache>
                <c:ptCount val="1"/>
                <c:pt idx="0">
                  <c:v>Gain over all controls</c:v>
                </c:pt>
              </c:strCache>
            </c:strRef>
          </c:tx>
          <c:spPr>
            <a:solidFill>
              <a:srgbClr val="213183"/>
            </a:solidFill>
            <a:effectLst/>
          </c:spPr>
          <c:invertIfNegative val="0"/>
          <c:dLbls>
            <c:numFmt formatCode="+0.000;-0.000;0.000" sourceLinked="0"/>
            <c:txPr>
              <a:bodyPr/>
              <a:lstStyle/>
              <a:p>
                <a:pPr>
                  <a:defRPr b="0" i="0" strike="noStrike" sz="1000" u="none">
                    <a:solidFill>
                      <a:srgbClr val="31302E"/>
                    </a:solidFill>
                    <a:latin typeface="+mn-lt"/>
                  </a:defRPr>
                </a:pPr>
              </a:p>
            </c:txPr>
            <c:showLegendKey val="0"/>
            <c:showVal val="1"/>
            <c:showCatName val="0"/>
            <c:showSerName val="0"/>
            <c:showPercent val="0"/>
            <c:showBubbleSize val="0"/>
            <c:showLeaderLines val="0"/>
          </c:dLbls>
          <c:cat>
            <c:multiLvlStrRef>
              <c:f>Sheet1!$A$2:$A$10</c:f>
              <c:multiLvlStrCache>
                <c:ptCount val="9"/>
                <c:lvl>
                  <c:pt idx="0">
                    <c:v>mRNA-FM</c:v>
                  </c:pt>
                  <c:pt idx="1">
                    <c:v>NT 500M</c:v>
                  </c:pt>
                  <c:pt idx="2">
                    <c:v>RiNALMo</c:v>
                  </c:pt>
                  <c:pt idx="3">
                    <c:v>HyenaDNA</c:v>
                  </c:pt>
                  <c:pt idx="4">
                    <c:v>NT v2 100M</c:v>
                  </c:pt>
                  <c:pt idx="5">
                    <c:v>DNABERT-2</c:v>
                  </c:pt>
                  <c:pt idx="6">
                    <c:v>CaLM</c:v>
                  </c:pt>
                  <c:pt idx="7">
                    <c:v>RNA-FM</c:v>
                  </c:pt>
                  <c:pt idx="8">
                    <c:v>Protein encoders (4)</c:v>
                  </c:pt>
                </c:lvl>
              </c:multiLvlStrCache>
            </c:multiLvlStrRef>
          </c:cat>
          <c:val>
            <c:numRef>
              <c:f>Sheet1!$B$2:$B$10</c:f>
              <c:numCache>
                <c:formatCode>General</c:formatCode>
                <c:ptCount val="9"/>
                <c:pt idx="0">
                  <c:v>0.182</c:v>
                </c:pt>
                <c:pt idx="1">
                  <c:v>0.076</c:v>
                </c:pt>
                <c:pt idx="2">
                  <c:v>0.049</c:v>
                </c:pt>
                <c:pt idx="3">
                  <c:v>0.036</c:v>
                </c:pt>
                <c:pt idx="4">
                  <c:v>0.029</c:v>
                </c:pt>
                <c:pt idx="5">
                  <c:v>0.026</c:v>
                </c:pt>
                <c:pt idx="6">
                  <c:v>0.022</c:v>
                </c:pt>
                <c:pt idx="7">
                  <c:v>0.021</c:v>
                </c:pt>
                <c:pt idx="8">
                  <c:v>0</c:v>
                </c:pt>
              </c:numCache>
            </c:numRef>
          </c:val>
        </c:ser>
        <c:dLbls>
          <c:numFmt formatCode="+0.000;-0.000;0.000" sourceLinked="0"/>
          <c:txPr>
            <a:bodyPr/>
            <a:lstStyle/>
            <a:p>
              <a:pPr>
                <a:defRPr b="0" i="0" strike="noStrike" sz="1000" u="none">
                  <a:solidFill>
                    <a:srgbClr val="313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1302E"/>
                </a:solidFill>
                <a:latin typeface="+mn-lt"/>
              </a:defRPr>
            </a:pPr>
            <a:endParaRPr lang="en-US"/>
          </a:p>
        </c:txPr>
        <c:crossAx val="2094734552"/>
        <c:crosses val="autoZero"/>
        <c:auto val="1"/>
        <c:lblAlgn val="ctr"/>
        <c:noMultiLvlLbl val="1"/>
      </c:catAx>
      <c:valAx>
        <c:axId val="2094734552"/>
        <c:scaling>
          <c:orientation val="minMax"/>
          <c:max val="0.2"/>
          <c:min val="0"/>
        </c:scaling>
        <c:delete val="0"/>
        <c:axPos val="b"/>
        <c:majorGridlines>
          <c:spPr>
            <a:ln w="6350" cap="flat">
              <a:solidFill>
                <a:srgbClr val="E6E6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15D59"/>
                </a:solidFill>
                <a:latin typeface="+mn-lt"/>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1302E"/>
                </a:solidFill>
                <a:latin typeface="+mn-lt"/>
              </a:defRPr>
            </a:pPr>
            <a:r>
              <a:rPr sz="1200" b="0" i="0" u="none" strike="noStrike">
                <a:solidFill>
                  <a:srgbClr val="31302E"/>
                </a:solidFill>
                <a:latin typeface="+mn-lt"/>
              </a:rPr>
              <a:t>Probe Spearman on mRNA stability, published test split</a:t>
            </a:r>
          </a:p>
        </c:rich>
      </c:tx>
      <c:layout/>
      <c:overlay val="0"/>
    </c:title>
    <c:autoTitleDeleted val="0"/>
    <c:plotArea>
      <c:layout/>
      <c:barChart>
        <c:barDir val="col"/>
        <c:grouping val="clustered"/>
        <c:varyColors val="0"/>
        <c:ser>
          <c:idx val="0"/>
          <c:order val="0"/>
          <c:tx>
            <c:strRef>
              <c:f>Sheet1!$B$1</c:f>
              <c:strCache>
                <c:ptCount val="1"/>
                <c:pt idx="0">
                  <c:v>Probe Spearman</c:v>
                </c:pt>
              </c:strCache>
            </c:strRef>
          </c:tx>
          <c:spPr>
            <a:solidFill>
              <a:srgbClr val="213183"/>
            </a:solidFill>
            <a:effectLst/>
          </c:spPr>
          <c:invertIfNegative val="0"/>
          <c:dLbls>
            <c:numFmt formatCode="0.000" sourceLinked="0"/>
            <c:txPr>
              <a:bodyPr/>
              <a:lstStyle/>
              <a:p>
                <a:pPr>
                  <a:defRPr b="0" i="0" strike="noStrike" sz="1000" u="none">
                    <a:solidFill>
                      <a:srgbClr val="31302E"/>
                    </a:solidFill>
                    <a:latin typeface="+mn-lt"/>
                  </a:defRPr>
                </a:pPr>
              </a:p>
            </c:txPr>
            <c:showLegendKey val="0"/>
            <c:showVal val="1"/>
            <c:showCatName val="0"/>
            <c:showSerName val="0"/>
            <c:showPercent val="0"/>
            <c:showBubbleSize val="0"/>
            <c:showLeaderLines val="0"/>
          </c:dLbls>
          <c:cat>
            <c:multiLvlStrRef>
              <c:f>Sheet1!$A$2:$A$9</c:f>
              <c:multiLvlStrCache>
                <c:ptCount val="8"/>
                <c:lvl>
                  <c:pt idx="0">
                    <c:v>Composition</c:v>
                  </c:pt>
                  <c:pt idx="1">
                    <c:v>NT v2 100M</c:v>
                  </c:pt>
                  <c:pt idx="2">
                    <c:v>RNA-FM</c:v>
                  </c:pt>
                  <c:pt idx="3">
                    <c:v>ESM-2 8M</c:v>
                  </c:pt>
                  <c:pt idx="4">
                    <c:v>BLF three fused</c:v>
                  </c:pt>
                  <c:pt idx="5">
                    <c:v>LucaOne gene</c:v>
                  </c:pt>
                  <c:pt idx="6">
                    <c:v>LucaOne protein</c:v>
                  </c:pt>
                  <c:pt idx="7">
                    <c:v>LucaOne both</c:v>
                  </c:pt>
                </c:lvl>
              </c:multiLvlStrCache>
            </c:multiLvlStrRef>
          </c:cat>
          <c:val>
            <c:numRef>
              <c:f>Sheet1!$B$2:$B$9</c:f>
              <c:numCache>
                <c:formatCode>General</c:formatCode>
                <c:ptCount val="8"/>
                <c:pt idx="0">
                  <c:v>0.283</c:v>
                </c:pt>
                <c:pt idx="1">
                  <c:v>0.312</c:v>
                </c:pt>
                <c:pt idx="2">
                  <c:v>0.308</c:v>
                </c:pt>
                <c:pt idx="3">
                  <c:v>0.309</c:v>
                </c:pt>
                <c:pt idx="4">
                  <c:v>0.39</c:v>
                </c:pt>
                <c:pt idx="5">
                  <c:v>0.443</c:v>
                </c:pt>
                <c:pt idx="6">
                  <c:v>0.401</c:v>
                </c:pt>
                <c:pt idx="7">
                  <c:v>0.483</c:v>
                </c:pt>
              </c:numCache>
            </c:numRef>
          </c:val>
        </c:ser>
        <c:dLbls>
          <c:numFmt formatCode="0.000" sourceLinked="0"/>
          <c:txPr>
            <a:bodyPr/>
            <a:lstStyle/>
            <a:p>
              <a:pPr>
                <a:defRPr b="0" i="0" strike="noStrike" sz="1000" u="none">
                  <a:solidFill>
                    <a:srgbClr val="31302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1302E"/>
                </a:solidFill>
                <a:latin typeface="+mn-lt"/>
              </a:defRPr>
            </a:pPr>
            <a:endParaRPr lang="en-US"/>
          </a:p>
        </c:txPr>
        <c:crossAx val="2094734552"/>
        <c:crosses val="autoZero"/>
        <c:auto val="1"/>
        <c:lblAlgn val="ctr"/>
        <c:noMultiLvlLbl val="1"/>
      </c:catAx>
      <c:valAx>
        <c:axId val="2094734552"/>
        <c:scaling>
          <c:orientation val="minMax"/>
          <c:max val="0.55"/>
          <c:min val="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15D59"/>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1318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813816"/>
            <a:ext cx="10881360" cy="237744"/>
          </a:xfrm>
          <a:prstGeom prst="rect">
            <a:avLst/>
          </a:prstGeom>
          <a:noFill/>
          <a:ln/>
        </p:spPr>
        <p:txBody>
          <a:bodyPr wrap="square" rtlCol="0"/>
          <a:lstStyle>
            <a:lvl1pPr indent="0" marL="0">
              <a:buNone/>
              <a:defRPr lang="en-US" sz="1200" dirty="0">
                <a:solidFill>
                  <a:schemeClr val="bg1"/>
                </a:solidFill>
              </a:defRPr>
            </a:lvl1pPr>
          </a:lstStyle>
          <a:p>
            <a:pPr indent="0" marL="0">
              <a:buNone/>
            </a:pPr>
            <a:endParaRPr lang="en-US" sz="1200" dirty="0"/>
          </a:p>
        </p:txBody>
      </p:sp>
      <p:sp>
        <p:nvSpPr>
          <p:cNvPr id="3" name="Text 0"/>
          <p:cNvSpPr/>
          <p:nvPr>
            <p:ph idx="101" type="title" hasCustomPrompt="1"/>
          </p:nvPr>
        </p:nvSpPr>
        <p:spPr>
          <a:xfrm>
            <a:off x="813816" y="2011680"/>
            <a:ext cx="1024128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813816" y="3611880"/>
            <a:ext cx="9509760" cy="91440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
        <p:nvSpPr>
          <p:cNvPr id="5" name="Text 0"/>
          <p:cNvSpPr/>
          <p:nvPr/>
        </p:nvSpPr>
        <p:spPr>
          <a:xfrm>
            <a:off x="813816" y="6236208"/>
            <a:ext cx="10881360" cy="237744"/>
          </a:xfrm>
          <a:prstGeom prst="rect">
            <a:avLst/>
          </a:prstGeom>
          <a:noFill/>
          <a:ln/>
        </p:spPr>
        <p:txBody>
          <a:bodyPr wrap="square" lIns="0" tIns="0" rIns="0" bIns="0" rtlCol="0" anchor="ctr"/>
          <a:lstStyle/>
          <a:p>
            <a:pPr indent="0" marL="0">
              <a:buNone/>
            </a:pPr>
            <a:r>
              <a:rPr lang="en-US" sz="1100" dirty="0">
                <a:solidFill>
                  <a:schemeClr val="bg1"/>
                </a:solidFill>
              </a:rPr>
              <a:t>Julian McKinley and Chase Di Maria Breisinger  |  MSDA AI Track, UCF  |  Full record: the Overleaf manuscript and docs/run-records.md</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5F4"/>
        </a:solidFill>
      </p:bgPr>
    </p:bg>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rtlCol="0"/>
          <a:lstStyle>
            <a:lvl1pPr indent="0" marL="0">
              <a:buNone/>
              <a:defRPr lang="en-US" sz="1200" dirty="0">
                <a:solidFill>
                  <a:schemeClr val="accent2"/>
                </a:solidFill>
              </a:defRPr>
            </a:lvl1pPr>
          </a:lstStyle>
          <a:p>
            <a:pPr indent="0" marL="0">
              <a:buNone/>
            </a:pP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rtlCol="0"/>
          <a:lstStyle>
            <a:lvl1pPr algn="l" indent="0" marL="0">
              <a:buNone/>
              <a:defRPr lang="en-US" sz="2500" b="1" dirty="0">
                <a:solidFill>
                  <a:schemeClr val="tx1"/>
                </a:solidFill>
              </a:defRPr>
            </a:lvl1pPr>
          </a:lstStyle>
          <a:p>
            <a:pPr algn="l" indent="0" marL="0">
              <a:buNone/>
            </a:pP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rtlCol="0"/>
          <a:lstStyle>
            <a:lvl1pPr indent="0" marL="0">
              <a:buNone/>
              <a:defRPr lang="en-US" sz="1150" dirty="0">
                <a:solidFill>
                  <a:schemeClr val="accent2"/>
                </a:solidFill>
              </a:defRPr>
            </a:lvl1pPr>
          </a:lstStyle>
          <a:p>
            <a:pPr indent="0" marL="0">
              <a:buNone/>
            </a:pPr>
            <a:endParaRPr lang="en-US" sz="11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3816" y="813816"/>
            <a:ext cx="10881360" cy="237744"/>
          </a:xfrm>
          <a:prstGeom prst="rect">
            <a:avLst/>
          </a:prstGeom>
          <a:noFill/>
          <a:ln/>
        </p:spPr>
        <p:txBody>
          <a:bodyPr wrap="square" lIns="0" tIns="0" rIns="0" bIns="0" rtlCol="0"/>
          <a:lstStyle/>
          <a:p>
            <a:pPr indent="0" marL="0">
              <a:buNone/>
            </a:pPr>
            <a:r>
              <a:rPr lang="en-US" sz="1200" dirty="0">
                <a:solidFill>
                  <a:schemeClr val="bg1"/>
                </a:solidFill>
              </a:rPr>
              <a:t>multimodal-bio-fusion  ·  Meeting with Mina Basirat  ·  October 22, 2026</a:t>
            </a:r>
            <a:endParaRPr lang="en-US" sz="1200" dirty="0"/>
          </a:p>
        </p:txBody>
      </p:sp>
      <p:sp>
        <p:nvSpPr>
          <p:cNvPr id="3" name="Text 0"/>
          <p:cNvSpPr/>
          <p:nvPr>
            <p:ph idx="101" type="title" hasCustomPrompt="1"/>
          </p:nvPr>
        </p:nvSpPr>
        <p:spPr>
          <a:xfrm>
            <a:off x="813816" y="2011680"/>
            <a:ext cx="10241280" cy="1463040"/>
          </a:xfrm>
          <a:prstGeom prst="rect">
            <a:avLst/>
          </a:prstGeom>
          <a:noFill/>
          <a:ln/>
        </p:spPr>
        <p:txBody>
          <a:bodyPr wrap="square" lIns="0" tIns="0" rIns="0" bIns="0" rtlCol="0" anchor="t"/>
          <a:lstStyle/>
          <a:p>
            <a:pPr algn="l" indent="0" marL="0">
              <a:buNone/>
            </a:pPr>
            <a:r>
              <a:rPr lang="en-US" sz="4000" b="1" dirty="0">
                <a:solidFill>
                  <a:schemeClr val="bg1"/>
                </a:solidFill>
              </a:rPr>
              <a:t>Progress since October 7: what was built, what ran, and what it found</a:t>
            </a:r>
            <a:endParaRPr lang="en-US" sz="4000" dirty="0"/>
          </a:p>
        </p:txBody>
      </p:sp>
      <p:sp>
        <p:nvSpPr>
          <p:cNvPr id="4" name="Text 0"/>
          <p:cNvSpPr/>
          <p:nvPr>
            <p:ph idx="102" type="body" hasCustomPrompt="1"/>
          </p:nvPr>
        </p:nvSpPr>
        <p:spPr>
          <a:xfrm>
            <a:off x="813816" y="3611880"/>
            <a:ext cx="9509760" cy="914400"/>
          </a:xfrm>
          <a:prstGeom prst="rect">
            <a:avLst/>
          </a:prstGeom>
          <a:noFill/>
          <a:ln/>
        </p:spPr>
        <p:txBody>
          <a:bodyPr wrap="square" lIns="0" tIns="0" rIns="0" bIns="0" rtlCol="0" anchor="t"/>
          <a:lstStyle/>
          <a:p>
            <a:pPr indent="0" marL="0">
              <a:buNone/>
            </a:pPr>
            <a:r>
              <a:rPr lang="en-US" sz="1600" dirty="0">
                <a:solidFill>
                  <a:schemeClr val="bg1"/>
                </a:solidFill>
              </a:rPr>
              <a:t>Every item of the research plan now has results except the remaining encoder swaps. The reproduction holds where it should. The paper's fusion gains hold on fewer tasks than they appeared to, because a better single encoder closes the largest of them.</a:t>
            </a:r>
            <a:endParaRPr lang="en-US" sz="1600" dirty="0"/>
          </a:p>
        </p:txBody>
      </p:sp>
      <p:sp>
        <p:nvSpPr>
          <p:cNvPr id="5" name="chip"/>
          <p:cNvSpPr/>
          <p:nvPr/>
        </p:nvSpPr>
        <p:spPr>
          <a:xfrm>
            <a:off x="813816" y="5175504"/>
            <a:ext cx="3474720" cy="713232"/>
          </a:xfrm>
          <a:prstGeom prst="roundRect">
            <a:avLst>
              <a:gd name="adj" fmla="val 7692"/>
            </a:avLst>
          </a:prstGeom>
          <a:solidFill>
            <a:srgbClr val="FFFFFF"/>
          </a:solidFill>
          <a:ln w="12700">
            <a:solidFill>
              <a:srgbClr val="FFFFFF"/>
            </a:solidFill>
            <a:prstDash val="solid"/>
          </a:ln>
        </p:spPr>
      </p:sp>
      <p:sp>
        <p:nvSpPr>
          <p:cNvPr id="6" name="chip text"/>
          <p:cNvSpPr txBox="1"/>
          <p:nvPr/>
        </p:nvSpPr>
        <p:spPr>
          <a:xfrm>
            <a:off x="978408" y="5212080"/>
            <a:ext cx="3200400" cy="640080"/>
          </a:xfrm>
          <a:prstGeom prst="rect">
            <a:avLst/>
          </a:prstGeom>
          <a:noFill/>
          <a:ln/>
        </p:spPr>
        <p:txBody>
          <a:bodyPr wrap="square" lIns="0" tIns="0" rIns="0" bIns="0" rtlCol="0" anchor="ctr"/>
          <a:lstStyle/>
          <a:p>
            <a:pPr indent="0" marL="0">
              <a:buNone/>
            </a:pPr>
            <a:r>
              <a:rPr lang="en-US" sz="1200" b="1" dirty="0">
                <a:solidFill>
                  <a:srgbClr val="31302E"/>
                </a:solidFill>
              </a:rPr>
              <a:t>Priorities 1, 2, 5</a:t>
            </a:r>
            <a:endParaRPr lang="en-US" sz="1200" dirty="0"/>
          </a:p>
          <a:p>
            <a:pPr indent="0" marL="0">
              <a:buNone/>
            </a:pPr>
            <a:r>
              <a:rPr lang="en-US" sz="1200" dirty="0">
                <a:solidFill>
                  <a:srgbClr val="31302E"/>
                </a:solidFill>
              </a:rPr>
              <a:t>Phase A, four swaps of Phase B, LucaOne, mRFP</a:t>
            </a:r>
            <a:endParaRPr lang="en-US" sz="1200" dirty="0"/>
          </a:p>
        </p:txBody>
      </p:sp>
      <p:sp>
        <p:nvSpPr>
          <p:cNvPr id="7" name="chip"/>
          <p:cNvSpPr/>
          <p:nvPr/>
        </p:nvSpPr>
        <p:spPr>
          <a:xfrm>
            <a:off x="4471416" y="5175504"/>
            <a:ext cx="3474720" cy="713232"/>
          </a:xfrm>
          <a:prstGeom prst="roundRect">
            <a:avLst>
              <a:gd name="adj" fmla="val 7692"/>
            </a:avLst>
          </a:prstGeom>
          <a:solidFill>
            <a:srgbClr val="FFFFFF"/>
          </a:solidFill>
          <a:ln w="12700">
            <a:solidFill>
              <a:srgbClr val="FFFFFF"/>
            </a:solidFill>
            <a:prstDash val="solid"/>
          </a:ln>
        </p:spPr>
      </p:sp>
      <p:sp>
        <p:nvSpPr>
          <p:cNvPr id="8" name="chip text"/>
          <p:cNvSpPr txBox="1"/>
          <p:nvPr/>
        </p:nvSpPr>
        <p:spPr>
          <a:xfrm>
            <a:off x="4636008" y="5212080"/>
            <a:ext cx="3200400" cy="640080"/>
          </a:xfrm>
          <a:prstGeom prst="rect">
            <a:avLst/>
          </a:prstGeom>
          <a:noFill/>
          <a:ln/>
        </p:spPr>
        <p:txBody>
          <a:bodyPr wrap="square" lIns="0" tIns="0" rIns="0" bIns="0" rtlCol="0" anchor="ctr"/>
          <a:lstStyle/>
          <a:p>
            <a:pPr indent="0" marL="0">
              <a:buNone/>
            </a:pPr>
            <a:r>
              <a:rPr lang="en-US" sz="1200" b="1" dirty="0">
                <a:solidFill>
                  <a:srgbClr val="31302E"/>
                </a:solidFill>
              </a:rPr>
              <a:t>Priorities 3 and 4</a:t>
            </a:r>
            <a:endParaRPr lang="en-US" sz="1200" dirty="0"/>
          </a:p>
          <a:p>
            <a:pPr indent="0" marL="0">
              <a:buNone/>
            </a:pPr>
            <a:r>
              <a:rPr lang="en-US" sz="1200" dirty="0">
                <a:solidFill>
                  <a:srgbClr val="31302E"/>
                </a:solidFill>
              </a:rPr>
              <a:t>half-life and translation efficiency, gate passed</a:t>
            </a:r>
            <a:endParaRPr lang="en-US" sz="1200" dirty="0"/>
          </a:p>
        </p:txBody>
      </p:sp>
      <p:sp>
        <p:nvSpPr>
          <p:cNvPr id="9" name="chip"/>
          <p:cNvSpPr/>
          <p:nvPr/>
        </p:nvSpPr>
        <p:spPr>
          <a:xfrm>
            <a:off x="8129016" y="5175504"/>
            <a:ext cx="3474720" cy="713232"/>
          </a:xfrm>
          <a:prstGeom prst="roundRect">
            <a:avLst>
              <a:gd name="adj" fmla="val 7692"/>
            </a:avLst>
          </a:prstGeom>
          <a:solidFill>
            <a:srgbClr val="FFFFFF"/>
          </a:solidFill>
          <a:ln w="12700">
            <a:solidFill>
              <a:srgbClr val="FFFFFF"/>
            </a:solidFill>
            <a:prstDash val="solid"/>
          </a:ln>
        </p:spPr>
      </p:sp>
      <p:sp>
        <p:nvSpPr>
          <p:cNvPr id="10" name="chip text"/>
          <p:cNvSpPr txBox="1"/>
          <p:nvPr/>
        </p:nvSpPr>
        <p:spPr>
          <a:xfrm>
            <a:off x="8293608" y="5212080"/>
            <a:ext cx="3200400" cy="640080"/>
          </a:xfrm>
          <a:prstGeom prst="rect">
            <a:avLst/>
          </a:prstGeom>
          <a:noFill/>
          <a:ln/>
        </p:spPr>
        <p:txBody>
          <a:bodyPr wrap="square" lIns="0" tIns="0" rIns="0" bIns="0" rtlCol="0" anchor="ctr"/>
          <a:lstStyle/>
          <a:p>
            <a:pPr indent="0" marL="0">
              <a:buNone/>
            </a:pPr>
            <a:r>
              <a:rPr lang="en-US" sz="1200" b="1" dirty="0">
                <a:solidFill>
                  <a:srgbClr val="31302E"/>
                </a:solidFill>
              </a:rPr>
              <a:t>Left to run</a:t>
            </a:r>
            <a:endParaRPr lang="en-US" sz="1200" dirty="0"/>
          </a:p>
          <a:p>
            <a:pPr indent="0" marL="0">
              <a:buNone/>
            </a:pPr>
            <a:r>
              <a:rPr lang="en-US" sz="1200" dirty="0">
                <a:solidFill>
                  <a:srgbClr val="31302E"/>
                </a:solidFill>
              </a:rPr>
              <a:t>the other encoder swaps, and stability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Since the last meeting · October 7 to 20</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Seven steps in thirteen days, in the research plan's order</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Every step has a run record in docs/run-records.md and a result file beside its notebook. Ab1, the fifth BioLangFusion benchmark, is not public.</a:t>
            </a:r>
            <a:endParaRPr lang="en-US" sz="1150" dirty="0"/>
          </a:p>
        </p:txBody>
      </p:sp>
      <p:sp>
        <p:nvSpPr>
          <p:cNvPr id="5" name="step dot"/>
          <p:cNvSpPr/>
          <p:nvPr/>
        </p:nvSpPr>
        <p:spPr>
          <a:xfrm>
            <a:off x="877824" y="2185416"/>
            <a:ext cx="128016" cy="128016"/>
          </a:xfrm>
          <a:prstGeom prst="ellipse">
            <a:avLst/>
          </a:prstGeom>
          <a:solidFill>
            <a:srgbClr val="213183"/>
          </a:solidFill>
          <a:ln w="12700">
            <a:solidFill>
              <a:srgbClr val="213183"/>
            </a:solidFill>
            <a:prstDash val="solid"/>
          </a:ln>
        </p:spPr>
      </p:sp>
      <p:sp>
        <p:nvSpPr>
          <p:cNvPr id="6" name="step date"/>
          <p:cNvSpPr txBox="1"/>
          <p:nvPr/>
        </p:nvSpPr>
        <p:spPr>
          <a:xfrm>
            <a:off x="1143000" y="2029968"/>
            <a:ext cx="1234440" cy="548640"/>
          </a:xfrm>
          <a:prstGeom prst="rect">
            <a:avLst/>
          </a:prstGeom>
          <a:noFill/>
          <a:ln/>
        </p:spPr>
        <p:txBody>
          <a:bodyPr wrap="square" lIns="0" tIns="0" rIns="0" bIns="0" rtlCol="0" anchor="ctr"/>
          <a:lstStyle/>
          <a:p>
            <a:pPr indent="0" marL="0">
              <a:buNone/>
            </a:pPr>
            <a:r>
              <a:rPr lang="en-US" sz="1200" b="1" dirty="0">
                <a:solidFill>
                  <a:srgbClr val="31302E"/>
                </a:solidFill>
              </a:rPr>
              <a:t>Oct 9 to 15</a:t>
            </a:r>
            <a:endParaRPr lang="en-US" sz="1200" dirty="0"/>
          </a:p>
        </p:txBody>
      </p:sp>
      <p:sp>
        <p:nvSpPr>
          <p:cNvPr id="7" name="step text"/>
          <p:cNvSpPr txBox="1"/>
          <p:nvPr/>
        </p:nvSpPr>
        <p:spPr>
          <a:xfrm>
            <a:off x="2423160" y="2029968"/>
            <a:ext cx="9052560" cy="548640"/>
          </a:xfrm>
          <a:prstGeom prst="rect">
            <a:avLst/>
          </a:prstGeom>
          <a:noFill/>
          <a:ln/>
        </p:spPr>
        <p:txBody>
          <a:bodyPr wrap="square" lIns="0" tIns="0" rIns="0" bIns="0" rtlCol="0" anchor="ctr"/>
          <a:lstStyle/>
          <a:p>
            <a:pPr indent="0" marL="0">
              <a:buNone/>
            </a:pPr>
            <a:r>
              <a:rPr lang="en-US" sz="1200" b="1" dirty="0">
                <a:solidFill>
                  <a:srgbClr val="31302E"/>
                </a:solidFill>
              </a:rPr>
              <a:t>Research plan adopted and placed first  </a:t>
            </a:r>
            <a:pPr indent="0" marL="0">
              <a:buNone/>
            </a:pPr>
            <a:r>
              <a:rPr lang="en-US" sz="1200" dirty="0">
                <a:solidFill>
                  <a:srgbClr val="615D59"/>
                </a:solidFill>
              </a:rPr>
              <a:t>Her seven items slotted into the Gantt chart under their numbers; Coupled Mamba and cross-attention move to January, scored against every baseline at once.</a:t>
            </a:r>
            <a:endParaRPr lang="en-US" sz="1200" dirty="0"/>
          </a:p>
        </p:txBody>
      </p:sp>
      <p:sp>
        <p:nvSpPr>
          <p:cNvPr id="8" name="step dot"/>
          <p:cNvSpPr/>
          <p:nvPr/>
        </p:nvSpPr>
        <p:spPr>
          <a:xfrm>
            <a:off x="877824" y="2734056"/>
            <a:ext cx="128016" cy="128016"/>
          </a:xfrm>
          <a:prstGeom prst="ellipse">
            <a:avLst/>
          </a:prstGeom>
          <a:solidFill>
            <a:srgbClr val="213183"/>
          </a:solidFill>
          <a:ln w="12700">
            <a:solidFill>
              <a:srgbClr val="213183"/>
            </a:solidFill>
            <a:prstDash val="solid"/>
          </a:ln>
        </p:spPr>
      </p:sp>
      <p:sp>
        <p:nvSpPr>
          <p:cNvPr id="9" name="step date"/>
          <p:cNvSpPr txBox="1"/>
          <p:nvPr/>
        </p:nvSpPr>
        <p:spPr>
          <a:xfrm>
            <a:off x="1143000" y="2578608"/>
            <a:ext cx="1234440" cy="548640"/>
          </a:xfrm>
          <a:prstGeom prst="rect">
            <a:avLst/>
          </a:prstGeom>
          <a:noFill/>
          <a:ln/>
        </p:spPr>
        <p:txBody>
          <a:bodyPr wrap="square" lIns="0" tIns="0" rIns="0" bIns="0" rtlCol="0" anchor="ctr"/>
          <a:lstStyle/>
          <a:p>
            <a:pPr indent="0" marL="0">
              <a:buNone/>
            </a:pPr>
            <a:r>
              <a:rPr lang="en-US" sz="1200" b="1" dirty="0">
                <a:solidFill>
                  <a:srgbClr val="31302E"/>
                </a:solidFill>
              </a:rPr>
              <a:t>Oct 15 to 19</a:t>
            </a:r>
            <a:endParaRPr lang="en-US" sz="1200" dirty="0"/>
          </a:p>
        </p:txBody>
      </p:sp>
      <p:sp>
        <p:nvSpPr>
          <p:cNvPr id="10" name="step text"/>
          <p:cNvSpPr txBox="1"/>
          <p:nvPr/>
        </p:nvSpPr>
        <p:spPr>
          <a:xfrm>
            <a:off x="2423160" y="2578608"/>
            <a:ext cx="9052560" cy="548640"/>
          </a:xfrm>
          <a:prstGeom prst="rect">
            <a:avLst/>
          </a:prstGeom>
          <a:noFill/>
          <a:ln/>
        </p:spPr>
        <p:txBody>
          <a:bodyPr wrap="square" lIns="0" tIns="0" rIns="0" bIns="0" rtlCol="0" anchor="ctr"/>
          <a:lstStyle/>
          <a:p>
            <a:pPr indent="0" marL="0">
              <a:buNone/>
            </a:pPr>
            <a:r>
              <a:rPr lang="en-US" sz="1200" b="1" dirty="0">
                <a:solidFill>
                  <a:srgbClr val="31302E"/>
                </a:solidFill>
              </a:rPr>
              <a:t>Stage 3 round 1 built  </a:t>
            </a:r>
            <a:pPr indent="0" marL="0">
              <a:buNone/>
            </a:pPr>
            <a:r>
              <a:rPr lang="en-US" sz="1200" dirty="0">
                <a:solidFill>
                  <a:srgbClr val="615D59"/>
                </a:solidFill>
              </a:rPr>
              <a:t>BioLangFusion's benchmarks, embeddings, codon grid, three heads and TextCNN; IsoFormer's aggregator; LucaOne's input limit; one training loop with seeds and a paired bootstrap.</a:t>
            </a:r>
            <a:endParaRPr lang="en-US" sz="1200" dirty="0"/>
          </a:p>
        </p:txBody>
      </p:sp>
      <p:sp>
        <p:nvSpPr>
          <p:cNvPr id="11" name="step dot"/>
          <p:cNvSpPr/>
          <p:nvPr/>
        </p:nvSpPr>
        <p:spPr>
          <a:xfrm>
            <a:off x="877824" y="3282696"/>
            <a:ext cx="128016" cy="128016"/>
          </a:xfrm>
          <a:prstGeom prst="ellipse">
            <a:avLst/>
          </a:prstGeom>
          <a:solidFill>
            <a:srgbClr val="213183"/>
          </a:solidFill>
          <a:ln w="12700">
            <a:solidFill>
              <a:srgbClr val="213183"/>
            </a:solidFill>
            <a:prstDash val="solid"/>
          </a:ln>
        </p:spPr>
      </p:sp>
      <p:sp>
        <p:nvSpPr>
          <p:cNvPr id="12" name="step date"/>
          <p:cNvSpPr txBox="1"/>
          <p:nvPr/>
        </p:nvSpPr>
        <p:spPr>
          <a:xfrm>
            <a:off x="1143000" y="3127248"/>
            <a:ext cx="1234440" cy="548640"/>
          </a:xfrm>
          <a:prstGeom prst="rect">
            <a:avLst/>
          </a:prstGeom>
          <a:noFill/>
          <a:ln/>
        </p:spPr>
        <p:txBody>
          <a:bodyPr wrap="square" lIns="0" tIns="0" rIns="0" bIns="0" rtlCol="0" anchor="ctr"/>
          <a:lstStyle/>
          <a:p>
            <a:pPr indent="0" marL="0">
              <a:buNone/>
            </a:pPr>
            <a:r>
              <a:rPr lang="en-US" sz="1200" b="1" dirty="0">
                <a:solidFill>
                  <a:srgbClr val="31302E"/>
                </a:solidFill>
              </a:rPr>
              <a:t>Oct 17 to 18</a:t>
            </a:r>
            <a:endParaRPr lang="en-US" sz="1200" dirty="0"/>
          </a:p>
        </p:txBody>
      </p:sp>
      <p:sp>
        <p:nvSpPr>
          <p:cNvPr id="13" name="step text"/>
          <p:cNvSpPr txBox="1"/>
          <p:nvPr/>
        </p:nvSpPr>
        <p:spPr>
          <a:xfrm>
            <a:off x="2423160" y="3127248"/>
            <a:ext cx="9052560" cy="548640"/>
          </a:xfrm>
          <a:prstGeom prst="rect">
            <a:avLst/>
          </a:prstGeom>
          <a:noFill/>
          <a:ln/>
        </p:spPr>
        <p:txBody>
          <a:bodyPr wrap="square" lIns="0" tIns="0" rIns="0" bIns="0" rtlCol="0" anchor="ctr"/>
          <a:lstStyle/>
          <a:p>
            <a:pPr indent="0" marL="0">
              <a:buNone/>
            </a:pPr>
            <a:r>
              <a:rPr lang="en-US" sz="1200" b="1" dirty="0">
                <a:solidFill>
                  <a:srgbClr val="31302E"/>
                </a:solidFill>
              </a:rPr>
              <a:t>BioLangFusion reproduced on fungal  </a:t>
            </a:r>
            <a:pPr indent="0" marL="0">
              <a:buNone/>
            </a:pPr>
            <a:r>
              <a:rPr lang="en-US" sz="1200" dirty="0">
                <a:solidFill>
                  <a:srgbClr val="615D59"/>
                </a:solidFill>
              </a:rPr>
              <a:t>Single encoders reproduce; no fusion head beats the best one at 95%; the paper's head ordering is reversed; its appendix convolution misaligns the DNA stream.</a:t>
            </a:r>
            <a:endParaRPr lang="en-US" sz="1200" dirty="0"/>
          </a:p>
        </p:txBody>
      </p:sp>
      <p:sp>
        <p:nvSpPr>
          <p:cNvPr id="14" name="step dot"/>
          <p:cNvSpPr/>
          <p:nvPr/>
        </p:nvSpPr>
        <p:spPr>
          <a:xfrm>
            <a:off x="877824" y="3831336"/>
            <a:ext cx="128016" cy="128016"/>
          </a:xfrm>
          <a:prstGeom prst="ellipse">
            <a:avLst/>
          </a:prstGeom>
          <a:solidFill>
            <a:srgbClr val="213183"/>
          </a:solidFill>
          <a:ln w="12700">
            <a:solidFill>
              <a:srgbClr val="213183"/>
            </a:solidFill>
            <a:prstDash val="solid"/>
          </a:ln>
        </p:spPr>
      </p:sp>
      <p:sp>
        <p:nvSpPr>
          <p:cNvPr id="15" name="step date"/>
          <p:cNvSpPr txBox="1"/>
          <p:nvPr/>
        </p:nvSpPr>
        <p:spPr>
          <a:xfrm>
            <a:off x="1143000" y="3675888"/>
            <a:ext cx="1234440" cy="548640"/>
          </a:xfrm>
          <a:prstGeom prst="rect">
            <a:avLst/>
          </a:prstGeom>
          <a:noFill/>
          <a:ln/>
        </p:spPr>
        <p:txBody>
          <a:bodyPr wrap="square" lIns="0" tIns="0" rIns="0" bIns="0" rtlCol="0" anchor="ctr"/>
          <a:lstStyle/>
          <a:p>
            <a:pPr indent="0" marL="0">
              <a:buNone/>
            </a:pPr>
            <a:r>
              <a:rPr lang="en-US" sz="1200" b="1" dirty="0">
                <a:solidFill>
                  <a:srgbClr val="31302E"/>
                </a:solidFill>
              </a:rPr>
              <a:t>Oct 18 to 19</a:t>
            </a:r>
            <a:endParaRPr lang="en-US" sz="1200" dirty="0"/>
          </a:p>
        </p:txBody>
      </p:sp>
      <p:sp>
        <p:nvSpPr>
          <p:cNvPr id="16" name="step text"/>
          <p:cNvSpPr txBox="1"/>
          <p:nvPr/>
        </p:nvSpPr>
        <p:spPr>
          <a:xfrm>
            <a:off x="2423160" y="3675888"/>
            <a:ext cx="9052560" cy="548640"/>
          </a:xfrm>
          <a:prstGeom prst="rect">
            <a:avLst/>
          </a:prstGeom>
          <a:noFill/>
          <a:ln/>
        </p:spPr>
        <p:txBody>
          <a:bodyPr wrap="square" lIns="0" tIns="0" rIns="0" bIns="0" rtlCol="0" anchor="ctr"/>
          <a:lstStyle/>
          <a:p>
            <a:pPr indent="0" marL="0">
              <a:buNone/>
            </a:pPr>
            <a:r>
              <a:rPr lang="en-US" sz="1200" b="1" dirty="0">
                <a:solidFill>
                  <a:srgbClr val="31302E"/>
                </a:solidFill>
              </a:rPr>
              <a:t>IsoFormer on GTEx; LucaOne ruled out  </a:t>
            </a:r>
            <a:pPr indent="0" marL="0">
              <a:buNone/>
            </a:pPr>
            <a:r>
              <a:rPr lang="en-US" sz="1200" dirty="0">
                <a:solidFill>
                  <a:srgbClr val="615D59"/>
                </a:solidFill>
              </a:rPr>
              <a:t>With frozen encoders, fusion beats RNA alone by +0.047, resolved. LucaOne's 1,280-token context admits none of the GTEx windows.</a:t>
            </a:r>
            <a:endParaRPr lang="en-US" sz="1200" dirty="0"/>
          </a:p>
        </p:txBody>
      </p:sp>
      <p:sp>
        <p:nvSpPr>
          <p:cNvPr id="17" name="step dot"/>
          <p:cNvSpPr/>
          <p:nvPr/>
        </p:nvSpPr>
        <p:spPr>
          <a:xfrm>
            <a:off x="877824" y="4379976"/>
            <a:ext cx="128016" cy="128016"/>
          </a:xfrm>
          <a:prstGeom prst="ellipse">
            <a:avLst/>
          </a:prstGeom>
          <a:solidFill>
            <a:srgbClr val="213183"/>
          </a:solidFill>
          <a:ln w="12700">
            <a:solidFill>
              <a:srgbClr val="213183"/>
            </a:solidFill>
            <a:prstDash val="solid"/>
          </a:ln>
        </p:spPr>
      </p:sp>
      <p:sp>
        <p:nvSpPr>
          <p:cNvPr id="18" name="step date"/>
          <p:cNvSpPr txBox="1"/>
          <p:nvPr/>
        </p:nvSpPr>
        <p:spPr>
          <a:xfrm>
            <a:off x="1143000" y="4224528"/>
            <a:ext cx="1234440" cy="548640"/>
          </a:xfrm>
          <a:prstGeom prst="rect">
            <a:avLst/>
          </a:prstGeom>
          <a:noFill/>
          <a:ln/>
        </p:spPr>
        <p:txBody>
          <a:bodyPr wrap="square" lIns="0" tIns="0" rIns="0" bIns="0" rtlCol="0" anchor="ctr"/>
          <a:lstStyle/>
          <a:p>
            <a:pPr indent="0" marL="0">
              <a:buNone/>
            </a:pPr>
            <a:r>
              <a:rPr lang="en-US" sz="1200" b="1" dirty="0">
                <a:solidFill>
                  <a:srgbClr val="31302E"/>
                </a:solidFill>
              </a:rPr>
              <a:t>Oct 19</a:t>
            </a:r>
            <a:endParaRPr lang="en-US" sz="1200" dirty="0"/>
          </a:p>
        </p:txBody>
      </p:sp>
      <p:sp>
        <p:nvSpPr>
          <p:cNvPr id="19" name="step text"/>
          <p:cNvSpPr txBox="1"/>
          <p:nvPr/>
        </p:nvSpPr>
        <p:spPr>
          <a:xfrm>
            <a:off x="2423160" y="4224528"/>
            <a:ext cx="9052560" cy="548640"/>
          </a:xfrm>
          <a:prstGeom prst="rect">
            <a:avLst/>
          </a:prstGeom>
          <a:noFill/>
          <a:ln/>
        </p:spPr>
        <p:txBody>
          <a:bodyPr wrap="square" lIns="0" tIns="0" rIns="0" bIns="0" rtlCol="0" anchor="ctr"/>
          <a:lstStyle/>
          <a:p>
            <a:pPr indent="0" marL="0">
              <a:buNone/>
            </a:pPr>
            <a:r>
              <a:rPr lang="en-US" sz="1200" b="1" dirty="0">
                <a:solidFill>
                  <a:srgbClr val="31302E"/>
                </a:solidFill>
              </a:rPr>
              <a:t>mRFP synonymous control  </a:t>
            </a:r>
            <a:pPr indent="0" marL="0">
              <a:buNone/>
            </a:pPr>
            <a:r>
              <a:rPr lang="en-US" sz="1200" dirty="0">
                <a:solidFill>
                  <a:srgbClr val="615D59"/>
                </a:solidFill>
              </a:rPr>
              <a:t>Protein encoders invariant, as they should be; every nucleotide encoder predicts expression beyond composition and folding; mRNA-FM by far the most.</a:t>
            </a:r>
            <a:endParaRPr lang="en-US" sz="1200" dirty="0"/>
          </a:p>
        </p:txBody>
      </p:sp>
      <p:sp>
        <p:nvSpPr>
          <p:cNvPr id="20" name="step dot"/>
          <p:cNvSpPr/>
          <p:nvPr/>
        </p:nvSpPr>
        <p:spPr>
          <a:xfrm>
            <a:off x="877824" y="4928616"/>
            <a:ext cx="128016" cy="128016"/>
          </a:xfrm>
          <a:prstGeom prst="ellipse">
            <a:avLst/>
          </a:prstGeom>
          <a:solidFill>
            <a:srgbClr val="213183"/>
          </a:solidFill>
          <a:ln w="12700">
            <a:solidFill>
              <a:srgbClr val="213183"/>
            </a:solidFill>
            <a:prstDash val="solid"/>
          </a:ln>
        </p:spPr>
      </p:sp>
      <p:sp>
        <p:nvSpPr>
          <p:cNvPr id="21" name="step date"/>
          <p:cNvSpPr txBox="1"/>
          <p:nvPr/>
        </p:nvSpPr>
        <p:spPr>
          <a:xfrm>
            <a:off x="1143000" y="4773168"/>
            <a:ext cx="1234440" cy="548640"/>
          </a:xfrm>
          <a:prstGeom prst="rect">
            <a:avLst/>
          </a:prstGeom>
          <a:noFill/>
          <a:ln/>
        </p:spPr>
        <p:txBody>
          <a:bodyPr wrap="square" lIns="0" tIns="0" rIns="0" bIns="0" rtlCol="0" anchor="ctr"/>
          <a:lstStyle/>
          <a:p>
            <a:pPr indent="0" marL="0">
              <a:buNone/>
            </a:pPr>
            <a:r>
              <a:rPr lang="en-US" sz="1200" b="1" dirty="0">
                <a:solidFill>
                  <a:srgbClr val="31302E"/>
                </a:solidFill>
              </a:rPr>
              <a:t>Oct 19 to 20</a:t>
            </a:r>
            <a:endParaRPr lang="en-US" sz="1200" dirty="0"/>
          </a:p>
        </p:txBody>
      </p:sp>
      <p:sp>
        <p:nvSpPr>
          <p:cNvPr id="22" name="step text"/>
          <p:cNvSpPr txBox="1"/>
          <p:nvPr/>
        </p:nvSpPr>
        <p:spPr>
          <a:xfrm>
            <a:off x="2423160" y="4773168"/>
            <a:ext cx="9052560" cy="548640"/>
          </a:xfrm>
          <a:prstGeom prst="rect">
            <a:avLst/>
          </a:prstGeom>
          <a:noFill/>
          <a:ln/>
        </p:spPr>
        <p:txBody>
          <a:bodyPr wrap="square" lIns="0" tIns="0" rIns="0" bIns="0" rtlCol="0" anchor="ctr"/>
          <a:lstStyle/>
          <a:p>
            <a:pPr indent="0" marL="0">
              <a:buNone/>
            </a:pPr>
            <a:r>
              <a:rPr lang="en-US" sz="1200" b="1" dirty="0">
                <a:solidFill>
                  <a:srgbClr val="31302E"/>
                </a:solidFill>
              </a:rPr>
              <a:t>Phase A on CoV-Vac, E. coli and stability  </a:t>
            </a:r>
            <a:pPr indent="0" marL="0">
              <a:buNone/>
            </a:pPr>
            <a:r>
              <a:rPr lang="en-US" sz="1200" dirty="0">
                <a:solidFill>
                  <a:srgbClr val="615D59"/>
                </a:solidFill>
              </a:rPr>
              <a:t>27 hours on a laptop. Singles and cross-attention reproduce; the gated head does not; fusion appeared to win on E. coli, which Phase B then revised.</a:t>
            </a:r>
            <a:endParaRPr lang="en-US" sz="1200" dirty="0"/>
          </a:p>
        </p:txBody>
      </p:sp>
      <p:sp>
        <p:nvSpPr>
          <p:cNvPr id="23" name="step dot"/>
          <p:cNvSpPr/>
          <p:nvPr/>
        </p:nvSpPr>
        <p:spPr>
          <a:xfrm>
            <a:off x="877824" y="5477256"/>
            <a:ext cx="128016" cy="128016"/>
          </a:xfrm>
          <a:prstGeom prst="ellipse">
            <a:avLst/>
          </a:prstGeom>
          <a:solidFill>
            <a:srgbClr val="DCA323"/>
          </a:solidFill>
          <a:ln w="12700">
            <a:solidFill>
              <a:srgbClr val="DCA323"/>
            </a:solidFill>
            <a:prstDash val="solid"/>
          </a:ln>
        </p:spPr>
      </p:sp>
      <p:sp>
        <p:nvSpPr>
          <p:cNvPr id="24" name="step date"/>
          <p:cNvSpPr txBox="1"/>
          <p:nvPr/>
        </p:nvSpPr>
        <p:spPr>
          <a:xfrm>
            <a:off x="1143000" y="5321808"/>
            <a:ext cx="1234440" cy="548640"/>
          </a:xfrm>
          <a:prstGeom prst="rect">
            <a:avLst/>
          </a:prstGeom>
          <a:noFill/>
          <a:ln/>
        </p:spPr>
        <p:txBody>
          <a:bodyPr wrap="square" lIns="0" tIns="0" rIns="0" bIns="0" rtlCol="0" anchor="ctr"/>
          <a:lstStyle/>
          <a:p>
            <a:pPr indent="0" marL="0">
              <a:buNone/>
            </a:pPr>
            <a:r>
              <a:rPr lang="en-US" sz="1200" b="1" dirty="0">
                <a:solidFill>
                  <a:srgbClr val="31302E"/>
                </a:solidFill>
              </a:rPr>
              <a:t>Oct 21 to 22</a:t>
            </a:r>
            <a:endParaRPr lang="en-US" sz="1200" dirty="0"/>
          </a:p>
        </p:txBody>
      </p:sp>
      <p:sp>
        <p:nvSpPr>
          <p:cNvPr id="25" name="step text"/>
          <p:cNvSpPr txBox="1"/>
          <p:nvPr/>
        </p:nvSpPr>
        <p:spPr>
          <a:xfrm>
            <a:off x="2423160" y="5321808"/>
            <a:ext cx="9052560" cy="548640"/>
          </a:xfrm>
          <a:prstGeom prst="rect">
            <a:avLst/>
          </a:prstGeom>
          <a:noFill/>
          <a:ln/>
        </p:spPr>
        <p:txBody>
          <a:bodyPr wrap="square" lIns="0" tIns="0" rIns="0" bIns="0" rtlCol="0" anchor="ctr"/>
          <a:lstStyle/>
          <a:p>
            <a:pPr indent="0" marL="0">
              <a:buNone/>
            </a:pPr>
            <a:r>
              <a:rPr lang="en-US" sz="1200" b="1" dirty="0">
                <a:solidFill>
                  <a:srgbClr val="31302E"/>
                </a:solidFill>
              </a:rPr>
              <a:t>Phase B, LucaOne, half-life and TE run  </a:t>
            </a:r>
            <a:pPr indent="0" marL="0">
              <a:buNone/>
            </a:pPr>
            <a:r>
              <a:rPr lang="en-US" sz="1200" dirty="0">
                <a:solidFill>
                  <a:srgbClr val="615D59"/>
                </a:solidFill>
              </a:rPr>
              <a:t>Four encoder swaps on a GPU, LucaOne frozen on stability, and the human half-life and translation-efficiency probes. The swaps change what Phase A's E. coli result meant.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Stage 3, round 1 · what exists in code</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BioLangFusion rebuilt from the paper, with two of its inconsistencies settled by measurement</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Everything lives in Code/shared_code/fusion/ and is imported by the Stage 4 notebooks, so an experiment runs exactly what was checked. Token embeddings: 34 GB in float16, kept off Git.</a:t>
            </a:r>
            <a:endParaRPr lang="en-US" sz="1150" dirty="0"/>
          </a:p>
        </p:txBody>
      </p:sp>
      <p:sp>
        <p:nvSpPr>
          <p:cNvPr id="5" name="figure card"/>
          <p:cNvSpPr/>
          <p:nvPr/>
        </p:nvSpPr>
        <p:spPr>
          <a:xfrm>
            <a:off x="813816" y="2029968"/>
            <a:ext cx="3977640" cy="3794760"/>
          </a:xfrm>
          <a:prstGeom prst="roundRect">
            <a:avLst>
              <a:gd name="adj" fmla="val 1446"/>
            </a:avLst>
          </a:prstGeom>
          <a:solidFill>
            <a:srgbClr val="FFFFFF"/>
          </a:solidFill>
          <a:ln w="9525">
            <a:solidFill>
              <a:srgbClr val="E6E6E6"/>
            </a:solidFill>
            <a:prstDash val="solid"/>
          </a:ln>
        </p:spPr>
      </p:sp>
      <p:pic>
        <p:nvPicPr>
          <p:cNvPr id="6" name="pipeline figure" descr="blf_pipeline_a.png">    </p:cNvPr>
          <p:cNvPicPr>
            <a:picLocks noChangeAspect="1"/>
          </p:cNvPicPr>
          <p:nvPr/>
        </p:nvPicPr>
        <p:blipFill>
          <a:blip r:embed="rId1"/>
          <a:stretch>
            <a:fillRect/>
          </a:stretch>
        </p:blipFill>
        <p:spPr>
          <a:xfrm>
            <a:off x="969264" y="2121408"/>
            <a:ext cx="3666744" cy="3611880"/>
          </a:xfrm>
          <a:prstGeom prst="rect">
            <a:avLst/>
          </a:prstGeom>
        </p:spPr>
      </p:pic>
      <p:sp>
        <p:nvSpPr>
          <p:cNvPr id="7" name="built bullets"/>
          <p:cNvSpPr txBox="1"/>
          <p:nvPr/>
        </p:nvSpPr>
        <p:spPr>
          <a:xfrm>
            <a:off x="5029200" y="2029968"/>
            <a:ext cx="6400800" cy="3794760"/>
          </a:xfrm>
          <a:prstGeom prst="rect">
            <a:avLst/>
          </a:prstGeom>
          <a:noFill/>
          <a:ln/>
        </p:spPr>
        <p:txBody>
          <a:bodyPr wrap="square" lIns="0" tIns="0" rIns="0" bIns="0" rtlCol="0" anchor="t"/>
          <a:lstStyle/>
          <a:p>
            <a:pPr marL="152400" indent="-152400">
              <a:buSzPct val="100000"/>
              <a:buChar char="•"/>
            </a:pPr>
            <a:r>
              <a:rPr lang="en-US" sz="1250" b="1" dirty="0">
                <a:solidFill>
                  <a:srgbClr val="31302E"/>
                </a:solidFill>
              </a:rPr>
              <a:t>Three frozen encoders on one codon grid.</a:t>
            </a:r>
            <a:pPr indent="0" marL="0">
              <a:spcAft>
                <a:spcPts val="700"/>
              </a:spcAft>
              <a:buNone/>
            </a:pPr>
            <a:r>
              <a:rPr lang="en-US" sz="1250" dirty="0">
                <a:solidFill>
                  <a:srgbClr val="615D59"/>
                </a:solidFill>
              </a:rPr>
              <a:t> NT v2 100M 6-mers upsampled by a transposed convolution, RNA-FM averaged three to one, ESM-2 8M one residue per codon.</a:t>
            </a:r>
            <a:endParaRPr lang="en-US" sz="1250" dirty="0"/>
          </a:p>
          <a:p>
            <a:pPr marL="152400" indent="-152400">
              <a:buSzPct val="100000"/>
              <a:buChar char="•"/>
            </a:pPr>
            <a:r>
              <a:rPr lang="en-US" sz="1250" b="1" dirty="0">
                <a:solidFill>
                  <a:srgbClr val="31302E"/>
                </a:solidFill>
              </a:rPr>
              <a:t>Three heads, one TextCNN, the paper's recipe.</a:t>
            </a:r>
            <a:pPr indent="0" marL="0">
              <a:spcAft>
                <a:spcPts val="700"/>
              </a:spcAft>
              <a:buNone/>
            </a:pPr>
            <a:r>
              <a:rPr lang="en-US" sz="1250" dirty="0">
                <a:solidFill>
                  <a:srgbClr val="615D59"/>
                </a:solidFill>
              </a:rPr>
              <a:t> Concatenation, gated MIL attention with its entropy term, cross-modal attention; Adam at 3e-5, early stopping on validation, best epoch restored.</a:t>
            </a:r>
            <a:endParaRPr lang="en-US" sz="1250" dirty="0"/>
          </a:p>
          <a:p>
            <a:pPr marL="152400" indent="-152400">
              <a:buSzPct val="100000"/>
              <a:buChar char="•"/>
            </a:pPr>
            <a:r>
              <a:rPr lang="en-US" sz="1250" b="1" dirty="0">
                <a:solidFill>
                  <a:srgbClr val="31302E"/>
                </a:solidFill>
              </a:rPr>
              <a:t>Preprocessing, settled.</a:t>
            </a:r>
            <a:pPr indent="0" marL="0">
              <a:spcAft>
                <a:spcPts val="700"/>
              </a:spcAft>
              <a:buNone/>
            </a:pPr>
            <a:r>
              <a:rPr lang="en-US" sz="1250" dirty="0">
                <a:solidFill>
                  <a:srgbClr val="615D59"/>
                </a:solidFill>
              </a:rPr>
              <a:t> The paper says it truncates at 999 nt, but only dropping those sequences reproduces its own row counts, on all four benchmarks.</a:t>
            </a:r>
            <a:endParaRPr lang="en-US" sz="1250" dirty="0"/>
          </a:p>
          <a:p>
            <a:pPr marL="152400" indent="-152400">
              <a:buSzPct val="100000"/>
              <a:buChar char="•"/>
            </a:pPr>
            <a:r>
              <a:rPr lang="en-US" sz="1250" b="1" dirty="0">
                <a:solidFill>
                  <a:srgbClr val="31302E"/>
                </a:solidFill>
              </a:rPr>
              <a:t>The convolution, settled.</a:t>
            </a:r>
            <a:pPr indent="0" marL="0">
              <a:spcAft>
                <a:spcPts val="700"/>
              </a:spcAft>
              <a:buNone/>
            </a:pPr>
            <a:r>
              <a:rPr lang="en-US" sz="1250" dirty="0">
                <a:solidFill>
                  <a:srgbClr val="615D59"/>
                </a:solidFill>
              </a:rPr>
              <a:t> The paper specifies the DNA upsampling twice; the appendix setting places the stream two codons out of register. Equation 1 is used.</a:t>
            </a:r>
            <a:endParaRPr lang="en-US" sz="1250" dirty="0"/>
          </a:p>
          <a:p>
            <a:pPr marL="152400" indent="-152400">
              <a:buSzPct val="100000"/>
              <a:buChar char="•"/>
            </a:pPr>
            <a:r>
              <a:rPr lang="en-US" sz="1250" b="1" dirty="0">
                <a:solidFill>
                  <a:srgbClr val="31302E"/>
                </a:solidFill>
              </a:rPr>
              <a:t>Error bars from the start.</a:t>
            </a:r>
            <a:pPr indent="0" marL="0">
              <a:spcAft>
                <a:spcPts val="700"/>
              </a:spcAft>
              <a:buNone/>
            </a:pPr>
            <a:r>
              <a:rPr lang="en-US" sz="1250" dirty="0">
                <a:solidFill>
                  <a:srgbClr val="615D59"/>
                </a:solidFill>
              </a:rPr>
              <a:t> Every run saves per-row test predictions, so any two models are compared by a paired bootstrap, seeds averaged inside each draw. The paper reports none.</a:t>
            </a:r>
            <a:endParaRPr lang="en-US" sz="1250" dirty="0"/>
          </a:p>
          <a:p>
            <a:pPr marL="152400" indent="-152400">
              <a:buSzPct val="100000"/>
              <a:buChar char="•"/>
            </a:pPr>
            <a:r>
              <a:rPr lang="en-US" sz="1250" b="1" dirty="0">
                <a:solidFill>
                  <a:srgbClr val="31302E"/>
                </a:solidFill>
              </a:rPr>
              <a:t>Also built:</a:t>
            </a:r>
            <a:pPr indent="0" marL="0">
              <a:spcAft>
                <a:spcPts val="700"/>
              </a:spcAft>
              <a:buNone/>
            </a:pPr>
            <a:r>
              <a:rPr lang="en-US" sz="1250" dirty="0">
                <a:solidFill>
                  <a:srgbClr val="615D59"/>
                </a:solidFill>
              </a:rPr>
              <a:t> IsoFormer's aggregator with memory-safe batching; the grid generalized so any Stage 1 encoder but DNABERT-2 can take any slot.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Phase A · reproduction</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The single encoders and cross-attention reproduce; the gated head does not</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Ours (published), Spearman except E. coli (accuracy, %). Means over three seeds on fungal, CoV-Vac and E. coli; stability is one seed. Published values from BioLangFusion Table 1 and Table 4.</a:t>
            </a:r>
            <a:endParaRPr lang="en-US" sz="1150" dirty="0"/>
          </a:p>
        </p:txBody>
      </p:sp>
      <p:graphicFrame>
        <p:nvGraphicFramePr>
          <p:cNvPr id="5" name="reproduction table"/>
          <p:cNvGraphicFramePr>
            <a:graphicFrameLocks noGrp="1"/>
          </p:cNvGraphicFramePr>
          <p:nvPr>
            <p:extLst>
              <p:ext uri="{D42A27DB-BD31-4B8C-83A1-F6EECF244321}">
                <p14:modId xmlns:p14="http://schemas.microsoft.com/office/powerpoint/2010/main" val="1579011935"/>
              </p:ext>
            </p:extLst>
          </p:nvPr>
        </p:nvGraphicFramePr>
        <p:xfrm>
          <a:off x="813816" y="2029968"/>
          <a:ext cx="7589520" cy="914400"/>
        </p:xfrm>
        <a:graphic>
          <a:graphicData uri="http://schemas.openxmlformats.org/drawingml/2006/table">
            <a:tbl>
              <a:tblPr/>
              <a:tblGrid>
                <a:gridCol w="2651760"/>
                <a:gridCol w="1234440"/>
                <a:gridCol w="1234440"/>
                <a:gridCol w="1234440"/>
                <a:gridCol w="1234440"/>
              </a:tblGrid>
              <a:tr h="329184">
                <a:tc>
                  <a:txBody>
                    <a:bodyPr/>
                    <a:lstStyle/>
                    <a:p>
                      <a:pPr algn="l" indent="0" marL="0">
                        <a:buNone/>
                      </a:pPr>
                      <a:r>
                        <a:rPr lang="en-US" sz="1150" b="1" dirty="0">
                          <a:solidFill>
                            <a:srgbClr val="31302E"/>
                          </a:solidFill>
                          <a:latin typeface="Inter" pitchFamily="34" charset="0"/>
                          <a:ea typeface="Inter" pitchFamily="34" charset="-122"/>
                          <a:cs typeface="Inter" pitchFamily="34" charset="-120"/>
                        </a:rPr>
                        <a:t>Model</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Fungal</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CoV-Vac</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E. coli (acc., %)</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Stability</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Nucleotide Transformer alone</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0.807 (0.804)</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0.779 (0.780)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47.8 (41.3)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0.539 (0.530)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RNA-FM alone</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0.722 (0.767)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0.838 (0.841)</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50.7 (52.9)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0.552 (0.553)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RNA-FM read on the codon grid</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0.794</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0.823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49.3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0.547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ESM-2 8M alone</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0.706 (0.695)</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0.815 (0.806)</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51.7 (49.0)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0.531 (0.539)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Concatenation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0.791 (0.805)</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0.799 (0.831)</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58.7 (50.3)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0.558 (0.539)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Gated MIL attention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0.801 (0.824)</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0.783 (0.864)</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54.5 (52.1)</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0.551 (0.563)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Gated MIL without entropy</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0.802 (0.826)</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0.792 (0.854)</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55.8 (52.0)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0.558 (0.556)</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Cross-attention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0.823 (0.812)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0.836 (0.828)</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53.5 (53.9)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0.553 (0.550)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bl>
          </a:graphicData>
        </a:graphic>
      </p:graphicFrame>
      <p:sp>
        <p:nvSpPr>
          <p:cNvPr id="6" name="stat card"/>
          <p:cNvSpPr/>
          <p:nvPr/>
        </p:nvSpPr>
        <p:spPr>
          <a:xfrm>
            <a:off x="8641080" y="2029968"/>
            <a:ext cx="2743200" cy="1783080"/>
          </a:xfrm>
          <a:prstGeom prst="roundRect">
            <a:avLst>
              <a:gd name="adj" fmla="val 3077"/>
            </a:avLst>
          </a:prstGeom>
          <a:solidFill>
            <a:srgbClr val="FFFFFF"/>
          </a:solidFill>
          <a:ln w="9525">
            <a:solidFill>
              <a:srgbClr val="E6E6E6"/>
            </a:solidFill>
            <a:prstDash val="solid"/>
          </a:ln>
        </p:spPr>
      </p:sp>
      <p:sp>
        <p:nvSpPr>
          <p:cNvPr id="7" name="stat value"/>
          <p:cNvSpPr txBox="1"/>
          <p:nvPr/>
        </p:nvSpPr>
        <p:spPr>
          <a:xfrm>
            <a:off x="8842248" y="221284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Within 0.01</a:t>
            </a:r>
            <a:endParaRPr lang="en-US" sz="2400" dirty="0"/>
          </a:p>
        </p:txBody>
      </p:sp>
      <p:sp>
        <p:nvSpPr>
          <p:cNvPr id="8" name="stat label"/>
          <p:cNvSpPr txBox="1"/>
          <p:nvPr/>
        </p:nvSpPr>
        <p:spPr>
          <a:xfrm>
            <a:off x="8842248" y="2688336"/>
            <a:ext cx="2340864" cy="1005840"/>
          </a:xfrm>
          <a:prstGeom prst="rect">
            <a:avLst/>
          </a:prstGeom>
          <a:noFill/>
          <a:ln/>
        </p:spPr>
        <p:txBody>
          <a:bodyPr wrap="square" lIns="0" tIns="0" rIns="0" bIns="0" rtlCol="0" anchor="t"/>
          <a:lstStyle/>
          <a:p>
            <a:pPr indent="0" marL="0">
              <a:buNone/>
            </a:pPr>
            <a:r>
              <a:rPr lang="en-US" sz="1150" dirty="0">
                <a:solidFill>
                  <a:srgbClr val="615D59"/>
                </a:solidFill>
              </a:rPr>
              <a:t>of the paper for every single encoder on CoV-Vac and stability, and for NT and ESM-2 on fungal. Fungal RNA-FM matches only on the codon grid; E. coli is within noise.</a:t>
            </a:r>
            <a:endParaRPr lang="en-US" sz="1150" dirty="0"/>
          </a:p>
        </p:txBody>
      </p:sp>
      <p:sp>
        <p:nvSpPr>
          <p:cNvPr id="9" name="stat card"/>
          <p:cNvSpPr/>
          <p:nvPr/>
        </p:nvSpPr>
        <p:spPr>
          <a:xfrm>
            <a:off x="8641080" y="3995928"/>
            <a:ext cx="2743200" cy="1783080"/>
          </a:xfrm>
          <a:prstGeom prst="roundRect">
            <a:avLst>
              <a:gd name="adj" fmla="val 3077"/>
            </a:avLst>
          </a:prstGeom>
          <a:solidFill>
            <a:srgbClr val="FFFFFF"/>
          </a:solidFill>
          <a:ln w="9525">
            <a:solidFill>
              <a:srgbClr val="E6E6E6"/>
            </a:solidFill>
            <a:prstDash val="solid"/>
          </a:ln>
        </p:spPr>
      </p:sp>
      <p:sp>
        <p:nvSpPr>
          <p:cNvPr id="10" name="stat value"/>
          <p:cNvSpPr txBox="1"/>
          <p:nvPr/>
        </p:nvSpPr>
        <p:spPr>
          <a:xfrm>
            <a:off x="8842248" y="417880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3 of 4</a:t>
            </a:r>
            <a:endParaRPr lang="en-US" sz="2400" dirty="0"/>
          </a:p>
        </p:txBody>
      </p:sp>
      <p:sp>
        <p:nvSpPr>
          <p:cNvPr id="11" name="stat label"/>
          <p:cNvSpPr txBox="1"/>
          <p:nvPr/>
        </p:nvSpPr>
        <p:spPr>
          <a:xfrm>
            <a:off x="8842248" y="4654296"/>
            <a:ext cx="2340864" cy="1005840"/>
          </a:xfrm>
          <a:prstGeom prst="rect">
            <a:avLst/>
          </a:prstGeom>
          <a:noFill/>
          <a:ln/>
        </p:spPr>
        <p:txBody>
          <a:bodyPr wrap="square" lIns="0" tIns="0" rIns="0" bIns="0" rtlCol="0" anchor="t"/>
          <a:lstStyle/>
          <a:p>
            <a:pPr indent="0" marL="0">
              <a:buNone/>
            </a:pPr>
            <a:r>
              <a:rPr lang="en-US" sz="1150" dirty="0">
                <a:solidFill>
                  <a:srgbClr val="615D59"/>
                </a:solidFill>
              </a:rPr>
              <a:t>benchmarks where cross-attention beats its published value; on E. coli it is half a point under. The gated head, the paper's best on three, is the best on none.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Phase A · the paper's central claim</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Does fusion beat the best single encoder? On two benchmarks out of four</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Paired bootstrap over each published test split, 4,000 draws, seeds averaged inside each draw, repeated sequences resampled together. The best single encoder is the one validation chose.</a:t>
            </a:r>
            <a:endParaRPr lang="en-US" sz="1150" dirty="0"/>
          </a:p>
        </p:txBody>
      </p:sp>
      <p:graphicFrame>
        <p:nvGraphicFramePr>
          <p:cNvPr id="6" name="verdict table"/>
          <p:cNvGraphicFramePr>
            <a:graphicFrameLocks noGrp="1"/>
          </p:cNvGraphicFramePr>
          <p:nvPr>
            <p:extLst>
              <p:ext uri="{D42A27DB-BD31-4B8C-83A1-F6EECF244321}">
                <p14:modId xmlns:p14="http://schemas.microsoft.com/office/powerpoint/2010/main" val="1579011935"/>
              </p:ext>
            </p:extLst>
          </p:nvPr>
        </p:nvGraphicFramePr>
        <p:xfrm>
          <a:off x="813816" y="2029968"/>
          <a:ext cx="7589520" cy="914400"/>
        </p:xfrm>
        <a:graphic>
          <a:graphicData uri="http://schemas.openxmlformats.org/drawingml/2006/table">
            <a:tbl>
              <a:tblPr/>
              <a:tblGrid>
                <a:gridCol w="2240280"/>
                <a:gridCol w="1417320"/>
                <a:gridCol w="1828800"/>
                <a:gridCol w="2103120"/>
              </a:tblGrid>
              <a:tr h="384048">
                <a:tc>
                  <a:txBody>
                    <a:bodyPr/>
                    <a:lstStyle/>
                    <a:p>
                      <a:pPr algn="l" indent="0" marL="0">
                        <a:buNone/>
                      </a:pPr>
                      <a:r>
                        <a:rPr lang="en-US" sz="1150" b="1" dirty="0">
                          <a:solidFill>
                            <a:srgbClr val="31302E"/>
                          </a:solidFill>
                          <a:latin typeface="Inter" pitchFamily="34" charset="0"/>
                          <a:ea typeface="Inter" pitchFamily="34" charset="-122"/>
                          <a:cs typeface="Inter" pitchFamily="34" charset="-120"/>
                        </a:rPr>
                        <a:t>Benchmark</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Best single encoder</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Best head minus it, 95% interval</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Verdict</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Fungal expression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NT, 0.807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+0.016  [-0.014, +0.048]</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tie; the paper's +0.020 sits inside the interval</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CoV-Vac</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RNA-FM, 0.838</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-0.002  [-0.026, +0.020]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tie; concatenation and the gated head are significantly worse</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E. coli (accuracy)</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ESM-2, 51.7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+6.9  [+4.2, +9.6]</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fusion won here, until Phase B changed the single encoder</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Stability, published split</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RNA-FM, 0.552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+0.007  [-0.006, +0.019]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tie; the split repeats training sequences in 68% of test rows</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Stability, unseen sequences</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RNA-FM, 0.319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+0.040  [-0.003, +0.083]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leans fusion; one seed, not yet resolved</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GTEx pilot, IsoFormer's aggregator</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RNA, 0.452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+0.047  [+0.027, +0.069]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fusion wins</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bl>
          </a:graphicData>
        </a:graphic>
      </p:graphicFrame>
      <p:sp>
        <p:nvSpPr>
          <p:cNvPr id="6" name="stat card"/>
          <p:cNvSpPr/>
          <p:nvPr/>
        </p:nvSpPr>
        <p:spPr>
          <a:xfrm>
            <a:off x="8641080" y="2029968"/>
            <a:ext cx="2743200" cy="1783080"/>
          </a:xfrm>
          <a:prstGeom prst="roundRect">
            <a:avLst>
              <a:gd name="adj" fmla="val 3077"/>
            </a:avLst>
          </a:prstGeom>
          <a:solidFill>
            <a:srgbClr val="FFFFFF"/>
          </a:solidFill>
          <a:ln w="9525">
            <a:solidFill>
              <a:srgbClr val="E6E6E6"/>
            </a:solidFill>
            <a:prstDash val="solid"/>
          </a:ln>
        </p:spPr>
      </p:sp>
      <p:sp>
        <p:nvSpPr>
          <p:cNvPr id="7" name="stat value"/>
          <p:cNvSpPr txBox="1"/>
          <p:nvPr/>
        </p:nvSpPr>
        <p:spPr>
          <a:xfrm>
            <a:off x="8842248" y="221284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See next slide</a:t>
            </a:r>
            <a:endParaRPr lang="en-US" sz="2400" dirty="0"/>
          </a:p>
        </p:txBody>
      </p:sp>
      <p:sp>
        <p:nvSpPr>
          <p:cNvPr id="8" name="stat label"/>
          <p:cNvSpPr txBox="1"/>
          <p:nvPr/>
        </p:nvSpPr>
        <p:spPr>
          <a:xfrm>
            <a:off x="8842248" y="2688336"/>
            <a:ext cx="2340864" cy="1005840"/>
          </a:xfrm>
          <a:prstGeom prst="rect">
            <a:avLst/>
          </a:prstGeom>
          <a:noFill/>
          <a:ln/>
        </p:spPr>
        <p:txBody>
          <a:bodyPr wrap="square" lIns="0" tIns="0" rIns="0" bIns="0" rtlCol="0" anchor="t"/>
          <a:lstStyle/>
          <a:p>
            <a:pPr indent="0" marL="0">
              <a:buNone/>
            </a:pPr>
            <a:r>
              <a:rPr lang="en-US" sz="1150" dirty="0">
                <a:solidFill>
                  <a:srgbClr val="615D59"/>
                </a:solidFill>
              </a:rPr>
              <a:t>This is the table as Phase A left it. Phase B swapped one encoder and the E. coli row did not survive it.</a:t>
            </a:r>
            <a:endParaRPr lang="en-US" sz="1150" dirty="0"/>
          </a:p>
        </p:txBody>
      </p:sp>
      <p:sp>
        <p:nvSpPr>
          <p:cNvPr id="9" name="stat card"/>
          <p:cNvSpPr/>
          <p:nvPr/>
        </p:nvSpPr>
        <p:spPr>
          <a:xfrm>
            <a:off x="8641080" y="3995928"/>
            <a:ext cx="2743200" cy="1783080"/>
          </a:xfrm>
          <a:prstGeom prst="roundRect">
            <a:avLst>
              <a:gd name="adj" fmla="val 3077"/>
            </a:avLst>
          </a:prstGeom>
          <a:solidFill>
            <a:srgbClr val="213183"/>
          </a:solidFill>
          <a:ln w="9525">
            <a:solidFill>
              <a:srgbClr val="213183"/>
            </a:solidFill>
            <a:prstDash val="solid"/>
          </a:ln>
        </p:spPr>
      </p:sp>
      <p:sp>
        <p:nvSpPr>
          <p:cNvPr id="10" name="stat value"/>
          <p:cNvSpPr txBox="1"/>
          <p:nvPr/>
        </p:nvSpPr>
        <p:spPr>
          <a:xfrm>
            <a:off x="8842248" y="4178808"/>
            <a:ext cx="2340864" cy="457200"/>
          </a:xfrm>
          <a:prstGeom prst="rect">
            <a:avLst/>
          </a:prstGeom>
          <a:noFill/>
          <a:ln/>
        </p:spPr>
        <p:txBody>
          <a:bodyPr wrap="square" lIns="0" tIns="0" rIns="0" bIns="0" rtlCol="0" anchor="ctr"/>
          <a:lstStyle/>
          <a:p>
            <a:pPr indent="0" marL="0">
              <a:buNone/>
            </a:pPr>
            <a:r>
              <a:rPr lang="en-US" sz="2400" b="1" dirty="0">
                <a:solidFill>
                  <a:srgbClr val="FFFFFF"/>
                </a:solidFill>
              </a:rPr>
              <a:t>The question</a:t>
            </a:r>
            <a:endParaRPr lang="en-US" sz="2400" dirty="0"/>
          </a:p>
        </p:txBody>
      </p:sp>
      <p:sp>
        <p:nvSpPr>
          <p:cNvPr id="11" name="stat label"/>
          <p:cNvSpPr txBox="1"/>
          <p:nvPr/>
        </p:nvSpPr>
        <p:spPr>
          <a:xfrm>
            <a:off x="8842248" y="4654296"/>
            <a:ext cx="2340864" cy="1005840"/>
          </a:xfrm>
          <a:prstGeom prst="rect">
            <a:avLst/>
          </a:prstGeom>
          <a:noFill/>
          <a:ln/>
        </p:spPr>
        <p:txBody>
          <a:bodyPr wrap="square" lIns="0" tIns="0" rIns="0" bIns="0" rtlCol="0" anchor="t"/>
          <a:lstStyle/>
          <a:p>
            <a:pPr indent="0" marL="0">
              <a:buNone/>
            </a:pPr>
            <a:r>
              <a:rPr lang="en-US" sz="1150" dirty="0">
                <a:solidFill>
                  <a:srgbClr val="FFFFFF"/>
                </a:solidFill>
              </a:rPr>
              <a:t>Not whether fusion beats the encoders the paper happened to pick, but whether it beats the best encoder available for the task.</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Phase A · why the gated head does not reproduce</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The gated head is a modality selector, and on CoV-Vac it selects against the best encoder</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Attention weights averaged over each test split; three values are seeds 0, 1 and 2. The entropy term never helps: on all four benchmarks the head without it scores at or above the head with it.</a:t>
            </a:r>
            <a:endParaRPr lang="en-US" sz="1150" dirty="0"/>
          </a:p>
        </p:txBody>
      </p:sp>
      <p:graphicFrame>
        <p:nvGraphicFramePr>
          <p:cNvPr id="7" name="weights table"/>
          <p:cNvGraphicFramePr>
            <a:graphicFrameLocks noGrp="1"/>
          </p:cNvGraphicFramePr>
          <p:nvPr>
            <p:extLst>
              <p:ext uri="{D42A27DB-BD31-4B8C-83A1-F6EECF244321}">
                <p14:modId xmlns:p14="http://schemas.microsoft.com/office/powerpoint/2010/main" val="1579011935"/>
              </p:ext>
            </p:extLst>
          </p:nvPr>
        </p:nvGraphicFramePr>
        <p:xfrm>
          <a:off x="813816" y="2029968"/>
          <a:ext cx="7589520" cy="914400"/>
        </p:xfrm>
        <a:graphic>
          <a:graphicData uri="http://schemas.openxmlformats.org/drawingml/2006/table">
            <a:tbl>
              <a:tblPr/>
              <a:tblGrid>
                <a:gridCol w="1554480"/>
                <a:gridCol w="1371600"/>
                <a:gridCol w="1737360"/>
                <a:gridCol w="1371600"/>
                <a:gridCol w="1554480"/>
              </a:tblGrid>
              <a:tr h="384048">
                <a:tc>
                  <a:txBody>
                    <a:bodyPr/>
                    <a:lstStyle/>
                    <a:p>
                      <a:pPr algn="l" indent="0" marL="0">
                        <a:buNone/>
                      </a:pPr>
                      <a:r>
                        <a:rPr lang="en-US" sz="1150" b="1" dirty="0">
                          <a:solidFill>
                            <a:srgbClr val="31302E"/>
                          </a:solidFill>
                          <a:latin typeface="Inter" pitchFamily="34" charset="0"/>
                          <a:ea typeface="Inter" pitchFamily="34" charset="-122"/>
                          <a:cs typeface="Inter" pitchFamily="34" charset="-120"/>
                        </a:rPr>
                        <a:t>Benchmark</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Entropy weight</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DNA</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RNA</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Protein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Fungal</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0.01</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0.20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0.20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0.60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CoV-Vac</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0.01</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0.83 / 0.92 / 0.94</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0.01 / 0.03 / 0.00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0.16 / 0.05 / 0.06</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E. coli</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0.01</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0.11 / 0.18 / 0.10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0.89 / 0.82 / 0.90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Stability</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0.01</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0.28</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0.00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0.71</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Any benchmark</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 or 1.0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one modality takes 1.00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bl>
          </a:graphicData>
        </a:graphic>
      </p:graphicFrame>
      <p:sp>
        <p:nvSpPr>
          <p:cNvPr id="6" name="weights reading"/>
          <p:cNvSpPr txBox="1"/>
          <p:nvPr/>
        </p:nvSpPr>
        <p:spPr>
          <a:xfrm>
            <a:off x="813816" y="4526280"/>
            <a:ext cx="7589520" cy="1325880"/>
          </a:xfrm>
          <a:prstGeom prst="rect">
            <a:avLst/>
          </a:prstGeom>
          <a:noFill/>
          <a:ln/>
        </p:spPr>
        <p:txBody>
          <a:bodyPr wrap="square" lIns="0" tIns="0" rIns="0" bIns="0" rtlCol="0" anchor="t"/>
          <a:lstStyle/>
          <a:p>
            <a:pPr indent="0" marL="0">
              <a:buNone/>
            </a:pPr>
            <a:r>
              <a:rPr lang="en-US" sz="1250" b="1" dirty="0">
                <a:solidFill>
                  <a:srgbClr val="31302E"/>
                </a:solidFill>
              </a:rPr>
              <a:t>What the paper says the weights are: </a:t>
            </a:r>
            <a:pPr indent="0" marL="0">
              <a:buNone/>
            </a:pPr>
            <a:r>
              <a:rPr lang="en-US" sz="1250" dirty="0">
                <a:solidFill>
                  <a:srgbClr val="615D59"/>
                </a:solidFill>
              </a:rPr>
              <a:t>how much each modality is used per sequence, an interpretability output.</a:t>
            </a:r>
            <a:endParaRPr lang="en-US" sz="1250" dirty="0"/>
          </a:p>
          <a:p>
            <a:pPr indent="0" marL="0">
              <a:buNone/>
            </a:pPr>
            <a:r>
              <a:rPr lang="en-US" sz="1250" b="1" dirty="0">
                <a:solidFill>
                  <a:srgbClr val="31302E"/>
                </a:solidFill>
              </a:rPr>
              <a:t>What they are here: </a:t>
            </a:r>
            <a:pPr indent="0" marL="0">
              <a:buNone/>
            </a:pPr>
            <a:r>
              <a:rPr lang="en-US" sz="1250" dirty="0">
                <a:solidFill>
                  <a:srgbClr val="615D59"/>
                </a:solidFill>
              </a:rPr>
              <a:t>which modality the head kept. RNA is at zero on all three Phase A benchmarks. On CoV-Vac, where RNA-FM is the strongest single encoder (0.838), the head puts 0.83 to 0.94 on DNA and scores like a DNA-only model: 0.783 against DNA alone at 0.779.</a:t>
            </a:r>
            <a:endParaRPr lang="en-US" sz="1250" dirty="0"/>
          </a:p>
        </p:txBody>
      </p:sp>
      <p:sp>
        <p:nvSpPr>
          <p:cNvPr id="7" name="stat card"/>
          <p:cNvSpPr/>
          <p:nvPr/>
        </p:nvSpPr>
        <p:spPr>
          <a:xfrm>
            <a:off x="8641080" y="2029968"/>
            <a:ext cx="2743200" cy="1783080"/>
          </a:xfrm>
          <a:prstGeom prst="roundRect">
            <a:avLst>
              <a:gd name="adj" fmla="val 3077"/>
            </a:avLst>
          </a:prstGeom>
          <a:solidFill>
            <a:srgbClr val="FFFFFF"/>
          </a:solidFill>
          <a:ln w="9525">
            <a:solidFill>
              <a:srgbClr val="E6E6E6"/>
            </a:solidFill>
            <a:prstDash val="solid"/>
          </a:ln>
        </p:spPr>
      </p:sp>
      <p:sp>
        <p:nvSpPr>
          <p:cNvPr id="8" name="stat value"/>
          <p:cNvSpPr txBox="1"/>
          <p:nvPr/>
        </p:nvSpPr>
        <p:spPr>
          <a:xfrm>
            <a:off x="8842248" y="221284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0.783 vs 0.864</a:t>
            </a:r>
            <a:endParaRPr lang="en-US" sz="2400" dirty="0"/>
          </a:p>
        </p:txBody>
      </p:sp>
      <p:sp>
        <p:nvSpPr>
          <p:cNvPr id="9" name="stat label"/>
          <p:cNvSpPr txBox="1"/>
          <p:nvPr/>
        </p:nvSpPr>
        <p:spPr>
          <a:xfrm>
            <a:off x="8842248" y="2688336"/>
            <a:ext cx="2340864" cy="1005840"/>
          </a:xfrm>
          <a:prstGeom prst="rect">
            <a:avLst/>
          </a:prstGeom>
          <a:noFill/>
          <a:ln/>
        </p:spPr>
        <p:txBody>
          <a:bodyPr wrap="square" lIns="0" tIns="0" rIns="0" bIns="0" rtlCol="0" anchor="t"/>
          <a:lstStyle/>
          <a:p>
            <a:pPr indent="0" marL="0">
              <a:buNone/>
            </a:pPr>
            <a:r>
              <a:rPr lang="en-US" sz="1150" dirty="0">
                <a:solidFill>
                  <a:srgbClr val="615D59"/>
                </a:solidFill>
              </a:rPr>
              <a:t>The gated head on CoV-Vac, ours against published: the largest miss anywhere in the reproduction.</a:t>
            </a:r>
            <a:endParaRPr lang="en-US" sz="1150" dirty="0"/>
          </a:p>
        </p:txBody>
      </p:sp>
      <p:sp>
        <p:nvSpPr>
          <p:cNvPr id="10" name="stat card"/>
          <p:cNvSpPr/>
          <p:nvPr/>
        </p:nvSpPr>
        <p:spPr>
          <a:xfrm>
            <a:off x="8641080" y="3995928"/>
            <a:ext cx="2743200" cy="1783080"/>
          </a:xfrm>
          <a:prstGeom prst="roundRect">
            <a:avLst>
              <a:gd name="adj" fmla="val 3077"/>
            </a:avLst>
          </a:prstGeom>
          <a:solidFill>
            <a:srgbClr val="FFFFFF"/>
          </a:solidFill>
          <a:ln w="9525">
            <a:solidFill>
              <a:srgbClr val="E6E6E6"/>
            </a:solidFill>
            <a:prstDash val="solid"/>
          </a:ln>
        </p:spPr>
      </p:sp>
      <p:sp>
        <p:nvSpPr>
          <p:cNvPr id="11" name="stat value"/>
          <p:cNvSpPr txBox="1"/>
          <p:nvPr/>
        </p:nvSpPr>
        <p:spPr>
          <a:xfrm>
            <a:off x="8842248" y="417880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0.801 to 0.812</a:t>
            </a:r>
            <a:endParaRPr lang="en-US" sz="2400" dirty="0"/>
          </a:p>
        </p:txBody>
      </p:sp>
      <p:sp>
        <p:nvSpPr>
          <p:cNvPr id="12" name="stat label"/>
          <p:cNvSpPr txBox="1"/>
          <p:nvPr/>
        </p:nvSpPr>
        <p:spPr>
          <a:xfrm>
            <a:off x="8842248" y="4654296"/>
            <a:ext cx="2340864" cy="1005840"/>
          </a:xfrm>
          <a:prstGeom prst="rect">
            <a:avLst/>
          </a:prstGeom>
          <a:noFill/>
          <a:ln/>
        </p:spPr>
        <p:txBody>
          <a:bodyPr wrap="square" lIns="0" tIns="0" rIns="0" bIns="0" rtlCol="0" anchor="t"/>
          <a:lstStyle/>
          <a:p>
            <a:pPr indent="0" marL="0">
              <a:buNone/>
            </a:pPr>
            <a:r>
              <a:rPr lang="en-US" sz="1150" dirty="0">
                <a:solidFill>
                  <a:srgbClr val="615D59"/>
                </a:solidFill>
              </a:rPr>
              <a:t>The fungal gated head at 100 and then 1,280 channels, against 0.824 published. Width is half its gap; the other benchmarks at 1,280 are the last check.</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Phase A · mRNA stability</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The published stability split is mostly memorization: every model drops 0.2 on unseen sequences</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Seed 0, the same trained models scored on the whole published test split (3,579 rows) and on its 1,135 rows whose sequence never appears in training. Validation leaks too (2,360 of 3,608 rows), so early stopping still watched a leaky split.</a:t>
            </a:r>
            <a:endParaRPr lang="en-US" sz="1150" dirty="0"/>
          </a:p>
        </p:txBody>
      </p:sp>
      <p:sp>
        <p:nvSpPr>
          <p:cNvPr id="5" name="chart card"/>
          <p:cNvSpPr/>
          <p:nvPr/>
        </p:nvSpPr>
        <p:spPr>
          <a:xfrm>
            <a:off x="813816" y="2029968"/>
            <a:ext cx="7589520" cy="3794760"/>
          </a:xfrm>
          <a:prstGeom prst="roundRect">
            <a:avLst>
              <a:gd name="adj" fmla="val 1446"/>
            </a:avLst>
          </a:prstGeom>
          <a:solidFill>
            <a:srgbClr val="FFFFFF"/>
          </a:solidFill>
          <a:ln w="9525">
            <a:solidFill>
              <a:srgbClr val="E6E6E6"/>
            </a:solidFill>
            <a:prstDash val="solid"/>
          </a:ln>
        </p:spPr>
      </p:sp>
      <p:graphicFrame>
        <p:nvGraphicFramePr>
          <p:cNvPr id="6" name="stability leak chart" descr=""/>
          <p:cNvGraphicFramePr/>
          <p:nvPr/>
        </p:nvGraphicFramePr>
        <p:xfrm>
          <a:off x="914400" y="2121408"/>
          <a:ext cx="7406640" cy="3611880"/>
        </p:xfrm>
        <a:graphic xmlns:a="http://schemas.openxmlformats.org/drawingml/2006/main">
          <a:graphicData uri="http://schemas.openxmlformats.org/drawingml/2006/chart">
            <c:chart xmlns:c="http://schemas.openxmlformats.org/drawingml/2006/chart" r:id="rId1"/>
          </a:graphicData>
        </a:graphic>
      </p:graphicFrame>
      <p:sp>
        <p:nvSpPr>
          <p:cNvPr id="7" name="stat card"/>
          <p:cNvSpPr/>
          <p:nvPr/>
        </p:nvSpPr>
        <p:spPr>
          <a:xfrm>
            <a:off x="8641080" y="2029968"/>
            <a:ext cx="2743200" cy="1783080"/>
          </a:xfrm>
          <a:prstGeom prst="roundRect">
            <a:avLst>
              <a:gd name="adj" fmla="val 3077"/>
            </a:avLst>
          </a:prstGeom>
          <a:solidFill>
            <a:srgbClr val="FFFFFF"/>
          </a:solidFill>
          <a:ln w="9525">
            <a:solidFill>
              <a:srgbClr val="E6E6E6"/>
            </a:solidFill>
            <a:prstDash val="solid"/>
          </a:ln>
        </p:spPr>
      </p:sp>
      <p:sp>
        <p:nvSpPr>
          <p:cNvPr id="8" name="stat value"/>
          <p:cNvSpPr txBox="1"/>
          <p:nvPr/>
        </p:nvSpPr>
        <p:spPr>
          <a:xfrm>
            <a:off x="8842248" y="221284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0.53 to 0.56</a:t>
            </a:r>
            <a:endParaRPr lang="en-US" sz="2400" dirty="0"/>
          </a:p>
        </p:txBody>
      </p:sp>
      <p:sp>
        <p:nvSpPr>
          <p:cNvPr id="9" name="stat label"/>
          <p:cNvSpPr txBox="1"/>
          <p:nvPr/>
        </p:nvSpPr>
        <p:spPr>
          <a:xfrm>
            <a:off x="8842248" y="2688336"/>
            <a:ext cx="2340864" cy="1005840"/>
          </a:xfrm>
          <a:prstGeom prst="rect">
            <a:avLst/>
          </a:prstGeom>
          <a:noFill/>
          <a:ln/>
        </p:spPr>
        <p:txBody>
          <a:bodyPr wrap="square" lIns="0" tIns="0" rIns="0" bIns="0" rtlCol="0" anchor="t"/>
          <a:lstStyle/>
          <a:p>
            <a:pPr indent="0" marL="0">
              <a:buNone/>
            </a:pPr>
            <a:r>
              <a:rPr lang="en-US" sz="1150" dirty="0">
                <a:solidFill>
                  <a:srgbClr val="615D59"/>
                </a:solidFill>
              </a:rPr>
              <a:t>The published range for every model, ours and the paper's, is carried by the 2,444 test rows that repeat a training sequence.</a:t>
            </a:r>
            <a:endParaRPr lang="en-US" sz="1150" dirty="0"/>
          </a:p>
        </p:txBody>
      </p:sp>
      <p:sp>
        <p:nvSpPr>
          <p:cNvPr id="10" name="stat card"/>
          <p:cNvSpPr/>
          <p:nvPr/>
        </p:nvSpPr>
        <p:spPr>
          <a:xfrm>
            <a:off x="8641080" y="3995928"/>
            <a:ext cx="2743200" cy="1783080"/>
          </a:xfrm>
          <a:prstGeom prst="roundRect">
            <a:avLst>
              <a:gd name="adj" fmla="val 3077"/>
            </a:avLst>
          </a:prstGeom>
          <a:solidFill>
            <a:srgbClr val="FFFFFF"/>
          </a:solidFill>
          <a:ln w="9525">
            <a:solidFill>
              <a:srgbClr val="E6E6E6"/>
            </a:solidFill>
            <a:prstDash val="solid"/>
          </a:ln>
        </p:spPr>
      </p:sp>
      <p:sp>
        <p:nvSpPr>
          <p:cNvPr id="11" name="stat value"/>
          <p:cNvSpPr txBox="1"/>
          <p:nvPr/>
        </p:nvSpPr>
        <p:spPr>
          <a:xfrm>
            <a:off x="8842248" y="417880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+0.03 to +0.04</a:t>
            </a:r>
            <a:endParaRPr lang="en-US" sz="2400" dirty="0"/>
          </a:p>
        </p:txBody>
      </p:sp>
      <p:sp>
        <p:nvSpPr>
          <p:cNvPr id="12" name="stat label"/>
          <p:cNvSpPr txBox="1"/>
          <p:nvPr/>
        </p:nvSpPr>
        <p:spPr>
          <a:xfrm>
            <a:off x="8842248" y="4654296"/>
            <a:ext cx="2340864" cy="1005840"/>
          </a:xfrm>
          <a:prstGeom prst="rect">
            <a:avLst/>
          </a:prstGeom>
          <a:noFill/>
          <a:ln/>
        </p:spPr>
        <p:txBody>
          <a:bodyPr wrap="square" lIns="0" tIns="0" rIns="0" bIns="0" rtlCol="0" anchor="t"/>
          <a:lstStyle/>
          <a:p>
            <a:pPr indent="0" marL="0">
              <a:buNone/>
            </a:pPr>
            <a:r>
              <a:rPr lang="en-US" sz="1150" dirty="0">
                <a:solidFill>
                  <a:srgbClr val="615D59"/>
                </a:solidFill>
              </a:rPr>
              <a:t>The fusion heads above RNA-FM on the clean rows, just short of resolving at one seed. A sequence-grouped re-split with seeds would settle 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Plan item 5 · the mRFP synonymous control</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Every nucleotide encoder carries codon information beyond composition and folding; mRNA-FM carries by far the most</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1,000 synonymous recodings of one gene, Stage 1's pooled embeddings. Gain in held-out R² when an encoder is stacked on GC, GC3, the 64 codon frequencies, a pairing proxy and two folding energies (together R² 0.306); mean over ten grouped fold assignments.</a:t>
            </a:r>
            <a:endParaRPr lang="en-US" sz="1150" dirty="0"/>
          </a:p>
        </p:txBody>
      </p:sp>
      <p:sp>
        <p:nvSpPr>
          <p:cNvPr id="5" name="chart card"/>
          <p:cNvSpPr/>
          <p:nvPr/>
        </p:nvSpPr>
        <p:spPr>
          <a:xfrm>
            <a:off x="813816" y="2029968"/>
            <a:ext cx="7589520" cy="3794760"/>
          </a:xfrm>
          <a:prstGeom prst="roundRect">
            <a:avLst>
              <a:gd name="adj" fmla="val 1446"/>
            </a:avLst>
          </a:prstGeom>
          <a:solidFill>
            <a:srgbClr val="FFFFFF"/>
          </a:solidFill>
          <a:ln w="9525">
            <a:solidFill>
              <a:srgbClr val="E6E6E6"/>
            </a:solidFill>
            <a:prstDash val="solid"/>
          </a:ln>
        </p:spPr>
      </p:sp>
      <p:graphicFrame>
        <p:nvGraphicFramePr>
          <p:cNvPr id="6" name="mrfp chart" descr=""/>
          <p:cNvGraphicFramePr/>
          <p:nvPr/>
        </p:nvGraphicFramePr>
        <p:xfrm>
          <a:off x="914400" y="2121408"/>
          <a:ext cx="7406640" cy="3611880"/>
        </p:xfrm>
        <a:graphic xmlns:a="http://schemas.openxmlformats.org/drawingml/2006/main">
          <a:graphicData uri="http://schemas.openxmlformats.org/drawingml/2006/chart">
            <c:chart xmlns:c="http://schemas.openxmlformats.org/drawingml/2006/chart" r:id="rId1"/>
          </a:graphicData>
        </a:graphic>
      </p:graphicFrame>
      <p:sp>
        <p:nvSpPr>
          <p:cNvPr id="7" name="stat card"/>
          <p:cNvSpPr/>
          <p:nvPr/>
        </p:nvSpPr>
        <p:spPr>
          <a:xfrm>
            <a:off x="8641080" y="2029968"/>
            <a:ext cx="2743200" cy="1783080"/>
          </a:xfrm>
          <a:prstGeom prst="roundRect">
            <a:avLst>
              <a:gd name="adj" fmla="val 3077"/>
            </a:avLst>
          </a:prstGeom>
          <a:solidFill>
            <a:srgbClr val="FFFFFF"/>
          </a:solidFill>
          <a:ln w="9525">
            <a:solidFill>
              <a:srgbClr val="E6E6E6"/>
            </a:solidFill>
            <a:prstDash val="solid"/>
          </a:ln>
        </p:spPr>
      </p:sp>
      <p:sp>
        <p:nvSpPr>
          <p:cNvPr id="8" name="stat value"/>
          <p:cNvSpPr txBox="1"/>
          <p:nvPr/>
        </p:nvSpPr>
        <p:spPr>
          <a:xfrm>
            <a:off x="8842248" y="221284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10 of 10</a:t>
            </a:r>
            <a:endParaRPr lang="en-US" sz="2400" dirty="0"/>
          </a:p>
        </p:txBody>
      </p:sp>
      <p:sp>
        <p:nvSpPr>
          <p:cNvPr id="9" name="stat label"/>
          <p:cNvSpPr txBox="1"/>
          <p:nvPr/>
        </p:nvSpPr>
        <p:spPr>
          <a:xfrm>
            <a:off x="8842248" y="2688336"/>
            <a:ext cx="2340864" cy="1005840"/>
          </a:xfrm>
          <a:prstGeom prst="rect">
            <a:avLst/>
          </a:prstGeom>
          <a:noFill/>
          <a:ln/>
        </p:spPr>
        <p:txBody>
          <a:bodyPr wrap="square" lIns="0" tIns="0" rIns="0" bIns="0" rtlCol="0" anchor="t"/>
          <a:lstStyle/>
          <a:p>
            <a:pPr indent="0" marL="0">
              <a:buNone/>
            </a:pPr>
            <a:r>
              <a:rPr lang="en-US" sz="1150" dirty="0">
                <a:solidFill>
                  <a:srgbClr val="615D59"/>
                </a:solidFill>
              </a:rPr>
              <a:t>fold assignments in which each nucleotide encoder beats the Track A controls (GC3, codon use, Nussinov). The protein encoders add exactly nothing: the control holds.</a:t>
            </a:r>
            <a:endParaRPr lang="en-US" sz="1150" dirty="0"/>
          </a:p>
        </p:txBody>
      </p:sp>
      <p:sp>
        <p:nvSpPr>
          <p:cNvPr id="10" name="stat card"/>
          <p:cNvSpPr/>
          <p:nvPr/>
        </p:nvSpPr>
        <p:spPr>
          <a:xfrm>
            <a:off x="8641080" y="3995928"/>
            <a:ext cx="2743200" cy="1783080"/>
          </a:xfrm>
          <a:prstGeom prst="roundRect">
            <a:avLst>
              <a:gd name="adj" fmla="val 3077"/>
            </a:avLst>
          </a:prstGeom>
          <a:solidFill>
            <a:srgbClr val="FFFFFF"/>
          </a:solidFill>
          <a:ln w="9525">
            <a:solidFill>
              <a:srgbClr val="E6E6E6"/>
            </a:solidFill>
            <a:prstDash val="solid"/>
          </a:ln>
        </p:spPr>
      </p:sp>
      <p:sp>
        <p:nvSpPr>
          <p:cNvPr id="11" name="stat value"/>
          <p:cNvSpPr txBox="1"/>
          <p:nvPr/>
        </p:nvSpPr>
        <p:spPr>
          <a:xfrm>
            <a:off x="8842248" y="417880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First 60 nt</a:t>
            </a:r>
            <a:endParaRPr lang="en-US" sz="2400" dirty="0"/>
          </a:p>
        </p:txBody>
      </p:sp>
      <p:sp>
        <p:nvSpPr>
          <p:cNvPr id="12" name="stat label"/>
          <p:cNvSpPr txBox="1"/>
          <p:nvPr/>
        </p:nvSpPr>
        <p:spPr>
          <a:xfrm>
            <a:off x="8842248" y="4654296"/>
            <a:ext cx="2340864" cy="1005840"/>
          </a:xfrm>
          <a:prstGeom prst="rect">
            <a:avLst/>
          </a:prstGeom>
          <a:noFill/>
          <a:ln/>
        </p:spPr>
        <p:txBody>
          <a:bodyPr wrap="square" lIns="0" tIns="0" rIns="0" bIns="0" rtlCol="0" anchor="t"/>
          <a:lstStyle/>
          <a:p>
            <a:pPr indent="0" marL="0">
              <a:buNone/>
            </a:pPr>
            <a:r>
              <a:rPr lang="en-US" sz="1150" dirty="0">
                <a:solidFill>
                  <a:srgbClr val="615D59"/>
                </a:solidFill>
              </a:rPr>
              <a:t>The one structure feature that matters is folding energy after the start codon (R² 0.11; a weaker fold, higher expression), as Kudla et al. 2009 found. The Nussinov proxy carries nothing.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Priority 1, Phase B · one encoder swapped at a time</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A better RNA encoder raises the single-encoder score by 8 points and erases the fusion gain</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Seed 0, Equation 1's convolution, 100 channels, everything else held at Phase A's settings. Paired bootstrap on the same test rows; run on Chase's GPU and scored independently twice. Four of the eight swaps; the rest follow.</a:t>
            </a:r>
            <a:endParaRPr lang="en-US" sz="1150" dirty="0"/>
          </a:p>
        </p:txBody>
      </p:sp>
      <p:graphicFrame>
        <p:nvGraphicFramePr>
          <p:cNvPr id="10" name="swap table"/>
          <p:cNvGraphicFramePr>
            <a:graphicFrameLocks noGrp="1"/>
          </p:cNvGraphicFramePr>
          <p:nvPr>
            <p:extLst>
              <p:ext uri="{D42A27DB-BD31-4B8C-83A1-F6EECF244321}">
                <p14:modId xmlns:p14="http://schemas.microsoft.com/office/powerpoint/2010/main" val="1579011935"/>
              </p:ext>
            </p:extLst>
          </p:nvPr>
        </p:nvGraphicFramePr>
        <p:xfrm>
          <a:off x="813816" y="2029968"/>
          <a:ext cx="7589520" cy="914400"/>
        </p:xfrm>
        <a:graphic>
          <a:graphicData uri="http://schemas.openxmlformats.org/drawingml/2006/table">
            <a:tbl>
              <a:tblPr/>
              <a:tblGrid>
                <a:gridCol w="2377440"/>
                <a:gridCol w="1371600"/>
                <a:gridCol w="1280160"/>
                <a:gridCol w="1371600"/>
                <a:gridCol w="1188720"/>
              </a:tblGrid>
              <a:tr h="347472">
                <a:tc>
                  <a:txBody>
                    <a:bodyPr/>
                    <a:lstStyle/>
                    <a:p>
                      <a:pPr algn="l" indent="0" marL="0">
                        <a:buNone/>
                      </a:pPr>
                      <a:r>
                        <a:rPr lang="en-US" sz="1150" b="1" dirty="0">
                          <a:solidFill>
                            <a:srgbClr val="31302E"/>
                          </a:solidFill>
                          <a:latin typeface="Inter" pitchFamily="34" charset="0"/>
                          <a:ea typeface="Inter" pitchFamily="34" charset="-122"/>
                          <a:cs typeface="Inter" pitchFamily="34" charset="-120"/>
                        </a:rPr>
                        <a:t>Encoder in the RNA slot</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CoV-Vac: alone</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concat</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E. coli: alone</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concat</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r>
              <a:tr h="347472">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RNA-FM (the paper's own)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0.833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0.801</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50.7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60.7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47472">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mRNA-FM</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0.812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0.759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58.7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59.0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47472">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CaLM</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0.844</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0.817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57.6</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57.7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bl>
          </a:graphicData>
        </a:graphic>
      </p:graphicFrame>
      <p:sp>
        <p:nvSpPr>
          <p:cNvPr id="6" name="swap reading"/>
          <p:cNvSpPr txBox="1"/>
          <p:nvPr/>
        </p:nvSpPr>
        <p:spPr>
          <a:xfrm>
            <a:off x="813816" y="3703320"/>
            <a:ext cx="7589520" cy="2103120"/>
          </a:xfrm>
          <a:prstGeom prst="rect">
            <a:avLst/>
          </a:prstGeom>
          <a:noFill/>
          <a:ln/>
        </p:spPr>
        <p:txBody>
          <a:bodyPr wrap="square" lIns="0" tIns="0" rIns="0" bIns="0" rtlCol="0" anchor="t"/>
          <a:lstStyle/>
          <a:p>
            <a:pPr indent="0" marL="0">
              <a:buNone/>
            </a:pPr>
            <a:r>
              <a:rPr lang="en-US" sz="1250" b="1" dirty="0">
                <a:solidFill>
                  <a:srgbClr val="31302E"/>
                </a:solidFill>
              </a:rPr>
              <a:t>What changed. </a:t>
            </a:r>
            <a:pPr indent="0" marL="0">
              <a:buNone/>
            </a:pPr>
            <a:r>
              <a:rPr lang="en-US" sz="1250" dirty="0">
                <a:solidFill>
                  <a:srgbClr val="615D59"/>
                </a:solidFill>
              </a:rPr>
              <a:t>On E. coli, mRNA-FM alone scores +8.0 [+4.0, +11.8] above RNA-FM alone, resolved, and CaLM +6.9 [+2.8, +10.8]. Concatenation with mRNA-FM then beats its own best single encoder by </a:t>
            </a:r>
            <a:pPr indent="0" marL="0">
              <a:buNone/>
            </a:pPr>
            <a:r>
              <a:rPr lang="en-US" sz="1250" b="1" dirty="0">
                <a:solidFill>
                  <a:srgbClr val="31302E"/>
                </a:solidFill>
              </a:rPr>
              <a:t>+0.3 [-2.9, +3.7], which does not resolve.</a:t>
            </a:r>
            <a:pPr indent="0" marL="0">
              <a:buNone/>
            </a:pPr>
            <a:r>
              <a:rPr lang="en-US" sz="1250" dirty="0">
                <a:solidFill>
                  <a:srgbClr val="615D59"/>
                </a:solidFill>
              </a:rPr>
              <a:t> Phase A's +6.9 was fusion compensating for a weak RNA encoder, not fusion adding information. On CoV-Vac the swap does not help: concatenation and the gated head with mRNA-FM resolve worse than the originals.</a:t>
            </a:r>
            <a:endParaRPr lang="en-US" sz="1250" dirty="0"/>
          </a:p>
        </p:txBody>
      </p:sp>
      <p:sp>
        <p:nvSpPr>
          <p:cNvPr id="7" name="stat card"/>
          <p:cNvSpPr/>
          <p:nvPr/>
        </p:nvSpPr>
        <p:spPr>
          <a:xfrm>
            <a:off x="8641080" y="2029968"/>
            <a:ext cx="2743200" cy="1783080"/>
          </a:xfrm>
          <a:prstGeom prst="roundRect">
            <a:avLst>
              <a:gd name="adj" fmla="val 3077"/>
            </a:avLst>
          </a:prstGeom>
          <a:solidFill>
            <a:srgbClr val="213183"/>
          </a:solidFill>
          <a:ln w="9525">
            <a:solidFill>
              <a:srgbClr val="213183"/>
            </a:solidFill>
            <a:prstDash val="solid"/>
          </a:ln>
        </p:spPr>
      </p:sp>
      <p:sp>
        <p:nvSpPr>
          <p:cNvPr id="8" name="stat value"/>
          <p:cNvSpPr txBox="1"/>
          <p:nvPr/>
        </p:nvSpPr>
        <p:spPr>
          <a:xfrm>
            <a:off x="8842248" y="2212848"/>
            <a:ext cx="2340864" cy="457200"/>
          </a:xfrm>
          <a:prstGeom prst="rect">
            <a:avLst/>
          </a:prstGeom>
          <a:noFill/>
          <a:ln/>
        </p:spPr>
        <p:txBody>
          <a:bodyPr wrap="square" lIns="0" tIns="0" rIns="0" bIns="0" rtlCol="0" anchor="ctr"/>
          <a:lstStyle/>
          <a:p>
            <a:pPr indent="0" marL="0">
              <a:buNone/>
            </a:pPr>
            <a:r>
              <a:rPr lang="en-US" sz="2400" b="1" dirty="0">
                <a:solidFill>
                  <a:srgbClr val="FFFFFF"/>
                </a:solidFill>
              </a:rPr>
              <a:t>+8.0 points</a:t>
            </a:r>
            <a:endParaRPr lang="en-US" sz="2400" dirty="0"/>
          </a:p>
        </p:txBody>
      </p:sp>
      <p:sp>
        <p:nvSpPr>
          <p:cNvPr id="9" name="stat label"/>
          <p:cNvSpPr txBox="1"/>
          <p:nvPr/>
        </p:nvSpPr>
        <p:spPr>
          <a:xfrm>
            <a:off x="8842248" y="2688336"/>
            <a:ext cx="2340864" cy="1005840"/>
          </a:xfrm>
          <a:prstGeom prst="rect">
            <a:avLst/>
          </a:prstGeom>
          <a:noFill/>
          <a:ln/>
        </p:spPr>
        <p:txBody>
          <a:bodyPr wrap="square" lIns="0" tIns="0" rIns="0" bIns="0" rtlCol="0" anchor="t"/>
          <a:lstStyle/>
          <a:p>
            <a:pPr indent="0" marL="0">
              <a:buNone/>
            </a:pPr>
            <a:r>
              <a:rPr lang="en-US" sz="1150" dirty="0">
                <a:solidFill>
                  <a:srgbClr val="FFFFFF"/>
                </a:solidFill>
              </a:rPr>
              <a:t>mRNA-FM alone over RNA-FM alone on E. coli. The mRFP control predicted exactly this encoder, on exactly this kind of task.</a:t>
            </a:r>
            <a:endParaRPr lang="en-US" sz="1150" dirty="0"/>
          </a:p>
        </p:txBody>
      </p:sp>
      <p:sp>
        <p:nvSpPr>
          <p:cNvPr id="10" name="stat card"/>
          <p:cNvSpPr/>
          <p:nvPr/>
        </p:nvSpPr>
        <p:spPr>
          <a:xfrm>
            <a:off x="8641080" y="3995928"/>
            <a:ext cx="2743200" cy="1783080"/>
          </a:xfrm>
          <a:prstGeom prst="roundRect">
            <a:avLst>
              <a:gd name="adj" fmla="val 3077"/>
            </a:avLst>
          </a:prstGeom>
          <a:solidFill>
            <a:srgbClr val="FFFFFF"/>
          </a:solidFill>
          <a:ln w="9525">
            <a:solidFill>
              <a:srgbClr val="E6E6E6"/>
            </a:solidFill>
            <a:prstDash val="solid"/>
          </a:ln>
        </p:spPr>
      </p:sp>
      <p:sp>
        <p:nvSpPr>
          <p:cNvPr id="11" name="stat value"/>
          <p:cNvSpPr txBox="1"/>
          <p:nvPr/>
        </p:nvSpPr>
        <p:spPr>
          <a:xfrm>
            <a:off x="8842248" y="417880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Half right</a:t>
            </a:r>
            <a:endParaRPr lang="en-US" sz="2400" dirty="0"/>
          </a:p>
        </p:txBody>
      </p:sp>
      <p:sp>
        <p:nvSpPr>
          <p:cNvPr id="12" name="stat label"/>
          <p:cNvSpPr txBox="1"/>
          <p:nvPr/>
        </p:nvSpPr>
        <p:spPr>
          <a:xfrm>
            <a:off x="8842248" y="4654296"/>
            <a:ext cx="2340864" cy="1005840"/>
          </a:xfrm>
          <a:prstGeom prst="rect">
            <a:avLst/>
          </a:prstGeom>
          <a:noFill/>
          <a:ln/>
        </p:spPr>
        <p:txBody>
          <a:bodyPr wrap="square" lIns="0" tIns="0" rIns="0" bIns="0" rtlCol="0" anchor="t"/>
          <a:lstStyle/>
          <a:p>
            <a:pPr indent="0" marL="0">
              <a:buNone/>
            </a:pPr>
            <a:r>
              <a:rPr lang="en-US" sz="1150" dirty="0">
                <a:solidFill>
                  <a:srgbClr val="615D59"/>
                </a:solidFill>
              </a:rPr>
              <a:t>The information the control found is real and it is in the encoder. It does not become a fusion gain, which is a sharper finding than either outcome alone.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Priority 2 · LucaOne, one jointly pretrained model</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On mRNA stability the jointly pretrained model beats all three separately pretrained encoders fused</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Ridge probe on frozen pooled vectors, identical for every row, on the benchmark's published split. LucaOne is 1.8B parameters against 108M for the three BioLangFusion encoders combined, so this compares representations, not matched budgets.</a:t>
            </a:r>
            <a:endParaRPr lang="en-US" sz="1150" dirty="0"/>
          </a:p>
        </p:txBody>
      </p:sp>
      <p:sp>
        <p:nvSpPr>
          <p:cNvPr id="5" name="chart card"/>
          <p:cNvSpPr/>
          <p:nvPr/>
        </p:nvSpPr>
        <p:spPr>
          <a:xfrm>
            <a:off x="813816" y="2029968"/>
            <a:ext cx="7589520" cy="3794760"/>
          </a:xfrm>
          <a:prstGeom prst="roundRect">
            <a:avLst>
              <a:gd name="adj" fmla="val 1446"/>
            </a:avLst>
          </a:prstGeom>
          <a:solidFill>
            <a:srgbClr val="FFFFFF"/>
          </a:solidFill>
          <a:ln w="9525">
            <a:solidFill>
              <a:srgbClr val="E6E6E6"/>
            </a:solidFill>
            <a:prstDash val="solid"/>
          </a:ln>
        </p:spPr>
      </p:sp>
      <p:graphicFrame>
        <p:nvGraphicFramePr>
          <p:cNvPr id="6" name="lucaone chart" descr=""/>
          <p:cNvGraphicFramePr/>
          <p:nvPr/>
        </p:nvGraphicFramePr>
        <p:xfrm>
          <a:off x="914400" y="2121408"/>
          <a:ext cx="7406640" cy="3611880"/>
        </p:xfrm>
        <a:graphic xmlns:a="http://schemas.openxmlformats.org/drawingml/2006/main">
          <a:graphicData uri="http://schemas.openxmlformats.org/drawingml/2006/chart">
            <c:chart xmlns:c="http://schemas.openxmlformats.org/drawingml/2006/chart" r:id="rId1"/>
          </a:graphicData>
        </a:graphic>
      </p:graphicFrame>
      <p:sp>
        <p:nvSpPr>
          <p:cNvPr id="7" name="stat card"/>
          <p:cNvSpPr/>
          <p:nvPr/>
        </p:nvSpPr>
        <p:spPr>
          <a:xfrm>
            <a:off x="8641080" y="2029968"/>
            <a:ext cx="2743200" cy="1783080"/>
          </a:xfrm>
          <a:prstGeom prst="roundRect">
            <a:avLst>
              <a:gd name="adj" fmla="val 3077"/>
            </a:avLst>
          </a:prstGeom>
          <a:solidFill>
            <a:srgbClr val="213183"/>
          </a:solidFill>
          <a:ln w="9525">
            <a:solidFill>
              <a:srgbClr val="213183"/>
            </a:solidFill>
            <a:prstDash val="solid"/>
          </a:ln>
        </p:spPr>
      </p:sp>
      <p:sp>
        <p:nvSpPr>
          <p:cNvPr id="8" name="stat value"/>
          <p:cNvSpPr txBox="1"/>
          <p:nvPr/>
        </p:nvSpPr>
        <p:spPr>
          <a:xfrm>
            <a:off x="8842248" y="2212848"/>
            <a:ext cx="2340864" cy="457200"/>
          </a:xfrm>
          <a:prstGeom prst="rect">
            <a:avLst/>
          </a:prstGeom>
          <a:noFill/>
          <a:ln/>
        </p:spPr>
        <p:txBody>
          <a:bodyPr wrap="square" lIns="0" tIns="0" rIns="0" bIns="0" rtlCol="0" anchor="ctr"/>
          <a:lstStyle/>
          <a:p>
            <a:pPr indent="0" marL="0">
              <a:buNone/>
            </a:pPr>
            <a:r>
              <a:rPr lang="en-US" sz="2400" b="1" dirty="0">
                <a:solidFill>
                  <a:srgbClr val="FFFFFF"/>
                </a:solidFill>
              </a:rPr>
              <a:t>+0.092</a:t>
            </a:r>
            <a:endParaRPr lang="en-US" sz="2400" dirty="0"/>
          </a:p>
        </p:txBody>
      </p:sp>
      <p:sp>
        <p:nvSpPr>
          <p:cNvPr id="9" name="stat label"/>
          <p:cNvSpPr txBox="1"/>
          <p:nvPr/>
        </p:nvSpPr>
        <p:spPr>
          <a:xfrm>
            <a:off x="8842248" y="2688336"/>
            <a:ext cx="2340864" cy="1005840"/>
          </a:xfrm>
          <a:prstGeom prst="rect">
            <a:avLst/>
          </a:prstGeom>
          <a:noFill/>
          <a:ln/>
        </p:spPr>
        <p:txBody>
          <a:bodyPr wrap="square" lIns="0" tIns="0" rIns="0" bIns="0" rtlCol="0" anchor="t"/>
          <a:lstStyle/>
          <a:p>
            <a:pPr indent="0" marL="0">
              <a:buNone/>
            </a:pPr>
            <a:r>
              <a:rPr lang="en-US" sz="1150" dirty="0">
                <a:solidFill>
                  <a:srgbClr val="FFFFFF"/>
                </a:solidFill>
              </a:rPr>
              <a:t>LucaOne's two streams over the three BioLangFusion encoders concatenated, [+0.066, +0.120]: resolved. Over the best single encoder, +0.170.</a:t>
            </a:r>
            <a:endParaRPr lang="en-US" sz="1150" dirty="0"/>
          </a:p>
        </p:txBody>
      </p:sp>
      <p:sp>
        <p:nvSpPr>
          <p:cNvPr id="10" name="stat card"/>
          <p:cNvSpPr/>
          <p:nvPr/>
        </p:nvSpPr>
        <p:spPr>
          <a:xfrm>
            <a:off x="8641080" y="3995928"/>
            <a:ext cx="2743200" cy="1783080"/>
          </a:xfrm>
          <a:prstGeom prst="roundRect">
            <a:avLst>
              <a:gd name="adj" fmla="val 3077"/>
            </a:avLst>
          </a:prstGeom>
          <a:solidFill>
            <a:srgbClr val="FFFFFF"/>
          </a:solidFill>
          <a:ln w="9525">
            <a:solidFill>
              <a:srgbClr val="E6E6E6"/>
            </a:solidFill>
            <a:prstDash val="solid"/>
          </a:ln>
        </p:spPr>
      </p:sp>
      <p:sp>
        <p:nvSpPr>
          <p:cNvPr id="11" name="stat value"/>
          <p:cNvSpPr txBox="1"/>
          <p:nvPr/>
        </p:nvSpPr>
        <p:spPr>
          <a:xfrm>
            <a:off x="8842248" y="417880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One caveat</a:t>
            </a:r>
            <a:endParaRPr lang="en-US" sz="2400" dirty="0"/>
          </a:p>
        </p:txBody>
      </p:sp>
      <p:sp>
        <p:nvSpPr>
          <p:cNvPr id="12" name="stat label"/>
          <p:cNvSpPr txBox="1"/>
          <p:nvPr/>
        </p:nvSpPr>
        <p:spPr>
          <a:xfrm>
            <a:off x="8842248" y="4654296"/>
            <a:ext cx="2340864" cy="1005840"/>
          </a:xfrm>
          <a:prstGeom prst="rect">
            <a:avLst/>
          </a:prstGeom>
          <a:noFill/>
          <a:ln/>
        </p:spPr>
        <p:txBody>
          <a:bodyPr wrap="square" lIns="0" tIns="0" rIns="0" bIns="0" rtlCol="0" anchor="t"/>
          <a:lstStyle/>
          <a:p>
            <a:pPr indent="0" marL="0">
              <a:buNone/>
            </a:pPr>
            <a:r>
              <a:rPr lang="en-US" sz="1150" dirty="0">
                <a:solidFill>
                  <a:srgbClr val="615D59"/>
                </a:solidFill>
              </a:rPr>
              <a:t>This is the published stability split, the one with repeated sequences. Grouping them in the bootstrap does not remove the overlap with training, so read it beside the leak slide.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Priorities 3 and 4 · full transcripts</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Outside the coding sequence there is real signal, and fusing it with the protein helps on both tasks</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Human only; mouse is embedded and not yet scored. Frozen encoders, windowed pooling, ridge probes, nine gene-grouped splits. The gate passed on all four primary datasets before any of this ran.</a:t>
            </a:r>
            <a:endParaRPr lang="en-US" sz="1150" dirty="0"/>
          </a:p>
        </p:txBody>
      </p:sp>
      <p:graphicFrame>
        <p:nvGraphicFramePr>
          <p:cNvPr id="12" name="halflife table"/>
          <p:cNvGraphicFramePr>
            <a:graphicFrameLocks noGrp="1"/>
          </p:cNvGraphicFramePr>
          <p:nvPr>
            <p:extLst>
              <p:ext uri="{D42A27DB-BD31-4B8C-83A1-F6EECF244321}">
                <p14:modId xmlns:p14="http://schemas.microsoft.com/office/powerpoint/2010/main" val="1579011935"/>
              </p:ext>
            </p:extLst>
          </p:nvPr>
        </p:nvGraphicFramePr>
        <p:xfrm>
          <a:off x="813816" y="2029968"/>
          <a:ext cx="7589520" cy="914400"/>
        </p:xfrm>
        <a:graphic>
          <a:graphicData uri="http://schemas.openxmlformats.org/drawingml/2006/table">
            <a:tbl>
              <a:tblPr/>
              <a:tblGrid>
                <a:gridCol w="3749040"/>
                <a:gridCol w="1920240"/>
                <a:gridCol w="1920240"/>
              </a:tblGrid>
              <a:tr h="329184">
                <a:tc>
                  <a:txBody>
                    <a:bodyPr/>
                    <a:lstStyle/>
                    <a:p>
                      <a:pPr algn="l" indent="0" marL="0">
                        <a:buNone/>
                      </a:pPr>
                      <a:r>
                        <a:rPr lang="en-US" sz="1150" b="1" dirty="0">
                          <a:solidFill>
                            <a:srgbClr val="31302E"/>
                          </a:solidFill>
                          <a:latin typeface="Inter" pitchFamily="34" charset="0"/>
                          <a:ea typeface="Inter" pitchFamily="34" charset="-122"/>
                          <a:cs typeface="Inter" pitchFamily="34" charset="-120"/>
                        </a:rPr>
                        <a:t>Representation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Half-life (r)</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Translation efficiency (r)</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Composition of the coding sequence</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0.487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0.683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Composition of the whole transcript</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0.542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0.702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5' UTR, RNA encoder</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0.178</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0.433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Coding sequence, RNA encoder</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0.473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0.630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Full transcript, RNA encoder</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0.512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0.610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Protein of the coding sequence</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0.552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0.682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Full transcript + protein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0.606</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0.712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29184">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Three encoders fused</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0.602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0.713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bl>
          </a:graphicData>
        </a:graphic>
      </p:graphicFrame>
      <p:sp>
        <p:nvSpPr>
          <p:cNvPr id="6" name="halflife reading"/>
          <p:cNvSpPr txBox="1"/>
          <p:nvPr/>
        </p:nvSpPr>
        <p:spPr>
          <a:xfrm>
            <a:off x="813816" y="5120640"/>
            <a:ext cx="7589520" cy="731520"/>
          </a:xfrm>
          <a:prstGeom prst="rect">
            <a:avLst/>
          </a:prstGeom>
          <a:noFill/>
          <a:ln/>
        </p:spPr>
        <p:txBody>
          <a:bodyPr wrap="square" lIns="0" tIns="0" rIns="0" bIns="0" rtlCol="0" anchor="t"/>
          <a:lstStyle/>
          <a:p>
            <a:pPr indent="0" marL="0">
              <a:buNone/>
            </a:pPr>
            <a:r>
              <a:rPr lang="en-US" sz="1250" b="1" dirty="0">
                <a:solidFill>
                  <a:srgbClr val="31302E"/>
                </a:solidFill>
              </a:rPr>
              <a:t>The protein encoder is the best single representation on both tasks</a:t>
            </a:r>
            <a:pPr indent="0" marL="0">
              <a:buNone/>
            </a:pPr>
            <a:r>
              <a:rPr lang="en-US" sz="1250" dirty="0">
                <a:solidFill>
                  <a:srgbClr val="615D59"/>
                </a:solidFill>
              </a:rPr>
              <a:t>, which is not what a transcript-level task would predict. Fusing it with the full transcript gains +0.053 on half-life and +0.030 on translation efficiency. Note what the composition row says: counted features of the whole transcript already reach 0.542 and 0.702, so an encoder has to clear that, not zero.</a:t>
            </a:r>
            <a:endParaRPr lang="en-US" sz="1250" dirty="0"/>
          </a:p>
        </p:txBody>
      </p:sp>
      <p:sp>
        <p:nvSpPr>
          <p:cNvPr id="7" name="stat card"/>
          <p:cNvSpPr/>
          <p:nvPr/>
        </p:nvSpPr>
        <p:spPr>
          <a:xfrm>
            <a:off x="8641080" y="2029968"/>
            <a:ext cx="2743200" cy="1783080"/>
          </a:xfrm>
          <a:prstGeom prst="roundRect">
            <a:avLst>
              <a:gd name="adj" fmla="val 3077"/>
            </a:avLst>
          </a:prstGeom>
          <a:solidFill>
            <a:srgbClr val="213183"/>
          </a:solidFill>
          <a:ln w="9525">
            <a:solidFill>
              <a:srgbClr val="213183"/>
            </a:solidFill>
            <a:prstDash val="solid"/>
          </a:ln>
        </p:spPr>
      </p:sp>
      <p:sp>
        <p:nvSpPr>
          <p:cNvPr id="8" name="stat value"/>
          <p:cNvSpPr txBox="1"/>
          <p:nvPr/>
        </p:nvSpPr>
        <p:spPr>
          <a:xfrm>
            <a:off x="8842248" y="2212848"/>
            <a:ext cx="2340864" cy="457200"/>
          </a:xfrm>
          <a:prstGeom prst="rect">
            <a:avLst/>
          </a:prstGeom>
          <a:noFill/>
          <a:ln/>
        </p:spPr>
        <p:txBody>
          <a:bodyPr wrap="square" lIns="0" tIns="0" rIns="0" bIns="0" rtlCol="0" anchor="ctr"/>
          <a:lstStyle/>
          <a:p>
            <a:pPr indent="0" marL="0">
              <a:buNone/>
            </a:pPr>
            <a:r>
              <a:rPr lang="en-US" sz="2400" b="1" dirty="0">
                <a:solidFill>
                  <a:srgbClr val="FFFFFF"/>
                </a:solidFill>
              </a:rPr>
              <a:t>+0.053</a:t>
            </a:r>
            <a:endParaRPr lang="en-US" sz="2400" dirty="0"/>
          </a:p>
        </p:txBody>
      </p:sp>
      <p:sp>
        <p:nvSpPr>
          <p:cNvPr id="9" name="stat label"/>
          <p:cNvSpPr txBox="1"/>
          <p:nvPr/>
        </p:nvSpPr>
        <p:spPr>
          <a:xfrm>
            <a:off x="8842248" y="2688336"/>
            <a:ext cx="2340864" cy="1005840"/>
          </a:xfrm>
          <a:prstGeom prst="rect">
            <a:avLst/>
          </a:prstGeom>
          <a:noFill/>
          <a:ln/>
        </p:spPr>
        <p:txBody>
          <a:bodyPr wrap="square" lIns="0" tIns="0" rIns="0" bIns="0" rtlCol="0" anchor="t"/>
          <a:lstStyle/>
          <a:p>
            <a:pPr indent="0" marL="0">
              <a:buNone/>
            </a:pPr>
            <a:r>
              <a:rPr lang="en-US" sz="1150" dirty="0">
                <a:solidFill>
                  <a:srgbClr val="FFFFFF"/>
                </a:solidFill>
              </a:rPr>
              <a:t>Full transcript with protein over the best single encoder on half-life; +0.030 on translation efficiency.</a:t>
            </a:r>
            <a:endParaRPr lang="en-US" sz="1150" dirty="0"/>
          </a:p>
        </p:txBody>
      </p:sp>
      <p:sp>
        <p:nvSpPr>
          <p:cNvPr id="10" name="stat card"/>
          <p:cNvSpPr/>
          <p:nvPr/>
        </p:nvSpPr>
        <p:spPr>
          <a:xfrm>
            <a:off x="8641080" y="3995928"/>
            <a:ext cx="2743200" cy="1783080"/>
          </a:xfrm>
          <a:prstGeom prst="roundRect">
            <a:avLst>
              <a:gd name="adj" fmla="val 3077"/>
            </a:avLst>
          </a:prstGeom>
          <a:solidFill>
            <a:srgbClr val="FFFFFF"/>
          </a:solidFill>
          <a:ln w="9525">
            <a:solidFill>
              <a:srgbClr val="E6E6E6"/>
            </a:solidFill>
            <a:prstDash val="solid"/>
          </a:ln>
        </p:spPr>
      </p:sp>
      <p:sp>
        <p:nvSpPr>
          <p:cNvPr id="11" name="stat value"/>
          <p:cNvSpPr txBox="1"/>
          <p:nvPr/>
        </p:nvSpPr>
        <p:spPr>
          <a:xfrm>
            <a:off x="8842248" y="417880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Not yet proof</a:t>
            </a:r>
            <a:endParaRPr lang="en-US" sz="2400" dirty="0"/>
          </a:p>
        </p:txBody>
      </p:sp>
      <p:sp>
        <p:nvSpPr>
          <p:cNvPr id="12" name="stat label"/>
          <p:cNvSpPr txBox="1"/>
          <p:nvPr/>
        </p:nvSpPr>
        <p:spPr>
          <a:xfrm>
            <a:off x="8842248" y="4654296"/>
            <a:ext cx="2340864" cy="1005840"/>
          </a:xfrm>
          <a:prstGeom prst="rect">
            <a:avLst/>
          </a:prstGeom>
          <a:noFill/>
          <a:ln/>
        </p:spPr>
        <p:txBody>
          <a:bodyPr wrap="square" lIns="0" tIns="0" rIns="0" bIns="0" rtlCol="0" anchor="t"/>
          <a:lstStyle/>
          <a:p>
            <a:pPr indent="0" marL="0">
              <a:buNone/>
            </a:pPr>
            <a:r>
              <a:rPr lang="en-US" sz="1150" dirty="0">
                <a:solidFill>
                  <a:srgbClr val="615D59"/>
                </a:solidFill>
              </a:rPr>
              <a:t>Mean and standard error over nine splits, with no per-split predictions retained, so these are not paired intervals. The two fused rows are within each other's error.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Baseline · IsoFormer on GTEx (Gantt 44)</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On physically distinct molecules, with no codon grid, fusion wins clearly</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IsoFormer's six-row modality ablation on the 2,000-transcript GTEx pilot, split by gene, Spearman over thirty tissues, one seed. IsoFormer fine-tunes its encoders and we freeze them, so the gap to its absolute values is what freezing costs.</a:t>
            </a:r>
            <a:endParaRPr lang="en-US" sz="1150" dirty="0"/>
          </a:p>
        </p:txBody>
      </p:sp>
      <p:graphicFrame>
        <p:nvGraphicFramePr>
          <p:cNvPr id="13" name="isoformer table"/>
          <p:cNvGraphicFramePr>
            <a:graphicFrameLocks noGrp="1"/>
          </p:cNvGraphicFramePr>
          <p:nvPr>
            <p:extLst>
              <p:ext uri="{D42A27DB-BD31-4B8C-83A1-F6EECF244321}">
                <p14:modId xmlns:p14="http://schemas.microsoft.com/office/powerpoint/2010/main" val="1579011935"/>
              </p:ext>
            </p:extLst>
          </p:nvPr>
        </p:nvGraphicFramePr>
        <p:xfrm>
          <a:off x="813816" y="2029968"/>
          <a:ext cx="4937760" cy="914400"/>
        </p:xfrm>
        <a:graphic>
          <a:graphicData uri="http://schemas.openxmlformats.org/drawingml/2006/table">
            <a:tbl>
              <a:tblPr/>
              <a:tblGrid>
                <a:gridCol w="2011680"/>
                <a:gridCol w="1463040"/>
                <a:gridCol w="1463040"/>
              </a:tblGrid>
              <a:tr h="365760">
                <a:tc>
                  <a:txBody>
                    <a:bodyPr/>
                    <a:lstStyle/>
                    <a:p>
                      <a:pPr algn="l" indent="0" marL="0">
                        <a:buNone/>
                      </a:pPr>
                      <a:r>
                        <a:rPr lang="en-US" sz="1150" b="1" dirty="0">
                          <a:solidFill>
                            <a:srgbClr val="31302E"/>
                          </a:solidFill>
                          <a:latin typeface="Inter" pitchFamily="34" charset="0"/>
                          <a:ea typeface="Inter" pitchFamily="34" charset="-122"/>
                          <a:cs typeface="Inter" pitchFamily="34" charset="-120"/>
                        </a:rPr>
                        <a:t>Modalities</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Ours, frozen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c>
                  <a:txBody>
                    <a:bodyPr/>
                    <a:lstStyle/>
                    <a:p>
                      <a:pPr algn="ctr" indent="0" marL="0">
                        <a:buNone/>
                      </a:pPr>
                      <a:r>
                        <a:rPr lang="en-US" sz="1150" b="1" dirty="0">
                          <a:solidFill>
                            <a:srgbClr val="31302E"/>
                          </a:solidFill>
                          <a:latin typeface="Inter" pitchFamily="34" charset="0"/>
                          <a:ea typeface="Inter" pitchFamily="34" charset="-122"/>
                          <a:cs typeface="Inter" pitchFamily="34" charset="-120"/>
                        </a:rPr>
                        <a:t>IsoFormer, fine-tuned</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0F0EE"/>
                    </a:solidFill>
                  </a:tcPr>
                </a:tc>
              </a:tr>
              <a:tr h="365760">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DNA</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0.199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0.43</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RNA</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0.452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0.61</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Protein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0.160</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0.46</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DNA + protein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0.439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0.52</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DNA + RNA</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0.507</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0.64</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31302E"/>
                          </a:solidFill>
                          <a:latin typeface="Inter" pitchFamily="34" charset="0"/>
                          <a:ea typeface="Inter" pitchFamily="34" charset="-122"/>
                          <a:cs typeface="Inter" pitchFamily="34" charset="-120"/>
                        </a:rPr>
                        <a:t>DNA + RNA + protein</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0.499</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1302E"/>
                          </a:solidFill>
                          <a:latin typeface="Inter" pitchFamily="34" charset="0"/>
                          <a:ea typeface="Inter" pitchFamily="34" charset="-122"/>
                          <a:cs typeface="Inter" pitchFamily="34" charset="-120"/>
                        </a:rPr>
                        <a:t>0.65</a:t>
                      </a:r>
                      <a:endParaRPr lang="en-US" sz="1150" dirty="0">
                        <a:latin typeface="Inter" charset="0"/>
                        <a:ea typeface="Inter" charset="0"/>
                        <a:cs typeface="Inter" charset="0"/>
                      </a:endParaRPr>
                    </a:p>
                  </a:txBody>
                  <a:tcPr marL="73152" marR="73152" marT="36576" marB="36576"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r>
            </a:tbl>
          </a:graphicData>
        </a:graphic>
      </p:graphicFrame>
      <p:sp>
        <p:nvSpPr>
          <p:cNvPr id="6" name="contrast card"/>
          <p:cNvSpPr/>
          <p:nvPr/>
        </p:nvSpPr>
        <p:spPr>
          <a:xfrm>
            <a:off x="5989320" y="2029968"/>
            <a:ext cx="2423160" cy="3794760"/>
          </a:xfrm>
          <a:prstGeom prst="roundRect">
            <a:avLst>
              <a:gd name="adj" fmla="val 2264"/>
            </a:avLst>
          </a:prstGeom>
          <a:solidFill>
            <a:srgbClr val="FFFFFF"/>
          </a:solidFill>
          <a:ln w="9525">
            <a:solidFill>
              <a:srgbClr val="E6E6E6"/>
            </a:solidFill>
            <a:prstDash val="solid"/>
          </a:ln>
        </p:spPr>
      </p:sp>
      <p:sp>
        <p:nvSpPr>
          <p:cNvPr id="7" name="contrast text"/>
          <p:cNvSpPr txBox="1"/>
          <p:nvPr/>
        </p:nvSpPr>
        <p:spPr>
          <a:xfrm>
            <a:off x="6172200" y="2194560"/>
            <a:ext cx="2103120" cy="3520440"/>
          </a:xfrm>
          <a:prstGeom prst="rect">
            <a:avLst/>
          </a:prstGeom>
          <a:noFill/>
          <a:ln/>
        </p:spPr>
        <p:txBody>
          <a:bodyPr wrap="square" lIns="0" tIns="0" rIns="0" bIns="0" rtlCol="0" anchor="t"/>
          <a:lstStyle/>
          <a:p>
            <a:pPr indent="0" marL="0">
              <a:buNone/>
            </a:pPr>
            <a:r>
              <a:rPr lang="en-US" sz="1200" b="1" dirty="0">
                <a:solidFill>
                  <a:srgbClr val="31302E"/>
                </a:solidFill>
              </a:rPr>
              <a:t>Why this one is different</a:t>
            </a:r>
            <a:endParaRPr lang="en-US" sz="1200" dirty="0"/>
          </a:p>
          <a:p>
            <a:pPr indent="0" marL="0">
              <a:buNone/>
            </a:pPr>
            <a:r>
              <a:rPr lang="en-US" sz="1200" dirty="0">
                <a:solidFill>
                  <a:srgbClr val="615D59"/>
                </a:solidFill>
              </a:rPr>
              <a:t>Every benchmark where fusion failed gives all three encoders the same coding sequence, so the modalities are three readings of one molecule. GTEx gives them a genomic window, a transcript and a protein: three different molecules, no shared grid, and the largest resolved gain in the project. Stage 1 found alignment lowest exactly here.</a:t>
            </a:r>
            <a:endParaRPr lang="en-US" sz="1200" dirty="0"/>
          </a:p>
        </p:txBody>
      </p:sp>
      <p:sp>
        <p:nvSpPr>
          <p:cNvPr id="8" name="stat card"/>
          <p:cNvSpPr/>
          <p:nvPr/>
        </p:nvSpPr>
        <p:spPr>
          <a:xfrm>
            <a:off x="8641080" y="2029968"/>
            <a:ext cx="2743200" cy="1783080"/>
          </a:xfrm>
          <a:prstGeom prst="roundRect">
            <a:avLst>
              <a:gd name="adj" fmla="val 3077"/>
            </a:avLst>
          </a:prstGeom>
          <a:solidFill>
            <a:srgbClr val="213183"/>
          </a:solidFill>
          <a:ln w="9525">
            <a:solidFill>
              <a:srgbClr val="213183"/>
            </a:solidFill>
            <a:prstDash val="solid"/>
          </a:ln>
        </p:spPr>
      </p:sp>
      <p:sp>
        <p:nvSpPr>
          <p:cNvPr id="9" name="stat value"/>
          <p:cNvSpPr txBox="1"/>
          <p:nvPr/>
        </p:nvSpPr>
        <p:spPr>
          <a:xfrm>
            <a:off x="8842248" y="2212848"/>
            <a:ext cx="2340864" cy="457200"/>
          </a:xfrm>
          <a:prstGeom prst="rect">
            <a:avLst/>
          </a:prstGeom>
          <a:noFill/>
          <a:ln/>
        </p:spPr>
        <p:txBody>
          <a:bodyPr wrap="square" lIns="0" tIns="0" rIns="0" bIns="0" rtlCol="0" anchor="ctr"/>
          <a:lstStyle/>
          <a:p>
            <a:pPr indent="0" marL="0">
              <a:buNone/>
            </a:pPr>
            <a:r>
              <a:rPr lang="en-US" sz="2400" b="1" dirty="0">
                <a:solidFill>
                  <a:srgbClr val="FFFFFF"/>
                </a:solidFill>
              </a:rPr>
              <a:t>+0.047</a:t>
            </a:r>
            <a:endParaRPr lang="en-US" sz="2400" dirty="0"/>
          </a:p>
        </p:txBody>
      </p:sp>
      <p:sp>
        <p:nvSpPr>
          <p:cNvPr id="10" name="stat label"/>
          <p:cNvSpPr txBox="1"/>
          <p:nvPr/>
        </p:nvSpPr>
        <p:spPr>
          <a:xfrm>
            <a:off x="8842248" y="2688336"/>
            <a:ext cx="2340864" cy="1005840"/>
          </a:xfrm>
          <a:prstGeom prst="rect">
            <a:avLst/>
          </a:prstGeom>
          <a:noFill/>
          <a:ln/>
        </p:spPr>
        <p:txBody>
          <a:bodyPr wrap="square" lIns="0" tIns="0" rIns="0" bIns="0" rtlCol="0" anchor="t"/>
          <a:lstStyle/>
          <a:p>
            <a:pPr indent="0" marL="0">
              <a:buNone/>
            </a:pPr>
            <a:r>
              <a:rPr lang="en-US" sz="1150" dirty="0">
                <a:solidFill>
                  <a:srgbClr val="FFFFFF"/>
                </a:solidFill>
              </a:rPr>
              <a:t>All three modalities minus RNA alone, [+0.027, +0.069]: resolved. DNA with RNA minus RNA alone +0.055 [+0.032, +0.078]. Protein adds nothing measurable.</a:t>
            </a:r>
            <a:endParaRPr lang="en-US" sz="1150" dirty="0"/>
          </a:p>
        </p:txBody>
      </p:sp>
      <p:sp>
        <p:nvSpPr>
          <p:cNvPr id="11" name="stat card"/>
          <p:cNvSpPr/>
          <p:nvPr/>
        </p:nvSpPr>
        <p:spPr>
          <a:xfrm>
            <a:off x="8641080" y="3995928"/>
            <a:ext cx="2743200" cy="1783080"/>
          </a:xfrm>
          <a:prstGeom prst="roundRect">
            <a:avLst>
              <a:gd name="adj" fmla="val 3077"/>
            </a:avLst>
          </a:prstGeom>
          <a:solidFill>
            <a:srgbClr val="FFFFFF"/>
          </a:solidFill>
          <a:ln w="9525">
            <a:solidFill>
              <a:srgbClr val="E6E6E6"/>
            </a:solidFill>
            <a:prstDash val="solid"/>
          </a:ln>
        </p:spPr>
      </p:sp>
      <p:sp>
        <p:nvSpPr>
          <p:cNvPr id="12" name="stat value"/>
          <p:cNvSpPr txBox="1"/>
          <p:nvPr/>
        </p:nvSpPr>
        <p:spPr>
          <a:xfrm>
            <a:off x="8842248" y="4178808"/>
            <a:ext cx="2340864" cy="457200"/>
          </a:xfrm>
          <a:prstGeom prst="rect">
            <a:avLst/>
          </a:prstGeom>
          <a:noFill/>
          <a:ln/>
        </p:spPr>
        <p:txBody>
          <a:bodyPr wrap="square" lIns="0" tIns="0" rIns="0" bIns="0" rtlCol="0" anchor="ctr"/>
          <a:lstStyle/>
          <a:p>
            <a:pPr indent="0" marL="0">
              <a:buNone/>
            </a:pPr>
            <a:r>
              <a:rPr lang="en-US" sz="2400" b="1" dirty="0">
                <a:solidFill>
                  <a:srgbClr val="31302E"/>
                </a:solidFill>
              </a:rPr>
              <a:t>3 of 4</a:t>
            </a:r>
            <a:endParaRPr lang="en-US" sz="2400" dirty="0"/>
          </a:p>
        </p:txBody>
      </p:sp>
      <p:sp>
        <p:nvSpPr>
          <p:cNvPr id="13" name="stat label"/>
          <p:cNvSpPr txBox="1"/>
          <p:nvPr/>
        </p:nvSpPr>
        <p:spPr>
          <a:xfrm>
            <a:off x="8842248" y="4654296"/>
            <a:ext cx="2340864" cy="1005840"/>
          </a:xfrm>
          <a:prstGeom prst="rect">
            <a:avLst/>
          </a:prstGeom>
          <a:noFill/>
          <a:ln/>
        </p:spPr>
        <p:txBody>
          <a:bodyPr wrap="square" lIns="0" tIns="0" rIns="0" bIns="0" rtlCol="0" anchor="t"/>
          <a:lstStyle/>
          <a:p>
            <a:pPr indent="0" marL="0">
              <a:buNone/>
            </a:pPr>
            <a:r>
              <a:rPr lang="en-US" sz="1150" dirty="0">
                <a:solidFill>
                  <a:srgbClr val="615D59"/>
                </a:solidFill>
              </a:rPr>
              <a:t>of the paper's orderings reproduce: RNA is the strongest single modality, all three beat the best single one, DNA with RNA beats DNA with protein.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1005840" y="795528"/>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What it adds up to · and what we need from you</a:t>
            </a:r>
            <a:endParaRPr lang="en-US" sz="1200" dirty="0"/>
          </a:p>
        </p:txBody>
      </p:sp>
      <p:sp>
        <p:nvSpPr>
          <p:cNvPr id="3" name="Text 0"/>
          <p:cNvSpPr/>
          <p:nvPr>
            <p:ph idx="102" type="title" hasCustomPrompt="1"/>
          </p:nvPr>
        </p:nvSpPr>
        <p:spPr>
          <a:xfrm>
            <a:off x="813816" y="1152144"/>
            <a:ext cx="10881360" cy="822960"/>
          </a:xfrm>
          <a:prstGeom prst="rect">
            <a:avLst/>
          </a:prstGeom>
          <a:noFill/>
          <a:ln/>
        </p:spPr>
        <p:txBody>
          <a:bodyPr wrap="square" lIns="0" tIns="0" rIns="0" bIns="0" rtlCol="0" anchor="t"/>
          <a:lstStyle/>
          <a:p>
            <a:pPr algn="l" indent="0" marL="0">
              <a:buNone/>
            </a:pPr>
            <a:r>
              <a:rPr lang="en-US" sz="2500" b="1" dirty="0">
                <a:solidFill>
                  <a:schemeClr val="tx1"/>
                </a:solidFill>
              </a:rPr>
              <a:t>The reproduction is faithful; the paper's fusion gains mostly do not survive a stronger single encoder</a:t>
            </a:r>
            <a:endParaRPr lang="en-US" sz="2500" dirty="0"/>
          </a:p>
        </p:txBody>
      </p:sp>
      <p:sp>
        <p:nvSpPr>
          <p:cNvPr id="4" name="Text 0"/>
          <p:cNvSpPr/>
          <p:nvPr>
            <p:ph idx="103" type="body" hasCustomPrompt="1"/>
          </p:nvPr>
        </p:nvSpPr>
        <p:spPr>
          <a:xfrm>
            <a:off x="813816" y="5989320"/>
            <a:ext cx="10881360" cy="502920"/>
          </a:xfrm>
          <a:prstGeom prst="rect">
            <a:avLst/>
          </a:prstGeom>
          <a:noFill/>
          <a:ln/>
        </p:spPr>
        <p:txBody>
          <a:bodyPr wrap="square" lIns="0" tIns="0" rIns="0" bIns="0" rtlCol="0" anchor="t"/>
          <a:lstStyle/>
          <a:p>
            <a:pPr indent="0" marL="0">
              <a:buNone/>
            </a:pPr>
            <a:r>
              <a:rPr lang="en-US" sz="1150" dirty="0">
                <a:solidFill>
                  <a:schemeClr val="accent2"/>
                </a:solidFill>
              </a:rPr>
              <a:t>Open, in order: the remaining four swaps and stability; the gated head at 1,280 channels; the sequence-grouped stability re-split; seeds on the swaps that matter; the mouse half-life and translation-efficiency scores.</a:t>
            </a:r>
            <a:endParaRPr lang="en-US" sz="1150" dirty="0"/>
          </a:p>
        </p:txBody>
      </p:sp>
      <p:sp>
        <p:nvSpPr>
          <p:cNvPr id="5" name="summary card"/>
          <p:cNvSpPr/>
          <p:nvPr/>
        </p:nvSpPr>
        <p:spPr>
          <a:xfrm>
            <a:off x="813816" y="2029968"/>
            <a:ext cx="5193792" cy="3794760"/>
          </a:xfrm>
          <a:prstGeom prst="roundRect">
            <a:avLst>
              <a:gd name="adj" fmla="val 1446"/>
            </a:avLst>
          </a:prstGeom>
          <a:solidFill>
            <a:srgbClr val="FFFFFF"/>
          </a:solidFill>
          <a:ln w="9525">
            <a:solidFill>
              <a:srgbClr val="E6E6E6"/>
            </a:solidFill>
            <a:prstDash val="solid"/>
          </a:ln>
        </p:spPr>
      </p:sp>
      <p:sp>
        <p:nvSpPr>
          <p:cNvPr id="6" name="summary head"/>
          <p:cNvSpPr txBox="1"/>
          <p:nvPr/>
        </p:nvSpPr>
        <p:spPr>
          <a:xfrm>
            <a:off x="1051560" y="2194560"/>
            <a:ext cx="4846320" cy="274320"/>
          </a:xfrm>
          <a:prstGeom prst="rect">
            <a:avLst/>
          </a:prstGeom>
          <a:noFill/>
          <a:ln/>
        </p:spPr>
        <p:txBody>
          <a:bodyPr wrap="square" lIns="0" tIns="0" rIns="0" bIns="0" rtlCol="0" anchor="ctr"/>
          <a:lstStyle/>
          <a:p>
            <a:pPr indent="0" marL="0">
              <a:buNone/>
            </a:pPr>
            <a:r>
              <a:rPr lang="en-US" sz="1300" b="1" dirty="0">
                <a:solidFill>
                  <a:srgbClr val="31302E"/>
                </a:solidFill>
              </a:rPr>
              <a:t>What it adds up to</a:t>
            </a:r>
            <a:endParaRPr lang="en-US" sz="1300" dirty="0"/>
          </a:p>
        </p:txBody>
      </p:sp>
      <p:sp>
        <p:nvSpPr>
          <p:cNvPr id="7" name="summary bullets"/>
          <p:cNvSpPr txBox="1"/>
          <p:nvPr/>
        </p:nvSpPr>
        <p:spPr>
          <a:xfrm>
            <a:off x="1115568" y="2542032"/>
            <a:ext cx="4754880" cy="320040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31302E"/>
                </a:solidFill>
              </a:rPr>
              <a:t>The build is right. Single encoders within 0.01 of the paper, cross-attention within 0.01 of its published value on all four benchmarks.</a:t>
            </a:r>
            <a:endParaRPr lang="en-US" sz="1200" dirty="0"/>
          </a:p>
          <a:p>
            <a:pPr marL="152400" indent="-152400">
              <a:spcAft>
                <a:spcPts val="600"/>
              </a:spcAft>
              <a:buSzPct val="100000"/>
              <a:buChar char="•"/>
            </a:pPr>
            <a:r>
              <a:rPr lang="en-US" sz="1200" dirty="0">
                <a:solidFill>
                  <a:srgbClr val="31302E"/>
                </a:solidFill>
              </a:rPr>
              <a:t>The encoder matters more than the fusion. Swapping one encoder moved E. coli by 8 points, and the fusion gain it was compensating for disappeared.</a:t>
            </a:r>
            <a:endParaRPr lang="en-US" sz="1200" dirty="0"/>
          </a:p>
          <a:p>
            <a:pPr marL="152400" indent="-152400">
              <a:spcAft>
                <a:spcPts val="600"/>
              </a:spcAft>
              <a:buSzPct val="100000"/>
              <a:buChar char="•"/>
            </a:pPr>
            <a:r>
              <a:rPr lang="en-US" sz="1200" dirty="0">
                <a:solidFill>
                  <a:srgbClr val="31302E"/>
                </a:solidFill>
              </a:rPr>
              <a:t>Fusion still wins where the modalities are different molecules: GTEx, +0.047 resolved, and the full-transcript tasks, +0.053 and +0.030.</a:t>
            </a:r>
            <a:endParaRPr lang="en-US" sz="1200" dirty="0"/>
          </a:p>
          <a:p>
            <a:pPr marL="152400" indent="-152400">
              <a:spcAft>
                <a:spcPts val="600"/>
              </a:spcAft>
              <a:buSzPct val="100000"/>
              <a:buChar char="•"/>
            </a:pPr>
            <a:r>
              <a:rPr lang="en-US" sz="1200" dirty="0">
                <a:solidFill>
                  <a:srgbClr val="31302E"/>
                </a:solidFill>
              </a:rPr>
              <a:t>One jointly pretrained model beats three fused ones on stability, +0.092 resolved, though on the leaky split.</a:t>
            </a:r>
            <a:endParaRPr lang="en-US" sz="1200" dirty="0"/>
          </a:p>
          <a:p>
            <a:pPr marL="152400" indent="-152400">
              <a:spcAft>
                <a:spcPts val="600"/>
              </a:spcAft>
              <a:buSzPct val="100000"/>
              <a:buChar char="•"/>
            </a:pPr>
            <a:r>
              <a:rPr lang="en-US" sz="1200" dirty="0">
                <a:solidFill>
                  <a:srgbClr val="31302E"/>
                </a:solidFill>
              </a:rPr>
              <a:t>The gated head is a selector, not a mixer, and the paper reports no error bars that would show which of its gains resolve.</a:t>
            </a:r>
            <a:endParaRPr lang="en-US" sz="1200" dirty="0"/>
          </a:p>
        </p:txBody>
      </p:sp>
      <p:sp>
        <p:nvSpPr>
          <p:cNvPr id="8" name="questions card"/>
          <p:cNvSpPr/>
          <p:nvPr/>
        </p:nvSpPr>
        <p:spPr>
          <a:xfrm>
            <a:off x="6190488" y="2029968"/>
            <a:ext cx="5193792" cy="3794760"/>
          </a:xfrm>
          <a:prstGeom prst="roundRect">
            <a:avLst>
              <a:gd name="adj" fmla="val 1446"/>
            </a:avLst>
          </a:prstGeom>
          <a:solidFill>
            <a:srgbClr val="213183"/>
          </a:solidFill>
          <a:ln w="9525">
            <a:solidFill>
              <a:srgbClr val="213183"/>
            </a:solidFill>
            <a:prstDash val="solid"/>
          </a:ln>
        </p:spPr>
      </p:sp>
      <p:sp>
        <p:nvSpPr>
          <p:cNvPr id="9" name="questions head"/>
          <p:cNvSpPr txBox="1"/>
          <p:nvPr/>
        </p:nvSpPr>
        <p:spPr>
          <a:xfrm>
            <a:off x="6419088" y="2194560"/>
            <a:ext cx="4846320" cy="274320"/>
          </a:xfrm>
          <a:prstGeom prst="rect">
            <a:avLst/>
          </a:prstGeom>
          <a:noFill/>
          <a:ln/>
        </p:spPr>
        <p:txBody>
          <a:bodyPr wrap="square" lIns="0" tIns="0" rIns="0" bIns="0" rtlCol="0" anchor="ctr"/>
          <a:lstStyle/>
          <a:p>
            <a:pPr indent="0" marL="0">
              <a:buNone/>
            </a:pPr>
            <a:r>
              <a:rPr lang="en-US" sz="1300" b="1" dirty="0">
                <a:solidFill>
                  <a:srgbClr val="FFFFFF"/>
                </a:solidFill>
              </a:rPr>
              <a:t>Questions for you</a:t>
            </a:r>
            <a:endParaRPr lang="en-US" sz="1300" dirty="0"/>
          </a:p>
        </p:txBody>
      </p:sp>
      <p:sp>
        <p:nvSpPr>
          <p:cNvPr id="10" name="questions bullets"/>
          <p:cNvSpPr txBox="1"/>
          <p:nvPr/>
        </p:nvSpPr>
        <p:spPr>
          <a:xfrm>
            <a:off x="6483096" y="2542032"/>
            <a:ext cx="4754880" cy="320040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FFFFFF"/>
                </a:solidFill>
              </a:rPr>
              <a:t>The headline finding: a better encoder beat the fusion it was feeding. Does that become the project's result, with the method test asking which encoder to pick rather than whether to fuse?</a:t>
            </a:r>
            <a:endParaRPr lang="en-US" sz="1200" dirty="0"/>
          </a:p>
          <a:p>
            <a:pPr marL="152400" indent="-152400">
              <a:spcAft>
                <a:spcPts val="600"/>
              </a:spcAft>
              <a:buSzPct val="100000"/>
              <a:buChar char="•"/>
            </a:pPr>
            <a:r>
              <a:rPr lang="en-US" sz="1200" dirty="0">
                <a:solidFill>
                  <a:srgbClr val="FFFFFF"/>
                </a:solidFill>
              </a:rPr>
              <a:t>Ab1: the fifth benchmark is Yazdani-Jahromi et al. (UCF) and not public. Can it be obtained?</a:t>
            </a:r>
            <a:endParaRPr lang="en-US" sz="1200" dirty="0"/>
          </a:p>
          <a:p>
            <a:pPr marL="152400" indent="-152400">
              <a:spcAft>
                <a:spcPts val="600"/>
              </a:spcAft>
              <a:buSzPct val="100000"/>
              <a:buChar char="•"/>
            </a:pPr>
            <a:r>
              <a:rPr lang="en-US" sz="1200" dirty="0">
                <a:solidFill>
                  <a:srgbClr val="FFFFFF"/>
                </a:solidFill>
              </a:rPr>
              <a:t>Is seeds plus a paired bootstrap the reporting standard for everything that follows? The swaps are one seed so far.</a:t>
            </a:r>
            <a:endParaRPr lang="en-US" sz="1200" dirty="0"/>
          </a:p>
          <a:p>
            <a:pPr marL="152400" indent="-152400">
              <a:spcAft>
                <a:spcPts val="600"/>
              </a:spcAft>
              <a:buSzPct val="100000"/>
              <a:buChar char="•"/>
            </a:pPr>
            <a:r>
              <a:rPr lang="en-US" sz="1200" dirty="0">
                <a:solidFill>
                  <a:srgbClr val="FFFFFF"/>
                </a:solidFill>
              </a:rPr>
              <a:t>Does the alignment framing (agreement on what the central dogma shares, beyond composition) match what the plan means?</a:t>
            </a:r>
            <a:endParaRPr lang="en-US" sz="1200" dirty="0"/>
          </a:p>
          <a:p>
            <a:pPr marL="152400" indent="-152400">
              <a:spcAft>
                <a:spcPts val="600"/>
              </a:spcAft>
              <a:buSzPct val="100000"/>
              <a:buChar char="•"/>
            </a:pPr>
            <a:r>
              <a:rPr lang="en-US" sz="1200" dirty="0">
                <a:solidFill>
                  <a:srgbClr val="FFFFFF"/>
                </a:solidFill>
              </a:rPr>
              <a:t>GPU access: Coupled Mamba needs CUDA. Chase has a desktop GPU; is the cluster available too?</a:t>
            </a:r>
            <a:endParaRPr lang="en-US" sz="1200" dirty="0"/>
          </a:p>
          <a:p>
            <a:pPr marL="152400" indent="-152400">
              <a:spcAft>
                <a:spcPts val="600"/>
              </a:spcAft>
              <a:buSzPct val="100000"/>
              <a:buChar char="•"/>
            </a:pPr>
            <a:r>
              <a:rPr lang="en-US" sz="1200" dirty="0">
                <a:solidFill>
                  <a:srgbClr val="FFFFFF"/>
                </a:solidFill>
              </a:rPr>
              <a:t>Distillation teachers: which two DNA encoders and which RNA encoder join the twelve?</a:t>
            </a:r>
            <a:endParaRPr lang="en-US" sz="1200" dirty="0"/>
          </a:p>
        </p:txBody>
      </p:sp>
    </p:spTree>
  </p:cSld>
  <p:clrMapOvr>
    <a:masterClrMapping/>
  </p:clrMapOvr>
</p:sld>
</file>

<file path=ppt/theme/theme1.xml><?xml version="1.0" encoding="utf-8"?>
<a:theme xmlns:a="http://schemas.openxmlformats.org/drawingml/2006/main" name="multimodal-bio-fusion progress">
  <a:themeElements>
    <a:clrScheme name="multimodal-bio-fusion progress">
      <a:dk1>
        <a:srgbClr val="000000"/>
      </a:dk1>
      <a:lt1>
        <a:srgbClr val="FFFFFF"/>
      </a:lt1>
      <a:dk2>
        <a:srgbClr val="31302E"/>
      </a:dk2>
      <a:lt2>
        <a:srgbClr val="F6F5F4"/>
      </a:lt2>
      <a:accent1>
        <a:srgbClr val="213183"/>
      </a:accent1>
      <a:accent2>
        <a:srgbClr val="615D59"/>
      </a:accent2>
      <a:accent3>
        <a:srgbClr val="CBCBCB"/>
      </a:accent3>
      <a:accent4>
        <a:srgbClr val="E6E6E6"/>
      </a:accent4>
      <a:accent5>
        <a:srgbClr val="DCA323"/>
      </a:accent5>
      <a:accent6>
        <a:srgbClr val="2F7A4D"/>
      </a:accent6>
      <a:hlink>
        <a:srgbClr val="213183"/>
      </a:hlink>
      <a:folHlink>
        <a:srgbClr val="213183"/>
      </a:folHlink>
    </a:clrScheme>
    <a:fontScheme name="multimodal-bio-fusion progress">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since October 7</dc:title>
  <dc:subject>PptxGenJS Presentation</dc:subject>
  <dc:creator>Julian McKinley and Chase Di Maria Breisinger</dc:creator>
  <cp:lastModifiedBy>Julian McKinley and Chase Di Maria Breisinger</cp:lastModifiedBy>
  <cp:revision>1</cp:revision>
  <dcterms:created xsi:type="dcterms:W3CDTF">2026-10-22T16:05:09Z</dcterms:created>
  <dcterms:modified xsi:type="dcterms:W3CDTF">2026-10-22T16:05:09Z</dcterms:modified>
</cp:coreProperties>
</file>