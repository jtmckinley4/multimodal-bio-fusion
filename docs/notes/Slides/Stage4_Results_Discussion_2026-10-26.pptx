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8.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9.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0.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f7f3f6feff48b7" /><Relationship Type="http://schemas.openxmlformats.org/officeDocument/2006/relationships/extended-properties" Target="/docProps/app.xml" Id="R569f759ec04640cf" /><Relationship Type="http://schemas.openxmlformats.org/officeDocument/2006/relationships/officeDocument" Target="/ppt/presentation.xml" Id="R13b87f2b22804225" /></Relationships>
</file>

<file path=ppt/presentation.xml><?xml version="1.0" encoding="utf-8"?>
<p:presentation xmlns:p="http://schemas.openxmlformats.org/presentationml/2006/main">
  <p:sldMasterIdLst>
    <p:sldMasterId xmlns:r="http://schemas.openxmlformats.org/officeDocument/2006/relationships" id="2147483648" r:id="R59fa233cf32a48a3"/>
  </p:sldMasterIdLst>
  <p:notesMasterIdLst>
    <p:notesMasterId xmlns:r="http://schemas.openxmlformats.org/officeDocument/2006/relationships" r:id="R7fc36bef5c794070"/>
  </p:notesMasterIdLst>
  <p:sldIdLst>
    <p:sldId xmlns:r="http://schemas.openxmlformats.org/officeDocument/2006/relationships" id="256" r:id="R77f23f97b2094eca"/>
    <p:sldId xmlns:r="http://schemas.openxmlformats.org/officeDocument/2006/relationships" id="257" r:id="Rc236a3620fdf4772"/>
    <p:sldId xmlns:r="http://schemas.openxmlformats.org/officeDocument/2006/relationships" id="258" r:id="R6485d3d16a484c3e"/>
    <p:sldId xmlns:r="http://schemas.openxmlformats.org/officeDocument/2006/relationships" id="259" r:id="R6ef228dd354641e7"/>
    <p:sldId xmlns:r="http://schemas.openxmlformats.org/officeDocument/2006/relationships" id="260" r:id="Rb4b35fc11a2f4285"/>
    <p:sldId xmlns:r="http://schemas.openxmlformats.org/officeDocument/2006/relationships" id="261" r:id="R7a92161d387e4ac8"/>
    <p:sldId xmlns:r="http://schemas.openxmlformats.org/officeDocument/2006/relationships" id="262" r:id="R8b67008653f14e1b"/>
    <p:sldId xmlns:r="http://schemas.openxmlformats.org/officeDocument/2006/relationships" id="263" r:id="R5927bf3f1318416d"/>
    <p:sldId xmlns:r="http://schemas.openxmlformats.org/officeDocument/2006/relationships" id="264" r:id="R20e5cc8e35064304"/>
    <p:sldId xmlns:r="http://schemas.openxmlformats.org/officeDocument/2006/relationships" id="265" r:id="R007d93885d7e499e"/>
    <p:sldId xmlns:r="http://schemas.openxmlformats.org/officeDocument/2006/relationships" id="266" r:id="R976feb0eefbb4150"/>
    <p:sldId xmlns:r="http://schemas.openxmlformats.org/officeDocument/2006/relationships" id="267" r:id="R3050b44926b64b0d"/>
    <p:sldId xmlns:r="http://schemas.openxmlformats.org/officeDocument/2006/relationships" id="268" r:id="R58bf3a05506c41e4"/>
    <p:sldId xmlns:r="http://schemas.openxmlformats.org/officeDocument/2006/relationships" id="269" r:id="Ree475d6b037d40b8"/>
    <p:sldId xmlns:r="http://schemas.openxmlformats.org/officeDocument/2006/relationships" id="270" r:id="R3e488bf2f5ca4083"/>
    <p:sldId xmlns:r="http://schemas.openxmlformats.org/officeDocument/2006/relationships" id="271" r:id="R644edf62064647b9"/>
    <p:sldId xmlns:r="http://schemas.openxmlformats.org/officeDocument/2006/relationships" id="272" r:id="R876cc3d46fed4700"/>
    <p:sldId xmlns:r="http://schemas.openxmlformats.org/officeDocument/2006/relationships" id="273" r:id="R959be7cf3ad14806"/>
    <p:sldId xmlns:r="http://schemas.openxmlformats.org/officeDocument/2006/relationships" id="274" r:id="R7990290a0ea648d1"/>
    <p:sldId xmlns:r="http://schemas.openxmlformats.org/officeDocument/2006/relationships" id="275" r:id="R7f80a5786cdb4041"/>
    <p:sldId xmlns:r="http://schemas.openxmlformats.org/officeDocument/2006/relationships" id="276" r:id="Rc1c0697a65f84278"/>
    <p:sldId xmlns:r="http://schemas.openxmlformats.org/officeDocument/2006/relationships" id="277" r:id="R677297390dc74b29"/>
    <p:sldId xmlns:r="http://schemas.openxmlformats.org/officeDocument/2006/relationships" id="278" r:id="R3fff0103f6c64702"/>
    <p:sldId xmlns:r="http://schemas.openxmlformats.org/officeDocument/2006/relationships" id="279" r:id="Rc9e0f5dee94547fb"/>
    <p:sldId xmlns:r="http://schemas.openxmlformats.org/officeDocument/2006/relationships" id="280" r:id="R232103cee73f43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c50064719247bc" /><Relationship Type="http://schemas.openxmlformats.org/officeDocument/2006/relationships/slideMaster" Target="/ppt/slideMasters/slideMaster1.xml" Id="R59fa233cf32a48a3" /><Relationship Type="http://schemas.openxmlformats.org/officeDocument/2006/relationships/notesMaster" Target="/ppt/notesMasters/notesMaster1.xml" Id="R7fc36bef5c794070" /><Relationship Type="http://schemas.openxmlformats.org/officeDocument/2006/relationships/presProps" Target="/ppt/presProps.xml" Id="Rc33b99c42a0447c9" /><Relationship Type="http://schemas.openxmlformats.org/officeDocument/2006/relationships/tableStyles" Target="/ppt/tableStyles.xml" Id="R34bc7e55d3974ae5" /><Relationship Type="http://schemas.openxmlformats.org/officeDocument/2006/relationships/slide" Target="/ppt/slides/slide1.xml" Id="R77f23f97b2094eca" /><Relationship Type="http://schemas.openxmlformats.org/officeDocument/2006/relationships/slide" Target="/ppt/slides/slide2.xml" Id="Rc236a3620fdf4772" /><Relationship Type="http://schemas.openxmlformats.org/officeDocument/2006/relationships/slide" Target="/ppt/slides/slide3.xml" Id="R6485d3d16a484c3e" /><Relationship Type="http://schemas.openxmlformats.org/officeDocument/2006/relationships/slide" Target="/ppt/slides/slide4.xml" Id="R6ef228dd354641e7" /><Relationship Type="http://schemas.openxmlformats.org/officeDocument/2006/relationships/slide" Target="/ppt/slides/slide5.xml" Id="Rb4b35fc11a2f4285" /><Relationship Type="http://schemas.openxmlformats.org/officeDocument/2006/relationships/slide" Target="/ppt/slides/slide6.xml" Id="R7a92161d387e4ac8" /><Relationship Type="http://schemas.openxmlformats.org/officeDocument/2006/relationships/slide" Target="/ppt/slides/slide7.xml" Id="R8b67008653f14e1b" /><Relationship Type="http://schemas.openxmlformats.org/officeDocument/2006/relationships/slide" Target="/ppt/slides/slide8.xml" Id="R5927bf3f1318416d" /><Relationship Type="http://schemas.openxmlformats.org/officeDocument/2006/relationships/slide" Target="/ppt/slides/slide9.xml" Id="R20e5cc8e35064304" /><Relationship Type="http://schemas.openxmlformats.org/officeDocument/2006/relationships/slide" Target="/ppt/slides/slide10.xml" Id="R007d93885d7e499e" /><Relationship Type="http://schemas.openxmlformats.org/officeDocument/2006/relationships/slide" Target="/ppt/slides/slide11.xml" Id="R976feb0eefbb4150" /><Relationship Type="http://schemas.openxmlformats.org/officeDocument/2006/relationships/slide" Target="/ppt/slides/slide12.xml" Id="R3050b44926b64b0d" /><Relationship Type="http://schemas.openxmlformats.org/officeDocument/2006/relationships/slide" Target="/ppt/slides/slide13.xml" Id="R58bf3a05506c41e4" /><Relationship Type="http://schemas.openxmlformats.org/officeDocument/2006/relationships/slide" Target="/ppt/slides/slide14.xml" Id="Ree475d6b037d40b8" /><Relationship Type="http://schemas.openxmlformats.org/officeDocument/2006/relationships/slide" Target="/ppt/slides/slide15.xml" Id="R3e488bf2f5ca4083" /><Relationship Type="http://schemas.openxmlformats.org/officeDocument/2006/relationships/slide" Target="/ppt/slides/slide16.xml" Id="R644edf62064647b9" /><Relationship Type="http://schemas.openxmlformats.org/officeDocument/2006/relationships/slide" Target="/ppt/slides/slide17.xml" Id="R876cc3d46fed4700" /><Relationship Type="http://schemas.openxmlformats.org/officeDocument/2006/relationships/slide" Target="/ppt/slides/slide18.xml" Id="R959be7cf3ad14806" /><Relationship Type="http://schemas.openxmlformats.org/officeDocument/2006/relationships/slide" Target="/ppt/slides/slide19.xml" Id="R7990290a0ea648d1" /><Relationship Type="http://schemas.openxmlformats.org/officeDocument/2006/relationships/slide" Target="/ppt/slides/slide20.xml" Id="R7f80a5786cdb4041" /><Relationship Type="http://schemas.openxmlformats.org/officeDocument/2006/relationships/slide" Target="/ppt/slides/slide21.xml" Id="Rc1c0697a65f84278" /><Relationship Type="http://schemas.openxmlformats.org/officeDocument/2006/relationships/slide" Target="/ppt/slides/slide22.xml" Id="R677297390dc74b29" /><Relationship Type="http://schemas.openxmlformats.org/officeDocument/2006/relationships/slide" Target="/ppt/slides/slide23.xml" Id="R3fff0103f6c64702" /><Relationship Type="http://schemas.openxmlformats.org/officeDocument/2006/relationships/slide" Target="/ppt/slides/slide24.xml" Id="Rc9e0f5dee94547fb" /><Relationship Type="http://schemas.openxmlformats.org/officeDocument/2006/relationships/slide" Target="/ppt/slides/slide25.xml" Id="R232103cee73f43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c27cc884e44d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9bb29997e244a8" /><Relationship Type="http://schemas.openxmlformats.org/officeDocument/2006/relationships/notesMaster" Target="/ppt/notesMasters/notesMaster1.xml" Id="R5f916afce30146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370c58b3ea438c" /><Relationship Type="http://schemas.openxmlformats.org/officeDocument/2006/relationships/notesMaster" Target="/ppt/notesMasters/notesMaster1.xml" Id="Rf73a15976d444e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a596787c154ef8" /><Relationship Type="http://schemas.openxmlformats.org/officeDocument/2006/relationships/notesMaster" Target="/ppt/notesMasters/notesMaster1.xml" Id="Rd606f4924ec141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c364e9383a462a" /><Relationship Type="http://schemas.openxmlformats.org/officeDocument/2006/relationships/notesMaster" Target="/ppt/notesMasters/notesMaster1.xml" Id="R14c2a103fdd24a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0bde770feb4f0d" /><Relationship Type="http://schemas.openxmlformats.org/officeDocument/2006/relationships/notesMaster" Target="/ppt/notesMasters/notesMaster1.xml" Id="R274fbdb72c0048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96eb4f2d744a20" /><Relationship Type="http://schemas.openxmlformats.org/officeDocument/2006/relationships/notesMaster" Target="/ppt/notesMasters/notesMaster1.xml" Id="R55e6a8a41fc14c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71b6b42702415e" /><Relationship Type="http://schemas.openxmlformats.org/officeDocument/2006/relationships/notesMaster" Target="/ppt/notesMasters/notesMaster1.xml" Id="R05c4d192eb7746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52eb5b9bba41e0" /><Relationship Type="http://schemas.openxmlformats.org/officeDocument/2006/relationships/notesMaster" Target="/ppt/notesMasters/notesMaster1.xml" Id="Rb83146a70cbd49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3df6a67a4547fd" /><Relationship Type="http://schemas.openxmlformats.org/officeDocument/2006/relationships/notesMaster" Target="/ppt/notesMasters/notesMaster1.xml" Id="Rce1fad8dee0248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0b86e0d3e74ed1" /><Relationship Type="http://schemas.openxmlformats.org/officeDocument/2006/relationships/notesMaster" Target="/ppt/notesMasters/notesMaster1.xml" Id="Re8c6d4a008d049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b808bbd6f54398" /><Relationship Type="http://schemas.openxmlformats.org/officeDocument/2006/relationships/notesMaster" Target="/ppt/notesMasters/notesMaster1.xml" Id="R6d4e61c0968a4e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4174e89b5a4d91" /><Relationship Type="http://schemas.openxmlformats.org/officeDocument/2006/relationships/notesMaster" Target="/ppt/notesMasters/notesMaster1.xml" Id="R6c6e749f78d64aa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27b314d66f4728" /><Relationship Type="http://schemas.openxmlformats.org/officeDocument/2006/relationships/notesMaster" Target="/ppt/notesMasters/notesMaster1.xml" Id="R2323e69ea7e440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1ab96783c04956" /><Relationship Type="http://schemas.openxmlformats.org/officeDocument/2006/relationships/notesMaster" Target="/ppt/notesMasters/notesMaster1.xml" Id="R234285b6b5424a3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732c4c879da4a53" /><Relationship Type="http://schemas.openxmlformats.org/officeDocument/2006/relationships/notesMaster" Target="/ppt/notesMasters/notesMaster1.xml" Id="R5997b70b35584f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4946b149c3c4c7a" /><Relationship Type="http://schemas.openxmlformats.org/officeDocument/2006/relationships/notesMaster" Target="/ppt/notesMasters/notesMaster1.xml" Id="Rce9401743ae54c2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41c67e952774174" /><Relationship Type="http://schemas.openxmlformats.org/officeDocument/2006/relationships/notesMaster" Target="/ppt/notesMasters/notesMaster1.xml" Id="R3cd0fe44c4884aa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34daa5ccb144b0e" /><Relationship Type="http://schemas.openxmlformats.org/officeDocument/2006/relationships/notesMaster" Target="/ppt/notesMasters/notesMaster1.xml" Id="R8feb2260c55c42a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fc163d37bf94cc1" /><Relationship Type="http://schemas.openxmlformats.org/officeDocument/2006/relationships/notesMaster" Target="/ppt/notesMasters/notesMaster1.xml" Id="Rf60490ee96d040a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ac899b785854fac" /><Relationship Type="http://schemas.openxmlformats.org/officeDocument/2006/relationships/notesMaster" Target="/ppt/notesMasters/notesMaster1.xml" Id="R129d81dc1bc84a4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e27a439fd8c468c" /><Relationship Type="http://schemas.openxmlformats.org/officeDocument/2006/relationships/notesMaster" Target="/ppt/notesMasters/notesMaster1.xml" Id="R68f6773fb43f4a3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67813d1bcc044a7" /><Relationship Type="http://schemas.openxmlformats.org/officeDocument/2006/relationships/notesMaster" Target="/ppt/notesMasters/notesMaster1.xml" Id="Rb4aef45278b0406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a4f781c73374b9f" /><Relationship Type="http://schemas.openxmlformats.org/officeDocument/2006/relationships/notesMaster" Target="/ppt/notesMasters/notesMaster1.xml" Id="Ref04317643994a6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9052b576bd94f96" /><Relationship Type="http://schemas.openxmlformats.org/officeDocument/2006/relationships/notesMaster" Target="/ppt/notesMasters/notesMaster1.xml" Id="Rf54ed40fef17484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2c4fcad445c478c" /><Relationship Type="http://schemas.openxmlformats.org/officeDocument/2006/relationships/notesMaster" Target="/ppt/notesMasters/notesMaster1.xml" Id="Rc9bc2ebd044e47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asks when combining representations improves biological prediction. We will follow what changes in each comparison: sequence information, the encoder, the way streams are combined, or the evaluation. Start with a reporter where different nucleotide sequences make the same protein. That gives us a concrete control before moving to fusion and additional sequence context.</a:t>
            </a:r>
          </a:p>
          <a:p xmlns:a="http://schemas.openxmlformats.org/drawingml/2006/main">
            <a:r>
              <a:t/>
            </a:r>
          </a:p>
          <a:p xmlns:a="http://schemas.openxmlformats.org/drawingml/2006/main">
            <a:r>
              <a:t>Repository sources:</a:t>
            </a:r>
          </a:p>
          <a:p xmlns:a="http://schemas.openxmlformats.org/drawingml/2006/main">
            <a:r>
              <a:t>README.md</a:t>
            </a:r>
          </a:p>
          <a:p xmlns:a="http://schemas.openxmlformats.org/drawingml/2006/main">
            <a:r>
              <a:t>Code/stage4/README.md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GCU and GCC both specify alanine, while GAA and GAG both specify glutamate. These short fragments illustrate synonymous codons; they are not the reporter’s actual sequence. In the real sample, every variant encodes the same monomeric red fluorescent protein. A protein encoder therefore cannot distinguish variants from sequence alone. The measured expression target remains separate from what we feed the encoders.</a:t>
            </a:r>
          </a:p>
          <a:p xmlns:a="http://schemas.openxmlformats.org/drawingml/2006/main">
            <a:r>
              <a:t/>
            </a:r>
          </a:p>
          <a:p xmlns:a="http://schemas.openxmlformats.org/drawingml/2006/main">
            <a:r>
              <a:t>Repository sources:</a:t>
            </a:r>
          </a:p>
          <a:p xmlns:a="http://schemas.openxmlformats.org/drawingml/2006/main">
            <a:r>
              <a:t>Code/stage4/tier1_mrfp_control.ipynb</a:t>
            </a:r>
          </a:p>
          <a:p xmlns:a="http://schemas.openxmlformats.org/drawingml/2006/main">
            <a:r>
              <a:t>Code/stage4/README.md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pretrained encoder and the predictor have different jobs. The encoder converts the sequence into features. Ridge learns how those features relate to expression using training rows. The final score comes from held-out predictions. We keep identical sequences together in the outer folds. Now we can ask whether the embedding adds something useful beyond features calculated directly from the same sequence.</a:t>
            </a:r>
          </a:p>
          <a:p xmlns:a="http://schemas.openxmlformats.org/drawingml/2006/main">
            <a:r>
              <a:t/>
            </a:r>
          </a:p>
          <a:p xmlns:a="http://schemas.openxmlformats.org/drawingml/2006/main">
            <a:r>
              <a:t>Repository sources:</a:t>
            </a:r>
          </a:p>
          <a:p xmlns:a="http://schemas.openxmlformats.org/drawingml/2006/main">
            <a:r>
              <a:t>Code/stage4/tier1_mrfp_control.ipynb</a:t>
            </a:r>
          </a:p>
          <a:p xmlns:a="http://schemas.openxmlformats.org/drawingml/2006/main">
            <a:r>
              <a:t>docs/methods/linear-probing.md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diagram shows how test predictions are combined. The residual predictor is trained on control errors estimated inside the training data; outer-test measurements never become fitting targets. On the right, controls score 0.306 and the combined predictor 0.488. The gain is positive in all ten assignments. Folding summaries are computational proxies. This supports prediction within one reporter, beyond these selected linear controls, without establishing a folding mechanism.</a:t>
            </a:r>
          </a:p>
          <a:p xmlns:a="http://schemas.openxmlformats.org/drawingml/2006/main">
            <a:r>
              <a:t/>
            </a:r>
          </a:p>
          <a:p xmlns:a="http://schemas.openxmlformats.org/drawingml/2006/main">
            <a:r>
              <a:t>Repository sources:</a:t>
            </a:r>
          </a:p>
          <a:p xmlns:a="http://schemas.openxmlformats.org/drawingml/2006/main">
            <a:r>
              <a:t>Code/stage4/tier1_mrfp_control.ipynb</a:t>
            </a:r>
          </a:p>
          <a:p xmlns:a="http://schemas.openxmlformats.org/drawingml/2006/main">
            <a:r>
              <a:t>Code/stage4/results/tier1_mrfp/probe_scores.csv</a:t>
            </a:r>
          </a:p>
          <a:p xmlns:a="http://schemas.openxmlformats.org/drawingml/2006/main">
            <a:r>
              <a:t>Code/stage4/results/tier1_mrfp/gains_over_controls.csv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mRFP used a pooled vector and ridge. Here the predictor retains one vector per token. The diagrams identify the operation that differs: selecting one stream, joining streams, learning weights, or learning cross-stream interactions. The trained components change, while the encoder weights stay fixed. These are different datasets from mRFP. We compare each combined model against the validation-selected single encoder on its own task.</a:t>
            </a:r>
          </a:p>
          <a:p xmlns:a="http://schemas.openxmlformats.org/drawingml/2006/main">
            <a:r>
              <a:t/>
            </a:r>
          </a:p>
          <a:p xmlns:a="http://schemas.openxmlformats.org/drawingml/2006/main">
            <a:r>
              <a:t>Repository sources:</a:t>
            </a:r>
          </a:p>
          <a:p xmlns:a="http://schemas.openxmlformats.org/drawingml/2006/main">
            <a:r>
              <a:t>Code/stage4/tier2_blf_phaseA.ipynb</a:t>
            </a:r>
          </a:p>
          <a:p xmlns:a="http://schemas.openxmlformats.org/drawingml/2006/main">
            <a:r>
              <a:t>Code/stage4/README.md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zero line is the same question in each panel: did fusion improve the score? The horizontal scale differs because accuracy and Spearman measure different things. Concatenation and gating have positive intervals on E. coli and negative ones on CoV-Vac. Cross-attention crosses zero in both. These saved intervals use 4,000 grouped paired test resamples conditional on the fitted models, not new training runs. CoV-Vac protein input is computational translation of fragments with unverified coding frame.</a:t>
            </a:r>
          </a:p>
          <a:p xmlns:a="http://schemas.openxmlformats.org/drawingml/2006/main">
            <a:r>
              <a:t/>
            </a:r>
          </a:p>
          <a:p xmlns:a="http://schemas.openxmlformats.org/drawingml/2006/main">
            <a:r>
              <a:t>Repository sources:</a:t>
            </a:r>
          </a:p>
          <a:p xmlns:a="http://schemas.openxmlformats.org/drawingml/2006/main">
            <a:r>
              <a:t>Code/stage4/tier2_blf_phaseA.ipynb</a:t>
            </a:r>
          </a:p>
          <a:p xmlns:a="http://schemas.openxmlformats.org/drawingml/2006/main">
            <a:r>
              <a:t>docs/run-records.md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test set contains many sequences that also appear in training. Keeping only the 1,135 rows absent from training lowers all four scores. The numerical concatenation gain rises, but its interval still crosses zero. This diagnostic changes which examples are scored and leaves validation overlap in place. It does not repair the split. Evaluation quality and the strength of the comparison model both need attention.</a:t>
            </a:r>
          </a:p>
          <a:p xmlns:a="http://schemas.openxmlformats.org/drawingml/2006/main">
            <a:r>
              <a:t/>
            </a:r>
          </a:p>
          <a:p xmlns:a="http://schemas.openxmlformats.org/drawingml/2006/main">
            <a:r>
              <a:t>Repository sources:</a:t>
            </a:r>
          </a:p>
          <a:p xmlns:a="http://schemas.openxmlformats.org/drawingml/2006/main">
            <a:r>
              <a:t>Code/stage4/tier2_blf_phaseA.ipynb</a:t>
            </a:r>
          </a:p>
          <a:p xmlns:a="http://schemas.openxmlformats.org/drawingml/2006/main">
            <a:r>
              <a:t>docs/run-records.md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repeated layout makes the one changed component visible. But beating the original fusion model is only one question. We also fit the eligible single encoders and ask whether the combination beats their validation-selected reference. Otherwise a stronger representation can look like a benefit from fusion. The retained original and replacement runs differ in seed coverage and historical provenance, so cross-phase comparisons cannot isolate the encoder causally.</a:t>
            </a:r>
          </a:p>
          <a:p xmlns:a="http://schemas.openxmlformats.org/drawingml/2006/main">
            <a:r>
              <a:t/>
            </a:r>
          </a:p>
          <a:p xmlns:a="http://schemas.openxmlformats.org/drawingml/2006/main">
            <a:r>
              <a:t>Repository sources:</a:t>
            </a:r>
          </a:p>
          <a:p xmlns:a="http://schemas.openxmlformats.org/drawingml/2006/main">
            <a:r>
              <a:t>Code/stage4/tier2_encoder_swaps.ipynb</a:t>
            </a:r>
          </a:p>
          <a:p xmlns:a="http://schemas.openxmlformats.org/drawingml/2006/main">
            <a:r>
              <a:t>Code/stage4/README.md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separates two trained prediction routes. The single route uses mRNA-FM alone. The fused route adds the other streams. Both are evaluated on the same test rows, so the comparison asks what the combination adds beyond the selected single predictor. The encoder itself does not have an accuracy score without a fitted predictor. The next slide makes the subtraction concrete.</a:t>
            </a:r>
          </a:p>
          <a:p xmlns:a="http://schemas.openxmlformats.org/drawingml/2006/main">
            <a:r>
              <a:t/>
            </a:r>
          </a:p>
          <a:p xmlns:a="http://schemas.openxmlformats.org/drawingml/2006/main">
            <a:r>
              <a:t>Repository sources:</a:t>
            </a:r>
          </a:p>
          <a:p xmlns:a="http://schemas.openxmlformats.org/drawingml/2006/main">
            <a:r>
              <a:t>Code/stage4/tier2_encoder_swaps.ipynb</a:t>
            </a:r>
          </a:p>
          <a:p xmlns:a="http://schemas.openxmlformats.org/drawingml/2006/main">
            <a:r>
              <a:t>Code/stage4/results/phaseB/analyses/ecoli-mrnafm-seed0/ecoli_proteins.json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worked calculation subtracts the single-model accuracy from concatenation accuracy. Its estimate is small, while the paired interval allows differences in either direction. CaLM gives a similar pattern. Keep all four heads visible, and retain the contrasting CoV-Vac comparisons in the appendix. These are the four already-analyzed replacement configurations, not an analysis of every later sweep result. This motivates checking the representation family under a matched simpler predictor.</a:t>
            </a:r>
          </a:p>
          <a:p xmlns:a="http://schemas.openxmlformats.org/drawingml/2006/main">
            <a:r>
              <a:t/>
            </a:r>
          </a:p>
          <a:p xmlns:a="http://schemas.openxmlformats.org/drawingml/2006/main">
            <a:r>
              <a:t>Repository sources:</a:t>
            </a:r>
          </a:p>
          <a:p xmlns:a="http://schemas.openxmlformats.org/drawingml/2006/main">
            <a:r>
              <a:t>Code/stage4/tier2_encoder_swaps.ipynb</a:t>
            </a:r>
          </a:p>
          <a:p xmlns:a="http://schemas.openxmlformats.org/drawingml/2006/main">
            <a:r>
              <a:t>Code/stage4/results/phaseB/analyses/ecoli-mrnafm-seed0/ecoli_proteins.json</a:t>
            </a:r>
          </a:p>
          <a:p xmlns:a="http://schemas.openxmlformats.org/drawingml/2006/main">
            <a:r>
              <a:t>Code/stage4/results/phaseB/analyses/ecoli-calm-seed0/ecoli_proteins.json</a:t>
            </a:r>
          </a:p>
          <a:p xmlns:a="http://schemas.openxmlformats.org/drawingml/2006/main">
            <a:r>
              <a:t>Code/stage4/results/phaseB/analyses/cov-vac-mrnafm-seed0/cov_vac_degradation.json</a:t>
            </a:r>
          </a:p>
          <a:p xmlns:a="http://schemas.openxmlformats.org/drawingml/2006/main">
            <a:r>
              <a:t>Code/stage4/results/phaseB/analyses/cov-vac-calm-seed0/cov_vac_degradation.json</a:t>
            </a:r>
          </a:p>
          <a:p xmlns:a="http://schemas.openxmlformats.org/drawingml/2006/main">
            <a:r>
              <a:t>docs/run-records.md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LucaOne family was jointly pretrained, but this interface encodes the gene and protein separately. Their pooled vectors feed the same ridge procedure used for the original representation comparison. The combined score improves by 0.092 Spearman with a positive grouped paired interval. That supports this matched representation comparison. It does not separate pretraining, architecture, data or size as causes, and the stability overlap remains.</a:t>
            </a:r>
          </a:p>
          <a:p xmlns:a="http://schemas.openxmlformats.org/drawingml/2006/main">
            <a:r>
              <a:t/>
            </a:r>
          </a:p>
          <a:p xmlns:a="http://schemas.openxmlformats.org/drawingml/2006/main">
            <a:r>
              <a:t>Repository sources:</a:t>
            </a:r>
          </a:p>
          <a:p xmlns:a="http://schemas.openxmlformats.org/drawingml/2006/main">
            <a:r>
              <a:t>Code/stage4/tier2_lucaone_isoformer.ipynb</a:t>
            </a:r>
          </a:p>
          <a:p xmlns:a="http://schemas.openxmlformats.org/drawingml/2006/main">
            <a:r>
              <a:t>Code/stage4/results/lucaone/mrna_stability_probe_scores.csv</a:t>
            </a:r>
          </a:p>
          <a:p xmlns:a="http://schemas.openxmlformats.org/drawingml/2006/main">
            <a:r>
              <a:t>Code/stage4/results/lucaone/mrna_stability_comparisons.csv</a:t>
            </a:r>
          </a:p>
          <a:p xmlns:a="http://schemas.openxmlformats.org/drawingml/2006/main">
            <a:r>
              <a:t>Code/stage4/README.md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Changing T to U changes the alphabet presented to a model, not the measured biological context. Earlier coding-sequence benchmarks derive their inputs from the supplied nucleotide string. GTEx instead links a genomic window, transcript and protein to one record. The diagram deliberately does not derive the transcript from the window because its complete coordinate coverage is not established here. This is a new within-dataset comparison.</a:t>
            </a:r>
          </a:p>
          <a:p xmlns:a="http://schemas.openxmlformats.org/drawingml/2006/main">
            <a:r>
              <a:t/>
            </a:r>
          </a:p>
          <a:p xmlns:a="http://schemas.openxmlformats.org/drawingml/2006/main">
            <a:r>
              <a:t>Repository sources:</a:t>
            </a:r>
          </a:p>
          <a:p xmlns:a="http://schemas.openxmlformats.org/drawingml/2006/main">
            <a:r>
              <a:t>Code/stage4/README.md</a:t>
            </a:r>
          </a:p>
          <a:p xmlns:a="http://schemas.openxmlformats.org/drawingml/2006/main">
            <a:r>
              <a:t>Code/stage4/tier2_lucaone_isoformer.ipynb</a:t>
            </a:r>
          </a:p>
          <a:p xmlns:a="http://schemas.openxmlformats.org/drawingml/2006/main">
            <a:r>
              <a:t>Code/stage3/04_lucaone_isoformer_check.ipynb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inputs have different token lengths. Frozen encoders create their token representations, while IsoFormer-style attention learns to combine them. The output is a set of thirty tissue-expression predictions. The pilot separates genes between training and test. It is a local frozen-encoder adaptation, rather than an assertion that the published fine-tuned experiment was reproduced.</a:t>
            </a:r>
          </a:p>
          <a:p xmlns:a="http://schemas.openxmlformats.org/drawingml/2006/main">
            <a:r>
              <a:t/>
            </a:r>
          </a:p>
          <a:p xmlns:a="http://schemas.openxmlformats.org/drawingml/2006/main">
            <a:r>
              <a:t>Repository sources:</a:t>
            </a:r>
          </a:p>
          <a:p xmlns:a="http://schemas.openxmlformats.org/drawingml/2006/main">
            <a:r>
              <a:t>Code/stage4/tier2_lucaone_isoformer.ipynb</a:t>
            </a:r>
          </a:p>
          <a:p xmlns:a="http://schemas.openxmlformats.org/drawingml/2006/main">
            <a:r>
              <a:t>Code/stage3/04_lucaone_isoformer_check.ipynb</a:t>
            </a:r>
          </a:p>
          <a:p xmlns:a="http://schemas.openxmlformats.org/drawingml/2006/main">
            <a:r>
              <a:t>docs/run-records.md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six input configurations remain visible. DNA plus RNA scores above RNA alone, with a positive paired interval. Adding protein to that pair has an interval crossing zero. The comparison therefore supports genomic context in this pilot without establishing that every additional stream helps. Repeated training remains important. We next ask a related context question using explicit untranslated transcript regions in different human datasets.</a:t>
            </a:r>
          </a:p>
          <a:p xmlns:a="http://schemas.openxmlformats.org/drawingml/2006/main">
            <a:r>
              <a:t/>
            </a:r>
          </a:p>
          <a:p xmlns:a="http://schemas.openxmlformats.org/drawingml/2006/main">
            <a:r>
              <a:t>Repository sources:</a:t>
            </a:r>
          </a:p>
          <a:p xmlns:a="http://schemas.openxmlformats.org/drawingml/2006/main">
            <a:r>
              <a:t>Code/stage4/tier2_lucaone_isoformer.ipynb</a:t>
            </a:r>
          </a:p>
          <a:p xmlns:a="http://schemas.openxmlformats.org/drawingml/2006/main">
            <a:r>
              <a:t>Code/stage3/results/gtex_pilot/gtex_pilot__dna__heads8__budget300M__seed0.json</a:t>
            </a:r>
          </a:p>
          <a:p xmlns:a="http://schemas.openxmlformats.org/drawingml/2006/main">
            <a:r>
              <a:t>Code/stage3/results/gtex_pilot/gtex_pilot__rna__heads8__budget300M__seed0.json</a:t>
            </a:r>
          </a:p>
          <a:p xmlns:a="http://schemas.openxmlformats.org/drawingml/2006/main">
            <a:r>
              <a:t>Code/stage3/results/gtex_pilot/gtex_pilot__prot__heads8__budget300M__seed0.json</a:t>
            </a:r>
          </a:p>
          <a:p xmlns:a="http://schemas.openxmlformats.org/drawingml/2006/main">
            <a:r>
              <a:t>Code/stage3/results/gtex_pilot/gtex_pilot__dna+prot__heads8__budget300M__seed0.json</a:t>
            </a:r>
          </a:p>
          <a:p xmlns:a="http://schemas.openxmlformats.org/drawingml/2006/main">
            <a:r>
              <a:t>Code/stage3/results/gtex_pilot/gtex_pilot__dna+rna__heads8__budget300M__seed0.json</a:t>
            </a:r>
          </a:p>
          <a:p xmlns:a="http://schemas.openxmlformats.org/drawingml/2006/main">
            <a:r>
              <a:t>Code/stage3/results/gtex_pilot/gtex_pilot__dna+rna+prot__heads8__budget300M__seed0.json</a:t>
            </a:r>
          </a:p>
          <a:p xmlns:a="http://schemas.openxmlformats.org/drawingml/2006/main">
            <a:r>
              <a:t>docs/run-records.md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coding region supplies the protein input. The five-prime and three-prime UTRs remain part of the RNA but are untranslated. The half-life target is the first principal component across thirty-nine studies, not an absolute duration. Translation efficiency uses ribosome profiling relative to RNA abundance. These new datasets permit region comparisons within each task, not direct attribution of differences from the older stability benchmark.</a:t>
            </a:r>
          </a:p>
          <a:p xmlns:a="http://schemas.openxmlformats.org/drawingml/2006/main">
            <a:r>
              <a:t/>
            </a:r>
          </a:p>
          <a:p xmlns:a="http://schemas.openxmlformats.org/drawingml/2006/main">
            <a:r>
              <a:t>Repository sources:</a:t>
            </a:r>
          </a:p>
          <a:p xmlns:a="http://schemas.openxmlformats.org/drawingml/2006/main">
            <a:r>
              <a:t>Code/stage4/tier3_halflife_te.ipynb</a:t>
            </a:r>
          </a:p>
          <a:p xmlns:a="http://schemas.openxmlformats.org/drawingml/2006/main">
            <a:r>
              <a:t>Code/shared_code/mrnabench.py</a:t>
            </a:r>
          </a:p>
          <a:p xmlns:a="http://schemas.openxmlformats.org/drawingml/2006/main">
            <a:r>
              <a:t>Code/stage4/results/halflife_te/gate.csv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highlighted regions show exactly which features enter the predictor. Every included region contributes GC and log-length, while the CDS adds codon and amino-acid composition. Both tasks have their highest displayed mean with all regions. This demonstrates predictive information in these regional summaries. It does not show what a particular UTR change would cause. The next comparison uses nine splits, so its scores are not a matched incremental test against this three-split feature analysis.</a:t>
            </a:r>
          </a:p>
          <a:p xmlns:a="http://schemas.openxmlformats.org/drawingml/2006/main">
            <a:r>
              <a:t/>
            </a:r>
          </a:p>
          <a:p xmlns:a="http://schemas.openxmlformats.org/drawingml/2006/main">
            <a:r>
              <a:t>Repository sources:</a:t>
            </a:r>
          </a:p>
          <a:p xmlns:a="http://schemas.openxmlformats.org/drawingml/2006/main">
            <a:r>
              <a:t>Code/stage4/tier3_halflife_te.ipynb</a:t>
            </a:r>
          </a:p>
          <a:p xmlns:a="http://schemas.openxmlformats.org/drawingml/2006/main">
            <a:r>
              <a:t>Code/stage4/results/halflife_te/composition_baselines.csv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RNA-FM and NT branches both receive the full transcript, in the alphabet each model accepts. NT does not supply a genomic window here. The protein comes only from translating the CDS. Long sequences are handled in separate windows, including returned special-token states when pooling. A ridge predictor uses the resulting vectors. The two-vector comparison uses RNA-FM plus ESM-2; the third vector adds NT.</a:t>
            </a:r>
          </a:p>
          <a:p xmlns:a="http://schemas.openxmlformats.org/drawingml/2006/main">
            <a:r>
              <a:t/>
            </a:r>
          </a:p>
          <a:p xmlns:a="http://schemas.openxmlformats.org/drawingml/2006/main">
            <a:r>
              <a:t>Repository sources:</a:t>
            </a:r>
          </a:p>
          <a:p xmlns:a="http://schemas.openxmlformats.org/drawingml/2006/main">
            <a:r>
              <a:t>Code/stage4/tier3_halflife_te.ipynb</a:t>
            </a:r>
          </a:p>
          <a:p xmlns:a="http://schemas.openxmlformats.org/drawingml/2006/main">
            <a:r>
              <a:t>Code/stage4/results/halflife_te/encoder_probes.csv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protein representation has the strongest single mean in both tasks. Combining it with full-transcript RNA-FM improves those means. Gains come from unrounded means, while plotted values are rounded for readability. A third vector does not improve both tasks. These are descriptive averages across nine grouped splits, without paired uncertainty for the gains. This is evidence to strengthen, not yet a universal fusion rule.</a:t>
            </a:r>
          </a:p>
          <a:p xmlns:a="http://schemas.openxmlformats.org/drawingml/2006/main">
            <a:r>
              <a:t/>
            </a:r>
          </a:p>
          <a:p xmlns:a="http://schemas.openxmlformats.org/drawingml/2006/main">
            <a:r>
              <a:t>Repository sources:</a:t>
            </a:r>
          </a:p>
          <a:p xmlns:a="http://schemas.openxmlformats.org/drawingml/2006/main">
            <a:r>
              <a:t>Code/stage4/tier3_halflife_te.ipynb</a:t>
            </a:r>
          </a:p>
          <a:p xmlns:a="http://schemas.openxmlformats.org/drawingml/2006/main">
            <a:r>
              <a:t>Code/stage4/results/halflife_te/encoder_probes.csv</a:t>
            </a:r>
          </a:p>
          <a:p xmlns:a="http://schemas.openxmlformats.org/drawingml/2006/main">
            <a:r>
              <a:t>Code/stage4/results/halflife_te/fusion_gains.csv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opening pipeline with the evidence now attached. Additional sequence context can matter, as can the representation family. Neither guarantees that a more complex fusion head helps. The result must be interpreted against a strong single predictor and a credible split. This gives us a practical way to decide what evidence the next architecture comparison needs.</a:t>
            </a:r>
          </a:p>
          <a:p xmlns:a="http://schemas.openxmlformats.org/drawingml/2006/main">
            <a:r>
              <a:t/>
            </a:r>
          </a:p>
          <a:p xmlns:a="http://schemas.openxmlformats.org/drawingml/2006/main">
            <a:r>
              <a:t>Repository sources:</a:t>
            </a:r>
          </a:p>
          <a:p xmlns:a="http://schemas.openxmlformats.org/drawingml/2006/main">
            <a:r>
              <a:t>Code/stage4/README.md</a:t>
            </a:r>
          </a:p>
          <a:p xmlns:a="http://schemas.openxmlformats.org/drawingml/2006/main">
            <a:r>
              <a:t>Code/stage4/tier1_mrfp_control.ipynb</a:t>
            </a:r>
          </a:p>
          <a:p xmlns:a="http://schemas.openxmlformats.org/drawingml/2006/main">
            <a:r>
              <a:t>Code/stage4/tier2_blf_phaseA.ipynb</a:t>
            </a:r>
          </a:p>
          <a:p xmlns:a="http://schemas.openxmlformats.org/drawingml/2006/main">
            <a:r>
              <a:t>Code/stage4/tier2_encoder_swaps.ipynb</a:t>
            </a:r>
          </a:p>
          <a:p xmlns:a="http://schemas.openxmlformats.org/drawingml/2006/main">
            <a:r>
              <a:t>Code/stage4/tier2_lucaone_isoformer.ipynb</a:t>
            </a:r>
          </a:p>
          <a:p xmlns:a="http://schemas.openxmlformats.org/drawingml/2006/main">
            <a:r>
              <a:t>Code/stage4/tier3_halflife_te.ipynb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immediate decision is which uncertainty should guide the next comparison. The existing plan calls for completing swaps and repeats, extending GTEx, and strengthening full-transcript evaluation. Stability overlap needs an explicit methodological decision. Those comparisons can inform Coupled Mamba feasibility and matched evaluation. The later project cross-attention design is Details25, distinct from heads already tested. Alignment-objective ablation in Details23 remains conditional.</a:t>
            </a:r>
          </a:p>
          <a:p xmlns:a="http://schemas.openxmlformats.org/drawingml/2006/main">
            <a:r>
              <a:t/>
            </a:r>
          </a:p>
          <a:p xmlns:a="http://schemas.openxmlformats.org/drawingml/2006/main">
            <a:r>
              <a:t>Repository sources:</a:t>
            </a:r>
          </a:p>
          <a:p xmlns:a="http://schemas.openxmlformats.org/drawingml/2006/main">
            <a:r>
              <a:t>docs/Research_Project_Plan_Gantt.xlsx</a:t>
            </a:r>
          </a:p>
          <a:p xmlns:a="http://schemas.openxmlformats.org/drawingml/2006/main">
            <a:r>
              <a:t>Code/stage4/README.md</a:t>
            </a:r>
          </a:p>
          <a:p xmlns:a="http://schemas.openxmlformats.org/drawingml/2006/main">
            <a:r>
              <a:t>docs/run-records.md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ViennaRNA estimates thermodynamic free energy in kcal/mol. It does not measure fluorescence energy or RNA structure inside cells. Nussinov provides a pairing summary. Outer and residual folds group identical sequences; RidgeCV’s internal penalty selection is not group-aware. The sample is one thousand rows selected with seed42. Reported means use fold seeds0–9; the separate pinned assignment42 is excluded.</a:t>
            </a:r>
          </a:p>
          <a:p xmlns:a="http://schemas.openxmlformats.org/drawingml/2006/main">
            <a:r>
              <a:t/>
            </a:r>
          </a:p>
          <a:p xmlns:a="http://schemas.openxmlformats.org/drawingml/2006/main">
            <a:r>
              <a:t>Repository sources:</a:t>
            </a:r>
          </a:p>
          <a:p xmlns:a="http://schemas.openxmlformats.org/drawingml/2006/main">
            <a:r>
              <a:t>Code/stage4/tier1_mrfp_control.ipynb</a:t>
            </a:r>
          </a:p>
          <a:p xmlns:a="http://schemas.openxmlformats.org/drawingml/2006/main">
            <a:r>
              <a:t>Code/stage4/results/tier1_mrfp/probe_scores.csv</a:t>
            </a:r>
          </a:p>
          <a:p xmlns:a="http://schemas.openxmlformats.org/drawingml/2006/main">
            <a:r>
              <a:t>Code/stage4/results/tier1_mrfp/gains_over_controls.csv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paired bootstrap scores each fitted seed on the same resampled groups and then averages scores. It does not ensemble predictions or resample training seeds. Reference and gated-penalty selection happened on validation at seed zero. Intervals are individual, unadjusted comparisons conditional on the selected fits. Exact equivalence to published preprocessing remains unresolved.</a:t>
            </a:r>
          </a:p>
          <a:p xmlns:a="http://schemas.openxmlformats.org/drawingml/2006/main">
            <a:r>
              <a:t/>
            </a:r>
          </a:p>
          <a:p xmlns:a="http://schemas.openxmlformats.org/drawingml/2006/main">
            <a:r>
              <a:t>Repository sources:</a:t>
            </a:r>
          </a:p>
          <a:p xmlns:a="http://schemas.openxmlformats.org/drawingml/2006/main">
            <a:r>
              <a:t>Code/stage4/tier2_blf_phaseA.ipynb</a:t>
            </a:r>
          </a:p>
          <a:p xmlns:a="http://schemas.openxmlformats.org/drawingml/2006/main">
            <a:r>
              <a:t>docs/run-records.md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slide uses E. coli as the worked comparison. This table preserves the contrasting CoV-Vac evidence so that one task is not presented as a universal outcome. All intervals condition on seed-zero fits. Results from later sweep completion are not inferred here. Original runtime and producer provenance are partly incomplete, which limits cross-phase causal attribution.</a:t>
            </a:r>
          </a:p>
          <a:p xmlns:a="http://schemas.openxmlformats.org/drawingml/2006/main">
            <a:r>
              <a:t/>
            </a:r>
          </a:p>
          <a:p xmlns:a="http://schemas.openxmlformats.org/drawingml/2006/main">
            <a:r>
              <a:t>Repository sources:</a:t>
            </a:r>
          </a:p>
          <a:p xmlns:a="http://schemas.openxmlformats.org/drawingml/2006/main">
            <a:r>
              <a:t>Code/stage4/tier2_encoder_swaps.ipynb</a:t>
            </a:r>
          </a:p>
          <a:p xmlns:a="http://schemas.openxmlformats.org/drawingml/2006/main">
            <a:r>
              <a:t>Code/stage4/results/phaseB/analyses/ecoli-mrnafm-seed0/ecoli_proteins.json</a:t>
            </a:r>
          </a:p>
          <a:p xmlns:a="http://schemas.openxmlformats.org/drawingml/2006/main">
            <a:r>
              <a:t>Code/stage4/results/phaseB/analyses/ecoli-calm-seed0/ecoli_proteins.json</a:t>
            </a:r>
          </a:p>
          <a:p xmlns:a="http://schemas.openxmlformats.org/drawingml/2006/main">
            <a:r>
              <a:t>Code/stage4/results/phaseB/analyses/cov-vac-mrnafm-seed0/cov_vac_degradation.json</a:t>
            </a:r>
          </a:p>
          <a:p xmlns:a="http://schemas.openxmlformats.org/drawingml/2006/main">
            <a:r>
              <a:t>Code/stage4/results/phaseB/analyses/cov-vac-calm-seed0/cov_vac_degradation.json</a:t>
            </a:r>
          </a:p>
          <a:p xmlns:a="http://schemas.openxmlformats.org/drawingml/2006/main">
            <a:r>
              <a:t>docs/run-records.md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earlier fungal record is separate from the main PhaseA interval procedure. Its numerical cross-attention gain has an interval spanning zero. The native versus codon-grid diagnostic comes from separate single fits and shows why representation resolution deserves attention. These results do not establish faithful reproduction of every published choice or resolve the local target’s interpretation.</a:t>
            </a:r>
          </a:p>
          <a:p xmlns:a="http://schemas.openxmlformats.org/drawingml/2006/main">
            <a:r>
              <a:t/>
            </a:r>
          </a:p>
          <a:p xmlns:a="http://schemas.openxmlformats.org/drawingml/2006/main">
            <a:r>
              <a:t>Repository sources:</a:t>
            </a:r>
          </a:p>
          <a:p xmlns:a="http://schemas.openxmlformats.org/drawingml/2006/main">
            <a:r>
              <a:t>Code/stage3/results/fungal_expression/records/equation-verification-20261020T034236791322Z.json</a:t>
            </a:r>
          </a:p>
          <a:p xmlns:a="http://schemas.openxmlformats.org/drawingml/2006/main">
            <a:r>
              <a:t>Code/stage4/tier2_blf_phaseA.ipynb</a:t>
            </a:r>
          </a:p>
          <a:p xmlns:a="http://schemas.openxmlformats.org/drawingml/2006/main">
            <a:r>
              <a:t>Code/stage4/README.md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denominator and comparison matter as much as the number. A standard error of a model mean is not a paired confidence interval for its gain over another model. mRFP repeats fold assignments, the full-transcript analysis changes grouped partitions, and GTEx repeats would change initialization and validation assignment while holding the test partition. The source notebooks and method guides provide the fuller definitions.</a:t>
            </a:r>
          </a:p>
          <a:p xmlns:a="http://schemas.openxmlformats.org/drawingml/2006/main">
            <a:r>
              <a:t/>
            </a:r>
          </a:p>
          <a:p xmlns:a="http://schemas.openxmlformats.org/drawingml/2006/main">
            <a:r>
              <a:t>Repository sources:</a:t>
            </a:r>
          </a:p>
          <a:p xmlns:a="http://schemas.openxmlformats.org/drawingml/2006/main">
            <a:r>
              <a:t>Code/stage4/README.md</a:t>
            </a:r>
          </a:p>
          <a:p xmlns:a="http://schemas.openxmlformats.org/drawingml/2006/main">
            <a:r>
              <a:t>docs/methods/linear-probing.md</a:t>
            </a:r>
          </a:p>
          <a:p xmlns:a="http://schemas.openxmlformats.org/drawingml/2006/main">
            <a:r>
              <a:t>docs/run-records.md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6c2bc40c524e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5c852013764b2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bd4f1bd7c354ff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3f2be44735491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3ca6c8b9e642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7f5575593344a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397948-B774-48FD-AE81-8CA0D253B2F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D09D89B-C041-4F1B-B8FA-1330C63A2CA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19D0744-FD94-4268-AC18-242FE52ABBF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C2F4CD-7191-4810-B643-6AC7829008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3AFD03B-3F2E-4C12-9844-99E5057C85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2003F88-E542-43ED-B0B5-8BCB3DAA16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41B257-C5DC-4036-B114-7B2E0F66FF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7B393B4-29EE-4ED7-A629-BAA46588D8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B3843A-A966-4C97-9F97-A5291E6BE8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59E5FD-D1CE-44C1-8978-CCB0749DAF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b2808b90134ffc" /><Relationship Type="http://schemas.openxmlformats.org/officeDocument/2006/relationships/slideLayout" Target="/ppt/slideLayouts/slideLayout1.xml" Id="R88f353d4a27c493c" /><Relationship Type="http://schemas.openxmlformats.org/officeDocument/2006/relationships/slideLayout" Target="/ppt/slideLayouts/slideLayout2.xml" Id="Rdb560099e94a49de" /><Relationship Type="http://schemas.openxmlformats.org/officeDocument/2006/relationships/slideLayout" Target="/ppt/slideLayouts/slideLayout3.xml" Id="Rbc2d9b34797845b9" /><Relationship Type="http://schemas.openxmlformats.org/officeDocument/2006/relationships/slideLayout" Target="/ppt/slideLayouts/slideLayout4.xml" Id="Rd943b0efe5ec4f18" /><Relationship Type="http://schemas.openxmlformats.org/officeDocument/2006/relationships/slideLayout" Target="/ppt/slideLayouts/slideLayout5.xml" Id="Ra51b3d2b3faf4094" /><Relationship Type="http://schemas.openxmlformats.org/officeDocument/2006/relationships/slideLayout" Target="/ppt/slideLayouts/slideLayout6.xml" Id="Rc13d3bd0349b4c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f353d4a27c493c"/>
    <p:sldLayoutId xmlns:r="http://schemas.openxmlformats.org/officeDocument/2006/relationships" id="2147483650" r:id="Rdb560099e94a49de"/>
    <p:sldLayoutId xmlns:r="http://schemas.openxmlformats.org/officeDocument/2006/relationships" id="2147483651" r:id="Rbc2d9b34797845b9"/>
    <p:sldLayoutId xmlns:r="http://schemas.openxmlformats.org/officeDocument/2006/relationships" id="2147483652" r:id="Rd943b0efe5ec4f18"/>
    <p:sldLayoutId xmlns:r="http://schemas.openxmlformats.org/officeDocument/2006/relationships" id="2147483653" r:id="Ra51b3d2b3faf4094"/>
    <p:sldLayoutId xmlns:r="http://schemas.openxmlformats.org/officeDocument/2006/relationships" id="2147483654" r:id="Rc13d3bd0349b4c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0b4f01268a4680" /><Relationship Type="http://schemas.openxmlformats.org/officeDocument/2006/relationships/notesSlide" Target="/ppt/notesSlides/notesSlide1.xml" Id="R12bf0189415e45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7e4ba4054a64c1e" /><Relationship Type="http://schemas.openxmlformats.org/officeDocument/2006/relationships/notesSlide" Target="/ppt/notesSlides/notesSlide2.xml" Id="Rb127cb65a7e541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f64b293bf34f4a" /><Relationship Type="http://schemas.openxmlformats.org/officeDocument/2006/relationships/notesSlide" Target="/ppt/notesSlides/notesSlide3.xml" Id="Ra78447db2b3c45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1b7358a46a947f6" /><Relationship Type="http://schemas.openxmlformats.org/officeDocument/2006/relationships/chart" Target="/ppt/slides/charts/chart1.xml" Id="R3a04472c602745fd" /><Relationship Type="http://schemas.openxmlformats.org/officeDocument/2006/relationships/notesSlide" Target="/ppt/notesSlides/notesSlide4.xml" Id="Ra937b7061ccb4d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a8c2b9b30d142f4" /><Relationship Type="http://schemas.openxmlformats.org/officeDocument/2006/relationships/notesSlide" Target="/ppt/notesSlides/notesSlide5.xml" Id="R3f5c86d4d22a42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0ca8481c44e4bdd" /><Relationship Type="http://schemas.openxmlformats.org/officeDocument/2006/relationships/chart" Target="/ppt/slides/charts/chart2.xml" Id="Rfebb37d74721459f" /><Relationship Type="http://schemas.openxmlformats.org/officeDocument/2006/relationships/chart" Target="/ppt/slides/charts/chart3.xml" Id="Re8aad8a197714f15" /><Relationship Type="http://schemas.openxmlformats.org/officeDocument/2006/relationships/notesSlide" Target="/ppt/notesSlides/notesSlide6.xml" Id="Rea99abf1d12347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7fb915a57504708" /><Relationship Type="http://schemas.openxmlformats.org/officeDocument/2006/relationships/chart" Target="/ppt/slides/charts/chart4.xml" Id="R8235dc105a6a4618" /><Relationship Type="http://schemas.openxmlformats.org/officeDocument/2006/relationships/chart" Target="/ppt/slides/charts/chart5.xml" Id="Rd03d903189f94943" /><Relationship Type="http://schemas.openxmlformats.org/officeDocument/2006/relationships/notesSlide" Target="/ppt/notesSlides/notesSlide7.xml" Id="R6f1a6e18eeb14d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4e0a5883a8e4e71" /><Relationship Type="http://schemas.openxmlformats.org/officeDocument/2006/relationships/notesSlide" Target="/ppt/notesSlides/notesSlide8.xml" Id="R2c8e4b91365740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cf5aa4dace747be" /><Relationship Type="http://schemas.openxmlformats.org/officeDocument/2006/relationships/notesSlide" Target="/ppt/notesSlides/notesSlide9.xml" Id="R18ca7e14c83c46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5792565a5b6496d" /><Relationship Type="http://schemas.openxmlformats.org/officeDocument/2006/relationships/chart" Target="/ppt/slides/charts/chart6.xml" Id="R092ddac03f564e91" /><Relationship Type="http://schemas.openxmlformats.org/officeDocument/2006/relationships/chart" Target="/ppt/slides/charts/chart7.xml" Id="Radf00dd07f7e478f" /><Relationship Type="http://schemas.openxmlformats.org/officeDocument/2006/relationships/notesSlide" Target="/ppt/notesSlides/notesSlide10.xml" Id="R3196ba69b7a842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0e5a559b3814edf" /><Relationship Type="http://schemas.openxmlformats.org/officeDocument/2006/relationships/chart" Target="/ppt/slides/charts/chart8.xml" Id="R2a660ff403ba4891" /><Relationship Type="http://schemas.openxmlformats.org/officeDocument/2006/relationships/notesSlide" Target="/ppt/notesSlides/notesSlide11.xml" Id="R9d131763f20e4b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1d09fb22ece4ad8" /><Relationship Type="http://schemas.openxmlformats.org/officeDocument/2006/relationships/notesSlide" Target="/ppt/notesSlides/notesSlide12.xml" Id="R80660c888cd2417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27014ece0ce4220" /><Relationship Type="http://schemas.openxmlformats.org/officeDocument/2006/relationships/notesSlide" Target="/ppt/notesSlides/notesSlide13.xml" Id="R36d712c24195454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ee0b8e11dbd4c2a" /><Relationship Type="http://schemas.openxmlformats.org/officeDocument/2006/relationships/chart" Target="/ppt/slides/charts/chart9.xml" Id="Rd862f9762ab04d37" /><Relationship Type="http://schemas.openxmlformats.org/officeDocument/2006/relationships/notesSlide" Target="/ppt/notesSlides/notesSlide14.xml" Id="Rd32b62fe17ea42c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eb9ef1d90b644c1" /><Relationship Type="http://schemas.openxmlformats.org/officeDocument/2006/relationships/notesSlide" Target="/ppt/notesSlides/notesSlide15.xml" Id="R283f0ec13263451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871f52a16f74849" /><Relationship Type="http://schemas.openxmlformats.org/officeDocument/2006/relationships/chart" Target="/ppt/slides/charts/chart10.xml" Id="Rc3e5b122610c45a8" /><Relationship Type="http://schemas.openxmlformats.org/officeDocument/2006/relationships/notesSlide" Target="/ppt/notesSlides/notesSlide16.xml" Id="Re6259d6a9b404f0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672c86ece98464a" /><Relationship Type="http://schemas.openxmlformats.org/officeDocument/2006/relationships/notesSlide" Target="/ppt/notesSlides/notesSlide17.xml" Id="Rbdccef8099dd4de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9dbfb900cf843d6" /><Relationship Type="http://schemas.openxmlformats.org/officeDocument/2006/relationships/chart" Target="/ppt/slides/charts/chart11.xml" Id="Rb500777f7c414d1b" /><Relationship Type="http://schemas.openxmlformats.org/officeDocument/2006/relationships/notesSlide" Target="/ppt/notesSlides/notesSlide18.xml" Id="Rf5887c117309466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4566a07008e47ee" /><Relationship Type="http://schemas.openxmlformats.org/officeDocument/2006/relationships/notesSlide" Target="/ppt/notesSlides/notesSlide19.xml" Id="Rdabb44f4d57b42e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fad677f700a4689" /><Relationship Type="http://schemas.openxmlformats.org/officeDocument/2006/relationships/notesSlide" Target="/ppt/notesSlides/notesSlide20.xml" Id="R64fdda500c5c463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2b6739916aa4886" /><Relationship Type="http://schemas.openxmlformats.org/officeDocument/2006/relationships/notesSlide" Target="/ppt/notesSlides/notesSlide21.xml" Id="R77cedb03b305427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6b890e9561c4c31" /><Relationship Type="http://schemas.openxmlformats.org/officeDocument/2006/relationships/notesSlide" Target="/ppt/notesSlides/notesSlide22.xml" Id="Rf1f4abcd20d0400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919e17a81064067" /><Relationship Type="http://schemas.openxmlformats.org/officeDocument/2006/relationships/notesSlide" Target="/ppt/notesSlides/notesSlide23.xml" Id="R13166988eeaa4ef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17454a93840436e" /><Relationship Type="http://schemas.openxmlformats.org/officeDocument/2006/relationships/chart" Target="/ppt/slides/charts/chart12.xml" Id="R59f42423cdc744bb" /><Relationship Type="http://schemas.openxmlformats.org/officeDocument/2006/relationships/notesSlide" Target="/ppt/notesSlides/notesSlide24.xml" Id="R6b3ee403312b4bb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ebcae635b2642b5" /><Relationship Type="http://schemas.openxmlformats.org/officeDocument/2006/relationships/notesSlide" Target="/ppt/notesSlides/notesSlide25.xml" Id="R3cd2aa78ede544c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R²</c:v>
          </c:tx>
          <c:spPr>
            <a:solidFill xmlns:a="http://schemas.openxmlformats.org/drawingml/2006/main">
              <a:srgbClr val="167D77"/>
            </a:solidFill>
          </c:spPr>
          <c:invertIfNegative val="0"/>
          <c:dPt>
            <c:idx val="0"/>
            <c:invertIfNegative val="0"/>
            <c:spPr>
              <a:solidFill xmlns:a="http://schemas.openxmlformats.org/drawingml/2006/main">
                <a:srgbClr val="815897"/>
              </a:solidFill>
            </c:spPr>
          </c:dPt>
          <c:dPt>
            <c:idx val="1"/>
            <c:invertIfNegative val="0"/>
            <c:spPr>
              <a:solidFill xmlns:a="http://schemas.openxmlformats.org/drawingml/2006/main">
                <a:srgbClr val="7D878C"/>
              </a:solidFill>
            </c:spPr>
          </c:dPt>
          <c:dPt>
            <c:idx val="2"/>
            <c:invertIfNegative val="0"/>
            <c:spPr>
              <a:solidFill xmlns:a="http://schemas.openxmlformats.org/drawingml/2006/main">
                <a:srgbClr val="167D77"/>
              </a:solidFill>
            </c:spPr>
          </c:dPt>
          <c:dPt>
            <c:idx val="3"/>
            <c:invertIfNegative val="0"/>
            <c:spPr>
              <a:solidFill xmlns:a="http://schemas.openxmlformats.org/drawingml/2006/main">
                <a:srgbClr val="B3683D"/>
              </a:solidFill>
            </c:spPr>
          </c:dPt>
          <c:cat>
            <c:strRef>
              <c:f>'Chart Data'!$A$2:$A$5</c:f>
              <c:strCache>
                <c:ptCount val="4"/>
                <c:pt idx="0">
                  <c:v>Protein</c:v>
                </c:pt>
                <c:pt idx="1">
                  <c:v>Controls</c:v>
                </c:pt>
                <c:pt idx="2">
                  <c:v>mRNA-FM</c:v>
                </c:pt>
                <c:pt idx="3">
                  <c:v>Controls +
mRNA-FM</c:v>
                </c:pt>
              </c:strCache>
            </c:strRef>
          </c:cat>
          <c:val>
            <c:numRef>
              <c:f>'Chart Data'!$B$2:$B$5</c:f>
              <c:numCache>
                <c:formatCode>0.000</c:formatCode>
                <c:ptCount val="4"/>
                <c:pt idx="0">
                  <c:v>-0.005208</c:v>
                </c:pt>
                <c:pt idx="1">
                  <c:v>0.305651</c:v>
                </c:pt>
                <c:pt idx="2">
                  <c:v>0.466374</c:v>
                </c:pt>
                <c:pt idx="3">
                  <c:v>0.487987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725">
                  <a:solidFill>
                    <a:srgbClr val="14324B"/>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7D878C"/>
            </a:solidFill>
          </a:ln>
        </c:spPr>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crossAx val="48672768"/>
      </c:catAx>
      <c:valAx>
        <c:axId val="48672768"/>
        <c:scaling>
          <c:orientation val="minMax"/>
          <c:max val="0.6"/>
          <c:min val="-0.1"/>
        </c:scaling>
        <c:delete val="0"/>
        <c:axPos val="l"/>
        <c:majorGridlines>
          <c:spPr>
            <a:ln xmlns:a="http://schemas.openxmlformats.org/drawingml/2006/main" w="7620">
              <a:solidFill>
                <a:srgbClr val="D7E0E5"/>
              </a:solidFill>
            </a:ln>
          </c:spPr>
        </c:majorGridlines>
        <c:title>
          <c:tx>
            <c:rich>
              <a:bodyPr xmlns:a="http://schemas.openxmlformats.org/drawingml/2006/main"/>
              <a:lstStyle xmlns:a="http://schemas.openxmlformats.org/drawingml/2006/main"/>
              <a:p xmlns:a="http://schemas.openxmlformats.org/drawingml/2006/main">
                <a:r>
                  <a:rPr sz="1650">
                    <a:solidFill>
                      <a:srgbClr val="14324B"/>
                    </a:solidFill>
                    <a:latin typeface="Times New Roman"/>
                    <a:ea typeface="Times New Roman"/>
                    <a:cs typeface="Times New Roman"/>
                  </a:rPr>
                  <a:t>Out-of-fold R²</a:t>
                </a:r>
              </a:p>
            </c:rich>
          </c:tx>
          <c:overlay val="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title>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36B"/>
                </a:solidFill>
                <a:latin typeface="Times New Roman"/>
                <a:ea typeface="Times New Roman"/>
                <a:cs typeface="Times New Roman"/>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No difference</c:v>
          </c:tx>
          <c:spPr>
            <a:ln xmlns:a="http://schemas.openxmlformats.org/drawingml/2006/main" w="11430">
              <a:solidFill>
                <a:srgbClr val="7D878C"/>
              </a:solidFill>
            </a:ln>
          </c:spPr>
          <c:marker>
            <c:symbol val="none"/>
          </c:marker>
          <c:dLbls>
            <c:showLegendKey val="0"/>
            <c:showVal val="0"/>
            <c:showCatName val="0"/>
            <c:showSerName val="0"/>
            <c:showPercent val="0"/>
            <c:showBubbleSize val="0"/>
            <c:showLeaderLines val="0"/>
          </c:dLbls>
          <c:xVal>
            <c:numRef>
              <c:f>'Chart Data'!$A$2:$A$3</c:f>
              <c:numCache>
                <c:formatCode>General</c:formatCode>
                <c:ptCount val="2"/>
                <c:pt idx="0">
                  <c:v>0</c:v>
                </c:pt>
                <c:pt idx="1">
                  <c:v>0</c:v>
                </c:pt>
              </c:numCache>
            </c:numRef>
          </c:xVal>
          <c:yVal>
            <c:numRef>
              <c:f>'Chart Data'!$B$2:$B$3</c:f>
              <c:numCache>
                <c:formatCode>General</c:formatCode>
                <c:ptCount val="2"/>
                <c:pt idx="0">
                  <c:v>0.5</c:v>
                </c:pt>
                <c:pt idx="1">
                  <c:v>3.5</c:v>
                </c:pt>
              </c:numCache>
            </c:numRef>
          </c:yVal>
        </c:ser>
        <c:ser>
          <c:idx val="1"/>
          <c:order val="1"/>
          <c:tx>
            <c:v>Concat 95% interval</c:v>
          </c:tx>
          <c:spPr>
            <a:ln xmlns:a="http://schemas.openxmlformats.org/drawingml/2006/main" w="28575">
              <a:solidFill>
                <a:srgbClr val="167D77"/>
              </a:solidFill>
            </a:ln>
          </c:spPr>
          <c:marker>
            <c:symbol val="none"/>
          </c:marker>
          <c:dLbls>
            <c:showLegendKey val="0"/>
            <c:showVal val="0"/>
            <c:showCatName val="0"/>
            <c:showSerName val="0"/>
            <c:showPercent val="0"/>
            <c:showBubbleSize val="0"/>
            <c:showLeaderLines val="0"/>
          </c:dLbls>
          <c:xVal>
            <c:numRef>
              <c:f>'Chart Data'!$C$2:$C$3</c:f>
              <c:numCache>
                <c:formatCode>General</c:formatCode>
                <c:ptCount val="2"/>
                <c:pt idx="0">
                  <c:v>4.167</c:v>
                </c:pt>
                <c:pt idx="1">
                  <c:v>9.597</c:v>
                </c:pt>
              </c:numCache>
            </c:numRef>
          </c:xVal>
          <c:yVal>
            <c:numRef>
              <c:f>'Chart Data'!$D$2:$D$3</c:f>
              <c:numCache>
                <c:formatCode>General</c:formatCode>
                <c:ptCount val="2"/>
                <c:pt idx="0">
                  <c:v>3</c:v>
                </c:pt>
                <c:pt idx="1">
                  <c:v>3</c:v>
                </c:pt>
              </c:numCache>
            </c:numRef>
          </c:yVal>
        </c:ser>
        <c:ser>
          <c:idx val="2"/>
          <c:order val="2"/>
          <c:tx>
            <c:v>Concat estimate</c:v>
          </c:tx>
          <c:spPr>
            <a:solidFill xmlns:a="http://schemas.openxmlformats.org/drawingml/2006/main">
              <a:srgbClr val="167D77"/>
            </a:solidFill>
            <a:ln xmlns:a="http://schemas.openxmlformats.org/drawingml/2006/main" w="0">
              <a:solidFill>
                <a:srgbClr val="167D77"/>
              </a:solidFill>
            </a:ln>
          </c:spPr>
          <c:marker>
            <c:symbol val="circle"/>
            <c:size val="10"/>
            <c:spPr>
              <a:solidFill xmlns:a="http://schemas.openxmlformats.org/drawingml/2006/main">
                <a:srgbClr val="167D77"/>
              </a:solidFill>
            </c:spPr>
          </c:marker>
          <c:dPt>
            <c:idx val="0"/>
            <c:spPr>
              <a:solidFill xmlns:a="http://schemas.openxmlformats.org/drawingml/2006/main">
                <a:srgbClr val="167D77"/>
              </a:solidFill>
              <a:ln xmlns:a="http://schemas.openxmlformats.org/drawingml/2006/main" w="9525">
                <a:solidFill>
                  <a:srgbClr val="167D77"/>
                </a:solidFill>
                <a:prstDash val="solid"/>
              </a:ln>
            </c:spPr>
          </c:dPt>
          <c:dLbls>
            <c:showLegendKey val="0"/>
            <c:showVal val="0"/>
            <c:showCatName val="0"/>
            <c:showSerName val="0"/>
            <c:showPercent val="0"/>
            <c:showBubbleSize val="0"/>
            <c:showLeaderLines val="0"/>
          </c:dLbls>
          <c:xVal>
            <c:numRef>
              <c:f>'Chart Data'!$E$2:$E$2</c:f>
              <c:numCache>
                <c:formatCode>General</c:formatCode>
                <c:ptCount val="1"/>
                <c:pt idx="0">
                  <c:v>6.929</c:v>
                </c:pt>
              </c:numCache>
            </c:numRef>
          </c:xVal>
          <c:yVal>
            <c:numRef>
              <c:f>'Chart Data'!$F$2:$F$2</c:f>
              <c:numCache>
                <c:formatCode>General</c:formatCode>
                <c:ptCount val="1"/>
                <c:pt idx="0">
                  <c:v>3</c:v>
                </c:pt>
              </c:numCache>
            </c:numRef>
          </c:yVal>
        </c:ser>
        <c:ser>
          <c:idx val="3"/>
          <c:order val="3"/>
          <c:tx>
            <c:v>Gated 95% interval</c:v>
          </c:tx>
          <c:spPr>
            <a:ln xmlns:a="http://schemas.openxmlformats.org/drawingml/2006/main" w="28575">
              <a:solidFill>
                <a:srgbClr val="167D77"/>
              </a:solidFill>
            </a:ln>
          </c:spPr>
          <c:marker>
            <c:symbol val="none"/>
          </c:marker>
          <c:dLbls>
            <c:showLegendKey val="0"/>
            <c:showVal val="0"/>
            <c:showCatName val="0"/>
            <c:showSerName val="0"/>
            <c:showPercent val="0"/>
            <c:showBubbleSize val="0"/>
            <c:showLeaderLines val="0"/>
          </c:dLbls>
          <c:xVal>
            <c:numRef>
              <c:f>'Chart Data'!$G$2:$G$3</c:f>
              <c:numCache>
                <c:formatCode>General</c:formatCode>
                <c:ptCount val="2"/>
                <c:pt idx="0">
                  <c:v>0.936</c:v>
                </c:pt>
                <c:pt idx="1">
                  <c:v>4.822</c:v>
                </c:pt>
              </c:numCache>
            </c:numRef>
          </c:xVal>
          <c:yVal>
            <c:numRef>
              <c:f>'Chart Data'!$H$2:$H$3</c:f>
              <c:numCache>
                <c:formatCode>General</c:formatCode>
                <c:ptCount val="2"/>
                <c:pt idx="0">
                  <c:v>2</c:v>
                </c:pt>
                <c:pt idx="1">
                  <c:v>2</c:v>
                </c:pt>
              </c:numCache>
            </c:numRef>
          </c:yVal>
        </c:ser>
        <c:ser>
          <c:idx val="4"/>
          <c:order val="4"/>
          <c:tx>
            <c:v>Gated estimate</c:v>
          </c:tx>
          <c:spPr>
            <a:solidFill xmlns:a="http://schemas.openxmlformats.org/drawingml/2006/main">
              <a:srgbClr val="167D77"/>
            </a:solidFill>
            <a:ln xmlns:a="http://schemas.openxmlformats.org/drawingml/2006/main" w="0">
              <a:solidFill>
                <a:srgbClr val="167D77"/>
              </a:solidFill>
            </a:ln>
          </c:spPr>
          <c:marker>
            <c:symbol val="circle"/>
            <c:size val="10"/>
            <c:spPr>
              <a:solidFill xmlns:a="http://schemas.openxmlformats.org/drawingml/2006/main">
                <a:srgbClr val="167D77"/>
              </a:solidFill>
            </c:spPr>
          </c:marker>
          <c:dPt>
            <c:idx val="0"/>
            <c:spPr>
              <a:solidFill xmlns:a="http://schemas.openxmlformats.org/drawingml/2006/main">
                <a:srgbClr val="167D77"/>
              </a:solidFill>
              <a:ln xmlns:a="http://schemas.openxmlformats.org/drawingml/2006/main" w="9525">
                <a:solidFill>
                  <a:srgbClr val="167D77"/>
                </a:solidFill>
                <a:prstDash val="solid"/>
              </a:ln>
            </c:spPr>
          </c:dPt>
          <c:dLbls>
            <c:showLegendKey val="0"/>
            <c:showVal val="0"/>
            <c:showCatName val="0"/>
            <c:showSerName val="0"/>
            <c:showPercent val="0"/>
            <c:showBubbleSize val="0"/>
            <c:showLeaderLines val="0"/>
          </c:dLbls>
          <c:xVal>
            <c:numRef>
              <c:f>'Chart Data'!$I$2:$I$2</c:f>
              <c:numCache>
                <c:formatCode>General</c:formatCode>
                <c:ptCount val="1"/>
                <c:pt idx="0">
                  <c:v>2.809</c:v>
                </c:pt>
              </c:numCache>
            </c:numRef>
          </c:xVal>
          <c:yVal>
            <c:numRef>
              <c:f>'Chart Data'!$J$2:$J$2</c:f>
              <c:numCache>
                <c:formatCode>General</c:formatCode>
                <c:ptCount val="1"/>
                <c:pt idx="0">
                  <c:v>2</c:v>
                </c:pt>
              </c:numCache>
            </c:numRef>
          </c:yVal>
        </c:ser>
        <c:ser>
          <c:idx val="5"/>
          <c:order val="5"/>
          <c:tx>
            <c:v>Cross 95% interval</c:v>
          </c:tx>
          <c:spPr>
            <a:ln xmlns:a="http://schemas.openxmlformats.org/drawingml/2006/main" w="28575">
              <a:solidFill>
                <a:srgbClr val="167D77"/>
              </a:solidFill>
            </a:ln>
          </c:spPr>
          <c:marker>
            <c:symbol val="none"/>
          </c:marker>
          <c:dLbls>
            <c:showLegendKey val="0"/>
            <c:showVal val="0"/>
            <c:showCatName val="0"/>
            <c:showSerName val="0"/>
            <c:showPercent val="0"/>
            <c:showBubbleSize val="0"/>
            <c:showLeaderLines val="0"/>
          </c:dLbls>
          <c:xVal>
            <c:numRef>
              <c:f>'Chart Data'!$K$2:$K$3</c:f>
              <c:numCache>
                <c:formatCode>General</c:formatCode>
                <c:ptCount val="2"/>
                <c:pt idx="0">
                  <c:v>-0.89</c:v>
                </c:pt>
                <c:pt idx="1">
                  <c:v>4.494</c:v>
                </c:pt>
              </c:numCache>
            </c:numRef>
          </c:xVal>
          <c:yVal>
            <c:numRef>
              <c:f>'Chart Data'!$L$2:$L$3</c:f>
              <c:numCache>
                <c:formatCode>General</c:formatCode>
                <c:ptCount val="2"/>
                <c:pt idx="0">
                  <c:v>1</c:v>
                </c:pt>
                <c:pt idx="1">
                  <c:v>1</c:v>
                </c:pt>
              </c:numCache>
            </c:numRef>
          </c:yVal>
        </c:ser>
        <c:ser>
          <c:idx val="6"/>
          <c:order val="6"/>
          <c:tx>
            <c:v>Cross estimate</c:v>
          </c:tx>
          <c:spPr>
            <a:solidFill xmlns:a="http://schemas.openxmlformats.org/drawingml/2006/main">
              <a:srgbClr val="167D77"/>
            </a:solidFill>
            <a:ln xmlns:a="http://schemas.openxmlformats.org/drawingml/2006/main" w="0">
              <a:solidFill>
                <a:srgbClr val="167D77"/>
              </a:solidFill>
            </a:ln>
          </c:spPr>
          <c:marker>
            <c:symbol val="circle"/>
            <c:size val="10"/>
            <c:spPr>
              <a:solidFill xmlns:a="http://schemas.openxmlformats.org/drawingml/2006/main">
                <a:srgbClr val="167D77"/>
              </a:solidFill>
            </c:spPr>
          </c:marker>
          <c:dPt>
            <c:idx val="0"/>
            <c:spPr>
              <a:solidFill xmlns:a="http://schemas.openxmlformats.org/drawingml/2006/main">
                <a:srgbClr val="167D77"/>
              </a:solidFill>
              <a:ln xmlns:a="http://schemas.openxmlformats.org/drawingml/2006/main" w="9525">
                <a:solidFill>
                  <a:srgbClr val="167D77"/>
                </a:solidFill>
                <a:prstDash val="solid"/>
              </a:ln>
            </c:spPr>
          </c:dPt>
          <c:dLbls>
            <c:showLegendKey val="0"/>
            <c:showVal val="0"/>
            <c:showCatName val="0"/>
            <c:showSerName val="0"/>
            <c:showPercent val="0"/>
            <c:showBubbleSize val="0"/>
            <c:showLeaderLines val="0"/>
          </c:dLbls>
          <c:xVal>
            <c:numRef>
              <c:f>'Chart Data'!$M$2:$M$2</c:f>
              <c:numCache>
                <c:formatCode>General</c:formatCode>
                <c:ptCount val="1"/>
                <c:pt idx="0">
                  <c:v>1.779</c:v>
                </c:pt>
              </c:numCache>
            </c:numRef>
          </c:xVal>
          <c:yVal>
            <c:numRef>
              <c:f>'Chart Data'!$N$2:$N$2</c:f>
              <c:numCache>
                <c:formatCode>General</c:formatCode>
                <c:ptCount val="1"/>
                <c:pt idx="0">
                  <c:v>1</c:v>
                </c:pt>
              </c:numCache>
            </c:numRef>
          </c:yVal>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Times New Roman"/>
                <a:ea typeface="Times New Roman"/>
                <a:cs typeface="Times New Roman"/>
              </a:defRPr>
            </a:pPr>
          </a:p>
        </c:txPr>
        <c:crossAx val="48650112"/>
        <c:majorUnit val="1"/>
      </c:valAx>
      <c:valAx>
        <c:axId val="48650112"/>
        <c:scaling>
          <c:orientation val="minMax"/>
          <c:max val="12"/>
          <c:min val="-4"/>
        </c:scaling>
        <c:delete val="0"/>
        <c:axPos val="b"/>
        <c:majorGridlines>
          <c:spPr>
            <a:ln xmlns:a="http://schemas.openxmlformats.org/drawingml/2006/main" w="5715">
              <a:solidFill>
                <a:srgbClr val="D7E0E5"/>
              </a:solidFill>
            </a:ln>
          </c:spPr>
        </c:majorGridlines>
        <c:title>
          <c:tx>
            <c:rich>
              <a:bodyPr xmlns:a="http://schemas.openxmlformats.org/drawingml/2006/main"/>
              <a:lstStyle xmlns:a="http://schemas.openxmlformats.org/drawingml/2006/main"/>
              <a:p xmlns:a="http://schemas.openxmlformats.org/drawingml/2006/main">
                <a:r>
                  <a:rPr sz="1650">
                    <a:solidFill>
                      <a:srgbClr val="14324B"/>
                    </a:solidFill>
                    <a:latin typeface="Times New Roman"/>
                    <a:ea typeface="Times New Roman"/>
                    <a:cs typeface="Times New Roman"/>
                  </a:rPr>
                  <a:t>Accuracy difference (pp)</a:t>
                </a:r>
              </a:p>
            </c:rich>
          </c:tx>
          <c:overlay val="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title>
        <c:numFmt formatCode="0"/>
        <c:majorTickMark val="none"/>
        <c:minorTickMark val="none"/>
        <c:spPr>
          <a:ln xmlns:a="http://schemas.openxmlformats.org/drawingml/2006/main" w="9525">
            <a:solidFill>
              <a:srgbClr val="7D878C"/>
            </a:solidFill>
          </a:ln>
        </c:spPr>
        <c:txPr>
          <a:bodyPr xmlns:a="http://schemas.openxmlformats.org/drawingml/2006/main" anchorCtr="1"/>
          <a:lstStyle xmlns:a="http://schemas.openxmlformats.org/drawingml/2006/main"/>
          <a:p xmlns:a="http://schemas.openxmlformats.org/drawingml/2006/main">
            <a:pPr>
              <a:defRPr sz="1500">
                <a:solidFill>
                  <a:srgbClr val="52636B"/>
                </a:solidFill>
                <a:latin typeface="Times New Roman"/>
                <a:ea typeface="Times New Roman"/>
                <a:cs typeface="Times New Roman"/>
              </a:defRPr>
            </a:pPr>
          </a:p>
        </c:txPr>
        <c:crossAx val="48672768"/>
        <c:majorUnit val="4"/>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No difference</c:v>
          </c:tx>
          <c:spPr>
            <a:ln xmlns:a="http://schemas.openxmlformats.org/drawingml/2006/main" w="11430">
              <a:solidFill>
                <a:srgbClr val="7D878C"/>
              </a:solidFill>
            </a:ln>
          </c:spPr>
          <c:marker>
            <c:symbol val="none"/>
          </c:marker>
          <c:dLbls>
            <c:showLegendKey val="0"/>
            <c:showVal val="0"/>
            <c:showCatName val="0"/>
            <c:showSerName val="0"/>
            <c:showPercent val="0"/>
            <c:showBubbleSize val="0"/>
            <c:showLeaderLines val="0"/>
          </c:dLbls>
          <c:xVal>
            <c:numRef>
              <c:f>'Chart Data'!$A$2:$A$3</c:f>
              <c:numCache>
                <c:formatCode>General</c:formatCode>
                <c:ptCount val="2"/>
                <c:pt idx="0">
                  <c:v>0</c:v>
                </c:pt>
                <c:pt idx="1">
                  <c:v>0</c:v>
                </c:pt>
              </c:numCache>
            </c:numRef>
          </c:xVal>
          <c:yVal>
            <c:numRef>
              <c:f>'Chart Data'!$B$2:$B$3</c:f>
              <c:numCache>
                <c:formatCode>General</c:formatCode>
                <c:ptCount val="2"/>
                <c:pt idx="0">
                  <c:v>0.5</c:v>
                </c:pt>
                <c:pt idx="1">
                  <c:v>3.5</c:v>
                </c:pt>
              </c:numCache>
            </c:numRef>
          </c:yVal>
        </c:ser>
        <c:ser>
          <c:idx val="1"/>
          <c:order val="1"/>
          <c:tx>
            <c:v>Concat 95% interval</c:v>
          </c:tx>
          <c:spPr>
            <a:ln xmlns:a="http://schemas.openxmlformats.org/drawingml/2006/main" w="28575">
              <a:solidFill>
                <a:srgbClr val="B3683D"/>
              </a:solidFill>
            </a:ln>
          </c:spPr>
          <c:marker>
            <c:symbol val="none"/>
          </c:marker>
          <c:dLbls>
            <c:showLegendKey val="0"/>
            <c:showVal val="0"/>
            <c:showCatName val="0"/>
            <c:showSerName val="0"/>
            <c:showPercent val="0"/>
            <c:showBubbleSize val="0"/>
            <c:showLeaderLines val="0"/>
          </c:dLbls>
          <c:xVal>
            <c:numRef>
              <c:f>'Chart Data'!$C$2:$C$3</c:f>
              <c:numCache>
                <c:formatCode>General</c:formatCode>
                <c:ptCount val="2"/>
                <c:pt idx="0">
                  <c:v>-0.066</c:v>
                </c:pt>
                <c:pt idx="1">
                  <c:v>-0.012</c:v>
                </c:pt>
              </c:numCache>
            </c:numRef>
          </c:xVal>
          <c:yVal>
            <c:numRef>
              <c:f>'Chart Data'!$D$2:$D$3</c:f>
              <c:numCache>
                <c:formatCode>General</c:formatCode>
                <c:ptCount val="2"/>
                <c:pt idx="0">
                  <c:v>3</c:v>
                </c:pt>
                <c:pt idx="1">
                  <c:v>3</c:v>
                </c:pt>
              </c:numCache>
            </c:numRef>
          </c:yVal>
        </c:ser>
        <c:ser>
          <c:idx val="2"/>
          <c:order val="2"/>
          <c:tx>
            <c:v>Concat estimate</c:v>
          </c:tx>
          <c:spPr>
            <a:solidFill xmlns:a="http://schemas.openxmlformats.org/drawingml/2006/main">
              <a:srgbClr val="B3683D"/>
            </a:solidFill>
            <a:ln xmlns:a="http://schemas.openxmlformats.org/drawingml/2006/main" w="0">
              <a:solidFill>
                <a:srgbClr val="B3683D"/>
              </a:solidFill>
            </a:ln>
          </c:spPr>
          <c:marker>
            <c:symbol val="circle"/>
            <c:size val="10"/>
            <c:spPr>
              <a:solidFill xmlns:a="http://schemas.openxmlformats.org/drawingml/2006/main">
                <a:srgbClr val="B3683D"/>
              </a:solidFill>
            </c:spPr>
          </c:marker>
          <c:dPt>
            <c:idx val="0"/>
            <c:spPr>
              <a:solidFill xmlns:a="http://schemas.openxmlformats.org/drawingml/2006/main">
                <a:srgbClr val="B3683D"/>
              </a:solidFill>
              <a:ln xmlns:a="http://schemas.openxmlformats.org/drawingml/2006/main" w="9525">
                <a:solidFill>
                  <a:srgbClr val="B3683D"/>
                </a:solidFill>
                <a:prstDash val="solid"/>
              </a:ln>
            </c:spPr>
          </c:dPt>
          <c:dLbls>
            <c:showLegendKey val="0"/>
            <c:showVal val="0"/>
            <c:showCatName val="0"/>
            <c:showSerName val="0"/>
            <c:showPercent val="0"/>
            <c:showBubbleSize val="0"/>
            <c:showLeaderLines val="0"/>
          </c:dLbls>
          <c:xVal>
            <c:numRef>
              <c:f>'Chart Data'!$E$2:$E$2</c:f>
              <c:numCache>
                <c:formatCode>General</c:formatCode>
                <c:ptCount val="1"/>
                <c:pt idx="0">
                  <c:v>-0.038</c:v>
                </c:pt>
              </c:numCache>
            </c:numRef>
          </c:xVal>
          <c:yVal>
            <c:numRef>
              <c:f>'Chart Data'!$F$2:$F$2</c:f>
              <c:numCache>
                <c:formatCode>General</c:formatCode>
                <c:ptCount val="1"/>
                <c:pt idx="0">
                  <c:v>3</c:v>
                </c:pt>
              </c:numCache>
            </c:numRef>
          </c:yVal>
        </c:ser>
        <c:ser>
          <c:idx val="3"/>
          <c:order val="3"/>
          <c:tx>
            <c:v>Gated 95% interval</c:v>
          </c:tx>
          <c:spPr>
            <a:ln xmlns:a="http://schemas.openxmlformats.org/drawingml/2006/main" w="28575">
              <a:solidFill>
                <a:srgbClr val="B3683D"/>
              </a:solidFill>
            </a:ln>
          </c:spPr>
          <c:marker>
            <c:symbol val="none"/>
          </c:marker>
          <c:dLbls>
            <c:showLegendKey val="0"/>
            <c:showVal val="0"/>
            <c:showCatName val="0"/>
            <c:showSerName val="0"/>
            <c:showPercent val="0"/>
            <c:showBubbleSize val="0"/>
            <c:showLeaderLines val="0"/>
          </c:dLbls>
          <c:xVal>
            <c:numRef>
              <c:f>'Chart Data'!$G$2:$G$3</c:f>
              <c:numCache>
                <c:formatCode>General</c:formatCode>
                <c:ptCount val="2"/>
                <c:pt idx="0">
                  <c:v>-0.093</c:v>
                </c:pt>
                <c:pt idx="1">
                  <c:v>-0.019</c:v>
                </c:pt>
              </c:numCache>
            </c:numRef>
          </c:xVal>
          <c:yVal>
            <c:numRef>
              <c:f>'Chart Data'!$H$2:$H$3</c:f>
              <c:numCache>
                <c:formatCode>General</c:formatCode>
                <c:ptCount val="2"/>
                <c:pt idx="0">
                  <c:v>2</c:v>
                </c:pt>
                <c:pt idx="1">
                  <c:v>2</c:v>
                </c:pt>
              </c:numCache>
            </c:numRef>
          </c:yVal>
        </c:ser>
        <c:ser>
          <c:idx val="4"/>
          <c:order val="4"/>
          <c:tx>
            <c:v>Gated estimate</c:v>
          </c:tx>
          <c:spPr>
            <a:solidFill xmlns:a="http://schemas.openxmlformats.org/drawingml/2006/main">
              <a:srgbClr val="B3683D"/>
            </a:solidFill>
            <a:ln xmlns:a="http://schemas.openxmlformats.org/drawingml/2006/main" w="0">
              <a:solidFill>
                <a:srgbClr val="B3683D"/>
              </a:solidFill>
            </a:ln>
          </c:spPr>
          <c:marker>
            <c:symbol val="circle"/>
            <c:size val="10"/>
            <c:spPr>
              <a:solidFill xmlns:a="http://schemas.openxmlformats.org/drawingml/2006/main">
                <a:srgbClr val="B3683D"/>
              </a:solidFill>
            </c:spPr>
          </c:marker>
          <c:dPt>
            <c:idx val="0"/>
            <c:spPr>
              <a:solidFill xmlns:a="http://schemas.openxmlformats.org/drawingml/2006/main">
                <a:srgbClr val="B3683D"/>
              </a:solidFill>
              <a:ln xmlns:a="http://schemas.openxmlformats.org/drawingml/2006/main" w="9525">
                <a:solidFill>
                  <a:srgbClr val="B3683D"/>
                </a:solidFill>
                <a:prstDash val="solid"/>
              </a:ln>
            </c:spPr>
          </c:dPt>
          <c:dLbls>
            <c:showLegendKey val="0"/>
            <c:showVal val="0"/>
            <c:showCatName val="0"/>
            <c:showSerName val="0"/>
            <c:showPercent val="0"/>
            <c:showBubbleSize val="0"/>
            <c:showLeaderLines val="0"/>
          </c:dLbls>
          <c:xVal>
            <c:numRef>
              <c:f>'Chart Data'!$I$2:$I$2</c:f>
              <c:numCache>
                <c:formatCode>General</c:formatCode>
                <c:ptCount val="1"/>
                <c:pt idx="0">
                  <c:v>-0.055</c:v>
                </c:pt>
              </c:numCache>
            </c:numRef>
          </c:xVal>
          <c:yVal>
            <c:numRef>
              <c:f>'Chart Data'!$J$2:$J$2</c:f>
              <c:numCache>
                <c:formatCode>General</c:formatCode>
                <c:ptCount val="1"/>
                <c:pt idx="0">
                  <c:v>2</c:v>
                </c:pt>
              </c:numCache>
            </c:numRef>
          </c:yVal>
        </c:ser>
        <c:ser>
          <c:idx val="5"/>
          <c:order val="5"/>
          <c:tx>
            <c:v>Cross 95% interval</c:v>
          </c:tx>
          <c:spPr>
            <a:ln xmlns:a="http://schemas.openxmlformats.org/drawingml/2006/main" w="28575">
              <a:solidFill>
                <a:srgbClr val="B3683D"/>
              </a:solidFill>
            </a:ln>
          </c:spPr>
          <c:marker>
            <c:symbol val="none"/>
          </c:marker>
          <c:dLbls>
            <c:showLegendKey val="0"/>
            <c:showVal val="0"/>
            <c:showCatName val="0"/>
            <c:showSerName val="0"/>
            <c:showPercent val="0"/>
            <c:showBubbleSize val="0"/>
            <c:showLeaderLines val="0"/>
          </c:dLbls>
          <c:xVal>
            <c:numRef>
              <c:f>'Chart Data'!$K$2:$K$3</c:f>
              <c:numCache>
                <c:formatCode>General</c:formatCode>
                <c:ptCount val="2"/>
                <c:pt idx="0">
                  <c:v>-0.026</c:v>
                </c:pt>
                <c:pt idx="1">
                  <c:v>0.02</c:v>
                </c:pt>
              </c:numCache>
            </c:numRef>
          </c:xVal>
          <c:yVal>
            <c:numRef>
              <c:f>'Chart Data'!$L$2:$L$3</c:f>
              <c:numCache>
                <c:formatCode>General</c:formatCode>
                <c:ptCount val="2"/>
                <c:pt idx="0">
                  <c:v>1</c:v>
                </c:pt>
                <c:pt idx="1">
                  <c:v>1</c:v>
                </c:pt>
              </c:numCache>
            </c:numRef>
          </c:yVal>
        </c:ser>
        <c:ser>
          <c:idx val="6"/>
          <c:order val="6"/>
          <c:tx>
            <c:v>Cross estimate</c:v>
          </c:tx>
          <c:spPr>
            <a:solidFill xmlns:a="http://schemas.openxmlformats.org/drawingml/2006/main">
              <a:srgbClr val="B3683D"/>
            </a:solidFill>
            <a:ln xmlns:a="http://schemas.openxmlformats.org/drawingml/2006/main" w="0">
              <a:solidFill>
                <a:srgbClr val="B3683D"/>
              </a:solidFill>
            </a:ln>
          </c:spPr>
          <c:marker>
            <c:symbol val="circle"/>
            <c:size val="10"/>
            <c:spPr>
              <a:solidFill xmlns:a="http://schemas.openxmlformats.org/drawingml/2006/main">
                <a:srgbClr val="B3683D"/>
              </a:solidFill>
            </c:spPr>
          </c:marker>
          <c:dPt>
            <c:idx val="0"/>
            <c:spPr>
              <a:solidFill xmlns:a="http://schemas.openxmlformats.org/drawingml/2006/main">
                <a:srgbClr val="B3683D"/>
              </a:solidFill>
              <a:ln xmlns:a="http://schemas.openxmlformats.org/drawingml/2006/main" w="9525">
                <a:solidFill>
                  <a:srgbClr val="B3683D"/>
                </a:solidFill>
                <a:prstDash val="solid"/>
              </a:ln>
            </c:spPr>
          </c:dPt>
          <c:dLbls>
            <c:showLegendKey val="0"/>
            <c:showVal val="0"/>
            <c:showCatName val="0"/>
            <c:showSerName val="0"/>
            <c:showPercent val="0"/>
            <c:showBubbleSize val="0"/>
            <c:showLeaderLines val="0"/>
          </c:dLbls>
          <c:xVal>
            <c:numRef>
              <c:f>'Chart Data'!$M$2:$M$2</c:f>
              <c:numCache>
                <c:formatCode>General</c:formatCode>
                <c:ptCount val="1"/>
                <c:pt idx="0">
                  <c:v>-0.002</c:v>
                </c:pt>
              </c:numCache>
            </c:numRef>
          </c:xVal>
          <c:yVal>
            <c:numRef>
              <c:f>'Chart Data'!$N$2:$N$2</c:f>
              <c:numCache>
                <c:formatCode>General</c:formatCode>
                <c:ptCount val="1"/>
                <c:pt idx="0">
                  <c:v>1</c:v>
                </c:pt>
              </c:numCache>
            </c:numRef>
          </c:yVal>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Times New Roman"/>
                <a:ea typeface="Times New Roman"/>
                <a:cs typeface="Times New Roman"/>
              </a:defRPr>
            </a:pPr>
          </a:p>
        </c:txPr>
        <c:crossAx val="48650112"/>
        <c:majorUnit val="1"/>
      </c:valAx>
      <c:valAx>
        <c:axId val="48650112"/>
        <c:scaling>
          <c:orientation val="minMax"/>
          <c:max val="0.05"/>
          <c:min val="-0.1"/>
        </c:scaling>
        <c:delete val="0"/>
        <c:axPos val="b"/>
        <c:majorGridlines>
          <c:spPr>
            <a:ln xmlns:a="http://schemas.openxmlformats.org/drawingml/2006/main" w="5715">
              <a:solidFill>
                <a:srgbClr val="D7E0E5"/>
              </a:solidFill>
            </a:ln>
          </c:spPr>
        </c:majorGridlines>
        <c:title>
          <c:tx>
            <c:rich>
              <a:bodyPr xmlns:a="http://schemas.openxmlformats.org/drawingml/2006/main"/>
              <a:lstStyle xmlns:a="http://schemas.openxmlformats.org/drawingml/2006/main"/>
              <a:p xmlns:a="http://schemas.openxmlformats.org/drawingml/2006/main">
                <a:r>
                  <a:rPr sz="1650">
                    <a:solidFill>
                      <a:srgbClr val="14324B"/>
                    </a:solidFill>
                    <a:latin typeface="Times New Roman"/>
                    <a:ea typeface="Times New Roman"/>
                    <a:cs typeface="Times New Roman"/>
                  </a:rPr>
                  <a:t>Spearman difference</a:t>
                </a:r>
              </a:p>
            </c:rich>
          </c:tx>
          <c:overlay val="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title>
        <c:numFmt formatCode="0.00"/>
        <c:majorTickMark val="none"/>
        <c:minorTickMark val="none"/>
        <c:spPr>
          <a:ln xmlns:a="http://schemas.openxmlformats.org/drawingml/2006/main" w="9525">
            <a:solidFill>
              <a:srgbClr val="7D878C"/>
            </a:solidFill>
          </a:ln>
        </c:spPr>
        <c:txPr>
          <a:bodyPr xmlns:a="http://schemas.openxmlformats.org/drawingml/2006/main" anchorCtr="1"/>
          <a:lstStyle xmlns:a="http://schemas.openxmlformats.org/drawingml/2006/main"/>
          <a:p xmlns:a="http://schemas.openxmlformats.org/drawingml/2006/main">
            <a:pPr>
              <a:defRPr sz="1500">
                <a:solidFill>
                  <a:srgbClr val="52636B"/>
                </a:solidFill>
                <a:latin typeface="Times New Roman"/>
                <a:ea typeface="Times New Roman"/>
                <a:cs typeface="Times New Roman"/>
              </a:defRPr>
            </a:pPr>
          </a:p>
        </c:txPr>
        <c:crossAx val="48672768"/>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doughnutChart>
        <c:ser>
          <c:idx val="0"/>
          <c:order val="0"/>
          <c:tx>
            <c:v>Test rows</c:v>
          </c:tx>
          <c:dPt>
            <c:idx val="0"/>
            <c:spPr>
              <a:solidFill xmlns:a="http://schemas.openxmlformats.org/drawingml/2006/main">
                <a:srgbClr val="7D878C"/>
              </a:solidFill>
            </c:spPr>
          </c:dPt>
          <c:dPt>
            <c:idx val="1"/>
            <c:spPr>
              <a:solidFill xmlns:a="http://schemas.openxmlformats.org/drawingml/2006/main">
                <a:srgbClr val="167D77"/>
              </a:solidFill>
            </c:spPr>
          </c:dPt>
          <c:cat>
            <c:strRef>
              <c:f>'Chart Data'!$A$2:$A$3</c:f>
              <c:strCache>
                <c:ptCount val="2"/>
                <c:pt idx="0">
                  <c:v>Repeat training sequence</c:v>
                </c:pt>
                <c:pt idx="1">
                  <c:v>Absent from training</c:v>
                </c:pt>
              </c:strCache>
            </c:strRef>
          </c:cat>
          <c:val>
            <c:numRef>
              <c:f>'Chart Data'!$B$2:$B$3</c:f>
              <c:numCache>
                <c:formatCode>General</c:formatCode>
                <c:ptCount val="2"/>
                <c:pt idx="0">
                  <c:v>2444</c:v>
                </c:pt>
                <c:pt idx="1">
                  <c:v>1135</c:v>
                </c:pt>
              </c:numCache>
            </c:numRef>
          </c:val>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holeSize val="60"/>
      </c:doughnutChart>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Full test set</c:v>
          </c:tx>
          <c:spPr>
            <a:solidFill xmlns:a="http://schemas.openxmlformats.org/drawingml/2006/main">
              <a:srgbClr val="7D878C"/>
            </a:solidFill>
          </c:spPr>
          <c:invertIfNegative val="0"/>
          <c:cat>
            <c:strRef>
              <c:f>'Chart Data'!$A$2:$A$5</c:f>
              <c:strCache>
                <c:ptCount val="4"/>
                <c:pt idx="0">
                  <c:v>RNA-FM</c:v>
                </c:pt>
                <c:pt idx="1">
                  <c:v>Concat</c:v>
                </c:pt>
                <c:pt idx="2">
                  <c:v>Gated</c:v>
                </c:pt>
                <c:pt idx="3">
                  <c:v>Cross</c:v>
                </c:pt>
              </c:strCache>
            </c:strRef>
          </c:cat>
          <c:val>
            <c:numRef>
              <c:f>'Chart Data'!$B$2:$B$5</c:f>
              <c:numCache>
                <c:formatCode>0.000</c:formatCode>
                <c:ptCount val="4"/>
                <c:pt idx="0">
                  <c:v>0.552</c:v>
                </c:pt>
                <c:pt idx="1">
                  <c:v>0.558</c:v>
                </c:pt>
                <c:pt idx="2">
                  <c:v>0.551</c:v>
                </c:pt>
                <c:pt idx="3">
                  <c:v>0.553</c:v>
                </c:pt>
              </c:numCache>
            </c:numRef>
          </c:val>
        </c:ser>
        <c:ser>
          <c:idx val="1"/>
          <c:order val="1"/>
          <c:tx>
            <c:v>Unseen-sequence subset</c:v>
          </c:tx>
          <c:spPr>
            <a:solidFill xmlns:a="http://schemas.openxmlformats.org/drawingml/2006/main">
              <a:srgbClr val="167D77"/>
            </a:solidFill>
          </c:spPr>
          <c:invertIfNegative val="0"/>
          <c:cat>
            <c:strRef>
              <c:f>'Chart Data'!$C$2:$C$5</c:f>
              <c:strCache>
                <c:ptCount val="4"/>
                <c:pt idx="0">
                  <c:v>RNA-FM</c:v>
                </c:pt>
                <c:pt idx="1">
                  <c:v>Concat</c:v>
                </c:pt>
                <c:pt idx="2">
                  <c:v>Gated</c:v>
                </c:pt>
                <c:pt idx="3">
                  <c:v>Cross</c:v>
                </c:pt>
              </c:strCache>
            </c:strRef>
          </c:cat>
          <c:val>
            <c:numRef>
              <c:f>'Chart Data'!$D$2:$D$5</c:f>
              <c:numCache>
                <c:formatCode>0.000</c:formatCode>
                <c:ptCount val="4"/>
                <c:pt idx="0">
                  <c:v>0.319</c:v>
                </c:pt>
                <c:pt idx="1">
                  <c:v>0.359</c:v>
                </c:pt>
                <c:pt idx="2">
                  <c:v>0.353</c:v>
                </c:pt>
                <c:pt idx="3">
                  <c:v>0.347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725">
                  <a:solidFill>
                    <a:srgbClr val="14324B"/>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7D878C"/>
            </a:solidFill>
          </a:ln>
        </c:spPr>
        <c:txPr>
          <a:bodyPr xmlns:a="http://schemas.openxmlformats.org/drawingml/2006/main" anchorCtr="1"/>
          <a:lstStyle xmlns:a="http://schemas.openxmlformats.org/drawingml/2006/main"/>
          <a:p xmlns:a="http://schemas.openxmlformats.org/drawingml/2006/main">
            <a:pPr>
              <a:defRPr sz="1875">
                <a:solidFill>
                  <a:srgbClr val="14324B"/>
                </a:solidFill>
                <a:latin typeface="Times New Roman"/>
                <a:ea typeface="Times New Roman"/>
                <a:cs typeface="Times New Roman"/>
              </a:defRPr>
            </a:pPr>
          </a:p>
        </c:txPr>
        <c:crossAx val="48672768"/>
      </c:catAx>
      <c:valAx>
        <c:axId val="48672768"/>
        <c:scaling>
          <c:orientation val="minMax"/>
          <c:max val="0.7"/>
          <c:min val="0"/>
        </c:scaling>
        <c:delete val="0"/>
        <c:axPos val="l"/>
        <c:majorGridlines>
          <c:spPr>
            <a:ln xmlns:a="http://schemas.openxmlformats.org/drawingml/2006/main" w="7620">
              <a:solidFill>
                <a:srgbClr val="D7E0E5"/>
              </a:solidFill>
            </a:ln>
          </c:spPr>
        </c:majorGridlines>
        <c:title>
          <c:tx>
            <c:rich>
              <a:bodyPr xmlns:a="http://schemas.openxmlformats.org/drawingml/2006/main"/>
              <a:lstStyle xmlns:a="http://schemas.openxmlformats.org/drawingml/2006/main"/>
              <a:p xmlns:a="http://schemas.openxmlformats.org/drawingml/2006/main">
                <a:r>
                  <a:rPr sz="1650">
                    <a:solidFill>
                      <a:srgbClr val="14324B"/>
                    </a:solidFill>
                    <a:latin typeface="Times New Roman"/>
                    <a:ea typeface="Times New Roman"/>
                    <a:cs typeface="Times New Roman"/>
                  </a:rPr>
                  <a:t>Test Spearman</a:t>
                </a:r>
              </a:p>
            </c:rich>
          </c:tx>
          <c:overlay val="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title>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36B"/>
                </a:solidFill>
                <a:latin typeface="Times New Roman"/>
                <a:ea typeface="Times New Roman"/>
                <a:cs typeface="Times New Roman"/>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mRNA-FM</c:v>
          </c:tx>
          <c:spPr>
            <a:solidFill xmlns:a="http://schemas.openxmlformats.org/drawingml/2006/main">
              <a:srgbClr val="167D77"/>
            </a:solidFill>
          </c:spPr>
          <c:invertIfNegative val="0"/>
          <c:cat>
            <c:strRef>
              <c:f>'Chart Data'!$A$2:$A$5</c:f>
              <c:strCache>
                <c:ptCount val="4"/>
                <c:pt idx="0">
                  <c:v>Single</c:v>
                </c:pt>
                <c:pt idx="1">
                  <c:v>Concat</c:v>
                </c:pt>
                <c:pt idx="2">
                  <c:v>Gated</c:v>
                </c:pt>
                <c:pt idx="3">
                  <c:v>Cross</c:v>
                </c:pt>
              </c:strCache>
            </c:strRef>
          </c:cat>
          <c:val>
            <c:numRef>
              <c:f>'Chart Data'!$B$2:$B$5</c:f>
              <c:numCache>
                <c:formatCode>0.00</c:formatCode>
                <c:ptCount val="4"/>
                <c:pt idx="0">
                  <c:v>58.71</c:v>
                </c:pt>
                <c:pt idx="1">
                  <c:v>58.99</c:v>
                </c:pt>
                <c:pt idx="2">
                  <c:v>53.09</c:v>
                </c:pt>
                <c:pt idx="3">
                  <c:v>54.78</c:v>
                </c:pt>
              </c:numCache>
            </c:numRef>
          </c:val>
        </c:ser>
        <c:ser>
          <c:idx val="1"/>
          <c:order val="1"/>
          <c:tx>
            <c:v>CaLM</c:v>
          </c:tx>
          <c:spPr>
            <a:solidFill xmlns:a="http://schemas.openxmlformats.org/drawingml/2006/main">
              <a:srgbClr val="815897"/>
            </a:solidFill>
          </c:spPr>
          <c:invertIfNegative val="0"/>
          <c:cat>
            <c:strRef>
              <c:f>'Chart Data'!$C$2:$C$5</c:f>
              <c:strCache>
                <c:ptCount val="4"/>
                <c:pt idx="0">
                  <c:v>Single</c:v>
                </c:pt>
                <c:pt idx="1">
                  <c:v>Concat</c:v>
                </c:pt>
                <c:pt idx="2">
                  <c:v>Gated</c:v>
                </c:pt>
                <c:pt idx="3">
                  <c:v>Cross</c:v>
                </c:pt>
              </c:strCache>
            </c:strRef>
          </c:cat>
          <c:val>
            <c:numRef>
              <c:f>'Chart Data'!$D$2:$D$5</c:f>
              <c:numCache>
                <c:formatCode>0.00</c:formatCode>
                <c:ptCount val="4"/>
                <c:pt idx="0">
                  <c:v>57.58</c:v>
                </c:pt>
                <c:pt idx="1">
                  <c:v>57.72</c:v>
                </c:pt>
                <c:pt idx="2">
                  <c:v>56.74</c:v>
                </c:pt>
                <c:pt idx="3">
                  <c:v>53.93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4324B"/>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7D878C"/>
            </a:solidFill>
          </a:ln>
        </c:spPr>
        <c:txPr>
          <a:bodyPr xmlns:a="http://schemas.openxmlformats.org/drawingml/2006/main" anchorCtr="1"/>
          <a:lstStyle xmlns:a="http://schemas.openxmlformats.org/drawingml/2006/main"/>
          <a:p xmlns:a="http://schemas.openxmlformats.org/drawingml/2006/main">
            <a:pPr>
              <a:defRPr sz="1875">
                <a:solidFill>
                  <a:srgbClr val="14324B"/>
                </a:solidFill>
                <a:latin typeface="Times New Roman"/>
                <a:ea typeface="Times New Roman"/>
                <a:cs typeface="Times New Roman"/>
              </a:defRPr>
            </a:pPr>
          </a:p>
        </c:txPr>
        <c:crossAx val="48672768"/>
      </c:catAx>
      <c:valAx>
        <c:axId val="48672768"/>
        <c:scaling>
          <c:orientation val="minMax"/>
          <c:max val="75"/>
          <c:min val="0"/>
        </c:scaling>
        <c:delete val="0"/>
        <c:axPos val="l"/>
        <c:majorGridlines>
          <c:spPr>
            <a:ln xmlns:a="http://schemas.openxmlformats.org/drawingml/2006/main" w="7620">
              <a:solidFill>
                <a:srgbClr val="D7E0E5"/>
              </a:solidFill>
            </a:ln>
          </c:spPr>
        </c:majorGridlines>
        <c:title>
          <c:tx>
            <c:rich>
              <a:bodyPr xmlns:a="http://schemas.openxmlformats.org/drawingml/2006/main"/>
              <a:lstStyle xmlns:a="http://schemas.openxmlformats.org/drawingml/2006/main"/>
              <a:p xmlns:a="http://schemas.openxmlformats.org/drawingml/2006/main">
                <a:r>
                  <a:rPr sz="1650">
                    <a:solidFill>
                      <a:srgbClr val="14324B"/>
                    </a:solidFill>
                    <a:latin typeface="Times New Roman"/>
                    <a:ea typeface="Times New Roman"/>
                    <a:cs typeface="Times New Roman"/>
                  </a:rPr>
                  <a:t>Test accuracy (%)</a:t>
                </a:r>
              </a:p>
            </c:rich>
          </c:tx>
          <c:overlay val="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36B"/>
                </a:solidFill>
                <a:latin typeface="Times New Roman"/>
                <a:ea typeface="Times New Roman"/>
                <a:cs typeface="Times New Roman"/>
              </a:defRPr>
            </a:pPr>
          </a:p>
        </c:txPr>
        <c:crossAx val="48650112"/>
        <c:crossBetween val="between"/>
        <c:majorUnit val="1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No difference</c:v>
          </c:tx>
          <c:spPr>
            <a:ln xmlns:a="http://schemas.openxmlformats.org/drawingml/2006/main" w="11430">
              <a:solidFill>
                <a:srgbClr val="7D878C"/>
              </a:solidFill>
            </a:ln>
          </c:spPr>
          <c:marker>
            <c:symbol val="none"/>
          </c:marker>
          <c:dLbls>
            <c:showLegendKey val="0"/>
            <c:showVal val="0"/>
            <c:showCatName val="0"/>
            <c:showSerName val="0"/>
            <c:showPercent val="0"/>
            <c:showBubbleSize val="0"/>
            <c:showLeaderLines val="0"/>
          </c:dLbls>
          <c:xVal>
            <c:numRef>
              <c:f>'Chart Data'!$A$2:$A$3</c:f>
              <c:numCache>
                <c:formatCode>General</c:formatCode>
                <c:ptCount val="2"/>
                <c:pt idx="0">
                  <c:v>0</c:v>
                </c:pt>
                <c:pt idx="1">
                  <c:v>0</c:v>
                </c:pt>
              </c:numCache>
            </c:numRef>
          </c:xVal>
          <c:yVal>
            <c:numRef>
              <c:f>'Chart Data'!$B$2:$B$3</c:f>
              <c:numCache>
                <c:formatCode>General</c:formatCode>
                <c:ptCount val="2"/>
                <c:pt idx="0">
                  <c:v>0.5</c:v>
                </c:pt>
                <c:pt idx="1">
                  <c:v>1.5</c:v>
                </c:pt>
              </c:numCache>
            </c:numRef>
          </c:yVal>
        </c:ser>
        <c:ser>
          <c:idx val="1"/>
          <c:order val="1"/>
          <c:tx>
            <c:v>Concat gain 95% interval</c:v>
          </c:tx>
          <c:spPr>
            <a:ln xmlns:a="http://schemas.openxmlformats.org/drawingml/2006/main" w="28575">
              <a:solidFill>
                <a:srgbClr val="167D77"/>
              </a:solidFill>
            </a:ln>
          </c:spPr>
          <c:marker>
            <c:symbol val="none"/>
          </c:marker>
          <c:dLbls>
            <c:showLegendKey val="0"/>
            <c:showVal val="0"/>
            <c:showCatName val="0"/>
            <c:showSerName val="0"/>
            <c:showPercent val="0"/>
            <c:showBubbleSize val="0"/>
            <c:showLeaderLines val="0"/>
          </c:dLbls>
          <c:xVal>
            <c:numRef>
              <c:f>'Chart Data'!$C$2:$C$3</c:f>
              <c:numCache>
                <c:formatCode>General</c:formatCode>
                <c:ptCount val="2"/>
                <c:pt idx="0">
                  <c:v>-2.95</c:v>
                </c:pt>
                <c:pt idx="1">
                  <c:v>3.51</c:v>
                </c:pt>
              </c:numCache>
            </c:numRef>
          </c:xVal>
          <c:yVal>
            <c:numRef>
              <c:f>'Chart Data'!$D$2:$D$3</c:f>
              <c:numCache>
                <c:formatCode>General</c:formatCode>
                <c:ptCount val="2"/>
                <c:pt idx="0">
                  <c:v>1</c:v>
                </c:pt>
                <c:pt idx="1">
                  <c:v>1</c:v>
                </c:pt>
              </c:numCache>
            </c:numRef>
          </c:yVal>
        </c:ser>
        <c:ser>
          <c:idx val="2"/>
          <c:order val="2"/>
          <c:tx>
            <c:v>Concat gain estimate</c:v>
          </c:tx>
          <c:spPr>
            <a:solidFill xmlns:a="http://schemas.openxmlformats.org/drawingml/2006/main">
              <a:srgbClr val="167D77"/>
            </a:solidFill>
            <a:ln xmlns:a="http://schemas.openxmlformats.org/drawingml/2006/main" w="0">
              <a:solidFill>
                <a:srgbClr val="167D77"/>
              </a:solidFill>
            </a:ln>
          </c:spPr>
          <c:marker>
            <c:symbol val="circle"/>
            <c:size val="10"/>
            <c:spPr>
              <a:solidFill xmlns:a="http://schemas.openxmlformats.org/drawingml/2006/main">
                <a:srgbClr val="167D77"/>
              </a:solidFill>
            </c:spPr>
          </c:marker>
          <c:dPt>
            <c:idx val="0"/>
            <c:spPr>
              <a:solidFill xmlns:a="http://schemas.openxmlformats.org/drawingml/2006/main">
                <a:srgbClr val="167D77"/>
              </a:solidFill>
              <a:ln xmlns:a="http://schemas.openxmlformats.org/drawingml/2006/main" w="9525">
                <a:solidFill>
                  <a:srgbClr val="167D77"/>
                </a:solidFill>
                <a:prstDash val="solid"/>
              </a:ln>
            </c:spPr>
          </c:dPt>
          <c:dLbls>
            <c:showLegendKey val="0"/>
            <c:showVal val="0"/>
            <c:showCatName val="0"/>
            <c:showSerName val="0"/>
            <c:showPercent val="0"/>
            <c:showBubbleSize val="0"/>
            <c:showLeaderLines val="0"/>
          </c:dLbls>
          <c:xVal>
            <c:numRef>
              <c:f>'Chart Data'!$E$2:$E$2</c:f>
              <c:numCache>
                <c:formatCode>General</c:formatCode>
                <c:ptCount val="1"/>
                <c:pt idx="0">
                  <c:v>0.28</c:v>
                </c:pt>
              </c:numCache>
            </c:numRef>
          </c:xVal>
          <c:yVal>
            <c:numRef>
              <c:f>'Chart Data'!$F$2:$F$2</c:f>
              <c:numCache>
                <c:formatCode>General</c:formatCode>
                <c:ptCount val="1"/>
                <c:pt idx="0">
                  <c:v>1</c:v>
                </c:pt>
              </c:numCache>
            </c:numRef>
          </c:yVal>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scatterChart>
      <c:valAx>
        <c:axId val="48672768"/>
        <c:scaling>
          <c:orientation val="minMax"/>
          <c:max val="1.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Times New Roman"/>
                <a:ea typeface="Times New Roman"/>
                <a:cs typeface="Times New Roman"/>
              </a:defRPr>
            </a:pPr>
          </a:p>
        </c:txPr>
        <c:crossAx val="48650112"/>
        <c:majorUnit val="1"/>
      </c:valAx>
      <c:valAx>
        <c:axId val="48650112"/>
        <c:scaling>
          <c:orientation val="minMax"/>
          <c:max val="4"/>
          <c:min val="-4"/>
        </c:scaling>
        <c:delete val="0"/>
        <c:axPos val="b"/>
        <c:majorGridlines>
          <c:spPr>
            <a:ln xmlns:a="http://schemas.openxmlformats.org/drawingml/2006/main" w="5715">
              <a:solidFill>
                <a:srgbClr val="D7E0E5"/>
              </a:solidFill>
            </a:ln>
          </c:spPr>
        </c:majorGridlines>
        <c:title>
          <c:tx>
            <c:rich>
              <a:bodyPr xmlns:a="http://schemas.openxmlformats.org/drawingml/2006/main"/>
              <a:lstStyle xmlns:a="http://schemas.openxmlformats.org/drawingml/2006/main"/>
              <a:p xmlns:a="http://schemas.openxmlformats.org/drawingml/2006/main">
                <a:r>
                  <a:rPr sz="1650">
                    <a:solidFill>
                      <a:srgbClr val="14324B"/>
                    </a:solidFill>
                    <a:latin typeface="Times New Roman"/>
                    <a:ea typeface="Times New Roman"/>
                    <a:cs typeface="Times New Roman"/>
                  </a:rPr>
                  <a:t>Gain, percentage points</a:t>
                </a:r>
              </a:p>
            </c:rich>
          </c:tx>
          <c:overlay val="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title>
        <c:numFmt formatCode="0"/>
        <c:majorTickMark val="none"/>
        <c:minorTickMark val="none"/>
        <c:spPr>
          <a:ln xmlns:a="http://schemas.openxmlformats.org/drawingml/2006/main" w="9525">
            <a:solidFill>
              <a:srgbClr val="7D878C"/>
            </a:solidFill>
          </a:ln>
        </c:spPr>
        <c:txPr>
          <a:bodyPr xmlns:a="http://schemas.openxmlformats.org/drawingml/2006/main" anchorCtr="1"/>
          <a:lstStyle xmlns:a="http://schemas.openxmlformats.org/drawingml/2006/main"/>
          <a:p xmlns:a="http://schemas.openxmlformats.org/drawingml/2006/main">
            <a:pPr>
              <a:defRPr sz="1500">
                <a:solidFill>
                  <a:srgbClr val="52636B"/>
                </a:solidFill>
                <a:latin typeface="Times New Roman"/>
                <a:ea typeface="Times New Roman"/>
                <a:cs typeface="Times New Roman"/>
              </a:defRPr>
            </a:pPr>
          </a:p>
        </c:txPr>
        <c:crossAx val="48672768"/>
        <c:majorUnit val="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Test Spearman</c:v>
          </c:tx>
          <c:spPr>
            <a:solidFill xmlns:a="http://schemas.openxmlformats.org/drawingml/2006/main">
              <a:srgbClr val="167D77"/>
            </a:solidFill>
          </c:spPr>
          <c:invertIfNegative val="0"/>
          <c:dPt>
            <c:idx val="0"/>
            <c:invertIfNegative val="0"/>
            <c:spPr>
              <a:solidFill xmlns:a="http://schemas.openxmlformats.org/drawingml/2006/main">
                <a:srgbClr val="7D878C"/>
              </a:solidFill>
            </c:spPr>
          </c:dPt>
          <c:dPt>
            <c:idx val="1"/>
            <c:invertIfNegative val="0"/>
            <c:spPr>
              <a:solidFill xmlns:a="http://schemas.openxmlformats.org/drawingml/2006/main">
                <a:srgbClr val="326DA8"/>
              </a:solidFill>
            </c:spPr>
          </c:dPt>
          <c:dPt>
            <c:idx val="2"/>
            <c:invertIfNegative val="0"/>
            <c:spPr>
              <a:solidFill xmlns:a="http://schemas.openxmlformats.org/drawingml/2006/main">
                <a:srgbClr val="167D77"/>
              </a:solidFill>
            </c:spPr>
          </c:dPt>
          <c:dPt>
            <c:idx val="3"/>
            <c:invertIfNegative val="0"/>
            <c:spPr>
              <a:solidFill xmlns:a="http://schemas.openxmlformats.org/drawingml/2006/main">
                <a:srgbClr val="815897"/>
              </a:solidFill>
            </c:spPr>
          </c:dPt>
          <c:dPt>
            <c:idx val="4"/>
            <c:invertIfNegative val="0"/>
            <c:spPr>
              <a:solidFill xmlns:a="http://schemas.openxmlformats.org/drawingml/2006/main">
                <a:srgbClr val="B3683D"/>
              </a:solidFill>
            </c:spPr>
          </c:dPt>
          <c:dPt>
            <c:idx val="5"/>
            <c:invertIfNegative val="0"/>
            <c:spPr>
              <a:solidFill xmlns:a="http://schemas.openxmlformats.org/drawingml/2006/main">
                <a:srgbClr val="167D77"/>
              </a:solidFill>
            </c:spPr>
          </c:dPt>
          <c:dPt>
            <c:idx val="6"/>
            <c:invertIfNegative val="0"/>
            <c:spPr>
              <a:solidFill xmlns:a="http://schemas.openxmlformats.org/drawingml/2006/main">
                <a:srgbClr val="815897"/>
              </a:solidFill>
            </c:spPr>
          </c:dPt>
          <c:dPt>
            <c:idx val="7"/>
            <c:invertIfNegative val="0"/>
            <c:spPr>
              <a:solidFill xmlns:a="http://schemas.openxmlformats.org/drawingml/2006/main">
                <a:srgbClr val="B3683D"/>
              </a:solidFill>
            </c:spPr>
          </c:dPt>
          <c:cat>
            <c:strRef>
              <c:f>'Chart Data'!$A$2:$A$9</c:f>
              <c:strCache>
                <c:ptCount val="8"/>
                <c:pt idx="0">
                  <c:v>Sequence
features</c:v>
                </c:pt>
                <c:pt idx="1">
                  <c:v>NT v2</c:v>
                </c:pt>
                <c:pt idx="2">
                  <c:v>RNA-FM</c:v>
                </c:pt>
                <c:pt idx="3">
                  <c:v>ESM-2</c:v>
                </c:pt>
                <c:pt idx="4">
                  <c:v>Original
concat</c:v>
                </c:pt>
                <c:pt idx="5">
                  <c:v>LucaOne
gene</c:v>
                </c:pt>
                <c:pt idx="6">
                  <c:v>LucaOne
protein</c:v>
                </c:pt>
                <c:pt idx="7">
                  <c:v>LucaOne
concat</c:v>
                </c:pt>
              </c:strCache>
            </c:strRef>
          </c:cat>
          <c:val>
            <c:numRef>
              <c:f>'Chart Data'!$B$2:$B$9</c:f>
              <c:numCache>
                <c:formatCode>0.000</c:formatCode>
                <c:ptCount val="8"/>
                <c:pt idx="0">
                  <c:v>0.28284</c:v>
                </c:pt>
                <c:pt idx="1">
                  <c:v>0.312397</c:v>
                </c:pt>
                <c:pt idx="2">
                  <c:v>0.3083</c:v>
                </c:pt>
                <c:pt idx="3">
                  <c:v>0.309167</c:v>
                </c:pt>
                <c:pt idx="4">
                  <c:v>0.390412</c:v>
                </c:pt>
                <c:pt idx="5">
                  <c:v>0.443453</c:v>
                </c:pt>
                <c:pt idx="6">
                  <c:v>0.400747</c:v>
                </c:pt>
                <c:pt idx="7">
                  <c:v>0.482818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solidFill>
                    <a:srgbClr val="14324B"/>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7D878C"/>
            </a:solidFill>
          </a:ln>
        </c:spPr>
        <c:txPr>
          <a:bodyPr xmlns:a="http://schemas.openxmlformats.org/drawingml/2006/main" anchorCtr="1"/>
          <a:lstStyle xmlns:a="http://schemas.openxmlformats.org/drawingml/2006/main"/>
          <a:p xmlns:a="http://schemas.openxmlformats.org/drawingml/2006/main">
            <a:pPr>
              <a:defRPr sz="1575">
                <a:solidFill>
                  <a:srgbClr val="14324B"/>
                </a:solidFill>
                <a:latin typeface="Times New Roman"/>
                <a:ea typeface="Times New Roman"/>
                <a:cs typeface="Times New Roman"/>
              </a:defRPr>
            </a:pPr>
          </a:p>
        </c:txPr>
        <c:crossAx val="48672768"/>
      </c:catAx>
      <c:valAx>
        <c:axId val="48672768"/>
        <c:scaling>
          <c:orientation val="minMax"/>
          <c:max val="0.6"/>
          <c:min val="0"/>
        </c:scaling>
        <c:delete val="0"/>
        <c:axPos val="l"/>
        <c:majorGridlines>
          <c:spPr>
            <a:ln xmlns:a="http://schemas.openxmlformats.org/drawingml/2006/main" w="7620">
              <a:solidFill>
                <a:srgbClr val="D7E0E5"/>
              </a:solidFill>
            </a:ln>
          </c:spPr>
        </c:majorGridlines>
        <c:title>
          <c:tx>
            <c:rich>
              <a:bodyPr xmlns:a="http://schemas.openxmlformats.org/drawingml/2006/main"/>
              <a:lstStyle xmlns:a="http://schemas.openxmlformats.org/drawingml/2006/main"/>
              <a:p xmlns:a="http://schemas.openxmlformats.org/drawingml/2006/main">
                <a:r>
                  <a:rPr sz="1650">
                    <a:solidFill>
                      <a:srgbClr val="14324B"/>
                    </a:solidFill>
                    <a:latin typeface="Times New Roman"/>
                    <a:ea typeface="Times New Roman"/>
                    <a:cs typeface="Times New Roman"/>
                  </a:rPr>
                  <a:t>Test Spearman</a:t>
                </a:r>
              </a:p>
            </c:rich>
          </c:tx>
          <c:overlay val="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title>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36B"/>
                </a:solidFill>
                <a:latin typeface="Times New Roman"/>
                <a:ea typeface="Times New Roman"/>
                <a:cs typeface="Times New Roman"/>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tissue Spearman</c:v>
          </c:tx>
          <c:spPr>
            <a:solidFill xmlns:a="http://schemas.openxmlformats.org/drawingml/2006/main">
              <a:srgbClr val="167D77"/>
            </a:solidFill>
          </c:spPr>
          <c:invertIfNegative val="0"/>
          <c:dPt>
            <c:idx val="0"/>
            <c:invertIfNegative val="0"/>
            <c:spPr>
              <a:solidFill xmlns:a="http://schemas.openxmlformats.org/drawingml/2006/main">
                <a:srgbClr val="326DA8"/>
              </a:solidFill>
            </c:spPr>
          </c:dPt>
          <c:dPt>
            <c:idx val="1"/>
            <c:invertIfNegative val="0"/>
            <c:spPr>
              <a:solidFill xmlns:a="http://schemas.openxmlformats.org/drawingml/2006/main">
                <a:srgbClr val="167D77"/>
              </a:solidFill>
            </c:spPr>
          </c:dPt>
          <c:dPt>
            <c:idx val="2"/>
            <c:invertIfNegative val="0"/>
            <c:spPr>
              <a:solidFill xmlns:a="http://schemas.openxmlformats.org/drawingml/2006/main">
                <a:srgbClr val="815897"/>
              </a:solidFill>
            </c:spPr>
          </c:dPt>
          <c:dPt>
            <c:idx val="3"/>
            <c:invertIfNegative val="0"/>
            <c:spPr>
              <a:solidFill xmlns:a="http://schemas.openxmlformats.org/drawingml/2006/main">
                <a:srgbClr val="B3683D"/>
              </a:solidFill>
            </c:spPr>
          </c:dPt>
          <c:dPt>
            <c:idx val="4"/>
            <c:invertIfNegative val="0"/>
            <c:spPr>
              <a:solidFill xmlns:a="http://schemas.openxmlformats.org/drawingml/2006/main">
                <a:srgbClr val="B3683D"/>
              </a:solidFill>
            </c:spPr>
          </c:dPt>
          <c:dPt>
            <c:idx val="5"/>
            <c:invertIfNegative val="0"/>
            <c:spPr>
              <a:solidFill xmlns:a="http://schemas.openxmlformats.org/drawingml/2006/main">
                <a:srgbClr val="B3683D"/>
              </a:solidFill>
            </c:spPr>
          </c:dPt>
          <c:cat>
            <c:strRef>
              <c:f>'Chart Data'!$A$2:$A$7</c:f>
              <c:strCache>
                <c:ptCount val="6"/>
                <c:pt idx="0">
                  <c:v>DNA</c:v>
                </c:pt>
                <c:pt idx="1">
                  <c:v>RNA</c:v>
                </c:pt>
                <c:pt idx="2">
                  <c:v>Protein</c:v>
                </c:pt>
                <c:pt idx="3">
                  <c:v>DNA +
protein</c:v>
                </c:pt>
                <c:pt idx="4">
                  <c:v>DNA +
RNA</c:v>
                </c:pt>
                <c:pt idx="5">
                  <c:v>All three</c:v>
                </c:pt>
              </c:strCache>
            </c:strRef>
          </c:cat>
          <c:val>
            <c:numRef>
              <c:f>'Chart Data'!$B$2:$B$7</c:f>
              <c:numCache>
                <c:formatCode>0.000</c:formatCode>
                <c:ptCount val="6"/>
                <c:pt idx="0">
                  <c:v>0.198909</c:v>
                </c:pt>
                <c:pt idx="1">
                  <c:v>0.452059</c:v>
                </c:pt>
                <c:pt idx="2">
                  <c:v>0.160373</c:v>
                </c:pt>
                <c:pt idx="3">
                  <c:v>0.438605</c:v>
                </c:pt>
                <c:pt idx="4">
                  <c:v>0.506576</c:v>
                </c:pt>
                <c:pt idx="5">
                  <c:v>0.499171</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725">
                  <a:solidFill>
                    <a:srgbClr val="14324B"/>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7D878C"/>
            </a:solidFill>
          </a:ln>
        </c:spPr>
        <c:txPr>
          <a:bodyPr xmlns:a="http://schemas.openxmlformats.org/drawingml/2006/main" anchorCtr="1"/>
          <a:lstStyle xmlns:a="http://schemas.openxmlformats.org/drawingml/2006/main"/>
          <a:p xmlns:a="http://schemas.openxmlformats.org/drawingml/2006/main">
            <a:pPr>
              <a:defRPr sz="1725">
                <a:solidFill>
                  <a:srgbClr val="14324B"/>
                </a:solidFill>
                <a:latin typeface="Times New Roman"/>
                <a:ea typeface="Times New Roman"/>
                <a:cs typeface="Times New Roman"/>
              </a:defRPr>
            </a:pPr>
          </a:p>
        </c:txPr>
        <c:crossAx val="48672768"/>
      </c:catAx>
      <c:valAx>
        <c:axId val="48672768"/>
        <c:scaling>
          <c:orientation val="minMax"/>
          <c:max val="0.6"/>
          <c:min val="0"/>
        </c:scaling>
        <c:delete val="0"/>
        <c:axPos val="l"/>
        <c:majorGridlines>
          <c:spPr>
            <a:ln xmlns:a="http://schemas.openxmlformats.org/drawingml/2006/main" w="7620">
              <a:solidFill>
                <a:srgbClr val="D7E0E5"/>
              </a:solidFill>
            </a:ln>
          </c:spPr>
        </c:majorGridlines>
        <c:title>
          <c:tx>
            <c:rich>
              <a:bodyPr xmlns:a="http://schemas.openxmlformats.org/drawingml/2006/main"/>
              <a:lstStyle xmlns:a="http://schemas.openxmlformats.org/drawingml/2006/main"/>
              <a:p xmlns:a="http://schemas.openxmlformats.org/drawingml/2006/main">
                <a:r>
                  <a:rPr sz="1650">
                    <a:solidFill>
                      <a:srgbClr val="14324B"/>
                    </a:solidFill>
                    <a:latin typeface="Times New Roman"/>
                    <a:ea typeface="Times New Roman"/>
                    <a:cs typeface="Times New Roman"/>
                  </a:rPr>
                  <a:t>Mean tissue Spearman</a:t>
                </a:r>
              </a:p>
            </c:rich>
          </c:tx>
          <c:overlay val="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title>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36B"/>
                </a:solidFill>
                <a:latin typeface="Times New Roman"/>
                <a:ea typeface="Times New Roman"/>
                <a:cs typeface="Times New Roman"/>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Half-life</c:v>
          </c:tx>
          <c:spPr>
            <a:solidFill xmlns:a="http://schemas.openxmlformats.org/drawingml/2006/main">
              <a:srgbClr val="326DA8"/>
            </a:solidFill>
          </c:spPr>
          <c:invertIfNegative val="0"/>
          <c:cat>
            <c:strRef>
              <c:f>'Chart Data'!$A$2:$A$4</c:f>
              <c:strCache>
                <c:ptCount val="3"/>
                <c:pt idx="0">
                  <c:v>CDS</c:v>
                </c:pt>
                <c:pt idx="1">
                  <c:v>CDS +
3′ UTR</c:v>
                </c:pt>
                <c:pt idx="2">
                  <c:v>All
regions</c:v>
                </c:pt>
              </c:strCache>
            </c:strRef>
          </c:cat>
          <c:val>
            <c:numRef>
              <c:f>'Chart Data'!$B$2:$B$4</c:f>
              <c:numCache>
                <c:formatCode>0.000</c:formatCode>
                <c:ptCount val="3"/>
                <c:pt idx="0">
                  <c:v>0.48701</c:v>
                </c:pt>
                <c:pt idx="1">
                  <c:v>0.53388</c:v>
                </c:pt>
                <c:pt idx="2">
                  <c:v>0.542143</c:v>
                </c:pt>
              </c:numCache>
            </c:numRef>
          </c:val>
        </c:ser>
        <c:ser>
          <c:idx val="1"/>
          <c:order val="1"/>
          <c:tx>
            <c:v>Translation efficiency</c:v>
          </c:tx>
          <c:spPr>
            <a:solidFill xmlns:a="http://schemas.openxmlformats.org/drawingml/2006/main">
              <a:srgbClr val="167D77"/>
            </a:solidFill>
          </c:spPr>
          <c:invertIfNegative val="0"/>
          <c:cat>
            <c:strRef>
              <c:f>'Chart Data'!$C$2:$C$4</c:f>
              <c:strCache>
                <c:ptCount val="3"/>
                <c:pt idx="0">
                  <c:v>CDS</c:v>
                </c:pt>
                <c:pt idx="1">
                  <c:v>CDS +
3′ UTR</c:v>
                </c:pt>
                <c:pt idx="2">
                  <c:v>All
regions</c:v>
                </c:pt>
              </c:strCache>
            </c:strRef>
          </c:cat>
          <c:val>
            <c:numRef>
              <c:f>'Chart Data'!$D$2:$D$4</c:f>
              <c:numCache>
                <c:formatCode>0.000</c:formatCode>
                <c:ptCount val="3"/>
                <c:pt idx="0">
                  <c:v>0.683321</c:v>
                </c:pt>
                <c:pt idx="1">
                  <c:v>0.684757</c:v>
                </c:pt>
                <c:pt idx="2">
                  <c:v>0.701813</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725">
                  <a:solidFill>
                    <a:srgbClr val="14324B"/>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7D878C"/>
            </a:solidFill>
          </a:ln>
        </c:spPr>
        <c:txPr>
          <a:bodyPr xmlns:a="http://schemas.openxmlformats.org/drawingml/2006/main" anchorCtr="1"/>
          <a:lstStyle xmlns:a="http://schemas.openxmlformats.org/drawingml/2006/main"/>
          <a:p xmlns:a="http://schemas.openxmlformats.org/drawingml/2006/main">
            <a:pPr>
              <a:defRPr sz="1800">
                <a:solidFill>
                  <a:srgbClr val="14324B"/>
                </a:solidFill>
                <a:latin typeface="Times New Roman"/>
                <a:ea typeface="Times New Roman"/>
                <a:cs typeface="Times New Roman"/>
              </a:defRPr>
            </a:pPr>
          </a:p>
        </c:txPr>
        <c:crossAx val="48672768"/>
      </c:catAx>
      <c:valAx>
        <c:axId val="48672768"/>
        <c:scaling>
          <c:orientation val="minMax"/>
          <c:max val="0.8"/>
          <c:min val="0"/>
        </c:scaling>
        <c:delete val="0"/>
        <c:axPos val="l"/>
        <c:majorGridlines>
          <c:spPr>
            <a:ln xmlns:a="http://schemas.openxmlformats.org/drawingml/2006/main" w="7620">
              <a:solidFill>
                <a:srgbClr val="D7E0E5"/>
              </a:solidFill>
            </a:ln>
          </c:spPr>
        </c:majorGridlines>
        <c:title>
          <c:tx>
            <c:rich>
              <a:bodyPr xmlns:a="http://schemas.openxmlformats.org/drawingml/2006/main"/>
              <a:lstStyle xmlns:a="http://schemas.openxmlformats.org/drawingml/2006/main"/>
              <a:p xmlns:a="http://schemas.openxmlformats.org/drawingml/2006/main">
                <a:r>
                  <a:rPr sz="1650">
                    <a:solidFill>
                      <a:srgbClr val="14324B"/>
                    </a:solidFill>
                    <a:latin typeface="Times New Roman"/>
                    <a:ea typeface="Times New Roman"/>
                    <a:cs typeface="Times New Roman"/>
                  </a:rPr>
                  <a:t>Mean test Pearson</a:t>
                </a:r>
              </a:p>
            </c:rich>
          </c:tx>
          <c:overlay val="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title>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36B"/>
                </a:solidFill>
                <a:latin typeface="Times New Roman"/>
                <a:ea typeface="Times New Roman"/>
                <a:cs typeface="Times New Roman"/>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Half-life</c:v>
          </c:tx>
          <c:spPr>
            <a:solidFill xmlns:a="http://schemas.openxmlformats.org/drawingml/2006/main">
              <a:srgbClr val="326DA8"/>
            </a:solidFill>
          </c:spPr>
          <c:invertIfNegative val="0"/>
          <c:cat>
            <c:strRef>
              <c:f>'Chart Data'!$A$2:$A$7</c:f>
              <c:strCache>
                <c:ptCount val="6"/>
                <c:pt idx="0">
                  <c:v>RNA-FM
CDS</c:v>
                </c:pt>
                <c:pt idx="1">
                  <c:v>RNA-FM
full RNA</c:v>
                </c:pt>
                <c:pt idx="2">
                  <c:v>NT
full RNA</c:v>
                </c:pt>
                <c:pt idx="3">
                  <c:v>Protein
of CDS</c:v>
                </c:pt>
                <c:pt idx="4">
                  <c:v>RNA +
protein</c:v>
                </c:pt>
                <c:pt idx="5">
                  <c:v>Three
vectors</c:v>
                </c:pt>
              </c:strCache>
            </c:strRef>
          </c:cat>
          <c:val>
            <c:numRef>
              <c:f>'Chart Data'!$B$2:$B$7</c:f>
              <c:numCache>
                <c:formatCode>0.000</c:formatCode>
                <c:ptCount val="6"/>
                <c:pt idx="0">
                  <c:v>0.473209</c:v>
                </c:pt>
                <c:pt idx="1">
                  <c:v>0.511741</c:v>
                </c:pt>
                <c:pt idx="2">
                  <c:v>0.5143</c:v>
                </c:pt>
                <c:pt idx="3">
                  <c:v>0.552343</c:v>
                </c:pt>
                <c:pt idx="4">
                  <c:v>0.60575</c:v>
                </c:pt>
                <c:pt idx="5">
                  <c:v>0.602023</c:v>
                </c:pt>
              </c:numCache>
            </c:numRef>
          </c:val>
        </c:ser>
        <c:ser>
          <c:idx val="1"/>
          <c:order val="1"/>
          <c:tx>
            <c:v>Translation efficiency</c:v>
          </c:tx>
          <c:spPr>
            <a:solidFill xmlns:a="http://schemas.openxmlformats.org/drawingml/2006/main">
              <a:srgbClr val="167D77"/>
            </a:solidFill>
          </c:spPr>
          <c:invertIfNegative val="0"/>
          <c:cat>
            <c:strRef>
              <c:f>'Chart Data'!$C$2:$C$7</c:f>
              <c:strCache>
                <c:ptCount val="6"/>
                <c:pt idx="0">
                  <c:v>RNA-FM
CDS</c:v>
                </c:pt>
                <c:pt idx="1">
                  <c:v>RNA-FM
full RNA</c:v>
                </c:pt>
                <c:pt idx="2">
                  <c:v>NT
full RNA</c:v>
                </c:pt>
                <c:pt idx="3">
                  <c:v>Protein
of CDS</c:v>
                </c:pt>
                <c:pt idx="4">
                  <c:v>RNA +
protein</c:v>
                </c:pt>
                <c:pt idx="5">
                  <c:v>Three
vectors</c:v>
                </c:pt>
              </c:strCache>
            </c:strRef>
          </c:cat>
          <c:val>
            <c:numRef>
              <c:f>'Chart Data'!$D$2:$D$7</c:f>
              <c:numCache>
                <c:formatCode>0.000</c:formatCode>
                <c:ptCount val="6"/>
                <c:pt idx="0">
                  <c:v>0.630004</c:v>
                </c:pt>
                <c:pt idx="1">
                  <c:v>0.609671</c:v>
                </c:pt>
                <c:pt idx="2">
                  <c:v>0.659846</c:v>
                </c:pt>
                <c:pt idx="3">
                  <c:v>0.682037</c:v>
                </c:pt>
                <c:pt idx="4">
                  <c:v>0.711934</c:v>
                </c:pt>
                <c:pt idx="5">
                  <c:v>0.71344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7D878C"/>
            </a:solidFill>
          </a:ln>
        </c:spPr>
        <c:txPr>
          <a:bodyPr xmlns:a="http://schemas.openxmlformats.org/drawingml/2006/main" anchorCtr="1"/>
          <a:lstStyle xmlns:a="http://schemas.openxmlformats.org/drawingml/2006/main"/>
          <a:p xmlns:a="http://schemas.openxmlformats.org/drawingml/2006/main">
            <a:pPr>
              <a:defRPr sz="1725">
                <a:solidFill>
                  <a:srgbClr val="14324B"/>
                </a:solidFill>
                <a:latin typeface="Times New Roman"/>
                <a:ea typeface="Times New Roman"/>
                <a:cs typeface="Times New Roman"/>
              </a:defRPr>
            </a:pPr>
          </a:p>
        </c:txPr>
        <c:crossAx val="48672768"/>
      </c:catAx>
      <c:valAx>
        <c:axId val="48672768"/>
        <c:scaling>
          <c:orientation val="minMax"/>
          <c:max val="0.9"/>
          <c:min val="0"/>
        </c:scaling>
        <c:delete val="0"/>
        <c:axPos val="l"/>
        <c:majorGridlines>
          <c:spPr>
            <a:ln xmlns:a="http://schemas.openxmlformats.org/drawingml/2006/main" w="7620">
              <a:solidFill>
                <a:srgbClr val="D7E0E5"/>
              </a:solidFill>
            </a:ln>
          </c:spPr>
        </c:majorGridlines>
        <c:title>
          <c:tx>
            <c:rich>
              <a:bodyPr xmlns:a="http://schemas.openxmlformats.org/drawingml/2006/main"/>
              <a:lstStyle xmlns:a="http://schemas.openxmlformats.org/drawingml/2006/main"/>
              <a:p xmlns:a="http://schemas.openxmlformats.org/drawingml/2006/main">
                <a:r>
                  <a:rPr sz="1650">
                    <a:solidFill>
                      <a:srgbClr val="14324B"/>
                    </a:solidFill>
                    <a:latin typeface="Times New Roman"/>
                    <a:ea typeface="Times New Roman"/>
                    <a:cs typeface="Times New Roman"/>
                  </a:rPr>
                  <a:t>Mean test Pearson</a:t>
                </a:r>
              </a:p>
            </c:rich>
          </c:tx>
          <c:overlay val="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title>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36B"/>
                </a:solidFill>
                <a:latin typeface="Times New Roman"/>
                <a:ea typeface="Times New Roman"/>
                <a:cs typeface="Times New Roman"/>
              </a:defRPr>
            </a:pPr>
          </a:p>
        </c:txPr>
        <c:crossAx val="48650112"/>
        <c:crossBetween val="between"/>
        <c:majorUnit val="0.1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Spearman</c:v>
          </c:tx>
          <c:spPr>
            <a:solidFill xmlns:a="http://schemas.openxmlformats.org/drawingml/2006/main">
              <a:srgbClr val="167D77"/>
            </a:solidFill>
          </c:spPr>
          <c:invertIfNegative val="0"/>
          <c:cat>
            <c:strRef>
              <c:f>'Chart Data'!$A$2:$A$5</c:f>
              <c:strCache>
                <c:ptCount val="4"/>
                <c:pt idx="0">
                  <c:v>DNA reference</c:v>
                </c:pt>
                <c:pt idx="1">
                  <c:v>Concat</c:v>
                </c:pt>
                <c:pt idx="2">
                  <c:v>Gated</c:v>
                </c:pt>
                <c:pt idx="3">
                  <c:v>Cross</c:v>
                </c:pt>
              </c:strCache>
            </c:strRef>
          </c:cat>
          <c:val>
            <c:numRef>
              <c:f>'Chart Data'!$B$2:$B$5</c:f>
              <c:numCache>
                <c:formatCode>0.000</c:formatCode>
                <c:ptCount val="4"/>
                <c:pt idx="0">
                  <c:v>0.806548</c:v>
                </c:pt>
                <c:pt idx="1">
                  <c:v>0.79136</c:v>
                </c:pt>
                <c:pt idx="2">
                  <c:v>0.801066</c:v>
                </c:pt>
                <c:pt idx="3">
                  <c:v>0.822812</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725">
                  <a:solidFill>
                    <a:srgbClr val="14324B"/>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7D878C"/>
            </a:solidFill>
          </a:ln>
        </c:spPr>
        <c:txPr>
          <a:bodyPr xmlns:a="http://schemas.openxmlformats.org/drawingml/2006/main" anchorCtr="1"/>
          <a:lstStyle xmlns:a="http://schemas.openxmlformats.org/drawingml/2006/main"/>
          <a:p xmlns:a="http://schemas.openxmlformats.org/drawingml/2006/main">
            <a:pPr>
              <a:defRPr sz="1875">
                <a:solidFill>
                  <a:srgbClr val="14324B"/>
                </a:solidFill>
                <a:latin typeface="Times New Roman"/>
                <a:ea typeface="Times New Roman"/>
                <a:cs typeface="Times New Roman"/>
              </a:defRPr>
            </a:pPr>
          </a:p>
        </c:txPr>
        <c:crossAx val="48672768"/>
      </c:catAx>
      <c:valAx>
        <c:axId val="48672768"/>
        <c:scaling>
          <c:orientation val="minMax"/>
          <c:max val="1"/>
          <c:min val="0"/>
        </c:scaling>
        <c:delete val="0"/>
        <c:axPos val="l"/>
        <c:majorGridlines>
          <c:spPr>
            <a:ln xmlns:a="http://schemas.openxmlformats.org/drawingml/2006/main" w="7620">
              <a:solidFill>
                <a:srgbClr val="D7E0E5"/>
              </a:solidFill>
            </a:ln>
          </c:spPr>
        </c:majorGridlines>
        <c:title>
          <c:tx>
            <c:rich>
              <a:bodyPr xmlns:a="http://schemas.openxmlformats.org/drawingml/2006/main"/>
              <a:lstStyle xmlns:a="http://schemas.openxmlformats.org/drawingml/2006/main"/>
              <a:p xmlns:a="http://schemas.openxmlformats.org/drawingml/2006/main">
                <a:r>
                  <a:rPr sz="1650">
                    <a:solidFill>
                      <a:srgbClr val="14324B"/>
                    </a:solidFill>
                    <a:latin typeface="Times New Roman"/>
                    <a:ea typeface="Times New Roman"/>
                    <a:cs typeface="Times New Roman"/>
                  </a:rPr>
                  <a:t>Test Spearman</a:t>
                </a:r>
              </a:p>
            </c:rich>
          </c:tx>
          <c:overlay val="0"/>
          <c:txPr>
            <a:bodyPr xmlns:a="http://schemas.openxmlformats.org/drawingml/2006/main" anchorCtr="1"/>
            <a:lstStyle xmlns:a="http://schemas.openxmlformats.org/drawingml/2006/main"/>
            <a:p xmlns:a="http://schemas.openxmlformats.org/drawingml/2006/main">
              <a:pPr>
                <a:defRPr sz="1650">
                  <a:solidFill>
                    <a:srgbClr val="14324B"/>
                  </a:solidFill>
                  <a:latin typeface="Times New Roman"/>
                  <a:ea typeface="Times New Roman"/>
                  <a:cs typeface="Times New Roman"/>
                </a:defRPr>
              </a:pPr>
            </a:p>
          </c:txPr>
        </c:title>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36B"/>
                </a:solidFill>
                <a:latin typeface="Times New Roman"/>
                <a:ea typeface="Times New Roman"/>
                <a:cs typeface="Times New Roman"/>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E93B3E26-3340-44F7-A5E0-5C5CEEAB8DFD}"/>
              </a:ext>
            </a:extLst>
          </p:cNvPr>
          <p:cNvCxnSpPr>
            <a:stCxn xmlns:a="http://schemas.openxmlformats.org/drawingml/2006/main" id="7" idx="3"/>
            <a:endCxn xmlns:a="http://schemas.openxmlformats.org/drawingml/2006/main" id="8" idx="1"/>
          </p:cNvCxnSpPr>
          <p:nvPr/>
        </p:nvCxnSpPr>
        <p:spPr>
          <a:xfrm xmlns:a="http://schemas.openxmlformats.org/drawingml/2006/main">
            <a:off x="9286875" y="3405188"/>
            <a:ext cx="809625"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B64A4444-FDD5-4243-BC75-50E7B82708A8}"/>
              </a:ext>
            </a:extLst>
          </p:cNvPr>
          <p:cNvCxnSpPr>
            <a:stCxn xmlns:a="http://schemas.openxmlformats.org/drawingml/2006/main" id="6" idx="3"/>
            <a:endCxn xmlns:a="http://schemas.openxmlformats.org/drawingml/2006/main" id="7" idx="1"/>
          </p:cNvCxnSpPr>
          <p:nvPr/>
        </p:nvCxnSpPr>
        <p:spPr>
          <a:xfrm xmlns:a="http://schemas.openxmlformats.org/drawingml/2006/main">
            <a:off x="6477000" y="3405188"/>
            <a:ext cx="904875"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694F39E0-CDC0-4C3E-BE9B-E6D6A2696B4B}"/>
              </a:ext>
            </a:extLst>
          </p:cNvPr>
          <p:cNvCxnSpPr>
            <a:stCxn xmlns:a="http://schemas.openxmlformats.org/drawingml/2006/main" id="5" idx="3"/>
            <a:endCxn xmlns:a="http://schemas.openxmlformats.org/drawingml/2006/main" id="6" idx="1"/>
          </p:cNvCxnSpPr>
          <p:nvPr/>
        </p:nvCxnSpPr>
        <p:spPr>
          <a:xfrm xmlns:a="http://schemas.openxmlformats.org/drawingml/2006/main">
            <a:off x="2905125" y="3405188"/>
            <a:ext cx="904875"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342F6CC6-1859-41E3-A559-C2B3F9DF6113}"/>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850FCF-52A5-49B0-8921-3352CA55B663}"/>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When does combining sequence encoders help?</a:t>
            </a:r>
          </a:p>
        </p:txBody>
      </p:sp>
      <p:sp>
        <p:nvSpPr>
          <p:cNvPr id="3" name="">
            <a:extLst xmlns:a="http://schemas.openxmlformats.org/drawingml/2006/main">
              <a:ext uri="{FF2B5EF4-FFF2-40B4-BE49-F238E27FC236}">
                <a16:creationId xmlns:a16="http://schemas.microsoft.com/office/drawing/2014/main" id="{DEE877F2-D21C-4905-A557-EAB0A43F2CC1}"/>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1</a:t>
            </a:r>
          </a:p>
        </p:txBody>
      </p:sp>
      <p:sp>
        <p:nvSpPr>
          <p:cNvPr id="4" name="">
            <a:extLst xmlns:a="http://schemas.openxmlformats.org/drawingml/2006/main">
              <a:ext uri="{FF2B5EF4-FFF2-40B4-BE49-F238E27FC236}">
                <a16:creationId xmlns:a16="http://schemas.microsoft.com/office/drawing/2014/main" id="{8FF3C943-66A6-409D-B9D9-2C95E177277F}"/>
              </a:ext>
            </a:extLst>
          </p:cNvPr>
          <p:cNvSpPr>
            <a:spLocks xmlns:a="http://schemas.openxmlformats.org/drawingml/2006/main" noGrp="1"/>
          </p:cNvSpPr>
          <p:nvPr/>
        </p:nvSpPr>
        <p:spPr>
          <a:xfrm xmlns:a="http://schemas.openxmlformats.org/drawingml/2006/main">
            <a:off x="571500" y="15716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a:solidFill>
                  <a:srgbClr val="167D77"/>
                </a:solidFill>
                <a:latin typeface="Times New Roman"/>
                <a:ea typeface="Times New Roman"/>
                <a:cs typeface="Times New Roman"/>
              </a:defRPr>
            </a:defPPr>
            <a:lvl1pPr>
              <a:defRPr sz="2625">
                <a:solidFill>
                  <a:srgbClr val="167D77"/>
                </a:solidFill>
                <a:latin typeface="Times New Roman"/>
                <a:ea typeface="Times New Roman"/>
                <a:cs typeface="Times New Roman"/>
              </a:defRPr>
            </a:lvl1pPr>
            <a:lvl2pPr>
              <a:defRPr sz="2625">
                <a:solidFill>
                  <a:srgbClr val="167D77"/>
                </a:solidFill>
                <a:latin typeface="Times New Roman"/>
                <a:ea typeface="Times New Roman"/>
                <a:cs typeface="Times New Roman"/>
              </a:defRPr>
            </a:lvl2pPr>
            <a:lvl3pPr>
              <a:defRPr sz="2625">
                <a:solidFill>
                  <a:srgbClr val="167D77"/>
                </a:solidFill>
                <a:latin typeface="Times New Roman"/>
                <a:ea typeface="Times New Roman"/>
                <a:cs typeface="Times New Roman"/>
              </a:defRPr>
            </a:lvl3pPr>
            <a:lvl4pPr>
              <a:defRPr sz="2625">
                <a:solidFill>
                  <a:srgbClr val="167D77"/>
                </a:solidFill>
                <a:latin typeface="Times New Roman"/>
                <a:ea typeface="Times New Roman"/>
                <a:cs typeface="Times New Roman"/>
              </a:defRPr>
            </a:lvl4pPr>
            <a:lvl5pPr>
              <a:defRPr sz="2625">
                <a:solidFill>
                  <a:srgbClr val="167D77"/>
                </a:solidFill>
                <a:latin typeface="Times New Roman"/>
                <a:ea typeface="Times New Roman"/>
                <a:cs typeface="Times New Roman"/>
              </a:defRPr>
            </a:lvl5pPr>
            <a:lvl6pPr>
              <a:defRPr sz="2625">
                <a:solidFill>
                  <a:srgbClr val="167D77"/>
                </a:solidFill>
                <a:latin typeface="Times New Roman"/>
                <a:ea typeface="Times New Roman"/>
                <a:cs typeface="Times New Roman"/>
              </a:defRPr>
            </a:lvl6pPr>
            <a:lvl7pPr>
              <a:defRPr sz="2625">
                <a:solidFill>
                  <a:srgbClr val="167D77"/>
                </a:solidFill>
                <a:latin typeface="Times New Roman"/>
                <a:ea typeface="Times New Roman"/>
                <a:cs typeface="Times New Roman"/>
              </a:defRPr>
            </a:lvl7pPr>
            <a:lvl8pPr>
              <a:defRPr sz="2625">
                <a:solidFill>
                  <a:srgbClr val="167D77"/>
                </a:solidFill>
                <a:latin typeface="Times New Roman"/>
                <a:ea typeface="Times New Roman"/>
                <a:cs typeface="Times New Roman"/>
              </a:defRPr>
            </a:lvl8pPr>
            <a:lvl9pPr>
              <a:defRPr sz="2625">
                <a:solidFill>
                  <a:srgbClr val="167D77"/>
                </a:solidFill>
                <a:latin typeface="Times New Roman"/>
                <a:ea typeface="Times New Roman"/>
                <a:cs typeface="Times New Roman"/>
              </a:defRPr>
            </a:lvl9pPr>
          </a:lstStyle>
          <a:p xmlns:a="http://schemas.openxmlformats.org/drawingml/2006/main">
            <a:pPr>
              <a:defRPr sz="2625">
                <a:solidFill>
                  <a:srgbClr val="167D77"/>
                </a:solidFill>
                <a:latin typeface="Times New Roman"/>
                <a:ea typeface="Times New Roman"/>
                <a:cs typeface="Times New Roman"/>
              </a:defRPr>
            </a:pPr>
            <a:r>
              <a:rPr sz="2625">
                <a:solidFill>
                  <a:srgbClr val="167D77"/>
                </a:solidFill>
                <a:latin typeface="Times New Roman"/>
                <a:ea typeface="Times New Roman"/>
                <a:cs typeface="Times New Roman"/>
              </a:rPr>
              <a:t>Biological prediction across the Stage 4 investigation</a:t>
            </a:r>
          </a:p>
        </p:txBody>
      </p:sp>
      <p:sp>
        <p:nvSpPr>
          <p:cNvPr id="5" name="">
            <a:extLst xmlns:a="http://schemas.openxmlformats.org/drawingml/2006/main">
              <a:ext uri="{FF2B5EF4-FFF2-40B4-BE49-F238E27FC236}">
                <a16:creationId xmlns:a16="http://schemas.microsoft.com/office/drawing/2014/main" id="{CD4A144D-CED3-4B51-8F0E-59616F3A176C}"/>
              </a:ext>
            </a:extLst>
          </p:cNvPr>
          <p:cNvSpPr>
            <a:spLocks xmlns:a="http://schemas.openxmlformats.org/drawingml/2006/main" noGrp="1"/>
          </p:cNvSpPr>
          <p:nvPr/>
        </p:nvSpPr>
        <p:spPr>
          <a:xfrm xmlns:a="http://schemas.openxmlformats.org/drawingml/2006/main">
            <a:off x="571500" y="2857500"/>
            <a:ext cx="2333625" cy="1095375"/>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2400" b="1">
                <a:solidFill>
                  <a:srgbClr val="14324B"/>
                </a:solidFill>
                <a:latin typeface="Times New Roman"/>
                <a:ea typeface="Times New Roman"/>
                <a:cs typeface="Times New Roman"/>
              </a:defRPr>
            </a:defPPr>
            <a:lvl1pPr algn="ctr">
              <a:defRPr sz="2400" b="1">
                <a:solidFill>
                  <a:srgbClr val="14324B"/>
                </a:solidFill>
                <a:latin typeface="Times New Roman"/>
                <a:ea typeface="Times New Roman"/>
                <a:cs typeface="Times New Roman"/>
              </a:defRPr>
            </a:lvl1pPr>
            <a:lvl2pPr algn="ctr">
              <a:defRPr sz="2400" b="1">
                <a:solidFill>
                  <a:srgbClr val="14324B"/>
                </a:solidFill>
                <a:latin typeface="Times New Roman"/>
                <a:ea typeface="Times New Roman"/>
                <a:cs typeface="Times New Roman"/>
              </a:defRPr>
            </a:lvl2pPr>
            <a:lvl3pPr algn="ctr">
              <a:defRPr sz="2400" b="1">
                <a:solidFill>
                  <a:srgbClr val="14324B"/>
                </a:solidFill>
                <a:latin typeface="Times New Roman"/>
                <a:ea typeface="Times New Roman"/>
                <a:cs typeface="Times New Roman"/>
              </a:defRPr>
            </a:lvl3pPr>
            <a:lvl4pPr algn="ctr">
              <a:defRPr sz="2400" b="1">
                <a:solidFill>
                  <a:srgbClr val="14324B"/>
                </a:solidFill>
                <a:latin typeface="Times New Roman"/>
                <a:ea typeface="Times New Roman"/>
                <a:cs typeface="Times New Roman"/>
              </a:defRPr>
            </a:lvl4pPr>
            <a:lvl5pPr algn="ctr">
              <a:defRPr sz="2400" b="1">
                <a:solidFill>
                  <a:srgbClr val="14324B"/>
                </a:solidFill>
                <a:latin typeface="Times New Roman"/>
                <a:ea typeface="Times New Roman"/>
                <a:cs typeface="Times New Roman"/>
              </a:defRPr>
            </a:lvl5pPr>
            <a:lvl6pPr algn="ctr">
              <a:defRPr sz="2400" b="1">
                <a:solidFill>
                  <a:srgbClr val="14324B"/>
                </a:solidFill>
                <a:latin typeface="Times New Roman"/>
                <a:ea typeface="Times New Roman"/>
                <a:cs typeface="Times New Roman"/>
              </a:defRPr>
            </a:lvl6pPr>
            <a:lvl7pPr algn="ctr">
              <a:defRPr sz="2400" b="1">
                <a:solidFill>
                  <a:srgbClr val="14324B"/>
                </a:solidFill>
                <a:latin typeface="Times New Roman"/>
                <a:ea typeface="Times New Roman"/>
                <a:cs typeface="Times New Roman"/>
              </a:defRPr>
            </a:lvl7pPr>
            <a:lvl8pPr algn="ctr">
              <a:defRPr sz="2400" b="1">
                <a:solidFill>
                  <a:srgbClr val="14324B"/>
                </a:solidFill>
                <a:latin typeface="Times New Roman"/>
                <a:ea typeface="Times New Roman"/>
                <a:cs typeface="Times New Roman"/>
              </a:defRPr>
            </a:lvl8pPr>
            <a:lvl9pPr algn="ctr">
              <a:defRPr sz="2400" b="1">
                <a:solidFill>
                  <a:srgbClr val="14324B"/>
                </a:solidFill>
                <a:latin typeface="Times New Roman"/>
                <a:ea typeface="Times New Roman"/>
                <a:cs typeface="Times New Roman"/>
              </a:defRPr>
            </a:lvl9pPr>
          </a:lstStyle>
          <a:p xmlns:a="http://schemas.openxmlformats.org/drawingml/2006/main">
            <a:pPr algn="ctr">
              <a:defRPr sz="2400" b="1">
                <a:solidFill>
                  <a:srgbClr val="14324B"/>
                </a:solidFill>
                <a:latin typeface="Times New Roman"/>
                <a:ea typeface="Times New Roman"/>
                <a:cs typeface="Times New Roman"/>
              </a:defRPr>
            </a:pPr>
            <a:r>
              <a:rPr sz="2400" b="1">
                <a:solidFill>
                  <a:srgbClr val="14324B"/>
                </a:solidFill>
                <a:latin typeface="Times New Roman"/>
                <a:ea typeface="Times New Roman"/>
                <a:cs typeface="Times New Roman"/>
              </a:rPr>
              <a:t>Biological</a:t>
            </a:r>
          </a:p>
          <a:p xmlns:a="http://schemas.openxmlformats.org/drawingml/2006/main">
            <a:pPr algn="ctr">
              <a:defRPr sz="2400" b="1">
                <a:solidFill>
                  <a:srgbClr val="14324B"/>
                </a:solidFill>
                <a:latin typeface="Times New Roman"/>
                <a:ea typeface="Times New Roman"/>
                <a:cs typeface="Times New Roman"/>
              </a:defRPr>
            </a:pPr>
            <a:r>
              <a:rPr sz="2400" b="1">
                <a:solidFill>
                  <a:srgbClr val="14324B"/>
                </a:solidFill>
                <a:latin typeface="Times New Roman"/>
                <a:ea typeface="Times New Roman"/>
                <a:cs typeface="Times New Roman"/>
              </a:rPr>
              <a:t>sequence</a:t>
            </a:r>
          </a:p>
        </p:txBody>
      </p:sp>
      <p:sp>
        <p:nvSpPr>
          <p:cNvPr id="6" name="">
            <a:extLst xmlns:a="http://schemas.openxmlformats.org/drawingml/2006/main">
              <a:ext uri="{FF2B5EF4-FFF2-40B4-BE49-F238E27FC236}">
                <a16:creationId xmlns:a16="http://schemas.microsoft.com/office/drawing/2014/main" id="{20CB8851-72EF-4C03-9557-5289DDD72A10}"/>
              </a:ext>
            </a:extLst>
          </p:cNvPr>
          <p:cNvSpPr>
            <a:spLocks xmlns:a="http://schemas.openxmlformats.org/drawingml/2006/main" noGrp="1"/>
          </p:cNvSpPr>
          <p:nvPr/>
        </p:nvSpPr>
        <p:spPr>
          <a:xfrm xmlns:a="http://schemas.openxmlformats.org/drawingml/2006/main">
            <a:off x="3810000" y="2857500"/>
            <a:ext cx="2667000" cy="1095375"/>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400" b="1">
                <a:solidFill>
                  <a:srgbClr val="167D77"/>
                </a:solidFill>
                <a:latin typeface="Times New Roman"/>
                <a:ea typeface="Times New Roman"/>
                <a:cs typeface="Times New Roman"/>
              </a:defRPr>
            </a:defPPr>
            <a:lvl1pPr algn="ctr">
              <a:defRPr sz="2400" b="1">
                <a:solidFill>
                  <a:srgbClr val="167D77"/>
                </a:solidFill>
                <a:latin typeface="Times New Roman"/>
                <a:ea typeface="Times New Roman"/>
                <a:cs typeface="Times New Roman"/>
              </a:defRPr>
            </a:lvl1pPr>
            <a:lvl2pPr algn="ctr">
              <a:defRPr sz="2400" b="1">
                <a:solidFill>
                  <a:srgbClr val="167D77"/>
                </a:solidFill>
                <a:latin typeface="Times New Roman"/>
                <a:ea typeface="Times New Roman"/>
                <a:cs typeface="Times New Roman"/>
              </a:defRPr>
            </a:lvl2pPr>
            <a:lvl3pPr algn="ctr">
              <a:defRPr sz="2400" b="1">
                <a:solidFill>
                  <a:srgbClr val="167D77"/>
                </a:solidFill>
                <a:latin typeface="Times New Roman"/>
                <a:ea typeface="Times New Roman"/>
                <a:cs typeface="Times New Roman"/>
              </a:defRPr>
            </a:lvl3pPr>
            <a:lvl4pPr algn="ctr">
              <a:defRPr sz="2400" b="1">
                <a:solidFill>
                  <a:srgbClr val="167D77"/>
                </a:solidFill>
                <a:latin typeface="Times New Roman"/>
                <a:ea typeface="Times New Roman"/>
                <a:cs typeface="Times New Roman"/>
              </a:defRPr>
            </a:lvl4pPr>
            <a:lvl5pPr algn="ctr">
              <a:defRPr sz="2400" b="1">
                <a:solidFill>
                  <a:srgbClr val="167D77"/>
                </a:solidFill>
                <a:latin typeface="Times New Roman"/>
                <a:ea typeface="Times New Roman"/>
                <a:cs typeface="Times New Roman"/>
              </a:defRPr>
            </a:lvl5pPr>
            <a:lvl6pPr algn="ctr">
              <a:defRPr sz="2400" b="1">
                <a:solidFill>
                  <a:srgbClr val="167D77"/>
                </a:solidFill>
                <a:latin typeface="Times New Roman"/>
                <a:ea typeface="Times New Roman"/>
                <a:cs typeface="Times New Roman"/>
              </a:defRPr>
            </a:lvl6pPr>
            <a:lvl7pPr algn="ctr">
              <a:defRPr sz="2400" b="1">
                <a:solidFill>
                  <a:srgbClr val="167D77"/>
                </a:solidFill>
                <a:latin typeface="Times New Roman"/>
                <a:ea typeface="Times New Roman"/>
                <a:cs typeface="Times New Roman"/>
              </a:defRPr>
            </a:lvl7pPr>
            <a:lvl8pPr algn="ctr">
              <a:defRPr sz="2400" b="1">
                <a:solidFill>
                  <a:srgbClr val="167D77"/>
                </a:solidFill>
                <a:latin typeface="Times New Roman"/>
                <a:ea typeface="Times New Roman"/>
                <a:cs typeface="Times New Roman"/>
              </a:defRPr>
            </a:lvl8pPr>
            <a:lvl9pPr algn="ctr">
              <a:defRPr sz="2400" b="1">
                <a:solidFill>
                  <a:srgbClr val="167D77"/>
                </a:solidFill>
                <a:latin typeface="Times New Roman"/>
                <a:ea typeface="Times New Roman"/>
                <a:cs typeface="Times New Roman"/>
              </a:defRPr>
            </a:lvl9pPr>
          </a:lstStyle>
          <a:p xmlns:a="http://schemas.openxmlformats.org/drawingml/2006/main">
            <a:pPr algn="ctr">
              <a:defRPr sz="2400" b="1">
                <a:solidFill>
                  <a:srgbClr val="167D77"/>
                </a:solidFill>
                <a:latin typeface="Times New Roman"/>
                <a:ea typeface="Times New Roman"/>
                <a:cs typeface="Times New Roman"/>
              </a:defRPr>
            </a:pPr>
            <a:r>
              <a:rPr sz="2400" b="1">
                <a:solidFill>
                  <a:srgbClr val="167D77"/>
                </a:solidFill>
                <a:latin typeface="Times New Roman"/>
                <a:ea typeface="Times New Roman"/>
                <a:cs typeface="Times New Roman"/>
              </a:rPr>
              <a:t>Pretrained</a:t>
            </a:r>
          </a:p>
          <a:p xmlns:a="http://schemas.openxmlformats.org/drawingml/2006/main">
            <a:pPr algn="ctr">
              <a:defRPr sz="2400" b="1">
                <a:solidFill>
                  <a:srgbClr val="167D77"/>
                </a:solidFill>
                <a:latin typeface="Times New Roman"/>
                <a:ea typeface="Times New Roman"/>
                <a:cs typeface="Times New Roman"/>
              </a:defRPr>
            </a:pPr>
            <a:r>
              <a:rPr sz="2400" b="1">
                <a:solidFill>
                  <a:srgbClr val="167D77"/>
                </a:solidFill>
                <a:latin typeface="Times New Roman"/>
                <a:ea typeface="Times New Roman"/>
                <a:cs typeface="Times New Roman"/>
              </a:rPr>
              <a:t>representations</a:t>
            </a:r>
          </a:p>
        </p:txBody>
      </p:sp>
      <p:sp>
        <p:nvSpPr>
          <p:cNvPr id="7" name="">
            <a:extLst xmlns:a="http://schemas.openxmlformats.org/drawingml/2006/main">
              <a:ext uri="{FF2B5EF4-FFF2-40B4-BE49-F238E27FC236}">
                <a16:creationId xmlns:a16="http://schemas.microsoft.com/office/drawing/2014/main" id="{2F17AE2D-416D-4C9D-9417-3D91FED358D6}"/>
              </a:ext>
            </a:extLst>
          </p:cNvPr>
          <p:cNvSpPr>
            <a:spLocks xmlns:a="http://schemas.openxmlformats.org/drawingml/2006/main" noGrp="1"/>
          </p:cNvSpPr>
          <p:nvPr/>
        </p:nvSpPr>
        <p:spPr>
          <a:xfrm xmlns:a="http://schemas.openxmlformats.org/drawingml/2006/main">
            <a:off x="7381875" y="2857500"/>
            <a:ext cx="1905000" cy="1095375"/>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2400" b="1">
                <a:solidFill>
                  <a:srgbClr val="14324B"/>
                </a:solidFill>
                <a:latin typeface="Times New Roman"/>
                <a:ea typeface="Times New Roman"/>
                <a:cs typeface="Times New Roman"/>
              </a:defRPr>
            </a:defPPr>
            <a:lvl1pPr algn="ctr">
              <a:defRPr sz="2400" b="1">
                <a:solidFill>
                  <a:srgbClr val="14324B"/>
                </a:solidFill>
                <a:latin typeface="Times New Roman"/>
                <a:ea typeface="Times New Roman"/>
                <a:cs typeface="Times New Roman"/>
              </a:defRPr>
            </a:lvl1pPr>
            <a:lvl2pPr algn="ctr">
              <a:defRPr sz="2400" b="1">
                <a:solidFill>
                  <a:srgbClr val="14324B"/>
                </a:solidFill>
                <a:latin typeface="Times New Roman"/>
                <a:ea typeface="Times New Roman"/>
                <a:cs typeface="Times New Roman"/>
              </a:defRPr>
            </a:lvl2pPr>
            <a:lvl3pPr algn="ctr">
              <a:defRPr sz="2400" b="1">
                <a:solidFill>
                  <a:srgbClr val="14324B"/>
                </a:solidFill>
                <a:latin typeface="Times New Roman"/>
                <a:ea typeface="Times New Roman"/>
                <a:cs typeface="Times New Roman"/>
              </a:defRPr>
            </a:lvl3pPr>
            <a:lvl4pPr algn="ctr">
              <a:defRPr sz="2400" b="1">
                <a:solidFill>
                  <a:srgbClr val="14324B"/>
                </a:solidFill>
                <a:latin typeface="Times New Roman"/>
                <a:ea typeface="Times New Roman"/>
                <a:cs typeface="Times New Roman"/>
              </a:defRPr>
            </a:lvl4pPr>
            <a:lvl5pPr algn="ctr">
              <a:defRPr sz="2400" b="1">
                <a:solidFill>
                  <a:srgbClr val="14324B"/>
                </a:solidFill>
                <a:latin typeface="Times New Roman"/>
                <a:ea typeface="Times New Roman"/>
                <a:cs typeface="Times New Roman"/>
              </a:defRPr>
            </a:lvl5pPr>
            <a:lvl6pPr algn="ctr">
              <a:defRPr sz="2400" b="1">
                <a:solidFill>
                  <a:srgbClr val="14324B"/>
                </a:solidFill>
                <a:latin typeface="Times New Roman"/>
                <a:ea typeface="Times New Roman"/>
                <a:cs typeface="Times New Roman"/>
              </a:defRPr>
            </a:lvl6pPr>
            <a:lvl7pPr algn="ctr">
              <a:defRPr sz="2400" b="1">
                <a:solidFill>
                  <a:srgbClr val="14324B"/>
                </a:solidFill>
                <a:latin typeface="Times New Roman"/>
                <a:ea typeface="Times New Roman"/>
                <a:cs typeface="Times New Roman"/>
              </a:defRPr>
            </a:lvl7pPr>
            <a:lvl8pPr algn="ctr">
              <a:defRPr sz="2400" b="1">
                <a:solidFill>
                  <a:srgbClr val="14324B"/>
                </a:solidFill>
                <a:latin typeface="Times New Roman"/>
                <a:ea typeface="Times New Roman"/>
                <a:cs typeface="Times New Roman"/>
              </a:defRPr>
            </a:lvl8pPr>
            <a:lvl9pPr algn="ctr">
              <a:defRPr sz="2400" b="1">
                <a:solidFill>
                  <a:srgbClr val="14324B"/>
                </a:solidFill>
                <a:latin typeface="Times New Roman"/>
                <a:ea typeface="Times New Roman"/>
                <a:cs typeface="Times New Roman"/>
              </a:defRPr>
            </a:lvl9pPr>
          </a:lstStyle>
          <a:p xmlns:a="http://schemas.openxmlformats.org/drawingml/2006/main">
            <a:pPr algn="ctr">
              <a:defRPr sz="2400" b="1">
                <a:solidFill>
                  <a:srgbClr val="14324B"/>
                </a:solidFill>
                <a:latin typeface="Times New Roman"/>
                <a:ea typeface="Times New Roman"/>
                <a:cs typeface="Times New Roman"/>
              </a:defRPr>
            </a:pPr>
            <a:r>
              <a:rPr sz="2400" b="1">
                <a:solidFill>
                  <a:srgbClr val="14324B"/>
                </a:solidFill>
                <a:latin typeface="Times New Roman"/>
                <a:ea typeface="Times New Roman"/>
                <a:cs typeface="Times New Roman"/>
              </a:rPr>
              <a:t>Fitted</a:t>
            </a:r>
          </a:p>
          <a:p xmlns:a="http://schemas.openxmlformats.org/drawingml/2006/main">
            <a:pPr algn="ctr">
              <a:defRPr sz="2400" b="1">
                <a:solidFill>
                  <a:srgbClr val="14324B"/>
                </a:solidFill>
                <a:latin typeface="Times New Roman"/>
                <a:ea typeface="Times New Roman"/>
                <a:cs typeface="Times New Roman"/>
              </a:defRPr>
            </a:pPr>
            <a:r>
              <a:rPr sz="2400" b="1">
                <a:solidFill>
                  <a:srgbClr val="14324B"/>
                </a:solidFill>
                <a:latin typeface="Times New Roman"/>
                <a:ea typeface="Times New Roman"/>
                <a:cs typeface="Times New Roman"/>
              </a:rPr>
              <a:t>predictor</a:t>
            </a:r>
          </a:p>
        </p:txBody>
      </p:sp>
      <p:sp>
        <p:nvSpPr>
          <p:cNvPr id="8" name="">
            <a:extLst xmlns:a="http://schemas.openxmlformats.org/drawingml/2006/main">
              <a:ext uri="{FF2B5EF4-FFF2-40B4-BE49-F238E27FC236}">
                <a16:creationId xmlns:a16="http://schemas.microsoft.com/office/drawing/2014/main" id="{CBF38163-C0D6-47BD-B9B8-E9204A815C0B}"/>
              </a:ext>
            </a:extLst>
          </p:cNvPr>
          <p:cNvSpPr>
            <a:spLocks xmlns:a="http://schemas.openxmlformats.org/drawingml/2006/main" noGrp="1"/>
          </p:cNvSpPr>
          <p:nvPr/>
        </p:nvSpPr>
        <p:spPr>
          <a:xfrm xmlns:a="http://schemas.openxmlformats.org/drawingml/2006/main">
            <a:off x="10096500" y="2857500"/>
            <a:ext cx="1619250" cy="1095375"/>
          </a:xfrm>
          <a:prstGeom xmlns:a="http://schemas.openxmlformats.org/drawingml/2006/main" prst="rect">
            <a:avLst/>
          </a:prstGeom>
          <a:solidFill xmlns:a="http://schemas.openxmlformats.org/drawingml/2006/main">
            <a:srgbClr val="FAEEE6"/>
          </a:solidFill>
          <a:ln xmlns:a="http://schemas.openxmlformats.org/drawingml/2006/main" w="14288">
            <a:solidFill>
              <a:srgbClr val="B3683D"/>
            </a:solidFill>
          </a:ln>
        </p:spPr>
        <p:txBody>
          <a:bodyPr xmlns:a="http://schemas.openxmlformats.org/drawingml/2006/main" wrap="square" lIns="85725" tIns="85725" rIns="85725" bIns="85725" anchor="ctr">
            <a:noAutofit/>
          </a:bodyPr>
          <a:lstStyle xmlns:a="http://schemas.openxmlformats.org/drawingml/2006/main">
            <a:defPPr algn="ctr">
              <a:defRPr sz="1950" b="1">
                <a:solidFill>
                  <a:srgbClr val="B3683D"/>
                </a:solidFill>
                <a:latin typeface="Times New Roman"/>
                <a:ea typeface="Times New Roman"/>
                <a:cs typeface="Times New Roman"/>
              </a:defRPr>
            </a:defPPr>
            <a:lvl1pPr algn="ctr">
              <a:defRPr sz="1950" b="1">
                <a:solidFill>
                  <a:srgbClr val="B3683D"/>
                </a:solidFill>
                <a:latin typeface="Times New Roman"/>
                <a:ea typeface="Times New Roman"/>
                <a:cs typeface="Times New Roman"/>
              </a:defRPr>
            </a:lvl1pPr>
            <a:lvl2pPr algn="ctr">
              <a:defRPr sz="1950" b="1">
                <a:solidFill>
                  <a:srgbClr val="B3683D"/>
                </a:solidFill>
                <a:latin typeface="Times New Roman"/>
                <a:ea typeface="Times New Roman"/>
                <a:cs typeface="Times New Roman"/>
              </a:defRPr>
            </a:lvl2pPr>
            <a:lvl3pPr algn="ctr">
              <a:defRPr sz="1950" b="1">
                <a:solidFill>
                  <a:srgbClr val="B3683D"/>
                </a:solidFill>
                <a:latin typeface="Times New Roman"/>
                <a:ea typeface="Times New Roman"/>
                <a:cs typeface="Times New Roman"/>
              </a:defRPr>
            </a:lvl3pPr>
            <a:lvl4pPr algn="ctr">
              <a:defRPr sz="1950" b="1">
                <a:solidFill>
                  <a:srgbClr val="B3683D"/>
                </a:solidFill>
                <a:latin typeface="Times New Roman"/>
                <a:ea typeface="Times New Roman"/>
                <a:cs typeface="Times New Roman"/>
              </a:defRPr>
            </a:lvl4pPr>
            <a:lvl5pPr algn="ctr">
              <a:defRPr sz="1950" b="1">
                <a:solidFill>
                  <a:srgbClr val="B3683D"/>
                </a:solidFill>
                <a:latin typeface="Times New Roman"/>
                <a:ea typeface="Times New Roman"/>
                <a:cs typeface="Times New Roman"/>
              </a:defRPr>
            </a:lvl5pPr>
            <a:lvl6pPr algn="ctr">
              <a:defRPr sz="1950" b="1">
                <a:solidFill>
                  <a:srgbClr val="B3683D"/>
                </a:solidFill>
                <a:latin typeface="Times New Roman"/>
                <a:ea typeface="Times New Roman"/>
                <a:cs typeface="Times New Roman"/>
              </a:defRPr>
            </a:lvl6pPr>
            <a:lvl7pPr algn="ctr">
              <a:defRPr sz="1950" b="1">
                <a:solidFill>
                  <a:srgbClr val="B3683D"/>
                </a:solidFill>
                <a:latin typeface="Times New Roman"/>
                <a:ea typeface="Times New Roman"/>
                <a:cs typeface="Times New Roman"/>
              </a:defRPr>
            </a:lvl7pPr>
            <a:lvl8pPr algn="ctr">
              <a:defRPr sz="1950" b="1">
                <a:solidFill>
                  <a:srgbClr val="B3683D"/>
                </a:solidFill>
                <a:latin typeface="Times New Roman"/>
                <a:ea typeface="Times New Roman"/>
                <a:cs typeface="Times New Roman"/>
              </a:defRPr>
            </a:lvl8pPr>
            <a:lvl9pPr algn="ctr">
              <a:defRPr sz="1950" b="1">
                <a:solidFill>
                  <a:srgbClr val="B3683D"/>
                </a:solidFill>
                <a:latin typeface="Times New Roman"/>
                <a:ea typeface="Times New Roman"/>
                <a:cs typeface="Times New Roman"/>
              </a:defRPr>
            </a:lvl9pPr>
          </a:lstStyle>
          <a:p xmlns:a="http://schemas.openxmlformats.org/drawingml/2006/main">
            <a:pPr algn="ctr">
              <a:defRPr sz="1950" b="1">
                <a:solidFill>
                  <a:srgbClr val="B3683D"/>
                </a:solidFill>
                <a:latin typeface="Times New Roman"/>
                <a:ea typeface="Times New Roman"/>
                <a:cs typeface="Times New Roman"/>
              </a:defRPr>
            </a:pPr>
            <a:r>
              <a:rPr sz="1950" b="1">
                <a:solidFill>
                  <a:srgbClr val="B3683D"/>
                </a:solidFill>
                <a:latin typeface="Times New Roman"/>
                <a:ea typeface="Times New Roman"/>
                <a:cs typeface="Times New Roman"/>
              </a:rPr>
              <a:t>Predicted</a:t>
            </a:r>
          </a:p>
          <a:p xmlns:a="http://schemas.openxmlformats.org/drawingml/2006/main">
            <a:pPr algn="ctr">
              <a:defRPr sz="1950" b="1">
                <a:solidFill>
                  <a:srgbClr val="B3683D"/>
                </a:solidFill>
                <a:latin typeface="Times New Roman"/>
                <a:ea typeface="Times New Roman"/>
                <a:cs typeface="Times New Roman"/>
              </a:defRPr>
            </a:pPr>
            <a:r>
              <a:rPr sz="1950" b="1">
                <a:solidFill>
                  <a:srgbClr val="B3683D"/>
                </a:solidFill>
                <a:latin typeface="Times New Roman"/>
                <a:ea typeface="Times New Roman"/>
                <a:cs typeface="Times New Roman"/>
              </a:rPr>
              <a:t>biological</a:t>
            </a:r>
          </a:p>
          <a:p xmlns:a="http://schemas.openxmlformats.org/drawingml/2006/main">
            <a:pPr algn="ctr">
              <a:defRPr sz="1950" b="1">
                <a:solidFill>
                  <a:srgbClr val="B3683D"/>
                </a:solidFill>
                <a:latin typeface="Times New Roman"/>
                <a:ea typeface="Times New Roman"/>
                <a:cs typeface="Times New Roman"/>
              </a:defRPr>
            </a:pPr>
            <a:r>
              <a:rPr sz="1950" b="1">
                <a:solidFill>
                  <a:srgbClr val="B3683D"/>
                </a:solidFill>
                <a:latin typeface="Times New Roman"/>
                <a:ea typeface="Times New Roman"/>
                <a:cs typeface="Times New Roman"/>
              </a:rPr>
              <a:t>target</a:t>
            </a:r>
          </a:p>
        </p:txBody>
      </p:sp>
      <p:sp>
        <p:nvSpPr>
          <p:cNvPr id="12" name="">
            <a:extLst xmlns:a="http://schemas.openxmlformats.org/drawingml/2006/main">
              <a:ext uri="{FF2B5EF4-FFF2-40B4-BE49-F238E27FC236}">
                <a16:creationId xmlns:a16="http://schemas.microsoft.com/office/drawing/2014/main" id="{CC666575-6016-40D7-9516-329DB94A70C6}"/>
              </a:ext>
            </a:extLst>
          </p:cNvPr>
          <p:cNvSpPr>
            <a:spLocks xmlns:a="http://schemas.openxmlformats.org/drawingml/2006/main" noGrp="1"/>
          </p:cNvSpPr>
          <p:nvPr/>
        </p:nvSpPr>
        <p:spPr>
          <a:xfrm xmlns:a="http://schemas.openxmlformats.org/drawingml/2006/main">
            <a:off x="619125" y="46386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a:solidFill>
                  <a:srgbClr val="14324B"/>
                </a:solidFill>
                <a:latin typeface="Times New Roman"/>
                <a:ea typeface="Times New Roman"/>
                <a:cs typeface="Times New Roman"/>
              </a:defRPr>
            </a:defPPr>
            <a:lvl1pPr>
              <a:defRPr sz="2775">
                <a:solidFill>
                  <a:srgbClr val="14324B"/>
                </a:solidFill>
                <a:latin typeface="Times New Roman"/>
                <a:ea typeface="Times New Roman"/>
                <a:cs typeface="Times New Roman"/>
              </a:defRPr>
            </a:lvl1pPr>
            <a:lvl2pPr>
              <a:defRPr sz="2775">
                <a:solidFill>
                  <a:srgbClr val="14324B"/>
                </a:solidFill>
                <a:latin typeface="Times New Roman"/>
                <a:ea typeface="Times New Roman"/>
                <a:cs typeface="Times New Roman"/>
              </a:defRPr>
            </a:lvl2pPr>
            <a:lvl3pPr>
              <a:defRPr sz="2775">
                <a:solidFill>
                  <a:srgbClr val="14324B"/>
                </a:solidFill>
                <a:latin typeface="Times New Roman"/>
                <a:ea typeface="Times New Roman"/>
                <a:cs typeface="Times New Roman"/>
              </a:defRPr>
            </a:lvl3pPr>
            <a:lvl4pPr>
              <a:defRPr sz="2775">
                <a:solidFill>
                  <a:srgbClr val="14324B"/>
                </a:solidFill>
                <a:latin typeface="Times New Roman"/>
                <a:ea typeface="Times New Roman"/>
                <a:cs typeface="Times New Roman"/>
              </a:defRPr>
            </a:lvl4pPr>
            <a:lvl5pPr>
              <a:defRPr sz="2775">
                <a:solidFill>
                  <a:srgbClr val="14324B"/>
                </a:solidFill>
                <a:latin typeface="Times New Roman"/>
                <a:ea typeface="Times New Roman"/>
                <a:cs typeface="Times New Roman"/>
              </a:defRPr>
            </a:lvl5pPr>
            <a:lvl6pPr>
              <a:defRPr sz="2775">
                <a:solidFill>
                  <a:srgbClr val="14324B"/>
                </a:solidFill>
                <a:latin typeface="Times New Roman"/>
                <a:ea typeface="Times New Roman"/>
                <a:cs typeface="Times New Roman"/>
              </a:defRPr>
            </a:lvl6pPr>
            <a:lvl7pPr>
              <a:defRPr sz="2775">
                <a:solidFill>
                  <a:srgbClr val="14324B"/>
                </a:solidFill>
                <a:latin typeface="Times New Roman"/>
                <a:ea typeface="Times New Roman"/>
                <a:cs typeface="Times New Roman"/>
              </a:defRPr>
            </a:lvl7pPr>
            <a:lvl8pPr>
              <a:defRPr sz="2775">
                <a:solidFill>
                  <a:srgbClr val="14324B"/>
                </a:solidFill>
                <a:latin typeface="Times New Roman"/>
                <a:ea typeface="Times New Roman"/>
                <a:cs typeface="Times New Roman"/>
              </a:defRPr>
            </a:lvl8pPr>
            <a:lvl9pPr>
              <a:defRPr sz="2775">
                <a:solidFill>
                  <a:srgbClr val="14324B"/>
                </a:solidFill>
                <a:latin typeface="Times New Roman"/>
                <a:ea typeface="Times New Roman"/>
                <a:cs typeface="Times New Roman"/>
              </a:defRPr>
            </a:lvl9pPr>
          </a:lstStyle>
          <a:p xmlns:a="http://schemas.openxmlformats.org/drawingml/2006/main">
            <a:pPr>
              <a:defRPr sz="2775">
                <a:solidFill>
                  <a:srgbClr val="14324B"/>
                </a:solidFill>
                <a:latin typeface="Times New Roman"/>
                <a:ea typeface="Times New Roman"/>
                <a:cs typeface="Times New Roman"/>
              </a:defRPr>
            </a:pPr>
            <a:r>
              <a:rPr sz="2775">
                <a:solidFill>
                  <a:srgbClr val="14324B"/>
                </a:solidFill>
                <a:latin typeface="Times New Roman"/>
                <a:ea typeface="Times New Roman"/>
                <a:cs typeface="Times New Roman"/>
              </a:rPr>
              <a:t>Does the combination improve on what a strong single encoder already provides?</a:t>
            </a:r>
          </a:p>
        </p:txBody>
      </p:sp>
      <p:sp>
        <p:nvSpPr>
          <p:cNvPr id="13" name="">
            <a:extLst xmlns:a="http://schemas.openxmlformats.org/drawingml/2006/main">
              <a:ext uri="{FF2B5EF4-FFF2-40B4-BE49-F238E27FC236}">
                <a16:creationId xmlns:a16="http://schemas.microsoft.com/office/drawing/2014/main" id="{A6E15AE9-8AC1-41EA-99E5-35133207CA38}"/>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Advisor / lab progress discussion, 26 October 2026. Evidence compares models within each task; scores across tasks are not a shared leaderboard.</a:t>
            </a:r>
          </a:p>
        </p:txBody>
      </p:sp>
    </p:spTree>
    <p:extLst>
      <p:ext uri="{BB962C8B-B14F-4D97-AF65-F5344CB8AC3E}">
        <p14:creationId xmlns:p14="http://schemas.microsoft.com/office/powerpoint/2010/main" val="19854561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CC6F466-6AEA-4381-A219-754BEBC01A4E}"/>
              </a:ext>
            </a:extLst>
          </p:cNvPr>
          <p:cNvCxnSpPr>
            <a:stCxn xmlns:a="http://schemas.openxmlformats.org/drawingml/2006/main" id="7" idx="3"/>
            <a:endCxn xmlns:a="http://schemas.openxmlformats.org/drawingml/2006/main" id="8" idx="1"/>
          </p:cNvCxnSpPr>
          <p:nvPr/>
        </p:nvCxnSpPr>
        <p:spPr>
          <a:xfrm xmlns:a="http://schemas.openxmlformats.org/drawingml/2006/main" flipV="1">
            <a:off x="3667125" y="3686175"/>
            <a:ext cx="1524000" cy="542925"/>
          </a:xfrm>
          <a:prstGeom xmlns:a="http://schemas.openxmlformats.org/drawingml/2006/main" prst="bentConnector3">
            <a:avLst>
              <a:gd name="adj1" fmla="val 50000"/>
            </a:avLst>
          </a:prstGeom>
          <a:ln xmlns:a="http://schemas.openxmlformats.org/drawingml/2006/main" w="21908">
            <a:solidFill>
              <a:srgbClr val="815897"/>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8BA6C723-AC48-4CE5-AA0F-CC452413AA70}"/>
              </a:ext>
            </a:extLst>
          </p:cNvPr>
          <p:cNvCxnSpPr>
            <a:stCxn xmlns:a="http://schemas.openxmlformats.org/drawingml/2006/main" id="6" idx="3"/>
            <a:endCxn xmlns:a="http://schemas.openxmlformats.org/drawingml/2006/main" id="8" idx="1"/>
          </p:cNvCxnSpPr>
          <p:nvPr/>
        </p:nvCxnSpPr>
        <p:spPr>
          <a:xfrm xmlns:a="http://schemas.openxmlformats.org/drawingml/2006/main">
            <a:off x="3667125" y="3038475"/>
            <a:ext cx="1524000" cy="647700"/>
          </a:xfrm>
          <a:prstGeom xmlns:a="http://schemas.openxmlformats.org/drawingml/2006/main" prst="bentConnector3">
            <a:avLst>
              <a:gd name="adj1" fmla="val 50000"/>
            </a:avLst>
          </a:prstGeom>
          <a:ln xmlns:a="http://schemas.openxmlformats.org/drawingml/2006/main" w="21908">
            <a:solidFill>
              <a:srgbClr val="815897"/>
            </a:solidFill>
            <a:prstDash val="solid"/>
            <a:tailEnd type="triangle" w="med" len="med"/>
          </a:ln>
        </p:spPr>
      </p:cxnSp>
      <p:sp>
        <p:nvSpPr>
          <p:cNvPr id="19" name="">
            <a:extLst xmlns:a="http://schemas.openxmlformats.org/drawingml/2006/main">
              <a:ext uri="{FF2B5EF4-FFF2-40B4-BE49-F238E27FC236}">
                <a16:creationId xmlns:a16="http://schemas.microsoft.com/office/drawing/2014/main" id="{A86A8EC1-7707-4DD0-B572-E0572E21018A}"/>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0372E5-5C0E-434D-AB84-7801B99899D9}"/>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Different codons can specify the same protein</a:t>
            </a:r>
          </a:p>
        </p:txBody>
      </p:sp>
      <p:sp>
        <p:nvSpPr>
          <p:cNvPr id="3" name="">
            <a:extLst xmlns:a="http://schemas.openxmlformats.org/drawingml/2006/main">
              <a:ext uri="{FF2B5EF4-FFF2-40B4-BE49-F238E27FC236}">
                <a16:creationId xmlns:a16="http://schemas.microsoft.com/office/drawing/2014/main" id="{FF1813D6-8D3C-4625-BA15-4F41B7EBA0E6}"/>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mRFP variants change the coding sequence while retaining one red fluorescent protein.</a:t>
            </a:r>
          </a:p>
        </p:txBody>
      </p:sp>
      <p:sp>
        <p:nvSpPr>
          <p:cNvPr id="4" name="">
            <a:extLst xmlns:a="http://schemas.openxmlformats.org/drawingml/2006/main">
              <a:ext uri="{FF2B5EF4-FFF2-40B4-BE49-F238E27FC236}">
                <a16:creationId xmlns:a16="http://schemas.microsoft.com/office/drawing/2014/main" id="{E2B0D11B-95D0-4275-BBC8-7B5FA51CA013}"/>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2</a:t>
            </a:r>
          </a:p>
        </p:txBody>
      </p:sp>
      <p:sp>
        <p:nvSpPr>
          <p:cNvPr id="5" name="">
            <a:extLst xmlns:a="http://schemas.openxmlformats.org/drawingml/2006/main">
              <a:ext uri="{FF2B5EF4-FFF2-40B4-BE49-F238E27FC236}">
                <a16:creationId xmlns:a16="http://schemas.microsoft.com/office/drawing/2014/main" id="{763816B6-813F-49C5-883C-C6DE85F08256}"/>
              </a:ext>
            </a:extLst>
          </p:cNvPr>
          <p:cNvSpPr>
            <a:spLocks xmlns:a="http://schemas.openxmlformats.org/drawingml/2006/main" noGrp="1"/>
          </p:cNvSpPr>
          <p:nvPr/>
        </p:nvSpPr>
        <p:spPr>
          <a:xfrm xmlns:a="http://schemas.openxmlformats.org/drawingml/2006/main">
            <a:off x="571500" y="2019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67D77"/>
                </a:solidFill>
                <a:latin typeface="Times New Roman"/>
                <a:ea typeface="Times New Roman"/>
                <a:cs typeface="Times New Roman"/>
              </a:defRPr>
            </a:defPPr>
            <a:lvl1pPr>
              <a:defRPr sz="2250" b="1">
                <a:solidFill>
                  <a:srgbClr val="167D77"/>
                </a:solidFill>
                <a:latin typeface="Times New Roman"/>
                <a:ea typeface="Times New Roman"/>
                <a:cs typeface="Times New Roman"/>
              </a:defRPr>
            </a:lvl1pPr>
            <a:lvl2pPr>
              <a:defRPr sz="2250" b="1">
                <a:solidFill>
                  <a:srgbClr val="167D77"/>
                </a:solidFill>
                <a:latin typeface="Times New Roman"/>
                <a:ea typeface="Times New Roman"/>
                <a:cs typeface="Times New Roman"/>
              </a:defRPr>
            </a:lvl2pPr>
            <a:lvl3pPr>
              <a:defRPr sz="2250" b="1">
                <a:solidFill>
                  <a:srgbClr val="167D77"/>
                </a:solidFill>
                <a:latin typeface="Times New Roman"/>
                <a:ea typeface="Times New Roman"/>
                <a:cs typeface="Times New Roman"/>
              </a:defRPr>
            </a:lvl3pPr>
            <a:lvl4pPr>
              <a:defRPr sz="2250" b="1">
                <a:solidFill>
                  <a:srgbClr val="167D77"/>
                </a:solidFill>
                <a:latin typeface="Times New Roman"/>
                <a:ea typeface="Times New Roman"/>
                <a:cs typeface="Times New Roman"/>
              </a:defRPr>
            </a:lvl4pPr>
            <a:lvl5pPr>
              <a:defRPr sz="2250" b="1">
                <a:solidFill>
                  <a:srgbClr val="167D77"/>
                </a:solidFill>
                <a:latin typeface="Times New Roman"/>
                <a:ea typeface="Times New Roman"/>
                <a:cs typeface="Times New Roman"/>
              </a:defRPr>
            </a:lvl5pPr>
            <a:lvl6pPr>
              <a:defRPr sz="2250" b="1">
                <a:solidFill>
                  <a:srgbClr val="167D77"/>
                </a:solidFill>
                <a:latin typeface="Times New Roman"/>
                <a:ea typeface="Times New Roman"/>
                <a:cs typeface="Times New Roman"/>
              </a:defRPr>
            </a:lvl6pPr>
            <a:lvl7pPr>
              <a:defRPr sz="2250" b="1">
                <a:solidFill>
                  <a:srgbClr val="167D77"/>
                </a:solidFill>
                <a:latin typeface="Times New Roman"/>
                <a:ea typeface="Times New Roman"/>
                <a:cs typeface="Times New Roman"/>
              </a:defRPr>
            </a:lvl7pPr>
            <a:lvl8pPr>
              <a:defRPr sz="2250" b="1">
                <a:solidFill>
                  <a:srgbClr val="167D77"/>
                </a:solidFill>
                <a:latin typeface="Times New Roman"/>
                <a:ea typeface="Times New Roman"/>
                <a:cs typeface="Times New Roman"/>
              </a:defRPr>
            </a:lvl8pPr>
            <a:lvl9pPr>
              <a:defRPr sz="2250" b="1">
                <a:solidFill>
                  <a:srgbClr val="167D77"/>
                </a:solidFill>
                <a:latin typeface="Times New Roman"/>
                <a:ea typeface="Times New Roman"/>
                <a:cs typeface="Times New Roman"/>
              </a:defRPr>
            </a:lvl9pPr>
          </a:lstStyle>
          <a:p xmlns:a="http://schemas.openxmlformats.org/drawingml/2006/main">
            <a:pPr>
              <a:defRPr sz="2250" b="1">
                <a:solidFill>
                  <a:srgbClr val="167D77"/>
                </a:solidFill>
                <a:latin typeface="Times New Roman"/>
                <a:ea typeface="Times New Roman"/>
                <a:cs typeface="Times New Roman"/>
              </a:defRPr>
            </a:pPr>
            <a:r>
              <a:rPr sz="2250" b="1">
                <a:solidFill>
                  <a:srgbClr val="167D77"/>
                </a:solidFill>
                <a:latin typeface="Times New Roman"/>
                <a:ea typeface="Times New Roman"/>
                <a:cs typeface="Times New Roman"/>
              </a:rPr>
              <a:t>RNA codons</a:t>
            </a:r>
          </a:p>
        </p:txBody>
      </p:sp>
      <p:sp>
        <p:nvSpPr>
          <p:cNvPr id="6" name="">
            <a:extLst xmlns:a="http://schemas.openxmlformats.org/drawingml/2006/main">
              <a:ext uri="{FF2B5EF4-FFF2-40B4-BE49-F238E27FC236}">
                <a16:creationId xmlns:a16="http://schemas.microsoft.com/office/drawing/2014/main" id="{A8575302-DA76-4098-8EBE-421F3DB43D22}"/>
              </a:ext>
            </a:extLst>
          </p:cNvPr>
          <p:cNvSpPr>
            <a:spLocks xmlns:a="http://schemas.openxmlformats.org/drawingml/2006/main" noGrp="1"/>
          </p:cNvSpPr>
          <p:nvPr/>
        </p:nvSpPr>
        <p:spPr>
          <a:xfrm xmlns:a="http://schemas.openxmlformats.org/drawingml/2006/main">
            <a:off x="571500" y="2667000"/>
            <a:ext cx="3095625" cy="74295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3150" b="1">
                <a:solidFill>
                  <a:srgbClr val="167D77"/>
                </a:solidFill>
                <a:latin typeface="Times New Roman"/>
                <a:ea typeface="Times New Roman"/>
                <a:cs typeface="Times New Roman"/>
              </a:defRPr>
            </a:defPPr>
            <a:lvl1pPr algn="ctr">
              <a:defRPr sz="3150" b="1">
                <a:solidFill>
                  <a:srgbClr val="167D77"/>
                </a:solidFill>
                <a:latin typeface="Times New Roman"/>
                <a:ea typeface="Times New Roman"/>
                <a:cs typeface="Times New Roman"/>
              </a:defRPr>
            </a:lvl1pPr>
            <a:lvl2pPr algn="ctr">
              <a:defRPr sz="3150" b="1">
                <a:solidFill>
                  <a:srgbClr val="167D77"/>
                </a:solidFill>
                <a:latin typeface="Times New Roman"/>
                <a:ea typeface="Times New Roman"/>
                <a:cs typeface="Times New Roman"/>
              </a:defRPr>
            </a:lvl2pPr>
            <a:lvl3pPr algn="ctr">
              <a:defRPr sz="3150" b="1">
                <a:solidFill>
                  <a:srgbClr val="167D77"/>
                </a:solidFill>
                <a:latin typeface="Times New Roman"/>
                <a:ea typeface="Times New Roman"/>
                <a:cs typeface="Times New Roman"/>
              </a:defRPr>
            </a:lvl3pPr>
            <a:lvl4pPr algn="ctr">
              <a:defRPr sz="3150" b="1">
                <a:solidFill>
                  <a:srgbClr val="167D77"/>
                </a:solidFill>
                <a:latin typeface="Times New Roman"/>
                <a:ea typeface="Times New Roman"/>
                <a:cs typeface="Times New Roman"/>
              </a:defRPr>
            </a:lvl4pPr>
            <a:lvl5pPr algn="ctr">
              <a:defRPr sz="3150" b="1">
                <a:solidFill>
                  <a:srgbClr val="167D77"/>
                </a:solidFill>
                <a:latin typeface="Times New Roman"/>
                <a:ea typeface="Times New Roman"/>
                <a:cs typeface="Times New Roman"/>
              </a:defRPr>
            </a:lvl5pPr>
            <a:lvl6pPr algn="ctr">
              <a:defRPr sz="3150" b="1">
                <a:solidFill>
                  <a:srgbClr val="167D77"/>
                </a:solidFill>
                <a:latin typeface="Times New Roman"/>
                <a:ea typeface="Times New Roman"/>
                <a:cs typeface="Times New Roman"/>
              </a:defRPr>
            </a:lvl6pPr>
            <a:lvl7pPr algn="ctr">
              <a:defRPr sz="3150" b="1">
                <a:solidFill>
                  <a:srgbClr val="167D77"/>
                </a:solidFill>
                <a:latin typeface="Times New Roman"/>
                <a:ea typeface="Times New Roman"/>
                <a:cs typeface="Times New Roman"/>
              </a:defRPr>
            </a:lvl7pPr>
            <a:lvl8pPr algn="ctr">
              <a:defRPr sz="3150" b="1">
                <a:solidFill>
                  <a:srgbClr val="167D77"/>
                </a:solidFill>
                <a:latin typeface="Times New Roman"/>
                <a:ea typeface="Times New Roman"/>
                <a:cs typeface="Times New Roman"/>
              </a:defRPr>
            </a:lvl8pPr>
            <a:lvl9pPr algn="ctr">
              <a:defRPr sz="3150" b="1">
                <a:solidFill>
                  <a:srgbClr val="167D77"/>
                </a:solidFill>
                <a:latin typeface="Times New Roman"/>
                <a:ea typeface="Times New Roman"/>
                <a:cs typeface="Times New Roman"/>
              </a:defRPr>
            </a:lvl9pPr>
          </a:lstStyle>
          <a:p xmlns:a="http://schemas.openxmlformats.org/drawingml/2006/main">
            <a:pPr algn="ctr">
              <a:defRPr sz="3150" b="1">
                <a:solidFill>
                  <a:srgbClr val="167D77"/>
                </a:solidFill>
                <a:latin typeface="Times New Roman"/>
                <a:ea typeface="Times New Roman"/>
                <a:cs typeface="Times New Roman"/>
              </a:defRPr>
            </a:pPr>
            <a:r>
              <a:rPr sz="3150" b="1">
                <a:solidFill>
                  <a:srgbClr val="167D77"/>
                </a:solidFill>
                <a:latin typeface="Times New Roman"/>
                <a:ea typeface="Times New Roman"/>
                <a:cs typeface="Times New Roman"/>
              </a:rPr>
              <a:t>GCU   GAA</a:t>
            </a:r>
          </a:p>
        </p:txBody>
      </p:sp>
      <p:sp>
        <p:nvSpPr>
          <p:cNvPr id="7" name="">
            <a:extLst xmlns:a="http://schemas.openxmlformats.org/drawingml/2006/main">
              <a:ext uri="{FF2B5EF4-FFF2-40B4-BE49-F238E27FC236}">
                <a16:creationId xmlns:a16="http://schemas.microsoft.com/office/drawing/2014/main" id="{9550AA51-E3EA-41E1-A272-8C479E76F3D0}"/>
              </a:ext>
            </a:extLst>
          </p:cNvPr>
          <p:cNvSpPr>
            <a:spLocks xmlns:a="http://schemas.openxmlformats.org/drawingml/2006/main" noGrp="1"/>
          </p:cNvSpPr>
          <p:nvPr/>
        </p:nvSpPr>
        <p:spPr>
          <a:xfrm xmlns:a="http://schemas.openxmlformats.org/drawingml/2006/main">
            <a:off x="571500" y="3857625"/>
            <a:ext cx="3095625" cy="74295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3150" b="1">
                <a:solidFill>
                  <a:srgbClr val="167D77"/>
                </a:solidFill>
                <a:latin typeface="Times New Roman"/>
                <a:ea typeface="Times New Roman"/>
                <a:cs typeface="Times New Roman"/>
              </a:defRPr>
            </a:defPPr>
            <a:lvl1pPr algn="ctr">
              <a:defRPr sz="3150" b="1">
                <a:solidFill>
                  <a:srgbClr val="167D77"/>
                </a:solidFill>
                <a:latin typeface="Times New Roman"/>
                <a:ea typeface="Times New Roman"/>
                <a:cs typeface="Times New Roman"/>
              </a:defRPr>
            </a:lvl1pPr>
            <a:lvl2pPr algn="ctr">
              <a:defRPr sz="3150" b="1">
                <a:solidFill>
                  <a:srgbClr val="167D77"/>
                </a:solidFill>
                <a:latin typeface="Times New Roman"/>
                <a:ea typeface="Times New Roman"/>
                <a:cs typeface="Times New Roman"/>
              </a:defRPr>
            </a:lvl2pPr>
            <a:lvl3pPr algn="ctr">
              <a:defRPr sz="3150" b="1">
                <a:solidFill>
                  <a:srgbClr val="167D77"/>
                </a:solidFill>
                <a:latin typeface="Times New Roman"/>
                <a:ea typeface="Times New Roman"/>
                <a:cs typeface="Times New Roman"/>
              </a:defRPr>
            </a:lvl3pPr>
            <a:lvl4pPr algn="ctr">
              <a:defRPr sz="3150" b="1">
                <a:solidFill>
                  <a:srgbClr val="167D77"/>
                </a:solidFill>
                <a:latin typeface="Times New Roman"/>
                <a:ea typeface="Times New Roman"/>
                <a:cs typeface="Times New Roman"/>
              </a:defRPr>
            </a:lvl4pPr>
            <a:lvl5pPr algn="ctr">
              <a:defRPr sz="3150" b="1">
                <a:solidFill>
                  <a:srgbClr val="167D77"/>
                </a:solidFill>
                <a:latin typeface="Times New Roman"/>
                <a:ea typeface="Times New Roman"/>
                <a:cs typeface="Times New Roman"/>
              </a:defRPr>
            </a:lvl5pPr>
            <a:lvl6pPr algn="ctr">
              <a:defRPr sz="3150" b="1">
                <a:solidFill>
                  <a:srgbClr val="167D77"/>
                </a:solidFill>
                <a:latin typeface="Times New Roman"/>
                <a:ea typeface="Times New Roman"/>
                <a:cs typeface="Times New Roman"/>
              </a:defRPr>
            </a:lvl6pPr>
            <a:lvl7pPr algn="ctr">
              <a:defRPr sz="3150" b="1">
                <a:solidFill>
                  <a:srgbClr val="167D77"/>
                </a:solidFill>
                <a:latin typeface="Times New Roman"/>
                <a:ea typeface="Times New Roman"/>
                <a:cs typeface="Times New Roman"/>
              </a:defRPr>
            </a:lvl7pPr>
            <a:lvl8pPr algn="ctr">
              <a:defRPr sz="3150" b="1">
                <a:solidFill>
                  <a:srgbClr val="167D77"/>
                </a:solidFill>
                <a:latin typeface="Times New Roman"/>
                <a:ea typeface="Times New Roman"/>
                <a:cs typeface="Times New Roman"/>
              </a:defRPr>
            </a:lvl8pPr>
            <a:lvl9pPr algn="ctr">
              <a:defRPr sz="3150" b="1">
                <a:solidFill>
                  <a:srgbClr val="167D77"/>
                </a:solidFill>
                <a:latin typeface="Times New Roman"/>
                <a:ea typeface="Times New Roman"/>
                <a:cs typeface="Times New Roman"/>
              </a:defRPr>
            </a:lvl9pPr>
          </a:lstStyle>
          <a:p xmlns:a="http://schemas.openxmlformats.org/drawingml/2006/main">
            <a:pPr algn="ctr">
              <a:defRPr sz="3150" b="1">
                <a:solidFill>
                  <a:srgbClr val="167D77"/>
                </a:solidFill>
                <a:latin typeface="Times New Roman"/>
                <a:ea typeface="Times New Roman"/>
                <a:cs typeface="Times New Roman"/>
              </a:defRPr>
            </a:pPr>
            <a:r>
              <a:rPr sz="3150" b="1">
                <a:solidFill>
                  <a:srgbClr val="167D77"/>
                </a:solidFill>
                <a:latin typeface="Times New Roman"/>
                <a:ea typeface="Times New Roman"/>
                <a:cs typeface="Times New Roman"/>
              </a:rPr>
              <a:t>GCC   GAG</a:t>
            </a:r>
          </a:p>
        </p:txBody>
      </p:sp>
      <p:sp>
        <p:nvSpPr>
          <p:cNvPr id="8" name="">
            <a:extLst xmlns:a="http://schemas.openxmlformats.org/drawingml/2006/main">
              <a:ext uri="{FF2B5EF4-FFF2-40B4-BE49-F238E27FC236}">
                <a16:creationId xmlns:a16="http://schemas.microsoft.com/office/drawing/2014/main" id="{EDD7545F-B684-496F-BB8E-1E7864D92E57}"/>
              </a:ext>
            </a:extLst>
          </p:cNvPr>
          <p:cNvSpPr>
            <a:spLocks xmlns:a="http://schemas.openxmlformats.org/drawingml/2006/main" noGrp="1"/>
          </p:cNvSpPr>
          <p:nvPr/>
        </p:nvSpPr>
        <p:spPr>
          <a:xfrm xmlns:a="http://schemas.openxmlformats.org/drawingml/2006/main">
            <a:off x="5191125" y="3257550"/>
            <a:ext cx="2476500" cy="857250"/>
          </a:xfrm>
          <a:prstGeom xmlns:a="http://schemas.openxmlformats.org/drawingml/2006/main" prst="rect">
            <a:avLst/>
          </a:prstGeom>
          <a:solidFill xmlns:a="http://schemas.openxmlformats.org/drawingml/2006/main">
            <a:srgbClr val="F0EAF5"/>
          </a:solidFill>
          <a:ln xmlns:a="http://schemas.openxmlformats.org/drawingml/2006/main" w="14288">
            <a:solidFill>
              <a:srgbClr val="815897"/>
            </a:solidFill>
          </a:ln>
        </p:spPr>
        <p:txBody>
          <a:bodyPr xmlns:a="http://schemas.openxmlformats.org/drawingml/2006/main" wrap="square" lIns="85725" tIns="85725" rIns="85725" bIns="85725" anchor="ctr">
            <a:noAutofit/>
          </a:bodyPr>
          <a:lstStyle xmlns:a="http://schemas.openxmlformats.org/drawingml/2006/main">
            <a:defPPr algn="ctr">
              <a:defRPr sz="2775" b="1">
                <a:solidFill>
                  <a:srgbClr val="815897"/>
                </a:solidFill>
                <a:latin typeface="Times New Roman"/>
                <a:ea typeface="Times New Roman"/>
                <a:cs typeface="Times New Roman"/>
              </a:defRPr>
            </a:defPPr>
            <a:lvl1pPr algn="ctr">
              <a:defRPr sz="2775" b="1">
                <a:solidFill>
                  <a:srgbClr val="815897"/>
                </a:solidFill>
                <a:latin typeface="Times New Roman"/>
                <a:ea typeface="Times New Roman"/>
                <a:cs typeface="Times New Roman"/>
              </a:defRPr>
            </a:lvl1pPr>
            <a:lvl2pPr algn="ctr">
              <a:defRPr sz="2775" b="1">
                <a:solidFill>
                  <a:srgbClr val="815897"/>
                </a:solidFill>
                <a:latin typeface="Times New Roman"/>
                <a:ea typeface="Times New Roman"/>
                <a:cs typeface="Times New Roman"/>
              </a:defRPr>
            </a:lvl2pPr>
            <a:lvl3pPr algn="ctr">
              <a:defRPr sz="2775" b="1">
                <a:solidFill>
                  <a:srgbClr val="815897"/>
                </a:solidFill>
                <a:latin typeface="Times New Roman"/>
                <a:ea typeface="Times New Roman"/>
                <a:cs typeface="Times New Roman"/>
              </a:defRPr>
            </a:lvl3pPr>
            <a:lvl4pPr algn="ctr">
              <a:defRPr sz="2775" b="1">
                <a:solidFill>
                  <a:srgbClr val="815897"/>
                </a:solidFill>
                <a:latin typeface="Times New Roman"/>
                <a:ea typeface="Times New Roman"/>
                <a:cs typeface="Times New Roman"/>
              </a:defRPr>
            </a:lvl4pPr>
            <a:lvl5pPr algn="ctr">
              <a:defRPr sz="2775" b="1">
                <a:solidFill>
                  <a:srgbClr val="815897"/>
                </a:solidFill>
                <a:latin typeface="Times New Roman"/>
                <a:ea typeface="Times New Roman"/>
                <a:cs typeface="Times New Roman"/>
              </a:defRPr>
            </a:lvl5pPr>
            <a:lvl6pPr algn="ctr">
              <a:defRPr sz="2775" b="1">
                <a:solidFill>
                  <a:srgbClr val="815897"/>
                </a:solidFill>
                <a:latin typeface="Times New Roman"/>
                <a:ea typeface="Times New Roman"/>
                <a:cs typeface="Times New Roman"/>
              </a:defRPr>
            </a:lvl6pPr>
            <a:lvl7pPr algn="ctr">
              <a:defRPr sz="2775" b="1">
                <a:solidFill>
                  <a:srgbClr val="815897"/>
                </a:solidFill>
                <a:latin typeface="Times New Roman"/>
                <a:ea typeface="Times New Roman"/>
                <a:cs typeface="Times New Roman"/>
              </a:defRPr>
            </a:lvl7pPr>
            <a:lvl8pPr algn="ctr">
              <a:defRPr sz="2775" b="1">
                <a:solidFill>
                  <a:srgbClr val="815897"/>
                </a:solidFill>
                <a:latin typeface="Times New Roman"/>
                <a:ea typeface="Times New Roman"/>
                <a:cs typeface="Times New Roman"/>
              </a:defRPr>
            </a:lvl8pPr>
            <a:lvl9pPr algn="ctr">
              <a:defRPr sz="2775" b="1">
                <a:solidFill>
                  <a:srgbClr val="815897"/>
                </a:solidFill>
                <a:latin typeface="Times New Roman"/>
                <a:ea typeface="Times New Roman"/>
                <a:cs typeface="Times New Roman"/>
              </a:defRPr>
            </a:lvl9pPr>
          </a:lstStyle>
          <a:p xmlns:a="http://schemas.openxmlformats.org/drawingml/2006/main">
            <a:pPr algn="ctr">
              <a:defRPr sz="2775" b="1">
                <a:solidFill>
                  <a:srgbClr val="815897"/>
                </a:solidFill>
                <a:latin typeface="Times New Roman"/>
                <a:ea typeface="Times New Roman"/>
                <a:cs typeface="Times New Roman"/>
              </a:defRPr>
            </a:pPr>
            <a:r>
              <a:rPr sz="2775" b="1">
                <a:solidFill>
                  <a:srgbClr val="815897"/>
                </a:solidFill>
                <a:latin typeface="Times New Roman"/>
                <a:ea typeface="Times New Roman"/>
                <a:cs typeface="Times New Roman"/>
              </a:rPr>
              <a:t>Ala – Glu</a:t>
            </a:r>
          </a:p>
        </p:txBody>
      </p:sp>
      <p:sp>
        <p:nvSpPr>
          <p:cNvPr id="11" name="">
            <a:extLst xmlns:a="http://schemas.openxmlformats.org/drawingml/2006/main">
              <a:ext uri="{FF2B5EF4-FFF2-40B4-BE49-F238E27FC236}">
                <a16:creationId xmlns:a16="http://schemas.microsoft.com/office/drawing/2014/main" id="{411A269A-384C-4DB7-93B0-7E96E3C01CB2}"/>
              </a:ext>
            </a:extLst>
          </p:cNvPr>
          <p:cNvSpPr>
            <a:spLocks xmlns:a="http://schemas.openxmlformats.org/drawingml/2006/main" noGrp="1"/>
          </p:cNvSpPr>
          <p:nvPr/>
        </p:nvSpPr>
        <p:spPr>
          <a:xfrm xmlns:a="http://schemas.openxmlformats.org/drawingml/2006/main">
            <a:off x="3810000" y="20955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815897"/>
                </a:solidFill>
                <a:latin typeface="Times New Roman"/>
                <a:ea typeface="Times New Roman"/>
                <a:cs typeface="Times New Roman"/>
              </a:defRPr>
            </a:defPPr>
            <a:lvl1pPr>
              <a:defRPr sz="2025">
                <a:solidFill>
                  <a:srgbClr val="815897"/>
                </a:solidFill>
                <a:latin typeface="Times New Roman"/>
                <a:ea typeface="Times New Roman"/>
                <a:cs typeface="Times New Roman"/>
              </a:defRPr>
            </a:lvl1pPr>
            <a:lvl2pPr>
              <a:defRPr sz="2025">
                <a:solidFill>
                  <a:srgbClr val="815897"/>
                </a:solidFill>
                <a:latin typeface="Times New Roman"/>
                <a:ea typeface="Times New Roman"/>
                <a:cs typeface="Times New Roman"/>
              </a:defRPr>
            </a:lvl2pPr>
            <a:lvl3pPr>
              <a:defRPr sz="2025">
                <a:solidFill>
                  <a:srgbClr val="815897"/>
                </a:solidFill>
                <a:latin typeface="Times New Roman"/>
                <a:ea typeface="Times New Roman"/>
                <a:cs typeface="Times New Roman"/>
              </a:defRPr>
            </a:lvl3pPr>
            <a:lvl4pPr>
              <a:defRPr sz="2025">
                <a:solidFill>
                  <a:srgbClr val="815897"/>
                </a:solidFill>
                <a:latin typeface="Times New Roman"/>
                <a:ea typeface="Times New Roman"/>
                <a:cs typeface="Times New Roman"/>
              </a:defRPr>
            </a:lvl4pPr>
            <a:lvl5pPr>
              <a:defRPr sz="2025">
                <a:solidFill>
                  <a:srgbClr val="815897"/>
                </a:solidFill>
                <a:latin typeface="Times New Roman"/>
                <a:ea typeface="Times New Roman"/>
                <a:cs typeface="Times New Roman"/>
              </a:defRPr>
            </a:lvl5pPr>
            <a:lvl6pPr>
              <a:defRPr sz="2025">
                <a:solidFill>
                  <a:srgbClr val="815897"/>
                </a:solidFill>
                <a:latin typeface="Times New Roman"/>
                <a:ea typeface="Times New Roman"/>
                <a:cs typeface="Times New Roman"/>
              </a:defRPr>
            </a:lvl6pPr>
            <a:lvl7pPr>
              <a:defRPr sz="2025">
                <a:solidFill>
                  <a:srgbClr val="815897"/>
                </a:solidFill>
                <a:latin typeface="Times New Roman"/>
                <a:ea typeface="Times New Roman"/>
                <a:cs typeface="Times New Roman"/>
              </a:defRPr>
            </a:lvl7pPr>
            <a:lvl8pPr>
              <a:defRPr sz="2025">
                <a:solidFill>
                  <a:srgbClr val="815897"/>
                </a:solidFill>
                <a:latin typeface="Times New Roman"/>
                <a:ea typeface="Times New Roman"/>
                <a:cs typeface="Times New Roman"/>
              </a:defRPr>
            </a:lvl8pPr>
            <a:lvl9pPr>
              <a:defRPr sz="2025">
                <a:solidFill>
                  <a:srgbClr val="815897"/>
                </a:solidFill>
                <a:latin typeface="Times New Roman"/>
                <a:ea typeface="Times New Roman"/>
                <a:cs typeface="Times New Roman"/>
              </a:defRPr>
            </a:lvl9pPr>
          </a:lstStyle>
          <a:p xmlns:a="http://schemas.openxmlformats.org/drawingml/2006/main">
            <a:pPr>
              <a:defRPr sz="2025">
                <a:solidFill>
                  <a:srgbClr val="815897"/>
                </a:solidFill>
                <a:latin typeface="Times New Roman"/>
                <a:ea typeface="Times New Roman"/>
                <a:cs typeface="Times New Roman"/>
              </a:defRPr>
            </a:pPr>
            <a:r>
              <a:rPr sz="2025">
                <a:solidFill>
                  <a:srgbClr val="815897"/>
                </a:solidFill>
                <a:latin typeface="Times New Roman"/>
                <a:ea typeface="Times New Roman"/>
                <a:cs typeface="Times New Roman"/>
              </a:rPr>
              <a:t>Translation</a:t>
            </a:r>
          </a:p>
        </p:txBody>
      </p:sp>
      <p:sp>
        <p:nvSpPr>
          <p:cNvPr id="12" name="">
            <a:extLst xmlns:a="http://schemas.openxmlformats.org/drawingml/2006/main">
              <a:ext uri="{FF2B5EF4-FFF2-40B4-BE49-F238E27FC236}">
                <a16:creationId xmlns:a16="http://schemas.microsoft.com/office/drawing/2014/main" id="{FAAF9C08-872F-4542-A3FB-62866BE8BCCB}"/>
              </a:ext>
            </a:extLst>
          </p:cNvPr>
          <p:cNvSpPr>
            <a:spLocks xmlns:a="http://schemas.openxmlformats.org/drawingml/2006/main" noGrp="1"/>
          </p:cNvSpPr>
          <p:nvPr/>
        </p:nvSpPr>
        <p:spPr>
          <a:xfrm xmlns:a="http://schemas.openxmlformats.org/drawingml/2006/main">
            <a:off x="5143500" y="43338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815897"/>
                </a:solidFill>
                <a:latin typeface="Times New Roman"/>
                <a:ea typeface="Times New Roman"/>
                <a:cs typeface="Times New Roman"/>
              </a:defRPr>
            </a:defPPr>
            <a:lvl1pPr>
              <a:defRPr sz="2100" b="1">
                <a:solidFill>
                  <a:srgbClr val="815897"/>
                </a:solidFill>
                <a:latin typeface="Times New Roman"/>
                <a:ea typeface="Times New Roman"/>
                <a:cs typeface="Times New Roman"/>
              </a:defRPr>
            </a:lvl1pPr>
            <a:lvl2pPr>
              <a:defRPr sz="2100" b="1">
                <a:solidFill>
                  <a:srgbClr val="815897"/>
                </a:solidFill>
                <a:latin typeface="Times New Roman"/>
                <a:ea typeface="Times New Roman"/>
                <a:cs typeface="Times New Roman"/>
              </a:defRPr>
            </a:lvl2pPr>
            <a:lvl3pPr>
              <a:defRPr sz="2100" b="1">
                <a:solidFill>
                  <a:srgbClr val="815897"/>
                </a:solidFill>
                <a:latin typeface="Times New Roman"/>
                <a:ea typeface="Times New Roman"/>
                <a:cs typeface="Times New Roman"/>
              </a:defRPr>
            </a:lvl3pPr>
            <a:lvl4pPr>
              <a:defRPr sz="2100" b="1">
                <a:solidFill>
                  <a:srgbClr val="815897"/>
                </a:solidFill>
                <a:latin typeface="Times New Roman"/>
                <a:ea typeface="Times New Roman"/>
                <a:cs typeface="Times New Roman"/>
              </a:defRPr>
            </a:lvl4pPr>
            <a:lvl5pPr>
              <a:defRPr sz="2100" b="1">
                <a:solidFill>
                  <a:srgbClr val="815897"/>
                </a:solidFill>
                <a:latin typeface="Times New Roman"/>
                <a:ea typeface="Times New Roman"/>
                <a:cs typeface="Times New Roman"/>
              </a:defRPr>
            </a:lvl5pPr>
            <a:lvl6pPr>
              <a:defRPr sz="2100" b="1">
                <a:solidFill>
                  <a:srgbClr val="815897"/>
                </a:solidFill>
                <a:latin typeface="Times New Roman"/>
                <a:ea typeface="Times New Roman"/>
                <a:cs typeface="Times New Roman"/>
              </a:defRPr>
            </a:lvl6pPr>
            <a:lvl7pPr>
              <a:defRPr sz="2100" b="1">
                <a:solidFill>
                  <a:srgbClr val="815897"/>
                </a:solidFill>
                <a:latin typeface="Times New Roman"/>
                <a:ea typeface="Times New Roman"/>
                <a:cs typeface="Times New Roman"/>
              </a:defRPr>
            </a:lvl7pPr>
            <a:lvl8pPr>
              <a:defRPr sz="2100" b="1">
                <a:solidFill>
                  <a:srgbClr val="815897"/>
                </a:solidFill>
                <a:latin typeface="Times New Roman"/>
                <a:ea typeface="Times New Roman"/>
                <a:cs typeface="Times New Roman"/>
              </a:defRPr>
            </a:lvl8pPr>
            <a:lvl9pPr>
              <a:defRPr sz="2100" b="1">
                <a:solidFill>
                  <a:srgbClr val="815897"/>
                </a:solidFill>
                <a:latin typeface="Times New Roman"/>
                <a:ea typeface="Times New Roman"/>
                <a:cs typeface="Times New Roman"/>
              </a:defRPr>
            </a:lvl9pPr>
          </a:lstStyle>
          <a:p xmlns:a="http://schemas.openxmlformats.org/drawingml/2006/main">
            <a:pPr>
              <a:defRPr sz="2100" b="1">
                <a:solidFill>
                  <a:srgbClr val="815897"/>
                </a:solidFill>
                <a:latin typeface="Times New Roman"/>
                <a:ea typeface="Times New Roman"/>
                <a:cs typeface="Times New Roman"/>
              </a:defRPr>
            </a:pPr>
            <a:r>
              <a:rPr sz="2100" b="1">
                <a:solidFill>
                  <a:srgbClr val="815897"/>
                </a:solidFill>
                <a:latin typeface="Times New Roman"/>
                <a:ea typeface="Times New Roman"/>
                <a:cs typeface="Times New Roman"/>
              </a:rPr>
              <a:t>Same amino acids</a:t>
            </a:r>
          </a:p>
        </p:txBody>
      </p:sp>
      <p:cxnSp>
        <p:nvCxnSpPr>
          <p:cNvPr id="13" name="">
            <a:extLst xmlns:a="http://schemas.openxmlformats.org/drawingml/2006/main">
              <a:ext uri="{FF2B5EF4-FFF2-40B4-BE49-F238E27FC236}">
                <a16:creationId xmlns:a16="http://schemas.microsoft.com/office/drawing/2014/main" id="{5DC291D4-11B1-4EE8-BCF5-2F7B470F0E19}"/>
              </a:ext>
            </a:extLst>
          </p:cNvPr>
          <p:cNvCxnSpPr/>
          <p:nvPr/>
        </p:nvCxnSpPr>
        <p:spPr>
          <a:xfrm xmlns:a="http://schemas.openxmlformats.org/drawingml/2006/main">
            <a:off x="8096250" y="2000250"/>
            <a:ext cx="0" cy="3476625"/>
          </a:xfrm>
          <a:prstGeom xmlns:a="http://schemas.openxmlformats.org/drawingml/2006/main" prst="straightConnector1">
            <a:avLst/>
          </a:prstGeom>
          <a:ln xmlns:a="http://schemas.openxmlformats.org/drawingml/2006/main" w="11430">
            <a:solidFill>
              <a:srgbClr val="D7E0E5"/>
            </a:solidFill>
            <a:prstDash val="solid"/>
          </a:ln>
        </p:spPr>
      </p:cxnSp>
      <p:sp>
        <p:nvSpPr>
          <p:cNvPr id="14" name="">
            <a:extLst xmlns:a="http://schemas.openxmlformats.org/drawingml/2006/main">
              <a:ext uri="{FF2B5EF4-FFF2-40B4-BE49-F238E27FC236}">
                <a16:creationId xmlns:a16="http://schemas.microsoft.com/office/drawing/2014/main" id="{B021E910-774A-4C30-901A-95F6649D1130}"/>
              </a:ext>
            </a:extLst>
          </p:cNvPr>
          <p:cNvSpPr>
            <a:spLocks xmlns:a="http://schemas.openxmlformats.org/drawingml/2006/main" noGrp="1"/>
          </p:cNvSpPr>
          <p:nvPr/>
        </p:nvSpPr>
        <p:spPr>
          <a:xfrm xmlns:a="http://schemas.openxmlformats.org/drawingml/2006/main">
            <a:off x="8572500" y="209550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324B"/>
                </a:solidFill>
                <a:latin typeface="Times New Roman"/>
                <a:ea typeface="Times New Roman"/>
                <a:cs typeface="Times New Roman"/>
              </a:defRPr>
            </a:defPPr>
            <a:lvl1pPr>
              <a:defRPr sz="2325" b="1">
                <a:solidFill>
                  <a:srgbClr val="14324B"/>
                </a:solidFill>
                <a:latin typeface="Times New Roman"/>
                <a:ea typeface="Times New Roman"/>
                <a:cs typeface="Times New Roman"/>
              </a:defRPr>
            </a:lvl1pPr>
            <a:lvl2pPr>
              <a:defRPr sz="2325" b="1">
                <a:solidFill>
                  <a:srgbClr val="14324B"/>
                </a:solidFill>
                <a:latin typeface="Times New Roman"/>
                <a:ea typeface="Times New Roman"/>
                <a:cs typeface="Times New Roman"/>
              </a:defRPr>
            </a:lvl2pPr>
            <a:lvl3pPr>
              <a:defRPr sz="2325" b="1">
                <a:solidFill>
                  <a:srgbClr val="14324B"/>
                </a:solidFill>
                <a:latin typeface="Times New Roman"/>
                <a:ea typeface="Times New Roman"/>
                <a:cs typeface="Times New Roman"/>
              </a:defRPr>
            </a:lvl3pPr>
            <a:lvl4pPr>
              <a:defRPr sz="2325" b="1">
                <a:solidFill>
                  <a:srgbClr val="14324B"/>
                </a:solidFill>
                <a:latin typeface="Times New Roman"/>
                <a:ea typeface="Times New Roman"/>
                <a:cs typeface="Times New Roman"/>
              </a:defRPr>
            </a:lvl4pPr>
            <a:lvl5pPr>
              <a:defRPr sz="2325" b="1">
                <a:solidFill>
                  <a:srgbClr val="14324B"/>
                </a:solidFill>
                <a:latin typeface="Times New Roman"/>
                <a:ea typeface="Times New Roman"/>
                <a:cs typeface="Times New Roman"/>
              </a:defRPr>
            </a:lvl5pPr>
            <a:lvl6pPr>
              <a:defRPr sz="2325" b="1">
                <a:solidFill>
                  <a:srgbClr val="14324B"/>
                </a:solidFill>
                <a:latin typeface="Times New Roman"/>
                <a:ea typeface="Times New Roman"/>
                <a:cs typeface="Times New Roman"/>
              </a:defRPr>
            </a:lvl6pPr>
            <a:lvl7pPr>
              <a:defRPr sz="2325" b="1">
                <a:solidFill>
                  <a:srgbClr val="14324B"/>
                </a:solidFill>
                <a:latin typeface="Times New Roman"/>
                <a:ea typeface="Times New Roman"/>
                <a:cs typeface="Times New Roman"/>
              </a:defRPr>
            </a:lvl7pPr>
            <a:lvl8pPr>
              <a:defRPr sz="2325" b="1">
                <a:solidFill>
                  <a:srgbClr val="14324B"/>
                </a:solidFill>
                <a:latin typeface="Times New Roman"/>
                <a:ea typeface="Times New Roman"/>
                <a:cs typeface="Times New Roman"/>
              </a:defRPr>
            </a:lvl8pPr>
            <a:lvl9pPr>
              <a:defRPr sz="2325" b="1">
                <a:solidFill>
                  <a:srgbClr val="14324B"/>
                </a:solidFill>
                <a:latin typeface="Times New Roman"/>
                <a:ea typeface="Times New Roman"/>
                <a:cs typeface="Times New Roman"/>
              </a:defRPr>
            </a:lvl9pPr>
          </a:lstStyle>
          <a:p xmlns:a="http://schemas.openxmlformats.org/drawingml/2006/main">
            <a:pPr>
              <a:defRPr sz="2325" b="1">
                <a:solidFill>
                  <a:srgbClr val="14324B"/>
                </a:solidFill>
                <a:latin typeface="Times New Roman"/>
                <a:ea typeface="Times New Roman"/>
                <a:cs typeface="Times New Roman"/>
              </a:defRPr>
            </a:pPr>
            <a:r>
              <a:rPr sz="2325" b="1">
                <a:solidFill>
                  <a:srgbClr val="14324B"/>
                </a:solidFill>
                <a:latin typeface="Times New Roman"/>
                <a:ea typeface="Times New Roman"/>
                <a:cs typeface="Times New Roman"/>
              </a:rPr>
              <a:t>What is measured?</a:t>
            </a:r>
          </a:p>
        </p:txBody>
      </p:sp>
      <p:sp>
        <p:nvSpPr>
          <p:cNvPr id="15" name="">
            <a:extLst xmlns:a="http://schemas.openxmlformats.org/drawingml/2006/main">
              <a:ext uri="{FF2B5EF4-FFF2-40B4-BE49-F238E27FC236}">
                <a16:creationId xmlns:a16="http://schemas.microsoft.com/office/drawing/2014/main" id="{A4589A10-8D66-408E-8AA0-3997BED424DC}"/>
              </a:ext>
            </a:extLst>
          </p:cNvPr>
          <p:cNvSpPr>
            <a:spLocks xmlns:a="http://schemas.openxmlformats.org/drawingml/2006/main" noGrp="1"/>
          </p:cNvSpPr>
          <p:nvPr/>
        </p:nvSpPr>
        <p:spPr>
          <a:xfrm xmlns:a="http://schemas.openxmlformats.org/drawingml/2006/main">
            <a:off x="8572500" y="280987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4324B"/>
                </a:solidFill>
                <a:latin typeface="Times New Roman"/>
                <a:ea typeface="Times New Roman"/>
                <a:cs typeface="Times New Roman"/>
              </a:defRPr>
            </a:defPPr>
            <a:lvl1pPr>
              <a:defRPr sz="2325">
                <a:solidFill>
                  <a:srgbClr val="14324B"/>
                </a:solidFill>
                <a:latin typeface="Times New Roman"/>
                <a:ea typeface="Times New Roman"/>
                <a:cs typeface="Times New Roman"/>
              </a:defRPr>
            </a:lvl1pPr>
            <a:lvl2pPr>
              <a:defRPr sz="2325">
                <a:solidFill>
                  <a:srgbClr val="14324B"/>
                </a:solidFill>
                <a:latin typeface="Times New Roman"/>
                <a:ea typeface="Times New Roman"/>
                <a:cs typeface="Times New Roman"/>
              </a:defRPr>
            </a:lvl2pPr>
            <a:lvl3pPr>
              <a:defRPr sz="2325">
                <a:solidFill>
                  <a:srgbClr val="14324B"/>
                </a:solidFill>
                <a:latin typeface="Times New Roman"/>
                <a:ea typeface="Times New Roman"/>
                <a:cs typeface="Times New Roman"/>
              </a:defRPr>
            </a:lvl3pPr>
            <a:lvl4pPr>
              <a:defRPr sz="2325">
                <a:solidFill>
                  <a:srgbClr val="14324B"/>
                </a:solidFill>
                <a:latin typeface="Times New Roman"/>
                <a:ea typeface="Times New Roman"/>
                <a:cs typeface="Times New Roman"/>
              </a:defRPr>
            </a:lvl4pPr>
            <a:lvl5pPr>
              <a:defRPr sz="2325">
                <a:solidFill>
                  <a:srgbClr val="14324B"/>
                </a:solidFill>
                <a:latin typeface="Times New Roman"/>
                <a:ea typeface="Times New Roman"/>
                <a:cs typeface="Times New Roman"/>
              </a:defRPr>
            </a:lvl5pPr>
            <a:lvl6pPr>
              <a:defRPr sz="2325">
                <a:solidFill>
                  <a:srgbClr val="14324B"/>
                </a:solidFill>
                <a:latin typeface="Times New Roman"/>
                <a:ea typeface="Times New Roman"/>
                <a:cs typeface="Times New Roman"/>
              </a:defRPr>
            </a:lvl6pPr>
            <a:lvl7pPr>
              <a:defRPr sz="2325">
                <a:solidFill>
                  <a:srgbClr val="14324B"/>
                </a:solidFill>
                <a:latin typeface="Times New Roman"/>
                <a:ea typeface="Times New Roman"/>
                <a:cs typeface="Times New Roman"/>
              </a:defRPr>
            </a:lvl7pPr>
            <a:lvl8pPr>
              <a:defRPr sz="2325">
                <a:solidFill>
                  <a:srgbClr val="14324B"/>
                </a:solidFill>
                <a:latin typeface="Times New Roman"/>
                <a:ea typeface="Times New Roman"/>
                <a:cs typeface="Times New Roman"/>
              </a:defRPr>
            </a:lvl8pPr>
            <a:lvl9pPr>
              <a:defRPr sz="2325">
                <a:solidFill>
                  <a:srgbClr val="14324B"/>
                </a:solidFill>
                <a:latin typeface="Times New Roman"/>
                <a:ea typeface="Times New Roman"/>
                <a:cs typeface="Times New Roman"/>
              </a:defRPr>
            </a:lvl9pPr>
          </a:lstStyle>
          <a:p xmlns:a="http://schemas.openxmlformats.org/drawingml/2006/main">
            <a:pPr>
              <a:defRPr sz="2325">
                <a:solidFill>
                  <a:srgbClr val="14324B"/>
                </a:solidFill>
                <a:latin typeface="Times New Roman"/>
                <a:ea typeface="Times New Roman"/>
                <a:cs typeface="Times New Roman"/>
              </a:defRPr>
            </a:pPr>
            <a:r>
              <a:rPr sz="2325">
                <a:solidFill>
                  <a:srgbClr val="14324B"/>
                </a:solidFill>
                <a:latin typeface="Times New Roman"/>
                <a:ea typeface="Times New Roman"/>
                <a:cs typeface="Times New Roman"/>
              </a:rPr>
              <a:t>Expression differs among the reporter variants.</a:t>
            </a:r>
          </a:p>
        </p:txBody>
      </p:sp>
      <p:sp>
        <p:nvSpPr>
          <p:cNvPr id="16" name="">
            <a:extLst xmlns:a="http://schemas.openxmlformats.org/drawingml/2006/main">
              <a:ext uri="{FF2B5EF4-FFF2-40B4-BE49-F238E27FC236}">
                <a16:creationId xmlns:a16="http://schemas.microsoft.com/office/drawing/2014/main" id="{34D76F2A-EF50-411C-B0D5-5E1D6549DF8D}"/>
              </a:ext>
            </a:extLst>
          </p:cNvPr>
          <p:cNvSpPr>
            <a:spLocks xmlns:a="http://schemas.openxmlformats.org/drawingml/2006/main" noGrp="1"/>
          </p:cNvSpPr>
          <p:nvPr/>
        </p:nvSpPr>
        <p:spPr>
          <a:xfrm xmlns:a="http://schemas.openxmlformats.org/drawingml/2006/main">
            <a:off x="8572500" y="41719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B3683D"/>
                </a:solidFill>
                <a:latin typeface="Times New Roman"/>
                <a:ea typeface="Times New Roman"/>
                <a:cs typeface="Times New Roman"/>
              </a:defRPr>
            </a:defPPr>
            <a:lvl1pPr>
              <a:defRPr sz="2025">
                <a:solidFill>
                  <a:srgbClr val="B3683D"/>
                </a:solidFill>
                <a:latin typeface="Times New Roman"/>
                <a:ea typeface="Times New Roman"/>
                <a:cs typeface="Times New Roman"/>
              </a:defRPr>
            </a:lvl1pPr>
            <a:lvl2pPr>
              <a:defRPr sz="2025">
                <a:solidFill>
                  <a:srgbClr val="B3683D"/>
                </a:solidFill>
                <a:latin typeface="Times New Roman"/>
                <a:ea typeface="Times New Roman"/>
                <a:cs typeface="Times New Roman"/>
              </a:defRPr>
            </a:lvl2pPr>
            <a:lvl3pPr>
              <a:defRPr sz="2025">
                <a:solidFill>
                  <a:srgbClr val="B3683D"/>
                </a:solidFill>
                <a:latin typeface="Times New Roman"/>
                <a:ea typeface="Times New Roman"/>
                <a:cs typeface="Times New Roman"/>
              </a:defRPr>
            </a:lvl3pPr>
            <a:lvl4pPr>
              <a:defRPr sz="2025">
                <a:solidFill>
                  <a:srgbClr val="B3683D"/>
                </a:solidFill>
                <a:latin typeface="Times New Roman"/>
                <a:ea typeface="Times New Roman"/>
                <a:cs typeface="Times New Roman"/>
              </a:defRPr>
            </a:lvl4pPr>
            <a:lvl5pPr>
              <a:defRPr sz="2025">
                <a:solidFill>
                  <a:srgbClr val="B3683D"/>
                </a:solidFill>
                <a:latin typeface="Times New Roman"/>
                <a:ea typeface="Times New Roman"/>
                <a:cs typeface="Times New Roman"/>
              </a:defRPr>
            </a:lvl5pPr>
            <a:lvl6pPr>
              <a:defRPr sz="2025">
                <a:solidFill>
                  <a:srgbClr val="B3683D"/>
                </a:solidFill>
                <a:latin typeface="Times New Roman"/>
                <a:ea typeface="Times New Roman"/>
                <a:cs typeface="Times New Roman"/>
              </a:defRPr>
            </a:lvl6pPr>
            <a:lvl7pPr>
              <a:defRPr sz="2025">
                <a:solidFill>
                  <a:srgbClr val="B3683D"/>
                </a:solidFill>
                <a:latin typeface="Times New Roman"/>
                <a:ea typeface="Times New Roman"/>
                <a:cs typeface="Times New Roman"/>
              </a:defRPr>
            </a:lvl7pPr>
            <a:lvl8pPr>
              <a:defRPr sz="2025">
                <a:solidFill>
                  <a:srgbClr val="B3683D"/>
                </a:solidFill>
                <a:latin typeface="Times New Roman"/>
                <a:ea typeface="Times New Roman"/>
                <a:cs typeface="Times New Roman"/>
              </a:defRPr>
            </a:lvl8pPr>
            <a:lvl9pPr>
              <a:defRPr sz="2025">
                <a:solidFill>
                  <a:srgbClr val="B3683D"/>
                </a:solidFill>
                <a:latin typeface="Times New Roman"/>
                <a:ea typeface="Times New Roman"/>
                <a:cs typeface="Times New Roman"/>
              </a:defRPr>
            </a:lvl9pPr>
          </a:lstStyle>
          <a:p xmlns:a="http://schemas.openxmlformats.org/drawingml/2006/main">
            <a:pPr>
              <a:defRPr sz="2025">
                <a:solidFill>
                  <a:srgbClr val="B3683D"/>
                </a:solidFill>
                <a:latin typeface="Times New Roman"/>
                <a:ea typeface="Times New Roman"/>
                <a:cs typeface="Times New Roman"/>
              </a:defRPr>
            </a:pPr>
            <a:r>
              <a:rPr sz="2025">
                <a:solidFill>
                  <a:srgbClr val="B3683D"/>
                </a:solidFill>
                <a:latin typeface="Times New Roman"/>
                <a:ea typeface="Times New Roman"/>
                <a:cs typeface="Times New Roman"/>
              </a:rPr>
              <a:t>Fluorescence provides a readout of protein production.</a:t>
            </a:r>
          </a:p>
        </p:txBody>
      </p:sp>
      <p:sp>
        <p:nvSpPr>
          <p:cNvPr id="17" name="">
            <a:extLst xmlns:a="http://schemas.openxmlformats.org/drawingml/2006/main">
              <a:ext uri="{FF2B5EF4-FFF2-40B4-BE49-F238E27FC236}">
                <a16:creationId xmlns:a16="http://schemas.microsoft.com/office/drawing/2014/main" id="{6D3B2C67-CEFA-4501-A7C0-E5A6F2795A57}"/>
              </a:ext>
            </a:extLst>
          </p:cNvPr>
          <p:cNvSpPr>
            <a:spLocks xmlns:a="http://schemas.openxmlformats.org/drawingml/2006/main" noGrp="1"/>
          </p:cNvSpPr>
          <p:nvPr/>
        </p:nvSpPr>
        <p:spPr>
          <a:xfrm xmlns:a="http://schemas.openxmlformats.org/drawingml/2006/main">
            <a:off x="571500" y="54768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4324B"/>
                </a:solidFill>
                <a:latin typeface="Times New Roman"/>
                <a:ea typeface="Times New Roman"/>
                <a:cs typeface="Times New Roman"/>
              </a:defRPr>
            </a:defPPr>
            <a:lvl1pPr>
              <a:defRPr sz="2100">
                <a:solidFill>
                  <a:srgbClr val="14324B"/>
                </a:solidFill>
                <a:latin typeface="Times New Roman"/>
                <a:ea typeface="Times New Roman"/>
                <a:cs typeface="Times New Roman"/>
              </a:defRPr>
            </a:lvl1pPr>
            <a:lvl2pPr>
              <a:defRPr sz="2100">
                <a:solidFill>
                  <a:srgbClr val="14324B"/>
                </a:solidFill>
                <a:latin typeface="Times New Roman"/>
                <a:ea typeface="Times New Roman"/>
                <a:cs typeface="Times New Roman"/>
              </a:defRPr>
            </a:lvl2pPr>
            <a:lvl3pPr>
              <a:defRPr sz="2100">
                <a:solidFill>
                  <a:srgbClr val="14324B"/>
                </a:solidFill>
                <a:latin typeface="Times New Roman"/>
                <a:ea typeface="Times New Roman"/>
                <a:cs typeface="Times New Roman"/>
              </a:defRPr>
            </a:lvl3pPr>
            <a:lvl4pPr>
              <a:defRPr sz="2100">
                <a:solidFill>
                  <a:srgbClr val="14324B"/>
                </a:solidFill>
                <a:latin typeface="Times New Roman"/>
                <a:ea typeface="Times New Roman"/>
                <a:cs typeface="Times New Roman"/>
              </a:defRPr>
            </a:lvl4pPr>
            <a:lvl5pPr>
              <a:defRPr sz="2100">
                <a:solidFill>
                  <a:srgbClr val="14324B"/>
                </a:solidFill>
                <a:latin typeface="Times New Roman"/>
                <a:ea typeface="Times New Roman"/>
                <a:cs typeface="Times New Roman"/>
              </a:defRPr>
            </a:lvl5pPr>
            <a:lvl6pPr>
              <a:defRPr sz="2100">
                <a:solidFill>
                  <a:srgbClr val="14324B"/>
                </a:solidFill>
                <a:latin typeface="Times New Roman"/>
                <a:ea typeface="Times New Roman"/>
                <a:cs typeface="Times New Roman"/>
              </a:defRPr>
            </a:lvl6pPr>
            <a:lvl7pPr>
              <a:defRPr sz="2100">
                <a:solidFill>
                  <a:srgbClr val="14324B"/>
                </a:solidFill>
                <a:latin typeface="Times New Roman"/>
                <a:ea typeface="Times New Roman"/>
                <a:cs typeface="Times New Roman"/>
              </a:defRPr>
            </a:lvl7pPr>
            <a:lvl8pPr>
              <a:defRPr sz="2100">
                <a:solidFill>
                  <a:srgbClr val="14324B"/>
                </a:solidFill>
                <a:latin typeface="Times New Roman"/>
                <a:ea typeface="Times New Roman"/>
                <a:cs typeface="Times New Roman"/>
              </a:defRPr>
            </a:lvl8pPr>
            <a:lvl9pPr>
              <a:defRPr sz="2100">
                <a:solidFill>
                  <a:srgbClr val="14324B"/>
                </a:solidFill>
                <a:latin typeface="Times New Roman"/>
                <a:ea typeface="Times New Roman"/>
                <a:cs typeface="Times New Roman"/>
              </a:defRPr>
            </a:lvl9pPr>
          </a:lstStyle>
          <a:p xmlns:a="http://schemas.openxmlformats.org/drawingml/2006/main">
            <a:pPr>
              <a:defRPr sz="2100">
                <a:solidFill>
                  <a:srgbClr val="14324B"/>
                </a:solidFill>
                <a:latin typeface="Times New Roman"/>
                <a:ea typeface="Times New Roman"/>
                <a:cs typeface="Times New Roman"/>
              </a:defRPr>
            </a:pPr>
            <a:r>
              <a:rPr sz="2100">
                <a:solidFill>
                  <a:srgbClr val="14324B"/>
                </a:solidFill>
                <a:latin typeface="Times New Roman"/>
                <a:ea typeface="Times New Roman"/>
                <a:cs typeface="Times New Roman"/>
              </a:rPr>
              <a:t>Nucleotide encoders can distinguish variants. The protein encoder receives identical input.</a:t>
            </a:r>
          </a:p>
        </p:txBody>
      </p:sp>
      <p:sp>
        <p:nvSpPr>
          <p:cNvPr id="18" name="">
            <a:extLst xmlns:a="http://schemas.openxmlformats.org/drawingml/2006/main">
              <a:ext uri="{FF2B5EF4-FFF2-40B4-BE49-F238E27FC236}">
                <a16:creationId xmlns:a16="http://schemas.microsoft.com/office/drawing/2014/main" id="{D275132F-D068-431A-8F26-4C1AAB664AC4}"/>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Codon fragments are illustrative, not extracted mRFP sequences. Analysis reuses 1,000 sampled rows (997 distinct) from 1,459 supplied.</a:t>
            </a:r>
          </a:p>
        </p:txBody>
      </p:sp>
    </p:spTree>
    <p:extLst>
      <p:ext uri="{BB962C8B-B14F-4D97-AF65-F5344CB8AC3E}">
        <p14:creationId xmlns:p14="http://schemas.microsoft.com/office/powerpoint/2010/main" val="10195898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76FD47EE-8618-468F-908A-5C7BA61BD108}"/>
              </a:ext>
            </a:extLst>
          </p:cNvPr>
          <p:cNvCxnSpPr>
            <a:stCxn xmlns:a="http://schemas.openxmlformats.org/drawingml/2006/main" id="17" idx="3"/>
            <a:endCxn xmlns:a="http://schemas.openxmlformats.org/drawingml/2006/main" id="8" idx="2"/>
          </p:cNvCxnSpPr>
          <p:nvPr/>
        </p:nvCxnSpPr>
        <p:spPr>
          <a:xfrm xmlns:a="http://schemas.openxmlformats.org/drawingml/2006/main" flipV="1">
            <a:off x="3762375" y="3667125"/>
            <a:ext cx="5524500" cy="1452563"/>
          </a:xfrm>
          <a:prstGeom xmlns:a="http://schemas.openxmlformats.org/drawingml/2006/main" prst="bentConnector5">
            <a:avLst>
              <a:gd name="adj1" fmla="val 4138"/>
              <a:gd name="adj2" fmla="val 50820"/>
              <a:gd name="adj3" fmla="val 70345"/>
            </a:avLst>
          </a:prstGeom>
          <a:ln xmlns:a="http://schemas.openxmlformats.org/drawingml/2006/main" w="21908">
            <a:solidFill>
              <a:srgbClr val="B3683D"/>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460B9277-5169-41B5-942E-2E1AA342AF8A}"/>
              </a:ext>
            </a:extLst>
          </p:cNvPr>
          <p:cNvCxnSpPr>
            <a:stCxn xmlns:a="http://schemas.openxmlformats.org/drawingml/2006/main" id="8" idx="3"/>
            <a:endCxn xmlns:a="http://schemas.openxmlformats.org/drawingml/2006/main" id="9" idx="1"/>
          </p:cNvCxnSpPr>
          <p:nvPr/>
        </p:nvCxnSpPr>
        <p:spPr>
          <a:xfrm xmlns:a="http://schemas.openxmlformats.org/drawingml/2006/main">
            <a:off x="10144125" y="3190875"/>
            <a:ext cx="333375"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B0705DA2-E2A9-475F-A1EC-A329E57AAD9D}"/>
              </a:ext>
            </a:extLst>
          </p:cNvPr>
          <p:cNvCxnSpPr>
            <a:stCxn xmlns:a="http://schemas.openxmlformats.org/drawingml/2006/main" id="7" idx="3"/>
            <a:endCxn xmlns:a="http://schemas.openxmlformats.org/drawingml/2006/main" id="8" idx="1"/>
          </p:cNvCxnSpPr>
          <p:nvPr/>
        </p:nvCxnSpPr>
        <p:spPr>
          <a:xfrm xmlns:a="http://schemas.openxmlformats.org/drawingml/2006/main">
            <a:off x="7762875" y="3190875"/>
            <a:ext cx="666750"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9A9294D7-C8D7-4240-9174-ECC0A7AF4A4D}"/>
              </a:ext>
            </a:extLst>
          </p:cNvPr>
          <p:cNvCxnSpPr>
            <a:stCxn xmlns:a="http://schemas.openxmlformats.org/drawingml/2006/main" id="6" idx="3"/>
            <a:endCxn xmlns:a="http://schemas.openxmlformats.org/drawingml/2006/main" id="7" idx="1"/>
          </p:cNvCxnSpPr>
          <p:nvPr/>
        </p:nvCxnSpPr>
        <p:spPr>
          <a:xfrm xmlns:a="http://schemas.openxmlformats.org/drawingml/2006/main">
            <a:off x="5191125" y="3190875"/>
            <a:ext cx="666750"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4E771E46-B68E-4732-84C4-BF804E1861F0}"/>
              </a:ext>
            </a:extLst>
          </p:cNvPr>
          <p:cNvCxnSpPr>
            <a:stCxn xmlns:a="http://schemas.openxmlformats.org/drawingml/2006/main" id="5" idx="3"/>
            <a:endCxn xmlns:a="http://schemas.openxmlformats.org/drawingml/2006/main" id="6" idx="1"/>
          </p:cNvCxnSpPr>
          <p:nvPr/>
        </p:nvCxnSpPr>
        <p:spPr>
          <a:xfrm xmlns:a="http://schemas.openxmlformats.org/drawingml/2006/main">
            <a:off x="2428875" y="3190875"/>
            <a:ext cx="714375"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sp>
        <p:nvSpPr>
          <p:cNvPr id="20" name="">
            <a:extLst xmlns:a="http://schemas.openxmlformats.org/drawingml/2006/main">
              <a:ext uri="{FF2B5EF4-FFF2-40B4-BE49-F238E27FC236}">
                <a16:creationId xmlns:a16="http://schemas.microsoft.com/office/drawing/2014/main" id="{9313E2A8-F889-4A0E-AE20-99FDF0DA489D}"/>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7BBA35-365C-4A10-9147-D2A282F140BC}"/>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An embedding becomes useful through a fitted predictor</a:t>
            </a:r>
          </a:p>
        </p:txBody>
      </p:sp>
      <p:sp>
        <p:nvSpPr>
          <p:cNvPr id="3" name="">
            <a:extLst xmlns:a="http://schemas.openxmlformats.org/drawingml/2006/main">
              <a:ext uri="{FF2B5EF4-FFF2-40B4-BE49-F238E27FC236}">
                <a16:creationId xmlns:a16="http://schemas.microsoft.com/office/drawing/2014/main" id="{EFDF697D-E53C-4522-A4A4-8A12A4B4404A}"/>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The mRFP analysis reuses pooled vectors saved in Stage 1.</a:t>
            </a:r>
          </a:p>
        </p:txBody>
      </p:sp>
      <p:sp>
        <p:nvSpPr>
          <p:cNvPr id="4" name="">
            <a:extLst xmlns:a="http://schemas.openxmlformats.org/drawingml/2006/main">
              <a:ext uri="{FF2B5EF4-FFF2-40B4-BE49-F238E27FC236}">
                <a16:creationId xmlns:a16="http://schemas.microsoft.com/office/drawing/2014/main" id="{4BC9F87B-8757-4BAF-B9D0-FD9D4392CB12}"/>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3</a:t>
            </a:r>
          </a:p>
        </p:txBody>
      </p:sp>
      <p:sp>
        <p:nvSpPr>
          <p:cNvPr id="5" name="">
            <a:extLst xmlns:a="http://schemas.openxmlformats.org/drawingml/2006/main">
              <a:ext uri="{FF2B5EF4-FFF2-40B4-BE49-F238E27FC236}">
                <a16:creationId xmlns:a16="http://schemas.microsoft.com/office/drawing/2014/main" id="{66299B9F-3056-4C2C-942C-8815F7F25D50}"/>
              </a:ext>
            </a:extLst>
          </p:cNvPr>
          <p:cNvSpPr>
            <a:spLocks xmlns:a="http://schemas.openxmlformats.org/drawingml/2006/main" noGrp="1"/>
          </p:cNvSpPr>
          <p:nvPr/>
        </p:nvSpPr>
        <p:spPr>
          <a:xfrm xmlns:a="http://schemas.openxmlformats.org/drawingml/2006/main">
            <a:off x="428625" y="2714625"/>
            <a:ext cx="2000250" cy="95250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175" b="1">
                <a:solidFill>
                  <a:srgbClr val="167D77"/>
                </a:solidFill>
                <a:latin typeface="Times New Roman"/>
                <a:ea typeface="Times New Roman"/>
                <a:cs typeface="Times New Roman"/>
              </a:defRPr>
            </a:defPPr>
            <a:lvl1pPr algn="ctr">
              <a:defRPr sz="2175" b="1">
                <a:solidFill>
                  <a:srgbClr val="167D77"/>
                </a:solidFill>
                <a:latin typeface="Times New Roman"/>
                <a:ea typeface="Times New Roman"/>
                <a:cs typeface="Times New Roman"/>
              </a:defRPr>
            </a:lvl1pPr>
            <a:lvl2pPr algn="ctr">
              <a:defRPr sz="2175" b="1">
                <a:solidFill>
                  <a:srgbClr val="167D77"/>
                </a:solidFill>
                <a:latin typeface="Times New Roman"/>
                <a:ea typeface="Times New Roman"/>
                <a:cs typeface="Times New Roman"/>
              </a:defRPr>
            </a:lvl2pPr>
            <a:lvl3pPr algn="ctr">
              <a:defRPr sz="2175" b="1">
                <a:solidFill>
                  <a:srgbClr val="167D77"/>
                </a:solidFill>
                <a:latin typeface="Times New Roman"/>
                <a:ea typeface="Times New Roman"/>
                <a:cs typeface="Times New Roman"/>
              </a:defRPr>
            </a:lvl3pPr>
            <a:lvl4pPr algn="ctr">
              <a:defRPr sz="2175" b="1">
                <a:solidFill>
                  <a:srgbClr val="167D77"/>
                </a:solidFill>
                <a:latin typeface="Times New Roman"/>
                <a:ea typeface="Times New Roman"/>
                <a:cs typeface="Times New Roman"/>
              </a:defRPr>
            </a:lvl4pPr>
            <a:lvl5pPr algn="ctr">
              <a:defRPr sz="2175" b="1">
                <a:solidFill>
                  <a:srgbClr val="167D77"/>
                </a:solidFill>
                <a:latin typeface="Times New Roman"/>
                <a:ea typeface="Times New Roman"/>
                <a:cs typeface="Times New Roman"/>
              </a:defRPr>
            </a:lvl5pPr>
            <a:lvl6pPr algn="ctr">
              <a:defRPr sz="2175" b="1">
                <a:solidFill>
                  <a:srgbClr val="167D77"/>
                </a:solidFill>
                <a:latin typeface="Times New Roman"/>
                <a:ea typeface="Times New Roman"/>
                <a:cs typeface="Times New Roman"/>
              </a:defRPr>
            </a:lvl6pPr>
            <a:lvl7pPr algn="ctr">
              <a:defRPr sz="2175" b="1">
                <a:solidFill>
                  <a:srgbClr val="167D77"/>
                </a:solidFill>
                <a:latin typeface="Times New Roman"/>
                <a:ea typeface="Times New Roman"/>
                <a:cs typeface="Times New Roman"/>
              </a:defRPr>
            </a:lvl7pPr>
            <a:lvl8pPr algn="ctr">
              <a:defRPr sz="2175" b="1">
                <a:solidFill>
                  <a:srgbClr val="167D77"/>
                </a:solidFill>
                <a:latin typeface="Times New Roman"/>
                <a:ea typeface="Times New Roman"/>
                <a:cs typeface="Times New Roman"/>
              </a:defRPr>
            </a:lvl8pPr>
            <a:lvl9pPr algn="ctr">
              <a:defRPr sz="2175" b="1">
                <a:solidFill>
                  <a:srgbClr val="167D77"/>
                </a:solidFill>
                <a:latin typeface="Times New Roman"/>
                <a:ea typeface="Times New Roman"/>
                <a:cs typeface="Times New Roman"/>
              </a:defRPr>
            </a:lvl9pPr>
          </a:lstStyle>
          <a:p xmlns:a="http://schemas.openxmlformats.org/drawingml/2006/main">
            <a:pPr algn="ctr">
              <a:defRPr sz="2175" b="1">
                <a:solidFill>
                  <a:srgbClr val="167D77"/>
                </a:solidFill>
                <a:latin typeface="Times New Roman"/>
                <a:ea typeface="Times New Roman"/>
                <a:cs typeface="Times New Roman"/>
              </a:defRPr>
            </a:pPr>
            <a:r>
              <a:rPr sz="2175" b="1">
                <a:solidFill>
                  <a:srgbClr val="167D77"/>
                </a:solidFill>
                <a:latin typeface="Times New Roman"/>
                <a:ea typeface="Times New Roman"/>
                <a:cs typeface="Times New Roman"/>
              </a:rPr>
              <a:t>Nucleotide</a:t>
            </a:r>
          </a:p>
          <a:p xmlns:a="http://schemas.openxmlformats.org/drawingml/2006/main">
            <a:pPr algn="ctr">
              <a:defRPr sz="2175" b="1">
                <a:solidFill>
                  <a:srgbClr val="167D77"/>
                </a:solidFill>
                <a:latin typeface="Times New Roman"/>
                <a:ea typeface="Times New Roman"/>
                <a:cs typeface="Times New Roman"/>
              </a:defRPr>
            </a:pPr>
            <a:r>
              <a:rPr sz="2175" b="1">
                <a:solidFill>
                  <a:srgbClr val="167D77"/>
                </a:solidFill>
                <a:latin typeface="Times New Roman"/>
                <a:ea typeface="Times New Roman"/>
                <a:cs typeface="Times New Roman"/>
              </a:rPr>
              <a:t>sequence</a:t>
            </a:r>
          </a:p>
        </p:txBody>
      </p:sp>
      <p:sp>
        <p:nvSpPr>
          <p:cNvPr id="6" name="">
            <a:extLst xmlns:a="http://schemas.openxmlformats.org/drawingml/2006/main">
              <a:ext uri="{FF2B5EF4-FFF2-40B4-BE49-F238E27FC236}">
                <a16:creationId xmlns:a16="http://schemas.microsoft.com/office/drawing/2014/main" id="{5FC4657E-6183-4F75-A1FD-5FA92E0DA32E}"/>
              </a:ext>
            </a:extLst>
          </p:cNvPr>
          <p:cNvSpPr>
            <a:spLocks xmlns:a="http://schemas.openxmlformats.org/drawingml/2006/main" noGrp="1"/>
          </p:cNvSpPr>
          <p:nvPr/>
        </p:nvSpPr>
        <p:spPr>
          <a:xfrm xmlns:a="http://schemas.openxmlformats.org/drawingml/2006/main">
            <a:off x="3143250" y="2714625"/>
            <a:ext cx="2047875" cy="95250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175" b="1">
                <a:solidFill>
                  <a:srgbClr val="167D77"/>
                </a:solidFill>
                <a:latin typeface="Times New Roman"/>
                <a:ea typeface="Times New Roman"/>
                <a:cs typeface="Times New Roman"/>
              </a:defRPr>
            </a:defPPr>
            <a:lvl1pPr algn="ctr">
              <a:defRPr sz="2175" b="1">
                <a:solidFill>
                  <a:srgbClr val="167D77"/>
                </a:solidFill>
                <a:latin typeface="Times New Roman"/>
                <a:ea typeface="Times New Roman"/>
                <a:cs typeface="Times New Roman"/>
              </a:defRPr>
            </a:lvl1pPr>
            <a:lvl2pPr algn="ctr">
              <a:defRPr sz="2175" b="1">
                <a:solidFill>
                  <a:srgbClr val="167D77"/>
                </a:solidFill>
                <a:latin typeface="Times New Roman"/>
                <a:ea typeface="Times New Roman"/>
                <a:cs typeface="Times New Roman"/>
              </a:defRPr>
            </a:lvl2pPr>
            <a:lvl3pPr algn="ctr">
              <a:defRPr sz="2175" b="1">
                <a:solidFill>
                  <a:srgbClr val="167D77"/>
                </a:solidFill>
                <a:latin typeface="Times New Roman"/>
                <a:ea typeface="Times New Roman"/>
                <a:cs typeface="Times New Roman"/>
              </a:defRPr>
            </a:lvl3pPr>
            <a:lvl4pPr algn="ctr">
              <a:defRPr sz="2175" b="1">
                <a:solidFill>
                  <a:srgbClr val="167D77"/>
                </a:solidFill>
                <a:latin typeface="Times New Roman"/>
                <a:ea typeface="Times New Roman"/>
                <a:cs typeface="Times New Roman"/>
              </a:defRPr>
            </a:lvl4pPr>
            <a:lvl5pPr algn="ctr">
              <a:defRPr sz="2175" b="1">
                <a:solidFill>
                  <a:srgbClr val="167D77"/>
                </a:solidFill>
                <a:latin typeface="Times New Roman"/>
                <a:ea typeface="Times New Roman"/>
                <a:cs typeface="Times New Roman"/>
              </a:defRPr>
            </a:lvl5pPr>
            <a:lvl6pPr algn="ctr">
              <a:defRPr sz="2175" b="1">
                <a:solidFill>
                  <a:srgbClr val="167D77"/>
                </a:solidFill>
                <a:latin typeface="Times New Roman"/>
                <a:ea typeface="Times New Roman"/>
                <a:cs typeface="Times New Roman"/>
              </a:defRPr>
            </a:lvl6pPr>
            <a:lvl7pPr algn="ctr">
              <a:defRPr sz="2175" b="1">
                <a:solidFill>
                  <a:srgbClr val="167D77"/>
                </a:solidFill>
                <a:latin typeface="Times New Roman"/>
                <a:ea typeface="Times New Roman"/>
                <a:cs typeface="Times New Roman"/>
              </a:defRPr>
            </a:lvl7pPr>
            <a:lvl8pPr algn="ctr">
              <a:defRPr sz="2175" b="1">
                <a:solidFill>
                  <a:srgbClr val="167D77"/>
                </a:solidFill>
                <a:latin typeface="Times New Roman"/>
                <a:ea typeface="Times New Roman"/>
                <a:cs typeface="Times New Roman"/>
              </a:defRPr>
            </a:lvl8pPr>
            <a:lvl9pPr algn="ctr">
              <a:defRPr sz="2175" b="1">
                <a:solidFill>
                  <a:srgbClr val="167D77"/>
                </a:solidFill>
                <a:latin typeface="Times New Roman"/>
                <a:ea typeface="Times New Roman"/>
                <a:cs typeface="Times New Roman"/>
              </a:defRPr>
            </a:lvl9pPr>
          </a:lstStyle>
          <a:p xmlns:a="http://schemas.openxmlformats.org/drawingml/2006/main">
            <a:pPr algn="ctr">
              <a:defRPr sz="2175" b="1">
                <a:solidFill>
                  <a:srgbClr val="167D77"/>
                </a:solidFill>
                <a:latin typeface="Times New Roman"/>
                <a:ea typeface="Times New Roman"/>
                <a:cs typeface="Times New Roman"/>
              </a:defRPr>
            </a:pPr>
            <a:r>
              <a:rPr sz="2175" b="1">
                <a:solidFill>
                  <a:srgbClr val="167D77"/>
                </a:solidFill>
                <a:latin typeface="Times New Roman"/>
                <a:ea typeface="Times New Roman"/>
                <a:cs typeface="Times New Roman"/>
              </a:rPr>
              <a:t>Pretrained</a:t>
            </a:r>
          </a:p>
          <a:p xmlns:a="http://schemas.openxmlformats.org/drawingml/2006/main">
            <a:pPr algn="ctr">
              <a:defRPr sz="2175" b="1">
                <a:solidFill>
                  <a:srgbClr val="167D77"/>
                </a:solidFill>
                <a:latin typeface="Times New Roman"/>
                <a:ea typeface="Times New Roman"/>
                <a:cs typeface="Times New Roman"/>
              </a:defRPr>
            </a:pPr>
            <a:r>
              <a:rPr sz="2175" b="1">
                <a:solidFill>
                  <a:srgbClr val="167D77"/>
                </a:solidFill>
                <a:latin typeface="Times New Roman"/>
                <a:ea typeface="Times New Roman"/>
                <a:cs typeface="Times New Roman"/>
              </a:rPr>
              <a:t>encoder</a:t>
            </a:r>
          </a:p>
        </p:txBody>
      </p:sp>
      <p:sp>
        <p:nvSpPr>
          <p:cNvPr id="7" name="">
            <a:extLst xmlns:a="http://schemas.openxmlformats.org/drawingml/2006/main">
              <a:ext uri="{FF2B5EF4-FFF2-40B4-BE49-F238E27FC236}">
                <a16:creationId xmlns:a16="http://schemas.microsoft.com/office/drawing/2014/main" id="{67161231-EC8F-46AA-9AE1-BC6F5E3E9E38}"/>
              </a:ext>
            </a:extLst>
          </p:cNvPr>
          <p:cNvSpPr>
            <a:spLocks xmlns:a="http://schemas.openxmlformats.org/drawingml/2006/main" noGrp="1"/>
          </p:cNvSpPr>
          <p:nvPr/>
        </p:nvSpPr>
        <p:spPr>
          <a:xfrm xmlns:a="http://schemas.openxmlformats.org/drawingml/2006/main">
            <a:off x="5857875" y="2714625"/>
            <a:ext cx="1905000" cy="95250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175" b="1">
                <a:solidFill>
                  <a:srgbClr val="167D77"/>
                </a:solidFill>
                <a:latin typeface="Times New Roman"/>
                <a:ea typeface="Times New Roman"/>
                <a:cs typeface="Times New Roman"/>
              </a:defRPr>
            </a:defPPr>
            <a:lvl1pPr algn="ctr">
              <a:defRPr sz="2175" b="1">
                <a:solidFill>
                  <a:srgbClr val="167D77"/>
                </a:solidFill>
                <a:latin typeface="Times New Roman"/>
                <a:ea typeface="Times New Roman"/>
                <a:cs typeface="Times New Roman"/>
              </a:defRPr>
            </a:lvl1pPr>
            <a:lvl2pPr algn="ctr">
              <a:defRPr sz="2175" b="1">
                <a:solidFill>
                  <a:srgbClr val="167D77"/>
                </a:solidFill>
                <a:latin typeface="Times New Roman"/>
                <a:ea typeface="Times New Roman"/>
                <a:cs typeface="Times New Roman"/>
              </a:defRPr>
            </a:lvl2pPr>
            <a:lvl3pPr algn="ctr">
              <a:defRPr sz="2175" b="1">
                <a:solidFill>
                  <a:srgbClr val="167D77"/>
                </a:solidFill>
                <a:latin typeface="Times New Roman"/>
                <a:ea typeface="Times New Roman"/>
                <a:cs typeface="Times New Roman"/>
              </a:defRPr>
            </a:lvl3pPr>
            <a:lvl4pPr algn="ctr">
              <a:defRPr sz="2175" b="1">
                <a:solidFill>
                  <a:srgbClr val="167D77"/>
                </a:solidFill>
                <a:latin typeface="Times New Roman"/>
                <a:ea typeface="Times New Roman"/>
                <a:cs typeface="Times New Roman"/>
              </a:defRPr>
            </a:lvl4pPr>
            <a:lvl5pPr algn="ctr">
              <a:defRPr sz="2175" b="1">
                <a:solidFill>
                  <a:srgbClr val="167D77"/>
                </a:solidFill>
                <a:latin typeface="Times New Roman"/>
                <a:ea typeface="Times New Roman"/>
                <a:cs typeface="Times New Roman"/>
              </a:defRPr>
            </a:lvl5pPr>
            <a:lvl6pPr algn="ctr">
              <a:defRPr sz="2175" b="1">
                <a:solidFill>
                  <a:srgbClr val="167D77"/>
                </a:solidFill>
                <a:latin typeface="Times New Roman"/>
                <a:ea typeface="Times New Roman"/>
                <a:cs typeface="Times New Roman"/>
              </a:defRPr>
            </a:lvl6pPr>
            <a:lvl7pPr algn="ctr">
              <a:defRPr sz="2175" b="1">
                <a:solidFill>
                  <a:srgbClr val="167D77"/>
                </a:solidFill>
                <a:latin typeface="Times New Roman"/>
                <a:ea typeface="Times New Roman"/>
                <a:cs typeface="Times New Roman"/>
              </a:defRPr>
            </a:lvl7pPr>
            <a:lvl8pPr algn="ctr">
              <a:defRPr sz="2175" b="1">
                <a:solidFill>
                  <a:srgbClr val="167D77"/>
                </a:solidFill>
                <a:latin typeface="Times New Roman"/>
                <a:ea typeface="Times New Roman"/>
                <a:cs typeface="Times New Roman"/>
              </a:defRPr>
            </a:lvl8pPr>
            <a:lvl9pPr algn="ctr">
              <a:defRPr sz="2175" b="1">
                <a:solidFill>
                  <a:srgbClr val="167D77"/>
                </a:solidFill>
                <a:latin typeface="Times New Roman"/>
                <a:ea typeface="Times New Roman"/>
                <a:cs typeface="Times New Roman"/>
              </a:defRPr>
            </a:lvl9pPr>
          </a:lstStyle>
          <a:p xmlns:a="http://schemas.openxmlformats.org/drawingml/2006/main">
            <a:pPr algn="ctr">
              <a:defRPr sz="2175" b="1">
                <a:solidFill>
                  <a:srgbClr val="167D77"/>
                </a:solidFill>
                <a:latin typeface="Times New Roman"/>
                <a:ea typeface="Times New Roman"/>
                <a:cs typeface="Times New Roman"/>
              </a:defRPr>
            </a:pPr>
            <a:r>
              <a:rPr sz="2175" b="1">
                <a:solidFill>
                  <a:srgbClr val="167D77"/>
                </a:solidFill>
                <a:latin typeface="Times New Roman"/>
                <a:ea typeface="Times New Roman"/>
                <a:cs typeface="Times New Roman"/>
              </a:rPr>
              <a:t>One pooled</a:t>
            </a:r>
          </a:p>
          <a:p xmlns:a="http://schemas.openxmlformats.org/drawingml/2006/main">
            <a:pPr algn="ctr">
              <a:defRPr sz="2175" b="1">
                <a:solidFill>
                  <a:srgbClr val="167D77"/>
                </a:solidFill>
                <a:latin typeface="Times New Roman"/>
                <a:ea typeface="Times New Roman"/>
                <a:cs typeface="Times New Roman"/>
              </a:defRPr>
            </a:pPr>
            <a:r>
              <a:rPr sz="2175" b="1">
                <a:solidFill>
                  <a:srgbClr val="167D77"/>
                </a:solidFill>
                <a:latin typeface="Times New Roman"/>
                <a:ea typeface="Times New Roman"/>
                <a:cs typeface="Times New Roman"/>
              </a:rPr>
              <a:t>vector</a:t>
            </a:r>
          </a:p>
        </p:txBody>
      </p:sp>
      <p:sp>
        <p:nvSpPr>
          <p:cNvPr id="8" name="">
            <a:extLst xmlns:a="http://schemas.openxmlformats.org/drawingml/2006/main">
              <a:ext uri="{FF2B5EF4-FFF2-40B4-BE49-F238E27FC236}">
                <a16:creationId xmlns:a16="http://schemas.microsoft.com/office/drawing/2014/main" id="{A230411A-18FA-4CB4-A29D-024702AB0F3D}"/>
              </a:ext>
            </a:extLst>
          </p:cNvPr>
          <p:cNvSpPr>
            <a:spLocks xmlns:a="http://schemas.openxmlformats.org/drawingml/2006/main" noGrp="1"/>
          </p:cNvSpPr>
          <p:nvPr/>
        </p:nvSpPr>
        <p:spPr>
          <a:xfrm xmlns:a="http://schemas.openxmlformats.org/drawingml/2006/main">
            <a:off x="8429625" y="2714625"/>
            <a:ext cx="1714500" cy="952500"/>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2175" b="1">
                <a:solidFill>
                  <a:srgbClr val="14324B"/>
                </a:solidFill>
                <a:latin typeface="Times New Roman"/>
                <a:ea typeface="Times New Roman"/>
                <a:cs typeface="Times New Roman"/>
              </a:defRPr>
            </a:defPPr>
            <a:lvl1pPr algn="ctr">
              <a:defRPr sz="2175" b="1">
                <a:solidFill>
                  <a:srgbClr val="14324B"/>
                </a:solidFill>
                <a:latin typeface="Times New Roman"/>
                <a:ea typeface="Times New Roman"/>
                <a:cs typeface="Times New Roman"/>
              </a:defRPr>
            </a:lvl1pPr>
            <a:lvl2pPr algn="ctr">
              <a:defRPr sz="2175" b="1">
                <a:solidFill>
                  <a:srgbClr val="14324B"/>
                </a:solidFill>
                <a:latin typeface="Times New Roman"/>
                <a:ea typeface="Times New Roman"/>
                <a:cs typeface="Times New Roman"/>
              </a:defRPr>
            </a:lvl2pPr>
            <a:lvl3pPr algn="ctr">
              <a:defRPr sz="2175" b="1">
                <a:solidFill>
                  <a:srgbClr val="14324B"/>
                </a:solidFill>
                <a:latin typeface="Times New Roman"/>
                <a:ea typeface="Times New Roman"/>
                <a:cs typeface="Times New Roman"/>
              </a:defRPr>
            </a:lvl3pPr>
            <a:lvl4pPr algn="ctr">
              <a:defRPr sz="2175" b="1">
                <a:solidFill>
                  <a:srgbClr val="14324B"/>
                </a:solidFill>
                <a:latin typeface="Times New Roman"/>
                <a:ea typeface="Times New Roman"/>
                <a:cs typeface="Times New Roman"/>
              </a:defRPr>
            </a:lvl4pPr>
            <a:lvl5pPr algn="ctr">
              <a:defRPr sz="2175" b="1">
                <a:solidFill>
                  <a:srgbClr val="14324B"/>
                </a:solidFill>
                <a:latin typeface="Times New Roman"/>
                <a:ea typeface="Times New Roman"/>
                <a:cs typeface="Times New Roman"/>
              </a:defRPr>
            </a:lvl5pPr>
            <a:lvl6pPr algn="ctr">
              <a:defRPr sz="2175" b="1">
                <a:solidFill>
                  <a:srgbClr val="14324B"/>
                </a:solidFill>
                <a:latin typeface="Times New Roman"/>
                <a:ea typeface="Times New Roman"/>
                <a:cs typeface="Times New Roman"/>
              </a:defRPr>
            </a:lvl6pPr>
            <a:lvl7pPr algn="ctr">
              <a:defRPr sz="2175" b="1">
                <a:solidFill>
                  <a:srgbClr val="14324B"/>
                </a:solidFill>
                <a:latin typeface="Times New Roman"/>
                <a:ea typeface="Times New Roman"/>
                <a:cs typeface="Times New Roman"/>
              </a:defRPr>
            </a:lvl7pPr>
            <a:lvl8pPr algn="ctr">
              <a:defRPr sz="2175" b="1">
                <a:solidFill>
                  <a:srgbClr val="14324B"/>
                </a:solidFill>
                <a:latin typeface="Times New Roman"/>
                <a:ea typeface="Times New Roman"/>
                <a:cs typeface="Times New Roman"/>
              </a:defRPr>
            </a:lvl8pPr>
            <a:lvl9pPr algn="ctr">
              <a:defRPr sz="2175" b="1">
                <a:solidFill>
                  <a:srgbClr val="14324B"/>
                </a:solidFill>
                <a:latin typeface="Times New Roman"/>
                <a:ea typeface="Times New Roman"/>
                <a:cs typeface="Times New Roman"/>
              </a:defRPr>
            </a:lvl9pPr>
          </a:lstStyle>
          <a:p xmlns:a="http://schemas.openxmlformats.org/drawingml/2006/main">
            <a:pPr algn="ctr">
              <a:defRPr sz="2175" b="1">
                <a:solidFill>
                  <a:srgbClr val="14324B"/>
                </a:solidFill>
                <a:latin typeface="Times New Roman"/>
                <a:ea typeface="Times New Roman"/>
                <a:cs typeface="Times New Roman"/>
              </a:defRPr>
            </a:pPr>
            <a:r>
              <a:rPr sz="2175" b="1">
                <a:solidFill>
                  <a:srgbClr val="14324B"/>
                </a:solidFill>
                <a:latin typeface="Times New Roman"/>
                <a:ea typeface="Times New Roman"/>
                <a:cs typeface="Times New Roman"/>
              </a:rPr>
              <a:t>Ridge</a:t>
            </a:r>
          </a:p>
          <a:p xmlns:a="http://schemas.openxmlformats.org/drawingml/2006/main">
            <a:pPr algn="ctr">
              <a:defRPr sz="2175" b="1">
                <a:solidFill>
                  <a:srgbClr val="14324B"/>
                </a:solidFill>
                <a:latin typeface="Times New Roman"/>
                <a:ea typeface="Times New Roman"/>
                <a:cs typeface="Times New Roman"/>
              </a:defRPr>
            </a:pPr>
            <a:r>
              <a:rPr sz="2175" b="1">
                <a:solidFill>
                  <a:srgbClr val="14324B"/>
                </a:solidFill>
                <a:latin typeface="Times New Roman"/>
                <a:ea typeface="Times New Roman"/>
                <a:cs typeface="Times New Roman"/>
              </a:rPr>
              <a:t>regression</a:t>
            </a:r>
          </a:p>
        </p:txBody>
      </p:sp>
      <p:sp>
        <p:nvSpPr>
          <p:cNvPr id="9" name="">
            <a:extLst xmlns:a="http://schemas.openxmlformats.org/drawingml/2006/main">
              <a:ext uri="{FF2B5EF4-FFF2-40B4-BE49-F238E27FC236}">
                <a16:creationId xmlns:a16="http://schemas.microsoft.com/office/drawing/2014/main" id="{6CF6A263-A6B6-45C6-B9D4-FAFE41BC9407}"/>
              </a:ext>
            </a:extLst>
          </p:cNvPr>
          <p:cNvSpPr>
            <a:spLocks xmlns:a="http://schemas.openxmlformats.org/drawingml/2006/main" noGrp="1"/>
          </p:cNvSpPr>
          <p:nvPr/>
        </p:nvSpPr>
        <p:spPr>
          <a:xfrm xmlns:a="http://schemas.openxmlformats.org/drawingml/2006/main">
            <a:off x="10477500" y="2714625"/>
            <a:ext cx="1381125" cy="952500"/>
          </a:xfrm>
          <a:prstGeom xmlns:a="http://schemas.openxmlformats.org/drawingml/2006/main" prst="rect">
            <a:avLst/>
          </a:prstGeom>
          <a:solidFill xmlns:a="http://schemas.openxmlformats.org/drawingml/2006/main">
            <a:srgbClr val="FAEEE6"/>
          </a:solidFill>
          <a:ln xmlns:a="http://schemas.openxmlformats.org/drawingml/2006/main" w="14288">
            <a:solidFill>
              <a:srgbClr val="B3683D"/>
            </a:solidFill>
          </a:ln>
        </p:spPr>
        <p:txBody>
          <a:bodyPr xmlns:a="http://schemas.openxmlformats.org/drawingml/2006/main" wrap="square" lIns="85725" tIns="85725" rIns="85725" bIns="85725" anchor="ctr">
            <a:noAutofit/>
          </a:bodyPr>
          <a:lstStyle xmlns:a="http://schemas.openxmlformats.org/drawingml/2006/main">
            <a:defPPr algn="ctr">
              <a:defRPr sz="1875" b="1">
                <a:solidFill>
                  <a:srgbClr val="B3683D"/>
                </a:solidFill>
                <a:latin typeface="Times New Roman"/>
                <a:ea typeface="Times New Roman"/>
                <a:cs typeface="Times New Roman"/>
              </a:defRPr>
            </a:defPPr>
            <a:lvl1pPr algn="ctr">
              <a:defRPr sz="1875" b="1">
                <a:solidFill>
                  <a:srgbClr val="B3683D"/>
                </a:solidFill>
                <a:latin typeface="Times New Roman"/>
                <a:ea typeface="Times New Roman"/>
                <a:cs typeface="Times New Roman"/>
              </a:defRPr>
            </a:lvl1pPr>
            <a:lvl2pPr algn="ctr">
              <a:defRPr sz="1875" b="1">
                <a:solidFill>
                  <a:srgbClr val="B3683D"/>
                </a:solidFill>
                <a:latin typeface="Times New Roman"/>
                <a:ea typeface="Times New Roman"/>
                <a:cs typeface="Times New Roman"/>
              </a:defRPr>
            </a:lvl2pPr>
            <a:lvl3pPr algn="ctr">
              <a:defRPr sz="1875" b="1">
                <a:solidFill>
                  <a:srgbClr val="B3683D"/>
                </a:solidFill>
                <a:latin typeface="Times New Roman"/>
                <a:ea typeface="Times New Roman"/>
                <a:cs typeface="Times New Roman"/>
              </a:defRPr>
            </a:lvl3pPr>
            <a:lvl4pPr algn="ctr">
              <a:defRPr sz="1875" b="1">
                <a:solidFill>
                  <a:srgbClr val="B3683D"/>
                </a:solidFill>
                <a:latin typeface="Times New Roman"/>
                <a:ea typeface="Times New Roman"/>
                <a:cs typeface="Times New Roman"/>
              </a:defRPr>
            </a:lvl4pPr>
            <a:lvl5pPr algn="ctr">
              <a:defRPr sz="1875" b="1">
                <a:solidFill>
                  <a:srgbClr val="B3683D"/>
                </a:solidFill>
                <a:latin typeface="Times New Roman"/>
                <a:ea typeface="Times New Roman"/>
                <a:cs typeface="Times New Roman"/>
              </a:defRPr>
            </a:lvl5pPr>
            <a:lvl6pPr algn="ctr">
              <a:defRPr sz="1875" b="1">
                <a:solidFill>
                  <a:srgbClr val="B3683D"/>
                </a:solidFill>
                <a:latin typeface="Times New Roman"/>
                <a:ea typeface="Times New Roman"/>
                <a:cs typeface="Times New Roman"/>
              </a:defRPr>
            </a:lvl6pPr>
            <a:lvl7pPr algn="ctr">
              <a:defRPr sz="1875" b="1">
                <a:solidFill>
                  <a:srgbClr val="B3683D"/>
                </a:solidFill>
                <a:latin typeface="Times New Roman"/>
                <a:ea typeface="Times New Roman"/>
                <a:cs typeface="Times New Roman"/>
              </a:defRPr>
            </a:lvl7pPr>
            <a:lvl8pPr algn="ctr">
              <a:defRPr sz="1875" b="1">
                <a:solidFill>
                  <a:srgbClr val="B3683D"/>
                </a:solidFill>
                <a:latin typeface="Times New Roman"/>
                <a:ea typeface="Times New Roman"/>
                <a:cs typeface="Times New Roman"/>
              </a:defRPr>
            </a:lvl8pPr>
            <a:lvl9pPr algn="ctr">
              <a:defRPr sz="1875" b="1">
                <a:solidFill>
                  <a:srgbClr val="B3683D"/>
                </a:solidFill>
                <a:latin typeface="Times New Roman"/>
                <a:ea typeface="Times New Roman"/>
                <a:cs typeface="Times New Roman"/>
              </a:defRPr>
            </a:lvl9pPr>
          </a:lstStyle>
          <a:p xmlns:a="http://schemas.openxmlformats.org/drawingml/2006/main">
            <a:pPr algn="ctr">
              <a:defRPr sz="1875" b="1">
                <a:solidFill>
                  <a:srgbClr val="B3683D"/>
                </a:solidFill>
                <a:latin typeface="Times New Roman"/>
                <a:ea typeface="Times New Roman"/>
                <a:cs typeface="Times New Roman"/>
              </a:defRPr>
            </a:pPr>
            <a:r>
              <a:rPr sz="1875" b="1">
                <a:solidFill>
                  <a:srgbClr val="B3683D"/>
                </a:solidFill>
                <a:latin typeface="Times New Roman"/>
                <a:ea typeface="Times New Roman"/>
                <a:cs typeface="Times New Roman"/>
              </a:rPr>
              <a:t>Predicted</a:t>
            </a:r>
          </a:p>
          <a:p xmlns:a="http://schemas.openxmlformats.org/drawingml/2006/main">
            <a:pPr algn="ctr">
              <a:defRPr sz="1875" b="1">
                <a:solidFill>
                  <a:srgbClr val="B3683D"/>
                </a:solidFill>
                <a:latin typeface="Times New Roman"/>
                <a:ea typeface="Times New Roman"/>
                <a:cs typeface="Times New Roman"/>
              </a:defRPr>
            </a:pPr>
            <a:r>
              <a:rPr sz="1875" b="1">
                <a:solidFill>
                  <a:srgbClr val="B3683D"/>
                </a:solidFill>
                <a:latin typeface="Times New Roman"/>
                <a:ea typeface="Times New Roman"/>
                <a:cs typeface="Times New Roman"/>
              </a:rPr>
              <a:t>expression</a:t>
            </a:r>
          </a:p>
        </p:txBody>
      </p:sp>
      <p:sp>
        <p:nvSpPr>
          <p:cNvPr id="14" name="">
            <a:extLst xmlns:a="http://schemas.openxmlformats.org/drawingml/2006/main">
              <a:ext uri="{FF2B5EF4-FFF2-40B4-BE49-F238E27FC236}">
                <a16:creationId xmlns:a16="http://schemas.microsoft.com/office/drawing/2014/main" id="{0CB55371-6C9D-4D14-B0E3-7620364D82B0}"/>
              </a:ext>
            </a:extLst>
          </p:cNvPr>
          <p:cNvSpPr>
            <a:spLocks xmlns:a="http://schemas.openxmlformats.org/drawingml/2006/main" noGrp="1"/>
          </p:cNvSpPr>
          <p:nvPr/>
        </p:nvSpPr>
        <p:spPr>
          <a:xfrm xmlns:a="http://schemas.openxmlformats.org/drawingml/2006/main">
            <a:off x="3048000" y="390525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7D77"/>
                </a:solidFill>
                <a:latin typeface="Times New Roman"/>
                <a:ea typeface="Times New Roman"/>
                <a:cs typeface="Times New Roman"/>
              </a:defRPr>
            </a:defPPr>
            <a:lvl1pPr>
              <a:defRPr sz="1875">
                <a:solidFill>
                  <a:srgbClr val="167D77"/>
                </a:solidFill>
                <a:latin typeface="Times New Roman"/>
                <a:ea typeface="Times New Roman"/>
                <a:cs typeface="Times New Roman"/>
              </a:defRPr>
            </a:lvl1pPr>
            <a:lvl2pPr>
              <a:defRPr sz="1875">
                <a:solidFill>
                  <a:srgbClr val="167D77"/>
                </a:solidFill>
                <a:latin typeface="Times New Roman"/>
                <a:ea typeface="Times New Roman"/>
                <a:cs typeface="Times New Roman"/>
              </a:defRPr>
            </a:lvl2pPr>
            <a:lvl3pPr>
              <a:defRPr sz="1875">
                <a:solidFill>
                  <a:srgbClr val="167D77"/>
                </a:solidFill>
                <a:latin typeface="Times New Roman"/>
                <a:ea typeface="Times New Roman"/>
                <a:cs typeface="Times New Roman"/>
              </a:defRPr>
            </a:lvl3pPr>
            <a:lvl4pPr>
              <a:defRPr sz="1875">
                <a:solidFill>
                  <a:srgbClr val="167D77"/>
                </a:solidFill>
                <a:latin typeface="Times New Roman"/>
                <a:ea typeface="Times New Roman"/>
                <a:cs typeface="Times New Roman"/>
              </a:defRPr>
            </a:lvl4pPr>
            <a:lvl5pPr>
              <a:defRPr sz="1875">
                <a:solidFill>
                  <a:srgbClr val="167D77"/>
                </a:solidFill>
                <a:latin typeface="Times New Roman"/>
                <a:ea typeface="Times New Roman"/>
                <a:cs typeface="Times New Roman"/>
              </a:defRPr>
            </a:lvl5pPr>
            <a:lvl6pPr>
              <a:defRPr sz="1875">
                <a:solidFill>
                  <a:srgbClr val="167D77"/>
                </a:solidFill>
                <a:latin typeface="Times New Roman"/>
                <a:ea typeface="Times New Roman"/>
                <a:cs typeface="Times New Roman"/>
              </a:defRPr>
            </a:lvl6pPr>
            <a:lvl7pPr>
              <a:defRPr sz="1875">
                <a:solidFill>
                  <a:srgbClr val="167D77"/>
                </a:solidFill>
                <a:latin typeface="Times New Roman"/>
                <a:ea typeface="Times New Roman"/>
                <a:cs typeface="Times New Roman"/>
              </a:defRPr>
            </a:lvl7pPr>
            <a:lvl8pPr>
              <a:defRPr sz="1875">
                <a:solidFill>
                  <a:srgbClr val="167D77"/>
                </a:solidFill>
                <a:latin typeface="Times New Roman"/>
                <a:ea typeface="Times New Roman"/>
                <a:cs typeface="Times New Roman"/>
              </a:defRPr>
            </a:lvl8pPr>
            <a:lvl9pPr>
              <a:defRPr sz="1875">
                <a:solidFill>
                  <a:srgbClr val="167D77"/>
                </a:solidFill>
                <a:latin typeface="Times New Roman"/>
                <a:ea typeface="Times New Roman"/>
                <a:cs typeface="Times New Roman"/>
              </a:defRPr>
            </a:lvl9pPr>
          </a:lstStyle>
          <a:p xmlns:a="http://schemas.openxmlformats.org/drawingml/2006/main">
            <a:pPr>
              <a:defRPr sz="1875">
                <a:solidFill>
                  <a:srgbClr val="167D77"/>
                </a:solidFill>
                <a:latin typeface="Times New Roman"/>
                <a:ea typeface="Times New Roman"/>
                <a:cs typeface="Times New Roman"/>
              </a:defRPr>
            </a:pPr>
            <a:r>
              <a:rPr sz="1875">
                <a:solidFill>
                  <a:srgbClr val="167D77"/>
                </a:solidFill>
                <a:latin typeface="Times New Roman"/>
                <a:ea typeface="Times New Roman"/>
                <a:cs typeface="Times New Roman"/>
              </a:rPr>
              <a:t>Weights stay fixed</a:t>
            </a:r>
          </a:p>
        </p:txBody>
      </p:sp>
      <p:sp>
        <p:nvSpPr>
          <p:cNvPr id="15" name="">
            <a:extLst xmlns:a="http://schemas.openxmlformats.org/drawingml/2006/main">
              <a:ext uri="{FF2B5EF4-FFF2-40B4-BE49-F238E27FC236}">
                <a16:creationId xmlns:a16="http://schemas.microsoft.com/office/drawing/2014/main" id="{9DCA953F-AB12-444E-8FBC-D9413099A340}"/>
              </a:ext>
            </a:extLst>
          </p:cNvPr>
          <p:cNvSpPr>
            <a:spLocks xmlns:a="http://schemas.openxmlformats.org/drawingml/2006/main" noGrp="1"/>
          </p:cNvSpPr>
          <p:nvPr/>
        </p:nvSpPr>
        <p:spPr>
          <a:xfrm xmlns:a="http://schemas.openxmlformats.org/drawingml/2006/main">
            <a:off x="7762875" y="4286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324B"/>
                </a:solidFill>
                <a:latin typeface="Times New Roman"/>
                <a:ea typeface="Times New Roman"/>
                <a:cs typeface="Times New Roman"/>
              </a:defRPr>
            </a:defPPr>
            <a:lvl1pPr>
              <a:defRPr sz="2025" b="1">
                <a:solidFill>
                  <a:srgbClr val="14324B"/>
                </a:solidFill>
                <a:latin typeface="Times New Roman"/>
                <a:ea typeface="Times New Roman"/>
                <a:cs typeface="Times New Roman"/>
              </a:defRPr>
            </a:lvl1pPr>
            <a:lvl2pPr>
              <a:defRPr sz="2025" b="1">
                <a:solidFill>
                  <a:srgbClr val="14324B"/>
                </a:solidFill>
                <a:latin typeface="Times New Roman"/>
                <a:ea typeface="Times New Roman"/>
                <a:cs typeface="Times New Roman"/>
              </a:defRPr>
            </a:lvl2pPr>
            <a:lvl3pPr>
              <a:defRPr sz="2025" b="1">
                <a:solidFill>
                  <a:srgbClr val="14324B"/>
                </a:solidFill>
                <a:latin typeface="Times New Roman"/>
                <a:ea typeface="Times New Roman"/>
                <a:cs typeface="Times New Roman"/>
              </a:defRPr>
            </a:lvl3pPr>
            <a:lvl4pPr>
              <a:defRPr sz="2025" b="1">
                <a:solidFill>
                  <a:srgbClr val="14324B"/>
                </a:solidFill>
                <a:latin typeface="Times New Roman"/>
                <a:ea typeface="Times New Roman"/>
                <a:cs typeface="Times New Roman"/>
              </a:defRPr>
            </a:lvl4pPr>
            <a:lvl5pPr>
              <a:defRPr sz="2025" b="1">
                <a:solidFill>
                  <a:srgbClr val="14324B"/>
                </a:solidFill>
                <a:latin typeface="Times New Roman"/>
                <a:ea typeface="Times New Roman"/>
                <a:cs typeface="Times New Roman"/>
              </a:defRPr>
            </a:lvl5pPr>
            <a:lvl6pPr>
              <a:defRPr sz="2025" b="1">
                <a:solidFill>
                  <a:srgbClr val="14324B"/>
                </a:solidFill>
                <a:latin typeface="Times New Roman"/>
                <a:ea typeface="Times New Roman"/>
                <a:cs typeface="Times New Roman"/>
              </a:defRPr>
            </a:lvl6pPr>
            <a:lvl7pPr>
              <a:defRPr sz="2025" b="1">
                <a:solidFill>
                  <a:srgbClr val="14324B"/>
                </a:solidFill>
                <a:latin typeface="Times New Roman"/>
                <a:ea typeface="Times New Roman"/>
                <a:cs typeface="Times New Roman"/>
              </a:defRPr>
            </a:lvl7pPr>
            <a:lvl8pPr>
              <a:defRPr sz="2025" b="1">
                <a:solidFill>
                  <a:srgbClr val="14324B"/>
                </a:solidFill>
                <a:latin typeface="Times New Roman"/>
                <a:ea typeface="Times New Roman"/>
                <a:cs typeface="Times New Roman"/>
              </a:defRPr>
            </a:lvl8pPr>
            <a:lvl9pPr>
              <a:defRPr sz="2025" b="1">
                <a:solidFill>
                  <a:srgbClr val="14324B"/>
                </a:solidFill>
                <a:latin typeface="Times New Roman"/>
                <a:ea typeface="Times New Roman"/>
                <a:cs typeface="Times New Roman"/>
              </a:defRPr>
            </a:lvl9pPr>
          </a:lstStyle>
          <a:p xmlns:a="http://schemas.openxmlformats.org/drawingml/2006/main">
            <a:pPr>
              <a:defRPr sz="2025" b="1">
                <a:solidFill>
                  <a:srgbClr val="14324B"/>
                </a:solidFill>
                <a:latin typeface="Times New Roman"/>
                <a:ea typeface="Times New Roman"/>
                <a:cs typeface="Times New Roman"/>
              </a:defRPr>
            </a:pPr>
            <a:r>
              <a:rPr sz="2025" b="1">
                <a:solidFill>
                  <a:srgbClr val="14324B"/>
                </a:solidFill>
                <a:latin typeface="Times New Roman"/>
                <a:ea typeface="Times New Roman"/>
                <a:cs typeface="Times New Roman"/>
              </a:rPr>
              <a:t>Fit using training rows</a:t>
            </a:r>
          </a:p>
        </p:txBody>
      </p:sp>
      <p:sp>
        <p:nvSpPr>
          <p:cNvPr id="16" name="">
            <a:extLst xmlns:a="http://schemas.openxmlformats.org/drawingml/2006/main">
              <a:ext uri="{FF2B5EF4-FFF2-40B4-BE49-F238E27FC236}">
                <a16:creationId xmlns:a16="http://schemas.microsoft.com/office/drawing/2014/main" id="{965201EC-BAB5-4FED-8B35-41F05F5A485C}"/>
              </a:ext>
            </a:extLst>
          </p:cNvPr>
          <p:cNvSpPr>
            <a:spLocks xmlns:a="http://schemas.openxmlformats.org/drawingml/2006/main" noGrp="1"/>
          </p:cNvSpPr>
          <p:nvPr/>
        </p:nvSpPr>
        <p:spPr>
          <a:xfrm xmlns:a="http://schemas.openxmlformats.org/drawingml/2006/main">
            <a:off x="5286375" y="5143500"/>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B3683D"/>
                </a:solidFill>
                <a:latin typeface="Times New Roman"/>
                <a:ea typeface="Times New Roman"/>
                <a:cs typeface="Times New Roman"/>
              </a:defRPr>
            </a:defPPr>
            <a:lvl1pPr>
              <a:defRPr sz="2250">
                <a:solidFill>
                  <a:srgbClr val="B3683D"/>
                </a:solidFill>
                <a:latin typeface="Times New Roman"/>
                <a:ea typeface="Times New Roman"/>
                <a:cs typeface="Times New Roman"/>
              </a:defRPr>
            </a:lvl1pPr>
            <a:lvl2pPr>
              <a:defRPr sz="2250">
                <a:solidFill>
                  <a:srgbClr val="B3683D"/>
                </a:solidFill>
                <a:latin typeface="Times New Roman"/>
                <a:ea typeface="Times New Roman"/>
                <a:cs typeface="Times New Roman"/>
              </a:defRPr>
            </a:lvl2pPr>
            <a:lvl3pPr>
              <a:defRPr sz="2250">
                <a:solidFill>
                  <a:srgbClr val="B3683D"/>
                </a:solidFill>
                <a:latin typeface="Times New Roman"/>
                <a:ea typeface="Times New Roman"/>
                <a:cs typeface="Times New Roman"/>
              </a:defRPr>
            </a:lvl3pPr>
            <a:lvl4pPr>
              <a:defRPr sz="2250">
                <a:solidFill>
                  <a:srgbClr val="B3683D"/>
                </a:solidFill>
                <a:latin typeface="Times New Roman"/>
                <a:ea typeface="Times New Roman"/>
                <a:cs typeface="Times New Roman"/>
              </a:defRPr>
            </a:lvl4pPr>
            <a:lvl5pPr>
              <a:defRPr sz="2250">
                <a:solidFill>
                  <a:srgbClr val="B3683D"/>
                </a:solidFill>
                <a:latin typeface="Times New Roman"/>
                <a:ea typeface="Times New Roman"/>
                <a:cs typeface="Times New Roman"/>
              </a:defRPr>
            </a:lvl5pPr>
            <a:lvl6pPr>
              <a:defRPr sz="2250">
                <a:solidFill>
                  <a:srgbClr val="B3683D"/>
                </a:solidFill>
                <a:latin typeface="Times New Roman"/>
                <a:ea typeface="Times New Roman"/>
                <a:cs typeface="Times New Roman"/>
              </a:defRPr>
            </a:lvl6pPr>
            <a:lvl7pPr>
              <a:defRPr sz="2250">
                <a:solidFill>
                  <a:srgbClr val="B3683D"/>
                </a:solidFill>
                <a:latin typeface="Times New Roman"/>
                <a:ea typeface="Times New Roman"/>
                <a:cs typeface="Times New Roman"/>
              </a:defRPr>
            </a:lvl7pPr>
            <a:lvl8pPr>
              <a:defRPr sz="2250">
                <a:solidFill>
                  <a:srgbClr val="B3683D"/>
                </a:solidFill>
                <a:latin typeface="Times New Roman"/>
                <a:ea typeface="Times New Roman"/>
                <a:cs typeface="Times New Roman"/>
              </a:defRPr>
            </a:lvl8pPr>
            <a:lvl9pPr>
              <a:defRPr sz="2250">
                <a:solidFill>
                  <a:srgbClr val="B3683D"/>
                </a:solidFill>
                <a:latin typeface="Times New Roman"/>
                <a:ea typeface="Times New Roman"/>
                <a:cs typeface="Times New Roman"/>
              </a:defRPr>
            </a:lvl9pPr>
          </a:lstStyle>
          <a:p xmlns:a="http://schemas.openxmlformats.org/drawingml/2006/main">
            <a:pPr>
              <a:defRPr sz="2250">
                <a:solidFill>
                  <a:srgbClr val="B3683D"/>
                </a:solidFill>
                <a:latin typeface="Times New Roman"/>
                <a:ea typeface="Times New Roman"/>
                <a:cs typeface="Times New Roman"/>
              </a:defRPr>
            </a:pPr>
            <a:r>
              <a:rPr sz="2250">
                <a:solidFill>
                  <a:srgbClr val="B3683D"/>
                </a:solidFill>
                <a:latin typeface="Times New Roman"/>
                <a:ea typeface="Times New Roman"/>
                <a:cs typeface="Times New Roman"/>
              </a:rPr>
              <a:t>Compare predictions with measured expression on held-out rows</a:t>
            </a:r>
          </a:p>
        </p:txBody>
      </p:sp>
      <p:sp>
        <p:nvSpPr>
          <p:cNvPr id="17" name="">
            <a:extLst xmlns:a="http://schemas.openxmlformats.org/drawingml/2006/main">
              <a:ext uri="{FF2B5EF4-FFF2-40B4-BE49-F238E27FC236}">
                <a16:creationId xmlns:a16="http://schemas.microsoft.com/office/drawing/2014/main" id="{B3DF6EDE-85A2-4D11-B6D4-97C55C49A9F2}"/>
              </a:ext>
            </a:extLst>
          </p:cNvPr>
          <p:cNvSpPr>
            <a:spLocks xmlns:a="http://schemas.openxmlformats.org/drawingml/2006/main" noGrp="1"/>
          </p:cNvSpPr>
          <p:nvPr/>
        </p:nvSpPr>
        <p:spPr>
          <a:xfrm xmlns:a="http://schemas.openxmlformats.org/drawingml/2006/main">
            <a:off x="428625" y="4810125"/>
            <a:ext cx="3333750" cy="619125"/>
          </a:xfrm>
          <a:prstGeom xmlns:a="http://schemas.openxmlformats.org/drawingml/2006/main" prst="rect">
            <a:avLst/>
          </a:prstGeom>
          <a:solidFill xmlns:a="http://schemas.openxmlformats.org/drawingml/2006/main">
            <a:srgbClr val="FAEEE6"/>
          </a:solidFill>
          <a:ln xmlns:a="http://schemas.openxmlformats.org/drawingml/2006/main" w="14288">
            <a:solidFill>
              <a:srgbClr val="B3683D"/>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B3683D"/>
                </a:solidFill>
                <a:latin typeface="Times New Roman"/>
                <a:ea typeface="Times New Roman"/>
                <a:cs typeface="Times New Roman"/>
              </a:defRPr>
            </a:defPPr>
            <a:lvl1pPr algn="ctr">
              <a:defRPr sz="2100" b="1">
                <a:solidFill>
                  <a:srgbClr val="B3683D"/>
                </a:solidFill>
                <a:latin typeface="Times New Roman"/>
                <a:ea typeface="Times New Roman"/>
                <a:cs typeface="Times New Roman"/>
              </a:defRPr>
            </a:lvl1pPr>
            <a:lvl2pPr algn="ctr">
              <a:defRPr sz="2100" b="1">
                <a:solidFill>
                  <a:srgbClr val="B3683D"/>
                </a:solidFill>
                <a:latin typeface="Times New Roman"/>
                <a:ea typeface="Times New Roman"/>
                <a:cs typeface="Times New Roman"/>
              </a:defRPr>
            </a:lvl2pPr>
            <a:lvl3pPr algn="ctr">
              <a:defRPr sz="2100" b="1">
                <a:solidFill>
                  <a:srgbClr val="B3683D"/>
                </a:solidFill>
                <a:latin typeface="Times New Roman"/>
                <a:ea typeface="Times New Roman"/>
                <a:cs typeface="Times New Roman"/>
              </a:defRPr>
            </a:lvl3pPr>
            <a:lvl4pPr algn="ctr">
              <a:defRPr sz="2100" b="1">
                <a:solidFill>
                  <a:srgbClr val="B3683D"/>
                </a:solidFill>
                <a:latin typeface="Times New Roman"/>
                <a:ea typeface="Times New Roman"/>
                <a:cs typeface="Times New Roman"/>
              </a:defRPr>
            </a:lvl4pPr>
            <a:lvl5pPr algn="ctr">
              <a:defRPr sz="2100" b="1">
                <a:solidFill>
                  <a:srgbClr val="B3683D"/>
                </a:solidFill>
                <a:latin typeface="Times New Roman"/>
                <a:ea typeface="Times New Roman"/>
                <a:cs typeface="Times New Roman"/>
              </a:defRPr>
            </a:lvl5pPr>
            <a:lvl6pPr algn="ctr">
              <a:defRPr sz="2100" b="1">
                <a:solidFill>
                  <a:srgbClr val="B3683D"/>
                </a:solidFill>
                <a:latin typeface="Times New Roman"/>
                <a:ea typeface="Times New Roman"/>
                <a:cs typeface="Times New Roman"/>
              </a:defRPr>
            </a:lvl6pPr>
            <a:lvl7pPr algn="ctr">
              <a:defRPr sz="2100" b="1">
                <a:solidFill>
                  <a:srgbClr val="B3683D"/>
                </a:solidFill>
                <a:latin typeface="Times New Roman"/>
                <a:ea typeface="Times New Roman"/>
                <a:cs typeface="Times New Roman"/>
              </a:defRPr>
            </a:lvl7pPr>
            <a:lvl8pPr algn="ctr">
              <a:defRPr sz="2100" b="1">
                <a:solidFill>
                  <a:srgbClr val="B3683D"/>
                </a:solidFill>
                <a:latin typeface="Times New Roman"/>
                <a:ea typeface="Times New Roman"/>
                <a:cs typeface="Times New Roman"/>
              </a:defRPr>
            </a:lvl8pPr>
            <a:lvl9pPr algn="ctr">
              <a:defRPr sz="2100" b="1">
                <a:solidFill>
                  <a:srgbClr val="B3683D"/>
                </a:solidFill>
                <a:latin typeface="Times New Roman"/>
                <a:ea typeface="Times New Roman"/>
                <a:cs typeface="Times New Roman"/>
              </a:defRPr>
            </a:lvl9pPr>
          </a:lstStyle>
          <a:p xmlns:a="http://schemas.openxmlformats.org/drawingml/2006/main">
            <a:pPr algn="ctr">
              <a:defRPr sz="2100" b="1">
                <a:solidFill>
                  <a:srgbClr val="B3683D"/>
                </a:solidFill>
                <a:latin typeface="Times New Roman"/>
                <a:ea typeface="Times New Roman"/>
                <a:cs typeface="Times New Roman"/>
              </a:defRPr>
            </a:pPr>
            <a:r>
              <a:rPr sz="2100" b="1">
                <a:solidFill>
                  <a:srgbClr val="B3683D"/>
                </a:solidFill>
                <a:latin typeface="Times New Roman"/>
                <a:ea typeface="Times New Roman"/>
                <a:cs typeface="Times New Roman"/>
              </a:rPr>
              <a:t>Measured expression</a:t>
            </a:r>
          </a:p>
        </p:txBody>
      </p:sp>
      <p:sp>
        <p:nvSpPr>
          <p:cNvPr id="19" name="">
            <a:extLst xmlns:a="http://schemas.openxmlformats.org/drawingml/2006/main">
              <a:ext uri="{FF2B5EF4-FFF2-40B4-BE49-F238E27FC236}">
                <a16:creationId xmlns:a16="http://schemas.microsoft.com/office/drawing/2014/main" id="{F86A93BA-0A0C-44FF-BE7A-5B42B79AE6BE}"/>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Measurements train the predictor only within training folds. Identical nucleotide sequences stay together in the explicit outer folds.</a:t>
            </a:r>
          </a:p>
        </p:txBody>
      </p:sp>
    </p:spTree>
    <p:extLst>
      <p:ext uri="{BB962C8B-B14F-4D97-AF65-F5344CB8AC3E}">
        <p14:creationId xmlns:p14="http://schemas.microsoft.com/office/powerpoint/2010/main" val="14469763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690EE551-2877-4E1C-A3F3-326991D571D0}"/>
              </a:ext>
            </a:extLst>
          </p:cNvPr>
          <p:cNvCxnSpPr>
            <a:stCxn xmlns:a="http://schemas.openxmlformats.org/drawingml/2006/main" id="9" idx="3"/>
            <a:endCxn xmlns:a="http://schemas.openxmlformats.org/drawingml/2006/main" id="12" idx="1"/>
          </p:cNvCxnSpPr>
          <p:nvPr/>
        </p:nvCxnSpPr>
        <p:spPr>
          <a:xfrm xmlns:a="http://schemas.openxmlformats.org/drawingml/2006/main" flipV="1">
            <a:off x="4953000" y="3786188"/>
            <a:ext cx="457200" cy="823913"/>
          </a:xfrm>
          <a:prstGeom xmlns:a="http://schemas.openxmlformats.org/drawingml/2006/main" prst="bentConnector3">
            <a:avLst>
              <a:gd name="adj1" fmla="val 50000"/>
            </a:avLst>
          </a:prstGeom>
          <a:ln xmlns:a="http://schemas.openxmlformats.org/drawingml/2006/main" w="21908">
            <a:solidFill>
              <a:srgbClr val="52636B"/>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82D59772-B3A7-4546-AAAF-5B34260975C4}"/>
              </a:ext>
            </a:extLst>
          </p:cNvPr>
          <p:cNvCxnSpPr>
            <a:stCxn xmlns:a="http://schemas.openxmlformats.org/drawingml/2006/main" id="8" idx="3"/>
            <a:endCxn xmlns:a="http://schemas.openxmlformats.org/drawingml/2006/main" id="12" idx="1"/>
          </p:cNvCxnSpPr>
          <p:nvPr/>
        </p:nvCxnSpPr>
        <p:spPr>
          <a:xfrm xmlns:a="http://schemas.openxmlformats.org/drawingml/2006/main">
            <a:off x="4953000" y="3143250"/>
            <a:ext cx="457200" cy="642938"/>
          </a:xfrm>
          <a:prstGeom xmlns:a="http://schemas.openxmlformats.org/drawingml/2006/main" prst="bentConnector3">
            <a:avLst>
              <a:gd name="adj1" fmla="val 50000"/>
            </a:avLst>
          </a:prstGeom>
          <a:ln xmlns:a="http://schemas.openxmlformats.org/drawingml/2006/main" w="21908">
            <a:solidFill>
              <a:srgbClr val="52636B"/>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3139FDF2-1A35-46BD-822E-B3B3F651E9D4}"/>
              </a:ext>
            </a:extLst>
          </p:cNvPr>
          <p:cNvCxnSpPr>
            <a:stCxn xmlns:a="http://schemas.openxmlformats.org/drawingml/2006/main" id="7" idx="3"/>
            <a:endCxn xmlns:a="http://schemas.openxmlformats.org/drawingml/2006/main" id="9" idx="1"/>
          </p:cNvCxnSpPr>
          <p:nvPr/>
        </p:nvCxnSpPr>
        <p:spPr>
          <a:xfrm xmlns:a="http://schemas.openxmlformats.org/drawingml/2006/main">
            <a:off x="2571750" y="4610100"/>
            <a:ext cx="571500"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FF34F1EF-C038-4BEE-8E0E-92B62E8F16D3}"/>
              </a:ext>
            </a:extLst>
          </p:cNvPr>
          <p:cNvCxnSpPr>
            <a:stCxn xmlns:a="http://schemas.openxmlformats.org/drawingml/2006/main" id="6" idx="3"/>
            <a:endCxn xmlns:a="http://schemas.openxmlformats.org/drawingml/2006/main" id="8" idx="1"/>
          </p:cNvCxnSpPr>
          <p:nvPr/>
        </p:nvCxnSpPr>
        <p:spPr>
          <a:xfrm xmlns:a="http://schemas.openxmlformats.org/drawingml/2006/main">
            <a:off x="2571750" y="3143250"/>
            <a:ext cx="571500"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sp>
        <p:nvSpPr>
          <p:cNvPr id="19" name="">
            <a:extLst xmlns:a="http://schemas.openxmlformats.org/drawingml/2006/main">
              <a:ext uri="{FF2B5EF4-FFF2-40B4-BE49-F238E27FC236}">
                <a16:creationId xmlns:a16="http://schemas.microsoft.com/office/drawing/2014/main" id="{75CAA675-CA6A-4D2D-9299-1877686A9863}"/>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9940CA-F2C0-48DD-B830-77A746B10889}"/>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The nucleotide vector adds beyond selected sequence controls</a:t>
            </a:r>
          </a:p>
        </p:txBody>
      </p:sp>
      <p:sp>
        <p:nvSpPr>
          <p:cNvPr id="3" name="">
            <a:extLst xmlns:a="http://schemas.openxmlformats.org/drawingml/2006/main">
              <a:ext uri="{FF2B5EF4-FFF2-40B4-BE49-F238E27FC236}">
                <a16:creationId xmlns:a16="http://schemas.microsoft.com/office/drawing/2014/main" id="{8540DA69-2702-4D47-9249-E82CED459A1C}"/>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Combined prediction = control prediction + predicted remaining error.</a:t>
            </a:r>
          </a:p>
        </p:txBody>
      </p:sp>
      <p:sp>
        <p:nvSpPr>
          <p:cNvPr id="4" name="">
            <a:extLst xmlns:a="http://schemas.openxmlformats.org/drawingml/2006/main">
              <a:ext uri="{FF2B5EF4-FFF2-40B4-BE49-F238E27FC236}">
                <a16:creationId xmlns:a16="http://schemas.microsoft.com/office/drawing/2014/main" id="{2B55C80B-1F20-4A09-B4F3-1F8182B3C846}"/>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4</a:t>
            </a:r>
          </a:p>
        </p:txBody>
      </p:sp>
      <p:sp>
        <p:nvSpPr>
          <p:cNvPr id="5" name="">
            <a:extLst xmlns:a="http://schemas.openxmlformats.org/drawingml/2006/main">
              <a:ext uri="{FF2B5EF4-FFF2-40B4-BE49-F238E27FC236}">
                <a16:creationId xmlns:a16="http://schemas.microsoft.com/office/drawing/2014/main" id="{F70603F0-1FB6-4F42-B8CF-A970EC41D652}"/>
              </a:ext>
            </a:extLst>
          </p:cNvPr>
          <p:cNvSpPr>
            <a:spLocks xmlns:a="http://schemas.openxmlformats.org/drawingml/2006/main" noGrp="1"/>
          </p:cNvSpPr>
          <p:nvPr/>
        </p:nvSpPr>
        <p:spPr>
          <a:xfrm xmlns:a="http://schemas.openxmlformats.org/drawingml/2006/main">
            <a:off x="428625" y="2000250"/>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324B"/>
                </a:solidFill>
                <a:latin typeface="Times New Roman"/>
                <a:ea typeface="Times New Roman"/>
                <a:cs typeface="Times New Roman"/>
              </a:defRPr>
            </a:defPPr>
            <a:lvl1pPr>
              <a:defRPr sz="2325" b="1">
                <a:solidFill>
                  <a:srgbClr val="14324B"/>
                </a:solidFill>
                <a:latin typeface="Times New Roman"/>
                <a:ea typeface="Times New Roman"/>
                <a:cs typeface="Times New Roman"/>
              </a:defRPr>
            </a:lvl1pPr>
            <a:lvl2pPr>
              <a:defRPr sz="2325" b="1">
                <a:solidFill>
                  <a:srgbClr val="14324B"/>
                </a:solidFill>
                <a:latin typeface="Times New Roman"/>
                <a:ea typeface="Times New Roman"/>
                <a:cs typeface="Times New Roman"/>
              </a:defRPr>
            </a:lvl2pPr>
            <a:lvl3pPr>
              <a:defRPr sz="2325" b="1">
                <a:solidFill>
                  <a:srgbClr val="14324B"/>
                </a:solidFill>
                <a:latin typeface="Times New Roman"/>
                <a:ea typeface="Times New Roman"/>
                <a:cs typeface="Times New Roman"/>
              </a:defRPr>
            </a:lvl3pPr>
            <a:lvl4pPr>
              <a:defRPr sz="2325" b="1">
                <a:solidFill>
                  <a:srgbClr val="14324B"/>
                </a:solidFill>
                <a:latin typeface="Times New Roman"/>
                <a:ea typeface="Times New Roman"/>
                <a:cs typeface="Times New Roman"/>
              </a:defRPr>
            </a:lvl4pPr>
            <a:lvl5pPr>
              <a:defRPr sz="2325" b="1">
                <a:solidFill>
                  <a:srgbClr val="14324B"/>
                </a:solidFill>
                <a:latin typeface="Times New Roman"/>
                <a:ea typeface="Times New Roman"/>
                <a:cs typeface="Times New Roman"/>
              </a:defRPr>
            </a:lvl5pPr>
            <a:lvl6pPr>
              <a:defRPr sz="2325" b="1">
                <a:solidFill>
                  <a:srgbClr val="14324B"/>
                </a:solidFill>
                <a:latin typeface="Times New Roman"/>
                <a:ea typeface="Times New Roman"/>
                <a:cs typeface="Times New Roman"/>
              </a:defRPr>
            </a:lvl6pPr>
            <a:lvl7pPr>
              <a:defRPr sz="2325" b="1">
                <a:solidFill>
                  <a:srgbClr val="14324B"/>
                </a:solidFill>
                <a:latin typeface="Times New Roman"/>
                <a:ea typeface="Times New Roman"/>
                <a:cs typeface="Times New Roman"/>
              </a:defRPr>
            </a:lvl7pPr>
            <a:lvl8pPr>
              <a:defRPr sz="2325" b="1">
                <a:solidFill>
                  <a:srgbClr val="14324B"/>
                </a:solidFill>
                <a:latin typeface="Times New Roman"/>
                <a:ea typeface="Times New Roman"/>
                <a:cs typeface="Times New Roman"/>
              </a:defRPr>
            </a:lvl8pPr>
            <a:lvl9pPr>
              <a:defRPr sz="2325" b="1">
                <a:solidFill>
                  <a:srgbClr val="14324B"/>
                </a:solidFill>
                <a:latin typeface="Times New Roman"/>
                <a:ea typeface="Times New Roman"/>
                <a:cs typeface="Times New Roman"/>
              </a:defRPr>
            </a:lvl9pPr>
          </a:lstStyle>
          <a:p xmlns:a="http://schemas.openxmlformats.org/drawingml/2006/main">
            <a:pPr>
              <a:defRPr sz="2325" b="1">
                <a:solidFill>
                  <a:srgbClr val="14324B"/>
                </a:solidFill>
                <a:latin typeface="Times New Roman"/>
                <a:ea typeface="Times New Roman"/>
                <a:cs typeface="Times New Roman"/>
              </a:defRPr>
            </a:pPr>
            <a:r>
              <a:rPr sz="2325" b="1">
                <a:solidFill>
                  <a:srgbClr val="14324B"/>
                </a:solidFill>
                <a:latin typeface="Times New Roman"/>
                <a:ea typeface="Times New Roman"/>
                <a:cs typeface="Times New Roman"/>
              </a:rPr>
              <a:t>Held-out prediction</a:t>
            </a:r>
          </a:p>
        </p:txBody>
      </p:sp>
      <p:sp>
        <p:nvSpPr>
          <p:cNvPr id="6" name="">
            <a:extLst xmlns:a="http://schemas.openxmlformats.org/drawingml/2006/main">
              <a:ext uri="{FF2B5EF4-FFF2-40B4-BE49-F238E27FC236}">
                <a16:creationId xmlns:a16="http://schemas.microsoft.com/office/drawing/2014/main" id="{2FC90EBE-7C62-4991-B38A-AF93C3018A9F}"/>
              </a:ext>
            </a:extLst>
          </p:cNvPr>
          <p:cNvSpPr>
            <a:spLocks xmlns:a="http://schemas.openxmlformats.org/drawingml/2006/main" noGrp="1"/>
          </p:cNvSpPr>
          <p:nvPr/>
        </p:nvSpPr>
        <p:spPr>
          <a:xfrm xmlns:a="http://schemas.openxmlformats.org/drawingml/2006/main">
            <a:off x="428625" y="2667000"/>
            <a:ext cx="2143125" cy="952500"/>
          </a:xfrm>
          <a:prstGeom xmlns:a="http://schemas.openxmlformats.org/drawingml/2006/main" prst="rect">
            <a:avLst/>
          </a:prstGeom>
          <a:solidFill xmlns:a="http://schemas.openxmlformats.org/drawingml/2006/main">
            <a:srgbClr val="F0F4F6"/>
          </a:solidFill>
          <a:ln xmlns:a="http://schemas.openxmlformats.org/drawingml/2006/main" w="14288">
            <a:solidFill>
              <a:srgbClr val="7D878C"/>
            </a:solidFill>
          </a:ln>
        </p:spPr>
        <p:txBody>
          <a:bodyPr xmlns:a="http://schemas.openxmlformats.org/drawingml/2006/main" wrap="square" lIns="85725" tIns="85725" rIns="85725" bIns="85725" anchor="ctr">
            <a:noAutofit/>
          </a:bodyPr>
          <a:lstStyle xmlns:a="http://schemas.openxmlformats.org/drawingml/2006/main">
            <a:defPPr algn="ctr">
              <a:defRPr sz="2025" b="1">
                <a:solidFill>
                  <a:srgbClr val="7D878C"/>
                </a:solidFill>
                <a:latin typeface="Times New Roman"/>
                <a:ea typeface="Times New Roman"/>
                <a:cs typeface="Times New Roman"/>
              </a:defRPr>
            </a:defPPr>
            <a:lvl1pPr algn="ctr">
              <a:defRPr sz="2025" b="1">
                <a:solidFill>
                  <a:srgbClr val="7D878C"/>
                </a:solidFill>
                <a:latin typeface="Times New Roman"/>
                <a:ea typeface="Times New Roman"/>
                <a:cs typeface="Times New Roman"/>
              </a:defRPr>
            </a:lvl1pPr>
            <a:lvl2pPr algn="ctr">
              <a:defRPr sz="2025" b="1">
                <a:solidFill>
                  <a:srgbClr val="7D878C"/>
                </a:solidFill>
                <a:latin typeface="Times New Roman"/>
                <a:ea typeface="Times New Roman"/>
                <a:cs typeface="Times New Roman"/>
              </a:defRPr>
            </a:lvl2pPr>
            <a:lvl3pPr algn="ctr">
              <a:defRPr sz="2025" b="1">
                <a:solidFill>
                  <a:srgbClr val="7D878C"/>
                </a:solidFill>
                <a:latin typeface="Times New Roman"/>
                <a:ea typeface="Times New Roman"/>
                <a:cs typeface="Times New Roman"/>
              </a:defRPr>
            </a:lvl3pPr>
            <a:lvl4pPr algn="ctr">
              <a:defRPr sz="2025" b="1">
                <a:solidFill>
                  <a:srgbClr val="7D878C"/>
                </a:solidFill>
                <a:latin typeface="Times New Roman"/>
                <a:ea typeface="Times New Roman"/>
                <a:cs typeface="Times New Roman"/>
              </a:defRPr>
            </a:lvl4pPr>
            <a:lvl5pPr algn="ctr">
              <a:defRPr sz="2025" b="1">
                <a:solidFill>
                  <a:srgbClr val="7D878C"/>
                </a:solidFill>
                <a:latin typeface="Times New Roman"/>
                <a:ea typeface="Times New Roman"/>
                <a:cs typeface="Times New Roman"/>
              </a:defRPr>
            </a:lvl5pPr>
            <a:lvl6pPr algn="ctr">
              <a:defRPr sz="2025" b="1">
                <a:solidFill>
                  <a:srgbClr val="7D878C"/>
                </a:solidFill>
                <a:latin typeface="Times New Roman"/>
                <a:ea typeface="Times New Roman"/>
                <a:cs typeface="Times New Roman"/>
              </a:defRPr>
            </a:lvl6pPr>
            <a:lvl7pPr algn="ctr">
              <a:defRPr sz="2025" b="1">
                <a:solidFill>
                  <a:srgbClr val="7D878C"/>
                </a:solidFill>
                <a:latin typeface="Times New Roman"/>
                <a:ea typeface="Times New Roman"/>
                <a:cs typeface="Times New Roman"/>
              </a:defRPr>
            </a:lvl7pPr>
            <a:lvl8pPr algn="ctr">
              <a:defRPr sz="2025" b="1">
                <a:solidFill>
                  <a:srgbClr val="7D878C"/>
                </a:solidFill>
                <a:latin typeface="Times New Roman"/>
                <a:ea typeface="Times New Roman"/>
                <a:cs typeface="Times New Roman"/>
              </a:defRPr>
            </a:lvl8pPr>
            <a:lvl9pPr algn="ctr">
              <a:defRPr sz="2025" b="1">
                <a:solidFill>
                  <a:srgbClr val="7D878C"/>
                </a:solidFill>
                <a:latin typeface="Times New Roman"/>
                <a:ea typeface="Times New Roman"/>
                <a:cs typeface="Times New Roman"/>
              </a:defRPr>
            </a:lvl9pPr>
          </a:lstStyle>
          <a:p xmlns:a="http://schemas.openxmlformats.org/drawingml/2006/main">
            <a:pPr algn="ctr">
              <a:defRPr sz="2025" b="1">
                <a:solidFill>
                  <a:srgbClr val="7D878C"/>
                </a:solidFill>
                <a:latin typeface="Times New Roman"/>
                <a:ea typeface="Times New Roman"/>
                <a:cs typeface="Times New Roman"/>
              </a:defRPr>
            </a:pPr>
            <a:r>
              <a:rPr sz="2025" b="1">
                <a:solidFill>
                  <a:srgbClr val="7D878C"/>
                </a:solidFill>
                <a:latin typeface="Times New Roman"/>
                <a:ea typeface="Times New Roman"/>
                <a:cs typeface="Times New Roman"/>
              </a:rPr>
              <a:t>GC, codons,</a:t>
            </a:r>
          </a:p>
          <a:p xmlns:a="http://schemas.openxmlformats.org/drawingml/2006/main">
            <a:pPr algn="ctr">
              <a:defRPr sz="2025" b="1">
                <a:solidFill>
                  <a:srgbClr val="7D878C"/>
                </a:solidFill>
                <a:latin typeface="Times New Roman"/>
                <a:ea typeface="Times New Roman"/>
                <a:cs typeface="Times New Roman"/>
              </a:defRPr>
            </a:pPr>
            <a:r>
              <a:rPr sz="2025" b="1">
                <a:solidFill>
                  <a:srgbClr val="7D878C"/>
                </a:solidFill>
                <a:latin typeface="Times New Roman"/>
                <a:ea typeface="Times New Roman"/>
                <a:cs typeface="Times New Roman"/>
              </a:rPr>
              <a:t>folding summaries</a:t>
            </a:r>
          </a:p>
        </p:txBody>
      </p:sp>
      <p:sp>
        <p:nvSpPr>
          <p:cNvPr id="7" name="">
            <a:extLst xmlns:a="http://schemas.openxmlformats.org/drawingml/2006/main">
              <a:ext uri="{FF2B5EF4-FFF2-40B4-BE49-F238E27FC236}">
                <a16:creationId xmlns:a16="http://schemas.microsoft.com/office/drawing/2014/main" id="{E9D98841-BA6E-4185-A77D-081DF6971DC6}"/>
              </a:ext>
            </a:extLst>
          </p:cNvPr>
          <p:cNvSpPr>
            <a:spLocks xmlns:a="http://schemas.openxmlformats.org/drawingml/2006/main" noGrp="1"/>
          </p:cNvSpPr>
          <p:nvPr/>
        </p:nvSpPr>
        <p:spPr>
          <a:xfrm xmlns:a="http://schemas.openxmlformats.org/drawingml/2006/main">
            <a:off x="428625" y="4191000"/>
            <a:ext cx="2143125" cy="83820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025" b="1">
                <a:solidFill>
                  <a:srgbClr val="167D77"/>
                </a:solidFill>
                <a:latin typeface="Times New Roman"/>
                <a:ea typeface="Times New Roman"/>
                <a:cs typeface="Times New Roman"/>
              </a:defRPr>
            </a:defPPr>
            <a:lvl1pPr algn="ctr">
              <a:defRPr sz="2025" b="1">
                <a:solidFill>
                  <a:srgbClr val="167D77"/>
                </a:solidFill>
                <a:latin typeface="Times New Roman"/>
                <a:ea typeface="Times New Roman"/>
                <a:cs typeface="Times New Roman"/>
              </a:defRPr>
            </a:lvl1pPr>
            <a:lvl2pPr algn="ctr">
              <a:defRPr sz="2025" b="1">
                <a:solidFill>
                  <a:srgbClr val="167D77"/>
                </a:solidFill>
                <a:latin typeface="Times New Roman"/>
                <a:ea typeface="Times New Roman"/>
                <a:cs typeface="Times New Roman"/>
              </a:defRPr>
            </a:lvl2pPr>
            <a:lvl3pPr algn="ctr">
              <a:defRPr sz="2025" b="1">
                <a:solidFill>
                  <a:srgbClr val="167D77"/>
                </a:solidFill>
                <a:latin typeface="Times New Roman"/>
                <a:ea typeface="Times New Roman"/>
                <a:cs typeface="Times New Roman"/>
              </a:defRPr>
            </a:lvl3pPr>
            <a:lvl4pPr algn="ctr">
              <a:defRPr sz="2025" b="1">
                <a:solidFill>
                  <a:srgbClr val="167D77"/>
                </a:solidFill>
                <a:latin typeface="Times New Roman"/>
                <a:ea typeface="Times New Roman"/>
                <a:cs typeface="Times New Roman"/>
              </a:defRPr>
            </a:lvl4pPr>
            <a:lvl5pPr algn="ctr">
              <a:defRPr sz="2025" b="1">
                <a:solidFill>
                  <a:srgbClr val="167D77"/>
                </a:solidFill>
                <a:latin typeface="Times New Roman"/>
                <a:ea typeface="Times New Roman"/>
                <a:cs typeface="Times New Roman"/>
              </a:defRPr>
            </a:lvl5pPr>
            <a:lvl6pPr algn="ctr">
              <a:defRPr sz="2025" b="1">
                <a:solidFill>
                  <a:srgbClr val="167D77"/>
                </a:solidFill>
                <a:latin typeface="Times New Roman"/>
                <a:ea typeface="Times New Roman"/>
                <a:cs typeface="Times New Roman"/>
              </a:defRPr>
            </a:lvl6pPr>
            <a:lvl7pPr algn="ctr">
              <a:defRPr sz="2025" b="1">
                <a:solidFill>
                  <a:srgbClr val="167D77"/>
                </a:solidFill>
                <a:latin typeface="Times New Roman"/>
                <a:ea typeface="Times New Roman"/>
                <a:cs typeface="Times New Roman"/>
              </a:defRPr>
            </a:lvl7pPr>
            <a:lvl8pPr algn="ctr">
              <a:defRPr sz="2025" b="1">
                <a:solidFill>
                  <a:srgbClr val="167D77"/>
                </a:solidFill>
                <a:latin typeface="Times New Roman"/>
                <a:ea typeface="Times New Roman"/>
                <a:cs typeface="Times New Roman"/>
              </a:defRPr>
            </a:lvl8pPr>
            <a:lvl9pPr algn="ctr">
              <a:defRPr sz="2025" b="1">
                <a:solidFill>
                  <a:srgbClr val="167D77"/>
                </a:solidFill>
                <a:latin typeface="Times New Roman"/>
                <a:ea typeface="Times New Roman"/>
                <a:cs typeface="Times New Roman"/>
              </a:defRPr>
            </a:lvl9pPr>
          </a:lstStyle>
          <a:p xmlns:a="http://schemas.openxmlformats.org/drawingml/2006/main">
            <a:pPr algn="ctr">
              <a:defRPr sz="2025" b="1">
                <a:solidFill>
                  <a:srgbClr val="167D77"/>
                </a:solidFill>
                <a:latin typeface="Times New Roman"/>
                <a:ea typeface="Times New Roman"/>
                <a:cs typeface="Times New Roman"/>
              </a:defRPr>
            </a:pPr>
            <a:r>
              <a:rPr sz="2025" b="1">
                <a:solidFill>
                  <a:srgbClr val="167D77"/>
                </a:solidFill>
                <a:latin typeface="Times New Roman"/>
                <a:ea typeface="Times New Roman"/>
                <a:cs typeface="Times New Roman"/>
              </a:rPr>
              <a:t>Frozen</a:t>
            </a:r>
          </a:p>
          <a:p xmlns:a="http://schemas.openxmlformats.org/drawingml/2006/main">
            <a:pPr algn="ctr">
              <a:defRPr sz="2025" b="1">
                <a:solidFill>
                  <a:srgbClr val="167D77"/>
                </a:solidFill>
                <a:latin typeface="Times New Roman"/>
                <a:ea typeface="Times New Roman"/>
                <a:cs typeface="Times New Roman"/>
              </a:defRPr>
            </a:pPr>
            <a:r>
              <a:rPr sz="2025" b="1">
                <a:solidFill>
                  <a:srgbClr val="167D77"/>
                </a:solidFill>
                <a:latin typeface="Times New Roman"/>
                <a:ea typeface="Times New Roman"/>
                <a:cs typeface="Times New Roman"/>
              </a:rPr>
              <a:t>embedding</a:t>
            </a:r>
          </a:p>
        </p:txBody>
      </p:sp>
      <p:sp>
        <p:nvSpPr>
          <p:cNvPr id="8" name="">
            <a:extLst xmlns:a="http://schemas.openxmlformats.org/drawingml/2006/main">
              <a:ext uri="{FF2B5EF4-FFF2-40B4-BE49-F238E27FC236}">
                <a16:creationId xmlns:a16="http://schemas.microsoft.com/office/drawing/2014/main" id="{93926419-03E6-4ADF-9A55-2899AD5CCD71}"/>
              </a:ext>
            </a:extLst>
          </p:cNvPr>
          <p:cNvSpPr>
            <a:spLocks xmlns:a="http://schemas.openxmlformats.org/drawingml/2006/main" noGrp="1"/>
          </p:cNvSpPr>
          <p:nvPr/>
        </p:nvSpPr>
        <p:spPr>
          <a:xfrm xmlns:a="http://schemas.openxmlformats.org/drawingml/2006/main">
            <a:off x="3143250" y="2667000"/>
            <a:ext cx="1809750" cy="952500"/>
          </a:xfrm>
          <a:prstGeom xmlns:a="http://schemas.openxmlformats.org/drawingml/2006/main" prst="rect">
            <a:avLst/>
          </a:prstGeom>
          <a:solidFill xmlns:a="http://schemas.openxmlformats.org/drawingml/2006/main">
            <a:srgbClr val="F0F4F6"/>
          </a:solidFill>
          <a:ln xmlns:a="http://schemas.openxmlformats.org/drawingml/2006/main" w="14288">
            <a:solidFill>
              <a:srgbClr val="7D878C"/>
            </a:solidFill>
          </a:ln>
        </p:spPr>
        <p:txBody>
          <a:bodyPr xmlns:a="http://schemas.openxmlformats.org/drawingml/2006/main" wrap="square" lIns="85725" tIns="85725" rIns="85725" bIns="85725" anchor="ctr">
            <a:noAutofit/>
          </a:bodyPr>
          <a:lstStyle xmlns:a="http://schemas.openxmlformats.org/drawingml/2006/main">
            <a:defPPr algn="ctr">
              <a:defRPr sz="2025" b="1">
                <a:solidFill>
                  <a:srgbClr val="7D878C"/>
                </a:solidFill>
                <a:latin typeface="Times New Roman"/>
                <a:ea typeface="Times New Roman"/>
                <a:cs typeface="Times New Roman"/>
              </a:defRPr>
            </a:defPPr>
            <a:lvl1pPr algn="ctr">
              <a:defRPr sz="2025" b="1">
                <a:solidFill>
                  <a:srgbClr val="7D878C"/>
                </a:solidFill>
                <a:latin typeface="Times New Roman"/>
                <a:ea typeface="Times New Roman"/>
                <a:cs typeface="Times New Roman"/>
              </a:defRPr>
            </a:lvl1pPr>
            <a:lvl2pPr algn="ctr">
              <a:defRPr sz="2025" b="1">
                <a:solidFill>
                  <a:srgbClr val="7D878C"/>
                </a:solidFill>
                <a:latin typeface="Times New Roman"/>
                <a:ea typeface="Times New Roman"/>
                <a:cs typeface="Times New Roman"/>
              </a:defRPr>
            </a:lvl2pPr>
            <a:lvl3pPr algn="ctr">
              <a:defRPr sz="2025" b="1">
                <a:solidFill>
                  <a:srgbClr val="7D878C"/>
                </a:solidFill>
                <a:latin typeface="Times New Roman"/>
                <a:ea typeface="Times New Roman"/>
                <a:cs typeface="Times New Roman"/>
              </a:defRPr>
            </a:lvl3pPr>
            <a:lvl4pPr algn="ctr">
              <a:defRPr sz="2025" b="1">
                <a:solidFill>
                  <a:srgbClr val="7D878C"/>
                </a:solidFill>
                <a:latin typeface="Times New Roman"/>
                <a:ea typeface="Times New Roman"/>
                <a:cs typeface="Times New Roman"/>
              </a:defRPr>
            </a:lvl4pPr>
            <a:lvl5pPr algn="ctr">
              <a:defRPr sz="2025" b="1">
                <a:solidFill>
                  <a:srgbClr val="7D878C"/>
                </a:solidFill>
                <a:latin typeface="Times New Roman"/>
                <a:ea typeface="Times New Roman"/>
                <a:cs typeface="Times New Roman"/>
              </a:defRPr>
            </a:lvl5pPr>
            <a:lvl6pPr algn="ctr">
              <a:defRPr sz="2025" b="1">
                <a:solidFill>
                  <a:srgbClr val="7D878C"/>
                </a:solidFill>
                <a:latin typeface="Times New Roman"/>
                <a:ea typeface="Times New Roman"/>
                <a:cs typeface="Times New Roman"/>
              </a:defRPr>
            </a:lvl6pPr>
            <a:lvl7pPr algn="ctr">
              <a:defRPr sz="2025" b="1">
                <a:solidFill>
                  <a:srgbClr val="7D878C"/>
                </a:solidFill>
                <a:latin typeface="Times New Roman"/>
                <a:ea typeface="Times New Roman"/>
                <a:cs typeface="Times New Roman"/>
              </a:defRPr>
            </a:lvl7pPr>
            <a:lvl8pPr algn="ctr">
              <a:defRPr sz="2025" b="1">
                <a:solidFill>
                  <a:srgbClr val="7D878C"/>
                </a:solidFill>
                <a:latin typeface="Times New Roman"/>
                <a:ea typeface="Times New Roman"/>
                <a:cs typeface="Times New Roman"/>
              </a:defRPr>
            </a:lvl8pPr>
            <a:lvl9pPr algn="ctr">
              <a:defRPr sz="2025" b="1">
                <a:solidFill>
                  <a:srgbClr val="7D878C"/>
                </a:solidFill>
                <a:latin typeface="Times New Roman"/>
                <a:ea typeface="Times New Roman"/>
                <a:cs typeface="Times New Roman"/>
              </a:defRPr>
            </a:lvl9pPr>
          </a:lstStyle>
          <a:p xmlns:a="http://schemas.openxmlformats.org/drawingml/2006/main">
            <a:pPr algn="ctr">
              <a:defRPr sz="2025" b="1">
                <a:solidFill>
                  <a:srgbClr val="7D878C"/>
                </a:solidFill>
                <a:latin typeface="Times New Roman"/>
                <a:ea typeface="Times New Roman"/>
                <a:cs typeface="Times New Roman"/>
              </a:defRPr>
            </a:pPr>
            <a:r>
              <a:rPr sz="2025" b="1">
                <a:solidFill>
                  <a:srgbClr val="7D878C"/>
                </a:solidFill>
                <a:latin typeface="Times New Roman"/>
                <a:ea typeface="Times New Roman"/>
                <a:cs typeface="Times New Roman"/>
              </a:rPr>
              <a:t>Control</a:t>
            </a:r>
          </a:p>
          <a:p xmlns:a="http://schemas.openxmlformats.org/drawingml/2006/main">
            <a:pPr algn="ctr">
              <a:defRPr sz="2025" b="1">
                <a:solidFill>
                  <a:srgbClr val="7D878C"/>
                </a:solidFill>
                <a:latin typeface="Times New Roman"/>
                <a:ea typeface="Times New Roman"/>
                <a:cs typeface="Times New Roman"/>
              </a:defRPr>
            </a:pPr>
            <a:r>
              <a:rPr sz="2025" b="1">
                <a:solidFill>
                  <a:srgbClr val="7D878C"/>
                </a:solidFill>
                <a:latin typeface="Times New Roman"/>
                <a:ea typeface="Times New Roman"/>
                <a:cs typeface="Times New Roman"/>
              </a:rPr>
              <a:t>predictor</a:t>
            </a:r>
          </a:p>
        </p:txBody>
      </p:sp>
      <p:sp>
        <p:nvSpPr>
          <p:cNvPr id="9" name="">
            <a:extLst xmlns:a="http://schemas.openxmlformats.org/drawingml/2006/main">
              <a:ext uri="{FF2B5EF4-FFF2-40B4-BE49-F238E27FC236}">
                <a16:creationId xmlns:a16="http://schemas.microsoft.com/office/drawing/2014/main" id="{C4E40518-D93E-49FA-B6F4-AD7778AEFCD8}"/>
              </a:ext>
            </a:extLst>
          </p:cNvPr>
          <p:cNvSpPr>
            <a:spLocks xmlns:a="http://schemas.openxmlformats.org/drawingml/2006/main" noGrp="1"/>
          </p:cNvSpPr>
          <p:nvPr/>
        </p:nvSpPr>
        <p:spPr>
          <a:xfrm xmlns:a="http://schemas.openxmlformats.org/drawingml/2006/main">
            <a:off x="3143250" y="4191000"/>
            <a:ext cx="1809750" cy="83820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025" b="1">
                <a:solidFill>
                  <a:srgbClr val="167D77"/>
                </a:solidFill>
                <a:latin typeface="Times New Roman"/>
                <a:ea typeface="Times New Roman"/>
                <a:cs typeface="Times New Roman"/>
              </a:defRPr>
            </a:defPPr>
            <a:lvl1pPr algn="ctr">
              <a:defRPr sz="2025" b="1">
                <a:solidFill>
                  <a:srgbClr val="167D77"/>
                </a:solidFill>
                <a:latin typeface="Times New Roman"/>
                <a:ea typeface="Times New Roman"/>
                <a:cs typeface="Times New Roman"/>
              </a:defRPr>
            </a:lvl1pPr>
            <a:lvl2pPr algn="ctr">
              <a:defRPr sz="2025" b="1">
                <a:solidFill>
                  <a:srgbClr val="167D77"/>
                </a:solidFill>
                <a:latin typeface="Times New Roman"/>
                <a:ea typeface="Times New Roman"/>
                <a:cs typeface="Times New Roman"/>
              </a:defRPr>
            </a:lvl2pPr>
            <a:lvl3pPr algn="ctr">
              <a:defRPr sz="2025" b="1">
                <a:solidFill>
                  <a:srgbClr val="167D77"/>
                </a:solidFill>
                <a:latin typeface="Times New Roman"/>
                <a:ea typeface="Times New Roman"/>
                <a:cs typeface="Times New Roman"/>
              </a:defRPr>
            </a:lvl3pPr>
            <a:lvl4pPr algn="ctr">
              <a:defRPr sz="2025" b="1">
                <a:solidFill>
                  <a:srgbClr val="167D77"/>
                </a:solidFill>
                <a:latin typeface="Times New Roman"/>
                <a:ea typeface="Times New Roman"/>
                <a:cs typeface="Times New Roman"/>
              </a:defRPr>
            </a:lvl4pPr>
            <a:lvl5pPr algn="ctr">
              <a:defRPr sz="2025" b="1">
                <a:solidFill>
                  <a:srgbClr val="167D77"/>
                </a:solidFill>
                <a:latin typeface="Times New Roman"/>
                <a:ea typeface="Times New Roman"/>
                <a:cs typeface="Times New Roman"/>
              </a:defRPr>
            </a:lvl5pPr>
            <a:lvl6pPr algn="ctr">
              <a:defRPr sz="2025" b="1">
                <a:solidFill>
                  <a:srgbClr val="167D77"/>
                </a:solidFill>
                <a:latin typeface="Times New Roman"/>
                <a:ea typeface="Times New Roman"/>
                <a:cs typeface="Times New Roman"/>
              </a:defRPr>
            </a:lvl6pPr>
            <a:lvl7pPr algn="ctr">
              <a:defRPr sz="2025" b="1">
                <a:solidFill>
                  <a:srgbClr val="167D77"/>
                </a:solidFill>
                <a:latin typeface="Times New Roman"/>
                <a:ea typeface="Times New Roman"/>
                <a:cs typeface="Times New Roman"/>
              </a:defRPr>
            </a:lvl7pPr>
            <a:lvl8pPr algn="ctr">
              <a:defRPr sz="2025" b="1">
                <a:solidFill>
                  <a:srgbClr val="167D77"/>
                </a:solidFill>
                <a:latin typeface="Times New Roman"/>
                <a:ea typeface="Times New Roman"/>
                <a:cs typeface="Times New Roman"/>
              </a:defRPr>
            </a:lvl8pPr>
            <a:lvl9pPr algn="ctr">
              <a:defRPr sz="2025" b="1">
                <a:solidFill>
                  <a:srgbClr val="167D77"/>
                </a:solidFill>
                <a:latin typeface="Times New Roman"/>
                <a:ea typeface="Times New Roman"/>
                <a:cs typeface="Times New Roman"/>
              </a:defRPr>
            </a:lvl9pPr>
          </a:lstStyle>
          <a:p xmlns:a="http://schemas.openxmlformats.org/drawingml/2006/main">
            <a:pPr algn="ctr">
              <a:defRPr sz="2025" b="1">
                <a:solidFill>
                  <a:srgbClr val="167D77"/>
                </a:solidFill>
                <a:latin typeface="Times New Roman"/>
                <a:ea typeface="Times New Roman"/>
                <a:cs typeface="Times New Roman"/>
              </a:defRPr>
            </a:pPr>
            <a:r>
              <a:rPr sz="2025" b="1">
                <a:solidFill>
                  <a:srgbClr val="167D77"/>
                </a:solidFill>
                <a:latin typeface="Times New Roman"/>
                <a:ea typeface="Times New Roman"/>
                <a:cs typeface="Times New Roman"/>
              </a:rPr>
              <a:t>Residual</a:t>
            </a:r>
          </a:p>
          <a:p xmlns:a="http://schemas.openxmlformats.org/drawingml/2006/main">
            <a:pPr algn="ctr">
              <a:defRPr sz="2025" b="1">
                <a:solidFill>
                  <a:srgbClr val="167D77"/>
                </a:solidFill>
                <a:latin typeface="Times New Roman"/>
                <a:ea typeface="Times New Roman"/>
                <a:cs typeface="Times New Roman"/>
              </a:defRPr>
            </a:pPr>
            <a:r>
              <a:rPr sz="2025" b="1">
                <a:solidFill>
                  <a:srgbClr val="167D77"/>
                </a:solidFill>
                <a:latin typeface="Times New Roman"/>
                <a:ea typeface="Times New Roman"/>
                <a:cs typeface="Times New Roman"/>
              </a:rPr>
              <a:t>predictor</a:t>
            </a:r>
          </a:p>
        </p:txBody>
      </p:sp>
      <p:sp>
        <p:nvSpPr>
          <p:cNvPr id="12" name="">
            <a:extLst xmlns:a="http://schemas.openxmlformats.org/drawingml/2006/main">
              <a:ext uri="{FF2B5EF4-FFF2-40B4-BE49-F238E27FC236}">
                <a16:creationId xmlns:a16="http://schemas.microsoft.com/office/drawing/2014/main" id="{1AFB96A3-4E03-4E65-BD42-B939980C9827}"/>
              </a:ext>
            </a:extLst>
          </p:cNvPr>
          <p:cNvSpPr>
            <a:spLocks xmlns:a="http://schemas.openxmlformats.org/drawingml/2006/main" noGrp="1"/>
          </p:cNvSpPr>
          <p:nvPr/>
        </p:nvSpPr>
        <p:spPr>
          <a:xfrm xmlns:a="http://schemas.openxmlformats.org/drawingml/2006/main">
            <a:off x="5410200" y="3476625"/>
            <a:ext cx="619125" cy="619125"/>
          </a:xfrm>
          <a:prstGeom xmlns:a="http://schemas.openxmlformats.org/drawingml/2006/main" prst="rect">
            <a:avLst/>
          </a:prstGeom>
          <a:solidFill xmlns:a="http://schemas.openxmlformats.org/drawingml/2006/main">
            <a:srgbClr val="FFFFFF"/>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3150" b="1">
                <a:solidFill>
                  <a:srgbClr val="14324B"/>
                </a:solidFill>
                <a:latin typeface="Times New Roman"/>
                <a:ea typeface="Times New Roman"/>
                <a:cs typeface="Times New Roman"/>
              </a:defRPr>
            </a:defPPr>
            <a:lvl1pPr algn="ctr">
              <a:defRPr sz="3150" b="1">
                <a:solidFill>
                  <a:srgbClr val="14324B"/>
                </a:solidFill>
                <a:latin typeface="Times New Roman"/>
                <a:ea typeface="Times New Roman"/>
                <a:cs typeface="Times New Roman"/>
              </a:defRPr>
            </a:lvl1pPr>
            <a:lvl2pPr algn="ctr">
              <a:defRPr sz="3150" b="1">
                <a:solidFill>
                  <a:srgbClr val="14324B"/>
                </a:solidFill>
                <a:latin typeface="Times New Roman"/>
                <a:ea typeface="Times New Roman"/>
                <a:cs typeface="Times New Roman"/>
              </a:defRPr>
            </a:lvl2pPr>
            <a:lvl3pPr algn="ctr">
              <a:defRPr sz="3150" b="1">
                <a:solidFill>
                  <a:srgbClr val="14324B"/>
                </a:solidFill>
                <a:latin typeface="Times New Roman"/>
                <a:ea typeface="Times New Roman"/>
                <a:cs typeface="Times New Roman"/>
              </a:defRPr>
            </a:lvl3pPr>
            <a:lvl4pPr algn="ctr">
              <a:defRPr sz="3150" b="1">
                <a:solidFill>
                  <a:srgbClr val="14324B"/>
                </a:solidFill>
                <a:latin typeface="Times New Roman"/>
                <a:ea typeface="Times New Roman"/>
                <a:cs typeface="Times New Roman"/>
              </a:defRPr>
            </a:lvl4pPr>
            <a:lvl5pPr algn="ctr">
              <a:defRPr sz="3150" b="1">
                <a:solidFill>
                  <a:srgbClr val="14324B"/>
                </a:solidFill>
                <a:latin typeface="Times New Roman"/>
                <a:ea typeface="Times New Roman"/>
                <a:cs typeface="Times New Roman"/>
              </a:defRPr>
            </a:lvl5pPr>
            <a:lvl6pPr algn="ctr">
              <a:defRPr sz="3150" b="1">
                <a:solidFill>
                  <a:srgbClr val="14324B"/>
                </a:solidFill>
                <a:latin typeface="Times New Roman"/>
                <a:ea typeface="Times New Roman"/>
                <a:cs typeface="Times New Roman"/>
              </a:defRPr>
            </a:lvl6pPr>
            <a:lvl7pPr algn="ctr">
              <a:defRPr sz="3150" b="1">
                <a:solidFill>
                  <a:srgbClr val="14324B"/>
                </a:solidFill>
                <a:latin typeface="Times New Roman"/>
                <a:ea typeface="Times New Roman"/>
                <a:cs typeface="Times New Roman"/>
              </a:defRPr>
            </a:lvl7pPr>
            <a:lvl8pPr algn="ctr">
              <a:defRPr sz="3150" b="1">
                <a:solidFill>
                  <a:srgbClr val="14324B"/>
                </a:solidFill>
                <a:latin typeface="Times New Roman"/>
                <a:ea typeface="Times New Roman"/>
                <a:cs typeface="Times New Roman"/>
              </a:defRPr>
            </a:lvl8pPr>
            <a:lvl9pPr algn="ctr">
              <a:defRPr sz="3150" b="1">
                <a:solidFill>
                  <a:srgbClr val="14324B"/>
                </a:solidFill>
                <a:latin typeface="Times New Roman"/>
                <a:ea typeface="Times New Roman"/>
                <a:cs typeface="Times New Roman"/>
              </a:defRPr>
            </a:lvl9pPr>
          </a:lstStyle>
          <a:p xmlns:a="http://schemas.openxmlformats.org/drawingml/2006/main">
            <a:pPr algn="ctr">
              <a:defRPr sz="3150" b="1">
                <a:solidFill>
                  <a:srgbClr val="14324B"/>
                </a:solidFill>
                <a:latin typeface="Times New Roman"/>
                <a:ea typeface="Times New Roman"/>
                <a:cs typeface="Times New Roman"/>
              </a:defRPr>
            </a:pPr>
            <a:r>
              <a:rPr sz="3150" b="1">
                <a:solidFill>
                  <a:srgbClr val="14324B"/>
                </a:solidFill>
                <a:latin typeface="Times New Roman"/>
                <a:ea typeface="Times New Roman"/>
                <a:cs typeface="Times New Roman"/>
              </a:rPr>
              <a:t>+</a:t>
            </a:r>
          </a:p>
        </p:txBody>
      </p:sp>
      <p:sp>
        <p:nvSpPr>
          <p:cNvPr id="15" name="">
            <a:extLst xmlns:a="http://schemas.openxmlformats.org/drawingml/2006/main">
              <a:ext uri="{FF2B5EF4-FFF2-40B4-BE49-F238E27FC236}">
                <a16:creationId xmlns:a16="http://schemas.microsoft.com/office/drawing/2014/main" id="{C60969D6-603A-422D-984A-C90126B07AD8}"/>
              </a:ext>
            </a:extLst>
          </p:cNvPr>
          <p:cNvSpPr>
            <a:spLocks xmlns:a="http://schemas.openxmlformats.org/drawingml/2006/main" noGrp="1"/>
          </p:cNvSpPr>
          <p:nvPr/>
        </p:nvSpPr>
        <p:spPr>
          <a:xfrm xmlns:a="http://schemas.openxmlformats.org/drawingml/2006/main">
            <a:off x="4667250" y="50958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4324B"/>
                </a:solidFill>
                <a:latin typeface="Times New Roman"/>
                <a:ea typeface="Times New Roman"/>
                <a:cs typeface="Times New Roman"/>
              </a:defRPr>
            </a:defPPr>
            <a:lvl1pPr>
              <a:defRPr sz="1950" b="1">
                <a:solidFill>
                  <a:srgbClr val="14324B"/>
                </a:solidFill>
                <a:latin typeface="Times New Roman"/>
                <a:ea typeface="Times New Roman"/>
                <a:cs typeface="Times New Roman"/>
              </a:defRPr>
            </a:lvl1pPr>
            <a:lvl2pPr>
              <a:defRPr sz="1950" b="1">
                <a:solidFill>
                  <a:srgbClr val="14324B"/>
                </a:solidFill>
                <a:latin typeface="Times New Roman"/>
                <a:ea typeface="Times New Roman"/>
                <a:cs typeface="Times New Roman"/>
              </a:defRPr>
            </a:lvl2pPr>
            <a:lvl3pPr>
              <a:defRPr sz="1950" b="1">
                <a:solidFill>
                  <a:srgbClr val="14324B"/>
                </a:solidFill>
                <a:latin typeface="Times New Roman"/>
                <a:ea typeface="Times New Roman"/>
                <a:cs typeface="Times New Roman"/>
              </a:defRPr>
            </a:lvl3pPr>
            <a:lvl4pPr>
              <a:defRPr sz="1950" b="1">
                <a:solidFill>
                  <a:srgbClr val="14324B"/>
                </a:solidFill>
                <a:latin typeface="Times New Roman"/>
                <a:ea typeface="Times New Roman"/>
                <a:cs typeface="Times New Roman"/>
              </a:defRPr>
            </a:lvl4pPr>
            <a:lvl5pPr>
              <a:defRPr sz="1950" b="1">
                <a:solidFill>
                  <a:srgbClr val="14324B"/>
                </a:solidFill>
                <a:latin typeface="Times New Roman"/>
                <a:ea typeface="Times New Roman"/>
                <a:cs typeface="Times New Roman"/>
              </a:defRPr>
            </a:lvl5pPr>
            <a:lvl6pPr>
              <a:defRPr sz="1950" b="1">
                <a:solidFill>
                  <a:srgbClr val="14324B"/>
                </a:solidFill>
                <a:latin typeface="Times New Roman"/>
                <a:ea typeface="Times New Roman"/>
                <a:cs typeface="Times New Roman"/>
              </a:defRPr>
            </a:lvl6pPr>
            <a:lvl7pPr>
              <a:defRPr sz="1950" b="1">
                <a:solidFill>
                  <a:srgbClr val="14324B"/>
                </a:solidFill>
                <a:latin typeface="Times New Roman"/>
                <a:ea typeface="Times New Roman"/>
                <a:cs typeface="Times New Roman"/>
              </a:defRPr>
            </a:lvl7pPr>
            <a:lvl8pPr>
              <a:defRPr sz="1950" b="1">
                <a:solidFill>
                  <a:srgbClr val="14324B"/>
                </a:solidFill>
                <a:latin typeface="Times New Roman"/>
                <a:ea typeface="Times New Roman"/>
                <a:cs typeface="Times New Roman"/>
              </a:defRPr>
            </a:lvl8pPr>
            <a:lvl9pPr>
              <a:defRPr sz="1950" b="1">
                <a:solidFill>
                  <a:srgbClr val="14324B"/>
                </a:solidFill>
                <a:latin typeface="Times New Roman"/>
                <a:ea typeface="Times New Roman"/>
                <a:cs typeface="Times New Roman"/>
              </a:defRPr>
            </a:lvl9pPr>
          </a:lstStyle>
          <a:p xmlns:a="http://schemas.openxmlformats.org/drawingml/2006/main">
            <a:pPr>
              <a:defRPr sz="1950" b="1">
                <a:solidFill>
                  <a:srgbClr val="14324B"/>
                </a:solidFill>
                <a:latin typeface="Times New Roman"/>
                <a:ea typeface="Times New Roman"/>
                <a:cs typeface="Times New Roman"/>
              </a:defRPr>
            </a:pPr>
            <a:r>
              <a:rPr sz="1950" b="1">
                <a:solidFill>
                  <a:srgbClr val="14324B"/>
                </a:solidFill>
                <a:latin typeface="Times New Roman"/>
                <a:ea typeface="Times New Roman"/>
                <a:cs typeface="Times New Roman"/>
              </a:rPr>
              <a:t>Add predictions</a:t>
            </a:r>
          </a:p>
        </p:txBody>
      </p:sp>
      <p:graphicFrame>
        <p:nvGraphicFramePr>
          <p:cNvPr id="16" name="Chart">
            <a:extLst xmlns:a="http://schemas.openxmlformats.org/drawingml/2006/main">
              <a:ext uri="{FF2B5EF4-FFF2-40B4-BE49-F238E27FC236}">
                <a16:creationId xmlns:a16="http://schemas.microsoft.com/office/drawing/2014/main" id="{F2FEC0D8-5D1B-41DB-A0B4-ECC55192300F}"/>
              </a:ext>
            </a:extLst>
          </p:cNvPr>
          <p:cNvGraphicFramePr/>
          <p:nvPr/>
        </p:nvGraphicFramePr>
        <p:xfrm>
          <a:off xmlns:a="http://schemas.openxmlformats.org/drawingml/2006/main" x="6286500" y="1952625"/>
          <a:ext xmlns:a="http://schemas.openxmlformats.org/drawingml/2006/main" cx="5381625" cy="3238500"/>
        </p:xfrm>
        <a:graphic xmlns:a="http://schemas.openxmlformats.org/drawingml/2006/main">
          <a:graphicData uri="http://schemas.openxmlformats.org/drawingml/2006/chart">
            <c:chart xmlns:r="http://schemas.openxmlformats.org/officeDocument/2006/relationships" xmlns:c="http://schemas.openxmlformats.org/drawingml/2006/chart" r:id="R3a04472c602745fd"/>
          </a:graphicData>
        </a:graphic>
      </p:graphicFrame>
      <p:sp>
        <p:nvSpPr>
          <p:cNvPr id="17" name="">
            <a:extLst xmlns:a="http://schemas.openxmlformats.org/drawingml/2006/main">
              <a:ext uri="{FF2B5EF4-FFF2-40B4-BE49-F238E27FC236}">
                <a16:creationId xmlns:a16="http://schemas.microsoft.com/office/drawing/2014/main" id="{7333B37C-172D-4846-BA6E-024A1959B412}"/>
              </a:ext>
            </a:extLst>
          </p:cNvPr>
          <p:cNvSpPr>
            <a:spLocks xmlns:a="http://schemas.openxmlformats.org/drawingml/2006/main" noGrp="1"/>
          </p:cNvSpPr>
          <p:nvPr/>
        </p:nvSpPr>
        <p:spPr>
          <a:xfrm xmlns:a="http://schemas.openxmlformats.org/drawingml/2006/main">
            <a:off x="6572250" y="5381625"/>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a:solidFill>
                  <a:srgbClr val="167D77"/>
                </a:solidFill>
                <a:latin typeface="Times New Roman"/>
                <a:ea typeface="Times New Roman"/>
                <a:cs typeface="Times New Roman"/>
              </a:defRPr>
            </a:defPPr>
            <a:lvl1pPr>
              <a:defRPr sz="2400">
                <a:solidFill>
                  <a:srgbClr val="167D77"/>
                </a:solidFill>
                <a:latin typeface="Times New Roman"/>
                <a:ea typeface="Times New Roman"/>
                <a:cs typeface="Times New Roman"/>
              </a:defRPr>
            </a:lvl1pPr>
            <a:lvl2pPr>
              <a:defRPr sz="2400">
                <a:solidFill>
                  <a:srgbClr val="167D77"/>
                </a:solidFill>
                <a:latin typeface="Times New Roman"/>
                <a:ea typeface="Times New Roman"/>
                <a:cs typeface="Times New Roman"/>
              </a:defRPr>
            </a:lvl2pPr>
            <a:lvl3pPr>
              <a:defRPr sz="2400">
                <a:solidFill>
                  <a:srgbClr val="167D77"/>
                </a:solidFill>
                <a:latin typeface="Times New Roman"/>
                <a:ea typeface="Times New Roman"/>
                <a:cs typeface="Times New Roman"/>
              </a:defRPr>
            </a:lvl3pPr>
            <a:lvl4pPr>
              <a:defRPr sz="2400">
                <a:solidFill>
                  <a:srgbClr val="167D77"/>
                </a:solidFill>
                <a:latin typeface="Times New Roman"/>
                <a:ea typeface="Times New Roman"/>
                <a:cs typeface="Times New Roman"/>
              </a:defRPr>
            </a:lvl4pPr>
            <a:lvl5pPr>
              <a:defRPr sz="2400">
                <a:solidFill>
                  <a:srgbClr val="167D77"/>
                </a:solidFill>
                <a:latin typeface="Times New Roman"/>
                <a:ea typeface="Times New Roman"/>
                <a:cs typeface="Times New Roman"/>
              </a:defRPr>
            </a:lvl5pPr>
            <a:lvl6pPr>
              <a:defRPr sz="2400">
                <a:solidFill>
                  <a:srgbClr val="167D77"/>
                </a:solidFill>
                <a:latin typeface="Times New Roman"/>
                <a:ea typeface="Times New Roman"/>
                <a:cs typeface="Times New Roman"/>
              </a:defRPr>
            </a:lvl6pPr>
            <a:lvl7pPr>
              <a:defRPr sz="2400">
                <a:solidFill>
                  <a:srgbClr val="167D77"/>
                </a:solidFill>
                <a:latin typeface="Times New Roman"/>
                <a:ea typeface="Times New Roman"/>
                <a:cs typeface="Times New Roman"/>
              </a:defRPr>
            </a:lvl7pPr>
            <a:lvl8pPr>
              <a:defRPr sz="2400">
                <a:solidFill>
                  <a:srgbClr val="167D77"/>
                </a:solidFill>
                <a:latin typeface="Times New Roman"/>
                <a:ea typeface="Times New Roman"/>
                <a:cs typeface="Times New Roman"/>
              </a:defRPr>
            </a:lvl8pPr>
            <a:lvl9pPr>
              <a:defRPr sz="2400">
                <a:solidFill>
                  <a:srgbClr val="167D77"/>
                </a:solidFill>
                <a:latin typeface="Times New Roman"/>
                <a:ea typeface="Times New Roman"/>
                <a:cs typeface="Times New Roman"/>
              </a:defRPr>
            </a:lvl9pPr>
          </a:lstStyle>
          <a:p xmlns:a="http://schemas.openxmlformats.org/drawingml/2006/main">
            <a:pPr>
              <a:defRPr sz="2400">
                <a:solidFill>
                  <a:srgbClr val="167D77"/>
                </a:solidFill>
                <a:latin typeface="Times New Roman"/>
                <a:ea typeface="Times New Roman"/>
                <a:cs typeface="Times New Roman"/>
              </a:defRPr>
            </a:pPr>
            <a:r>
              <a:rPr sz="2400">
                <a:solidFill>
                  <a:srgbClr val="167D77"/>
                </a:solidFill>
                <a:latin typeface="Times New Roman"/>
                <a:ea typeface="Times New Roman"/>
                <a:cs typeface="Times New Roman"/>
              </a:rPr>
              <a:t>0.488 − 0.306 = +0.182 R²</a:t>
            </a:r>
          </a:p>
        </p:txBody>
      </p:sp>
      <p:sp>
        <p:nvSpPr>
          <p:cNvPr id="18" name="">
            <a:extLst xmlns:a="http://schemas.openxmlformats.org/drawingml/2006/main">
              <a:ext uri="{FF2B5EF4-FFF2-40B4-BE49-F238E27FC236}">
                <a16:creationId xmlns:a16="http://schemas.microsoft.com/office/drawing/2014/main" id="{06EB4BBD-D48F-45B1-84D7-20240BBB5988}"/>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Ten fold assignments of the same reporter sample. R² = 0 matches a mean baseline. Residual targets come from inner held-out training predictions.</a:t>
            </a:r>
          </a:p>
        </p:txBody>
      </p:sp>
    </p:spTree>
    <p:extLst>
      <p:ext uri="{BB962C8B-B14F-4D97-AF65-F5344CB8AC3E}">
        <p14:creationId xmlns:p14="http://schemas.microsoft.com/office/powerpoint/2010/main" val="1439172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8" name="">
            <a:extLst xmlns:a="http://schemas.openxmlformats.org/drawingml/2006/main">
              <a:ext uri="{FF2B5EF4-FFF2-40B4-BE49-F238E27FC236}">
                <a16:creationId xmlns:a16="http://schemas.microsoft.com/office/drawing/2014/main" id="{530D936E-D4AB-478B-88F2-2FCE5FA81885}"/>
              </a:ext>
            </a:extLst>
          </p:cNvPr>
          <p:cNvCxnSpPr>
            <a:stCxn xmlns:a="http://schemas.openxmlformats.org/drawingml/2006/main" id="74" idx="3"/>
            <a:endCxn xmlns:a="http://schemas.openxmlformats.org/drawingml/2006/main" id="75" idx="1"/>
          </p:cNvCxnSpPr>
          <p:nvPr/>
        </p:nvCxnSpPr>
        <p:spPr>
          <a:xfrm xmlns:a="http://schemas.openxmlformats.org/drawingml/2006/main">
            <a:off x="8667750" y="5086350"/>
            <a:ext cx="1333500"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77" name="">
            <a:extLst xmlns:a="http://schemas.openxmlformats.org/drawingml/2006/main">
              <a:ext uri="{FF2B5EF4-FFF2-40B4-BE49-F238E27FC236}">
                <a16:creationId xmlns:a16="http://schemas.microsoft.com/office/drawing/2014/main" id="{7958CDE0-3B15-4515-B31B-B41C98F99F52}"/>
              </a:ext>
            </a:extLst>
          </p:cNvPr>
          <p:cNvCxnSpPr>
            <a:stCxn xmlns:a="http://schemas.openxmlformats.org/drawingml/2006/main" id="76" idx="3"/>
            <a:endCxn xmlns:a="http://schemas.openxmlformats.org/drawingml/2006/main" id="74" idx="1"/>
          </p:cNvCxnSpPr>
          <p:nvPr/>
        </p:nvCxnSpPr>
        <p:spPr>
          <a:xfrm xmlns:a="http://schemas.openxmlformats.org/drawingml/2006/main">
            <a:off x="4486275" y="5005388"/>
            <a:ext cx="752475" cy="80963"/>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57" name="">
            <a:extLst xmlns:a="http://schemas.openxmlformats.org/drawingml/2006/main">
              <a:ext uri="{FF2B5EF4-FFF2-40B4-BE49-F238E27FC236}">
                <a16:creationId xmlns:a16="http://schemas.microsoft.com/office/drawing/2014/main" id="{F91DBC60-BCB3-4A58-AC5E-8929CF94CD87}"/>
              </a:ext>
            </a:extLst>
          </p:cNvPr>
          <p:cNvCxnSpPr>
            <a:stCxn xmlns:a="http://schemas.openxmlformats.org/drawingml/2006/main" id="53" idx="3"/>
            <a:endCxn xmlns:a="http://schemas.openxmlformats.org/drawingml/2006/main" id="54" idx="1"/>
          </p:cNvCxnSpPr>
          <p:nvPr/>
        </p:nvCxnSpPr>
        <p:spPr>
          <a:xfrm xmlns:a="http://schemas.openxmlformats.org/drawingml/2006/main">
            <a:off x="8667750" y="4181475"/>
            <a:ext cx="1333500"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56" name="">
            <a:extLst xmlns:a="http://schemas.openxmlformats.org/drawingml/2006/main">
              <a:ext uri="{FF2B5EF4-FFF2-40B4-BE49-F238E27FC236}">
                <a16:creationId xmlns:a16="http://schemas.microsoft.com/office/drawing/2014/main" id="{4F581247-54A3-4A69-BD67-7B2835260001}"/>
              </a:ext>
            </a:extLst>
          </p:cNvPr>
          <p:cNvCxnSpPr>
            <a:stCxn xmlns:a="http://schemas.openxmlformats.org/drawingml/2006/main" id="55" idx="3"/>
            <a:endCxn xmlns:a="http://schemas.openxmlformats.org/drawingml/2006/main" id="53" idx="1"/>
          </p:cNvCxnSpPr>
          <p:nvPr/>
        </p:nvCxnSpPr>
        <p:spPr>
          <a:xfrm xmlns:a="http://schemas.openxmlformats.org/drawingml/2006/main">
            <a:off x="4486275" y="4100513"/>
            <a:ext cx="752475" cy="80963"/>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36" name="">
            <a:extLst xmlns:a="http://schemas.openxmlformats.org/drawingml/2006/main">
              <a:ext uri="{FF2B5EF4-FFF2-40B4-BE49-F238E27FC236}">
                <a16:creationId xmlns:a16="http://schemas.microsoft.com/office/drawing/2014/main" id="{619A3122-E451-4A42-90CC-E94F17DA7B8B}"/>
              </a:ext>
            </a:extLst>
          </p:cNvPr>
          <p:cNvCxnSpPr>
            <a:stCxn xmlns:a="http://schemas.openxmlformats.org/drawingml/2006/main" id="32" idx="3"/>
            <a:endCxn xmlns:a="http://schemas.openxmlformats.org/drawingml/2006/main" id="33" idx="1"/>
          </p:cNvCxnSpPr>
          <p:nvPr/>
        </p:nvCxnSpPr>
        <p:spPr>
          <a:xfrm xmlns:a="http://schemas.openxmlformats.org/drawingml/2006/main">
            <a:off x="8667750" y="3276600"/>
            <a:ext cx="1333500"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35" name="">
            <a:extLst xmlns:a="http://schemas.openxmlformats.org/drawingml/2006/main">
              <a:ext uri="{FF2B5EF4-FFF2-40B4-BE49-F238E27FC236}">
                <a16:creationId xmlns:a16="http://schemas.microsoft.com/office/drawing/2014/main" id="{3791C528-B785-4103-82A5-3F512DBB2FDA}"/>
              </a:ext>
            </a:extLst>
          </p:cNvPr>
          <p:cNvCxnSpPr>
            <a:stCxn xmlns:a="http://schemas.openxmlformats.org/drawingml/2006/main" id="34" idx="3"/>
            <a:endCxn xmlns:a="http://schemas.openxmlformats.org/drawingml/2006/main" id="32" idx="1"/>
          </p:cNvCxnSpPr>
          <p:nvPr/>
        </p:nvCxnSpPr>
        <p:spPr>
          <a:xfrm xmlns:a="http://schemas.openxmlformats.org/drawingml/2006/main">
            <a:off x="4486275" y="3195638"/>
            <a:ext cx="752475" cy="80963"/>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51BD0A4F-1B1A-4473-A2DD-EB271F6B483D}"/>
              </a:ext>
            </a:extLst>
          </p:cNvPr>
          <p:cNvCxnSpPr>
            <a:stCxn xmlns:a="http://schemas.openxmlformats.org/drawingml/2006/main" id="11" idx="3"/>
            <a:endCxn xmlns:a="http://schemas.openxmlformats.org/drawingml/2006/main" id="12" idx="1"/>
          </p:cNvCxnSpPr>
          <p:nvPr/>
        </p:nvCxnSpPr>
        <p:spPr>
          <a:xfrm xmlns:a="http://schemas.openxmlformats.org/drawingml/2006/main">
            <a:off x="8667750" y="2371725"/>
            <a:ext cx="1333500"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A5624175-58AF-4A41-ADDD-59908361E960}"/>
              </a:ext>
            </a:extLst>
          </p:cNvPr>
          <p:cNvCxnSpPr>
            <a:stCxn xmlns:a="http://schemas.openxmlformats.org/drawingml/2006/main" id="13" idx="3"/>
            <a:endCxn xmlns:a="http://schemas.openxmlformats.org/drawingml/2006/main" id="11" idx="1"/>
          </p:cNvCxnSpPr>
          <p:nvPr/>
        </p:nvCxnSpPr>
        <p:spPr>
          <a:xfrm xmlns:a="http://schemas.openxmlformats.org/drawingml/2006/main">
            <a:off x="4486275" y="2290763"/>
            <a:ext cx="752475" cy="80963"/>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sp>
        <p:nvSpPr>
          <p:cNvPr id="80" name="">
            <a:extLst xmlns:a="http://schemas.openxmlformats.org/drawingml/2006/main">
              <a:ext uri="{FF2B5EF4-FFF2-40B4-BE49-F238E27FC236}">
                <a16:creationId xmlns:a16="http://schemas.microsoft.com/office/drawing/2014/main" id="{B3A34499-4C5C-4A2F-AC4F-502A9C181FBD}"/>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CE30D2-E674-4779-B063-1CAFC7CF9746}"/>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What changes when we combine token streams?</a:t>
            </a:r>
          </a:p>
        </p:txBody>
      </p:sp>
      <p:sp>
        <p:nvSpPr>
          <p:cNvPr id="3" name="">
            <a:extLst xmlns:a="http://schemas.openxmlformats.org/drawingml/2006/main">
              <a:ext uri="{FF2B5EF4-FFF2-40B4-BE49-F238E27FC236}">
                <a16:creationId xmlns:a16="http://schemas.microsoft.com/office/drawing/2014/main" id="{1AAE978A-F084-4E3D-B6CE-401914C553BA}"/>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Phase A: frozen NT v2 100M, RNA-FM and ESM-2 8M feed trained predictors on other benchmarks.</a:t>
            </a:r>
          </a:p>
        </p:txBody>
      </p:sp>
      <p:sp>
        <p:nvSpPr>
          <p:cNvPr id="4" name="">
            <a:extLst xmlns:a="http://schemas.openxmlformats.org/drawingml/2006/main">
              <a:ext uri="{FF2B5EF4-FFF2-40B4-BE49-F238E27FC236}">
                <a16:creationId xmlns:a16="http://schemas.microsoft.com/office/drawing/2014/main" id="{B0711196-7274-47C1-9B26-6763EB280964}"/>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5</a:t>
            </a:r>
          </a:p>
        </p:txBody>
      </p:sp>
      <p:sp>
        <p:nvSpPr>
          <p:cNvPr id="5" name="">
            <a:extLst xmlns:a="http://schemas.openxmlformats.org/drawingml/2006/main">
              <a:ext uri="{FF2B5EF4-FFF2-40B4-BE49-F238E27FC236}">
                <a16:creationId xmlns:a16="http://schemas.microsoft.com/office/drawing/2014/main" id="{57078C93-8AD2-40D6-BB33-D42FE78BD7BF}"/>
              </a:ext>
            </a:extLst>
          </p:cNvPr>
          <p:cNvSpPr>
            <a:spLocks xmlns:a="http://schemas.openxmlformats.org/drawingml/2006/main" noGrp="1"/>
          </p:cNvSpPr>
          <p:nvPr/>
        </p:nvSpPr>
        <p:spPr>
          <a:xfrm xmlns:a="http://schemas.openxmlformats.org/drawingml/2006/main">
            <a:off x="428625" y="21621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D878C"/>
                </a:solidFill>
                <a:latin typeface="Times New Roman"/>
                <a:ea typeface="Times New Roman"/>
                <a:cs typeface="Times New Roman"/>
              </a:defRPr>
            </a:defPPr>
            <a:lvl1pPr>
              <a:defRPr sz="2175" b="1">
                <a:solidFill>
                  <a:srgbClr val="7D878C"/>
                </a:solidFill>
                <a:latin typeface="Times New Roman"/>
                <a:ea typeface="Times New Roman"/>
                <a:cs typeface="Times New Roman"/>
              </a:defRPr>
            </a:lvl1pPr>
            <a:lvl2pPr>
              <a:defRPr sz="2175" b="1">
                <a:solidFill>
                  <a:srgbClr val="7D878C"/>
                </a:solidFill>
                <a:latin typeface="Times New Roman"/>
                <a:ea typeface="Times New Roman"/>
                <a:cs typeface="Times New Roman"/>
              </a:defRPr>
            </a:lvl2pPr>
            <a:lvl3pPr>
              <a:defRPr sz="2175" b="1">
                <a:solidFill>
                  <a:srgbClr val="7D878C"/>
                </a:solidFill>
                <a:latin typeface="Times New Roman"/>
                <a:ea typeface="Times New Roman"/>
                <a:cs typeface="Times New Roman"/>
              </a:defRPr>
            </a:lvl3pPr>
            <a:lvl4pPr>
              <a:defRPr sz="2175" b="1">
                <a:solidFill>
                  <a:srgbClr val="7D878C"/>
                </a:solidFill>
                <a:latin typeface="Times New Roman"/>
                <a:ea typeface="Times New Roman"/>
                <a:cs typeface="Times New Roman"/>
              </a:defRPr>
            </a:lvl4pPr>
            <a:lvl5pPr>
              <a:defRPr sz="2175" b="1">
                <a:solidFill>
                  <a:srgbClr val="7D878C"/>
                </a:solidFill>
                <a:latin typeface="Times New Roman"/>
                <a:ea typeface="Times New Roman"/>
                <a:cs typeface="Times New Roman"/>
              </a:defRPr>
            </a:lvl5pPr>
            <a:lvl6pPr>
              <a:defRPr sz="2175" b="1">
                <a:solidFill>
                  <a:srgbClr val="7D878C"/>
                </a:solidFill>
                <a:latin typeface="Times New Roman"/>
                <a:ea typeface="Times New Roman"/>
                <a:cs typeface="Times New Roman"/>
              </a:defRPr>
            </a:lvl6pPr>
            <a:lvl7pPr>
              <a:defRPr sz="2175" b="1">
                <a:solidFill>
                  <a:srgbClr val="7D878C"/>
                </a:solidFill>
                <a:latin typeface="Times New Roman"/>
                <a:ea typeface="Times New Roman"/>
                <a:cs typeface="Times New Roman"/>
              </a:defRPr>
            </a:lvl7pPr>
            <a:lvl8pPr>
              <a:defRPr sz="2175" b="1">
                <a:solidFill>
                  <a:srgbClr val="7D878C"/>
                </a:solidFill>
                <a:latin typeface="Times New Roman"/>
                <a:ea typeface="Times New Roman"/>
                <a:cs typeface="Times New Roman"/>
              </a:defRPr>
            </a:lvl8pPr>
            <a:lvl9pPr>
              <a:defRPr sz="2175" b="1">
                <a:solidFill>
                  <a:srgbClr val="7D878C"/>
                </a:solidFill>
                <a:latin typeface="Times New Roman"/>
                <a:ea typeface="Times New Roman"/>
                <a:cs typeface="Times New Roman"/>
              </a:defRPr>
            </a:lvl9pPr>
          </a:lstStyle>
          <a:p xmlns:a="http://schemas.openxmlformats.org/drawingml/2006/main">
            <a:pPr>
              <a:defRPr sz="2175" b="1">
                <a:solidFill>
                  <a:srgbClr val="7D878C"/>
                </a:solidFill>
                <a:latin typeface="Times New Roman"/>
                <a:ea typeface="Times New Roman"/>
                <a:cs typeface="Times New Roman"/>
              </a:defRPr>
            </a:pPr>
            <a:r>
              <a:rPr sz="2175" b="1">
                <a:solidFill>
                  <a:srgbClr val="7D878C"/>
                </a:solidFill>
                <a:latin typeface="Times New Roman"/>
                <a:ea typeface="Times New Roman"/>
                <a:cs typeface="Times New Roman"/>
              </a:rPr>
              <a:t>Single stream</a:t>
            </a:r>
          </a:p>
        </p:txBody>
      </p:sp>
      <p:sp>
        <p:nvSpPr>
          <p:cNvPr id="6" name="">
            <a:extLst xmlns:a="http://schemas.openxmlformats.org/drawingml/2006/main">
              <a:ext uri="{FF2B5EF4-FFF2-40B4-BE49-F238E27FC236}">
                <a16:creationId xmlns:a16="http://schemas.microsoft.com/office/drawing/2014/main" id="{547A9D53-1CE1-48B5-A584-F3C2579AD11F}"/>
              </a:ext>
            </a:extLst>
          </p:cNvPr>
          <p:cNvSpPr>
            <a:spLocks xmlns:a="http://schemas.openxmlformats.org/drawingml/2006/main" noGrp="1"/>
          </p:cNvSpPr>
          <p:nvPr/>
        </p:nvSpPr>
        <p:spPr>
          <a:xfrm xmlns:a="http://schemas.openxmlformats.org/drawingml/2006/main">
            <a:off x="2857500" y="2047875"/>
            <a:ext cx="266700" cy="304800"/>
          </a:xfrm>
          <a:prstGeom xmlns:a="http://schemas.openxmlformats.org/drawingml/2006/main" prst="rect">
            <a:avLst/>
          </a:prstGeom>
          <a:solidFill xmlns:a="http://schemas.openxmlformats.org/drawingml/2006/main">
            <a:srgbClr val="7D878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650A6A2-ACDF-4632-B593-B07ACDECC8EC}"/>
              </a:ext>
            </a:extLst>
          </p:cNvPr>
          <p:cNvSpPr>
            <a:spLocks xmlns:a="http://schemas.openxmlformats.org/drawingml/2006/main" noGrp="1"/>
          </p:cNvSpPr>
          <p:nvPr/>
        </p:nvSpPr>
        <p:spPr>
          <a:xfrm xmlns:a="http://schemas.openxmlformats.org/drawingml/2006/main">
            <a:off x="3171825" y="2047875"/>
            <a:ext cx="266700" cy="304800"/>
          </a:xfrm>
          <a:prstGeom xmlns:a="http://schemas.openxmlformats.org/drawingml/2006/main" prst="rect">
            <a:avLst/>
          </a:prstGeom>
          <a:solidFill xmlns:a="http://schemas.openxmlformats.org/drawingml/2006/main">
            <a:srgbClr val="7D87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2D264B7-29FA-4F2B-8E4B-E6D5FBA831FF}"/>
              </a:ext>
            </a:extLst>
          </p:cNvPr>
          <p:cNvSpPr>
            <a:spLocks xmlns:a="http://schemas.openxmlformats.org/drawingml/2006/main" noGrp="1"/>
          </p:cNvSpPr>
          <p:nvPr/>
        </p:nvSpPr>
        <p:spPr>
          <a:xfrm xmlns:a="http://schemas.openxmlformats.org/drawingml/2006/main">
            <a:off x="3486150" y="2047875"/>
            <a:ext cx="266700" cy="304800"/>
          </a:xfrm>
          <a:prstGeom xmlns:a="http://schemas.openxmlformats.org/drawingml/2006/main" prst="rect">
            <a:avLst/>
          </a:prstGeom>
          <a:solidFill xmlns:a="http://schemas.openxmlformats.org/drawingml/2006/main">
            <a:srgbClr val="7D878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E475B73-784A-4024-8F1D-EE7F595AD8ED}"/>
              </a:ext>
            </a:extLst>
          </p:cNvPr>
          <p:cNvSpPr>
            <a:spLocks xmlns:a="http://schemas.openxmlformats.org/drawingml/2006/main" noGrp="1"/>
          </p:cNvSpPr>
          <p:nvPr/>
        </p:nvSpPr>
        <p:spPr>
          <a:xfrm xmlns:a="http://schemas.openxmlformats.org/drawingml/2006/main">
            <a:off x="3800475" y="2047875"/>
            <a:ext cx="266700" cy="304800"/>
          </a:xfrm>
          <a:prstGeom xmlns:a="http://schemas.openxmlformats.org/drawingml/2006/main" prst="rect">
            <a:avLst/>
          </a:prstGeom>
          <a:solidFill xmlns:a="http://schemas.openxmlformats.org/drawingml/2006/main">
            <a:srgbClr val="7D87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7ABC264-C167-4E04-876E-E14130190914}"/>
              </a:ext>
            </a:extLst>
          </p:cNvPr>
          <p:cNvSpPr>
            <a:spLocks xmlns:a="http://schemas.openxmlformats.org/drawingml/2006/main" noGrp="1"/>
          </p:cNvSpPr>
          <p:nvPr/>
        </p:nvSpPr>
        <p:spPr>
          <a:xfrm xmlns:a="http://schemas.openxmlformats.org/drawingml/2006/main">
            <a:off x="4114800" y="2047875"/>
            <a:ext cx="266700" cy="304800"/>
          </a:xfrm>
          <a:prstGeom xmlns:a="http://schemas.openxmlformats.org/drawingml/2006/main" prst="rect">
            <a:avLst/>
          </a:prstGeom>
          <a:solidFill xmlns:a="http://schemas.openxmlformats.org/drawingml/2006/main">
            <a:srgbClr val="7D87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CB5B961-311E-4F5F-BFEA-A2609C3D4A75}"/>
              </a:ext>
            </a:extLst>
          </p:cNvPr>
          <p:cNvSpPr>
            <a:spLocks xmlns:a="http://schemas.openxmlformats.org/drawingml/2006/main" noGrp="1"/>
          </p:cNvSpPr>
          <p:nvPr/>
        </p:nvSpPr>
        <p:spPr>
          <a:xfrm xmlns:a="http://schemas.openxmlformats.org/drawingml/2006/main">
            <a:off x="5238750" y="2047875"/>
            <a:ext cx="34290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7D878C"/>
            </a:solidFill>
          </a:ln>
        </p:spPr>
        <p:txBody>
          <a:bodyPr xmlns:a="http://schemas.openxmlformats.org/drawingml/2006/main" wrap="square" lIns="85725" tIns="85725" rIns="85725" bIns="85725" anchor="ctr">
            <a:noAutofit/>
          </a:bodyPr>
          <a:lstStyle xmlns:a="http://schemas.openxmlformats.org/drawingml/2006/main">
            <a:defPPr algn="ctr">
              <a:defRPr sz="2025" b="1">
                <a:solidFill>
                  <a:srgbClr val="7D878C"/>
                </a:solidFill>
                <a:latin typeface="Times New Roman"/>
                <a:ea typeface="Times New Roman"/>
                <a:cs typeface="Times New Roman"/>
              </a:defRPr>
            </a:defPPr>
            <a:lvl1pPr algn="ctr">
              <a:defRPr sz="2025" b="1">
                <a:solidFill>
                  <a:srgbClr val="7D878C"/>
                </a:solidFill>
                <a:latin typeface="Times New Roman"/>
                <a:ea typeface="Times New Roman"/>
                <a:cs typeface="Times New Roman"/>
              </a:defRPr>
            </a:lvl1pPr>
            <a:lvl2pPr algn="ctr">
              <a:defRPr sz="2025" b="1">
                <a:solidFill>
                  <a:srgbClr val="7D878C"/>
                </a:solidFill>
                <a:latin typeface="Times New Roman"/>
                <a:ea typeface="Times New Roman"/>
                <a:cs typeface="Times New Roman"/>
              </a:defRPr>
            </a:lvl2pPr>
            <a:lvl3pPr algn="ctr">
              <a:defRPr sz="2025" b="1">
                <a:solidFill>
                  <a:srgbClr val="7D878C"/>
                </a:solidFill>
                <a:latin typeface="Times New Roman"/>
                <a:ea typeface="Times New Roman"/>
                <a:cs typeface="Times New Roman"/>
              </a:defRPr>
            </a:lvl3pPr>
            <a:lvl4pPr algn="ctr">
              <a:defRPr sz="2025" b="1">
                <a:solidFill>
                  <a:srgbClr val="7D878C"/>
                </a:solidFill>
                <a:latin typeface="Times New Roman"/>
                <a:ea typeface="Times New Roman"/>
                <a:cs typeface="Times New Roman"/>
              </a:defRPr>
            </a:lvl4pPr>
            <a:lvl5pPr algn="ctr">
              <a:defRPr sz="2025" b="1">
                <a:solidFill>
                  <a:srgbClr val="7D878C"/>
                </a:solidFill>
                <a:latin typeface="Times New Roman"/>
                <a:ea typeface="Times New Roman"/>
                <a:cs typeface="Times New Roman"/>
              </a:defRPr>
            </a:lvl5pPr>
            <a:lvl6pPr algn="ctr">
              <a:defRPr sz="2025" b="1">
                <a:solidFill>
                  <a:srgbClr val="7D878C"/>
                </a:solidFill>
                <a:latin typeface="Times New Roman"/>
                <a:ea typeface="Times New Roman"/>
                <a:cs typeface="Times New Roman"/>
              </a:defRPr>
            </a:lvl6pPr>
            <a:lvl7pPr algn="ctr">
              <a:defRPr sz="2025" b="1">
                <a:solidFill>
                  <a:srgbClr val="7D878C"/>
                </a:solidFill>
                <a:latin typeface="Times New Roman"/>
                <a:ea typeface="Times New Roman"/>
                <a:cs typeface="Times New Roman"/>
              </a:defRPr>
            </a:lvl7pPr>
            <a:lvl8pPr algn="ctr">
              <a:defRPr sz="2025" b="1">
                <a:solidFill>
                  <a:srgbClr val="7D878C"/>
                </a:solidFill>
                <a:latin typeface="Times New Roman"/>
                <a:ea typeface="Times New Roman"/>
                <a:cs typeface="Times New Roman"/>
              </a:defRPr>
            </a:lvl8pPr>
            <a:lvl9pPr algn="ctr">
              <a:defRPr sz="2025" b="1">
                <a:solidFill>
                  <a:srgbClr val="7D878C"/>
                </a:solidFill>
                <a:latin typeface="Times New Roman"/>
                <a:ea typeface="Times New Roman"/>
                <a:cs typeface="Times New Roman"/>
              </a:defRPr>
            </a:lvl9pPr>
          </a:lstStyle>
          <a:p xmlns:a="http://schemas.openxmlformats.org/drawingml/2006/main">
            <a:pPr algn="ctr">
              <a:defRPr sz="2025" b="1">
                <a:solidFill>
                  <a:srgbClr val="7D878C"/>
                </a:solidFill>
                <a:latin typeface="Times New Roman"/>
                <a:ea typeface="Times New Roman"/>
                <a:cs typeface="Times New Roman"/>
              </a:defRPr>
            </a:pPr>
            <a:r>
              <a:rPr sz="2025" b="1">
                <a:solidFill>
                  <a:srgbClr val="7D878C"/>
                </a:solidFill>
                <a:latin typeface="Times New Roman"/>
                <a:ea typeface="Times New Roman"/>
                <a:cs typeface="Times New Roman"/>
              </a:rPr>
              <a:t>Use one encoder</a:t>
            </a:r>
          </a:p>
        </p:txBody>
      </p:sp>
      <p:sp>
        <p:nvSpPr>
          <p:cNvPr id="12" name="">
            <a:extLst xmlns:a="http://schemas.openxmlformats.org/drawingml/2006/main">
              <a:ext uri="{FF2B5EF4-FFF2-40B4-BE49-F238E27FC236}">
                <a16:creationId xmlns:a16="http://schemas.microsoft.com/office/drawing/2014/main" id="{7D0E5E51-64DC-4255-95DD-6F3BF1506E86}"/>
              </a:ext>
            </a:extLst>
          </p:cNvPr>
          <p:cNvSpPr>
            <a:spLocks xmlns:a="http://schemas.openxmlformats.org/drawingml/2006/main" noGrp="1"/>
          </p:cNvSpPr>
          <p:nvPr/>
        </p:nvSpPr>
        <p:spPr>
          <a:xfrm xmlns:a="http://schemas.openxmlformats.org/drawingml/2006/main">
            <a:off x="10001250" y="2047875"/>
            <a:ext cx="1714500" cy="647700"/>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1875" b="1">
                <a:solidFill>
                  <a:srgbClr val="14324B"/>
                </a:solidFill>
                <a:latin typeface="Times New Roman"/>
                <a:ea typeface="Times New Roman"/>
                <a:cs typeface="Times New Roman"/>
              </a:defRPr>
            </a:defPPr>
            <a:lvl1pPr algn="ctr">
              <a:defRPr sz="1875" b="1">
                <a:solidFill>
                  <a:srgbClr val="14324B"/>
                </a:solidFill>
                <a:latin typeface="Times New Roman"/>
                <a:ea typeface="Times New Roman"/>
                <a:cs typeface="Times New Roman"/>
              </a:defRPr>
            </a:lvl1pPr>
            <a:lvl2pPr algn="ctr">
              <a:defRPr sz="1875" b="1">
                <a:solidFill>
                  <a:srgbClr val="14324B"/>
                </a:solidFill>
                <a:latin typeface="Times New Roman"/>
                <a:ea typeface="Times New Roman"/>
                <a:cs typeface="Times New Roman"/>
              </a:defRPr>
            </a:lvl2pPr>
            <a:lvl3pPr algn="ctr">
              <a:defRPr sz="1875" b="1">
                <a:solidFill>
                  <a:srgbClr val="14324B"/>
                </a:solidFill>
                <a:latin typeface="Times New Roman"/>
                <a:ea typeface="Times New Roman"/>
                <a:cs typeface="Times New Roman"/>
              </a:defRPr>
            </a:lvl3pPr>
            <a:lvl4pPr algn="ctr">
              <a:defRPr sz="1875" b="1">
                <a:solidFill>
                  <a:srgbClr val="14324B"/>
                </a:solidFill>
                <a:latin typeface="Times New Roman"/>
                <a:ea typeface="Times New Roman"/>
                <a:cs typeface="Times New Roman"/>
              </a:defRPr>
            </a:lvl4pPr>
            <a:lvl5pPr algn="ctr">
              <a:defRPr sz="1875" b="1">
                <a:solidFill>
                  <a:srgbClr val="14324B"/>
                </a:solidFill>
                <a:latin typeface="Times New Roman"/>
                <a:ea typeface="Times New Roman"/>
                <a:cs typeface="Times New Roman"/>
              </a:defRPr>
            </a:lvl5pPr>
            <a:lvl6pPr algn="ctr">
              <a:defRPr sz="1875" b="1">
                <a:solidFill>
                  <a:srgbClr val="14324B"/>
                </a:solidFill>
                <a:latin typeface="Times New Roman"/>
                <a:ea typeface="Times New Roman"/>
                <a:cs typeface="Times New Roman"/>
              </a:defRPr>
            </a:lvl6pPr>
            <a:lvl7pPr algn="ctr">
              <a:defRPr sz="1875" b="1">
                <a:solidFill>
                  <a:srgbClr val="14324B"/>
                </a:solidFill>
                <a:latin typeface="Times New Roman"/>
                <a:ea typeface="Times New Roman"/>
                <a:cs typeface="Times New Roman"/>
              </a:defRPr>
            </a:lvl7pPr>
            <a:lvl8pPr algn="ctr">
              <a:defRPr sz="1875" b="1">
                <a:solidFill>
                  <a:srgbClr val="14324B"/>
                </a:solidFill>
                <a:latin typeface="Times New Roman"/>
                <a:ea typeface="Times New Roman"/>
                <a:cs typeface="Times New Roman"/>
              </a:defRPr>
            </a:lvl8pPr>
            <a:lvl9pPr algn="ctr">
              <a:defRPr sz="1875" b="1">
                <a:solidFill>
                  <a:srgbClr val="14324B"/>
                </a:solidFill>
                <a:latin typeface="Times New Roman"/>
                <a:ea typeface="Times New Roman"/>
                <a:cs typeface="Times New Roman"/>
              </a:defRPr>
            </a:lvl9pPr>
          </a:lstStyle>
          <a:p xmlns:a="http://schemas.openxmlformats.org/drawingml/2006/main">
            <a:pPr algn="ctr">
              <a:defRPr sz="1875" b="1">
                <a:solidFill>
                  <a:srgbClr val="14324B"/>
                </a:solidFill>
                <a:latin typeface="Times New Roman"/>
                <a:ea typeface="Times New Roman"/>
                <a:cs typeface="Times New Roman"/>
              </a:defRPr>
            </a:pPr>
            <a:r>
              <a:rPr sz="1875" b="1">
                <a:solidFill>
                  <a:srgbClr val="14324B"/>
                </a:solidFill>
                <a:latin typeface="Times New Roman"/>
                <a:ea typeface="Times New Roman"/>
                <a:cs typeface="Times New Roman"/>
              </a:rPr>
              <a:t>Predict target</a:t>
            </a:r>
          </a:p>
        </p:txBody>
      </p:sp>
      <p:sp>
        <p:nvSpPr>
          <p:cNvPr id="13" name="">
            <a:extLst xmlns:a="http://schemas.openxmlformats.org/drawingml/2006/main">
              <a:ext uri="{FF2B5EF4-FFF2-40B4-BE49-F238E27FC236}">
                <a16:creationId xmlns:a16="http://schemas.microsoft.com/office/drawing/2014/main" id="{A658150E-8DF6-4B06-B164-F4AF297701EF}"/>
              </a:ext>
            </a:extLst>
          </p:cNvPr>
          <p:cNvSpPr>
            <a:spLocks xmlns:a="http://schemas.openxmlformats.org/drawingml/2006/main" noGrp="1"/>
          </p:cNvSpPr>
          <p:nvPr/>
        </p:nvSpPr>
        <p:spPr>
          <a:xfrm xmlns:a="http://schemas.openxmlformats.org/drawingml/2006/main">
            <a:off x="4476750" y="2286000"/>
            <a:ext cx="9525" cy="9525"/>
          </a:xfrm>
          <a:prstGeom xmlns:a="http://schemas.openxmlformats.org/drawingml/2006/main" prst="rect">
            <a:avLst/>
          </a:prstGeom>
          <a:noFill xmlns:a="http://schemas.openxmlformats.org/drawingml/2006/main"/>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98B5061-403A-4D1B-BBAB-FC89750D0330}"/>
              </a:ext>
            </a:extLst>
          </p:cNvPr>
          <p:cNvSpPr>
            <a:spLocks xmlns:a="http://schemas.openxmlformats.org/drawingml/2006/main" noGrp="1"/>
          </p:cNvSpPr>
          <p:nvPr/>
        </p:nvSpPr>
        <p:spPr>
          <a:xfrm xmlns:a="http://schemas.openxmlformats.org/drawingml/2006/main">
            <a:off x="428625" y="306705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7D77"/>
                </a:solidFill>
                <a:latin typeface="Times New Roman"/>
                <a:ea typeface="Times New Roman"/>
                <a:cs typeface="Times New Roman"/>
              </a:defRPr>
            </a:defPPr>
            <a:lvl1pPr>
              <a:defRPr sz="2175" b="1">
                <a:solidFill>
                  <a:srgbClr val="167D77"/>
                </a:solidFill>
                <a:latin typeface="Times New Roman"/>
                <a:ea typeface="Times New Roman"/>
                <a:cs typeface="Times New Roman"/>
              </a:defRPr>
            </a:lvl1pPr>
            <a:lvl2pPr>
              <a:defRPr sz="2175" b="1">
                <a:solidFill>
                  <a:srgbClr val="167D77"/>
                </a:solidFill>
                <a:latin typeface="Times New Roman"/>
                <a:ea typeface="Times New Roman"/>
                <a:cs typeface="Times New Roman"/>
              </a:defRPr>
            </a:lvl2pPr>
            <a:lvl3pPr>
              <a:defRPr sz="2175" b="1">
                <a:solidFill>
                  <a:srgbClr val="167D77"/>
                </a:solidFill>
                <a:latin typeface="Times New Roman"/>
                <a:ea typeface="Times New Roman"/>
                <a:cs typeface="Times New Roman"/>
              </a:defRPr>
            </a:lvl3pPr>
            <a:lvl4pPr>
              <a:defRPr sz="2175" b="1">
                <a:solidFill>
                  <a:srgbClr val="167D77"/>
                </a:solidFill>
                <a:latin typeface="Times New Roman"/>
                <a:ea typeface="Times New Roman"/>
                <a:cs typeface="Times New Roman"/>
              </a:defRPr>
            </a:lvl4pPr>
            <a:lvl5pPr>
              <a:defRPr sz="2175" b="1">
                <a:solidFill>
                  <a:srgbClr val="167D77"/>
                </a:solidFill>
                <a:latin typeface="Times New Roman"/>
                <a:ea typeface="Times New Roman"/>
                <a:cs typeface="Times New Roman"/>
              </a:defRPr>
            </a:lvl5pPr>
            <a:lvl6pPr>
              <a:defRPr sz="2175" b="1">
                <a:solidFill>
                  <a:srgbClr val="167D77"/>
                </a:solidFill>
                <a:latin typeface="Times New Roman"/>
                <a:ea typeface="Times New Roman"/>
                <a:cs typeface="Times New Roman"/>
              </a:defRPr>
            </a:lvl6pPr>
            <a:lvl7pPr>
              <a:defRPr sz="2175" b="1">
                <a:solidFill>
                  <a:srgbClr val="167D77"/>
                </a:solidFill>
                <a:latin typeface="Times New Roman"/>
                <a:ea typeface="Times New Roman"/>
                <a:cs typeface="Times New Roman"/>
              </a:defRPr>
            </a:lvl7pPr>
            <a:lvl8pPr>
              <a:defRPr sz="2175" b="1">
                <a:solidFill>
                  <a:srgbClr val="167D77"/>
                </a:solidFill>
                <a:latin typeface="Times New Roman"/>
                <a:ea typeface="Times New Roman"/>
                <a:cs typeface="Times New Roman"/>
              </a:defRPr>
            </a:lvl8pPr>
            <a:lvl9pPr>
              <a:defRPr sz="2175" b="1">
                <a:solidFill>
                  <a:srgbClr val="167D77"/>
                </a:solidFill>
                <a:latin typeface="Times New Roman"/>
                <a:ea typeface="Times New Roman"/>
                <a:cs typeface="Times New Roman"/>
              </a:defRPr>
            </a:lvl9pPr>
          </a:lstStyle>
          <a:p xmlns:a="http://schemas.openxmlformats.org/drawingml/2006/main">
            <a:pPr>
              <a:defRPr sz="2175" b="1">
                <a:solidFill>
                  <a:srgbClr val="167D77"/>
                </a:solidFill>
                <a:latin typeface="Times New Roman"/>
                <a:ea typeface="Times New Roman"/>
                <a:cs typeface="Times New Roman"/>
              </a:defRPr>
            </a:pPr>
            <a:r>
              <a:rPr sz="2175" b="1">
                <a:solidFill>
                  <a:srgbClr val="167D77"/>
                </a:solidFill>
                <a:latin typeface="Times New Roman"/>
                <a:ea typeface="Times New Roman"/>
                <a:cs typeface="Times New Roman"/>
              </a:rPr>
              <a:t>Concatenation</a:t>
            </a:r>
          </a:p>
        </p:txBody>
      </p:sp>
      <p:sp>
        <p:nvSpPr>
          <p:cNvPr id="17" name="">
            <a:extLst xmlns:a="http://schemas.openxmlformats.org/drawingml/2006/main">
              <a:ext uri="{FF2B5EF4-FFF2-40B4-BE49-F238E27FC236}">
                <a16:creationId xmlns:a16="http://schemas.microsoft.com/office/drawing/2014/main" id="{AF3F40F5-1E1B-4100-BBD8-2262D52C8328}"/>
              </a:ext>
            </a:extLst>
          </p:cNvPr>
          <p:cNvSpPr>
            <a:spLocks xmlns:a="http://schemas.openxmlformats.org/drawingml/2006/main" noGrp="1"/>
          </p:cNvSpPr>
          <p:nvPr/>
        </p:nvSpPr>
        <p:spPr>
          <a:xfrm xmlns:a="http://schemas.openxmlformats.org/drawingml/2006/main">
            <a:off x="2857500" y="2952750"/>
            <a:ext cx="2667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9F03CA2-06AB-4F64-B019-0FBAA1960A55}"/>
              </a:ext>
            </a:extLst>
          </p:cNvPr>
          <p:cNvSpPr>
            <a:spLocks xmlns:a="http://schemas.openxmlformats.org/drawingml/2006/main" noGrp="1"/>
          </p:cNvSpPr>
          <p:nvPr/>
        </p:nvSpPr>
        <p:spPr>
          <a:xfrm xmlns:a="http://schemas.openxmlformats.org/drawingml/2006/main">
            <a:off x="3171825" y="2952750"/>
            <a:ext cx="2667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676B24B-74DA-406E-8AF9-8F3E6B9525E6}"/>
              </a:ext>
            </a:extLst>
          </p:cNvPr>
          <p:cNvSpPr>
            <a:spLocks xmlns:a="http://schemas.openxmlformats.org/drawingml/2006/main" noGrp="1"/>
          </p:cNvSpPr>
          <p:nvPr/>
        </p:nvSpPr>
        <p:spPr>
          <a:xfrm xmlns:a="http://schemas.openxmlformats.org/drawingml/2006/main">
            <a:off x="3486150" y="2952750"/>
            <a:ext cx="2667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B3712D5-0442-4101-8D98-C7F4434391CD}"/>
              </a:ext>
            </a:extLst>
          </p:cNvPr>
          <p:cNvSpPr>
            <a:spLocks xmlns:a="http://schemas.openxmlformats.org/drawingml/2006/main" noGrp="1"/>
          </p:cNvSpPr>
          <p:nvPr/>
        </p:nvSpPr>
        <p:spPr>
          <a:xfrm xmlns:a="http://schemas.openxmlformats.org/drawingml/2006/main">
            <a:off x="3800475" y="2952750"/>
            <a:ext cx="2667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13EDF51-0A0F-4B68-AD21-1554B6AE7171}"/>
              </a:ext>
            </a:extLst>
          </p:cNvPr>
          <p:cNvSpPr>
            <a:spLocks xmlns:a="http://schemas.openxmlformats.org/drawingml/2006/main" noGrp="1"/>
          </p:cNvSpPr>
          <p:nvPr/>
        </p:nvSpPr>
        <p:spPr>
          <a:xfrm xmlns:a="http://schemas.openxmlformats.org/drawingml/2006/main">
            <a:off x="4114800" y="2952750"/>
            <a:ext cx="2667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1CD26DA-B325-4891-991E-46BFE910E683}"/>
              </a:ext>
            </a:extLst>
          </p:cNvPr>
          <p:cNvSpPr>
            <a:spLocks xmlns:a="http://schemas.openxmlformats.org/drawingml/2006/main" noGrp="1"/>
          </p:cNvSpPr>
          <p:nvPr/>
        </p:nvSpPr>
        <p:spPr>
          <a:xfrm xmlns:a="http://schemas.openxmlformats.org/drawingml/2006/main">
            <a:off x="2857500" y="3124200"/>
            <a:ext cx="26670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7E71697-C122-43BA-AD32-A01AD394B2E0}"/>
              </a:ext>
            </a:extLst>
          </p:cNvPr>
          <p:cNvSpPr>
            <a:spLocks xmlns:a="http://schemas.openxmlformats.org/drawingml/2006/main" noGrp="1"/>
          </p:cNvSpPr>
          <p:nvPr/>
        </p:nvSpPr>
        <p:spPr>
          <a:xfrm xmlns:a="http://schemas.openxmlformats.org/drawingml/2006/main">
            <a:off x="3171825" y="3124200"/>
            <a:ext cx="26670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F9ED7B0-1666-45E3-A13D-201E050F8A17}"/>
              </a:ext>
            </a:extLst>
          </p:cNvPr>
          <p:cNvSpPr>
            <a:spLocks xmlns:a="http://schemas.openxmlformats.org/drawingml/2006/main" noGrp="1"/>
          </p:cNvSpPr>
          <p:nvPr/>
        </p:nvSpPr>
        <p:spPr>
          <a:xfrm xmlns:a="http://schemas.openxmlformats.org/drawingml/2006/main">
            <a:off x="3486150" y="3124200"/>
            <a:ext cx="26670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9EA03DF-BB5E-4CD1-A772-FE08D3C576B5}"/>
              </a:ext>
            </a:extLst>
          </p:cNvPr>
          <p:cNvSpPr>
            <a:spLocks xmlns:a="http://schemas.openxmlformats.org/drawingml/2006/main" noGrp="1"/>
          </p:cNvSpPr>
          <p:nvPr/>
        </p:nvSpPr>
        <p:spPr>
          <a:xfrm xmlns:a="http://schemas.openxmlformats.org/drawingml/2006/main">
            <a:off x="3800475" y="3124200"/>
            <a:ext cx="26670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4F2669C-368E-40FB-BAA3-C9EF274A8FFB}"/>
              </a:ext>
            </a:extLst>
          </p:cNvPr>
          <p:cNvSpPr>
            <a:spLocks xmlns:a="http://schemas.openxmlformats.org/drawingml/2006/main" noGrp="1"/>
          </p:cNvSpPr>
          <p:nvPr/>
        </p:nvSpPr>
        <p:spPr>
          <a:xfrm xmlns:a="http://schemas.openxmlformats.org/drawingml/2006/main">
            <a:off x="4114800" y="3124200"/>
            <a:ext cx="26670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F6A8310-766C-43CB-B845-2EE2590164FC}"/>
              </a:ext>
            </a:extLst>
          </p:cNvPr>
          <p:cNvSpPr>
            <a:spLocks xmlns:a="http://schemas.openxmlformats.org/drawingml/2006/main" noGrp="1"/>
          </p:cNvSpPr>
          <p:nvPr/>
        </p:nvSpPr>
        <p:spPr>
          <a:xfrm xmlns:a="http://schemas.openxmlformats.org/drawingml/2006/main">
            <a:off x="2857500" y="3295650"/>
            <a:ext cx="2667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3825ABA-79BB-4E07-A866-1C7E2E4EE887}"/>
              </a:ext>
            </a:extLst>
          </p:cNvPr>
          <p:cNvSpPr>
            <a:spLocks xmlns:a="http://schemas.openxmlformats.org/drawingml/2006/main" noGrp="1"/>
          </p:cNvSpPr>
          <p:nvPr/>
        </p:nvSpPr>
        <p:spPr>
          <a:xfrm xmlns:a="http://schemas.openxmlformats.org/drawingml/2006/main">
            <a:off x="3171825" y="3295650"/>
            <a:ext cx="2667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322FCFC-3FDF-4C38-85A7-77B8C264EF9F}"/>
              </a:ext>
            </a:extLst>
          </p:cNvPr>
          <p:cNvSpPr>
            <a:spLocks xmlns:a="http://schemas.openxmlformats.org/drawingml/2006/main" noGrp="1"/>
          </p:cNvSpPr>
          <p:nvPr/>
        </p:nvSpPr>
        <p:spPr>
          <a:xfrm xmlns:a="http://schemas.openxmlformats.org/drawingml/2006/main">
            <a:off x="3486150" y="3295650"/>
            <a:ext cx="2667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4C83C81-291E-4FAA-9B73-48451EE1550A}"/>
              </a:ext>
            </a:extLst>
          </p:cNvPr>
          <p:cNvSpPr>
            <a:spLocks xmlns:a="http://schemas.openxmlformats.org/drawingml/2006/main" noGrp="1"/>
          </p:cNvSpPr>
          <p:nvPr/>
        </p:nvSpPr>
        <p:spPr>
          <a:xfrm xmlns:a="http://schemas.openxmlformats.org/drawingml/2006/main">
            <a:off x="3800475" y="3295650"/>
            <a:ext cx="2667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4D1CBD9-0C41-48FC-B33D-9604EE537EEE}"/>
              </a:ext>
            </a:extLst>
          </p:cNvPr>
          <p:cNvSpPr>
            <a:spLocks xmlns:a="http://schemas.openxmlformats.org/drawingml/2006/main" noGrp="1"/>
          </p:cNvSpPr>
          <p:nvPr/>
        </p:nvSpPr>
        <p:spPr>
          <a:xfrm xmlns:a="http://schemas.openxmlformats.org/drawingml/2006/main">
            <a:off x="4114800" y="3295650"/>
            <a:ext cx="2667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F8BE1DA-0DE0-4F26-8B5B-CD58FDDC173F}"/>
              </a:ext>
            </a:extLst>
          </p:cNvPr>
          <p:cNvSpPr>
            <a:spLocks xmlns:a="http://schemas.openxmlformats.org/drawingml/2006/main" noGrp="1"/>
          </p:cNvSpPr>
          <p:nvPr/>
        </p:nvSpPr>
        <p:spPr>
          <a:xfrm xmlns:a="http://schemas.openxmlformats.org/drawingml/2006/main">
            <a:off x="5238750" y="2952750"/>
            <a:ext cx="34290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025" b="1">
                <a:solidFill>
                  <a:srgbClr val="167D77"/>
                </a:solidFill>
                <a:latin typeface="Times New Roman"/>
                <a:ea typeface="Times New Roman"/>
                <a:cs typeface="Times New Roman"/>
              </a:defRPr>
            </a:defPPr>
            <a:lvl1pPr algn="ctr">
              <a:defRPr sz="2025" b="1">
                <a:solidFill>
                  <a:srgbClr val="167D77"/>
                </a:solidFill>
                <a:latin typeface="Times New Roman"/>
                <a:ea typeface="Times New Roman"/>
                <a:cs typeface="Times New Roman"/>
              </a:defRPr>
            </a:lvl1pPr>
            <a:lvl2pPr algn="ctr">
              <a:defRPr sz="2025" b="1">
                <a:solidFill>
                  <a:srgbClr val="167D77"/>
                </a:solidFill>
                <a:latin typeface="Times New Roman"/>
                <a:ea typeface="Times New Roman"/>
                <a:cs typeface="Times New Roman"/>
              </a:defRPr>
            </a:lvl2pPr>
            <a:lvl3pPr algn="ctr">
              <a:defRPr sz="2025" b="1">
                <a:solidFill>
                  <a:srgbClr val="167D77"/>
                </a:solidFill>
                <a:latin typeface="Times New Roman"/>
                <a:ea typeface="Times New Roman"/>
                <a:cs typeface="Times New Roman"/>
              </a:defRPr>
            </a:lvl3pPr>
            <a:lvl4pPr algn="ctr">
              <a:defRPr sz="2025" b="1">
                <a:solidFill>
                  <a:srgbClr val="167D77"/>
                </a:solidFill>
                <a:latin typeface="Times New Roman"/>
                <a:ea typeface="Times New Roman"/>
                <a:cs typeface="Times New Roman"/>
              </a:defRPr>
            </a:lvl4pPr>
            <a:lvl5pPr algn="ctr">
              <a:defRPr sz="2025" b="1">
                <a:solidFill>
                  <a:srgbClr val="167D77"/>
                </a:solidFill>
                <a:latin typeface="Times New Roman"/>
                <a:ea typeface="Times New Roman"/>
                <a:cs typeface="Times New Roman"/>
              </a:defRPr>
            </a:lvl5pPr>
            <a:lvl6pPr algn="ctr">
              <a:defRPr sz="2025" b="1">
                <a:solidFill>
                  <a:srgbClr val="167D77"/>
                </a:solidFill>
                <a:latin typeface="Times New Roman"/>
                <a:ea typeface="Times New Roman"/>
                <a:cs typeface="Times New Roman"/>
              </a:defRPr>
            </a:lvl6pPr>
            <a:lvl7pPr algn="ctr">
              <a:defRPr sz="2025" b="1">
                <a:solidFill>
                  <a:srgbClr val="167D77"/>
                </a:solidFill>
                <a:latin typeface="Times New Roman"/>
                <a:ea typeface="Times New Roman"/>
                <a:cs typeface="Times New Roman"/>
              </a:defRPr>
            </a:lvl7pPr>
            <a:lvl8pPr algn="ctr">
              <a:defRPr sz="2025" b="1">
                <a:solidFill>
                  <a:srgbClr val="167D77"/>
                </a:solidFill>
                <a:latin typeface="Times New Roman"/>
                <a:ea typeface="Times New Roman"/>
                <a:cs typeface="Times New Roman"/>
              </a:defRPr>
            </a:lvl8pPr>
            <a:lvl9pPr algn="ctr">
              <a:defRPr sz="2025" b="1">
                <a:solidFill>
                  <a:srgbClr val="167D77"/>
                </a:solidFill>
                <a:latin typeface="Times New Roman"/>
                <a:ea typeface="Times New Roman"/>
                <a:cs typeface="Times New Roman"/>
              </a:defRPr>
            </a:lvl9pPr>
          </a:lstStyle>
          <a:p xmlns:a="http://schemas.openxmlformats.org/drawingml/2006/main">
            <a:pPr algn="ctr">
              <a:defRPr sz="2025" b="1">
                <a:solidFill>
                  <a:srgbClr val="167D77"/>
                </a:solidFill>
                <a:latin typeface="Times New Roman"/>
                <a:ea typeface="Times New Roman"/>
                <a:cs typeface="Times New Roman"/>
              </a:defRPr>
            </a:pPr>
            <a:r>
              <a:rPr sz="2025" b="1">
                <a:solidFill>
                  <a:srgbClr val="167D77"/>
                </a:solidFill>
                <a:latin typeface="Times New Roman"/>
                <a:ea typeface="Times New Roman"/>
                <a:cs typeface="Times New Roman"/>
              </a:rPr>
              <a:t>Join the streams</a:t>
            </a:r>
          </a:p>
        </p:txBody>
      </p:sp>
      <p:sp>
        <p:nvSpPr>
          <p:cNvPr id="33" name="">
            <a:extLst xmlns:a="http://schemas.openxmlformats.org/drawingml/2006/main">
              <a:ext uri="{FF2B5EF4-FFF2-40B4-BE49-F238E27FC236}">
                <a16:creationId xmlns:a16="http://schemas.microsoft.com/office/drawing/2014/main" id="{149906E6-A2AC-40F0-9E9E-1A7D49E28DE8}"/>
              </a:ext>
            </a:extLst>
          </p:cNvPr>
          <p:cNvSpPr>
            <a:spLocks xmlns:a="http://schemas.openxmlformats.org/drawingml/2006/main" noGrp="1"/>
          </p:cNvSpPr>
          <p:nvPr/>
        </p:nvSpPr>
        <p:spPr>
          <a:xfrm xmlns:a="http://schemas.openxmlformats.org/drawingml/2006/main">
            <a:off x="10001250" y="2952750"/>
            <a:ext cx="1714500" cy="647700"/>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1875" b="1">
                <a:solidFill>
                  <a:srgbClr val="14324B"/>
                </a:solidFill>
                <a:latin typeface="Times New Roman"/>
                <a:ea typeface="Times New Roman"/>
                <a:cs typeface="Times New Roman"/>
              </a:defRPr>
            </a:defPPr>
            <a:lvl1pPr algn="ctr">
              <a:defRPr sz="1875" b="1">
                <a:solidFill>
                  <a:srgbClr val="14324B"/>
                </a:solidFill>
                <a:latin typeface="Times New Roman"/>
                <a:ea typeface="Times New Roman"/>
                <a:cs typeface="Times New Roman"/>
              </a:defRPr>
            </a:lvl1pPr>
            <a:lvl2pPr algn="ctr">
              <a:defRPr sz="1875" b="1">
                <a:solidFill>
                  <a:srgbClr val="14324B"/>
                </a:solidFill>
                <a:latin typeface="Times New Roman"/>
                <a:ea typeface="Times New Roman"/>
                <a:cs typeface="Times New Roman"/>
              </a:defRPr>
            </a:lvl2pPr>
            <a:lvl3pPr algn="ctr">
              <a:defRPr sz="1875" b="1">
                <a:solidFill>
                  <a:srgbClr val="14324B"/>
                </a:solidFill>
                <a:latin typeface="Times New Roman"/>
                <a:ea typeface="Times New Roman"/>
                <a:cs typeface="Times New Roman"/>
              </a:defRPr>
            </a:lvl3pPr>
            <a:lvl4pPr algn="ctr">
              <a:defRPr sz="1875" b="1">
                <a:solidFill>
                  <a:srgbClr val="14324B"/>
                </a:solidFill>
                <a:latin typeface="Times New Roman"/>
                <a:ea typeface="Times New Roman"/>
                <a:cs typeface="Times New Roman"/>
              </a:defRPr>
            </a:lvl4pPr>
            <a:lvl5pPr algn="ctr">
              <a:defRPr sz="1875" b="1">
                <a:solidFill>
                  <a:srgbClr val="14324B"/>
                </a:solidFill>
                <a:latin typeface="Times New Roman"/>
                <a:ea typeface="Times New Roman"/>
                <a:cs typeface="Times New Roman"/>
              </a:defRPr>
            </a:lvl5pPr>
            <a:lvl6pPr algn="ctr">
              <a:defRPr sz="1875" b="1">
                <a:solidFill>
                  <a:srgbClr val="14324B"/>
                </a:solidFill>
                <a:latin typeface="Times New Roman"/>
                <a:ea typeface="Times New Roman"/>
                <a:cs typeface="Times New Roman"/>
              </a:defRPr>
            </a:lvl6pPr>
            <a:lvl7pPr algn="ctr">
              <a:defRPr sz="1875" b="1">
                <a:solidFill>
                  <a:srgbClr val="14324B"/>
                </a:solidFill>
                <a:latin typeface="Times New Roman"/>
                <a:ea typeface="Times New Roman"/>
                <a:cs typeface="Times New Roman"/>
              </a:defRPr>
            </a:lvl7pPr>
            <a:lvl8pPr algn="ctr">
              <a:defRPr sz="1875" b="1">
                <a:solidFill>
                  <a:srgbClr val="14324B"/>
                </a:solidFill>
                <a:latin typeface="Times New Roman"/>
                <a:ea typeface="Times New Roman"/>
                <a:cs typeface="Times New Roman"/>
              </a:defRPr>
            </a:lvl8pPr>
            <a:lvl9pPr algn="ctr">
              <a:defRPr sz="1875" b="1">
                <a:solidFill>
                  <a:srgbClr val="14324B"/>
                </a:solidFill>
                <a:latin typeface="Times New Roman"/>
                <a:ea typeface="Times New Roman"/>
                <a:cs typeface="Times New Roman"/>
              </a:defRPr>
            </a:lvl9pPr>
          </a:lstStyle>
          <a:p xmlns:a="http://schemas.openxmlformats.org/drawingml/2006/main">
            <a:pPr algn="ctr">
              <a:defRPr sz="1875" b="1">
                <a:solidFill>
                  <a:srgbClr val="14324B"/>
                </a:solidFill>
                <a:latin typeface="Times New Roman"/>
                <a:ea typeface="Times New Roman"/>
                <a:cs typeface="Times New Roman"/>
              </a:defRPr>
            </a:pPr>
            <a:r>
              <a:rPr sz="1875" b="1">
                <a:solidFill>
                  <a:srgbClr val="14324B"/>
                </a:solidFill>
                <a:latin typeface="Times New Roman"/>
                <a:ea typeface="Times New Roman"/>
                <a:cs typeface="Times New Roman"/>
              </a:rPr>
              <a:t>Predict target</a:t>
            </a:r>
          </a:p>
        </p:txBody>
      </p:sp>
      <p:sp>
        <p:nvSpPr>
          <p:cNvPr id="34" name="">
            <a:extLst xmlns:a="http://schemas.openxmlformats.org/drawingml/2006/main">
              <a:ext uri="{FF2B5EF4-FFF2-40B4-BE49-F238E27FC236}">
                <a16:creationId xmlns:a16="http://schemas.microsoft.com/office/drawing/2014/main" id="{D26FB6ED-5482-4EC1-BBDC-276163DA3B22}"/>
              </a:ext>
            </a:extLst>
          </p:cNvPr>
          <p:cNvSpPr>
            <a:spLocks xmlns:a="http://schemas.openxmlformats.org/drawingml/2006/main" noGrp="1"/>
          </p:cNvSpPr>
          <p:nvPr/>
        </p:nvSpPr>
        <p:spPr>
          <a:xfrm xmlns:a="http://schemas.openxmlformats.org/drawingml/2006/main">
            <a:off x="4476750" y="3190875"/>
            <a:ext cx="9525" cy="9525"/>
          </a:xfrm>
          <a:prstGeom xmlns:a="http://schemas.openxmlformats.org/drawingml/2006/main" prst="rect">
            <a:avLst/>
          </a:prstGeom>
          <a:noFill xmlns:a="http://schemas.openxmlformats.org/drawingml/2006/main"/>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52193FE-E865-4AA9-9DBE-0A4A49EB6000}"/>
              </a:ext>
            </a:extLst>
          </p:cNvPr>
          <p:cNvSpPr>
            <a:spLocks xmlns:a="http://schemas.openxmlformats.org/drawingml/2006/main" noGrp="1"/>
          </p:cNvSpPr>
          <p:nvPr/>
        </p:nvSpPr>
        <p:spPr>
          <a:xfrm xmlns:a="http://schemas.openxmlformats.org/drawingml/2006/main">
            <a:off x="428625" y="397192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B3683D"/>
                </a:solidFill>
                <a:latin typeface="Times New Roman"/>
                <a:ea typeface="Times New Roman"/>
                <a:cs typeface="Times New Roman"/>
              </a:defRPr>
            </a:defPPr>
            <a:lvl1pPr>
              <a:defRPr sz="2175" b="1">
                <a:solidFill>
                  <a:srgbClr val="B3683D"/>
                </a:solidFill>
                <a:latin typeface="Times New Roman"/>
                <a:ea typeface="Times New Roman"/>
                <a:cs typeface="Times New Roman"/>
              </a:defRPr>
            </a:lvl1pPr>
            <a:lvl2pPr>
              <a:defRPr sz="2175" b="1">
                <a:solidFill>
                  <a:srgbClr val="B3683D"/>
                </a:solidFill>
                <a:latin typeface="Times New Roman"/>
                <a:ea typeface="Times New Roman"/>
                <a:cs typeface="Times New Roman"/>
              </a:defRPr>
            </a:lvl2pPr>
            <a:lvl3pPr>
              <a:defRPr sz="2175" b="1">
                <a:solidFill>
                  <a:srgbClr val="B3683D"/>
                </a:solidFill>
                <a:latin typeface="Times New Roman"/>
                <a:ea typeface="Times New Roman"/>
                <a:cs typeface="Times New Roman"/>
              </a:defRPr>
            </a:lvl3pPr>
            <a:lvl4pPr>
              <a:defRPr sz="2175" b="1">
                <a:solidFill>
                  <a:srgbClr val="B3683D"/>
                </a:solidFill>
                <a:latin typeface="Times New Roman"/>
                <a:ea typeface="Times New Roman"/>
                <a:cs typeface="Times New Roman"/>
              </a:defRPr>
            </a:lvl4pPr>
            <a:lvl5pPr>
              <a:defRPr sz="2175" b="1">
                <a:solidFill>
                  <a:srgbClr val="B3683D"/>
                </a:solidFill>
                <a:latin typeface="Times New Roman"/>
                <a:ea typeface="Times New Roman"/>
                <a:cs typeface="Times New Roman"/>
              </a:defRPr>
            </a:lvl5pPr>
            <a:lvl6pPr>
              <a:defRPr sz="2175" b="1">
                <a:solidFill>
                  <a:srgbClr val="B3683D"/>
                </a:solidFill>
                <a:latin typeface="Times New Roman"/>
                <a:ea typeface="Times New Roman"/>
                <a:cs typeface="Times New Roman"/>
              </a:defRPr>
            </a:lvl6pPr>
            <a:lvl7pPr>
              <a:defRPr sz="2175" b="1">
                <a:solidFill>
                  <a:srgbClr val="B3683D"/>
                </a:solidFill>
                <a:latin typeface="Times New Roman"/>
                <a:ea typeface="Times New Roman"/>
                <a:cs typeface="Times New Roman"/>
              </a:defRPr>
            </a:lvl7pPr>
            <a:lvl8pPr>
              <a:defRPr sz="2175" b="1">
                <a:solidFill>
                  <a:srgbClr val="B3683D"/>
                </a:solidFill>
                <a:latin typeface="Times New Roman"/>
                <a:ea typeface="Times New Roman"/>
                <a:cs typeface="Times New Roman"/>
              </a:defRPr>
            </a:lvl8pPr>
            <a:lvl9pPr>
              <a:defRPr sz="2175" b="1">
                <a:solidFill>
                  <a:srgbClr val="B3683D"/>
                </a:solidFill>
                <a:latin typeface="Times New Roman"/>
                <a:ea typeface="Times New Roman"/>
                <a:cs typeface="Times New Roman"/>
              </a:defRPr>
            </a:lvl9pPr>
          </a:lstStyle>
          <a:p xmlns:a="http://schemas.openxmlformats.org/drawingml/2006/main">
            <a:pPr>
              <a:defRPr sz="2175" b="1">
                <a:solidFill>
                  <a:srgbClr val="B3683D"/>
                </a:solidFill>
                <a:latin typeface="Times New Roman"/>
                <a:ea typeface="Times New Roman"/>
                <a:cs typeface="Times New Roman"/>
              </a:defRPr>
            </a:pPr>
            <a:r>
              <a:rPr sz="2175" b="1">
                <a:solidFill>
                  <a:srgbClr val="B3683D"/>
                </a:solidFill>
                <a:latin typeface="Times New Roman"/>
                <a:ea typeface="Times New Roman"/>
                <a:cs typeface="Times New Roman"/>
              </a:rPr>
              <a:t>Gated fusion</a:t>
            </a:r>
          </a:p>
        </p:txBody>
      </p:sp>
      <p:sp>
        <p:nvSpPr>
          <p:cNvPr id="38" name="">
            <a:extLst xmlns:a="http://schemas.openxmlformats.org/drawingml/2006/main">
              <a:ext uri="{FF2B5EF4-FFF2-40B4-BE49-F238E27FC236}">
                <a16:creationId xmlns:a16="http://schemas.microsoft.com/office/drawing/2014/main" id="{DDDA55F5-A20A-49B1-8A7F-55C67C1FE2B0}"/>
              </a:ext>
            </a:extLst>
          </p:cNvPr>
          <p:cNvSpPr>
            <a:spLocks xmlns:a="http://schemas.openxmlformats.org/drawingml/2006/main" noGrp="1"/>
          </p:cNvSpPr>
          <p:nvPr/>
        </p:nvSpPr>
        <p:spPr>
          <a:xfrm xmlns:a="http://schemas.openxmlformats.org/drawingml/2006/main">
            <a:off x="2857500" y="3857625"/>
            <a:ext cx="2667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22A67AE4-3309-4D06-BC59-10AF52CD119D}"/>
              </a:ext>
            </a:extLst>
          </p:cNvPr>
          <p:cNvSpPr>
            <a:spLocks xmlns:a="http://schemas.openxmlformats.org/drawingml/2006/main" noGrp="1"/>
          </p:cNvSpPr>
          <p:nvPr/>
        </p:nvSpPr>
        <p:spPr>
          <a:xfrm xmlns:a="http://schemas.openxmlformats.org/drawingml/2006/main">
            <a:off x="3171825" y="3857625"/>
            <a:ext cx="2667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F21357EB-DC56-4444-986F-4E936DFF3359}"/>
              </a:ext>
            </a:extLst>
          </p:cNvPr>
          <p:cNvSpPr>
            <a:spLocks xmlns:a="http://schemas.openxmlformats.org/drawingml/2006/main" noGrp="1"/>
          </p:cNvSpPr>
          <p:nvPr/>
        </p:nvSpPr>
        <p:spPr>
          <a:xfrm xmlns:a="http://schemas.openxmlformats.org/drawingml/2006/main">
            <a:off x="3486150" y="3857625"/>
            <a:ext cx="2667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020A931D-7990-46DA-A671-EB8F363C393E}"/>
              </a:ext>
            </a:extLst>
          </p:cNvPr>
          <p:cNvSpPr>
            <a:spLocks xmlns:a="http://schemas.openxmlformats.org/drawingml/2006/main" noGrp="1"/>
          </p:cNvSpPr>
          <p:nvPr/>
        </p:nvSpPr>
        <p:spPr>
          <a:xfrm xmlns:a="http://schemas.openxmlformats.org/drawingml/2006/main">
            <a:off x="3800475" y="3857625"/>
            <a:ext cx="2667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4D6813D1-B1FC-4B9F-B11A-D0ECF43847E3}"/>
              </a:ext>
            </a:extLst>
          </p:cNvPr>
          <p:cNvSpPr>
            <a:spLocks xmlns:a="http://schemas.openxmlformats.org/drawingml/2006/main" noGrp="1"/>
          </p:cNvSpPr>
          <p:nvPr/>
        </p:nvSpPr>
        <p:spPr>
          <a:xfrm xmlns:a="http://schemas.openxmlformats.org/drawingml/2006/main">
            <a:off x="4114800" y="3857625"/>
            <a:ext cx="2667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D449B1B8-29BE-46FA-8BC6-60A5D4ED7C50}"/>
              </a:ext>
            </a:extLst>
          </p:cNvPr>
          <p:cNvSpPr>
            <a:spLocks xmlns:a="http://schemas.openxmlformats.org/drawingml/2006/main" noGrp="1"/>
          </p:cNvSpPr>
          <p:nvPr/>
        </p:nvSpPr>
        <p:spPr>
          <a:xfrm xmlns:a="http://schemas.openxmlformats.org/drawingml/2006/main">
            <a:off x="2857500" y="4029075"/>
            <a:ext cx="26670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EAB860E2-F0EF-45E3-922B-58B890DA520F}"/>
              </a:ext>
            </a:extLst>
          </p:cNvPr>
          <p:cNvSpPr>
            <a:spLocks xmlns:a="http://schemas.openxmlformats.org/drawingml/2006/main" noGrp="1"/>
          </p:cNvSpPr>
          <p:nvPr/>
        </p:nvSpPr>
        <p:spPr>
          <a:xfrm xmlns:a="http://schemas.openxmlformats.org/drawingml/2006/main">
            <a:off x="3171825" y="4029075"/>
            <a:ext cx="26670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05965516-5AE9-4616-9023-17D859243F6F}"/>
              </a:ext>
            </a:extLst>
          </p:cNvPr>
          <p:cNvSpPr>
            <a:spLocks xmlns:a="http://schemas.openxmlformats.org/drawingml/2006/main" noGrp="1"/>
          </p:cNvSpPr>
          <p:nvPr/>
        </p:nvSpPr>
        <p:spPr>
          <a:xfrm xmlns:a="http://schemas.openxmlformats.org/drawingml/2006/main">
            <a:off x="3486150" y="4029075"/>
            <a:ext cx="26670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A1203C16-85FF-4C01-B777-87DB36CF3511}"/>
              </a:ext>
            </a:extLst>
          </p:cNvPr>
          <p:cNvSpPr>
            <a:spLocks xmlns:a="http://schemas.openxmlformats.org/drawingml/2006/main" noGrp="1"/>
          </p:cNvSpPr>
          <p:nvPr/>
        </p:nvSpPr>
        <p:spPr>
          <a:xfrm xmlns:a="http://schemas.openxmlformats.org/drawingml/2006/main">
            <a:off x="3800475" y="4029075"/>
            <a:ext cx="26670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766B564-F58C-4E20-BAFA-25A8BB8C4A97}"/>
              </a:ext>
            </a:extLst>
          </p:cNvPr>
          <p:cNvSpPr>
            <a:spLocks xmlns:a="http://schemas.openxmlformats.org/drawingml/2006/main" noGrp="1"/>
          </p:cNvSpPr>
          <p:nvPr/>
        </p:nvSpPr>
        <p:spPr>
          <a:xfrm xmlns:a="http://schemas.openxmlformats.org/drawingml/2006/main">
            <a:off x="4114800" y="4029075"/>
            <a:ext cx="26670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0E295038-BEFE-443E-91A1-36EC4005501B}"/>
              </a:ext>
            </a:extLst>
          </p:cNvPr>
          <p:cNvSpPr>
            <a:spLocks xmlns:a="http://schemas.openxmlformats.org/drawingml/2006/main" noGrp="1"/>
          </p:cNvSpPr>
          <p:nvPr/>
        </p:nvSpPr>
        <p:spPr>
          <a:xfrm xmlns:a="http://schemas.openxmlformats.org/drawingml/2006/main">
            <a:off x="2857500" y="4200525"/>
            <a:ext cx="2667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CF7D2272-C79A-44DA-B545-C3066A643892}"/>
              </a:ext>
            </a:extLst>
          </p:cNvPr>
          <p:cNvSpPr>
            <a:spLocks xmlns:a="http://schemas.openxmlformats.org/drawingml/2006/main" noGrp="1"/>
          </p:cNvSpPr>
          <p:nvPr/>
        </p:nvSpPr>
        <p:spPr>
          <a:xfrm xmlns:a="http://schemas.openxmlformats.org/drawingml/2006/main">
            <a:off x="3171825" y="4200525"/>
            <a:ext cx="2667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E19930E0-9747-4F84-A36B-290A0E395CA5}"/>
              </a:ext>
            </a:extLst>
          </p:cNvPr>
          <p:cNvSpPr>
            <a:spLocks xmlns:a="http://schemas.openxmlformats.org/drawingml/2006/main" noGrp="1"/>
          </p:cNvSpPr>
          <p:nvPr/>
        </p:nvSpPr>
        <p:spPr>
          <a:xfrm xmlns:a="http://schemas.openxmlformats.org/drawingml/2006/main">
            <a:off x="3486150" y="4200525"/>
            <a:ext cx="2667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DD19074A-411D-42A0-B1F6-AF775511A497}"/>
              </a:ext>
            </a:extLst>
          </p:cNvPr>
          <p:cNvSpPr>
            <a:spLocks xmlns:a="http://schemas.openxmlformats.org/drawingml/2006/main" noGrp="1"/>
          </p:cNvSpPr>
          <p:nvPr/>
        </p:nvSpPr>
        <p:spPr>
          <a:xfrm xmlns:a="http://schemas.openxmlformats.org/drawingml/2006/main">
            <a:off x="3800475" y="4200525"/>
            <a:ext cx="2667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070361E6-4F5A-4695-9F90-5AB1F261ADBA}"/>
              </a:ext>
            </a:extLst>
          </p:cNvPr>
          <p:cNvSpPr>
            <a:spLocks xmlns:a="http://schemas.openxmlformats.org/drawingml/2006/main" noGrp="1"/>
          </p:cNvSpPr>
          <p:nvPr/>
        </p:nvSpPr>
        <p:spPr>
          <a:xfrm xmlns:a="http://schemas.openxmlformats.org/drawingml/2006/main">
            <a:off x="4114800" y="4200525"/>
            <a:ext cx="2667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E1709AFB-1C66-4747-9341-983610116DB9}"/>
              </a:ext>
            </a:extLst>
          </p:cNvPr>
          <p:cNvSpPr>
            <a:spLocks xmlns:a="http://schemas.openxmlformats.org/drawingml/2006/main" noGrp="1"/>
          </p:cNvSpPr>
          <p:nvPr/>
        </p:nvSpPr>
        <p:spPr>
          <a:xfrm xmlns:a="http://schemas.openxmlformats.org/drawingml/2006/main">
            <a:off x="5238750" y="3857625"/>
            <a:ext cx="34290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B3683D"/>
            </a:solidFill>
          </a:ln>
        </p:spPr>
        <p:txBody>
          <a:bodyPr xmlns:a="http://schemas.openxmlformats.org/drawingml/2006/main" wrap="square" lIns="85725" tIns="85725" rIns="85725" bIns="85725" anchor="ctr">
            <a:noAutofit/>
          </a:bodyPr>
          <a:lstStyle xmlns:a="http://schemas.openxmlformats.org/drawingml/2006/main">
            <a:defPPr algn="ctr">
              <a:defRPr sz="2025" b="1">
                <a:solidFill>
                  <a:srgbClr val="B3683D"/>
                </a:solidFill>
                <a:latin typeface="Times New Roman"/>
                <a:ea typeface="Times New Roman"/>
                <a:cs typeface="Times New Roman"/>
              </a:defRPr>
            </a:defPPr>
            <a:lvl1pPr algn="ctr">
              <a:defRPr sz="2025" b="1">
                <a:solidFill>
                  <a:srgbClr val="B3683D"/>
                </a:solidFill>
                <a:latin typeface="Times New Roman"/>
                <a:ea typeface="Times New Roman"/>
                <a:cs typeface="Times New Roman"/>
              </a:defRPr>
            </a:lvl1pPr>
            <a:lvl2pPr algn="ctr">
              <a:defRPr sz="2025" b="1">
                <a:solidFill>
                  <a:srgbClr val="B3683D"/>
                </a:solidFill>
                <a:latin typeface="Times New Roman"/>
                <a:ea typeface="Times New Roman"/>
                <a:cs typeface="Times New Roman"/>
              </a:defRPr>
            </a:lvl2pPr>
            <a:lvl3pPr algn="ctr">
              <a:defRPr sz="2025" b="1">
                <a:solidFill>
                  <a:srgbClr val="B3683D"/>
                </a:solidFill>
                <a:latin typeface="Times New Roman"/>
                <a:ea typeface="Times New Roman"/>
                <a:cs typeface="Times New Roman"/>
              </a:defRPr>
            </a:lvl3pPr>
            <a:lvl4pPr algn="ctr">
              <a:defRPr sz="2025" b="1">
                <a:solidFill>
                  <a:srgbClr val="B3683D"/>
                </a:solidFill>
                <a:latin typeface="Times New Roman"/>
                <a:ea typeface="Times New Roman"/>
                <a:cs typeface="Times New Roman"/>
              </a:defRPr>
            </a:lvl4pPr>
            <a:lvl5pPr algn="ctr">
              <a:defRPr sz="2025" b="1">
                <a:solidFill>
                  <a:srgbClr val="B3683D"/>
                </a:solidFill>
                <a:latin typeface="Times New Roman"/>
                <a:ea typeface="Times New Roman"/>
                <a:cs typeface="Times New Roman"/>
              </a:defRPr>
            </a:lvl5pPr>
            <a:lvl6pPr algn="ctr">
              <a:defRPr sz="2025" b="1">
                <a:solidFill>
                  <a:srgbClr val="B3683D"/>
                </a:solidFill>
                <a:latin typeface="Times New Roman"/>
                <a:ea typeface="Times New Roman"/>
                <a:cs typeface="Times New Roman"/>
              </a:defRPr>
            </a:lvl6pPr>
            <a:lvl7pPr algn="ctr">
              <a:defRPr sz="2025" b="1">
                <a:solidFill>
                  <a:srgbClr val="B3683D"/>
                </a:solidFill>
                <a:latin typeface="Times New Roman"/>
                <a:ea typeface="Times New Roman"/>
                <a:cs typeface="Times New Roman"/>
              </a:defRPr>
            </a:lvl7pPr>
            <a:lvl8pPr algn="ctr">
              <a:defRPr sz="2025" b="1">
                <a:solidFill>
                  <a:srgbClr val="B3683D"/>
                </a:solidFill>
                <a:latin typeface="Times New Roman"/>
                <a:ea typeface="Times New Roman"/>
                <a:cs typeface="Times New Roman"/>
              </a:defRPr>
            </a:lvl8pPr>
            <a:lvl9pPr algn="ctr">
              <a:defRPr sz="2025" b="1">
                <a:solidFill>
                  <a:srgbClr val="B3683D"/>
                </a:solidFill>
                <a:latin typeface="Times New Roman"/>
                <a:ea typeface="Times New Roman"/>
                <a:cs typeface="Times New Roman"/>
              </a:defRPr>
            </a:lvl9pPr>
          </a:lstStyle>
          <a:p xmlns:a="http://schemas.openxmlformats.org/drawingml/2006/main">
            <a:pPr algn="ctr">
              <a:defRPr sz="2025" b="1">
                <a:solidFill>
                  <a:srgbClr val="B3683D"/>
                </a:solidFill>
                <a:latin typeface="Times New Roman"/>
                <a:ea typeface="Times New Roman"/>
                <a:cs typeface="Times New Roman"/>
              </a:defRPr>
            </a:pPr>
            <a:r>
              <a:rPr sz="2025" b="1">
                <a:solidFill>
                  <a:srgbClr val="B3683D"/>
                </a:solidFill>
                <a:latin typeface="Times New Roman"/>
                <a:ea typeface="Times New Roman"/>
                <a:cs typeface="Times New Roman"/>
              </a:rPr>
              <a:t>Learn their contributions</a:t>
            </a:r>
          </a:p>
        </p:txBody>
      </p:sp>
      <p:sp>
        <p:nvSpPr>
          <p:cNvPr id="54" name="">
            <a:extLst xmlns:a="http://schemas.openxmlformats.org/drawingml/2006/main">
              <a:ext uri="{FF2B5EF4-FFF2-40B4-BE49-F238E27FC236}">
                <a16:creationId xmlns:a16="http://schemas.microsoft.com/office/drawing/2014/main" id="{813D450A-C21B-45E5-B999-248F40D8D5F6}"/>
              </a:ext>
            </a:extLst>
          </p:cNvPr>
          <p:cNvSpPr>
            <a:spLocks xmlns:a="http://schemas.openxmlformats.org/drawingml/2006/main" noGrp="1"/>
          </p:cNvSpPr>
          <p:nvPr/>
        </p:nvSpPr>
        <p:spPr>
          <a:xfrm xmlns:a="http://schemas.openxmlformats.org/drawingml/2006/main">
            <a:off x="10001250" y="3857625"/>
            <a:ext cx="1714500" cy="647700"/>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1875" b="1">
                <a:solidFill>
                  <a:srgbClr val="14324B"/>
                </a:solidFill>
                <a:latin typeface="Times New Roman"/>
                <a:ea typeface="Times New Roman"/>
                <a:cs typeface="Times New Roman"/>
              </a:defRPr>
            </a:defPPr>
            <a:lvl1pPr algn="ctr">
              <a:defRPr sz="1875" b="1">
                <a:solidFill>
                  <a:srgbClr val="14324B"/>
                </a:solidFill>
                <a:latin typeface="Times New Roman"/>
                <a:ea typeface="Times New Roman"/>
                <a:cs typeface="Times New Roman"/>
              </a:defRPr>
            </a:lvl1pPr>
            <a:lvl2pPr algn="ctr">
              <a:defRPr sz="1875" b="1">
                <a:solidFill>
                  <a:srgbClr val="14324B"/>
                </a:solidFill>
                <a:latin typeface="Times New Roman"/>
                <a:ea typeface="Times New Roman"/>
                <a:cs typeface="Times New Roman"/>
              </a:defRPr>
            </a:lvl2pPr>
            <a:lvl3pPr algn="ctr">
              <a:defRPr sz="1875" b="1">
                <a:solidFill>
                  <a:srgbClr val="14324B"/>
                </a:solidFill>
                <a:latin typeface="Times New Roman"/>
                <a:ea typeface="Times New Roman"/>
                <a:cs typeface="Times New Roman"/>
              </a:defRPr>
            </a:lvl3pPr>
            <a:lvl4pPr algn="ctr">
              <a:defRPr sz="1875" b="1">
                <a:solidFill>
                  <a:srgbClr val="14324B"/>
                </a:solidFill>
                <a:latin typeface="Times New Roman"/>
                <a:ea typeface="Times New Roman"/>
                <a:cs typeface="Times New Roman"/>
              </a:defRPr>
            </a:lvl4pPr>
            <a:lvl5pPr algn="ctr">
              <a:defRPr sz="1875" b="1">
                <a:solidFill>
                  <a:srgbClr val="14324B"/>
                </a:solidFill>
                <a:latin typeface="Times New Roman"/>
                <a:ea typeface="Times New Roman"/>
                <a:cs typeface="Times New Roman"/>
              </a:defRPr>
            </a:lvl5pPr>
            <a:lvl6pPr algn="ctr">
              <a:defRPr sz="1875" b="1">
                <a:solidFill>
                  <a:srgbClr val="14324B"/>
                </a:solidFill>
                <a:latin typeface="Times New Roman"/>
                <a:ea typeface="Times New Roman"/>
                <a:cs typeface="Times New Roman"/>
              </a:defRPr>
            </a:lvl6pPr>
            <a:lvl7pPr algn="ctr">
              <a:defRPr sz="1875" b="1">
                <a:solidFill>
                  <a:srgbClr val="14324B"/>
                </a:solidFill>
                <a:latin typeface="Times New Roman"/>
                <a:ea typeface="Times New Roman"/>
                <a:cs typeface="Times New Roman"/>
              </a:defRPr>
            </a:lvl7pPr>
            <a:lvl8pPr algn="ctr">
              <a:defRPr sz="1875" b="1">
                <a:solidFill>
                  <a:srgbClr val="14324B"/>
                </a:solidFill>
                <a:latin typeface="Times New Roman"/>
                <a:ea typeface="Times New Roman"/>
                <a:cs typeface="Times New Roman"/>
              </a:defRPr>
            </a:lvl8pPr>
            <a:lvl9pPr algn="ctr">
              <a:defRPr sz="1875" b="1">
                <a:solidFill>
                  <a:srgbClr val="14324B"/>
                </a:solidFill>
                <a:latin typeface="Times New Roman"/>
                <a:ea typeface="Times New Roman"/>
                <a:cs typeface="Times New Roman"/>
              </a:defRPr>
            </a:lvl9pPr>
          </a:lstStyle>
          <a:p xmlns:a="http://schemas.openxmlformats.org/drawingml/2006/main">
            <a:pPr algn="ctr">
              <a:defRPr sz="1875" b="1">
                <a:solidFill>
                  <a:srgbClr val="14324B"/>
                </a:solidFill>
                <a:latin typeface="Times New Roman"/>
                <a:ea typeface="Times New Roman"/>
                <a:cs typeface="Times New Roman"/>
              </a:defRPr>
            </a:pPr>
            <a:r>
              <a:rPr sz="1875" b="1">
                <a:solidFill>
                  <a:srgbClr val="14324B"/>
                </a:solidFill>
                <a:latin typeface="Times New Roman"/>
                <a:ea typeface="Times New Roman"/>
                <a:cs typeface="Times New Roman"/>
              </a:rPr>
              <a:t>Predict target</a:t>
            </a:r>
          </a:p>
        </p:txBody>
      </p:sp>
      <p:sp>
        <p:nvSpPr>
          <p:cNvPr id="55" name="">
            <a:extLst xmlns:a="http://schemas.openxmlformats.org/drawingml/2006/main">
              <a:ext uri="{FF2B5EF4-FFF2-40B4-BE49-F238E27FC236}">
                <a16:creationId xmlns:a16="http://schemas.microsoft.com/office/drawing/2014/main" id="{DE19E4F1-6F49-43DE-940B-07858038010F}"/>
              </a:ext>
            </a:extLst>
          </p:cNvPr>
          <p:cNvSpPr>
            <a:spLocks xmlns:a="http://schemas.openxmlformats.org/drawingml/2006/main" noGrp="1"/>
          </p:cNvSpPr>
          <p:nvPr/>
        </p:nvSpPr>
        <p:spPr>
          <a:xfrm xmlns:a="http://schemas.openxmlformats.org/drawingml/2006/main">
            <a:off x="4476750" y="4095750"/>
            <a:ext cx="9525" cy="9525"/>
          </a:xfrm>
          <a:prstGeom xmlns:a="http://schemas.openxmlformats.org/drawingml/2006/main" prst="rect">
            <a:avLst/>
          </a:prstGeom>
          <a:noFill xmlns:a="http://schemas.openxmlformats.org/drawingml/2006/main"/>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238F28B0-2510-44A7-A65A-F1A23BB813F5}"/>
              </a:ext>
            </a:extLst>
          </p:cNvPr>
          <p:cNvSpPr>
            <a:spLocks xmlns:a="http://schemas.openxmlformats.org/drawingml/2006/main" noGrp="1"/>
          </p:cNvSpPr>
          <p:nvPr/>
        </p:nvSpPr>
        <p:spPr>
          <a:xfrm xmlns:a="http://schemas.openxmlformats.org/drawingml/2006/main">
            <a:off x="428625" y="487680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815897"/>
                </a:solidFill>
                <a:latin typeface="Times New Roman"/>
                <a:ea typeface="Times New Roman"/>
                <a:cs typeface="Times New Roman"/>
              </a:defRPr>
            </a:defPPr>
            <a:lvl1pPr>
              <a:defRPr sz="2175" b="1">
                <a:solidFill>
                  <a:srgbClr val="815897"/>
                </a:solidFill>
                <a:latin typeface="Times New Roman"/>
                <a:ea typeface="Times New Roman"/>
                <a:cs typeface="Times New Roman"/>
              </a:defRPr>
            </a:lvl1pPr>
            <a:lvl2pPr>
              <a:defRPr sz="2175" b="1">
                <a:solidFill>
                  <a:srgbClr val="815897"/>
                </a:solidFill>
                <a:latin typeface="Times New Roman"/>
                <a:ea typeface="Times New Roman"/>
                <a:cs typeface="Times New Roman"/>
              </a:defRPr>
            </a:lvl2pPr>
            <a:lvl3pPr>
              <a:defRPr sz="2175" b="1">
                <a:solidFill>
                  <a:srgbClr val="815897"/>
                </a:solidFill>
                <a:latin typeface="Times New Roman"/>
                <a:ea typeface="Times New Roman"/>
                <a:cs typeface="Times New Roman"/>
              </a:defRPr>
            </a:lvl3pPr>
            <a:lvl4pPr>
              <a:defRPr sz="2175" b="1">
                <a:solidFill>
                  <a:srgbClr val="815897"/>
                </a:solidFill>
                <a:latin typeface="Times New Roman"/>
                <a:ea typeface="Times New Roman"/>
                <a:cs typeface="Times New Roman"/>
              </a:defRPr>
            </a:lvl4pPr>
            <a:lvl5pPr>
              <a:defRPr sz="2175" b="1">
                <a:solidFill>
                  <a:srgbClr val="815897"/>
                </a:solidFill>
                <a:latin typeface="Times New Roman"/>
                <a:ea typeface="Times New Roman"/>
                <a:cs typeface="Times New Roman"/>
              </a:defRPr>
            </a:lvl5pPr>
            <a:lvl6pPr>
              <a:defRPr sz="2175" b="1">
                <a:solidFill>
                  <a:srgbClr val="815897"/>
                </a:solidFill>
                <a:latin typeface="Times New Roman"/>
                <a:ea typeface="Times New Roman"/>
                <a:cs typeface="Times New Roman"/>
              </a:defRPr>
            </a:lvl6pPr>
            <a:lvl7pPr>
              <a:defRPr sz="2175" b="1">
                <a:solidFill>
                  <a:srgbClr val="815897"/>
                </a:solidFill>
                <a:latin typeface="Times New Roman"/>
                <a:ea typeface="Times New Roman"/>
                <a:cs typeface="Times New Roman"/>
              </a:defRPr>
            </a:lvl7pPr>
            <a:lvl8pPr>
              <a:defRPr sz="2175" b="1">
                <a:solidFill>
                  <a:srgbClr val="815897"/>
                </a:solidFill>
                <a:latin typeface="Times New Roman"/>
                <a:ea typeface="Times New Roman"/>
                <a:cs typeface="Times New Roman"/>
              </a:defRPr>
            </a:lvl8pPr>
            <a:lvl9pPr>
              <a:defRPr sz="2175" b="1">
                <a:solidFill>
                  <a:srgbClr val="815897"/>
                </a:solidFill>
                <a:latin typeface="Times New Roman"/>
                <a:ea typeface="Times New Roman"/>
                <a:cs typeface="Times New Roman"/>
              </a:defRPr>
            </a:lvl9pPr>
          </a:lstStyle>
          <a:p xmlns:a="http://schemas.openxmlformats.org/drawingml/2006/main">
            <a:pPr>
              <a:defRPr sz="2175" b="1">
                <a:solidFill>
                  <a:srgbClr val="815897"/>
                </a:solidFill>
                <a:latin typeface="Times New Roman"/>
                <a:ea typeface="Times New Roman"/>
                <a:cs typeface="Times New Roman"/>
              </a:defRPr>
            </a:pPr>
            <a:r>
              <a:rPr sz="2175" b="1">
                <a:solidFill>
                  <a:srgbClr val="815897"/>
                </a:solidFill>
                <a:latin typeface="Times New Roman"/>
                <a:ea typeface="Times New Roman"/>
                <a:cs typeface="Times New Roman"/>
              </a:rPr>
              <a:t>Cross-attention</a:t>
            </a:r>
          </a:p>
        </p:txBody>
      </p:sp>
      <p:sp>
        <p:nvSpPr>
          <p:cNvPr id="59" name="">
            <a:extLst xmlns:a="http://schemas.openxmlformats.org/drawingml/2006/main">
              <a:ext uri="{FF2B5EF4-FFF2-40B4-BE49-F238E27FC236}">
                <a16:creationId xmlns:a16="http://schemas.microsoft.com/office/drawing/2014/main" id="{452C8545-D7DC-4C10-932F-9824523CB5DF}"/>
              </a:ext>
            </a:extLst>
          </p:cNvPr>
          <p:cNvSpPr>
            <a:spLocks xmlns:a="http://schemas.openxmlformats.org/drawingml/2006/main" noGrp="1"/>
          </p:cNvSpPr>
          <p:nvPr/>
        </p:nvSpPr>
        <p:spPr>
          <a:xfrm xmlns:a="http://schemas.openxmlformats.org/drawingml/2006/main">
            <a:off x="2857500" y="4762500"/>
            <a:ext cx="2667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16AC208D-C10C-4D7E-AD01-E7CA336CCCBE}"/>
              </a:ext>
            </a:extLst>
          </p:cNvPr>
          <p:cNvSpPr>
            <a:spLocks xmlns:a="http://schemas.openxmlformats.org/drawingml/2006/main" noGrp="1"/>
          </p:cNvSpPr>
          <p:nvPr/>
        </p:nvSpPr>
        <p:spPr>
          <a:xfrm xmlns:a="http://schemas.openxmlformats.org/drawingml/2006/main">
            <a:off x="3171825" y="4762500"/>
            <a:ext cx="2667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BC72021F-30AA-407A-B02C-01F97A306890}"/>
              </a:ext>
            </a:extLst>
          </p:cNvPr>
          <p:cNvSpPr>
            <a:spLocks xmlns:a="http://schemas.openxmlformats.org/drawingml/2006/main" noGrp="1"/>
          </p:cNvSpPr>
          <p:nvPr/>
        </p:nvSpPr>
        <p:spPr>
          <a:xfrm xmlns:a="http://schemas.openxmlformats.org/drawingml/2006/main">
            <a:off x="3486150" y="4762500"/>
            <a:ext cx="2667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EA666CA8-ADFC-4982-B3D0-3F7551215369}"/>
              </a:ext>
            </a:extLst>
          </p:cNvPr>
          <p:cNvSpPr>
            <a:spLocks xmlns:a="http://schemas.openxmlformats.org/drawingml/2006/main" noGrp="1"/>
          </p:cNvSpPr>
          <p:nvPr/>
        </p:nvSpPr>
        <p:spPr>
          <a:xfrm xmlns:a="http://schemas.openxmlformats.org/drawingml/2006/main">
            <a:off x="3800475" y="4762500"/>
            <a:ext cx="2667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36C0C212-02DE-41C7-AAC7-C3DF50DAB8FD}"/>
              </a:ext>
            </a:extLst>
          </p:cNvPr>
          <p:cNvSpPr>
            <a:spLocks xmlns:a="http://schemas.openxmlformats.org/drawingml/2006/main" noGrp="1"/>
          </p:cNvSpPr>
          <p:nvPr/>
        </p:nvSpPr>
        <p:spPr>
          <a:xfrm xmlns:a="http://schemas.openxmlformats.org/drawingml/2006/main">
            <a:off x="4114800" y="4762500"/>
            <a:ext cx="2667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8E62DE54-2E72-430B-A46B-2461D221BA86}"/>
              </a:ext>
            </a:extLst>
          </p:cNvPr>
          <p:cNvSpPr>
            <a:spLocks xmlns:a="http://schemas.openxmlformats.org/drawingml/2006/main" noGrp="1"/>
          </p:cNvSpPr>
          <p:nvPr/>
        </p:nvSpPr>
        <p:spPr>
          <a:xfrm xmlns:a="http://schemas.openxmlformats.org/drawingml/2006/main">
            <a:off x="2857500" y="4933950"/>
            <a:ext cx="26670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3F613632-69F4-4B00-A6A1-EADDF15EA34E}"/>
              </a:ext>
            </a:extLst>
          </p:cNvPr>
          <p:cNvSpPr>
            <a:spLocks xmlns:a="http://schemas.openxmlformats.org/drawingml/2006/main" noGrp="1"/>
          </p:cNvSpPr>
          <p:nvPr/>
        </p:nvSpPr>
        <p:spPr>
          <a:xfrm xmlns:a="http://schemas.openxmlformats.org/drawingml/2006/main">
            <a:off x="3171825" y="4933950"/>
            <a:ext cx="26670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508CB9A0-D22F-4648-9565-DBFA7BD76798}"/>
              </a:ext>
            </a:extLst>
          </p:cNvPr>
          <p:cNvSpPr>
            <a:spLocks xmlns:a="http://schemas.openxmlformats.org/drawingml/2006/main" noGrp="1"/>
          </p:cNvSpPr>
          <p:nvPr/>
        </p:nvSpPr>
        <p:spPr>
          <a:xfrm xmlns:a="http://schemas.openxmlformats.org/drawingml/2006/main">
            <a:off x="3486150" y="4933950"/>
            <a:ext cx="26670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D732055E-3147-41D6-9800-299B25922B7D}"/>
              </a:ext>
            </a:extLst>
          </p:cNvPr>
          <p:cNvSpPr>
            <a:spLocks xmlns:a="http://schemas.openxmlformats.org/drawingml/2006/main" noGrp="1"/>
          </p:cNvSpPr>
          <p:nvPr/>
        </p:nvSpPr>
        <p:spPr>
          <a:xfrm xmlns:a="http://schemas.openxmlformats.org/drawingml/2006/main">
            <a:off x="3800475" y="4933950"/>
            <a:ext cx="26670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0C576759-95B2-4CF6-9CAF-BB42C8C84566}"/>
              </a:ext>
            </a:extLst>
          </p:cNvPr>
          <p:cNvSpPr>
            <a:spLocks xmlns:a="http://schemas.openxmlformats.org/drawingml/2006/main" noGrp="1"/>
          </p:cNvSpPr>
          <p:nvPr/>
        </p:nvSpPr>
        <p:spPr>
          <a:xfrm xmlns:a="http://schemas.openxmlformats.org/drawingml/2006/main">
            <a:off x="4114800" y="4933950"/>
            <a:ext cx="26670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27C38535-7DE5-4285-81C8-C55CB186154A}"/>
              </a:ext>
            </a:extLst>
          </p:cNvPr>
          <p:cNvSpPr>
            <a:spLocks xmlns:a="http://schemas.openxmlformats.org/drawingml/2006/main" noGrp="1"/>
          </p:cNvSpPr>
          <p:nvPr/>
        </p:nvSpPr>
        <p:spPr>
          <a:xfrm xmlns:a="http://schemas.openxmlformats.org/drawingml/2006/main">
            <a:off x="2857500" y="5105400"/>
            <a:ext cx="2667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33B98653-378B-4A3E-BF47-B6AD5675D7D0}"/>
              </a:ext>
            </a:extLst>
          </p:cNvPr>
          <p:cNvSpPr>
            <a:spLocks xmlns:a="http://schemas.openxmlformats.org/drawingml/2006/main" noGrp="1"/>
          </p:cNvSpPr>
          <p:nvPr/>
        </p:nvSpPr>
        <p:spPr>
          <a:xfrm xmlns:a="http://schemas.openxmlformats.org/drawingml/2006/main">
            <a:off x="3171825" y="5105400"/>
            <a:ext cx="2667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E10AFEA2-6CAC-4A5A-8E72-53D4D502E66B}"/>
              </a:ext>
            </a:extLst>
          </p:cNvPr>
          <p:cNvSpPr>
            <a:spLocks xmlns:a="http://schemas.openxmlformats.org/drawingml/2006/main" noGrp="1"/>
          </p:cNvSpPr>
          <p:nvPr/>
        </p:nvSpPr>
        <p:spPr>
          <a:xfrm xmlns:a="http://schemas.openxmlformats.org/drawingml/2006/main">
            <a:off x="3486150" y="5105400"/>
            <a:ext cx="2667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CF1E04DD-30DC-4799-99A4-7DF8AB216E4F}"/>
              </a:ext>
            </a:extLst>
          </p:cNvPr>
          <p:cNvSpPr>
            <a:spLocks xmlns:a="http://schemas.openxmlformats.org/drawingml/2006/main" noGrp="1"/>
          </p:cNvSpPr>
          <p:nvPr/>
        </p:nvSpPr>
        <p:spPr>
          <a:xfrm xmlns:a="http://schemas.openxmlformats.org/drawingml/2006/main">
            <a:off x="3800475" y="5105400"/>
            <a:ext cx="2667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6F1B5B36-9F5E-4D73-B317-6EECDD879A13}"/>
              </a:ext>
            </a:extLst>
          </p:cNvPr>
          <p:cNvSpPr>
            <a:spLocks xmlns:a="http://schemas.openxmlformats.org/drawingml/2006/main" noGrp="1"/>
          </p:cNvSpPr>
          <p:nvPr/>
        </p:nvSpPr>
        <p:spPr>
          <a:xfrm xmlns:a="http://schemas.openxmlformats.org/drawingml/2006/main">
            <a:off x="4114800" y="5105400"/>
            <a:ext cx="2667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8A409073-9DB3-4C21-970C-CBB223517B5D}"/>
              </a:ext>
            </a:extLst>
          </p:cNvPr>
          <p:cNvSpPr>
            <a:spLocks xmlns:a="http://schemas.openxmlformats.org/drawingml/2006/main" noGrp="1"/>
          </p:cNvSpPr>
          <p:nvPr/>
        </p:nvSpPr>
        <p:spPr>
          <a:xfrm xmlns:a="http://schemas.openxmlformats.org/drawingml/2006/main">
            <a:off x="5238750" y="4762500"/>
            <a:ext cx="34290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815897"/>
            </a:solidFill>
          </a:ln>
        </p:spPr>
        <p:txBody>
          <a:bodyPr xmlns:a="http://schemas.openxmlformats.org/drawingml/2006/main" wrap="square" lIns="85725" tIns="85725" rIns="85725" bIns="85725" anchor="ctr">
            <a:noAutofit/>
          </a:bodyPr>
          <a:lstStyle xmlns:a="http://schemas.openxmlformats.org/drawingml/2006/main">
            <a:defPPr algn="ctr">
              <a:defRPr sz="2025" b="1">
                <a:solidFill>
                  <a:srgbClr val="815897"/>
                </a:solidFill>
                <a:latin typeface="Times New Roman"/>
                <a:ea typeface="Times New Roman"/>
                <a:cs typeface="Times New Roman"/>
              </a:defRPr>
            </a:defPPr>
            <a:lvl1pPr algn="ctr">
              <a:defRPr sz="2025" b="1">
                <a:solidFill>
                  <a:srgbClr val="815897"/>
                </a:solidFill>
                <a:latin typeface="Times New Roman"/>
                <a:ea typeface="Times New Roman"/>
                <a:cs typeface="Times New Roman"/>
              </a:defRPr>
            </a:lvl1pPr>
            <a:lvl2pPr algn="ctr">
              <a:defRPr sz="2025" b="1">
                <a:solidFill>
                  <a:srgbClr val="815897"/>
                </a:solidFill>
                <a:latin typeface="Times New Roman"/>
                <a:ea typeface="Times New Roman"/>
                <a:cs typeface="Times New Roman"/>
              </a:defRPr>
            </a:lvl2pPr>
            <a:lvl3pPr algn="ctr">
              <a:defRPr sz="2025" b="1">
                <a:solidFill>
                  <a:srgbClr val="815897"/>
                </a:solidFill>
                <a:latin typeface="Times New Roman"/>
                <a:ea typeface="Times New Roman"/>
                <a:cs typeface="Times New Roman"/>
              </a:defRPr>
            </a:lvl3pPr>
            <a:lvl4pPr algn="ctr">
              <a:defRPr sz="2025" b="1">
                <a:solidFill>
                  <a:srgbClr val="815897"/>
                </a:solidFill>
                <a:latin typeface="Times New Roman"/>
                <a:ea typeface="Times New Roman"/>
                <a:cs typeface="Times New Roman"/>
              </a:defRPr>
            </a:lvl4pPr>
            <a:lvl5pPr algn="ctr">
              <a:defRPr sz="2025" b="1">
                <a:solidFill>
                  <a:srgbClr val="815897"/>
                </a:solidFill>
                <a:latin typeface="Times New Roman"/>
                <a:ea typeface="Times New Roman"/>
                <a:cs typeface="Times New Roman"/>
              </a:defRPr>
            </a:lvl5pPr>
            <a:lvl6pPr algn="ctr">
              <a:defRPr sz="2025" b="1">
                <a:solidFill>
                  <a:srgbClr val="815897"/>
                </a:solidFill>
                <a:latin typeface="Times New Roman"/>
                <a:ea typeface="Times New Roman"/>
                <a:cs typeface="Times New Roman"/>
              </a:defRPr>
            </a:lvl6pPr>
            <a:lvl7pPr algn="ctr">
              <a:defRPr sz="2025" b="1">
                <a:solidFill>
                  <a:srgbClr val="815897"/>
                </a:solidFill>
                <a:latin typeface="Times New Roman"/>
                <a:ea typeface="Times New Roman"/>
                <a:cs typeface="Times New Roman"/>
              </a:defRPr>
            </a:lvl7pPr>
            <a:lvl8pPr algn="ctr">
              <a:defRPr sz="2025" b="1">
                <a:solidFill>
                  <a:srgbClr val="815897"/>
                </a:solidFill>
                <a:latin typeface="Times New Roman"/>
                <a:ea typeface="Times New Roman"/>
                <a:cs typeface="Times New Roman"/>
              </a:defRPr>
            </a:lvl8pPr>
            <a:lvl9pPr algn="ctr">
              <a:defRPr sz="2025" b="1">
                <a:solidFill>
                  <a:srgbClr val="815897"/>
                </a:solidFill>
                <a:latin typeface="Times New Roman"/>
                <a:ea typeface="Times New Roman"/>
                <a:cs typeface="Times New Roman"/>
              </a:defRPr>
            </a:lvl9pPr>
          </a:lstStyle>
          <a:p xmlns:a="http://schemas.openxmlformats.org/drawingml/2006/main">
            <a:pPr algn="ctr">
              <a:defRPr sz="2025" b="1">
                <a:solidFill>
                  <a:srgbClr val="815897"/>
                </a:solidFill>
                <a:latin typeface="Times New Roman"/>
                <a:ea typeface="Times New Roman"/>
                <a:cs typeface="Times New Roman"/>
              </a:defRPr>
            </a:pPr>
            <a:r>
              <a:rPr sz="2025" b="1">
                <a:solidFill>
                  <a:srgbClr val="815897"/>
                </a:solidFill>
                <a:latin typeface="Times New Roman"/>
                <a:ea typeface="Times New Roman"/>
                <a:cs typeface="Times New Roman"/>
              </a:rPr>
              <a:t>Learn interactions</a:t>
            </a:r>
          </a:p>
        </p:txBody>
      </p:sp>
      <p:sp>
        <p:nvSpPr>
          <p:cNvPr id="75" name="">
            <a:extLst xmlns:a="http://schemas.openxmlformats.org/drawingml/2006/main">
              <a:ext uri="{FF2B5EF4-FFF2-40B4-BE49-F238E27FC236}">
                <a16:creationId xmlns:a16="http://schemas.microsoft.com/office/drawing/2014/main" id="{5101C1E4-5BFC-45EF-8935-324C5507AC17}"/>
              </a:ext>
            </a:extLst>
          </p:cNvPr>
          <p:cNvSpPr>
            <a:spLocks xmlns:a="http://schemas.openxmlformats.org/drawingml/2006/main" noGrp="1"/>
          </p:cNvSpPr>
          <p:nvPr/>
        </p:nvSpPr>
        <p:spPr>
          <a:xfrm xmlns:a="http://schemas.openxmlformats.org/drawingml/2006/main">
            <a:off x="10001250" y="4762500"/>
            <a:ext cx="1714500" cy="647700"/>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1875" b="1">
                <a:solidFill>
                  <a:srgbClr val="14324B"/>
                </a:solidFill>
                <a:latin typeface="Times New Roman"/>
                <a:ea typeface="Times New Roman"/>
                <a:cs typeface="Times New Roman"/>
              </a:defRPr>
            </a:defPPr>
            <a:lvl1pPr algn="ctr">
              <a:defRPr sz="1875" b="1">
                <a:solidFill>
                  <a:srgbClr val="14324B"/>
                </a:solidFill>
                <a:latin typeface="Times New Roman"/>
                <a:ea typeface="Times New Roman"/>
                <a:cs typeface="Times New Roman"/>
              </a:defRPr>
            </a:lvl1pPr>
            <a:lvl2pPr algn="ctr">
              <a:defRPr sz="1875" b="1">
                <a:solidFill>
                  <a:srgbClr val="14324B"/>
                </a:solidFill>
                <a:latin typeface="Times New Roman"/>
                <a:ea typeface="Times New Roman"/>
                <a:cs typeface="Times New Roman"/>
              </a:defRPr>
            </a:lvl2pPr>
            <a:lvl3pPr algn="ctr">
              <a:defRPr sz="1875" b="1">
                <a:solidFill>
                  <a:srgbClr val="14324B"/>
                </a:solidFill>
                <a:latin typeface="Times New Roman"/>
                <a:ea typeface="Times New Roman"/>
                <a:cs typeface="Times New Roman"/>
              </a:defRPr>
            </a:lvl3pPr>
            <a:lvl4pPr algn="ctr">
              <a:defRPr sz="1875" b="1">
                <a:solidFill>
                  <a:srgbClr val="14324B"/>
                </a:solidFill>
                <a:latin typeface="Times New Roman"/>
                <a:ea typeface="Times New Roman"/>
                <a:cs typeface="Times New Roman"/>
              </a:defRPr>
            </a:lvl4pPr>
            <a:lvl5pPr algn="ctr">
              <a:defRPr sz="1875" b="1">
                <a:solidFill>
                  <a:srgbClr val="14324B"/>
                </a:solidFill>
                <a:latin typeface="Times New Roman"/>
                <a:ea typeface="Times New Roman"/>
                <a:cs typeface="Times New Roman"/>
              </a:defRPr>
            </a:lvl5pPr>
            <a:lvl6pPr algn="ctr">
              <a:defRPr sz="1875" b="1">
                <a:solidFill>
                  <a:srgbClr val="14324B"/>
                </a:solidFill>
                <a:latin typeface="Times New Roman"/>
                <a:ea typeface="Times New Roman"/>
                <a:cs typeface="Times New Roman"/>
              </a:defRPr>
            </a:lvl6pPr>
            <a:lvl7pPr algn="ctr">
              <a:defRPr sz="1875" b="1">
                <a:solidFill>
                  <a:srgbClr val="14324B"/>
                </a:solidFill>
                <a:latin typeface="Times New Roman"/>
                <a:ea typeface="Times New Roman"/>
                <a:cs typeface="Times New Roman"/>
              </a:defRPr>
            </a:lvl7pPr>
            <a:lvl8pPr algn="ctr">
              <a:defRPr sz="1875" b="1">
                <a:solidFill>
                  <a:srgbClr val="14324B"/>
                </a:solidFill>
                <a:latin typeface="Times New Roman"/>
                <a:ea typeface="Times New Roman"/>
                <a:cs typeface="Times New Roman"/>
              </a:defRPr>
            </a:lvl8pPr>
            <a:lvl9pPr algn="ctr">
              <a:defRPr sz="1875" b="1">
                <a:solidFill>
                  <a:srgbClr val="14324B"/>
                </a:solidFill>
                <a:latin typeface="Times New Roman"/>
                <a:ea typeface="Times New Roman"/>
                <a:cs typeface="Times New Roman"/>
              </a:defRPr>
            </a:lvl9pPr>
          </a:lstStyle>
          <a:p xmlns:a="http://schemas.openxmlformats.org/drawingml/2006/main">
            <a:pPr algn="ctr">
              <a:defRPr sz="1875" b="1">
                <a:solidFill>
                  <a:srgbClr val="14324B"/>
                </a:solidFill>
                <a:latin typeface="Times New Roman"/>
                <a:ea typeface="Times New Roman"/>
                <a:cs typeface="Times New Roman"/>
              </a:defRPr>
            </a:pPr>
            <a:r>
              <a:rPr sz="1875" b="1">
                <a:solidFill>
                  <a:srgbClr val="14324B"/>
                </a:solidFill>
                <a:latin typeface="Times New Roman"/>
                <a:ea typeface="Times New Roman"/>
                <a:cs typeface="Times New Roman"/>
              </a:rPr>
              <a:t>Predict target</a:t>
            </a:r>
          </a:p>
        </p:txBody>
      </p:sp>
      <p:sp>
        <p:nvSpPr>
          <p:cNvPr id="76" name="">
            <a:extLst xmlns:a="http://schemas.openxmlformats.org/drawingml/2006/main">
              <a:ext uri="{FF2B5EF4-FFF2-40B4-BE49-F238E27FC236}">
                <a16:creationId xmlns:a16="http://schemas.microsoft.com/office/drawing/2014/main" id="{BEB87073-0C07-4927-9D04-5228518119E4}"/>
              </a:ext>
            </a:extLst>
          </p:cNvPr>
          <p:cNvSpPr>
            <a:spLocks xmlns:a="http://schemas.openxmlformats.org/drawingml/2006/main" noGrp="1"/>
          </p:cNvSpPr>
          <p:nvPr/>
        </p:nvSpPr>
        <p:spPr>
          <a:xfrm xmlns:a="http://schemas.openxmlformats.org/drawingml/2006/main">
            <a:off x="4476750" y="5000625"/>
            <a:ext cx="9525" cy="9525"/>
          </a:xfrm>
          <a:prstGeom xmlns:a="http://schemas.openxmlformats.org/drawingml/2006/main" prst="rect">
            <a:avLst/>
          </a:prstGeom>
          <a:noFill xmlns:a="http://schemas.openxmlformats.org/drawingml/2006/main"/>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E4E44908-90CF-4C1C-B872-1C0E6D39F640}"/>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Blocks are token vectors: blue DNA, teal RNA, purple protein; gray denotes the selected single stream. Validation selects the single reference and gated penalty.</a:t>
            </a:r>
          </a:p>
        </p:txBody>
      </p:sp>
    </p:spTree>
    <p:extLst>
      <p:ext uri="{BB962C8B-B14F-4D97-AF65-F5344CB8AC3E}">
        <p14:creationId xmlns:p14="http://schemas.microsoft.com/office/powerpoint/2010/main" val="5778081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246C9E4-D45F-44CE-9F67-257329240EF6}"/>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C1CC9B-C43D-40F5-9015-0CCEECD069B6}"/>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Fusion gains depend on the task and head</a:t>
            </a:r>
          </a:p>
        </p:txBody>
      </p:sp>
      <p:sp>
        <p:nvSpPr>
          <p:cNvPr id="3" name="">
            <a:extLst xmlns:a="http://schemas.openxmlformats.org/drawingml/2006/main">
              <a:ext uri="{FF2B5EF4-FFF2-40B4-BE49-F238E27FC236}">
                <a16:creationId xmlns:a16="http://schemas.microsoft.com/office/drawing/2014/main" id="{0C68729B-DF5D-46BC-8958-DFE53CF9E7FE}"/>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Fusion score minus the selected single score. A line crossing zero leaves the direction unresolved.</a:t>
            </a:r>
          </a:p>
        </p:txBody>
      </p:sp>
      <p:sp>
        <p:nvSpPr>
          <p:cNvPr id="4" name="">
            <a:extLst xmlns:a="http://schemas.openxmlformats.org/drawingml/2006/main">
              <a:ext uri="{FF2B5EF4-FFF2-40B4-BE49-F238E27FC236}">
                <a16:creationId xmlns:a16="http://schemas.microsoft.com/office/drawing/2014/main" id="{5881D027-09CB-4030-A922-5D25C1285098}"/>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6</a:t>
            </a:r>
          </a:p>
        </p:txBody>
      </p:sp>
      <p:sp>
        <p:nvSpPr>
          <p:cNvPr id="5" name="">
            <a:extLst xmlns:a="http://schemas.openxmlformats.org/drawingml/2006/main">
              <a:ext uri="{FF2B5EF4-FFF2-40B4-BE49-F238E27FC236}">
                <a16:creationId xmlns:a16="http://schemas.microsoft.com/office/drawing/2014/main" id="{788F4E8D-DA27-4F3B-A479-11EE3B157092}"/>
              </a:ext>
            </a:extLst>
          </p:cNvPr>
          <p:cNvSpPr>
            <a:spLocks xmlns:a="http://schemas.openxmlformats.org/drawingml/2006/main" noGrp="1"/>
          </p:cNvSpPr>
          <p:nvPr/>
        </p:nvSpPr>
        <p:spPr>
          <a:xfrm xmlns:a="http://schemas.openxmlformats.org/drawingml/2006/main">
            <a:off x="428625" y="19526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324B"/>
                </a:solidFill>
                <a:latin typeface="Times New Roman"/>
                <a:ea typeface="Times New Roman"/>
                <a:cs typeface="Times New Roman"/>
              </a:defRPr>
            </a:defPPr>
            <a:lvl1pPr>
              <a:defRPr sz="2325" b="1">
                <a:solidFill>
                  <a:srgbClr val="14324B"/>
                </a:solidFill>
                <a:latin typeface="Times New Roman"/>
                <a:ea typeface="Times New Roman"/>
                <a:cs typeface="Times New Roman"/>
              </a:defRPr>
            </a:lvl1pPr>
            <a:lvl2pPr>
              <a:defRPr sz="2325" b="1">
                <a:solidFill>
                  <a:srgbClr val="14324B"/>
                </a:solidFill>
                <a:latin typeface="Times New Roman"/>
                <a:ea typeface="Times New Roman"/>
                <a:cs typeface="Times New Roman"/>
              </a:defRPr>
            </a:lvl2pPr>
            <a:lvl3pPr>
              <a:defRPr sz="2325" b="1">
                <a:solidFill>
                  <a:srgbClr val="14324B"/>
                </a:solidFill>
                <a:latin typeface="Times New Roman"/>
                <a:ea typeface="Times New Roman"/>
                <a:cs typeface="Times New Roman"/>
              </a:defRPr>
            </a:lvl3pPr>
            <a:lvl4pPr>
              <a:defRPr sz="2325" b="1">
                <a:solidFill>
                  <a:srgbClr val="14324B"/>
                </a:solidFill>
                <a:latin typeface="Times New Roman"/>
                <a:ea typeface="Times New Roman"/>
                <a:cs typeface="Times New Roman"/>
              </a:defRPr>
            </a:lvl4pPr>
            <a:lvl5pPr>
              <a:defRPr sz="2325" b="1">
                <a:solidFill>
                  <a:srgbClr val="14324B"/>
                </a:solidFill>
                <a:latin typeface="Times New Roman"/>
                <a:ea typeface="Times New Roman"/>
                <a:cs typeface="Times New Roman"/>
              </a:defRPr>
            </a:lvl5pPr>
            <a:lvl6pPr>
              <a:defRPr sz="2325" b="1">
                <a:solidFill>
                  <a:srgbClr val="14324B"/>
                </a:solidFill>
                <a:latin typeface="Times New Roman"/>
                <a:ea typeface="Times New Roman"/>
                <a:cs typeface="Times New Roman"/>
              </a:defRPr>
            </a:lvl6pPr>
            <a:lvl7pPr>
              <a:defRPr sz="2325" b="1">
                <a:solidFill>
                  <a:srgbClr val="14324B"/>
                </a:solidFill>
                <a:latin typeface="Times New Roman"/>
                <a:ea typeface="Times New Roman"/>
                <a:cs typeface="Times New Roman"/>
              </a:defRPr>
            </a:lvl7pPr>
            <a:lvl8pPr>
              <a:defRPr sz="2325" b="1">
                <a:solidFill>
                  <a:srgbClr val="14324B"/>
                </a:solidFill>
                <a:latin typeface="Times New Roman"/>
                <a:ea typeface="Times New Roman"/>
                <a:cs typeface="Times New Roman"/>
              </a:defRPr>
            </a:lvl8pPr>
            <a:lvl9pPr>
              <a:defRPr sz="2325" b="1">
                <a:solidFill>
                  <a:srgbClr val="14324B"/>
                </a:solidFill>
                <a:latin typeface="Times New Roman"/>
                <a:ea typeface="Times New Roman"/>
                <a:cs typeface="Times New Roman"/>
              </a:defRPr>
            </a:lvl9pPr>
          </a:lstStyle>
          <a:p xmlns:a="http://schemas.openxmlformats.org/drawingml/2006/main">
            <a:pPr>
              <a:defRPr sz="2325" b="1">
                <a:solidFill>
                  <a:srgbClr val="14324B"/>
                </a:solidFill>
                <a:latin typeface="Times New Roman"/>
                <a:ea typeface="Times New Roman"/>
                <a:cs typeface="Times New Roman"/>
              </a:defRPr>
            </a:pPr>
            <a:r>
              <a:rPr sz="2325" b="1">
                <a:solidFill>
                  <a:srgbClr val="14324B"/>
                </a:solidFill>
                <a:latin typeface="Times New Roman"/>
                <a:ea typeface="Times New Roman"/>
                <a:cs typeface="Times New Roman"/>
              </a:rPr>
              <a:t>E. coli expression classes</a:t>
            </a:r>
          </a:p>
        </p:txBody>
      </p:sp>
      <p:sp>
        <p:nvSpPr>
          <p:cNvPr id="6" name="">
            <a:extLst xmlns:a="http://schemas.openxmlformats.org/drawingml/2006/main">
              <a:ext uri="{FF2B5EF4-FFF2-40B4-BE49-F238E27FC236}">
                <a16:creationId xmlns:a16="http://schemas.microsoft.com/office/drawing/2014/main" id="{F3039771-1B25-40C1-AA31-2ADD0CA04C30}"/>
              </a:ext>
            </a:extLst>
          </p:cNvPr>
          <p:cNvSpPr>
            <a:spLocks xmlns:a="http://schemas.openxmlformats.org/drawingml/2006/main" noGrp="1"/>
          </p:cNvSpPr>
          <p:nvPr/>
        </p:nvSpPr>
        <p:spPr>
          <a:xfrm xmlns:a="http://schemas.openxmlformats.org/drawingml/2006/main">
            <a:off x="428625" y="238125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52636B"/>
                </a:solidFill>
                <a:latin typeface="Times New Roman"/>
                <a:ea typeface="Times New Roman"/>
                <a:cs typeface="Times New Roman"/>
              </a:defRPr>
            </a:defPPr>
            <a:lvl1pPr>
              <a:defRPr sz="1875">
                <a:solidFill>
                  <a:srgbClr val="52636B"/>
                </a:solidFill>
                <a:latin typeface="Times New Roman"/>
                <a:ea typeface="Times New Roman"/>
                <a:cs typeface="Times New Roman"/>
              </a:defRPr>
            </a:lvl1pPr>
            <a:lvl2pPr>
              <a:defRPr sz="1875">
                <a:solidFill>
                  <a:srgbClr val="52636B"/>
                </a:solidFill>
                <a:latin typeface="Times New Roman"/>
                <a:ea typeface="Times New Roman"/>
                <a:cs typeface="Times New Roman"/>
              </a:defRPr>
            </a:lvl2pPr>
            <a:lvl3pPr>
              <a:defRPr sz="1875">
                <a:solidFill>
                  <a:srgbClr val="52636B"/>
                </a:solidFill>
                <a:latin typeface="Times New Roman"/>
                <a:ea typeface="Times New Roman"/>
                <a:cs typeface="Times New Roman"/>
              </a:defRPr>
            </a:lvl3pPr>
            <a:lvl4pPr>
              <a:defRPr sz="1875">
                <a:solidFill>
                  <a:srgbClr val="52636B"/>
                </a:solidFill>
                <a:latin typeface="Times New Roman"/>
                <a:ea typeface="Times New Roman"/>
                <a:cs typeface="Times New Roman"/>
              </a:defRPr>
            </a:lvl4pPr>
            <a:lvl5pPr>
              <a:defRPr sz="1875">
                <a:solidFill>
                  <a:srgbClr val="52636B"/>
                </a:solidFill>
                <a:latin typeface="Times New Roman"/>
                <a:ea typeface="Times New Roman"/>
                <a:cs typeface="Times New Roman"/>
              </a:defRPr>
            </a:lvl5pPr>
            <a:lvl6pPr>
              <a:defRPr sz="1875">
                <a:solidFill>
                  <a:srgbClr val="52636B"/>
                </a:solidFill>
                <a:latin typeface="Times New Roman"/>
                <a:ea typeface="Times New Roman"/>
                <a:cs typeface="Times New Roman"/>
              </a:defRPr>
            </a:lvl6pPr>
            <a:lvl7pPr>
              <a:defRPr sz="1875">
                <a:solidFill>
                  <a:srgbClr val="52636B"/>
                </a:solidFill>
                <a:latin typeface="Times New Roman"/>
                <a:ea typeface="Times New Roman"/>
                <a:cs typeface="Times New Roman"/>
              </a:defRPr>
            </a:lvl7pPr>
            <a:lvl8pPr>
              <a:defRPr sz="1875">
                <a:solidFill>
                  <a:srgbClr val="52636B"/>
                </a:solidFill>
                <a:latin typeface="Times New Roman"/>
                <a:ea typeface="Times New Roman"/>
                <a:cs typeface="Times New Roman"/>
              </a:defRPr>
            </a:lvl8pPr>
            <a:lvl9pPr>
              <a:defRPr sz="1875">
                <a:solidFill>
                  <a:srgbClr val="52636B"/>
                </a:solidFill>
                <a:latin typeface="Times New Roman"/>
                <a:ea typeface="Times New Roman"/>
                <a:cs typeface="Times New Roman"/>
              </a:defRPr>
            </a:lvl9pPr>
          </a:lstStyle>
          <a:p xmlns:a="http://schemas.openxmlformats.org/drawingml/2006/main">
            <a:pPr>
              <a:defRPr sz="1875">
                <a:solidFill>
                  <a:srgbClr val="52636B"/>
                </a:solidFill>
                <a:latin typeface="Times New Roman"/>
                <a:ea typeface="Times New Roman"/>
                <a:cs typeface="Times New Roman"/>
              </a:defRPr>
            </a:pPr>
            <a:r>
              <a:rPr sz="1875">
                <a:solidFill>
                  <a:srgbClr val="52636B"/>
                </a:solidFill>
                <a:latin typeface="Times New Roman"/>
                <a:ea typeface="Times New Roman"/>
                <a:cs typeface="Times New Roman"/>
              </a:rPr>
              <a:t>Accuracy gain, percentage points</a:t>
            </a:r>
          </a:p>
        </p:txBody>
      </p:sp>
      <p:sp>
        <p:nvSpPr>
          <p:cNvPr id="7" name="">
            <a:extLst xmlns:a="http://schemas.openxmlformats.org/drawingml/2006/main">
              <a:ext uri="{FF2B5EF4-FFF2-40B4-BE49-F238E27FC236}">
                <a16:creationId xmlns:a16="http://schemas.microsoft.com/office/drawing/2014/main" id="{9CE00381-A203-468F-BAFE-F6AA1A085458}"/>
              </a:ext>
            </a:extLst>
          </p:cNvPr>
          <p:cNvSpPr>
            <a:spLocks xmlns:a="http://schemas.openxmlformats.org/drawingml/2006/main" noGrp="1"/>
          </p:cNvSpPr>
          <p:nvPr/>
        </p:nvSpPr>
        <p:spPr>
          <a:xfrm xmlns:a="http://schemas.openxmlformats.org/drawingml/2006/main">
            <a:off x="6477000" y="19526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324B"/>
                </a:solidFill>
                <a:latin typeface="Times New Roman"/>
                <a:ea typeface="Times New Roman"/>
                <a:cs typeface="Times New Roman"/>
              </a:defRPr>
            </a:defPPr>
            <a:lvl1pPr>
              <a:defRPr sz="2325" b="1">
                <a:solidFill>
                  <a:srgbClr val="14324B"/>
                </a:solidFill>
                <a:latin typeface="Times New Roman"/>
                <a:ea typeface="Times New Roman"/>
                <a:cs typeface="Times New Roman"/>
              </a:defRPr>
            </a:lvl1pPr>
            <a:lvl2pPr>
              <a:defRPr sz="2325" b="1">
                <a:solidFill>
                  <a:srgbClr val="14324B"/>
                </a:solidFill>
                <a:latin typeface="Times New Roman"/>
                <a:ea typeface="Times New Roman"/>
                <a:cs typeface="Times New Roman"/>
              </a:defRPr>
            </a:lvl2pPr>
            <a:lvl3pPr>
              <a:defRPr sz="2325" b="1">
                <a:solidFill>
                  <a:srgbClr val="14324B"/>
                </a:solidFill>
                <a:latin typeface="Times New Roman"/>
                <a:ea typeface="Times New Roman"/>
                <a:cs typeface="Times New Roman"/>
              </a:defRPr>
            </a:lvl3pPr>
            <a:lvl4pPr>
              <a:defRPr sz="2325" b="1">
                <a:solidFill>
                  <a:srgbClr val="14324B"/>
                </a:solidFill>
                <a:latin typeface="Times New Roman"/>
                <a:ea typeface="Times New Roman"/>
                <a:cs typeface="Times New Roman"/>
              </a:defRPr>
            </a:lvl4pPr>
            <a:lvl5pPr>
              <a:defRPr sz="2325" b="1">
                <a:solidFill>
                  <a:srgbClr val="14324B"/>
                </a:solidFill>
                <a:latin typeface="Times New Roman"/>
                <a:ea typeface="Times New Roman"/>
                <a:cs typeface="Times New Roman"/>
              </a:defRPr>
            </a:lvl5pPr>
            <a:lvl6pPr>
              <a:defRPr sz="2325" b="1">
                <a:solidFill>
                  <a:srgbClr val="14324B"/>
                </a:solidFill>
                <a:latin typeface="Times New Roman"/>
                <a:ea typeface="Times New Roman"/>
                <a:cs typeface="Times New Roman"/>
              </a:defRPr>
            </a:lvl6pPr>
            <a:lvl7pPr>
              <a:defRPr sz="2325" b="1">
                <a:solidFill>
                  <a:srgbClr val="14324B"/>
                </a:solidFill>
                <a:latin typeface="Times New Roman"/>
                <a:ea typeface="Times New Roman"/>
                <a:cs typeface="Times New Roman"/>
              </a:defRPr>
            </a:lvl7pPr>
            <a:lvl8pPr>
              <a:defRPr sz="2325" b="1">
                <a:solidFill>
                  <a:srgbClr val="14324B"/>
                </a:solidFill>
                <a:latin typeface="Times New Roman"/>
                <a:ea typeface="Times New Roman"/>
                <a:cs typeface="Times New Roman"/>
              </a:defRPr>
            </a:lvl8pPr>
            <a:lvl9pPr>
              <a:defRPr sz="2325" b="1">
                <a:solidFill>
                  <a:srgbClr val="14324B"/>
                </a:solidFill>
                <a:latin typeface="Times New Roman"/>
                <a:ea typeface="Times New Roman"/>
                <a:cs typeface="Times New Roman"/>
              </a:defRPr>
            </a:lvl9pPr>
          </a:lstStyle>
          <a:p xmlns:a="http://schemas.openxmlformats.org/drawingml/2006/main">
            <a:pPr>
              <a:defRPr sz="2325" b="1">
                <a:solidFill>
                  <a:srgbClr val="14324B"/>
                </a:solidFill>
                <a:latin typeface="Times New Roman"/>
                <a:ea typeface="Times New Roman"/>
                <a:cs typeface="Times New Roman"/>
              </a:defRPr>
            </a:pPr>
            <a:r>
              <a:rPr sz="2325" b="1">
                <a:solidFill>
                  <a:srgbClr val="14324B"/>
                </a:solidFill>
                <a:latin typeface="Times New Roman"/>
                <a:ea typeface="Times New Roman"/>
                <a:cs typeface="Times New Roman"/>
              </a:rPr>
              <a:t>CoV-Vac degradation</a:t>
            </a:r>
          </a:p>
        </p:txBody>
      </p:sp>
      <p:sp>
        <p:nvSpPr>
          <p:cNvPr id="8" name="">
            <a:extLst xmlns:a="http://schemas.openxmlformats.org/drawingml/2006/main">
              <a:ext uri="{FF2B5EF4-FFF2-40B4-BE49-F238E27FC236}">
                <a16:creationId xmlns:a16="http://schemas.microsoft.com/office/drawing/2014/main" id="{664E6F78-08F4-463E-99EC-82CE2699DEF5}"/>
              </a:ext>
            </a:extLst>
          </p:cNvPr>
          <p:cNvSpPr>
            <a:spLocks xmlns:a="http://schemas.openxmlformats.org/drawingml/2006/main" noGrp="1"/>
          </p:cNvSpPr>
          <p:nvPr/>
        </p:nvSpPr>
        <p:spPr>
          <a:xfrm xmlns:a="http://schemas.openxmlformats.org/drawingml/2006/main">
            <a:off x="6477000" y="238125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52636B"/>
                </a:solidFill>
                <a:latin typeface="Times New Roman"/>
                <a:ea typeface="Times New Roman"/>
                <a:cs typeface="Times New Roman"/>
              </a:defRPr>
            </a:defPPr>
            <a:lvl1pPr>
              <a:defRPr sz="1875">
                <a:solidFill>
                  <a:srgbClr val="52636B"/>
                </a:solidFill>
                <a:latin typeface="Times New Roman"/>
                <a:ea typeface="Times New Roman"/>
                <a:cs typeface="Times New Roman"/>
              </a:defRPr>
            </a:lvl1pPr>
            <a:lvl2pPr>
              <a:defRPr sz="1875">
                <a:solidFill>
                  <a:srgbClr val="52636B"/>
                </a:solidFill>
                <a:latin typeface="Times New Roman"/>
                <a:ea typeface="Times New Roman"/>
                <a:cs typeface="Times New Roman"/>
              </a:defRPr>
            </a:lvl2pPr>
            <a:lvl3pPr>
              <a:defRPr sz="1875">
                <a:solidFill>
                  <a:srgbClr val="52636B"/>
                </a:solidFill>
                <a:latin typeface="Times New Roman"/>
                <a:ea typeface="Times New Roman"/>
                <a:cs typeface="Times New Roman"/>
              </a:defRPr>
            </a:lvl3pPr>
            <a:lvl4pPr>
              <a:defRPr sz="1875">
                <a:solidFill>
                  <a:srgbClr val="52636B"/>
                </a:solidFill>
                <a:latin typeface="Times New Roman"/>
                <a:ea typeface="Times New Roman"/>
                <a:cs typeface="Times New Roman"/>
              </a:defRPr>
            </a:lvl4pPr>
            <a:lvl5pPr>
              <a:defRPr sz="1875">
                <a:solidFill>
                  <a:srgbClr val="52636B"/>
                </a:solidFill>
                <a:latin typeface="Times New Roman"/>
                <a:ea typeface="Times New Roman"/>
                <a:cs typeface="Times New Roman"/>
              </a:defRPr>
            </a:lvl5pPr>
            <a:lvl6pPr>
              <a:defRPr sz="1875">
                <a:solidFill>
                  <a:srgbClr val="52636B"/>
                </a:solidFill>
                <a:latin typeface="Times New Roman"/>
                <a:ea typeface="Times New Roman"/>
                <a:cs typeface="Times New Roman"/>
              </a:defRPr>
            </a:lvl6pPr>
            <a:lvl7pPr>
              <a:defRPr sz="1875">
                <a:solidFill>
                  <a:srgbClr val="52636B"/>
                </a:solidFill>
                <a:latin typeface="Times New Roman"/>
                <a:ea typeface="Times New Roman"/>
                <a:cs typeface="Times New Roman"/>
              </a:defRPr>
            </a:lvl7pPr>
            <a:lvl8pPr>
              <a:defRPr sz="1875">
                <a:solidFill>
                  <a:srgbClr val="52636B"/>
                </a:solidFill>
                <a:latin typeface="Times New Roman"/>
                <a:ea typeface="Times New Roman"/>
                <a:cs typeface="Times New Roman"/>
              </a:defRPr>
            </a:lvl8pPr>
            <a:lvl9pPr>
              <a:defRPr sz="1875">
                <a:solidFill>
                  <a:srgbClr val="52636B"/>
                </a:solidFill>
                <a:latin typeface="Times New Roman"/>
                <a:ea typeface="Times New Roman"/>
                <a:cs typeface="Times New Roman"/>
              </a:defRPr>
            </a:lvl9pPr>
          </a:lstStyle>
          <a:p xmlns:a="http://schemas.openxmlformats.org/drawingml/2006/main">
            <a:pPr>
              <a:defRPr sz="1875">
                <a:solidFill>
                  <a:srgbClr val="52636B"/>
                </a:solidFill>
                <a:latin typeface="Times New Roman"/>
                <a:ea typeface="Times New Roman"/>
                <a:cs typeface="Times New Roman"/>
              </a:defRPr>
            </a:pPr>
            <a:r>
              <a:rPr sz="1875">
                <a:solidFill>
                  <a:srgbClr val="52636B"/>
                </a:solidFill>
                <a:latin typeface="Times New Roman"/>
                <a:ea typeface="Times New Roman"/>
                <a:cs typeface="Times New Roman"/>
              </a:rPr>
              <a:t>Gain in target-ranking agreement (Spearman)</a:t>
            </a:r>
          </a:p>
        </p:txBody>
      </p:sp>
      <p:sp>
        <p:nvSpPr>
          <p:cNvPr id="9" name="">
            <a:extLst xmlns:a="http://schemas.openxmlformats.org/drawingml/2006/main">
              <a:ext uri="{FF2B5EF4-FFF2-40B4-BE49-F238E27FC236}">
                <a16:creationId xmlns:a16="http://schemas.microsoft.com/office/drawing/2014/main" id="{C5DD248A-7C24-4065-9335-3DF8C7414404}"/>
              </a:ext>
            </a:extLst>
          </p:cNvPr>
          <p:cNvSpPr>
            <a:spLocks xmlns:a="http://schemas.openxmlformats.org/drawingml/2006/main" noGrp="1"/>
          </p:cNvSpPr>
          <p:nvPr/>
        </p:nvSpPr>
        <p:spPr>
          <a:xfrm xmlns:a="http://schemas.openxmlformats.org/drawingml/2006/main">
            <a:off x="428625" y="29908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4324B"/>
                </a:solidFill>
                <a:latin typeface="Times New Roman"/>
                <a:ea typeface="Times New Roman"/>
                <a:cs typeface="Times New Roman"/>
              </a:defRPr>
            </a:defPPr>
            <a:lvl1pPr>
              <a:defRPr sz="1800">
                <a:solidFill>
                  <a:srgbClr val="14324B"/>
                </a:solidFill>
                <a:latin typeface="Times New Roman"/>
                <a:ea typeface="Times New Roman"/>
                <a:cs typeface="Times New Roman"/>
              </a:defRPr>
            </a:lvl1pPr>
            <a:lvl2pPr>
              <a:defRPr sz="1800">
                <a:solidFill>
                  <a:srgbClr val="14324B"/>
                </a:solidFill>
                <a:latin typeface="Times New Roman"/>
                <a:ea typeface="Times New Roman"/>
                <a:cs typeface="Times New Roman"/>
              </a:defRPr>
            </a:lvl2pPr>
            <a:lvl3pPr>
              <a:defRPr sz="1800">
                <a:solidFill>
                  <a:srgbClr val="14324B"/>
                </a:solidFill>
                <a:latin typeface="Times New Roman"/>
                <a:ea typeface="Times New Roman"/>
                <a:cs typeface="Times New Roman"/>
              </a:defRPr>
            </a:lvl3pPr>
            <a:lvl4pPr>
              <a:defRPr sz="1800">
                <a:solidFill>
                  <a:srgbClr val="14324B"/>
                </a:solidFill>
                <a:latin typeface="Times New Roman"/>
                <a:ea typeface="Times New Roman"/>
                <a:cs typeface="Times New Roman"/>
              </a:defRPr>
            </a:lvl4pPr>
            <a:lvl5pPr>
              <a:defRPr sz="1800">
                <a:solidFill>
                  <a:srgbClr val="14324B"/>
                </a:solidFill>
                <a:latin typeface="Times New Roman"/>
                <a:ea typeface="Times New Roman"/>
                <a:cs typeface="Times New Roman"/>
              </a:defRPr>
            </a:lvl5pPr>
            <a:lvl6pPr>
              <a:defRPr sz="1800">
                <a:solidFill>
                  <a:srgbClr val="14324B"/>
                </a:solidFill>
                <a:latin typeface="Times New Roman"/>
                <a:ea typeface="Times New Roman"/>
                <a:cs typeface="Times New Roman"/>
              </a:defRPr>
            </a:lvl6pPr>
            <a:lvl7pPr>
              <a:defRPr sz="1800">
                <a:solidFill>
                  <a:srgbClr val="14324B"/>
                </a:solidFill>
                <a:latin typeface="Times New Roman"/>
                <a:ea typeface="Times New Roman"/>
                <a:cs typeface="Times New Roman"/>
              </a:defRPr>
            </a:lvl7pPr>
            <a:lvl8pPr>
              <a:defRPr sz="1800">
                <a:solidFill>
                  <a:srgbClr val="14324B"/>
                </a:solidFill>
                <a:latin typeface="Times New Roman"/>
                <a:ea typeface="Times New Roman"/>
                <a:cs typeface="Times New Roman"/>
              </a:defRPr>
            </a:lvl8pPr>
            <a:lvl9pPr>
              <a:defRPr sz="1800">
                <a:solidFill>
                  <a:srgbClr val="14324B"/>
                </a:solidFill>
                <a:latin typeface="Times New Roman"/>
                <a:ea typeface="Times New Roman"/>
                <a:cs typeface="Times New Roman"/>
              </a:defRPr>
            </a:lvl9pPr>
          </a:lstStyle>
          <a:p xmlns:a="http://schemas.openxmlformats.org/drawingml/2006/main">
            <a:pPr>
              <a:defRPr sz="1800">
                <a:solidFill>
                  <a:srgbClr val="14324B"/>
                </a:solidFill>
                <a:latin typeface="Times New Roman"/>
                <a:ea typeface="Times New Roman"/>
                <a:cs typeface="Times New Roman"/>
              </a:defRPr>
            </a:pPr>
            <a:r>
              <a:rPr sz="1800">
                <a:solidFill>
                  <a:srgbClr val="14324B"/>
                </a:solidFill>
                <a:latin typeface="Times New Roman"/>
                <a:ea typeface="Times New Roman"/>
                <a:cs typeface="Times New Roman"/>
              </a:rPr>
              <a:t>Concat</a:t>
            </a:r>
          </a:p>
        </p:txBody>
      </p:sp>
      <p:sp>
        <p:nvSpPr>
          <p:cNvPr id="10" name="">
            <a:extLst xmlns:a="http://schemas.openxmlformats.org/drawingml/2006/main">
              <a:ext uri="{FF2B5EF4-FFF2-40B4-BE49-F238E27FC236}">
                <a16:creationId xmlns:a16="http://schemas.microsoft.com/office/drawing/2014/main" id="{594C5E5B-4A7B-4D7E-8A85-9BB926D73187}"/>
              </a:ext>
            </a:extLst>
          </p:cNvPr>
          <p:cNvSpPr>
            <a:spLocks xmlns:a="http://schemas.openxmlformats.org/drawingml/2006/main" noGrp="1"/>
          </p:cNvSpPr>
          <p:nvPr/>
        </p:nvSpPr>
        <p:spPr>
          <a:xfrm xmlns:a="http://schemas.openxmlformats.org/drawingml/2006/main">
            <a:off x="6477000" y="29908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4324B"/>
                </a:solidFill>
                <a:latin typeface="Times New Roman"/>
                <a:ea typeface="Times New Roman"/>
                <a:cs typeface="Times New Roman"/>
              </a:defRPr>
            </a:defPPr>
            <a:lvl1pPr>
              <a:defRPr sz="1800">
                <a:solidFill>
                  <a:srgbClr val="14324B"/>
                </a:solidFill>
                <a:latin typeface="Times New Roman"/>
                <a:ea typeface="Times New Roman"/>
                <a:cs typeface="Times New Roman"/>
              </a:defRPr>
            </a:lvl1pPr>
            <a:lvl2pPr>
              <a:defRPr sz="1800">
                <a:solidFill>
                  <a:srgbClr val="14324B"/>
                </a:solidFill>
                <a:latin typeface="Times New Roman"/>
                <a:ea typeface="Times New Roman"/>
                <a:cs typeface="Times New Roman"/>
              </a:defRPr>
            </a:lvl2pPr>
            <a:lvl3pPr>
              <a:defRPr sz="1800">
                <a:solidFill>
                  <a:srgbClr val="14324B"/>
                </a:solidFill>
                <a:latin typeface="Times New Roman"/>
                <a:ea typeface="Times New Roman"/>
                <a:cs typeface="Times New Roman"/>
              </a:defRPr>
            </a:lvl3pPr>
            <a:lvl4pPr>
              <a:defRPr sz="1800">
                <a:solidFill>
                  <a:srgbClr val="14324B"/>
                </a:solidFill>
                <a:latin typeface="Times New Roman"/>
                <a:ea typeface="Times New Roman"/>
                <a:cs typeface="Times New Roman"/>
              </a:defRPr>
            </a:lvl4pPr>
            <a:lvl5pPr>
              <a:defRPr sz="1800">
                <a:solidFill>
                  <a:srgbClr val="14324B"/>
                </a:solidFill>
                <a:latin typeface="Times New Roman"/>
                <a:ea typeface="Times New Roman"/>
                <a:cs typeface="Times New Roman"/>
              </a:defRPr>
            </a:lvl5pPr>
            <a:lvl6pPr>
              <a:defRPr sz="1800">
                <a:solidFill>
                  <a:srgbClr val="14324B"/>
                </a:solidFill>
                <a:latin typeface="Times New Roman"/>
                <a:ea typeface="Times New Roman"/>
                <a:cs typeface="Times New Roman"/>
              </a:defRPr>
            </a:lvl6pPr>
            <a:lvl7pPr>
              <a:defRPr sz="1800">
                <a:solidFill>
                  <a:srgbClr val="14324B"/>
                </a:solidFill>
                <a:latin typeface="Times New Roman"/>
                <a:ea typeface="Times New Roman"/>
                <a:cs typeface="Times New Roman"/>
              </a:defRPr>
            </a:lvl7pPr>
            <a:lvl8pPr>
              <a:defRPr sz="1800">
                <a:solidFill>
                  <a:srgbClr val="14324B"/>
                </a:solidFill>
                <a:latin typeface="Times New Roman"/>
                <a:ea typeface="Times New Roman"/>
                <a:cs typeface="Times New Roman"/>
              </a:defRPr>
            </a:lvl8pPr>
            <a:lvl9pPr>
              <a:defRPr sz="1800">
                <a:solidFill>
                  <a:srgbClr val="14324B"/>
                </a:solidFill>
                <a:latin typeface="Times New Roman"/>
                <a:ea typeface="Times New Roman"/>
                <a:cs typeface="Times New Roman"/>
              </a:defRPr>
            </a:lvl9pPr>
          </a:lstStyle>
          <a:p xmlns:a="http://schemas.openxmlformats.org/drawingml/2006/main">
            <a:pPr>
              <a:defRPr sz="1800">
                <a:solidFill>
                  <a:srgbClr val="14324B"/>
                </a:solidFill>
                <a:latin typeface="Times New Roman"/>
                <a:ea typeface="Times New Roman"/>
                <a:cs typeface="Times New Roman"/>
              </a:defRPr>
            </a:pPr>
            <a:r>
              <a:rPr sz="1800">
                <a:solidFill>
                  <a:srgbClr val="14324B"/>
                </a:solidFill>
                <a:latin typeface="Times New Roman"/>
                <a:ea typeface="Times New Roman"/>
                <a:cs typeface="Times New Roman"/>
              </a:rPr>
              <a:t>Concat</a:t>
            </a:r>
          </a:p>
        </p:txBody>
      </p:sp>
      <p:sp>
        <p:nvSpPr>
          <p:cNvPr id="11" name="">
            <a:extLst xmlns:a="http://schemas.openxmlformats.org/drawingml/2006/main">
              <a:ext uri="{FF2B5EF4-FFF2-40B4-BE49-F238E27FC236}">
                <a16:creationId xmlns:a16="http://schemas.microsoft.com/office/drawing/2014/main" id="{A96ACBCD-99ED-4B97-A008-D27F7E9D97B3}"/>
              </a:ext>
            </a:extLst>
          </p:cNvPr>
          <p:cNvSpPr>
            <a:spLocks xmlns:a="http://schemas.openxmlformats.org/drawingml/2006/main" noGrp="1"/>
          </p:cNvSpPr>
          <p:nvPr/>
        </p:nvSpPr>
        <p:spPr>
          <a:xfrm xmlns:a="http://schemas.openxmlformats.org/drawingml/2006/main">
            <a:off x="428625" y="36385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4324B"/>
                </a:solidFill>
                <a:latin typeface="Times New Roman"/>
                <a:ea typeface="Times New Roman"/>
                <a:cs typeface="Times New Roman"/>
              </a:defRPr>
            </a:defPPr>
            <a:lvl1pPr>
              <a:defRPr sz="1800">
                <a:solidFill>
                  <a:srgbClr val="14324B"/>
                </a:solidFill>
                <a:latin typeface="Times New Roman"/>
                <a:ea typeface="Times New Roman"/>
                <a:cs typeface="Times New Roman"/>
              </a:defRPr>
            </a:lvl1pPr>
            <a:lvl2pPr>
              <a:defRPr sz="1800">
                <a:solidFill>
                  <a:srgbClr val="14324B"/>
                </a:solidFill>
                <a:latin typeface="Times New Roman"/>
                <a:ea typeface="Times New Roman"/>
                <a:cs typeface="Times New Roman"/>
              </a:defRPr>
            </a:lvl2pPr>
            <a:lvl3pPr>
              <a:defRPr sz="1800">
                <a:solidFill>
                  <a:srgbClr val="14324B"/>
                </a:solidFill>
                <a:latin typeface="Times New Roman"/>
                <a:ea typeface="Times New Roman"/>
                <a:cs typeface="Times New Roman"/>
              </a:defRPr>
            </a:lvl3pPr>
            <a:lvl4pPr>
              <a:defRPr sz="1800">
                <a:solidFill>
                  <a:srgbClr val="14324B"/>
                </a:solidFill>
                <a:latin typeface="Times New Roman"/>
                <a:ea typeface="Times New Roman"/>
                <a:cs typeface="Times New Roman"/>
              </a:defRPr>
            </a:lvl4pPr>
            <a:lvl5pPr>
              <a:defRPr sz="1800">
                <a:solidFill>
                  <a:srgbClr val="14324B"/>
                </a:solidFill>
                <a:latin typeface="Times New Roman"/>
                <a:ea typeface="Times New Roman"/>
                <a:cs typeface="Times New Roman"/>
              </a:defRPr>
            </a:lvl5pPr>
            <a:lvl6pPr>
              <a:defRPr sz="1800">
                <a:solidFill>
                  <a:srgbClr val="14324B"/>
                </a:solidFill>
                <a:latin typeface="Times New Roman"/>
                <a:ea typeface="Times New Roman"/>
                <a:cs typeface="Times New Roman"/>
              </a:defRPr>
            </a:lvl6pPr>
            <a:lvl7pPr>
              <a:defRPr sz="1800">
                <a:solidFill>
                  <a:srgbClr val="14324B"/>
                </a:solidFill>
                <a:latin typeface="Times New Roman"/>
                <a:ea typeface="Times New Roman"/>
                <a:cs typeface="Times New Roman"/>
              </a:defRPr>
            </a:lvl7pPr>
            <a:lvl8pPr>
              <a:defRPr sz="1800">
                <a:solidFill>
                  <a:srgbClr val="14324B"/>
                </a:solidFill>
                <a:latin typeface="Times New Roman"/>
                <a:ea typeface="Times New Roman"/>
                <a:cs typeface="Times New Roman"/>
              </a:defRPr>
            </a:lvl8pPr>
            <a:lvl9pPr>
              <a:defRPr sz="1800">
                <a:solidFill>
                  <a:srgbClr val="14324B"/>
                </a:solidFill>
                <a:latin typeface="Times New Roman"/>
                <a:ea typeface="Times New Roman"/>
                <a:cs typeface="Times New Roman"/>
              </a:defRPr>
            </a:lvl9pPr>
          </a:lstStyle>
          <a:p xmlns:a="http://schemas.openxmlformats.org/drawingml/2006/main">
            <a:pPr>
              <a:defRPr sz="1800">
                <a:solidFill>
                  <a:srgbClr val="14324B"/>
                </a:solidFill>
                <a:latin typeface="Times New Roman"/>
                <a:ea typeface="Times New Roman"/>
                <a:cs typeface="Times New Roman"/>
              </a:defRPr>
            </a:pPr>
            <a:r>
              <a:rPr sz="1800">
                <a:solidFill>
                  <a:srgbClr val="14324B"/>
                </a:solidFill>
                <a:latin typeface="Times New Roman"/>
                <a:ea typeface="Times New Roman"/>
                <a:cs typeface="Times New Roman"/>
              </a:rPr>
              <a:t>Gated</a:t>
            </a:r>
          </a:p>
        </p:txBody>
      </p:sp>
      <p:sp>
        <p:nvSpPr>
          <p:cNvPr id="12" name="">
            <a:extLst xmlns:a="http://schemas.openxmlformats.org/drawingml/2006/main">
              <a:ext uri="{FF2B5EF4-FFF2-40B4-BE49-F238E27FC236}">
                <a16:creationId xmlns:a16="http://schemas.microsoft.com/office/drawing/2014/main" id="{7723CC2C-C9BF-48DC-8210-13B8081CFEA1}"/>
              </a:ext>
            </a:extLst>
          </p:cNvPr>
          <p:cNvSpPr>
            <a:spLocks xmlns:a="http://schemas.openxmlformats.org/drawingml/2006/main" noGrp="1"/>
          </p:cNvSpPr>
          <p:nvPr/>
        </p:nvSpPr>
        <p:spPr>
          <a:xfrm xmlns:a="http://schemas.openxmlformats.org/drawingml/2006/main">
            <a:off x="6477000" y="36385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4324B"/>
                </a:solidFill>
                <a:latin typeface="Times New Roman"/>
                <a:ea typeface="Times New Roman"/>
                <a:cs typeface="Times New Roman"/>
              </a:defRPr>
            </a:defPPr>
            <a:lvl1pPr>
              <a:defRPr sz="1800">
                <a:solidFill>
                  <a:srgbClr val="14324B"/>
                </a:solidFill>
                <a:latin typeface="Times New Roman"/>
                <a:ea typeface="Times New Roman"/>
                <a:cs typeface="Times New Roman"/>
              </a:defRPr>
            </a:lvl1pPr>
            <a:lvl2pPr>
              <a:defRPr sz="1800">
                <a:solidFill>
                  <a:srgbClr val="14324B"/>
                </a:solidFill>
                <a:latin typeface="Times New Roman"/>
                <a:ea typeface="Times New Roman"/>
                <a:cs typeface="Times New Roman"/>
              </a:defRPr>
            </a:lvl2pPr>
            <a:lvl3pPr>
              <a:defRPr sz="1800">
                <a:solidFill>
                  <a:srgbClr val="14324B"/>
                </a:solidFill>
                <a:latin typeface="Times New Roman"/>
                <a:ea typeface="Times New Roman"/>
                <a:cs typeface="Times New Roman"/>
              </a:defRPr>
            </a:lvl3pPr>
            <a:lvl4pPr>
              <a:defRPr sz="1800">
                <a:solidFill>
                  <a:srgbClr val="14324B"/>
                </a:solidFill>
                <a:latin typeface="Times New Roman"/>
                <a:ea typeface="Times New Roman"/>
                <a:cs typeface="Times New Roman"/>
              </a:defRPr>
            </a:lvl4pPr>
            <a:lvl5pPr>
              <a:defRPr sz="1800">
                <a:solidFill>
                  <a:srgbClr val="14324B"/>
                </a:solidFill>
                <a:latin typeface="Times New Roman"/>
                <a:ea typeface="Times New Roman"/>
                <a:cs typeface="Times New Roman"/>
              </a:defRPr>
            </a:lvl5pPr>
            <a:lvl6pPr>
              <a:defRPr sz="1800">
                <a:solidFill>
                  <a:srgbClr val="14324B"/>
                </a:solidFill>
                <a:latin typeface="Times New Roman"/>
                <a:ea typeface="Times New Roman"/>
                <a:cs typeface="Times New Roman"/>
              </a:defRPr>
            </a:lvl6pPr>
            <a:lvl7pPr>
              <a:defRPr sz="1800">
                <a:solidFill>
                  <a:srgbClr val="14324B"/>
                </a:solidFill>
                <a:latin typeface="Times New Roman"/>
                <a:ea typeface="Times New Roman"/>
                <a:cs typeface="Times New Roman"/>
              </a:defRPr>
            </a:lvl7pPr>
            <a:lvl8pPr>
              <a:defRPr sz="1800">
                <a:solidFill>
                  <a:srgbClr val="14324B"/>
                </a:solidFill>
                <a:latin typeface="Times New Roman"/>
                <a:ea typeface="Times New Roman"/>
                <a:cs typeface="Times New Roman"/>
              </a:defRPr>
            </a:lvl8pPr>
            <a:lvl9pPr>
              <a:defRPr sz="1800">
                <a:solidFill>
                  <a:srgbClr val="14324B"/>
                </a:solidFill>
                <a:latin typeface="Times New Roman"/>
                <a:ea typeface="Times New Roman"/>
                <a:cs typeface="Times New Roman"/>
              </a:defRPr>
            </a:lvl9pPr>
          </a:lstStyle>
          <a:p xmlns:a="http://schemas.openxmlformats.org/drawingml/2006/main">
            <a:pPr>
              <a:defRPr sz="1800">
                <a:solidFill>
                  <a:srgbClr val="14324B"/>
                </a:solidFill>
                <a:latin typeface="Times New Roman"/>
                <a:ea typeface="Times New Roman"/>
                <a:cs typeface="Times New Roman"/>
              </a:defRPr>
            </a:pPr>
            <a:r>
              <a:rPr sz="1800">
                <a:solidFill>
                  <a:srgbClr val="14324B"/>
                </a:solidFill>
                <a:latin typeface="Times New Roman"/>
                <a:ea typeface="Times New Roman"/>
                <a:cs typeface="Times New Roman"/>
              </a:rPr>
              <a:t>Gated</a:t>
            </a:r>
          </a:p>
        </p:txBody>
      </p:sp>
      <p:sp>
        <p:nvSpPr>
          <p:cNvPr id="13" name="">
            <a:extLst xmlns:a="http://schemas.openxmlformats.org/drawingml/2006/main">
              <a:ext uri="{FF2B5EF4-FFF2-40B4-BE49-F238E27FC236}">
                <a16:creationId xmlns:a16="http://schemas.microsoft.com/office/drawing/2014/main" id="{CCB66690-FAF4-41C2-929B-078FC38240CC}"/>
              </a:ext>
            </a:extLst>
          </p:cNvPr>
          <p:cNvSpPr>
            <a:spLocks xmlns:a="http://schemas.openxmlformats.org/drawingml/2006/main" noGrp="1"/>
          </p:cNvSpPr>
          <p:nvPr/>
        </p:nvSpPr>
        <p:spPr>
          <a:xfrm xmlns:a="http://schemas.openxmlformats.org/drawingml/2006/main">
            <a:off x="428625" y="42862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4324B"/>
                </a:solidFill>
                <a:latin typeface="Times New Roman"/>
                <a:ea typeface="Times New Roman"/>
                <a:cs typeface="Times New Roman"/>
              </a:defRPr>
            </a:defPPr>
            <a:lvl1pPr>
              <a:defRPr sz="1800">
                <a:solidFill>
                  <a:srgbClr val="14324B"/>
                </a:solidFill>
                <a:latin typeface="Times New Roman"/>
                <a:ea typeface="Times New Roman"/>
                <a:cs typeface="Times New Roman"/>
              </a:defRPr>
            </a:lvl1pPr>
            <a:lvl2pPr>
              <a:defRPr sz="1800">
                <a:solidFill>
                  <a:srgbClr val="14324B"/>
                </a:solidFill>
                <a:latin typeface="Times New Roman"/>
                <a:ea typeface="Times New Roman"/>
                <a:cs typeface="Times New Roman"/>
              </a:defRPr>
            </a:lvl2pPr>
            <a:lvl3pPr>
              <a:defRPr sz="1800">
                <a:solidFill>
                  <a:srgbClr val="14324B"/>
                </a:solidFill>
                <a:latin typeface="Times New Roman"/>
                <a:ea typeface="Times New Roman"/>
                <a:cs typeface="Times New Roman"/>
              </a:defRPr>
            </a:lvl3pPr>
            <a:lvl4pPr>
              <a:defRPr sz="1800">
                <a:solidFill>
                  <a:srgbClr val="14324B"/>
                </a:solidFill>
                <a:latin typeface="Times New Roman"/>
                <a:ea typeface="Times New Roman"/>
                <a:cs typeface="Times New Roman"/>
              </a:defRPr>
            </a:lvl4pPr>
            <a:lvl5pPr>
              <a:defRPr sz="1800">
                <a:solidFill>
                  <a:srgbClr val="14324B"/>
                </a:solidFill>
                <a:latin typeface="Times New Roman"/>
                <a:ea typeface="Times New Roman"/>
                <a:cs typeface="Times New Roman"/>
              </a:defRPr>
            </a:lvl5pPr>
            <a:lvl6pPr>
              <a:defRPr sz="1800">
                <a:solidFill>
                  <a:srgbClr val="14324B"/>
                </a:solidFill>
                <a:latin typeface="Times New Roman"/>
                <a:ea typeface="Times New Roman"/>
                <a:cs typeface="Times New Roman"/>
              </a:defRPr>
            </a:lvl6pPr>
            <a:lvl7pPr>
              <a:defRPr sz="1800">
                <a:solidFill>
                  <a:srgbClr val="14324B"/>
                </a:solidFill>
                <a:latin typeface="Times New Roman"/>
                <a:ea typeface="Times New Roman"/>
                <a:cs typeface="Times New Roman"/>
              </a:defRPr>
            </a:lvl7pPr>
            <a:lvl8pPr>
              <a:defRPr sz="1800">
                <a:solidFill>
                  <a:srgbClr val="14324B"/>
                </a:solidFill>
                <a:latin typeface="Times New Roman"/>
                <a:ea typeface="Times New Roman"/>
                <a:cs typeface="Times New Roman"/>
              </a:defRPr>
            </a:lvl8pPr>
            <a:lvl9pPr>
              <a:defRPr sz="1800">
                <a:solidFill>
                  <a:srgbClr val="14324B"/>
                </a:solidFill>
                <a:latin typeface="Times New Roman"/>
                <a:ea typeface="Times New Roman"/>
                <a:cs typeface="Times New Roman"/>
              </a:defRPr>
            </a:lvl9pPr>
          </a:lstStyle>
          <a:p xmlns:a="http://schemas.openxmlformats.org/drawingml/2006/main">
            <a:pPr>
              <a:defRPr sz="1800">
                <a:solidFill>
                  <a:srgbClr val="14324B"/>
                </a:solidFill>
                <a:latin typeface="Times New Roman"/>
                <a:ea typeface="Times New Roman"/>
                <a:cs typeface="Times New Roman"/>
              </a:defRPr>
            </a:pPr>
            <a:r>
              <a:rPr sz="1800">
                <a:solidFill>
                  <a:srgbClr val="14324B"/>
                </a:solidFill>
                <a:latin typeface="Times New Roman"/>
                <a:ea typeface="Times New Roman"/>
                <a:cs typeface="Times New Roman"/>
              </a:rPr>
              <a:t>Cross</a:t>
            </a:r>
          </a:p>
        </p:txBody>
      </p:sp>
      <p:sp>
        <p:nvSpPr>
          <p:cNvPr id="14" name="">
            <a:extLst xmlns:a="http://schemas.openxmlformats.org/drawingml/2006/main">
              <a:ext uri="{FF2B5EF4-FFF2-40B4-BE49-F238E27FC236}">
                <a16:creationId xmlns:a16="http://schemas.microsoft.com/office/drawing/2014/main" id="{BC025EBC-6695-4461-BD4A-DF4A9D8608BF}"/>
              </a:ext>
            </a:extLst>
          </p:cNvPr>
          <p:cNvSpPr>
            <a:spLocks xmlns:a="http://schemas.openxmlformats.org/drawingml/2006/main" noGrp="1"/>
          </p:cNvSpPr>
          <p:nvPr/>
        </p:nvSpPr>
        <p:spPr>
          <a:xfrm xmlns:a="http://schemas.openxmlformats.org/drawingml/2006/main">
            <a:off x="6477000" y="4286250"/>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4324B"/>
                </a:solidFill>
                <a:latin typeface="Times New Roman"/>
                <a:ea typeface="Times New Roman"/>
                <a:cs typeface="Times New Roman"/>
              </a:defRPr>
            </a:defPPr>
            <a:lvl1pPr>
              <a:defRPr sz="1800">
                <a:solidFill>
                  <a:srgbClr val="14324B"/>
                </a:solidFill>
                <a:latin typeface="Times New Roman"/>
                <a:ea typeface="Times New Roman"/>
                <a:cs typeface="Times New Roman"/>
              </a:defRPr>
            </a:lvl1pPr>
            <a:lvl2pPr>
              <a:defRPr sz="1800">
                <a:solidFill>
                  <a:srgbClr val="14324B"/>
                </a:solidFill>
                <a:latin typeface="Times New Roman"/>
                <a:ea typeface="Times New Roman"/>
                <a:cs typeface="Times New Roman"/>
              </a:defRPr>
            </a:lvl2pPr>
            <a:lvl3pPr>
              <a:defRPr sz="1800">
                <a:solidFill>
                  <a:srgbClr val="14324B"/>
                </a:solidFill>
                <a:latin typeface="Times New Roman"/>
                <a:ea typeface="Times New Roman"/>
                <a:cs typeface="Times New Roman"/>
              </a:defRPr>
            </a:lvl3pPr>
            <a:lvl4pPr>
              <a:defRPr sz="1800">
                <a:solidFill>
                  <a:srgbClr val="14324B"/>
                </a:solidFill>
                <a:latin typeface="Times New Roman"/>
                <a:ea typeface="Times New Roman"/>
                <a:cs typeface="Times New Roman"/>
              </a:defRPr>
            </a:lvl4pPr>
            <a:lvl5pPr>
              <a:defRPr sz="1800">
                <a:solidFill>
                  <a:srgbClr val="14324B"/>
                </a:solidFill>
                <a:latin typeface="Times New Roman"/>
                <a:ea typeface="Times New Roman"/>
                <a:cs typeface="Times New Roman"/>
              </a:defRPr>
            </a:lvl5pPr>
            <a:lvl6pPr>
              <a:defRPr sz="1800">
                <a:solidFill>
                  <a:srgbClr val="14324B"/>
                </a:solidFill>
                <a:latin typeface="Times New Roman"/>
                <a:ea typeface="Times New Roman"/>
                <a:cs typeface="Times New Roman"/>
              </a:defRPr>
            </a:lvl6pPr>
            <a:lvl7pPr>
              <a:defRPr sz="1800">
                <a:solidFill>
                  <a:srgbClr val="14324B"/>
                </a:solidFill>
                <a:latin typeface="Times New Roman"/>
                <a:ea typeface="Times New Roman"/>
                <a:cs typeface="Times New Roman"/>
              </a:defRPr>
            </a:lvl7pPr>
            <a:lvl8pPr>
              <a:defRPr sz="1800">
                <a:solidFill>
                  <a:srgbClr val="14324B"/>
                </a:solidFill>
                <a:latin typeface="Times New Roman"/>
                <a:ea typeface="Times New Roman"/>
                <a:cs typeface="Times New Roman"/>
              </a:defRPr>
            </a:lvl8pPr>
            <a:lvl9pPr>
              <a:defRPr sz="1800">
                <a:solidFill>
                  <a:srgbClr val="14324B"/>
                </a:solidFill>
                <a:latin typeface="Times New Roman"/>
                <a:ea typeface="Times New Roman"/>
                <a:cs typeface="Times New Roman"/>
              </a:defRPr>
            </a:lvl9pPr>
          </a:lstStyle>
          <a:p xmlns:a="http://schemas.openxmlformats.org/drawingml/2006/main">
            <a:pPr>
              <a:defRPr sz="1800">
                <a:solidFill>
                  <a:srgbClr val="14324B"/>
                </a:solidFill>
                <a:latin typeface="Times New Roman"/>
                <a:ea typeface="Times New Roman"/>
                <a:cs typeface="Times New Roman"/>
              </a:defRPr>
            </a:pPr>
            <a:r>
              <a:rPr sz="1800">
                <a:solidFill>
                  <a:srgbClr val="14324B"/>
                </a:solidFill>
                <a:latin typeface="Times New Roman"/>
                <a:ea typeface="Times New Roman"/>
                <a:cs typeface="Times New Roman"/>
              </a:rPr>
              <a:t>Cross</a:t>
            </a:r>
          </a:p>
        </p:txBody>
      </p:sp>
      <p:graphicFrame>
        <p:nvGraphicFramePr>
          <p:cNvPr id="15" name="Chart">
            <a:extLst xmlns:a="http://schemas.openxmlformats.org/drawingml/2006/main">
              <a:ext uri="{FF2B5EF4-FFF2-40B4-BE49-F238E27FC236}">
                <a16:creationId xmlns:a16="http://schemas.microsoft.com/office/drawing/2014/main" id="{C3C65BA8-98E3-412B-86F6-66A348046866}"/>
              </a:ext>
            </a:extLst>
          </p:cNvPr>
          <p:cNvGraphicFramePr/>
          <p:nvPr/>
        </p:nvGraphicFramePr>
        <p:xfrm>
          <a:off xmlns:a="http://schemas.openxmlformats.org/drawingml/2006/main" x="1476375" y="2667000"/>
          <a:ext xmlns:a="http://schemas.openxmlformats.org/drawingml/2006/main" cx="4524375" cy="2857500"/>
        </p:xfrm>
        <a:graphic xmlns:a="http://schemas.openxmlformats.org/drawingml/2006/main">
          <a:graphicData uri="http://schemas.openxmlformats.org/drawingml/2006/chart">
            <c:chart xmlns:r="http://schemas.openxmlformats.org/officeDocument/2006/relationships" xmlns:c="http://schemas.openxmlformats.org/drawingml/2006/chart" r:id="Rfebb37d74721459f"/>
          </a:graphicData>
        </a:graphic>
      </p:graphicFrame>
      <p:graphicFrame>
        <p:nvGraphicFramePr>
          <p:cNvPr id="16" name="Chart">
            <a:extLst xmlns:a="http://schemas.openxmlformats.org/drawingml/2006/main">
              <a:ext uri="{FF2B5EF4-FFF2-40B4-BE49-F238E27FC236}">
                <a16:creationId xmlns:a16="http://schemas.microsoft.com/office/drawing/2014/main" id="{CDD93C42-A57C-4929-990E-EF1F3F734A6A}"/>
              </a:ext>
            </a:extLst>
          </p:cNvPr>
          <p:cNvGraphicFramePr/>
          <p:nvPr/>
        </p:nvGraphicFramePr>
        <p:xfrm>
          <a:off xmlns:a="http://schemas.openxmlformats.org/drawingml/2006/main" x="7524750" y="2667000"/>
          <a:ext xmlns:a="http://schemas.openxmlformats.org/drawingml/2006/main" cx="4333875" cy="2857500"/>
        </p:xfrm>
        <a:graphic xmlns:a="http://schemas.openxmlformats.org/drawingml/2006/main">
          <a:graphicData uri="http://schemas.openxmlformats.org/drawingml/2006/chart">
            <c:chart xmlns:r="http://schemas.openxmlformats.org/officeDocument/2006/relationships" xmlns:c="http://schemas.openxmlformats.org/drawingml/2006/chart" r:id="Re8aad8a197714f15"/>
          </a:graphicData>
        </a:graphic>
      </p:graphicFrame>
      <p:sp>
        <p:nvSpPr>
          <p:cNvPr id="17" name="">
            <a:extLst xmlns:a="http://schemas.openxmlformats.org/drawingml/2006/main">
              <a:ext uri="{FF2B5EF4-FFF2-40B4-BE49-F238E27FC236}">
                <a16:creationId xmlns:a16="http://schemas.microsoft.com/office/drawing/2014/main" id="{14AAE771-0434-4BC0-980B-2BE4C30062B9}"/>
              </a:ext>
            </a:extLst>
          </p:cNvPr>
          <p:cNvSpPr>
            <a:spLocks xmlns:a="http://schemas.openxmlformats.org/drawingml/2006/main" noGrp="1"/>
          </p:cNvSpPr>
          <p:nvPr/>
        </p:nvSpPr>
        <p:spPr>
          <a:xfrm xmlns:a="http://schemas.openxmlformats.org/drawingml/2006/main">
            <a:off x="619125" y="5581650"/>
            <a:ext cx="519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67D77"/>
                </a:solidFill>
                <a:latin typeface="Times New Roman"/>
                <a:ea typeface="Times New Roman"/>
                <a:cs typeface="Times New Roman"/>
              </a:defRPr>
            </a:defPPr>
            <a:lvl1pPr>
              <a:defRPr sz="1950" b="1">
                <a:solidFill>
                  <a:srgbClr val="167D77"/>
                </a:solidFill>
                <a:latin typeface="Times New Roman"/>
                <a:ea typeface="Times New Roman"/>
                <a:cs typeface="Times New Roman"/>
              </a:defRPr>
            </a:lvl1pPr>
            <a:lvl2pPr>
              <a:defRPr sz="1950" b="1">
                <a:solidFill>
                  <a:srgbClr val="167D77"/>
                </a:solidFill>
                <a:latin typeface="Times New Roman"/>
                <a:ea typeface="Times New Roman"/>
                <a:cs typeface="Times New Roman"/>
              </a:defRPr>
            </a:lvl2pPr>
            <a:lvl3pPr>
              <a:defRPr sz="1950" b="1">
                <a:solidFill>
                  <a:srgbClr val="167D77"/>
                </a:solidFill>
                <a:latin typeface="Times New Roman"/>
                <a:ea typeface="Times New Roman"/>
                <a:cs typeface="Times New Roman"/>
              </a:defRPr>
            </a:lvl3pPr>
            <a:lvl4pPr>
              <a:defRPr sz="1950" b="1">
                <a:solidFill>
                  <a:srgbClr val="167D77"/>
                </a:solidFill>
                <a:latin typeface="Times New Roman"/>
                <a:ea typeface="Times New Roman"/>
                <a:cs typeface="Times New Roman"/>
              </a:defRPr>
            </a:lvl4pPr>
            <a:lvl5pPr>
              <a:defRPr sz="1950" b="1">
                <a:solidFill>
                  <a:srgbClr val="167D77"/>
                </a:solidFill>
                <a:latin typeface="Times New Roman"/>
                <a:ea typeface="Times New Roman"/>
                <a:cs typeface="Times New Roman"/>
              </a:defRPr>
            </a:lvl5pPr>
            <a:lvl6pPr>
              <a:defRPr sz="1950" b="1">
                <a:solidFill>
                  <a:srgbClr val="167D77"/>
                </a:solidFill>
                <a:latin typeface="Times New Roman"/>
                <a:ea typeface="Times New Roman"/>
                <a:cs typeface="Times New Roman"/>
              </a:defRPr>
            </a:lvl6pPr>
            <a:lvl7pPr>
              <a:defRPr sz="1950" b="1">
                <a:solidFill>
                  <a:srgbClr val="167D77"/>
                </a:solidFill>
                <a:latin typeface="Times New Roman"/>
                <a:ea typeface="Times New Roman"/>
                <a:cs typeface="Times New Roman"/>
              </a:defRPr>
            </a:lvl7pPr>
            <a:lvl8pPr>
              <a:defRPr sz="1950" b="1">
                <a:solidFill>
                  <a:srgbClr val="167D77"/>
                </a:solidFill>
                <a:latin typeface="Times New Roman"/>
                <a:ea typeface="Times New Roman"/>
                <a:cs typeface="Times New Roman"/>
              </a:defRPr>
            </a:lvl8pPr>
            <a:lvl9pPr>
              <a:defRPr sz="1950" b="1">
                <a:solidFill>
                  <a:srgbClr val="167D77"/>
                </a:solidFill>
                <a:latin typeface="Times New Roman"/>
                <a:ea typeface="Times New Roman"/>
                <a:cs typeface="Times New Roman"/>
              </a:defRPr>
            </a:lvl9pPr>
          </a:lstStyle>
          <a:p xmlns:a="http://schemas.openxmlformats.org/drawingml/2006/main">
            <a:pPr>
              <a:defRPr sz="1950" b="1">
                <a:solidFill>
                  <a:srgbClr val="167D77"/>
                </a:solidFill>
                <a:latin typeface="Times New Roman"/>
                <a:ea typeface="Times New Roman"/>
                <a:cs typeface="Times New Roman"/>
              </a:defRPr>
            </a:pPr>
            <a:r>
              <a:rPr sz="1950" b="1">
                <a:solidFill>
                  <a:srgbClr val="167D77"/>
                </a:solidFill>
                <a:latin typeface="Times New Roman"/>
                <a:ea typeface="Times New Roman"/>
                <a:cs typeface="Times New Roman"/>
              </a:rPr>
              <a:t>Concat: +6.93 pp [4.17, 9.60]</a:t>
            </a:r>
          </a:p>
        </p:txBody>
      </p:sp>
      <p:sp>
        <p:nvSpPr>
          <p:cNvPr id="18" name="">
            <a:extLst xmlns:a="http://schemas.openxmlformats.org/drawingml/2006/main">
              <a:ext uri="{FF2B5EF4-FFF2-40B4-BE49-F238E27FC236}">
                <a16:creationId xmlns:a16="http://schemas.microsoft.com/office/drawing/2014/main" id="{281E1ED5-BD34-43F7-A28A-96EBCC20964F}"/>
              </a:ext>
            </a:extLst>
          </p:cNvPr>
          <p:cNvSpPr>
            <a:spLocks xmlns:a="http://schemas.openxmlformats.org/drawingml/2006/main" noGrp="1"/>
          </p:cNvSpPr>
          <p:nvPr/>
        </p:nvSpPr>
        <p:spPr>
          <a:xfrm xmlns:a="http://schemas.openxmlformats.org/drawingml/2006/main">
            <a:off x="6572250" y="5581650"/>
            <a:ext cx="519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B3683D"/>
                </a:solidFill>
                <a:latin typeface="Times New Roman"/>
                <a:ea typeface="Times New Roman"/>
                <a:cs typeface="Times New Roman"/>
              </a:defRPr>
            </a:defPPr>
            <a:lvl1pPr>
              <a:defRPr sz="1950" b="1">
                <a:solidFill>
                  <a:srgbClr val="B3683D"/>
                </a:solidFill>
                <a:latin typeface="Times New Roman"/>
                <a:ea typeface="Times New Roman"/>
                <a:cs typeface="Times New Roman"/>
              </a:defRPr>
            </a:lvl1pPr>
            <a:lvl2pPr>
              <a:defRPr sz="1950" b="1">
                <a:solidFill>
                  <a:srgbClr val="B3683D"/>
                </a:solidFill>
                <a:latin typeface="Times New Roman"/>
                <a:ea typeface="Times New Roman"/>
                <a:cs typeface="Times New Roman"/>
              </a:defRPr>
            </a:lvl2pPr>
            <a:lvl3pPr>
              <a:defRPr sz="1950" b="1">
                <a:solidFill>
                  <a:srgbClr val="B3683D"/>
                </a:solidFill>
                <a:latin typeface="Times New Roman"/>
                <a:ea typeface="Times New Roman"/>
                <a:cs typeface="Times New Roman"/>
              </a:defRPr>
            </a:lvl3pPr>
            <a:lvl4pPr>
              <a:defRPr sz="1950" b="1">
                <a:solidFill>
                  <a:srgbClr val="B3683D"/>
                </a:solidFill>
                <a:latin typeface="Times New Roman"/>
                <a:ea typeface="Times New Roman"/>
                <a:cs typeface="Times New Roman"/>
              </a:defRPr>
            </a:lvl4pPr>
            <a:lvl5pPr>
              <a:defRPr sz="1950" b="1">
                <a:solidFill>
                  <a:srgbClr val="B3683D"/>
                </a:solidFill>
                <a:latin typeface="Times New Roman"/>
                <a:ea typeface="Times New Roman"/>
                <a:cs typeface="Times New Roman"/>
              </a:defRPr>
            </a:lvl5pPr>
            <a:lvl6pPr>
              <a:defRPr sz="1950" b="1">
                <a:solidFill>
                  <a:srgbClr val="B3683D"/>
                </a:solidFill>
                <a:latin typeface="Times New Roman"/>
                <a:ea typeface="Times New Roman"/>
                <a:cs typeface="Times New Roman"/>
              </a:defRPr>
            </a:lvl6pPr>
            <a:lvl7pPr>
              <a:defRPr sz="1950" b="1">
                <a:solidFill>
                  <a:srgbClr val="B3683D"/>
                </a:solidFill>
                <a:latin typeface="Times New Roman"/>
                <a:ea typeface="Times New Roman"/>
                <a:cs typeface="Times New Roman"/>
              </a:defRPr>
            </a:lvl7pPr>
            <a:lvl8pPr>
              <a:defRPr sz="1950" b="1">
                <a:solidFill>
                  <a:srgbClr val="B3683D"/>
                </a:solidFill>
                <a:latin typeface="Times New Roman"/>
                <a:ea typeface="Times New Roman"/>
                <a:cs typeface="Times New Roman"/>
              </a:defRPr>
            </a:lvl8pPr>
            <a:lvl9pPr>
              <a:defRPr sz="1950" b="1">
                <a:solidFill>
                  <a:srgbClr val="B3683D"/>
                </a:solidFill>
                <a:latin typeface="Times New Roman"/>
                <a:ea typeface="Times New Roman"/>
                <a:cs typeface="Times New Roman"/>
              </a:defRPr>
            </a:lvl9pPr>
          </a:lstStyle>
          <a:p xmlns:a="http://schemas.openxmlformats.org/drawingml/2006/main">
            <a:pPr>
              <a:defRPr sz="1950" b="1">
                <a:solidFill>
                  <a:srgbClr val="B3683D"/>
                </a:solidFill>
                <a:latin typeface="Times New Roman"/>
                <a:ea typeface="Times New Roman"/>
                <a:cs typeface="Times New Roman"/>
              </a:defRPr>
            </a:pPr>
            <a:r>
              <a:rPr sz="1950" b="1">
                <a:solidFill>
                  <a:srgbClr val="B3683D"/>
                </a:solidFill>
                <a:latin typeface="Times New Roman"/>
                <a:ea typeface="Times New Roman"/>
                <a:cs typeface="Times New Roman"/>
              </a:rPr>
              <a:t>Concat: −0.038 [−0.066, −0.012]</a:t>
            </a:r>
          </a:p>
        </p:txBody>
      </p:sp>
      <p:sp>
        <p:nvSpPr>
          <p:cNvPr id="19" name="">
            <a:extLst xmlns:a="http://schemas.openxmlformats.org/drawingml/2006/main">
              <a:ext uri="{FF2B5EF4-FFF2-40B4-BE49-F238E27FC236}">
                <a16:creationId xmlns:a16="http://schemas.microsoft.com/office/drawing/2014/main" id="{7A312D6E-30C9-4103-B12D-7959E0668808}"/>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Dots are gains; lines are 95% paired intervals, grouping identical test sequences. Three fitted seeds per task. Test rows: E. coli 712, CoV-Vac 400.</a:t>
            </a:r>
          </a:p>
        </p:txBody>
      </p:sp>
    </p:spTree>
    <p:extLst>
      <p:ext uri="{BB962C8B-B14F-4D97-AF65-F5344CB8AC3E}">
        <p14:creationId xmlns:p14="http://schemas.microsoft.com/office/powerpoint/2010/main" val="5185449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FF6A9FC-1ED8-473B-84FF-1F4379EF6B13}"/>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2ED2DF-62D2-4B10-9ABC-FF5338F9852C}"/>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A high score also depends on what the test set contains</a:t>
            </a:r>
          </a:p>
        </p:txBody>
      </p:sp>
      <p:sp>
        <p:nvSpPr>
          <p:cNvPr id="3" name="">
            <a:extLst xmlns:a="http://schemas.openxmlformats.org/drawingml/2006/main">
              <a:ext uri="{FF2B5EF4-FFF2-40B4-BE49-F238E27FC236}">
                <a16:creationId xmlns:a16="http://schemas.microsoft.com/office/drawing/2014/main" id="{6A4D96A6-CF93-4717-A3F8-4E7CC8007D06}"/>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mRNA stability: the same fitted models are rescored on sequences absent from training.</a:t>
            </a:r>
          </a:p>
        </p:txBody>
      </p:sp>
      <p:sp>
        <p:nvSpPr>
          <p:cNvPr id="4" name="">
            <a:extLst xmlns:a="http://schemas.openxmlformats.org/drawingml/2006/main">
              <a:ext uri="{FF2B5EF4-FFF2-40B4-BE49-F238E27FC236}">
                <a16:creationId xmlns:a16="http://schemas.microsoft.com/office/drawing/2014/main" id="{73C57977-F90B-4050-8109-109039330843}"/>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7</a:t>
            </a:r>
          </a:p>
        </p:txBody>
      </p:sp>
      <p:sp>
        <p:nvSpPr>
          <p:cNvPr id="5" name="">
            <a:extLst xmlns:a="http://schemas.openxmlformats.org/drawingml/2006/main">
              <a:ext uri="{FF2B5EF4-FFF2-40B4-BE49-F238E27FC236}">
                <a16:creationId xmlns:a16="http://schemas.microsoft.com/office/drawing/2014/main" id="{4A55FBB0-D787-4418-B520-F05F1B6C5A39}"/>
              </a:ext>
            </a:extLst>
          </p:cNvPr>
          <p:cNvSpPr>
            <a:spLocks xmlns:a="http://schemas.openxmlformats.org/drawingml/2006/main" noGrp="1"/>
          </p:cNvSpPr>
          <p:nvPr/>
        </p:nvSpPr>
        <p:spPr>
          <a:xfrm xmlns:a="http://schemas.openxmlformats.org/drawingml/2006/main">
            <a:off x="428625" y="20478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324B"/>
                </a:solidFill>
                <a:latin typeface="Times New Roman"/>
                <a:ea typeface="Times New Roman"/>
                <a:cs typeface="Times New Roman"/>
              </a:defRPr>
            </a:defPPr>
            <a:lvl1pPr>
              <a:defRPr sz="2325" b="1">
                <a:solidFill>
                  <a:srgbClr val="14324B"/>
                </a:solidFill>
                <a:latin typeface="Times New Roman"/>
                <a:ea typeface="Times New Roman"/>
                <a:cs typeface="Times New Roman"/>
              </a:defRPr>
            </a:lvl1pPr>
            <a:lvl2pPr>
              <a:defRPr sz="2325" b="1">
                <a:solidFill>
                  <a:srgbClr val="14324B"/>
                </a:solidFill>
                <a:latin typeface="Times New Roman"/>
                <a:ea typeface="Times New Roman"/>
                <a:cs typeface="Times New Roman"/>
              </a:defRPr>
            </a:lvl2pPr>
            <a:lvl3pPr>
              <a:defRPr sz="2325" b="1">
                <a:solidFill>
                  <a:srgbClr val="14324B"/>
                </a:solidFill>
                <a:latin typeface="Times New Roman"/>
                <a:ea typeface="Times New Roman"/>
                <a:cs typeface="Times New Roman"/>
              </a:defRPr>
            </a:lvl3pPr>
            <a:lvl4pPr>
              <a:defRPr sz="2325" b="1">
                <a:solidFill>
                  <a:srgbClr val="14324B"/>
                </a:solidFill>
                <a:latin typeface="Times New Roman"/>
                <a:ea typeface="Times New Roman"/>
                <a:cs typeface="Times New Roman"/>
              </a:defRPr>
            </a:lvl4pPr>
            <a:lvl5pPr>
              <a:defRPr sz="2325" b="1">
                <a:solidFill>
                  <a:srgbClr val="14324B"/>
                </a:solidFill>
                <a:latin typeface="Times New Roman"/>
                <a:ea typeface="Times New Roman"/>
                <a:cs typeface="Times New Roman"/>
              </a:defRPr>
            </a:lvl5pPr>
            <a:lvl6pPr>
              <a:defRPr sz="2325" b="1">
                <a:solidFill>
                  <a:srgbClr val="14324B"/>
                </a:solidFill>
                <a:latin typeface="Times New Roman"/>
                <a:ea typeface="Times New Roman"/>
                <a:cs typeface="Times New Roman"/>
              </a:defRPr>
            </a:lvl6pPr>
            <a:lvl7pPr>
              <a:defRPr sz="2325" b="1">
                <a:solidFill>
                  <a:srgbClr val="14324B"/>
                </a:solidFill>
                <a:latin typeface="Times New Roman"/>
                <a:ea typeface="Times New Roman"/>
                <a:cs typeface="Times New Roman"/>
              </a:defRPr>
            </a:lvl7pPr>
            <a:lvl8pPr>
              <a:defRPr sz="2325" b="1">
                <a:solidFill>
                  <a:srgbClr val="14324B"/>
                </a:solidFill>
                <a:latin typeface="Times New Roman"/>
                <a:ea typeface="Times New Roman"/>
                <a:cs typeface="Times New Roman"/>
              </a:defRPr>
            </a:lvl8pPr>
            <a:lvl9pPr>
              <a:defRPr sz="2325" b="1">
                <a:solidFill>
                  <a:srgbClr val="14324B"/>
                </a:solidFill>
                <a:latin typeface="Times New Roman"/>
                <a:ea typeface="Times New Roman"/>
                <a:cs typeface="Times New Roman"/>
              </a:defRPr>
            </a:lvl9pPr>
          </a:lstStyle>
          <a:p xmlns:a="http://schemas.openxmlformats.org/drawingml/2006/main">
            <a:pPr>
              <a:defRPr sz="2325" b="1">
                <a:solidFill>
                  <a:srgbClr val="14324B"/>
                </a:solidFill>
                <a:latin typeface="Times New Roman"/>
                <a:ea typeface="Times New Roman"/>
                <a:cs typeface="Times New Roman"/>
              </a:defRPr>
            </a:pPr>
            <a:r>
              <a:rPr sz="2325" b="1">
                <a:solidFill>
                  <a:srgbClr val="14324B"/>
                </a:solidFill>
                <a:latin typeface="Times New Roman"/>
                <a:ea typeface="Times New Roman"/>
                <a:cs typeface="Times New Roman"/>
              </a:rPr>
              <a:t>3,579 test rows</a:t>
            </a:r>
          </a:p>
        </p:txBody>
      </p:sp>
      <p:graphicFrame>
        <p:nvGraphicFramePr>
          <p:cNvPr id="6" name="Chart">
            <a:extLst xmlns:a="http://schemas.openxmlformats.org/drawingml/2006/main">
              <a:ext uri="{FF2B5EF4-FFF2-40B4-BE49-F238E27FC236}">
                <a16:creationId xmlns:a16="http://schemas.microsoft.com/office/drawing/2014/main" id="{9D85FF8C-E7DB-419A-AC54-875D0BFBF61B}"/>
              </a:ext>
            </a:extLst>
          </p:cNvPr>
          <p:cNvGraphicFramePr/>
          <p:nvPr/>
        </p:nvGraphicFramePr>
        <p:xfrm>
          <a:off xmlns:a="http://schemas.openxmlformats.org/drawingml/2006/main" x="381000" y="2571750"/>
          <a:ext xmlns:a="http://schemas.openxmlformats.org/drawingml/2006/main" cx="3429000" cy="2667000"/>
        </p:xfrm>
        <a:graphic xmlns:a="http://schemas.openxmlformats.org/drawingml/2006/main">
          <a:graphicData uri="http://schemas.openxmlformats.org/drawingml/2006/chart">
            <c:chart xmlns:r="http://schemas.openxmlformats.org/officeDocument/2006/relationships" xmlns:c="http://schemas.openxmlformats.org/drawingml/2006/chart" r:id="R8235dc105a6a4618"/>
          </a:graphicData>
        </a:graphic>
      </p:graphicFrame>
      <p:sp>
        <p:nvSpPr>
          <p:cNvPr id="7" name="">
            <a:extLst xmlns:a="http://schemas.openxmlformats.org/drawingml/2006/main">
              <a:ext uri="{FF2B5EF4-FFF2-40B4-BE49-F238E27FC236}">
                <a16:creationId xmlns:a16="http://schemas.microsoft.com/office/drawing/2014/main" id="{E3C71851-ECE8-46D7-AE85-C3E8FAD5C910}"/>
              </a:ext>
            </a:extLst>
          </p:cNvPr>
          <p:cNvSpPr>
            <a:spLocks xmlns:a="http://schemas.openxmlformats.org/drawingml/2006/main" noGrp="1"/>
          </p:cNvSpPr>
          <p:nvPr/>
        </p:nvSpPr>
        <p:spPr>
          <a:xfrm xmlns:a="http://schemas.openxmlformats.org/drawingml/2006/main">
            <a:off x="476250" y="52578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7D878C"/>
                </a:solidFill>
                <a:latin typeface="Times New Roman"/>
                <a:ea typeface="Times New Roman"/>
                <a:cs typeface="Times New Roman"/>
              </a:defRPr>
            </a:defPPr>
            <a:lvl1pPr>
              <a:defRPr sz="2025">
                <a:solidFill>
                  <a:srgbClr val="7D878C"/>
                </a:solidFill>
                <a:latin typeface="Times New Roman"/>
                <a:ea typeface="Times New Roman"/>
                <a:cs typeface="Times New Roman"/>
              </a:defRPr>
            </a:lvl1pPr>
            <a:lvl2pPr>
              <a:defRPr sz="2025">
                <a:solidFill>
                  <a:srgbClr val="7D878C"/>
                </a:solidFill>
                <a:latin typeface="Times New Roman"/>
                <a:ea typeface="Times New Roman"/>
                <a:cs typeface="Times New Roman"/>
              </a:defRPr>
            </a:lvl2pPr>
            <a:lvl3pPr>
              <a:defRPr sz="2025">
                <a:solidFill>
                  <a:srgbClr val="7D878C"/>
                </a:solidFill>
                <a:latin typeface="Times New Roman"/>
                <a:ea typeface="Times New Roman"/>
                <a:cs typeface="Times New Roman"/>
              </a:defRPr>
            </a:lvl3pPr>
            <a:lvl4pPr>
              <a:defRPr sz="2025">
                <a:solidFill>
                  <a:srgbClr val="7D878C"/>
                </a:solidFill>
                <a:latin typeface="Times New Roman"/>
                <a:ea typeface="Times New Roman"/>
                <a:cs typeface="Times New Roman"/>
              </a:defRPr>
            </a:lvl4pPr>
            <a:lvl5pPr>
              <a:defRPr sz="2025">
                <a:solidFill>
                  <a:srgbClr val="7D878C"/>
                </a:solidFill>
                <a:latin typeface="Times New Roman"/>
                <a:ea typeface="Times New Roman"/>
                <a:cs typeface="Times New Roman"/>
              </a:defRPr>
            </a:lvl5pPr>
            <a:lvl6pPr>
              <a:defRPr sz="2025">
                <a:solidFill>
                  <a:srgbClr val="7D878C"/>
                </a:solidFill>
                <a:latin typeface="Times New Roman"/>
                <a:ea typeface="Times New Roman"/>
                <a:cs typeface="Times New Roman"/>
              </a:defRPr>
            </a:lvl6pPr>
            <a:lvl7pPr>
              <a:defRPr sz="2025">
                <a:solidFill>
                  <a:srgbClr val="7D878C"/>
                </a:solidFill>
                <a:latin typeface="Times New Roman"/>
                <a:ea typeface="Times New Roman"/>
                <a:cs typeface="Times New Roman"/>
              </a:defRPr>
            </a:lvl7pPr>
            <a:lvl8pPr>
              <a:defRPr sz="2025">
                <a:solidFill>
                  <a:srgbClr val="7D878C"/>
                </a:solidFill>
                <a:latin typeface="Times New Roman"/>
                <a:ea typeface="Times New Roman"/>
                <a:cs typeface="Times New Roman"/>
              </a:defRPr>
            </a:lvl8pPr>
            <a:lvl9pPr>
              <a:defRPr sz="2025">
                <a:solidFill>
                  <a:srgbClr val="7D878C"/>
                </a:solidFill>
                <a:latin typeface="Times New Roman"/>
                <a:ea typeface="Times New Roman"/>
                <a:cs typeface="Times New Roman"/>
              </a:defRPr>
            </a:lvl9pPr>
          </a:lstStyle>
          <a:p xmlns:a="http://schemas.openxmlformats.org/drawingml/2006/main">
            <a:pPr>
              <a:defRPr sz="2025">
                <a:solidFill>
                  <a:srgbClr val="7D878C"/>
                </a:solidFill>
                <a:latin typeface="Times New Roman"/>
                <a:ea typeface="Times New Roman"/>
                <a:cs typeface="Times New Roman"/>
              </a:defRPr>
            </a:pPr>
            <a:r>
              <a:rPr sz="2025">
                <a:solidFill>
                  <a:srgbClr val="7D878C"/>
                </a:solidFill>
                <a:latin typeface="Times New Roman"/>
                <a:ea typeface="Times New Roman"/>
                <a:cs typeface="Times New Roman"/>
              </a:rPr>
              <a:t>2,444 repeat training</a:t>
            </a:r>
          </a:p>
        </p:txBody>
      </p:sp>
      <p:sp>
        <p:nvSpPr>
          <p:cNvPr id="8" name="">
            <a:extLst xmlns:a="http://schemas.openxmlformats.org/drawingml/2006/main">
              <a:ext uri="{FF2B5EF4-FFF2-40B4-BE49-F238E27FC236}">
                <a16:creationId xmlns:a16="http://schemas.microsoft.com/office/drawing/2014/main" id="{E6ED5E2E-9BF2-4AFC-8DD6-214A94C05B91}"/>
              </a:ext>
            </a:extLst>
          </p:cNvPr>
          <p:cNvSpPr>
            <a:spLocks xmlns:a="http://schemas.openxmlformats.org/drawingml/2006/main" noGrp="1"/>
          </p:cNvSpPr>
          <p:nvPr/>
        </p:nvSpPr>
        <p:spPr>
          <a:xfrm xmlns:a="http://schemas.openxmlformats.org/drawingml/2006/main">
            <a:off x="476250" y="562927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7D77"/>
                </a:solidFill>
                <a:latin typeface="Times New Roman"/>
                <a:ea typeface="Times New Roman"/>
                <a:cs typeface="Times New Roman"/>
              </a:defRPr>
            </a:defPPr>
            <a:lvl1pPr>
              <a:defRPr sz="2025">
                <a:solidFill>
                  <a:srgbClr val="167D77"/>
                </a:solidFill>
                <a:latin typeface="Times New Roman"/>
                <a:ea typeface="Times New Roman"/>
                <a:cs typeface="Times New Roman"/>
              </a:defRPr>
            </a:lvl1pPr>
            <a:lvl2pPr>
              <a:defRPr sz="2025">
                <a:solidFill>
                  <a:srgbClr val="167D77"/>
                </a:solidFill>
                <a:latin typeface="Times New Roman"/>
                <a:ea typeface="Times New Roman"/>
                <a:cs typeface="Times New Roman"/>
              </a:defRPr>
            </a:lvl2pPr>
            <a:lvl3pPr>
              <a:defRPr sz="2025">
                <a:solidFill>
                  <a:srgbClr val="167D77"/>
                </a:solidFill>
                <a:latin typeface="Times New Roman"/>
                <a:ea typeface="Times New Roman"/>
                <a:cs typeface="Times New Roman"/>
              </a:defRPr>
            </a:lvl3pPr>
            <a:lvl4pPr>
              <a:defRPr sz="2025">
                <a:solidFill>
                  <a:srgbClr val="167D77"/>
                </a:solidFill>
                <a:latin typeface="Times New Roman"/>
                <a:ea typeface="Times New Roman"/>
                <a:cs typeface="Times New Roman"/>
              </a:defRPr>
            </a:lvl4pPr>
            <a:lvl5pPr>
              <a:defRPr sz="2025">
                <a:solidFill>
                  <a:srgbClr val="167D77"/>
                </a:solidFill>
                <a:latin typeface="Times New Roman"/>
                <a:ea typeface="Times New Roman"/>
                <a:cs typeface="Times New Roman"/>
              </a:defRPr>
            </a:lvl5pPr>
            <a:lvl6pPr>
              <a:defRPr sz="2025">
                <a:solidFill>
                  <a:srgbClr val="167D77"/>
                </a:solidFill>
                <a:latin typeface="Times New Roman"/>
                <a:ea typeface="Times New Roman"/>
                <a:cs typeface="Times New Roman"/>
              </a:defRPr>
            </a:lvl6pPr>
            <a:lvl7pPr>
              <a:defRPr sz="2025">
                <a:solidFill>
                  <a:srgbClr val="167D77"/>
                </a:solidFill>
                <a:latin typeface="Times New Roman"/>
                <a:ea typeface="Times New Roman"/>
                <a:cs typeface="Times New Roman"/>
              </a:defRPr>
            </a:lvl7pPr>
            <a:lvl8pPr>
              <a:defRPr sz="2025">
                <a:solidFill>
                  <a:srgbClr val="167D77"/>
                </a:solidFill>
                <a:latin typeface="Times New Roman"/>
                <a:ea typeface="Times New Roman"/>
                <a:cs typeface="Times New Roman"/>
              </a:defRPr>
            </a:lvl8pPr>
            <a:lvl9pPr>
              <a:defRPr sz="2025">
                <a:solidFill>
                  <a:srgbClr val="167D77"/>
                </a:solidFill>
                <a:latin typeface="Times New Roman"/>
                <a:ea typeface="Times New Roman"/>
                <a:cs typeface="Times New Roman"/>
              </a:defRPr>
            </a:lvl9pPr>
          </a:lstStyle>
          <a:p xmlns:a="http://schemas.openxmlformats.org/drawingml/2006/main">
            <a:pPr>
              <a:defRPr sz="2025">
                <a:solidFill>
                  <a:srgbClr val="167D77"/>
                </a:solidFill>
                <a:latin typeface="Times New Roman"/>
                <a:ea typeface="Times New Roman"/>
                <a:cs typeface="Times New Roman"/>
              </a:defRPr>
            </a:pPr>
            <a:r>
              <a:rPr sz="2025">
                <a:solidFill>
                  <a:srgbClr val="167D77"/>
                </a:solidFill>
                <a:latin typeface="Times New Roman"/>
                <a:ea typeface="Times New Roman"/>
                <a:cs typeface="Times New Roman"/>
              </a:rPr>
              <a:t>1,135 absent from training</a:t>
            </a:r>
          </a:p>
        </p:txBody>
      </p:sp>
      <p:graphicFrame>
        <p:nvGraphicFramePr>
          <p:cNvPr id="9" name="Chart">
            <a:extLst xmlns:a="http://schemas.openxmlformats.org/drawingml/2006/main">
              <a:ext uri="{FF2B5EF4-FFF2-40B4-BE49-F238E27FC236}">
                <a16:creationId xmlns:a16="http://schemas.microsoft.com/office/drawing/2014/main" id="{62BE3E3B-D4D3-4759-B57E-40269D6CE362}"/>
              </a:ext>
            </a:extLst>
          </p:cNvPr>
          <p:cNvGraphicFramePr/>
          <p:nvPr/>
        </p:nvGraphicFramePr>
        <p:xfrm>
          <a:off xmlns:a="http://schemas.openxmlformats.org/drawingml/2006/main" x="4095750" y="2000250"/>
          <a:ext xmlns:a="http://schemas.openxmlformats.org/drawingml/2006/main" cx="7620000" cy="3429000"/>
        </p:xfrm>
        <a:graphic xmlns:a="http://schemas.openxmlformats.org/drawingml/2006/main">
          <a:graphicData uri="http://schemas.openxmlformats.org/drawingml/2006/chart">
            <c:chart xmlns:r="http://schemas.openxmlformats.org/officeDocument/2006/relationships" xmlns:c="http://schemas.openxmlformats.org/drawingml/2006/chart" r:id="Rd03d903189f94943"/>
          </a:graphicData>
        </a:graphic>
      </p:graphicFrame>
      <p:sp>
        <p:nvSpPr>
          <p:cNvPr id="10" name="">
            <a:extLst xmlns:a="http://schemas.openxmlformats.org/drawingml/2006/main">
              <a:ext uri="{FF2B5EF4-FFF2-40B4-BE49-F238E27FC236}">
                <a16:creationId xmlns:a16="http://schemas.microsoft.com/office/drawing/2014/main" id="{76FB7724-CF47-4DF1-97FC-9DE6B9DA0B67}"/>
              </a:ext>
            </a:extLst>
          </p:cNvPr>
          <p:cNvSpPr>
            <a:spLocks xmlns:a="http://schemas.openxmlformats.org/drawingml/2006/main" noGrp="1"/>
          </p:cNvSpPr>
          <p:nvPr/>
        </p:nvSpPr>
        <p:spPr>
          <a:xfrm xmlns:a="http://schemas.openxmlformats.org/drawingml/2006/main">
            <a:off x="4381500" y="5619750"/>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4324B"/>
                </a:solidFill>
                <a:latin typeface="Times New Roman"/>
                <a:ea typeface="Times New Roman"/>
                <a:cs typeface="Times New Roman"/>
              </a:defRPr>
            </a:defPPr>
            <a:lvl1pPr>
              <a:defRPr sz="2025">
                <a:solidFill>
                  <a:srgbClr val="14324B"/>
                </a:solidFill>
                <a:latin typeface="Times New Roman"/>
                <a:ea typeface="Times New Roman"/>
                <a:cs typeface="Times New Roman"/>
              </a:defRPr>
            </a:lvl1pPr>
            <a:lvl2pPr>
              <a:defRPr sz="2025">
                <a:solidFill>
                  <a:srgbClr val="14324B"/>
                </a:solidFill>
                <a:latin typeface="Times New Roman"/>
                <a:ea typeface="Times New Roman"/>
                <a:cs typeface="Times New Roman"/>
              </a:defRPr>
            </a:lvl2pPr>
            <a:lvl3pPr>
              <a:defRPr sz="2025">
                <a:solidFill>
                  <a:srgbClr val="14324B"/>
                </a:solidFill>
                <a:latin typeface="Times New Roman"/>
                <a:ea typeface="Times New Roman"/>
                <a:cs typeface="Times New Roman"/>
              </a:defRPr>
            </a:lvl3pPr>
            <a:lvl4pPr>
              <a:defRPr sz="2025">
                <a:solidFill>
                  <a:srgbClr val="14324B"/>
                </a:solidFill>
                <a:latin typeface="Times New Roman"/>
                <a:ea typeface="Times New Roman"/>
                <a:cs typeface="Times New Roman"/>
              </a:defRPr>
            </a:lvl4pPr>
            <a:lvl5pPr>
              <a:defRPr sz="2025">
                <a:solidFill>
                  <a:srgbClr val="14324B"/>
                </a:solidFill>
                <a:latin typeface="Times New Roman"/>
                <a:ea typeface="Times New Roman"/>
                <a:cs typeface="Times New Roman"/>
              </a:defRPr>
            </a:lvl5pPr>
            <a:lvl6pPr>
              <a:defRPr sz="2025">
                <a:solidFill>
                  <a:srgbClr val="14324B"/>
                </a:solidFill>
                <a:latin typeface="Times New Roman"/>
                <a:ea typeface="Times New Roman"/>
                <a:cs typeface="Times New Roman"/>
              </a:defRPr>
            </a:lvl6pPr>
            <a:lvl7pPr>
              <a:defRPr sz="2025">
                <a:solidFill>
                  <a:srgbClr val="14324B"/>
                </a:solidFill>
                <a:latin typeface="Times New Roman"/>
                <a:ea typeface="Times New Roman"/>
                <a:cs typeface="Times New Roman"/>
              </a:defRPr>
            </a:lvl7pPr>
            <a:lvl8pPr>
              <a:defRPr sz="2025">
                <a:solidFill>
                  <a:srgbClr val="14324B"/>
                </a:solidFill>
                <a:latin typeface="Times New Roman"/>
                <a:ea typeface="Times New Roman"/>
                <a:cs typeface="Times New Roman"/>
              </a:defRPr>
            </a:lvl8pPr>
            <a:lvl9pPr>
              <a:defRPr sz="2025">
                <a:solidFill>
                  <a:srgbClr val="14324B"/>
                </a:solidFill>
                <a:latin typeface="Times New Roman"/>
                <a:ea typeface="Times New Roman"/>
                <a:cs typeface="Times New Roman"/>
              </a:defRPr>
            </a:lvl9pPr>
          </a:lstStyle>
          <a:p xmlns:a="http://schemas.openxmlformats.org/drawingml/2006/main">
            <a:pPr>
              <a:defRPr sz="2025">
                <a:solidFill>
                  <a:srgbClr val="14324B"/>
                </a:solidFill>
                <a:latin typeface="Times New Roman"/>
                <a:ea typeface="Times New Roman"/>
                <a:cs typeface="Times New Roman"/>
              </a:defRPr>
            </a:pPr>
            <a:r>
              <a:rPr sz="2025">
                <a:solidFill>
                  <a:srgbClr val="14324B"/>
                </a:solidFill>
                <a:latin typeface="Times New Roman"/>
                <a:ea typeface="Times New Roman"/>
                <a:cs typeface="Times New Roman"/>
              </a:rPr>
              <a:t>Concat gain on the subset: +0.040 [−0.003, 0.083]</a:t>
            </a:r>
          </a:p>
        </p:txBody>
      </p:sp>
      <p:sp>
        <p:nvSpPr>
          <p:cNvPr id="11" name="">
            <a:extLst xmlns:a="http://schemas.openxmlformats.org/drawingml/2006/main">
              <a:ext uri="{FF2B5EF4-FFF2-40B4-BE49-F238E27FC236}">
                <a16:creationId xmlns:a16="http://schemas.microsoft.com/office/drawing/2014/main" id="{96C23EAF-908B-4362-9ED8-D7A113267253}"/>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One fitted seed. Subsetting changes the examples as well as overlap; it does not isolate memorization or replace a new sequence-disjoint training design.</a:t>
            </a:r>
          </a:p>
        </p:txBody>
      </p:sp>
    </p:spTree>
    <p:extLst>
      <p:ext uri="{BB962C8B-B14F-4D97-AF65-F5344CB8AC3E}">
        <p14:creationId xmlns:p14="http://schemas.microsoft.com/office/powerpoint/2010/main" val="11706380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6801F044-300C-4CA8-8F1B-54F57AB0FA5C}"/>
              </a:ext>
            </a:extLst>
          </p:cNvPr>
          <p:cNvCxnSpPr>
            <a:stCxn xmlns:a="http://schemas.openxmlformats.org/drawingml/2006/main" id="12" idx="3"/>
            <a:endCxn xmlns:a="http://schemas.openxmlformats.org/drawingml/2006/main" id="14" idx="1"/>
          </p:cNvCxnSpPr>
          <p:nvPr/>
        </p:nvCxnSpPr>
        <p:spPr>
          <a:xfrm xmlns:a="http://schemas.openxmlformats.org/drawingml/2006/main" flipV="1">
            <a:off x="8477250" y="3762375"/>
            <a:ext cx="1095375" cy="762000"/>
          </a:xfrm>
          <a:prstGeom xmlns:a="http://schemas.openxmlformats.org/drawingml/2006/main" prst="bentConnector3">
            <a:avLst>
              <a:gd name="adj1" fmla="val 50000"/>
            </a:avLst>
          </a:prstGeom>
          <a:ln xmlns:a="http://schemas.openxmlformats.org/drawingml/2006/main" w="21908">
            <a:solidFill>
              <a:srgbClr val="52636B"/>
            </a:solidFill>
            <a:prstDash val="solid"/>
            <a:tailEnd type="triangle" w="med" len="med"/>
          </a:ln>
        </p:spPr>
      </p:cxnSp>
      <p:cxnSp>
        <p:nvCxnSpPr>
          <p:cNvPr id="19" name="">
            <a:extLst xmlns:a="http://schemas.openxmlformats.org/drawingml/2006/main">
              <a:ext uri="{FF2B5EF4-FFF2-40B4-BE49-F238E27FC236}">
                <a16:creationId xmlns:a16="http://schemas.microsoft.com/office/drawing/2014/main" id="{BB346F7B-2FB6-4C68-9A00-2844AF193931}"/>
              </a:ext>
            </a:extLst>
          </p:cNvPr>
          <p:cNvCxnSpPr>
            <a:stCxn xmlns:a="http://schemas.openxmlformats.org/drawingml/2006/main" id="11" idx="3"/>
            <a:endCxn xmlns:a="http://schemas.openxmlformats.org/drawingml/2006/main" id="14" idx="1"/>
          </p:cNvCxnSpPr>
          <p:nvPr/>
        </p:nvCxnSpPr>
        <p:spPr>
          <a:xfrm xmlns:a="http://schemas.openxmlformats.org/drawingml/2006/main">
            <a:off x="8477250" y="3714750"/>
            <a:ext cx="1095375" cy="47625"/>
          </a:xfrm>
          <a:prstGeom xmlns:a="http://schemas.openxmlformats.org/drawingml/2006/main" prst="bentConnector3">
            <a:avLst>
              <a:gd name="adj1" fmla="val 50000"/>
            </a:avLst>
          </a:prstGeom>
          <a:ln xmlns:a="http://schemas.openxmlformats.org/drawingml/2006/main" w="21908">
            <a:solidFill>
              <a:srgbClr val="52636B"/>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BCB1E6DE-2205-4656-8347-5E2D12A9DCFF}"/>
              </a:ext>
            </a:extLst>
          </p:cNvPr>
          <p:cNvCxnSpPr>
            <a:stCxn xmlns:a="http://schemas.openxmlformats.org/drawingml/2006/main" id="10" idx="3"/>
            <a:endCxn xmlns:a="http://schemas.openxmlformats.org/drawingml/2006/main" id="14" idx="1"/>
          </p:cNvCxnSpPr>
          <p:nvPr/>
        </p:nvCxnSpPr>
        <p:spPr>
          <a:xfrm xmlns:a="http://schemas.openxmlformats.org/drawingml/2006/main">
            <a:off x="8477250" y="2905125"/>
            <a:ext cx="1095375" cy="857250"/>
          </a:xfrm>
          <a:prstGeom xmlns:a="http://schemas.openxmlformats.org/drawingml/2006/main" prst="bentConnector3">
            <a:avLst>
              <a:gd name="adj1" fmla="val 50000"/>
            </a:avLst>
          </a:prstGeom>
          <a:ln xmlns:a="http://schemas.openxmlformats.org/drawingml/2006/main" w="21908">
            <a:solidFill>
              <a:srgbClr val="52636B"/>
            </a:solidFill>
            <a:prstDash val="solid"/>
            <a:tailEnd type="triangle" w="med" len="med"/>
          </a:ln>
        </p:spPr>
      </p:cxnSp>
      <p:cxnSp>
        <p:nvCxnSpPr>
          <p:cNvPr id="17" name="">
            <a:extLst xmlns:a="http://schemas.openxmlformats.org/drawingml/2006/main">
              <a:ext uri="{FF2B5EF4-FFF2-40B4-BE49-F238E27FC236}">
                <a16:creationId xmlns:a16="http://schemas.microsoft.com/office/drawing/2014/main" id="{ED23771D-1696-45A4-8D02-6C94F032D187}"/>
              </a:ext>
            </a:extLst>
          </p:cNvPr>
          <p:cNvCxnSpPr>
            <a:stCxn xmlns:a="http://schemas.openxmlformats.org/drawingml/2006/main" id="9" idx="3"/>
            <a:endCxn xmlns:a="http://schemas.openxmlformats.org/drawingml/2006/main" id="13" idx="1"/>
          </p:cNvCxnSpPr>
          <p:nvPr/>
        </p:nvCxnSpPr>
        <p:spPr>
          <a:xfrm xmlns:a="http://schemas.openxmlformats.org/drawingml/2006/main" flipV="1">
            <a:off x="2381250" y="3762375"/>
            <a:ext cx="1047750" cy="762000"/>
          </a:xfrm>
          <a:prstGeom xmlns:a="http://schemas.openxmlformats.org/drawingml/2006/main" prst="bentConnector3">
            <a:avLst>
              <a:gd name="adj1" fmla="val 50000"/>
            </a:avLst>
          </a:prstGeom>
          <a:ln xmlns:a="http://schemas.openxmlformats.org/drawingml/2006/main" w="21908">
            <a:solidFill>
              <a:srgbClr val="52636B"/>
            </a:solidFill>
            <a:prstDash val="solid"/>
            <a:tailEnd type="triangle" w="med" len="med"/>
          </a:ln>
        </p:spPr>
      </p:cxnSp>
      <p:cxnSp>
        <p:nvCxnSpPr>
          <p:cNvPr id="16" name="">
            <a:extLst xmlns:a="http://schemas.openxmlformats.org/drawingml/2006/main">
              <a:ext uri="{FF2B5EF4-FFF2-40B4-BE49-F238E27FC236}">
                <a16:creationId xmlns:a16="http://schemas.microsoft.com/office/drawing/2014/main" id="{4F066F56-F4BB-4588-BEF3-E6939ED50035}"/>
              </a:ext>
            </a:extLst>
          </p:cNvPr>
          <p:cNvCxnSpPr>
            <a:stCxn xmlns:a="http://schemas.openxmlformats.org/drawingml/2006/main" id="8" idx="3"/>
            <a:endCxn xmlns:a="http://schemas.openxmlformats.org/drawingml/2006/main" id="13" idx="1"/>
          </p:cNvCxnSpPr>
          <p:nvPr/>
        </p:nvCxnSpPr>
        <p:spPr>
          <a:xfrm xmlns:a="http://schemas.openxmlformats.org/drawingml/2006/main">
            <a:off x="2381250" y="3714750"/>
            <a:ext cx="1047750" cy="47625"/>
          </a:xfrm>
          <a:prstGeom xmlns:a="http://schemas.openxmlformats.org/drawingml/2006/main" prst="bentConnector3">
            <a:avLst>
              <a:gd name="adj1" fmla="val 50000"/>
            </a:avLst>
          </a:prstGeom>
          <a:ln xmlns:a="http://schemas.openxmlformats.org/drawingml/2006/main" w="21908">
            <a:solidFill>
              <a:srgbClr val="52636B"/>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51F37F10-F21B-4077-8539-5DA85081FCEB}"/>
              </a:ext>
            </a:extLst>
          </p:cNvPr>
          <p:cNvCxnSpPr>
            <a:stCxn xmlns:a="http://schemas.openxmlformats.org/drawingml/2006/main" id="7" idx="3"/>
            <a:endCxn xmlns:a="http://schemas.openxmlformats.org/drawingml/2006/main" id="13" idx="1"/>
          </p:cNvCxnSpPr>
          <p:nvPr/>
        </p:nvCxnSpPr>
        <p:spPr>
          <a:xfrm xmlns:a="http://schemas.openxmlformats.org/drawingml/2006/main">
            <a:off x="2381250" y="2905125"/>
            <a:ext cx="1047750" cy="857250"/>
          </a:xfrm>
          <a:prstGeom xmlns:a="http://schemas.openxmlformats.org/drawingml/2006/main" prst="bentConnector3">
            <a:avLst>
              <a:gd name="adj1" fmla="val 50000"/>
            </a:avLst>
          </a:prstGeom>
          <a:ln xmlns:a="http://schemas.openxmlformats.org/drawingml/2006/main" w="21908">
            <a:solidFill>
              <a:srgbClr val="52636B"/>
            </a:solidFill>
            <a:prstDash val="solid"/>
            <a:tailEnd type="triangle" w="med" len="med"/>
          </a:ln>
        </p:spPr>
      </p:cxnSp>
      <p:sp>
        <p:nvSpPr>
          <p:cNvPr id="25" name="">
            <a:extLst xmlns:a="http://schemas.openxmlformats.org/drawingml/2006/main">
              <a:ext uri="{FF2B5EF4-FFF2-40B4-BE49-F238E27FC236}">
                <a16:creationId xmlns:a16="http://schemas.microsoft.com/office/drawing/2014/main" id="{0B808346-387A-477B-B9F0-55E8DA0FE2D4}"/>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6221BA-6177-468B-8F6B-4A9D4D141479}"/>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An encoder replacement creates two comparisons</a:t>
            </a:r>
          </a:p>
        </p:txBody>
      </p:sp>
      <p:sp>
        <p:nvSpPr>
          <p:cNvPr id="3" name="">
            <a:extLst xmlns:a="http://schemas.openxmlformats.org/drawingml/2006/main">
              <a:ext uri="{FF2B5EF4-FFF2-40B4-BE49-F238E27FC236}">
                <a16:creationId xmlns:a16="http://schemas.microsoft.com/office/drawing/2014/main" id="{9471762F-7C17-41AE-A114-42415842B6A4}"/>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Phase B changes one encoder while retaining the other encoders and training recipe.</a:t>
            </a:r>
          </a:p>
        </p:txBody>
      </p:sp>
      <p:sp>
        <p:nvSpPr>
          <p:cNvPr id="4" name="">
            <a:extLst xmlns:a="http://schemas.openxmlformats.org/drawingml/2006/main">
              <a:ext uri="{FF2B5EF4-FFF2-40B4-BE49-F238E27FC236}">
                <a16:creationId xmlns:a16="http://schemas.microsoft.com/office/drawing/2014/main" id="{AD9C4326-77B1-4D84-80C5-20AD32FF609E}"/>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8</a:t>
            </a:r>
          </a:p>
        </p:txBody>
      </p:sp>
      <p:sp>
        <p:nvSpPr>
          <p:cNvPr id="5" name="">
            <a:extLst xmlns:a="http://schemas.openxmlformats.org/drawingml/2006/main">
              <a:ext uri="{FF2B5EF4-FFF2-40B4-BE49-F238E27FC236}">
                <a16:creationId xmlns:a16="http://schemas.microsoft.com/office/drawing/2014/main" id="{839B933D-1C49-4443-A6B2-0CA31B5DA81C}"/>
              </a:ext>
            </a:extLst>
          </p:cNvPr>
          <p:cNvSpPr>
            <a:spLocks xmlns:a="http://schemas.openxmlformats.org/drawingml/2006/main" noGrp="1"/>
          </p:cNvSpPr>
          <p:nvPr/>
        </p:nvSpPr>
        <p:spPr>
          <a:xfrm xmlns:a="http://schemas.openxmlformats.org/drawingml/2006/main">
            <a:off x="571500" y="20002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324B"/>
                </a:solidFill>
                <a:latin typeface="Times New Roman"/>
                <a:ea typeface="Times New Roman"/>
                <a:cs typeface="Times New Roman"/>
              </a:defRPr>
            </a:defPPr>
            <a:lvl1pPr>
              <a:defRPr sz="2325" b="1">
                <a:solidFill>
                  <a:srgbClr val="14324B"/>
                </a:solidFill>
                <a:latin typeface="Times New Roman"/>
                <a:ea typeface="Times New Roman"/>
                <a:cs typeface="Times New Roman"/>
              </a:defRPr>
            </a:lvl1pPr>
            <a:lvl2pPr>
              <a:defRPr sz="2325" b="1">
                <a:solidFill>
                  <a:srgbClr val="14324B"/>
                </a:solidFill>
                <a:latin typeface="Times New Roman"/>
                <a:ea typeface="Times New Roman"/>
                <a:cs typeface="Times New Roman"/>
              </a:defRPr>
            </a:lvl2pPr>
            <a:lvl3pPr>
              <a:defRPr sz="2325" b="1">
                <a:solidFill>
                  <a:srgbClr val="14324B"/>
                </a:solidFill>
                <a:latin typeface="Times New Roman"/>
                <a:ea typeface="Times New Roman"/>
                <a:cs typeface="Times New Roman"/>
              </a:defRPr>
            </a:lvl3pPr>
            <a:lvl4pPr>
              <a:defRPr sz="2325" b="1">
                <a:solidFill>
                  <a:srgbClr val="14324B"/>
                </a:solidFill>
                <a:latin typeface="Times New Roman"/>
                <a:ea typeface="Times New Roman"/>
                <a:cs typeface="Times New Roman"/>
              </a:defRPr>
            </a:lvl4pPr>
            <a:lvl5pPr>
              <a:defRPr sz="2325" b="1">
                <a:solidFill>
                  <a:srgbClr val="14324B"/>
                </a:solidFill>
                <a:latin typeface="Times New Roman"/>
                <a:ea typeface="Times New Roman"/>
                <a:cs typeface="Times New Roman"/>
              </a:defRPr>
            </a:lvl5pPr>
            <a:lvl6pPr>
              <a:defRPr sz="2325" b="1">
                <a:solidFill>
                  <a:srgbClr val="14324B"/>
                </a:solidFill>
                <a:latin typeface="Times New Roman"/>
                <a:ea typeface="Times New Roman"/>
                <a:cs typeface="Times New Roman"/>
              </a:defRPr>
            </a:lvl6pPr>
            <a:lvl7pPr>
              <a:defRPr sz="2325" b="1">
                <a:solidFill>
                  <a:srgbClr val="14324B"/>
                </a:solidFill>
                <a:latin typeface="Times New Roman"/>
                <a:ea typeface="Times New Roman"/>
                <a:cs typeface="Times New Roman"/>
              </a:defRPr>
            </a:lvl7pPr>
            <a:lvl8pPr>
              <a:defRPr sz="2325" b="1">
                <a:solidFill>
                  <a:srgbClr val="14324B"/>
                </a:solidFill>
                <a:latin typeface="Times New Roman"/>
                <a:ea typeface="Times New Roman"/>
                <a:cs typeface="Times New Roman"/>
              </a:defRPr>
            </a:lvl8pPr>
            <a:lvl9pPr>
              <a:defRPr sz="2325" b="1">
                <a:solidFill>
                  <a:srgbClr val="14324B"/>
                </a:solidFill>
                <a:latin typeface="Times New Roman"/>
                <a:ea typeface="Times New Roman"/>
                <a:cs typeface="Times New Roman"/>
              </a:defRPr>
            </a:lvl9pPr>
          </a:lstStyle>
          <a:p xmlns:a="http://schemas.openxmlformats.org/drawingml/2006/main">
            <a:pPr>
              <a:defRPr sz="2325" b="1">
                <a:solidFill>
                  <a:srgbClr val="14324B"/>
                </a:solidFill>
                <a:latin typeface="Times New Roman"/>
                <a:ea typeface="Times New Roman"/>
                <a:cs typeface="Times New Roman"/>
              </a:defRPr>
            </a:pPr>
            <a:r>
              <a:rPr sz="2325" b="1">
                <a:solidFill>
                  <a:srgbClr val="14324B"/>
                </a:solidFill>
                <a:latin typeface="Times New Roman"/>
                <a:ea typeface="Times New Roman"/>
                <a:cs typeface="Times New Roman"/>
              </a:rPr>
              <a:t>Original setup</a:t>
            </a:r>
          </a:p>
        </p:txBody>
      </p:sp>
      <p:sp>
        <p:nvSpPr>
          <p:cNvPr id="6" name="">
            <a:extLst xmlns:a="http://schemas.openxmlformats.org/drawingml/2006/main">
              <a:ext uri="{FF2B5EF4-FFF2-40B4-BE49-F238E27FC236}">
                <a16:creationId xmlns:a16="http://schemas.microsoft.com/office/drawing/2014/main" id="{49939CA0-3447-4D8E-8E55-B5B043D573B9}"/>
              </a:ext>
            </a:extLst>
          </p:cNvPr>
          <p:cNvSpPr>
            <a:spLocks xmlns:a="http://schemas.openxmlformats.org/drawingml/2006/main" noGrp="1"/>
          </p:cNvSpPr>
          <p:nvPr/>
        </p:nvSpPr>
        <p:spPr>
          <a:xfrm xmlns:a="http://schemas.openxmlformats.org/drawingml/2006/main">
            <a:off x="6667500" y="20002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324B"/>
                </a:solidFill>
                <a:latin typeface="Times New Roman"/>
                <a:ea typeface="Times New Roman"/>
                <a:cs typeface="Times New Roman"/>
              </a:defRPr>
            </a:defPPr>
            <a:lvl1pPr>
              <a:defRPr sz="2325" b="1">
                <a:solidFill>
                  <a:srgbClr val="14324B"/>
                </a:solidFill>
                <a:latin typeface="Times New Roman"/>
                <a:ea typeface="Times New Roman"/>
                <a:cs typeface="Times New Roman"/>
              </a:defRPr>
            </a:lvl1pPr>
            <a:lvl2pPr>
              <a:defRPr sz="2325" b="1">
                <a:solidFill>
                  <a:srgbClr val="14324B"/>
                </a:solidFill>
                <a:latin typeface="Times New Roman"/>
                <a:ea typeface="Times New Roman"/>
                <a:cs typeface="Times New Roman"/>
              </a:defRPr>
            </a:lvl2pPr>
            <a:lvl3pPr>
              <a:defRPr sz="2325" b="1">
                <a:solidFill>
                  <a:srgbClr val="14324B"/>
                </a:solidFill>
                <a:latin typeface="Times New Roman"/>
                <a:ea typeface="Times New Roman"/>
                <a:cs typeface="Times New Roman"/>
              </a:defRPr>
            </a:lvl3pPr>
            <a:lvl4pPr>
              <a:defRPr sz="2325" b="1">
                <a:solidFill>
                  <a:srgbClr val="14324B"/>
                </a:solidFill>
                <a:latin typeface="Times New Roman"/>
                <a:ea typeface="Times New Roman"/>
                <a:cs typeface="Times New Roman"/>
              </a:defRPr>
            </a:lvl4pPr>
            <a:lvl5pPr>
              <a:defRPr sz="2325" b="1">
                <a:solidFill>
                  <a:srgbClr val="14324B"/>
                </a:solidFill>
                <a:latin typeface="Times New Roman"/>
                <a:ea typeface="Times New Roman"/>
                <a:cs typeface="Times New Roman"/>
              </a:defRPr>
            </a:lvl5pPr>
            <a:lvl6pPr>
              <a:defRPr sz="2325" b="1">
                <a:solidFill>
                  <a:srgbClr val="14324B"/>
                </a:solidFill>
                <a:latin typeface="Times New Roman"/>
                <a:ea typeface="Times New Roman"/>
                <a:cs typeface="Times New Roman"/>
              </a:defRPr>
            </a:lvl6pPr>
            <a:lvl7pPr>
              <a:defRPr sz="2325" b="1">
                <a:solidFill>
                  <a:srgbClr val="14324B"/>
                </a:solidFill>
                <a:latin typeface="Times New Roman"/>
                <a:ea typeface="Times New Roman"/>
                <a:cs typeface="Times New Roman"/>
              </a:defRPr>
            </a:lvl7pPr>
            <a:lvl8pPr>
              <a:defRPr sz="2325" b="1">
                <a:solidFill>
                  <a:srgbClr val="14324B"/>
                </a:solidFill>
                <a:latin typeface="Times New Roman"/>
                <a:ea typeface="Times New Roman"/>
                <a:cs typeface="Times New Roman"/>
              </a:defRPr>
            </a:lvl8pPr>
            <a:lvl9pPr>
              <a:defRPr sz="2325" b="1">
                <a:solidFill>
                  <a:srgbClr val="14324B"/>
                </a:solidFill>
                <a:latin typeface="Times New Roman"/>
                <a:ea typeface="Times New Roman"/>
                <a:cs typeface="Times New Roman"/>
              </a:defRPr>
            </a:lvl9pPr>
          </a:lstStyle>
          <a:p xmlns:a="http://schemas.openxmlformats.org/drawingml/2006/main">
            <a:pPr>
              <a:defRPr sz="2325" b="1">
                <a:solidFill>
                  <a:srgbClr val="14324B"/>
                </a:solidFill>
                <a:latin typeface="Times New Roman"/>
                <a:ea typeface="Times New Roman"/>
                <a:cs typeface="Times New Roman"/>
              </a:defRPr>
            </a:pPr>
            <a:r>
              <a:rPr sz="2325" b="1">
                <a:solidFill>
                  <a:srgbClr val="14324B"/>
                </a:solidFill>
                <a:latin typeface="Times New Roman"/>
                <a:ea typeface="Times New Roman"/>
                <a:cs typeface="Times New Roman"/>
              </a:rPr>
              <a:t>RNA replacement example</a:t>
            </a:r>
          </a:p>
        </p:txBody>
      </p:sp>
      <p:sp>
        <p:nvSpPr>
          <p:cNvPr id="7" name="">
            <a:extLst xmlns:a="http://schemas.openxmlformats.org/drawingml/2006/main">
              <a:ext uri="{FF2B5EF4-FFF2-40B4-BE49-F238E27FC236}">
                <a16:creationId xmlns:a16="http://schemas.microsoft.com/office/drawing/2014/main" id="{EE5DCB1D-E09F-45E9-B8B5-2799FD1C5FF2}"/>
              </a:ext>
            </a:extLst>
          </p:cNvPr>
          <p:cNvSpPr>
            <a:spLocks xmlns:a="http://schemas.openxmlformats.org/drawingml/2006/main" noGrp="1"/>
          </p:cNvSpPr>
          <p:nvPr/>
        </p:nvSpPr>
        <p:spPr>
          <a:xfrm xmlns:a="http://schemas.openxmlformats.org/drawingml/2006/main">
            <a:off x="571500" y="2619375"/>
            <a:ext cx="1809750" cy="571500"/>
          </a:xfrm>
          <a:prstGeom xmlns:a="http://schemas.openxmlformats.org/drawingml/2006/main" prst="rect">
            <a:avLst/>
          </a:prstGeom>
          <a:solidFill xmlns:a="http://schemas.openxmlformats.org/drawingml/2006/main">
            <a:srgbClr val="EAF1F8"/>
          </a:solidFill>
          <a:ln xmlns:a="http://schemas.openxmlformats.org/drawingml/2006/main" w="14288">
            <a:solidFill>
              <a:srgbClr val="326DA8"/>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326DA8"/>
                </a:solidFill>
                <a:latin typeface="Times New Roman"/>
                <a:ea typeface="Times New Roman"/>
                <a:cs typeface="Times New Roman"/>
              </a:defRPr>
            </a:defPPr>
            <a:lvl1pPr algn="ctr">
              <a:defRPr sz="2100" b="1">
                <a:solidFill>
                  <a:srgbClr val="326DA8"/>
                </a:solidFill>
                <a:latin typeface="Times New Roman"/>
                <a:ea typeface="Times New Roman"/>
                <a:cs typeface="Times New Roman"/>
              </a:defRPr>
            </a:lvl1pPr>
            <a:lvl2pPr algn="ctr">
              <a:defRPr sz="2100" b="1">
                <a:solidFill>
                  <a:srgbClr val="326DA8"/>
                </a:solidFill>
                <a:latin typeface="Times New Roman"/>
                <a:ea typeface="Times New Roman"/>
                <a:cs typeface="Times New Roman"/>
              </a:defRPr>
            </a:lvl2pPr>
            <a:lvl3pPr algn="ctr">
              <a:defRPr sz="2100" b="1">
                <a:solidFill>
                  <a:srgbClr val="326DA8"/>
                </a:solidFill>
                <a:latin typeface="Times New Roman"/>
                <a:ea typeface="Times New Roman"/>
                <a:cs typeface="Times New Roman"/>
              </a:defRPr>
            </a:lvl3pPr>
            <a:lvl4pPr algn="ctr">
              <a:defRPr sz="2100" b="1">
                <a:solidFill>
                  <a:srgbClr val="326DA8"/>
                </a:solidFill>
                <a:latin typeface="Times New Roman"/>
                <a:ea typeface="Times New Roman"/>
                <a:cs typeface="Times New Roman"/>
              </a:defRPr>
            </a:lvl4pPr>
            <a:lvl5pPr algn="ctr">
              <a:defRPr sz="2100" b="1">
                <a:solidFill>
                  <a:srgbClr val="326DA8"/>
                </a:solidFill>
                <a:latin typeface="Times New Roman"/>
                <a:ea typeface="Times New Roman"/>
                <a:cs typeface="Times New Roman"/>
              </a:defRPr>
            </a:lvl5pPr>
            <a:lvl6pPr algn="ctr">
              <a:defRPr sz="2100" b="1">
                <a:solidFill>
                  <a:srgbClr val="326DA8"/>
                </a:solidFill>
                <a:latin typeface="Times New Roman"/>
                <a:ea typeface="Times New Roman"/>
                <a:cs typeface="Times New Roman"/>
              </a:defRPr>
            </a:lvl6pPr>
            <a:lvl7pPr algn="ctr">
              <a:defRPr sz="2100" b="1">
                <a:solidFill>
                  <a:srgbClr val="326DA8"/>
                </a:solidFill>
                <a:latin typeface="Times New Roman"/>
                <a:ea typeface="Times New Roman"/>
                <a:cs typeface="Times New Roman"/>
              </a:defRPr>
            </a:lvl7pPr>
            <a:lvl8pPr algn="ctr">
              <a:defRPr sz="2100" b="1">
                <a:solidFill>
                  <a:srgbClr val="326DA8"/>
                </a:solidFill>
                <a:latin typeface="Times New Roman"/>
                <a:ea typeface="Times New Roman"/>
                <a:cs typeface="Times New Roman"/>
              </a:defRPr>
            </a:lvl8pPr>
            <a:lvl9pPr algn="ctr">
              <a:defRPr sz="2100" b="1">
                <a:solidFill>
                  <a:srgbClr val="326DA8"/>
                </a:solidFill>
                <a:latin typeface="Times New Roman"/>
                <a:ea typeface="Times New Roman"/>
                <a:cs typeface="Times New Roman"/>
              </a:defRPr>
            </a:lvl9pPr>
          </a:lstStyle>
          <a:p xmlns:a="http://schemas.openxmlformats.org/drawingml/2006/main">
            <a:pPr algn="ctr">
              <a:defRPr sz="2100" b="1">
                <a:solidFill>
                  <a:srgbClr val="326DA8"/>
                </a:solidFill>
                <a:latin typeface="Times New Roman"/>
                <a:ea typeface="Times New Roman"/>
                <a:cs typeface="Times New Roman"/>
              </a:defRPr>
            </a:pPr>
            <a:r>
              <a:rPr sz="2100" b="1">
                <a:solidFill>
                  <a:srgbClr val="326DA8"/>
                </a:solidFill>
                <a:latin typeface="Times New Roman"/>
                <a:ea typeface="Times New Roman"/>
                <a:cs typeface="Times New Roman"/>
              </a:rPr>
              <a:t>NT v2</a:t>
            </a:r>
          </a:p>
        </p:txBody>
      </p:sp>
      <p:sp>
        <p:nvSpPr>
          <p:cNvPr id="8" name="">
            <a:extLst xmlns:a="http://schemas.openxmlformats.org/drawingml/2006/main">
              <a:ext uri="{FF2B5EF4-FFF2-40B4-BE49-F238E27FC236}">
                <a16:creationId xmlns:a16="http://schemas.microsoft.com/office/drawing/2014/main" id="{0D341415-1824-414A-A637-04E06AFC5C24}"/>
              </a:ext>
            </a:extLst>
          </p:cNvPr>
          <p:cNvSpPr>
            <a:spLocks xmlns:a="http://schemas.openxmlformats.org/drawingml/2006/main" noGrp="1"/>
          </p:cNvSpPr>
          <p:nvPr/>
        </p:nvSpPr>
        <p:spPr>
          <a:xfrm xmlns:a="http://schemas.openxmlformats.org/drawingml/2006/main">
            <a:off x="571500" y="3429000"/>
            <a:ext cx="1809750" cy="57150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167D77"/>
                </a:solidFill>
                <a:latin typeface="Times New Roman"/>
                <a:ea typeface="Times New Roman"/>
                <a:cs typeface="Times New Roman"/>
              </a:defRPr>
            </a:defPPr>
            <a:lvl1pPr algn="ctr">
              <a:defRPr sz="2100" b="1">
                <a:solidFill>
                  <a:srgbClr val="167D77"/>
                </a:solidFill>
                <a:latin typeface="Times New Roman"/>
                <a:ea typeface="Times New Roman"/>
                <a:cs typeface="Times New Roman"/>
              </a:defRPr>
            </a:lvl1pPr>
            <a:lvl2pPr algn="ctr">
              <a:defRPr sz="2100" b="1">
                <a:solidFill>
                  <a:srgbClr val="167D77"/>
                </a:solidFill>
                <a:latin typeface="Times New Roman"/>
                <a:ea typeface="Times New Roman"/>
                <a:cs typeface="Times New Roman"/>
              </a:defRPr>
            </a:lvl2pPr>
            <a:lvl3pPr algn="ctr">
              <a:defRPr sz="2100" b="1">
                <a:solidFill>
                  <a:srgbClr val="167D77"/>
                </a:solidFill>
                <a:latin typeface="Times New Roman"/>
                <a:ea typeface="Times New Roman"/>
                <a:cs typeface="Times New Roman"/>
              </a:defRPr>
            </a:lvl3pPr>
            <a:lvl4pPr algn="ctr">
              <a:defRPr sz="2100" b="1">
                <a:solidFill>
                  <a:srgbClr val="167D77"/>
                </a:solidFill>
                <a:latin typeface="Times New Roman"/>
                <a:ea typeface="Times New Roman"/>
                <a:cs typeface="Times New Roman"/>
              </a:defRPr>
            </a:lvl4pPr>
            <a:lvl5pPr algn="ctr">
              <a:defRPr sz="2100" b="1">
                <a:solidFill>
                  <a:srgbClr val="167D77"/>
                </a:solidFill>
                <a:latin typeface="Times New Roman"/>
                <a:ea typeface="Times New Roman"/>
                <a:cs typeface="Times New Roman"/>
              </a:defRPr>
            </a:lvl5pPr>
            <a:lvl6pPr algn="ctr">
              <a:defRPr sz="2100" b="1">
                <a:solidFill>
                  <a:srgbClr val="167D77"/>
                </a:solidFill>
                <a:latin typeface="Times New Roman"/>
                <a:ea typeface="Times New Roman"/>
                <a:cs typeface="Times New Roman"/>
              </a:defRPr>
            </a:lvl6pPr>
            <a:lvl7pPr algn="ctr">
              <a:defRPr sz="2100" b="1">
                <a:solidFill>
                  <a:srgbClr val="167D77"/>
                </a:solidFill>
                <a:latin typeface="Times New Roman"/>
                <a:ea typeface="Times New Roman"/>
                <a:cs typeface="Times New Roman"/>
              </a:defRPr>
            </a:lvl7pPr>
            <a:lvl8pPr algn="ctr">
              <a:defRPr sz="2100" b="1">
                <a:solidFill>
                  <a:srgbClr val="167D77"/>
                </a:solidFill>
                <a:latin typeface="Times New Roman"/>
                <a:ea typeface="Times New Roman"/>
                <a:cs typeface="Times New Roman"/>
              </a:defRPr>
            </a:lvl8pPr>
            <a:lvl9pPr algn="ctr">
              <a:defRPr sz="2100" b="1">
                <a:solidFill>
                  <a:srgbClr val="167D77"/>
                </a:solidFill>
                <a:latin typeface="Times New Roman"/>
                <a:ea typeface="Times New Roman"/>
                <a:cs typeface="Times New Roman"/>
              </a:defRPr>
            </a:lvl9pPr>
          </a:lstStyle>
          <a:p xmlns:a="http://schemas.openxmlformats.org/drawingml/2006/main">
            <a:pPr algn="ctr">
              <a:defRPr sz="2100" b="1">
                <a:solidFill>
                  <a:srgbClr val="167D77"/>
                </a:solidFill>
                <a:latin typeface="Times New Roman"/>
                <a:ea typeface="Times New Roman"/>
                <a:cs typeface="Times New Roman"/>
              </a:defRPr>
            </a:pPr>
            <a:r>
              <a:rPr sz="2100" b="1">
                <a:solidFill>
                  <a:srgbClr val="167D77"/>
                </a:solidFill>
                <a:latin typeface="Times New Roman"/>
                <a:ea typeface="Times New Roman"/>
                <a:cs typeface="Times New Roman"/>
              </a:rPr>
              <a:t>RNA-FM</a:t>
            </a:r>
          </a:p>
        </p:txBody>
      </p:sp>
      <p:sp>
        <p:nvSpPr>
          <p:cNvPr id="9" name="">
            <a:extLst xmlns:a="http://schemas.openxmlformats.org/drawingml/2006/main">
              <a:ext uri="{FF2B5EF4-FFF2-40B4-BE49-F238E27FC236}">
                <a16:creationId xmlns:a16="http://schemas.microsoft.com/office/drawing/2014/main" id="{D1D8E7B0-DA16-4362-8C27-5260897D77B3}"/>
              </a:ext>
            </a:extLst>
          </p:cNvPr>
          <p:cNvSpPr>
            <a:spLocks xmlns:a="http://schemas.openxmlformats.org/drawingml/2006/main" noGrp="1"/>
          </p:cNvSpPr>
          <p:nvPr/>
        </p:nvSpPr>
        <p:spPr>
          <a:xfrm xmlns:a="http://schemas.openxmlformats.org/drawingml/2006/main">
            <a:off x="571500" y="4238625"/>
            <a:ext cx="1809750" cy="571500"/>
          </a:xfrm>
          <a:prstGeom xmlns:a="http://schemas.openxmlformats.org/drawingml/2006/main" prst="rect">
            <a:avLst/>
          </a:prstGeom>
          <a:solidFill xmlns:a="http://schemas.openxmlformats.org/drawingml/2006/main">
            <a:srgbClr val="F0EAF5"/>
          </a:solidFill>
          <a:ln xmlns:a="http://schemas.openxmlformats.org/drawingml/2006/main" w="14288">
            <a:solidFill>
              <a:srgbClr val="815897"/>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815897"/>
                </a:solidFill>
                <a:latin typeface="Times New Roman"/>
                <a:ea typeface="Times New Roman"/>
                <a:cs typeface="Times New Roman"/>
              </a:defRPr>
            </a:defPPr>
            <a:lvl1pPr algn="ctr">
              <a:defRPr sz="2100" b="1">
                <a:solidFill>
                  <a:srgbClr val="815897"/>
                </a:solidFill>
                <a:latin typeface="Times New Roman"/>
                <a:ea typeface="Times New Roman"/>
                <a:cs typeface="Times New Roman"/>
              </a:defRPr>
            </a:lvl1pPr>
            <a:lvl2pPr algn="ctr">
              <a:defRPr sz="2100" b="1">
                <a:solidFill>
                  <a:srgbClr val="815897"/>
                </a:solidFill>
                <a:latin typeface="Times New Roman"/>
                <a:ea typeface="Times New Roman"/>
                <a:cs typeface="Times New Roman"/>
              </a:defRPr>
            </a:lvl2pPr>
            <a:lvl3pPr algn="ctr">
              <a:defRPr sz="2100" b="1">
                <a:solidFill>
                  <a:srgbClr val="815897"/>
                </a:solidFill>
                <a:latin typeface="Times New Roman"/>
                <a:ea typeface="Times New Roman"/>
                <a:cs typeface="Times New Roman"/>
              </a:defRPr>
            </a:lvl3pPr>
            <a:lvl4pPr algn="ctr">
              <a:defRPr sz="2100" b="1">
                <a:solidFill>
                  <a:srgbClr val="815897"/>
                </a:solidFill>
                <a:latin typeface="Times New Roman"/>
                <a:ea typeface="Times New Roman"/>
                <a:cs typeface="Times New Roman"/>
              </a:defRPr>
            </a:lvl4pPr>
            <a:lvl5pPr algn="ctr">
              <a:defRPr sz="2100" b="1">
                <a:solidFill>
                  <a:srgbClr val="815897"/>
                </a:solidFill>
                <a:latin typeface="Times New Roman"/>
                <a:ea typeface="Times New Roman"/>
                <a:cs typeface="Times New Roman"/>
              </a:defRPr>
            </a:lvl5pPr>
            <a:lvl6pPr algn="ctr">
              <a:defRPr sz="2100" b="1">
                <a:solidFill>
                  <a:srgbClr val="815897"/>
                </a:solidFill>
                <a:latin typeface="Times New Roman"/>
                <a:ea typeface="Times New Roman"/>
                <a:cs typeface="Times New Roman"/>
              </a:defRPr>
            </a:lvl6pPr>
            <a:lvl7pPr algn="ctr">
              <a:defRPr sz="2100" b="1">
                <a:solidFill>
                  <a:srgbClr val="815897"/>
                </a:solidFill>
                <a:latin typeface="Times New Roman"/>
                <a:ea typeface="Times New Roman"/>
                <a:cs typeface="Times New Roman"/>
              </a:defRPr>
            </a:lvl7pPr>
            <a:lvl8pPr algn="ctr">
              <a:defRPr sz="2100" b="1">
                <a:solidFill>
                  <a:srgbClr val="815897"/>
                </a:solidFill>
                <a:latin typeface="Times New Roman"/>
                <a:ea typeface="Times New Roman"/>
                <a:cs typeface="Times New Roman"/>
              </a:defRPr>
            </a:lvl8pPr>
            <a:lvl9pPr algn="ctr">
              <a:defRPr sz="2100" b="1">
                <a:solidFill>
                  <a:srgbClr val="815897"/>
                </a:solidFill>
                <a:latin typeface="Times New Roman"/>
                <a:ea typeface="Times New Roman"/>
                <a:cs typeface="Times New Roman"/>
              </a:defRPr>
            </a:lvl9pPr>
          </a:lstStyle>
          <a:p xmlns:a="http://schemas.openxmlformats.org/drawingml/2006/main">
            <a:pPr algn="ctr">
              <a:defRPr sz="2100" b="1">
                <a:solidFill>
                  <a:srgbClr val="815897"/>
                </a:solidFill>
                <a:latin typeface="Times New Roman"/>
                <a:ea typeface="Times New Roman"/>
                <a:cs typeface="Times New Roman"/>
              </a:defRPr>
            </a:pPr>
            <a:r>
              <a:rPr sz="2100" b="1">
                <a:solidFill>
                  <a:srgbClr val="815897"/>
                </a:solidFill>
                <a:latin typeface="Times New Roman"/>
                <a:ea typeface="Times New Roman"/>
                <a:cs typeface="Times New Roman"/>
              </a:rPr>
              <a:t>ESM-2</a:t>
            </a:r>
          </a:p>
        </p:txBody>
      </p:sp>
      <p:sp>
        <p:nvSpPr>
          <p:cNvPr id="10" name="">
            <a:extLst xmlns:a="http://schemas.openxmlformats.org/drawingml/2006/main">
              <a:ext uri="{FF2B5EF4-FFF2-40B4-BE49-F238E27FC236}">
                <a16:creationId xmlns:a16="http://schemas.microsoft.com/office/drawing/2014/main" id="{777BA4B0-766D-4A8C-A3FD-411021523267}"/>
              </a:ext>
            </a:extLst>
          </p:cNvPr>
          <p:cNvSpPr>
            <a:spLocks xmlns:a="http://schemas.openxmlformats.org/drawingml/2006/main" noGrp="1"/>
          </p:cNvSpPr>
          <p:nvPr/>
        </p:nvSpPr>
        <p:spPr>
          <a:xfrm xmlns:a="http://schemas.openxmlformats.org/drawingml/2006/main">
            <a:off x="6667500" y="2619375"/>
            <a:ext cx="1809750" cy="571500"/>
          </a:xfrm>
          <a:prstGeom xmlns:a="http://schemas.openxmlformats.org/drawingml/2006/main" prst="rect">
            <a:avLst/>
          </a:prstGeom>
          <a:solidFill xmlns:a="http://schemas.openxmlformats.org/drawingml/2006/main">
            <a:srgbClr val="EAF1F8"/>
          </a:solidFill>
          <a:ln xmlns:a="http://schemas.openxmlformats.org/drawingml/2006/main" w="14288">
            <a:solidFill>
              <a:srgbClr val="326DA8"/>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326DA8"/>
                </a:solidFill>
                <a:latin typeface="Times New Roman"/>
                <a:ea typeface="Times New Roman"/>
                <a:cs typeface="Times New Roman"/>
              </a:defRPr>
            </a:defPPr>
            <a:lvl1pPr algn="ctr">
              <a:defRPr sz="2100" b="1">
                <a:solidFill>
                  <a:srgbClr val="326DA8"/>
                </a:solidFill>
                <a:latin typeface="Times New Roman"/>
                <a:ea typeface="Times New Roman"/>
                <a:cs typeface="Times New Roman"/>
              </a:defRPr>
            </a:lvl1pPr>
            <a:lvl2pPr algn="ctr">
              <a:defRPr sz="2100" b="1">
                <a:solidFill>
                  <a:srgbClr val="326DA8"/>
                </a:solidFill>
                <a:latin typeface="Times New Roman"/>
                <a:ea typeface="Times New Roman"/>
                <a:cs typeface="Times New Roman"/>
              </a:defRPr>
            </a:lvl2pPr>
            <a:lvl3pPr algn="ctr">
              <a:defRPr sz="2100" b="1">
                <a:solidFill>
                  <a:srgbClr val="326DA8"/>
                </a:solidFill>
                <a:latin typeface="Times New Roman"/>
                <a:ea typeface="Times New Roman"/>
                <a:cs typeface="Times New Roman"/>
              </a:defRPr>
            </a:lvl3pPr>
            <a:lvl4pPr algn="ctr">
              <a:defRPr sz="2100" b="1">
                <a:solidFill>
                  <a:srgbClr val="326DA8"/>
                </a:solidFill>
                <a:latin typeface="Times New Roman"/>
                <a:ea typeface="Times New Roman"/>
                <a:cs typeface="Times New Roman"/>
              </a:defRPr>
            </a:lvl4pPr>
            <a:lvl5pPr algn="ctr">
              <a:defRPr sz="2100" b="1">
                <a:solidFill>
                  <a:srgbClr val="326DA8"/>
                </a:solidFill>
                <a:latin typeface="Times New Roman"/>
                <a:ea typeface="Times New Roman"/>
                <a:cs typeface="Times New Roman"/>
              </a:defRPr>
            </a:lvl5pPr>
            <a:lvl6pPr algn="ctr">
              <a:defRPr sz="2100" b="1">
                <a:solidFill>
                  <a:srgbClr val="326DA8"/>
                </a:solidFill>
                <a:latin typeface="Times New Roman"/>
                <a:ea typeface="Times New Roman"/>
                <a:cs typeface="Times New Roman"/>
              </a:defRPr>
            </a:lvl6pPr>
            <a:lvl7pPr algn="ctr">
              <a:defRPr sz="2100" b="1">
                <a:solidFill>
                  <a:srgbClr val="326DA8"/>
                </a:solidFill>
                <a:latin typeface="Times New Roman"/>
                <a:ea typeface="Times New Roman"/>
                <a:cs typeface="Times New Roman"/>
              </a:defRPr>
            </a:lvl7pPr>
            <a:lvl8pPr algn="ctr">
              <a:defRPr sz="2100" b="1">
                <a:solidFill>
                  <a:srgbClr val="326DA8"/>
                </a:solidFill>
                <a:latin typeface="Times New Roman"/>
                <a:ea typeface="Times New Roman"/>
                <a:cs typeface="Times New Roman"/>
              </a:defRPr>
            </a:lvl8pPr>
            <a:lvl9pPr algn="ctr">
              <a:defRPr sz="2100" b="1">
                <a:solidFill>
                  <a:srgbClr val="326DA8"/>
                </a:solidFill>
                <a:latin typeface="Times New Roman"/>
                <a:ea typeface="Times New Roman"/>
                <a:cs typeface="Times New Roman"/>
              </a:defRPr>
            </a:lvl9pPr>
          </a:lstStyle>
          <a:p xmlns:a="http://schemas.openxmlformats.org/drawingml/2006/main">
            <a:pPr algn="ctr">
              <a:defRPr sz="2100" b="1">
                <a:solidFill>
                  <a:srgbClr val="326DA8"/>
                </a:solidFill>
                <a:latin typeface="Times New Roman"/>
                <a:ea typeface="Times New Roman"/>
                <a:cs typeface="Times New Roman"/>
              </a:defRPr>
            </a:pPr>
            <a:r>
              <a:rPr sz="2100" b="1">
                <a:solidFill>
                  <a:srgbClr val="326DA8"/>
                </a:solidFill>
                <a:latin typeface="Times New Roman"/>
                <a:ea typeface="Times New Roman"/>
                <a:cs typeface="Times New Roman"/>
              </a:rPr>
              <a:t>NT v2</a:t>
            </a:r>
          </a:p>
        </p:txBody>
      </p:sp>
      <p:sp>
        <p:nvSpPr>
          <p:cNvPr id="11" name="">
            <a:extLst xmlns:a="http://schemas.openxmlformats.org/drawingml/2006/main">
              <a:ext uri="{FF2B5EF4-FFF2-40B4-BE49-F238E27FC236}">
                <a16:creationId xmlns:a16="http://schemas.microsoft.com/office/drawing/2014/main" id="{7D1DFD27-A646-4131-B874-F672A51D6722}"/>
              </a:ext>
            </a:extLst>
          </p:cNvPr>
          <p:cNvSpPr>
            <a:spLocks xmlns:a="http://schemas.openxmlformats.org/drawingml/2006/main" noGrp="1"/>
          </p:cNvSpPr>
          <p:nvPr/>
        </p:nvSpPr>
        <p:spPr>
          <a:xfrm xmlns:a="http://schemas.openxmlformats.org/drawingml/2006/main">
            <a:off x="6667500" y="3429000"/>
            <a:ext cx="1809750" cy="57150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167D77"/>
                </a:solidFill>
                <a:latin typeface="Times New Roman"/>
                <a:ea typeface="Times New Roman"/>
                <a:cs typeface="Times New Roman"/>
              </a:defRPr>
            </a:defPPr>
            <a:lvl1pPr algn="ctr">
              <a:defRPr sz="2100" b="1">
                <a:solidFill>
                  <a:srgbClr val="167D77"/>
                </a:solidFill>
                <a:latin typeface="Times New Roman"/>
                <a:ea typeface="Times New Roman"/>
                <a:cs typeface="Times New Roman"/>
              </a:defRPr>
            </a:lvl1pPr>
            <a:lvl2pPr algn="ctr">
              <a:defRPr sz="2100" b="1">
                <a:solidFill>
                  <a:srgbClr val="167D77"/>
                </a:solidFill>
                <a:latin typeface="Times New Roman"/>
                <a:ea typeface="Times New Roman"/>
                <a:cs typeface="Times New Roman"/>
              </a:defRPr>
            </a:lvl2pPr>
            <a:lvl3pPr algn="ctr">
              <a:defRPr sz="2100" b="1">
                <a:solidFill>
                  <a:srgbClr val="167D77"/>
                </a:solidFill>
                <a:latin typeface="Times New Roman"/>
                <a:ea typeface="Times New Roman"/>
                <a:cs typeface="Times New Roman"/>
              </a:defRPr>
            </a:lvl3pPr>
            <a:lvl4pPr algn="ctr">
              <a:defRPr sz="2100" b="1">
                <a:solidFill>
                  <a:srgbClr val="167D77"/>
                </a:solidFill>
                <a:latin typeface="Times New Roman"/>
                <a:ea typeface="Times New Roman"/>
                <a:cs typeface="Times New Roman"/>
              </a:defRPr>
            </a:lvl4pPr>
            <a:lvl5pPr algn="ctr">
              <a:defRPr sz="2100" b="1">
                <a:solidFill>
                  <a:srgbClr val="167D77"/>
                </a:solidFill>
                <a:latin typeface="Times New Roman"/>
                <a:ea typeface="Times New Roman"/>
                <a:cs typeface="Times New Roman"/>
              </a:defRPr>
            </a:lvl5pPr>
            <a:lvl6pPr algn="ctr">
              <a:defRPr sz="2100" b="1">
                <a:solidFill>
                  <a:srgbClr val="167D77"/>
                </a:solidFill>
                <a:latin typeface="Times New Roman"/>
                <a:ea typeface="Times New Roman"/>
                <a:cs typeface="Times New Roman"/>
              </a:defRPr>
            </a:lvl6pPr>
            <a:lvl7pPr algn="ctr">
              <a:defRPr sz="2100" b="1">
                <a:solidFill>
                  <a:srgbClr val="167D77"/>
                </a:solidFill>
                <a:latin typeface="Times New Roman"/>
                <a:ea typeface="Times New Roman"/>
                <a:cs typeface="Times New Roman"/>
              </a:defRPr>
            </a:lvl7pPr>
            <a:lvl8pPr algn="ctr">
              <a:defRPr sz="2100" b="1">
                <a:solidFill>
                  <a:srgbClr val="167D77"/>
                </a:solidFill>
                <a:latin typeface="Times New Roman"/>
                <a:ea typeface="Times New Roman"/>
                <a:cs typeface="Times New Roman"/>
              </a:defRPr>
            </a:lvl8pPr>
            <a:lvl9pPr algn="ctr">
              <a:defRPr sz="2100" b="1">
                <a:solidFill>
                  <a:srgbClr val="167D77"/>
                </a:solidFill>
                <a:latin typeface="Times New Roman"/>
                <a:ea typeface="Times New Roman"/>
                <a:cs typeface="Times New Roman"/>
              </a:defRPr>
            </a:lvl9pPr>
          </a:lstStyle>
          <a:p xmlns:a="http://schemas.openxmlformats.org/drawingml/2006/main">
            <a:pPr algn="ctr">
              <a:defRPr sz="2100" b="1">
                <a:solidFill>
                  <a:srgbClr val="167D77"/>
                </a:solidFill>
                <a:latin typeface="Times New Roman"/>
                <a:ea typeface="Times New Roman"/>
                <a:cs typeface="Times New Roman"/>
              </a:defRPr>
            </a:pPr>
            <a:r>
              <a:rPr sz="2100" b="1">
                <a:solidFill>
                  <a:srgbClr val="167D77"/>
                </a:solidFill>
                <a:latin typeface="Times New Roman"/>
                <a:ea typeface="Times New Roman"/>
                <a:cs typeface="Times New Roman"/>
              </a:rPr>
              <a:t>mRNA-FM</a:t>
            </a:r>
          </a:p>
        </p:txBody>
      </p:sp>
      <p:sp>
        <p:nvSpPr>
          <p:cNvPr id="12" name="">
            <a:extLst xmlns:a="http://schemas.openxmlformats.org/drawingml/2006/main">
              <a:ext uri="{FF2B5EF4-FFF2-40B4-BE49-F238E27FC236}">
                <a16:creationId xmlns:a16="http://schemas.microsoft.com/office/drawing/2014/main" id="{60F626D2-7E60-48C8-AD8F-CC19E37A6BB8}"/>
              </a:ext>
            </a:extLst>
          </p:cNvPr>
          <p:cNvSpPr>
            <a:spLocks xmlns:a="http://schemas.openxmlformats.org/drawingml/2006/main" noGrp="1"/>
          </p:cNvSpPr>
          <p:nvPr/>
        </p:nvSpPr>
        <p:spPr>
          <a:xfrm xmlns:a="http://schemas.openxmlformats.org/drawingml/2006/main">
            <a:off x="6667500" y="4238625"/>
            <a:ext cx="1809750" cy="571500"/>
          </a:xfrm>
          <a:prstGeom xmlns:a="http://schemas.openxmlformats.org/drawingml/2006/main" prst="rect">
            <a:avLst/>
          </a:prstGeom>
          <a:solidFill xmlns:a="http://schemas.openxmlformats.org/drawingml/2006/main">
            <a:srgbClr val="F0EAF5"/>
          </a:solidFill>
          <a:ln xmlns:a="http://schemas.openxmlformats.org/drawingml/2006/main" w="14288">
            <a:solidFill>
              <a:srgbClr val="815897"/>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815897"/>
                </a:solidFill>
                <a:latin typeface="Times New Roman"/>
                <a:ea typeface="Times New Roman"/>
                <a:cs typeface="Times New Roman"/>
              </a:defRPr>
            </a:defPPr>
            <a:lvl1pPr algn="ctr">
              <a:defRPr sz="2100" b="1">
                <a:solidFill>
                  <a:srgbClr val="815897"/>
                </a:solidFill>
                <a:latin typeface="Times New Roman"/>
                <a:ea typeface="Times New Roman"/>
                <a:cs typeface="Times New Roman"/>
              </a:defRPr>
            </a:lvl1pPr>
            <a:lvl2pPr algn="ctr">
              <a:defRPr sz="2100" b="1">
                <a:solidFill>
                  <a:srgbClr val="815897"/>
                </a:solidFill>
                <a:latin typeface="Times New Roman"/>
                <a:ea typeface="Times New Roman"/>
                <a:cs typeface="Times New Roman"/>
              </a:defRPr>
            </a:lvl2pPr>
            <a:lvl3pPr algn="ctr">
              <a:defRPr sz="2100" b="1">
                <a:solidFill>
                  <a:srgbClr val="815897"/>
                </a:solidFill>
                <a:latin typeface="Times New Roman"/>
                <a:ea typeface="Times New Roman"/>
                <a:cs typeface="Times New Roman"/>
              </a:defRPr>
            </a:lvl3pPr>
            <a:lvl4pPr algn="ctr">
              <a:defRPr sz="2100" b="1">
                <a:solidFill>
                  <a:srgbClr val="815897"/>
                </a:solidFill>
                <a:latin typeface="Times New Roman"/>
                <a:ea typeface="Times New Roman"/>
                <a:cs typeface="Times New Roman"/>
              </a:defRPr>
            </a:lvl4pPr>
            <a:lvl5pPr algn="ctr">
              <a:defRPr sz="2100" b="1">
                <a:solidFill>
                  <a:srgbClr val="815897"/>
                </a:solidFill>
                <a:latin typeface="Times New Roman"/>
                <a:ea typeface="Times New Roman"/>
                <a:cs typeface="Times New Roman"/>
              </a:defRPr>
            </a:lvl5pPr>
            <a:lvl6pPr algn="ctr">
              <a:defRPr sz="2100" b="1">
                <a:solidFill>
                  <a:srgbClr val="815897"/>
                </a:solidFill>
                <a:latin typeface="Times New Roman"/>
                <a:ea typeface="Times New Roman"/>
                <a:cs typeface="Times New Roman"/>
              </a:defRPr>
            </a:lvl6pPr>
            <a:lvl7pPr algn="ctr">
              <a:defRPr sz="2100" b="1">
                <a:solidFill>
                  <a:srgbClr val="815897"/>
                </a:solidFill>
                <a:latin typeface="Times New Roman"/>
                <a:ea typeface="Times New Roman"/>
                <a:cs typeface="Times New Roman"/>
              </a:defRPr>
            </a:lvl7pPr>
            <a:lvl8pPr algn="ctr">
              <a:defRPr sz="2100" b="1">
                <a:solidFill>
                  <a:srgbClr val="815897"/>
                </a:solidFill>
                <a:latin typeface="Times New Roman"/>
                <a:ea typeface="Times New Roman"/>
                <a:cs typeface="Times New Roman"/>
              </a:defRPr>
            </a:lvl8pPr>
            <a:lvl9pPr algn="ctr">
              <a:defRPr sz="2100" b="1">
                <a:solidFill>
                  <a:srgbClr val="815897"/>
                </a:solidFill>
                <a:latin typeface="Times New Roman"/>
                <a:ea typeface="Times New Roman"/>
                <a:cs typeface="Times New Roman"/>
              </a:defRPr>
            </a:lvl9pPr>
          </a:lstStyle>
          <a:p xmlns:a="http://schemas.openxmlformats.org/drawingml/2006/main">
            <a:pPr algn="ctr">
              <a:defRPr sz="2100" b="1">
                <a:solidFill>
                  <a:srgbClr val="815897"/>
                </a:solidFill>
                <a:latin typeface="Times New Roman"/>
                <a:ea typeface="Times New Roman"/>
                <a:cs typeface="Times New Roman"/>
              </a:defRPr>
            </a:pPr>
            <a:r>
              <a:rPr sz="2100" b="1">
                <a:solidFill>
                  <a:srgbClr val="815897"/>
                </a:solidFill>
                <a:latin typeface="Times New Roman"/>
                <a:ea typeface="Times New Roman"/>
                <a:cs typeface="Times New Roman"/>
              </a:rPr>
              <a:t>ESM-2</a:t>
            </a:r>
          </a:p>
        </p:txBody>
      </p:sp>
      <p:sp>
        <p:nvSpPr>
          <p:cNvPr id="13" name="">
            <a:extLst xmlns:a="http://schemas.openxmlformats.org/drawingml/2006/main">
              <a:ext uri="{FF2B5EF4-FFF2-40B4-BE49-F238E27FC236}">
                <a16:creationId xmlns:a16="http://schemas.microsoft.com/office/drawing/2014/main" id="{F74B4CFB-5C44-4BAB-BE6C-93B9F2B8C2B8}"/>
              </a:ext>
            </a:extLst>
          </p:cNvPr>
          <p:cNvSpPr>
            <a:spLocks xmlns:a="http://schemas.openxmlformats.org/drawingml/2006/main" noGrp="1"/>
          </p:cNvSpPr>
          <p:nvPr/>
        </p:nvSpPr>
        <p:spPr>
          <a:xfrm xmlns:a="http://schemas.openxmlformats.org/drawingml/2006/main">
            <a:off x="3429000" y="3286125"/>
            <a:ext cx="1952625" cy="952500"/>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2175" b="1">
                <a:solidFill>
                  <a:srgbClr val="14324B"/>
                </a:solidFill>
                <a:latin typeface="Times New Roman"/>
                <a:ea typeface="Times New Roman"/>
                <a:cs typeface="Times New Roman"/>
              </a:defRPr>
            </a:defPPr>
            <a:lvl1pPr algn="ctr">
              <a:defRPr sz="2175" b="1">
                <a:solidFill>
                  <a:srgbClr val="14324B"/>
                </a:solidFill>
                <a:latin typeface="Times New Roman"/>
                <a:ea typeface="Times New Roman"/>
                <a:cs typeface="Times New Roman"/>
              </a:defRPr>
            </a:lvl1pPr>
            <a:lvl2pPr algn="ctr">
              <a:defRPr sz="2175" b="1">
                <a:solidFill>
                  <a:srgbClr val="14324B"/>
                </a:solidFill>
                <a:latin typeface="Times New Roman"/>
                <a:ea typeface="Times New Roman"/>
                <a:cs typeface="Times New Roman"/>
              </a:defRPr>
            </a:lvl2pPr>
            <a:lvl3pPr algn="ctr">
              <a:defRPr sz="2175" b="1">
                <a:solidFill>
                  <a:srgbClr val="14324B"/>
                </a:solidFill>
                <a:latin typeface="Times New Roman"/>
                <a:ea typeface="Times New Roman"/>
                <a:cs typeface="Times New Roman"/>
              </a:defRPr>
            </a:lvl3pPr>
            <a:lvl4pPr algn="ctr">
              <a:defRPr sz="2175" b="1">
                <a:solidFill>
                  <a:srgbClr val="14324B"/>
                </a:solidFill>
                <a:latin typeface="Times New Roman"/>
                <a:ea typeface="Times New Roman"/>
                <a:cs typeface="Times New Roman"/>
              </a:defRPr>
            </a:lvl4pPr>
            <a:lvl5pPr algn="ctr">
              <a:defRPr sz="2175" b="1">
                <a:solidFill>
                  <a:srgbClr val="14324B"/>
                </a:solidFill>
                <a:latin typeface="Times New Roman"/>
                <a:ea typeface="Times New Roman"/>
                <a:cs typeface="Times New Roman"/>
              </a:defRPr>
            </a:lvl5pPr>
            <a:lvl6pPr algn="ctr">
              <a:defRPr sz="2175" b="1">
                <a:solidFill>
                  <a:srgbClr val="14324B"/>
                </a:solidFill>
                <a:latin typeface="Times New Roman"/>
                <a:ea typeface="Times New Roman"/>
                <a:cs typeface="Times New Roman"/>
              </a:defRPr>
            </a:lvl6pPr>
            <a:lvl7pPr algn="ctr">
              <a:defRPr sz="2175" b="1">
                <a:solidFill>
                  <a:srgbClr val="14324B"/>
                </a:solidFill>
                <a:latin typeface="Times New Roman"/>
                <a:ea typeface="Times New Roman"/>
                <a:cs typeface="Times New Roman"/>
              </a:defRPr>
            </a:lvl7pPr>
            <a:lvl8pPr algn="ctr">
              <a:defRPr sz="2175" b="1">
                <a:solidFill>
                  <a:srgbClr val="14324B"/>
                </a:solidFill>
                <a:latin typeface="Times New Roman"/>
                <a:ea typeface="Times New Roman"/>
                <a:cs typeface="Times New Roman"/>
              </a:defRPr>
            </a:lvl8pPr>
            <a:lvl9pPr algn="ctr">
              <a:defRPr sz="2175" b="1">
                <a:solidFill>
                  <a:srgbClr val="14324B"/>
                </a:solidFill>
                <a:latin typeface="Times New Roman"/>
                <a:ea typeface="Times New Roman"/>
                <a:cs typeface="Times New Roman"/>
              </a:defRPr>
            </a:lvl9pPr>
          </a:lstStyle>
          <a:p xmlns:a="http://schemas.openxmlformats.org/drawingml/2006/main">
            <a:pPr algn="ctr">
              <a:defRPr sz="2175" b="1">
                <a:solidFill>
                  <a:srgbClr val="14324B"/>
                </a:solidFill>
                <a:latin typeface="Times New Roman"/>
                <a:ea typeface="Times New Roman"/>
                <a:cs typeface="Times New Roman"/>
              </a:defRPr>
            </a:pPr>
            <a:r>
              <a:rPr sz="2175" b="1">
                <a:solidFill>
                  <a:srgbClr val="14324B"/>
                </a:solidFill>
                <a:latin typeface="Times New Roman"/>
                <a:ea typeface="Times New Roman"/>
                <a:cs typeface="Times New Roman"/>
              </a:rPr>
              <a:t>Fusion +</a:t>
            </a:r>
          </a:p>
          <a:p xmlns:a="http://schemas.openxmlformats.org/drawingml/2006/main">
            <a:pPr algn="ctr">
              <a:defRPr sz="2175" b="1">
                <a:solidFill>
                  <a:srgbClr val="14324B"/>
                </a:solidFill>
                <a:latin typeface="Times New Roman"/>
                <a:ea typeface="Times New Roman"/>
                <a:cs typeface="Times New Roman"/>
              </a:defRPr>
            </a:pPr>
            <a:r>
              <a:rPr sz="2175" b="1">
                <a:solidFill>
                  <a:srgbClr val="14324B"/>
                </a:solidFill>
                <a:latin typeface="Times New Roman"/>
                <a:ea typeface="Times New Roman"/>
                <a:cs typeface="Times New Roman"/>
              </a:rPr>
              <a:t>predictor</a:t>
            </a:r>
          </a:p>
        </p:txBody>
      </p:sp>
      <p:sp>
        <p:nvSpPr>
          <p:cNvPr id="14" name="">
            <a:extLst xmlns:a="http://schemas.openxmlformats.org/drawingml/2006/main">
              <a:ext uri="{FF2B5EF4-FFF2-40B4-BE49-F238E27FC236}">
                <a16:creationId xmlns:a16="http://schemas.microsoft.com/office/drawing/2014/main" id="{C54A0103-16AB-468C-8EF8-7BB6F573F83A}"/>
              </a:ext>
            </a:extLst>
          </p:cNvPr>
          <p:cNvSpPr>
            <a:spLocks xmlns:a="http://schemas.openxmlformats.org/drawingml/2006/main" noGrp="1"/>
          </p:cNvSpPr>
          <p:nvPr/>
        </p:nvSpPr>
        <p:spPr>
          <a:xfrm xmlns:a="http://schemas.openxmlformats.org/drawingml/2006/main">
            <a:off x="9572625" y="3286125"/>
            <a:ext cx="2143125" cy="952500"/>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2175" b="1">
                <a:solidFill>
                  <a:srgbClr val="14324B"/>
                </a:solidFill>
                <a:latin typeface="Times New Roman"/>
                <a:ea typeface="Times New Roman"/>
                <a:cs typeface="Times New Roman"/>
              </a:defRPr>
            </a:defPPr>
            <a:lvl1pPr algn="ctr">
              <a:defRPr sz="2175" b="1">
                <a:solidFill>
                  <a:srgbClr val="14324B"/>
                </a:solidFill>
                <a:latin typeface="Times New Roman"/>
                <a:ea typeface="Times New Roman"/>
                <a:cs typeface="Times New Roman"/>
              </a:defRPr>
            </a:lvl1pPr>
            <a:lvl2pPr algn="ctr">
              <a:defRPr sz="2175" b="1">
                <a:solidFill>
                  <a:srgbClr val="14324B"/>
                </a:solidFill>
                <a:latin typeface="Times New Roman"/>
                <a:ea typeface="Times New Roman"/>
                <a:cs typeface="Times New Roman"/>
              </a:defRPr>
            </a:lvl2pPr>
            <a:lvl3pPr algn="ctr">
              <a:defRPr sz="2175" b="1">
                <a:solidFill>
                  <a:srgbClr val="14324B"/>
                </a:solidFill>
                <a:latin typeface="Times New Roman"/>
                <a:ea typeface="Times New Roman"/>
                <a:cs typeface="Times New Roman"/>
              </a:defRPr>
            </a:lvl3pPr>
            <a:lvl4pPr algn="ctr">
              <a:defRPr sz="2175" b="1">
                <a:solidFill>
                  <a:srgbClr val="14324B"/>
                </a:solidFill>
                <a:latin typeface="Times New Roman"/>
                <a:ea typeface="Times New Roman"/>
                <a:cs typeface="Times New Roman"/>
              </a:defRPr>
            </a:lvl4pPr>
            <a:lvl5pPr algn="ctr">
              <a:defRPr sz="2175" b="1">
                <a:solidFill>
                  <a:srgbClr val="14324B"/>
                </a:solidFill>
                <a:latin typeface="Times New Roman"/>
                <a:ea typeface="Times New Roman"/>
                <a:cs typeface="Times New Roman"/>
              </a:defRPr>
            </a:lvl5pPr>
            <a:lvl6pPr algn="ctr">
              <a:defRPr sz="2175" b="1">
                <a:solidFill>
                  <a:srgbClr val="14324B"/>
                </a:solidFill>
                <a:latin typeface="Times New Roman"/>
                <a:ea typeface="Times New Roman"/>
                <a:cs typeface="Times New Roman"/>
              </a:defRPr>
            </a:lvl6pPr>
            <a:lvl7pPr algn="ctr">
              <a:defRPr sz="2175" b="1">
                <a:solidFill>
                  <a:srgbClr val="14324B"/>
                </a:solidFill>
                <a:latin typeface="Times New Roman"/>
                <a:ea typeface="Times New Roman"/>
                <a:cs typeface="Times New Roman"/>
              </a:defRPr>
            </a:lvl7pPr>
            <a:lvl8pPr algn="ctr">
              <a:defRPr sz="2175" b="1">
                <a:solidFill>
                  <a:srgbClr val="14324B"/>
                </a:solidFill>
                <a:latin typeface="Times New Roman"/>
                <a:ea typeface="Times New Roman"/>
                <a:cs typeface="Times New Roman"/>
              </a:defRPr>
            </a:lvl8pPr>
            <a:lvl9pPr algn="ctr">
              <a:defRPr sz="2175" b="1">
                <a:solidFill>
                  <a:srgbClr val="14324B"/>
                </a:solidFill>
                <a:latin typeface="Times New Roman"/>
                <a:ea typeface="Times New Roman"/>
                <a:cs typeface="Times New Roman"/>
              </a:defRPr>
            </a:lvl9pPr>
          </a:lstStyle>
          <a:p xmlns:a="http://schemas.openxmlformats.org/drawingml/2006/main">
            <a:pPr algn="ctr">
              <a:defRPr sz="2175" b="1">
                <a:solidFill>
                  <a:srgbClr val="14324B"/>
                </a:solidFill>
                <a:latin typeface="Times New Roman"/>
                <a:ea typeface="Times New Roman"/>
                <a:cs typeface="Times New Roman"/>
              </a:defRPr>
            </a:pPr>
            <a:r>
              <a:rPr sz="2175" b="1">
                <a:solidFill>
                  <a:srgbClr val="14324B"/>
                </a:solidFill>
                <a:latin typeface="Times New Roman"/>
                <a:ea typeface="Times New Roman"/>
                <a:cs typeface="Times New Roman"/>
              </a:rPr>
              <a:t>Fusion +</a:t>
            </a:r>
          </a:p>
          <a:p xmlns:a="http://schemas.openxmlformats.org/drawingml/2006/main">
            <a:pPr algn="ctr">
              <a:defRPr sz="2175" b="1">
                <a:solidFill>
                  <a:srgbClr val="14324B"/>
                </a:solidFill>
                <a:latin typeface="Times New Roman"/>
                <a:ea typeface="Times New Roman"/>
                <a:cs typeface="Times New Roman"/>
              </a:defRPr>
            </a:pPr>
            <a:r>
              <a:rPr sz="2175" b="1">
                <a:solidFill>
                  <a:srgbClr val="14324B"/>
                </a:solidFill>
                <a:latin typeface="Times New Roman"/>
                <a:ea typeface="Times New Roman"/>
                <a:cs typeface="Times New Roman"/>
              </a:rPr>
              <a:t>predictor</a:t>
            </a:r>
          </a:p>
        </p:txBody>
      </p:sp>
      <p:sp>
        <p:nvSpPr>
          <p:cNvPr id="21" name="">
            <a:extLst xmlns:a="http://schemas.openxmlformats.org/drawingml/2006/main">
              <a:ext uri="{FF2B5EF4-FFF2-40B4-BE49-F238E27FC236}">
                <a16:creationId xmlns:a16="http://schemas.microsoft.com/office/drawing/2014/main" id="{01100C70-8628-4719-B22D-33B26A5D0E7F}"/>
              </a:ext>
            </a:extLst>
          </p:cNvPr>
          <p:cNvSpPr>
            <a:spLocks xmlns:a="http://schemas.openxmlformats.org/drawingml/2006/main" noGrp="1"/>
          </p:cNvSpPr>
          <p:nvPr/>
        </p:nvSpPr>
        <p:spPr>
          <a:xfrm xmlns:a="http://schemas.openxmlformats.org/drawingml/2006/main">
            <a:off x="6477000" y="49053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7D77"/>
                </a:solidFill>
                <a:latin typeface="Times New Roman"/>
                <a:ea typeface="Times New Roman"/>
                <a:cs typeface="Times New Roman"/>
              </a:defRPr>
            </a:defPPr>
            <a:lvl1pPr>
              <a:defRPr sz="2025" b="1">
                <a:solidFill>
                  <a:srgbClr val="167D77"/>
                </a:solidFill>
                <a:latin typeface="Times New Roman"/>
                <a:ea typeface="Times New Roman"/>
                <a:cs typeface="Times New Roman"/>
              </a:defRPr>
            </a:lvl1pPr>
            <a:lvl2pPr>
              <a:defRPr sz="2025" b="1">
                <a:solidFill>
                  <a:srgbClr val="167D77"/>
                </a:solidFill>
                <a:latin typeface="Times New Roman"/>
                <a:ea typeface="Times New Roman"/>
                <a:cs typeface="Times New Roman"/>
              </a:defRPr>
            </a:lvl2pPr>
            <a:lvl3pPr>
              <a:defRPr sz="2025" b="1">
                <a:solidFill>
                  <a:srgbClr val="167D77"/>
                </a:solidFill>
                <a:latin typeface="Times New Roman"/>
                <a:ea typeface="Times New Roman"/>
                <a:cs typeface="Times New Roman"/>
              </a:defRPr>
            </a:lvl3pPr>
            <a:lvl4pPr>
              <a:defRPr sz="2025" b="1">
                <a:solidFill>
                  <a:srgbClr val="167D77"/>
                </a:solidFill>
                <a:latin typeface="Times New Roman"/>
                <a:ea typeface="Times New Roman"/>
                <a:cs typeface="Times New Roman"/>
              </a:defRPr>
            </a:lvl4pPr>
            <a:lvl5pPr>
              <a:defRPr sz="2025" b="1">
                <a:solidFill>
                  <a:srgbClr val="167D77"/>
                </a:solidFill>
                <a:latin typeface="Times New Roman"/>
                <a:ea typeface="Times New Roman"/>
                <a:cs typeface="Times New Roman"/>
              </a:defRPr>
            </a:lvl5pPr>
            <a:lvl6pPr>
              <a:defRPr sz="2025" b="1">
                <a:solidFill>
                  <a:srgbClr val="167D77"/>
                </a:solidFill>
                <a:latin typeface="Times New Roman"/>
                <a:ea typeface="Times New Roman"/>
                <a:cs typeface="Times New Roman"/>
              </a:defRPr>
            </a:lvl6pPr>
            <a:lvl7pPr>
              <a:defRPr sz="2025" b="1">
                <a:solidFill>
                  <a:srgbClr val="167D77"/>
                </a:solidFill>
                <a:latin typeface="Times New Roman"/>
                <a:ea typeface="Times New Roman"/>
                <a:cs typeface="Times New Roman"/>
              </a:defRPr>
            </a:lvl7pPr>
            <a:lvl8pPr>
              <a:defRPr sz="2025" b="1">
                <a:solidFill>
                  <a:srgbClr val="167D77"/>
                </a:solidFill>
                <a:latin typeface="Times New Roman"/>
                <a:ea typeface="Times New Roman"/>
                <a:cs typeface="Times New Roman"/>
              </a:defRPr>
            </a:lvl8pPr>
            <a:lvl9pPr>
              <a:defRPr sz="2025" b="1">
                <a:solidFill>
                  <a:srgbClr val="167D77"/>
                </a:solidFill>
                <a:latin typeface="Times New Roman"/>
                <a:ea typeface="Times New Roman"/>
                <a:cs typeface="Times New Roman"/>
              </a:defRPr>
            </a:lvl9pPr>
          </a:lstStyle>
          <a:p xmlns:a="http://schemas.openxmlformats.org/drawingml/2006/main">
            <a:pPr>
              <a:defRPr sz="2025" b="1">
                <a:solidFill>
                  <a:srgbClr val="167D77"/>
                </a:solidFill>
                <a:latin typeface="Times New Roman"/>
                <a:ea typeface="Times New Roman"/>
                <a:cs typeface="Times New Roman"/>
              </a:defRPr>
            </a:pPr>
            <a:r>
              <a:rPr sz="2025" b="1">
                <a:solidFill>
                  <a:srgbClr val="167D77"/>
                </a:solidFill>
                <a:latin typeface="Times New Roman"/>
                <a:ea typeface="Times New Roman"/>
                <a:cs typeface="Times New Roman"/>
              </a:rPr>
              <a:t>One changed encoder</a:t>
            </a:r>
          </a:p>
        </p:txBody>
      </p:sp>
      <p:sp>
        <p:nvSpPr>
          <p:cNvPr id="22" name="">
            <a:extLst xmlns:a="http://schemas.openxmlformats.org/drawingml/2006/main">
              <a:ext uri="{FF2B5EF4-FFF2-40B4-BE49-F238E27FC236}">
                <a16:creationId xmlns:a16="http://schemas.microsoft.com/office/drawing/2014/main" id="{97CC1C41-7C30-4361-BCA1-22537BD1C2C5}"/>
              </a:ext>
            </a:extLst>
          </p:cNvPr>
          <p:cNvSpPr>
            <a:spLocks xmlns:a="http://schemas.openxmlformats.org/drawingml/2006/main" noGrp="1"/>
          </p:cNvSpPr>
          <p:nvPr/>
        </p:nvSpPr>
        <p:spPr>
          <a:xfrm xmlns:a="http://schemas.openxmlformats.org/drawingml/2006/main">
            <a:off x="571500" y="53244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4324B"/>
                </a:solidFill>
                <a:latin typeface="Times New Roman"/>
                <a:ea typeface="Times New Roman"/>
                <a:cs typeface="Times New Roman"/>
              </a:defRPr>
            </a:defPPr>
            <a:lvl1pPr>
              <a:defRPr sz="2250">
                <a:solidFill>
                  <a:srgbClr val="14324B"/>
                </a:solidFill>
                <a:latin typeface="Times New Roman"/>
                <a:ea typeface="Times New Roman"/>
                <a:cs typeface="Times New Roman"/>
              </a:defRPr>
            </a:lvl1pPr>
            <a:lvl2pPr>
              <a:defRPr sz="2250">
                <a:solidFill>
                  <a:srgbClr val="14324B"/>
                </a:solidFill>
                <a:latin typeface="Times New Roman"/>
                <a:ea typeface="Times New Roman"/>
                <a:cs typeface="Times New Roman"/>
              </a:defRPr>
            </a:lvl2pPr>
            <a:lvl3pPr>
              <a:defRPr sz="2250">
                <a:solidFill>
                  <a:srgbClr val="14324B"/>
                </a:solidFill>
                <a:latin typeface="Times New Roman"/>
                <a:ea typeface="Times New Roman"/>
                <a:cs typeface="Times New Roman"/>
              </a:defRPr>
            </a:lvl3pPr>
            <a:lvl4pPr>
              <a:defRPr sz="2250">
                <a:solidFill>
                  <a:srgbClr val="14324B"/>
                </a:solidFill>
                <a:latin typeface="Times New Roman"/>
                <a:ea typeface="Times New Roman"/>
                <a:cs typeface="Times New Roman"/>
              </a:defRPr>
            </a:lvl4pPr>
            <a:lvl5pPr>
              <a:defRPr sz="2250">
                <a:solidFill>
                  <a:srgbClr val="14324B"/>
                </a:solidFill>
                <a:latin typeface="Times New Roman"/>
                <a:ea typeface="Times New Roman"/>
                <a:cs typeface="Times New Roman"/>
              </a:defRPr>
            </a:lvl5pPr>
            <a:lvl6pPr>
              <a:defRPr sz="2250">
                <a:solidFill>
                  <a:srgbClr val="14324B"/>
                </a:solidFill>
                <a:latin typeface="Times New Roman"/>
                <a:ea typeface="Times New Roman"/>
                <a:cs typeface="Times New Roman"/>
              </a:defRPr>
            </a:lvl6pPr>
            <a:lvl7pPr>
              <a:defRPr sz="2250">
                <a:solidFill>
                  <a:srgbClr val="14324B"/>
                </a:solidFill>
                <a:latin typeface="Times New Roman"/>
                <a:ea typeface="Times New Roman"/>
                <a:cs typeface="Times New Roman"/>
              </a:defRPr>
            </a:lvl7pPr>
            <a:lvl8pPr>
              <a:defRPr sz="2250">
                <a:solidFill>
                  <a:srgbClr val="14324B"/>
                </a:solidFill>
                <a:latin typeface="Times New Roman"/>
                <a:ea typeface="Times New Roman"/>
                <a:cs typeface="Times New Roman"/>
              </a:defRPr>
            </a:lvl8pPr>
            <a:lvl9pPr>
              <a:defRPr sz="2250">
                <a:solidFill>
                  <a:srgbClr val="14324B"/>
                </a:solidFill>
                <a:latin typeface="Times New Roman"/>
                <a:ea typeface="Times New Roman"/>
                <a:cs typeface="Times New Roman"/>
              </a:defRPr>
            </a:lvl9pPr>
          </a:lstStyle>
          <a:p xmlns:a="http://schemas.openxmlformats.org/drawingml/2006/main">
            <a:pPr>
              <a:defRPr sz="2250">
                <a:solidFill>
                  <a:srgbClr val="14324B"/>
                </a:solidFill>
                <a:latin typeface="Times New Roman"/>
                <a:ea typeface="Times New Roman"/>
                <a:cs typeface="Times New Roman"/>
              </a:defRPr>
            </a:pPr>
            <a:r>
              <a:rPr sz="2250">
                <a:solidFill>
                  <a:srgbClr val="14324B"/>
                </a:solidFill>
                <a:latin typeface="Times New Roman"/>
                <a:ea typeface="Times New Roman"/>
                <a:cs typeface="Times New Roman"/>
              </a:rPr>
              <a:t>A. Does the replacement improve the fusion head?</a:t>
            </a:r>
          </a:p>
        </p:txBody>
      </p:sp>
      <p:sp>
        <p:nvSpPr>
          <p:cNvPr id="23" name="">
            <a:extLst xmlns:a="http://schemas.openxmlformats.org/drawingml/2006/main">
              <a:ext uri="{FF2B5EF4-FFF2-40B4-BE49-F238E27FC236}">
                <a16:creationId xmlns:a16="http://schemas.microsoft.com/office/drawing/2014/main" id="{33659250-27A2-42EF-A07D-0AB8EF705B24}"/>
              </a:ext>
            </a:extLst>
          </p:cNvPr>
          <p:cNvSpPr>
            <a:spLocks xmlns:a="http://schemas.openxmlformats.org/drawingml/2006/main" noGrp="1"/>
          </p:cNvSpPr>
          <p:nvPr/>
        </p:nvSpPr>
        <p:spPr>
          <a:xfrm xmlns:a="http://schemas.openxmlformats.org/drawingml/2006/main">
            <a:off x="571500" y="57340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67D77"/>
                </a:solidFill>
                <a:latin typeface="Times New Roman"/>
                <a:ea typeface="Times New Roman"/>
                <a:cs typeface="Times New Roman"/>
              </a:defRPr>
            </a:defPPr>
            <a:lvl1pPr>
              <a:defRPr sz="2250" b="1">
                <a:solidFill>
                  <a:srgbClr val="167D77"/>
                </a:solidFill>
                <a:latin typeface="Times New Roman"/>
                <a:ea typeface="Times New Roman"/>
                <a:cs typeface="Times New Roman"/>
              </a:defRPr>
            </a:lvl1pPr>
            <a:lvl2pPr>
              <a:defRPr sz="2250" b="1">
                <a:solidFill>
                  <a:srgbClr val="167D77"/>
                </a:solidFill>
                <a:latin typeface="Times New Roman"/>
                <a:ea typeface="Times New Roman"/>
                <a:cs typeface="Times New Roman"/>
              </a:defRPr>
            </a:lvl2pPr>
            <a:lvl3pPr>
              <a:defRPr sz="2250" b="1">
                <a:solidFill>
                  <a:srgbClr val="167D77"/>
                </a:solidFill>
                <a:latin typeface="Times New Roman"/>
                <a:ea typeface="Times New Roman"/>
                <a:cs typeface="Times New Roman"/>
              </a:defRPr>
            </a:lvl3pPr>
            <a:lvl4pPr>
              <a:defRPr sz="2250" b="1">
                <a:solidFill>
                  <a:srgbClr val="167D77"/>
                </a:solidFill>
                <a:latin typeface="Times New Roman"/>
                <a:ea typeface="Times New Roman"/>
                <a:cs typeface="Times New Roman"/>
              </a:defRPr>
            </a:lvl4pPr>
            <a:lvl5pPr>
              <a:defRPr sz="2250" b="1">
                <a:solidFill>
                  <a:srgbClr val="167D77"/>
                </a:solidFill>
                <a:latin typeface="Times New Roman"/>
                <a:ea typeface="Times New Roman"/>
                <a:cs typeface="Times New Roman"/>
              </a:defRPr>
            </a:lvl5pPr>
            <a:lvl6pPr>
              <a:defRPr sz="2250" b="1">
                <a:solidFill>
                  <a:srgbClr val="167D77"/>
                </a:solidFill>
                <a:latin typeface="Times New Roman"/>
                <a:ea typeface="Times New Roman"/>
                <a:cs typeface="Times New Roman"/>
              </a:defRPr>
            </a:lvl6pPr>
            <a:lvl7pPr>
              <a:defRPr sz="2250" b="1">
                <a:solidFill>
                  <a:srgbClr val="167D77"/>
                </a:solidFill>
                <a:latin typeface="Times New Roman"/>
                <a:ea typeface="Times New Roman"/>
                <a:cs typeface="Times New Roman"/>
              </a:defRPr>
            </a:lvl7pPr>
            <a:lvl8pPr>
              <a:defRPr sz="2250" b="1">
                <a:solidFill>
                  <a:srgbClr val="167D77"/>
                </a:solidFill>
                <a:latin typeface="Times New Roman"/>
                <a:ea typeface="Times New Roman"/>
                <a:cs typeface="Times New Roman"/>
              </a:defRPr>
            </a:lvl8pPr>
            <a:lvl9pPr>
              <a:defRPr sz="2250" b="1">
                <a:solidFill>
                  <a:srgbClr val="167D77"/>
                </a:solidFill>
                <a:latin typeface="Times New Roman"/>
                <a:ea typeface="Times New Roman"/>
                <a:cs typeface="Times New Roman"/>
              </a:defRPr>
            </a:lvl9pPr>
          </a:lstStyle>
          <a:p xmlns:a="http://schemas.openxmlformats.org/drawingml/2006/main">
            <a:pPr>
              <a:defRPr sz="2250" b="1">
                <a:solidFill>
                  <a:srgbClr val="167D77"/>
                </a:solidFill>
                <a:latin typeface="Times New Roman"/>
                <a:ea typeface="Times New Roman"/>
                <a:cs typeface="Times New Roman"/>
              </a:defRPr>
            </a:pPr>
            <a:r>
              <a:rPr sz="2250" b="1">
                <a:solidFill>
                  <a:srgbClr val="167D77"/>
                </a:solidFill>
                <a:latin typeface="Times New Roman"/>
                <a:ea typeface="Times New Roman"/>
                <a:cs typeface="Times New Roman"/>
              </a:rPr>
              <a:t>B. Does fusion beat the strongest eligible single encoder?</a:t>
            </a:r>
          </a:p>
        </p:txBody>
      </p:sp>
      <p:sp>
        <p:nvSpPr>
          <p:cNvPr id="24" name="">
            <a:extLst xmlns:a="http://schemas.openxmlformats.org/drawingml/2006/main">
              <a:ext uri="{FF2B5EF4-FFF2-40B4-BE49-F238E27FC236}">
                <a16:creationId xmlns:a16="http://schemas.microsoft.com/office/drawing/2014/main" id="{51ECFE00-E08A-48FF-ABDC-2B50129DA12F}"/>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The single-encoder reference has its own fitted predictor and validation selection. Inherited gated penalty; replacements are not individually retuned.</a:t>
            </a:r>
          </a:p>
        </p:txBody>
      </p:sp>
    </p:spTree>
    <p:extLst>
      <p:ext uri="{BB962C8B-B14F-4D97-AF65-F5344CB8AC3E}">
        <p14:creationId xmlns:p14="http://schemas.microsoft.com/office/powerpoint/2010/main" val="2014616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57BF348C-EF41-426F-80DC-BBA3D3776200}"/>
              </a:ext>
            </a:extLst>
          </p:cNvPr>
          <p:cNvCxnSpPr>
            <a:stCxn xmlns:a="http://schemas.openxmlformats.org/drawingml/2006/main" id="7" idx="3"/>
            <a:endCxn xmlns:a="http://schemas.openxmlformats.org/drawingml/2006/main" id="9" idx="1"/>
          </p:cNvCxnSpPr>
          <p:nvPr/>
        </p:nvCxnSpPr>
        <p:spPr>
          <a:xfrm xmlns:a="http://schemas.openxmlformats.org/drawingml/2006/main" flipV="1">
            <a:off x="7381875" y="3619500"/>
            <a:ext cx="1905000" cy="881063"/>
          </a:xfrm>
          <a:prstGeom xmlns:a="http://schemas.openxmlformats.org/drawingml/2006/main" prst="bentConnector3">
            <a:avLst>
              <a:gd name="adj1" fmla="val 50000"/>
            </a:avLst>
          </a:prstGeom>
          <a:ln xmlns:a="http://schemas.openxmlformats.org/drawingml/2006/main" w="21908">
            <a:solidFill>
              <a:srgbClr val="52636B"/>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C2A43A64-27A7-4522-9D7D-585C998E02F4}"/>
              </a:ext>
            </a:extLst>
          </p:cNvPr>
          <p:cNvCxnSpPr>
            <a:stCxn xmlns:a="http://schemas.openxmlformats.org/drawingml/2006/main" id="6" idx="3"/>
            <a:endCxn xmlns:a="http://schemas.openxmlformats.org/drawingml/2006/main" id="9" idx="1"/>
          </p:cNvCxnSpPr>
          <p:nvPr/>
        </p:nvCxnSpPr>
        <p:spPr>
          <a:xfrm xmlns:a="http://schemas.openxmlformats.org/drawingml/2006/main">
            <a:off x="7381875" y="2547938"/>
            <a:ext cx="1905000" cy="1071563"/>
          </a:xfrm>
          <a:prstGeom xmlns:a="http://schemas.openxmlformats.org/drawingml/2006/main" prst="bentConnector3">
            <a:avLst>
              <a:gd name="adj1" fmla="val 50000"/>
            </a:avLst>
          </a:prstGeom>
          <a:ln xmlns:a="http://schemas.openxmlformats.org/drawingml/2006/main" w="21908">
            <a:solidFill>
              <a:srgbClr val="52636B"/>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F6AE2C30-ECC8-4CE8-974D-3A194E0B5811}"/>
              </a:ext>
            </a:extLst>
          </p:cNvPr>
          <p:cNvCxnSpPr>
            <a:stCxn xmlns:a="http://schemas.openxmlformats.org/drawingml/2006/main" id="8" idx="3"/>
            <a:endCxn xmlns:a="http://schemas.openxmlformats.org/drawingml/2006/main" id="7" idx="2"/>
          </p:cNvCxnSpPr>
          <p:nvPr/>
        </p:nvCxnSpPr>
        <p:spPr>
          <a:xfrm xmlns:a="http://schemas.openxmlformats.org/drawingml/2006/main" flipV="1">
            <a:off x="2619375" y="4953000"/>
            <a:ext cx="3333750" cy="228600"/>
          </a:xfrm>
          <a:prstGeom xmlns:a="http://schemas.openxmlformats.org/drawingml/2006/main" prst="bentConnector4">
            <a:avLst/>
          </a:prstGeom>
          <a:ln xmlns:a="http://schemas.openxmlformats.org/drawingml/2006/main" w="21908">
            <a:solidFill>
              <a:srgbClr val="52636B"/>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5DBFD8E6-F8E1-42F7-9933-72A8105765EC}"/>
              </a:ext>
            </a:extLst>
          </p:cNvPr>
          <p:cNvCxnSpPr>
            <a:stCxn xmlns:a="http://schemas.openxmlformats.org/drawingml/2006/main" id="5" idx="3"/>
            <a:endCxn xmlns:a="http://schemas.openxmlformats.org/drawingml/2006/main" id="7" idx="1"/>
          </p:cNvCxnSpPr>
          <p:nvPr/>
        </p:nvCxnSpPr>
        <p:spPr>
          <a:xfrm xmlns:a="http://schemas.openxmlformats.org/drawingml/2006/main">
            <a:off x="2619375" y="3405188"/>
            <a:ext cx="1905000" cy="1095375"/>
          </a:xfrm>
          <a:prstGeom xmlns:a="http://schemas.openxmlformats.org/drawingml/2006/main" prst="bentConnector3">
            <a:avLst>
              <a:gd name="adj1" fmla="val 50000"/>
            </a:avLst>
          </a:prstGeom>
          <a:ln xmlns:a="http://schemas.openxmlformats.org/drawingml/2006/main" w="21908">
            <a:solidFill>
              <a:srgbClr val="167D77"/>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E50AF985-B836-4BDC-9F12-ADED1C2A8BF9}"/>
              </a:ext>
            </a:extLst>
          </p:cNvPr>
          <p:cNvCxnSpPr>
            <a:stCxn xmlns:a="http://schemas.openxmlformats.org/drawingml/2006/main" id="5" idx="3"/>
            <a:endCxn xmlns:a="http://schemas.openxmlformats.org/drawingml/2006/main" id="6" idx="1"/>
          </p:cNvCxnSpPr>
          <p:nvPr/>
        </p:nvCxnSpPr>
        <p:spPr>
          <a:xfrm xmlns:a="http://schemas.openxmlformats.org/drawingml/2006/main" flipV="1">
            <a:off x="2619375" y="2547938"/>
            <a:ext cx="1905000" cy="857250"/>
          </a:xfrm>
          <a:prstGeom xmlns:a="http://schemas.openxmlformats.org/drawingml/2006/main" prst="bentConnector3">
            <a:avLst>
              <a:gd name="adj1" fmla="val 50000"/>
            </a:avLst>
          </a:prstGeom>
          <a:ln xmlns:a="http://schemas.openxmlformats.org/drawingml/2006/main" w="21908">
            <a:solidFill>
              <a:srgbClr val="167D77"/>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C799C56F-5296-458A-B981-B077C0865DA1}"/>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1CFA1A-6121-40BC-BB05-DC5F5A99DF2C}"/>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The replacement also needs its own single-model test</a:t>
            </a:r>
          </a:p>
        </p:txBody>
      </p:sp>
      <p:sp>
        <p:nvSpPr>
          <p:cNvPr id="3" name="">
            <a:extLst xmlns:a="http://schemas.openxmlformats.org/drawingml/2006/main">
              <a:ext uri="{FF2B5EF4-FFF2-40B4-BE49-F238E27FC236}">
                <a16:creationId xmlns:a16="http://schemas.microsoft.com/office/drawing/2014/main" id="{BF8CBB59-FE70-4566-B08D-25AD8A969C25}"/>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Both routes use the same replacement representation and are scored on the same held-out rows.</a:t>
            </a:r>
          </a:p>
        </p:txBody>
      </p:sp>
      <p:sp>
        <p:nvSpPr>
          <p:cNvPr id="4" name="">
            <a:extLst xmlns:a="http://schemas.openxmlformats.org/drawingml/2006/main">
              <a:ext uri="{FF2B5EF4-FFF2-40B4-BE49-F238E27FC236}">
                <a16:creationId xmlns:a16="http://schemas.microsoft.com/office/drawing/2014/main" id="{BDC2F399-90C0-4277-8911-47575F341CF2}"/>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9</a:t>
            </a:r>
          </a:p>
        </p:txBody>
      </p:sp>
      <p:sp>
        <p:nvSpPr>
          <p:cNvPr id="5" name="">
            <a:extLst xmlns:a="http://schemas.openxmlformats.org/drawingml/2006/main">
              <a:ext uri="{FF2B5EF4-FFF2-40B4-BE49-F238E27FC236}">
                <a16:creationId xmlns:a16="http://schemas.microsoft.com/office/drawing/2014/main" id="{EB38B8B7-E151-4D2B-AE5D-32EE2862B5E1}"/>
              </a:ext>
            </a:extLst>
          </p:cNvPr>
          <p:cNvSpPr>
            <a:spLocks xmlns:a="http://schemas.openxmlformats.org/drawingml/2006/main" noGrp="1"/>
          </p:cNvSpPr>
          <p:nvPr/>
        </p:nvSpPr>
        <p:spPr>
          <a:xfrm xmlns:a="http://schemas.openxmlformats.org/drawingml/2006/main">
            <a:off x="476250" y="2905125"/>
            <a:ext cx="2143125" cy="1000125"/>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400" b="1">
                <a:solidFill>
                  <a:srgbClr val="167D77"/>
                </a:solidFill>
                <a:latin typeface="Times New Roman"/>
                <a:ea typeface="Times New Roman"/>
                <a:cs typeface="Times New Roman"/>
              </a:defRPr>
            </a:defPPr>
            <a:lvl1pPr algn="ctr">
              <a:defRPr sz="2400" b="1">
                <a:solidFill>
                  <a:srgbClr val="167D77"/>
                </a:solidFill>
                <a:latin typeface="Times New Roman"/>
                <a:ea typeface="Times New Roman"/>
                <a:cs typeface="Times New Roman"/>
              </a:defRPr>
            </a:lvl1pPr>
            <a:lvl2pPr algn="ctr">
              <a:defRPr sz="2400" b="1">
                <a:solidFill>
                  <a:srgbClr val="167D77"/>
                </a:solidFill>
                <a:latin typeface="Times New Roman"/>
                <a:ea typeface="Times New Roman"/>
                <a:cs typeface="Times New Roman"/>
              </a:defRPr>
            </a:lvl2pPr>
            <a:lvl3pPr algn="ctr">
              <a:defRPr sz="2400" b="1">
                <a:solidFill>
                  <a:srgbClr val="167D77"/>
                </a:solidFill>
                <a:latin typeface="Times New Roman"/>
                <a:ea typeface="Times New Roman"/>
                <a:cs typeface="Times New Roman"/>
              </a:defRPr>
            </a:lvl3pPr>
            <a:lvl4pPr algn="ctr">
              <a:defRPr sz="2400" b="1">
                <a:solidFill>
                  <a:srgbClr val="167D77"/>
                </a:solidFill>
                <a:latin typeface="Times New Roman"/>
                <a:ea typeface="Times New Roman"/>
                <a:cs typeface="Times New Roman"/>
              </a:defRPr>
            </a:lvl4pPr>
            <a:lvl5pPr algn="ctr">
              <a:defRPr sz="2400" b="1">
                <a:solidFill>
                  <a:srgbClr val="167D77"/>
                </a:solidFill>
                <a:latin typeface="Times New Roman"/>
                <a:ea typeface="Times New Roman"/>
                <a:cs typeface="Times New Roman"/>
              </a:defRPr>
            </a:lvl5pPr>
            <a:lvl6pPr algn="ctr">
              <a:defRPr sz="2400" b="1">
                <a:solidFill>
                  <a:srgbClr val="167D77"/>
                </a:solidFill>
                <a:latin typeface="Times New Roman"/>
                <a:ea typeface="Times New Roman"/>
                <a:cs typeface="Times New Roman"/>
              </a:defRPr>
            </a:lvl6pPr>
            <a:lvl7pPr algn="ctr">
              <a:defRPr sz="2400" b="1">
                <a:solidFill>
                  <a:srgbClr val="167D77"/>
                </a:solidFill>
                <a:latin typeface="Times New Roman"/>
                <a:ea typeface="Times New Roman"/>
                <a:cs typeface="Times New Roman"/>
              </a:defRPr>
            </a:lvl7pPr>
            <a:lvl8pPr algn="ctr">
              <a:defRPr sz="2400" b="1">
                <a:solidFill>
                  <a:srgbClr val="167D77"/>
                </a:solidFill>
                <a:latin typeface="Times New Roman"/>
                <a:ea typeface="Times New Roman"/>
                <a:cs typeface="Times New Roman"/>
              </a:defRPr>
            </a:lvl8pPr>
            <a:lvl9pPr algn="ctr">
              <a:defRPr sz="2400" b="1">
                <a:solidFill>
                  <a:srgbClr val="167D77"/>
                </a:solidFill>
                <a:latin typeface="Times New Roman"/>
                <a:ea typeface="Times New Roman"/>
                <a:cs typeface="Times New Roman"/>
              </a:defRPr>
            </a:lvl9pPr>
          </a:lstStyle>
          <a:p xmlns:a="http://schemas.openxmlformats.org/drawingml/2006/main">
            <a:pPr algn="ctr">
              <a:defRPr sz="2400" b="1">
                <a:solidFill>
                  <a:srgbClr val="167D77"/>
                </a:solidFill>
                <a:latin typeface="Times New Roman"/>
                <a:ea typeface="Times New Roman"/>
                <a:cs typeface="Times New Roman"/>
              </a:defRPr>
            </a:pPr>
            <a:r>
              <a:rPr sz="2400" b="1">
                <a:solidFill>
                  <a:srgbClr val="167D77"/>
                </a:solidFill>
                <a:latin typeface="Times New Roman"/>
                <a:ea typeface="Times New Roman"/>
                <a:cs typeface="Times New Roman"/>
              </a:rPr>
              <a:t>Frozen</a:t>
            </a:r>
          </a:p>
          <a:p xmlns:a="http://schemas.openxmlformats.org/drawingml/2006/main">
            <a:pPr algn="ctr">
              <a:defRPr sz="2400" b="1">
                <a:solidFill>
                  <a:srgbClr val="167D77"/>
                </a:solidFill>
                <a:latin typeface="Times New Roman"/>
                <a:ea typeface="Times New Roman"/>
                <a:cs typeface="Times New Roman"/>
              </a:defRPr>
            </a:pPr>
            <a:r>
              <a:rPr sz="2400" b="1">
                <a:solidFill>
                  <a:srgbClr val="167D77"/>
                </a:solidFill>
                <a:latin typeface="Times New Roman"/>
                <a:ea typeface="Times New Roman"/>
                <a:cs typeface="Times New Roman"/>
              </a:rPr>
              <a:t>mRNA-FM</a:t>
            </a:r>
          </a:p>
        </p:txBody>
      </p:sp>
      <p:sp>
        <p:nvSpPr>
          <p:cNvPr id="6" name="">
            <a:extLst xmlns:a="http://schemas.openxmlformats.org/drawingml/2006/main">
              <a:ext uri="{FF2B5EF4-FFF2-40B4-BE49-F238E27FC236}">
                <a16:creationId xmlns:a16="http://schemas.microsoft.com/office/drawing/2014/main" id="{26BE6909-503E-46B1-B29E-96A838C08A24}"/>
              </a:ext>
            </a:extLst>
          </p:cNvPr>
          <p:cNvSpPr>
            <a:spLocks xmlns:a="http://schemas.openxmlformats.org/drawingml/2006/main" noGrp="1"/>
          </p:cNvSpPr>
          <p:nvPr/>
        </p:nvSpPr>
        <p:spPr>
          <a:xfrm xmlns:a="http://schemas.openxmlformats.org/drawingml/2006/main">
            <a:off x="4524375" y="2095500"/>
            <a:ext cx="2857500" cy="904875"/>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250" b="1">
                <a:solidFill>
                  <a:srgbClr val="167D77"/>
                </a:solidFill>
                <a:latin typeface="Times New Roman"/>
                <a:ea typeface="Times New Roman"/>
                <a:cs typeface="Times New Roman"/>
              </a:defRPr>
            </a:defPPr>
            <a:lvl1pPr algn="ctr">
              <a:defRPr sz="2250" b="1">
                <a:solidFill>
                  <a:srgbClr val="167D77"/>
                </a:solidFill>
                <a:latin typeface="Times New Roman"/>
                <a:ea typeface="Times New Roman"/>
                <a:cs typeface="Times New Roman"/>
              </a:defRPr>
            </a:lvl1pPr>
            <a:lvl2pPr algn="ctr">
              <a:defRPr sz="2250" b="1">
                <a:solidFill>
                  <a:srgbClr val="167D77"/>
                </a:solidFill>
                <a:latin typeface="Times New Roman"/>
                <a:ea typeface="Times New Roman"/>
                <a:cs typeface="Times New Roman"/>
              </a:defRPr>
            </a:lvl2pPr>
            <a:lvl3pPr algn="ctr">
              <a:defRPr sz="2250" b="1">
                <a:solidFill>
                  <a:srgbClr val="167D77"/>
                </a:solidFill>
                <a:latin typeface="Times New Roman"/>
                <a:ea typeface="Times New Roman"/>
                <a:cs typeface="Times New Roman"/>
              </a:defRPr>
            </a:lvl3pPr>
            <a:lvl4pPr algn="ctr">
              <a:defRPr sz="2250" b="1">
                <a:solidFill>
                  <a:srgbClr val="167D77"/>
                </a:solidFill>
                <a:latin typeface="Times New Roman"/>
                <a:ea typeface="Times New Roman"/>
                <a:cs typeface="Times New Roman"/>
              </a:defRPr>
            </a:lvl4pPr>
            <a:lvl5pPr algn="ctr">
              <a:defRPr sz="2250" b="1">
                <a:solidFill>
                  <a:srgbClr val="167D77"/>
                </a:solidFill>
                <a:latin typeface="Times New Roman"/>
                <a:ea typeface="Times New Roman"/>
                <a:cs typeface="Times New Roman"/>
              </a:defRPr>
            </a:lvl5pPr>
            <a:lvl6pPr algn="ctr">
              <a:defRPr sz="2250" b="1">
                <a:solidFill>
                  <a:srgbClr val="167D77"/>
                </a:solidFill>
                <a:latin typeface="Times New Roman"/>
                <a:ea typeface="Times New Roman"/>
                <a:cs typeface="Times New Roman"/>
              </a:defRPr>
            </a:lvl6pPr>
            <a:lvl7pPr algn="ctr">
              <a:defRPr sz="2250" b="1">
                <a:solidFill>
                  <a:srgbClr val="167D77"/>
                </a:solidFill>
                <a:latin typeface="Times New Roman"/>
                <a:ea typeface="Times New Roman"/>
                <a:cs typeface="Times New Roman"/>
              </a:defRPr>
            </a:lvl7pPr>
            <a:lvl8pPr algn="ctr">
              <a:defRPr sz="2250" b="1">
                <a:solidFill>
                  <a:srgbClr val="167D77"/>
                </a:solidFill>
                <a:latin typeface="Times New Roman"/>
                <a:ea typeface="Times New Roman"/>
                <a:cs typeface="Times New Roman"/>
              </a:defRPr>
            </a:lvl8pPr>
            <a:lvl9pPr algn="ctr">
              <a:defRPr sz="2250" b="1">
                <a:solidFill>
                  <a:srgbClr val="167D77"/>
                </a:solidFill>
                <a:latin typeface="Times New Roman"/>
                <a:ea typeface="Times New Roman"/>
                <a:cs typeface="Times New Roman"/>
              </a:defRPr>
            </a:lvl9pPr>
          </a:lstStyle>
          <a:p xmlns:a="http://schemas.openxmlformats.org/drawingml/2006/main">
            <a:pPr algn="ctr">
              <a:defRPr sz="2250" b="1">
                <a:solidFill>
                  <a:srgbClr val="167D77"/>
                </a:solidFill>
                <a:latin typeface="Times New Roman"/>
                <a:ea typeface="Times New Roman"/>
                <a:cs typeface="Times New Roman"/>
              </a:defRPr>
            </a:pPr>
            <a:r>
              <a:rPr sz="2250" b="1">
                <a:solidFill>
                  <a:srgbClr val="167D77"/>
                </a:solidFill>
                <a:latin typeface="Times New Roman"/>
                <a:ea typeface="Times New Roman"/>
                <a:cs typeface="Times New Roman"/>
              </a:rPr>
              <a:t>Single-encoder</a:t>
            </a:r>
          </a:p>
          <a:p xmlns:a="http://schemas.openxmlformats.org/drawingml/2006/main">
            <a:pPr algn="ctr">
              <a:defRPr sz="2250" b="1">
                <a:solidFill>
                  <a:srgbClr val="167D77"/>
                </a:solidFill>
                <a:latin typeface="Times New Roman"/>
                <a:ea typeface="Times New Roman"/>
                <a:cs typeface="Times New Roman"/>
              </a:defRPr>
            </a:pPr>
            <a:r>
              <a:rPr sz="2250" b="1">
                <a:solidFill>
                  <a:srgbClr val="167D77"/>
                </a:solidFill>
                <a:latin typeface="Times New Roman"/>
                <a:ea typeface="Times New Roman"/>
                <a:cs typeface="Times New Roman"/>
              </a:rPr>
              <a:t>predictor</a:t>
            </a:r>
          </a:p>
        </p:txBody>
      </p:sp>
      <p:sp>
        <p:nvSpPr>
          <p:cNvPr id="7" name="">
            <a:extLst xmlns:a="http://schemas.openxmlformats.org/drawingml/2006/main">
              <a:ext uri="{FF2B5EF4-FFF2-40B4-BE49-F238E27FC236}">
                <a16:creationId xmlns:a16="http://schemas.microsoft.com/office/drawing/2014/main" id="{78FA7D04-07FF-416C-BA86-631FCA5F6F0F}"/>
              </a:ext>
            </a:extLst>
          </p:cNvPr>
          <p:cNvSpPr>
            <a:spLocks xmlns:a="http://schemas.openxmlformats.org/drawingml/2006/main" noGrp="1"/>
          </p:cNvSpPr>
          <p:nvPr/>
        </p:nvSpPr>
        <p:spPr>
          <a:xfrm xmlns:a="http://schemas.openxmlformats.org/drawingml/2006/main">
            <a:off x="4524375" y="4048125"/>
            <a:ext cx="2857500" cy="904875"/>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2250" b="1">
                <a:solidFill>
                  <a:srgbClr val="14324B"/>
                </a:solidFill>
                <a:latin typeface="Times New Roman"/>
                <a:ea typeface="Times New Roman"/>
                <a:cs typeface="Times New Roman"/>
              </a:defRPr>
            </a:defPPr>
            <a:lvl1pPr algn="ctr">
              <a:defRPr sz="2250" b="1">
                <a:solidFill>
                  <a:srgbClr val="14324B"/>
                </a:solidFill>
                <a:latin typeface="Times New Roman"/>
                <a:ea typeface="Times New Roman"/>
                <a:cs typeface="Times New Roman"/>
              </a:defRPr>
            </a:lvl1pPr>
            <a:lvl2pPr algn="ctr">
              <a:defRPr sz="2250" b="1">
                <a:solidFill>
                  <a:srgbClr val="14324B"/>
                </a:solidFill>
                <a:latin typeface="Times New Roman"/>
                <a:ea typeface="Times New Roman"/>
                <a:cs typeface="Times New Roman"/>
              </a:defRPr>
            </a:lvl2pPr>
            <a:lvl3pPr algn="ctr">
              <a:defRPr sz="2250" b="1">
                <a:solidFill>
                  <a:srgbClr val="14324B"/>
                </a:solidFill>
                <a:latin typeface="Times New Roman"/>
                <a:ea typeface="Times New Roman"/>
                <a:cs typeface="Times New Roman"/>
              </a:defRPr>
            </a:lvl3pPr>
            <a:lvl4pPr algn="ctr">
              <a:defRPr sz="2250" b="1">
                <a:solidFill>
                  <a:srgbClr val="14324B"/>
                </a:solidFill>
                <a:latin typeface="Times New Roman"/>
                <a:ea typeface="Times New Roman"/>
                <a:cs typeface="Times New Roman"/>
              </a:defRPr>
            </a:lvl4pPr>
            <a:lvl5pPr algn="ctr">
              <a:defRPr sz="2250" b="1">
                <a:solidFill>
                  <a:srgbClr val="14324B"/>
                </a:solidFill>
                <a:latin typeface="Times New Roman"/>
                <a:ea typeface="Times New Roman"/>
                <a:cs typeface="Times New Roman"/>
              </a:defRPr>
            </a:lvl5pPr>
            <a:lvl6pPr algn="ctr">
              <a:defRPr sz="2250" b="1">
                <a:solidFill>
                  <a:srgbClr val="14324B"/>
                </a:solidFill>
                <a:latin typeface="Times New Roman"/>
                <a:ea typeface="Times New Roman"/>
                <a:cs typeface="Times New Roman"/>
              </a:defRPr>
            </a:lvl6pPr>
            <a:lvl7pPr algn="ctr">
              <a:defRPr sz="2250" b="1">
                <a:solidFill>
                  <a:srgbClr val="14324B"/>
                </a:solidFill>
                <a:latin typeface="Times New Roman"/>
                <a:ea typeface="Times New Roman"/>
                <a:cs typeface="Times New Roman"/>
              </a:defRPr>
            </a:lvl7pPr>
            <a:lvl8pPr algn="ctr">
              <a:defRPr sz="2250" b="1">
                <a:solidFill>
                  <a:srgbClr val="14324B"/>
                </a:solidFill>
                <a:latin typeface="Times New Roman"/>
                <a:ea typeface="Times New Roman"/>
                <a:cs typeface="Times New Roman"/>
              </a:defRPr>
            </a:lvl8pPr>
            <a:lvl9pPr algn="ctr">
              <a:defRPr sz="2250" b="1">
                <a:solidFill>
                  <a:srgbClr val="14324B"/>
                </a:solidFill>
                <a:latin typeface="Times New Roman"/>
                <a:ea typeface="Times New Roman"/>
                <a:cs typeface="Times New Roman"/>
              </a:defRPr>
            </a:lvl9pPr>
          </a:lstStyle>
          <a:p xmlns:a="http://schemas.openxmlformats.org/drawingml/2006/main">
            <a:pPr algn="ctr">
              <a:defRPr sz="2250" b="1">
                <a:solidFill>
                  <a:srgbClr val="14324B"/>
                </a:solidFill>
                <a:latin typeface="Times New Roman"/>
                <a:ea typeface="Times New Roman"/>
                <a:cs typeface="Times New Roman"/>
              </a:defRPr>
            </a:pPr>
            <a:r>
              <a:rPr sz="2250" b="1">
                <a:solidFill>
                  <a:srgbClr val="14324B"/>
                </a:solidFill>
                <a:latin typeface="Times New Roman"/>
                <a:ea typeface="Times New Roman"/>
                <a:cs typeface="Times New Roman"/>
              </a:rPr>
              <a:t>Fusion +</a:t>
            </a:r>
          </a:p>
          <a:p xmlns:a="http://schemas.openxmlformats.org/drawingml/2006/main">
            <a:pPr algn="ctr">
              <a:defRPr sz="2250" b="1">
                <a:solidFill>
                  <a:srgbClr val="14324B"/>
                </a:solidFill>
                <a:latin typeface="Times New Roman"/>
                <a:ea typeface="Times New Roman"/>
                <a:cs typeface="Times New Roman"/>
              </a:defRPr>
            </a:pPr>
            <a:r>
              <a:rPr sz="2250" b="1">
                <a:solidFill>
                  <a:srgbClr val="14324B"/>
                </a:solidFill>
                <a:latin typeface="Times New Roman"/>
                <a:ea typeface="Times New Roman"/>
                <a:cs typeface="Times New Roman"/>
              </a:rPr>
              <a:t>predictor</a:t>
            </a:r>
          </a:p>
        </p:txBody>
      </p:sp>
      <p:sp>
        <p:nvSpPr>
          <p:cNvPr id="8" name="">
            <a:extLst xmlns:a="http://schemas.openxmlformats.org/drawingml/2006/main">
              <a:ext uri="{FF2B5EF4-FFF2-40B4-BE49-F238E27FC236}">
                <a16:creationId xmlns:a16="http://schemas.microsoft.com/office/drawing/2014/main" id="{4AEA50E5-7DA4-4E9D-95C3-B3D86BEFBEC1}"/>
              </a:ext>
            </a:extLst>
          </p:cNvPr>
          <p:cNvSpPr>
            <a:spLocks xmlns:a="http://schemas.openxmlformats.org/drawingml/2006/main" noGrp="1"/>
          </p:cNvSpPr>
          <p:nvPr/>
        </p:nvSpPr>
        <p:spPr>
          <a:xfrm xmlns:a="http://schemas.openxmlformats.org/drawingml/2006/main">
            <a:off x="476250" y="4667250"/>
            <a:ext cx="2143125" cy="809625"/>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14324B"/>
                </a:solidFill>
                <a:latin typeface="Times New Roman"/>
                <a:ea typeface="Times New Roman"/>
                <a:cs typeface="Times New Roman"/>
              </a:defRPr>
            </a:defPPr>
            <a:lvl1pPr algn="ctr">
              <a:defRPr sz="2100" b="1">
                <a:solidFill>
                  <a:srgbClr val="14324B"/>
                </a:solidFill>
                <a:latin typeface="Times New Roman"/>
                <a:ea typeface="Times New Roman"/>
                <a:cs typeface="Times New Roman"/>
              </a:defRPr>
            </a:lvl1pPr>
            <a:lvl2pPr algn="ctr">
              <a:defRPr sz="2100" b="1">
                <a:solidFill>
                  <a:srgbClr val="14324B"/>
                </a:solidFill>
                <a:latin typeface="Times New Roman"/>
                <a:ea typeface="Times New Roman"/>
                <a:cs typeface="Times New Roman"/>
              </a:defRPr>
            </a:lvl2pPr>
            <a:lvl3pPr algn="ctr">
              <a:defRPr sz="2100" b="1">
                <a:solidFill>
                  <a:srgbClr val="14324B"/>
                </a:solidFill>
                <a:latin typeface="Times New Roman"/>
                <a:ea typeface="Times New Roman"/>
                <a:cs typeface="Times New Roman"/>
              </a:defRPr>
            </a:lvl3pPr>
            <a:lvl4pPr algn="ctr">
              <a:defRPr sz="2100" b="1">
                <a:solidFill>
                  <a:srgbClr val="14324B"/>
                </a:solidFill>
                <a:latin typeface="Times New Roman"/>
                <a:ea typeface="Times New Roman"/>
                <a:cs typeface="Times New Roman"/>
              </a:defRPr>
            </a:lvl4pPr>
            <a:lvl5pPr algn="ctr">
              <a:defRPr sz="2100" b="1">
                <a:solidFill>
                  <a:srgbClr val="14324B"/>
                </a:solidFill>
                <a:latin typeface="Times New Roman"/>
                <a:ea typeface="Times New Roman"/>
                <a:cs typeface="Times New Roman"/>
              </a:defRPr>
            </a:lvl5pPr>
            <a:lvl6pPr algn="ctr">
              <a:defRPr sz="2100" b="1">
                <a:solidFill>
                  <a:srgbClr val="14324B"/>
                </a:solidFill>
                <a:latin typeface="Times New Roman"/>
                <a:ea typeface="Times New Roman"/>
                <a:cs typeface="Times New Roman"/>
              </a:defRPr>
            </a:lvl6pPr>
            <a:lvl7pPr algn="ctr">
              <a:defRPr sz="2100" b="1">
                <a:solidFill>
                  <a:srgbClr val="14324B"/>
                </a:solidFill>
                <a:latin typeface="Times New Roman"/>
                <a:ea typeface="Times New Roman"/>
                <a:cs typeface="Times New Roman"/>
              </a:defRPr>
            </a:lvl7pPr>
            <a:lvl8pPr algn="ctr">
              <a:defRPr sz="2100" b="1">
                <a:solidFill>
                  <a:srgbClr val="14324B"/>
                </a:solidFill>
                <a:latin typeface="Times New Roman"/>
                <a:ea typeface="Times New Roman"/>
                <a:cs typeface="Times New Roman"/>
              </a:defRPr>
            </a:lvl8pPr>
            <a:lvl9pPr algn="ctr">
              <a:defRPr sz="2100" b="1">
                <a:solidFill>
                  <a:srgbClr val="14324B"/>
                </a:solidFill>
                <a:latin typeface="Times New Roman"/>
                <a:ea typeface="Times New Roman"/>
                <a:cs typeface="Times New Roman"/>
              </a:defRPr>
            </a:lvl9pPr>
          </a:lstStyle>
          <a:p xmlns:a="http://schemas.openxmlformats.org/drawingml/2006/main">
            <a:pPr algn="ctr">
              <a:defRPr sz="2100" b="1">
                <a:solidFill>
                  <a:srgbClr val="14324B"/>
                </a:solidFill>
                <a:latin typeface="Times New Roman"/>
                <a:ea typeface="Times New Roman"/>
                <a:cs typeface="Times New Roman"/>
              </a:defRPr>
            </a:pPr>
            <a:r>
              <a:rPr sz="2100" b="1">
                <a:solidFill>
                  <a:srgbClr val="14324B"/>
                </a:solidFill>
                <a:latin typeface="Times New Roman"/>
                <a:ea typeface="Times New Roman"/>
                <a:cs typeface="Times New Roman"/>
              </a:rPr>
              <a:t>Other encoder</a:t>
            </a:r>
          </a:p>
          <a:p xmlns:a="http://schemas.openxmlformats.org/drawingml/2006/main">
            <a:pPr algn="ctr">
              <a:defRPr sz="2100" b="1">
                <a:solidFill>
                  <a:srgbClr val="14324B"/>
                </a:solidFill>
                <a:latin typeface="Times New Roman"/>
                <a:ea typeface="Times New Roman"/>
                <a:cs typeface="Times New Roman"/>
              </a:defRPr>
            </a:pPr>
            <a:r>
              <a:rPr sz="2100" b="1">
                <a:solidFill>
                  <a:srgbClr val="14324B"/>
                </a:solidFill>
                <a:latin typeface="Times New Roman"/>
                <a:ea typeface="Times New Roman"/>
                <a:cs typeface="Times New Roman"/>
              </a:rPr>
              <a:t>streams</a:t>
            </a:r>
          </a:p>
        </p:txBody>
      </p:sp>
      <p:sp>
        <p:nvSpPr>
          <p:cNvPr id="9" name="">
            <a:extLst xmlns:a="http://schemas.openxmlformats.org/drawingml/2006/main">
              <a:ext uri="{FF2B5EF4-FFF2-40B4-BE49-F238E27FC236}">
                <a16:creationId xmlns:a16="http://schemas.microsoft.com/office/drawing/2014/main" id="{C4CAA587-8411-4315-8CEE-EF933EBD0C27}"/>
              </a:ext>
            </a:extLst>
          </p:cNvPr>
          <p:cNvSpPr>
            <a:spLocks xmlns:a="http://schemas.openxmlformats.org/drawingml/2006/main" noGrp="1"/>
          </p:cNvSpPr>
          <p:nvPr/>
        </p:nvSpPr>
        <p:spPr>
          <a:xfrm xmlns:a="http://schemas.openxmlformats.org/drawingml/2006/main">
            <a:off x="9286875" y="3000375"/>
            <a:ext cx="2476500" cy="1238250"/>
          </a:xfrm>
          <a:prstGeom xmlns:a="http://schemas.openxmlformats.org/drawingml/2006/main" prst="rect">
            <a:avLst/>
          </a:prstGeom>
          <a:solidFill xmlns:a="http://schemas.openxmlformats.org/drawingml/2006/main">
            <a:srgbClr val="FAEEE6"/>
          </a:solidFill>
          <a:ln xmlns:a="http://schemas.openxmlformats.org/drawingml/2006/main" w="14288">
            <a:solidFill>
              <a:srgbClr val="B3683D"/>
            </a:solidFill>
          </a:ln>
        </p:spPr>
        <p:txBody>
          <a:bodyPr xmlns:a="http://schemas.openxmlformats.org/drawingml/2006/main" wrap="square" lIns="85725" tIns="85725" rIns="85725" bIns="85725" anchor="ctr">
            <a:noAutofit/>
          </a:bodyPr>
          <a:lstStyle xmlns:a="http://schemas.openxmlformats.org/drawingml/2006/main">
            <a:defPPr algn="ctr">
              <a:defRPr sz="2175" b="1">
                <a:solidFill>
                  <a:srgbClr val="B3683D"/>
                </a:solidFill>
                <a:latin typeface="Times New Roman"/>
                <a:ea typeface="Times New Roman"/>
                <a:cs typeface="Times New Roman"/>
              </a:defRPr>
            </a:defPPr>
            <a:lvl1pPr algn="ctr">
              <a:defRPr sz="2175" b="1">
                <a:solidFill>
                  <a:srgbClr val="B3683D"/>
                </a:solidFill>
                <a:latin typeface="Times New Roman"/>
                <a:ea typeface="Times New Roman"/>
                <a:cs typeface="Times New Roman"/>
              </a:defRPr>
            </a:lvl1pPr>
            <a:lvl2pPr algn="ctr">
              <a:defRPr sz="2175" b="1">
                <a:solidFill>
                  <a:srgbClr val="B3683D"/>
                </a:solidFill>
                <a:latin typeface="Times New Roman"/>
                <a:ea typeface="Times New Roman"/>
                <a:cs typeface="Times New Roman"/>
              </a:defRPr>
            </a:lvl2pPr>
            <a:lvl3pPr algn="ctr">
              <a:defRPr sz="2175" b="1">
                <a:solidFill>
                  <a:srgbClr val="B3683D"/>
                </a:solidFill>
                <a:latin typeface="Times New Roman"/>
                <a:ea typeface="Times New Roman"/>
                <a:cs typeface="Times New Roman"/>
              </a:defRPr>
            </a:lvl3pPr>
            <a:lvl4pPr algn="ctr">
              <a:defRPr sz="2175" b="1">
                <a:solidFill>
                  <a:srgbClr val="B3683D"/>
                </a:solidFill>
                <a:latin typeface="Times New Roman"/>
                <a:ea typeface="Times New Roman"/>
                <a:cs typeface="Times New Roman"/>
              </a:defRPr>
            </a:lvl4pPr>
            <a:lvl5pPr algn="ctr">
              <a:defRPr sz="2175" b="1">
                <a:solidFill>
                  <a:srgbClr val="B3683D"/>
                </a:solidFill>
                <a:latin typeface="Times New Roman"/>
                <a:ea typeface="Times New Roman"/>
                <a:cs typeface="Times New Roman"/>
              </a:defRPr>
            </a:lvl5pPr>
            <a:lvl6pPr algn="ctr">
              <a:defRPr sz="2175" b="1">
                <a:solidFill>
                  <a:srgbClr val="B3683D"/>
                </a:solidFill>
                <a:latin typeface="Times New Roman"/>
                <a:ea typeface="Times New Roman"/>
                <a:cs typeface="Times New Roman"/>
              </a:defRPr>
            </a:lvl6pPr>
            <a:lvl7pPr algn="ctr">
              <a:defRPr sz="2175" b="1">
                <a:solidFill>
                  <a:srgbClr val="B3683D"/>
                </a:solidFill>
                <a:latin typeface="Times New Roman"/>
                <a:ea typeface="Times New Roman"/>
                <a:cs typeface="Times New Roman"/>
              </a:defRPr>
            </a:lvl7pPr>
            <a:lvl8pPr algn="ctr">
              <a:defRPr sz="2175" b="1">
                <a:solidFill>
                  <a:srgbClr val="B3683D"/>
                </a:solidFill>
                <a:latin typeface="Times New Roman"/>
                <a:ea typeface="Times New Roman"/>
                <a:cs typeface="Times New Roman"/>
              </a:defRPr>
            </a:lvl8pPr>
            <a:lvl9pPr algn="ctr">
              <a:defRPr sz="2175" b="1">
                <a:solidFill>
                  <a:srgbClr val="B3683D"/>
                </a:solidFill>
                <a:latin typeface="Times New Roman"/>
                <a:ea typeface="Times New Roman"/>
                <a:cs typeface="Times New Roman"/>
              </a:defRPr>
            </a:lvl9pPr>
          </a:lstStyle>
          <a:p xmlns:a="http://schemas.openxmlformats.org/drawingml/2006/main">
            <a:pPr algn="ctr">
              <a:defRPr sz="2175" b="1">
                <a:solidFill>
                  <a:srgbClr val="B3683D"/>
                </a:solidFill>
                <a:latin typeface="Times New Roman"/>
                <a:ea typeface="Times New Roman"/>
                <a:cs typeface="Times New Roman"/>
              </a:defRPr>
            </a:pPr>
            <a:r>
              <a:rPr sz="2175" b="1">
                <a:solidFill>
                  <a:srgbClr val="B3683D"/>
                </a:solidFill>
                <a:latin typeface="Times New Roman"/>
                <a:ea typeface="Times New Roman"/>
                <a:cs typeface="Times New Roman"/>
              </a:rPr>
              <a:t>Compare accuracy</a:t>
            </a:r>
          </a:p>
          <a:p xmlns:a="http://schemas.openxmlformats.org/drawingml/2006/main">
            <a:pPr algn="ctr">
              <a:defRPr sz="2175" b="1">
                <a:solidFill>
                  <a:srgbClr val="B3683D"/>
                </a:solidFill>
                <a:latin typeface="Times New Roman"/>
                <a:ea typeface="Times New Roman"/>
                <a:cs typeface="Times New Roman"/>
              </a:defRPr>
            </a:pPr>
            <a:r>
              <a:rPr sz="2175" b="1">
                <a:solidFill>
                  <a:srgbClr val="B3683D"/>
                </a:solidFill>
                <a:latin typeface="Times New Roman"/>
                <a:ea typeface="Times New Roman"/>
                <a:cs typeface="Times New Roman"/>
              </a:rPr>
              <a:t>on the same</a:t>
            </a:r>
          </a:p>
          <a:p xmlns:a="http://schemas.openxmlformats.org/drawingml/2006/main">
            <a:pPr algn="ctr">
              <a:defRPr sz="2175" b="1">
                <a:solidFill>
                  <a:srgbClr val="B3683D"/>
                </a:solidFill>
                <a:latin typeface="Times New Roman"/>
                <a:ea typeface="Times New Roman"/>
                <a:cs typeface="Times New Roman"/>
              </a:defRPr>
            </a:pPr>
            <a:r>
              <a:rPr sz="2175" b="1">
                <a:solidFill>
                  <a:srgbClr val="B3683D"/>
                </a:solidFill>
                <a:latin typeface="Times New Roman"/>
                <a:ea typeface="Times New Roman"/>
                <a:cs typeface="Times New Roman"/>
              </a:rPr>
              <a:t>712 test rows</a:t>
            </a:r>
          </a:p>
        </p:txBody>
      </p:sp>
      <p:sp>
        <p:nvSpPr>
          <p:cNvPr id="15" name="">
            <a:extLst xmlns:a="http://schemas.openxmlformats.org/drawingml/2006/main">
              <a:ext uri="{FF2B5EF4-FFF2-40B4-BE49-F238E27FC236}">
                <a16:creationId xmlns:a16="http://schemas.microsoft.com/office/drawing/2014/main" id="{3C998E0F-694F-4CBC-B99A-134044C40C5D}"/>
              </a:ext>
            </a:extLst>
          </p:cNvPr>
          <p:cNvSpPr>
            <a:spLocks xmlns:a="http://schemas.openxmlformats.org/drawingml/2006/main" noGrp="1"/>
          </p:cNvSpPr>
          <p:nvPr/>
        </p:nvSpPr>
        <p:spPr>
          <a:xfrm xmlns:a="http://schemas.openxmlformats.org/drawingml/2006/main">
            <a:off x="619125" y="56007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4324B"/>
                </a:solidFill>
                <a:latin typeface="Times New Roman"/>
                <a:ea typeface="Times New Roman"/>
                <a:cs typeface="Times New Roman"/>
              </a:defRPr>
            </a:defPPr>
            <a:lvl1pPr>
              <a:defRPr sz="2175">
                <a:solidFill>
                  <a:srgbClr val="14324B"/>
                </a:solidFill>
                <a:latin typeface="Times New Roman"/>
                <a:ea typeface="Times New Roman"/>
                <a:cs typeface="Times New Roman"/>
              </a:defRPr>
            </a:lvl1pPr>
            <a:lvl2pPr>
              <a:defRPr sz="2175">
                <a:solidFill>
                  <a:srgbClr val="14324B"/>
                </a:solidFill>
                <a:latin typeface="Times New Roman"/>
                <a:ea typeface="Times New Roman"/>
                <a:cs typeface="Times New Roman"/>
              </a:defRPr>
            </a:lvl2pPr>
            <a:lvl3pPr>
              <a:defRPr sz="2175">
                <a:solidFill>
                  <a:srgbClr val="14324B"/>
                </a:solidFill>
                <a:latin typeface="Times New Roman"/>
                <a:ea typeface="Times New Roman"/>
                <a:cs typeface="Times New Roman"/>
              </a:defRPr>
            </a:lvl3pPr>
            <a:lvl4pPr>
              <a:defRPr sz="2175">
                <a:solidFill>
                  <a:srgbClr val="14324B"/>
                </a:solidFill>
                <a:latin typeface="Times New Roman"/>
                <a:ea typeface="Times New Roman"/>
                <a:cs typeface="Times New Roman"/>
              </a:defRPr>
            </a:lvl4pPr>
            <a:lvl5pPr>
              <a:defRPr sz="2175">
                <a:solidFill>
                  <a:srgbClr val="14324B"/>
                </a:solidFill>
                <a:latin typeface="Times New Roman"/>
                <a:ea typeface="Times New Roman"/>
                <a:cs typeface="Times New Roman"/>
              </a:defRPr>
            </a:lvl5pPr>
            <a:lvl6pPr>
              <a:defRPr sz="2175">
                <a:solidFill>
                  <a:srgbClr val="14324B"/>
                </a:solidFill>
                <a:latin typeface="Times New Roman"/>
                <a:ea typeface="Times New Roman"/>
                <a:cs typeface="Times New Roman"/>
              </a:defRPr>
            </a:lvl6pPr>
            <a:lvl7pPr>
              <a:defRPr sz="2175">
                <a:solidFill>
                  <a:srgbClr val="14324B"/>
                </a:solidFill>
                <a:latin typeface="Times New Roman"/>
                <a:ea typeface="Times New Roman"/>
                <a:cs typeface="Times New Roman"/>
              </a:defRPr>
            </a:lvl7pPr>
            <a:lvl8pPr>
              <a:defRPr sz="2175">
                <a:solidFill>
                  <a:srgbClr val="14324B"/>
                </a:solidFill>
                <a:latin typeface="Times New Roman"/>
                <a:ea typeface="Times New Roman"/>
                <a:cs typeface="Times New Roman"/>
              </a:defRPr>
            </a:lvl8pPr>
            <a:lvl9pPr>
              <a:defRPr sz="2175">
                <a:solidFill>
                  <a:srgbClr val="14324B"/>
                </a:solidFill>
                <a:latin typeface="Times New Roman"/>
                <a:ea typeface="Times New Roman"/>
                <a:cs typeface="Times New Roman"/>
              </a:defRPr>
            </a:lvl9pPr>
          </a:lstStyle>
          <a:p xmlns:a="http://schemas.openxmlformats.org/drawingml/2006/main">
            <a:pPr>
              <a:defRPr sz="2175">
                <a:solidFill>
                  <a:srgbClr val="14324B"/>
                </a:solidFill>
                <a:latin typeface="Times New Roman"/>
                <a:ea typeface="Times New Roman"/>
                <a:cs typeface="Times New Roman"/>
              </a:defRPr>
            </a:pPr>
            <a:r>
              <a:rPr sz="2175">
                <a:solidFill>
                  <a:srgbClr val="14324B"/>
                </a:solidFill>
                <a:latin typeface="Times New Roman"/>
                <a:ea typeface="Times New Roman"/>
                <a:cs typeface="Times New Roman"/>
              </a:rPr>
              <a:t>Fusion gain = combined-model accuracy − single-model accuracy.</a:t>
            </a:r>
          </a:p>
        </p:txBody>
      </p:sp>
      <p:sp>
        <p:nvSpPr>
          <p:cNvPr id="16" name="">
            <a:extLst xmlns:a="http://schemas.openxmlformats.org/drawingml/2006/main">
              <a:ext uri="{FF2B5EF4-FFF2-40B4-BE49-F238E27FC236}">
                <a16:creationId xmlns:a16="http://schemas.microsoft.com/office/drawing/2014/main" id="{FD4BC54E-FFCC-444C-8BA7-FB84EDCA9D4B}"/>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Schematic for the retained E. coli mRNA-FM comparison. Validation determines the eligible single reference; each predictor trains separately.</a:t>
            </a:r>
          </a:p>
        </p:txBody>
      </p:sp>
    </p:spTree>
    <p:extLst>
      <p:ext uri="{BB962C8B-B14F-4D97-AF65-F5344CB8AC3E}">
        <p14:creationId xmlns:p14="http://schemas.microsoft.com/office/powerpoint/2010/main" val="3798373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77477AE-75EA-4CCB-974F-027A3297ADB6}"/>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BDCE29-3B69-4B7E-9D74-102D601E01D3}"/>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The replacement can do most of the predictive work</a:t>
            </a:r>
          </a:p>
        </p:txBody>
      </p:sp>
      <p:sp>
        <p:nvSpPr>
          <p:cNvPr id="3" name="">
            <a:extLst xmlns:a="http://schemas.openxmlformats.org/drawingml/2006/main">
              <a:ext uri="{FF2B5EF4-FFF2-40B4-BE49-F238E27FC236}">
                <a16:creationId xmlns:a16="http://schemas.microsoft.com/office/drawing/2014/main" id="{F7606C40-98A3-4906-B979-67F604F5C32E}"/>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Retained E. coli comparisons, one fit seed. Accuracy counts correct classes among the same 712 test rows.</a:t>
            </a:r>
          </a:p>
        </p:txBody>
      </p:sp>
      <p:sp>
        <p:nvSpPr>
          <p:cNvPr id="4" name="">
            <a:extLst xmlns:a="http://schemas.openxmlformats.org/drawingml/2006/main">
              <a:ext uri="{FF2B5EF4-FFF2-40B4-BE49-F238E27FC236}">
                <a16:creationId xmlns:a16="http://schemas.microsoft.com/office/drawing/2014/main" id="{C1F79AB7-1414-4791-BA4F-E23441726578}"/>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10</a:t>
            </a:r>
          </a:p>
        </p:txBody>
      </p:sp>
      <p:graphicFrame>
        <p:nvGraphicFramePr>
          <p:cNvPr id="5" name="Chart">
            <a:extLst xmlns:a="http://schemas.openxmlformats.org/drawingml/2006/main">
              <a:ext uri="{FF2B5EF4-FFF2-40B4-BE49-F238E27FC236}">
                <a16:creationId xmlns:a16="http://schemas.microsoft.com/office/drawing/2014/main" id="{F496AD2F-BA5A-48B6-9163-CD618C22C0D4}"/>
              </a:ext>
            </a:extLst>
          </p:cNvPr>
          <p:cNvGraphicFramePr/>
          <p:nvPr/>
        </p:nvGraphicFramePr>
        <p:xfrm>
          <a:off xmlns:a="http://schemas.openxmlformats.org/drawingml/2006/main" x="381000" y="2000250"/>
          <a:ext xmlns:a="http://schemas.openxmlformats.org/drawingml/2006/main" cx="7286625" cy="3476625"/>
        </p:xfrm>
        <a:graphic xmlns:a="http://schemas.openxmlformats.org/drawingml/2006/main">
          <a:graphicData uri="http://schemas.openxmlformats.org/drawingml/2006/chart">
            <c:chart xmlns:r="http://schemas.openxmlformats.org/officeDocument/2006/relationships" xmlns:c="http://schemas.openxmlformats.org/drawingml/2006/chart" r:id="R092ddac03f564e91"/>
          </a:graphicData>
        </a:graphic>
      </p:graphicFrame>
      <p:sp>
        <p:nvSpPr>
          <p:cNvPr id="6" name="">
            <a:extLst xmlns:a="http://schemas.openxmlformats.org/drawingml/2006/main">
              <a:ext uri="{FF2B5EF4-FFF2-40B4-BE49-F238E27FC236}">
                <a16:creationId xmlns:a16="http://schemas.microsoft.com/office/drawing/2014/main" id="{3F2695C5-863B-45BD-893F-1C7ED2FFF0B9}"/>
              </a:ext>
            </a:extLst>
          </p:cNvPr>
          <p:cNvSpPr>
            <a:spLocks xmlns:a="http://schemas.openxmlformats.org/drawingml/2006/main" noGrp="1"/>
          </p:cNvSpPr>
          <p:nvPr/>
        </p:nvSpPr>
        <p:spPr>
          <a:xfrm xmlns:a="http://schemas.openxmlformats.org/drawingml/2006/main">
            <a:off x="8239125" y="2047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324B"/>
                </a:solidFill>
                <a:latin typeface="Times New Roman"/>
                <a:ea typeface="Times New Roman"/>
                <a:cs typeface="Times New Roman"/>
              </a:defRPr>
            </a:defPPr>
            <a:lvl1pPr>
              <a:defRPr sz="2250" b="1">
                <a:solidFill>
                  <a:srgbClr val="14324B"/>
                </a:solidFill>
                <a:latin typeface="Times New Roman"/>
                <a:ea typeface="Times New Roman"/>
                <a:cs typeface="Times New Roman"/>
              </a:defRPr>
            </a:lvl1pPr>
            <a:lvl2pPr>
              <a:defRPr sz="2250" b="1">
                <a:solidFill>
                  <a:srgbClr val="14324B"/>
                </a:solidFill>
                <a:latin typeface="Times New Roman"/>
                <a:ea typeface="Times New Roman"/>
                <a:cs typeface="Times New Roman"/>
              </a:defRPr>
            </a:lvl2pPr>
            <a:lvl3pPr>
              <a:defRPr sz="2250" b="1">
                <a:solidFill>
                  <a:srgbClr val="14324B"/>
                </a:solidFill>
                <a:latin typeface="Times New Roman"/>
                <a:ea typeface="Times New Roman"/>
                <a:cs typeface="Times New Roman"/>
              </a:defRPr>
            </a:lvl3pPr>
            <a:lvl4pPr>
              <a:defRPr sz="2250" b="1">
                <a:solidFill>
                  <a:srgbClr val="14324B"/>
                </a:solidFill>
                <a:latin typeface="Times New Roman"/>
                <a:ea typeface="Times New Roman"/>
                <a:cs typeface="Times New Roman"/>
              </a:defRPr>
            </a:lvl4pPr>
            <a:lvl5pPr>
              <a:defRPr sz="2250" b="1">
                <a:solidFill>
                  <a:srgbClr val="14324B"/>
                </a:solidFill>
                <a:latin typeface="Times New Roman"/>
                <a:ea typeface="Times New Roman"/>
                <a:cs typeface="Times New Roman"/>
              </a:defRPr>
            </a:lvl5pPr>
            <a:lvl6pPr>
              <a:defRPr sz="2250" b="1">
                <a:solidFill>
                  <a:srgbClr val="14324B"/>
                </a:solidFill>
                <a:latin typeface="Times New Roman"/>
                <a:ea typeface="Times New Roman"/>
                <a:cs typeface="Times New Roman"/>
              </a:defRPr>
            </a:lvl6pPr>
            <a:lvl7pPr>
              <a:defRPr sz="2250" b="1">
                <a:solidFill>
                  <a:srgbClr val="14324B"/>
                </a:solidFill>
                <a:latin typeface="Times New Roman"/>
                <a:ea typeface="Times New Roman"/>
                <a:cs typeface="Times New Roman"/>
              </a:defRPr>
            </a:lvl7pPr>
            <a:lvl8pPr>
              <a:defRPr sz="2250" b="1">
                <a:solidFill>
                  <a:srgbClr val="14324B"/>
                </a:solidFill>
                <a:latin typeface="Times New Roman"/>
                <a:ea typeface="Times New Roman"/>
                <a:cs typeface="Times New Roman"/>
              </a:defRPr>
            </a:lvl8pPr>
            <a:lvl9pPr>
              <a:defRPr sz="2250" b="1">
                <a:solidFill>
                  <a:srgbClr val="14324B"/>
                </a:solidFill>
                <a:latin typeface="Times New Roman"/>
                <a:ea typeface="Times New Roman"/>
                <a:cs typeface="Times New Roman"/>
              </a:defRPr>
            </a:lvl9pPr>
          </a:lstStyle>
          <a:p xmlns:a="http://schemas.openxmlformats.org/drawingml/2006/main">
            <a:pPr>
              <a:defRPr sz="2250" b="1">
                <a:solidFill>
                  <a:srgbClr val="14324B"/>
                </a:solidFill>
                <a:latin typeface="Times New Roman"/>
                <a:ea typeface="Times New Roman"/>
                <a:cs typeface="Times New Roman"/>
              </a:defRPr>
            </a:pPr>
            <a:r>
              <a:rPr sz="2250" b="1">
                <a:solidFill>
                  <a:srgbClr val="14324B"/>
                </a:solidFill>
                <a:latin typeface="Times New Roman"/>
                <a:ea typeface="Times New Roman"/>
                <a:cs typeface="Times New Roman"/>
              </a:rPr>
              <a:t>mRNA-FM comparison</a:t>
            </a:r>
          </a:p>
        </p:txBody>
      </p:sp>
      <p:sp>
        <p:nvSpPr>
          <p:cNvPr id="7" name="">
            <a:extLst xmlns:a="http://schemas.openxmlformats.org/drawingml/2006/main">
              <a:ext uri="{FF2B5EF4-FFF2-40B4-BE49-F238E27FC236}">
                <a16:creationId xmlns:a16="http://schemas.microsoft.com/office/drawing/2014/main" id="{123D3E95-9991-43D6-8D25-C9F67A453702}"/>
              </a:ext>
            </a:extLst>
          </p:cNvPr>
          <p:cNvSpPr>
            <a:spLocks xmlns:a="http://schemas.openxmlformats.org/drawingml/2006/main" noGrp="1"/>
          </p:cNvSpPr>
          <p:nvPr/>
        </p:nvSpPr>
        <p:spPr>
          <a:xfrm xmlns:a="http://schemas.openxmlformats.org/drawingml/2006/main">
            <a:off x="8239125" y="2762250"/>
            <a:ext cx="347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67D77"/>
                </a:solidFill>
                <a:latin typeface="Times New Roman"/>
                <a:ea typeface="Times New Roman"/>
                <a:cs typeface="Times New Roman"/>
              </a:defRPr>
            </a:defPPr>
            <a:lvl1pPr>
              <a:defRPr sz="2475" b="1">
                <a:solidFill>
                  <a:srgbClr val="167D77"/>
                </a:solidFill>
                <a:latin typeface="Times New Roman"/>
                <a:ea typeface="Times New Roman"/>
                <a:cs typeface="Times New Roman"/>
              </a:defRPr>
            </a:lvl1pPr>
            <a:lvl2pPr>
              <a:defRPr sz="2475" b="1">
                <a:solidFill>
                  <a:srgbClr val="167D77"/>
                </a:solidFill>
                <a:latin typeface="Times New Roman"/>
                <a:ea typeface="Times New Roman"/>
                <a:cs typeface="Times New Roman"/>
              </a:defRPr>
            </a:lvl2pPr>
            <a:lvl3pPr>
              <a:defRPr sz="2475" b="1">
                <a:solidFill>
                  <a:srgbClr val="167D77"/>
                </a:solidFill>
                <a:latin typeface="Times New Roman"/>
                <a:ea typeface="Times New Roman"/>
                <a:cs typeface="Times New Roman"/>
              </a:defRPr>
            </a:lvl3pPr>
            <a:lvl4pPr>
              <a:defRPr sz="2475" b="1">
                <a:solidFill>
                  <a:srgbClr val="167D77"/>
                </a:solidFill>
                <a:latin typeface="Times New Roman"/>
                <a:ea typeface="Times New Roman"/>
                <a:cs typeface="Times New Roman"/>
              </a:defRPr>
            </a:lvl4pPr>
            <a:lvl5pPr>
              <a:defRPr sz="2475" b="1">
                <a:solidFill>
                  <a:srgbClr val="167D77"/>
                </a:solidFill>
                <a:latin typeface="Times New Roman"/>
                <a:ea typeface="Times New Roman"/>
                <a:cs typeface="Times New Roman"/>
              </a:defRPr>
            </a:lvl5pPr>
            <a:lvl6pPr>
              <a:defRPr sz="2475" b="1">
                <a:solidFill>
                  <a:srgbClr val="167D77"/>
                </a:solidFill>
                <a:latin typeface="Times New Roman"/>
                <a:ea typeface="Times New Roman"/>
                <a:cs typeface="Times New Roman"/>
              </a:defRPr>
            </a:lvl6pPr>
            <a:lvl7pPr>
              <a:defRPr sz="2475" b="1">
                <a:solidFill>
                  <a:srgbClr val="167D77"/>
                </a:solidFill>
                <a:latin typeface="Times New Roman"/>
                <a:ea typeface="Times New Roman"/>
                <a:cs typeface="Times New Roman"/>
              </a:defRPr>
            </a:lvl7pPr>
            <a:lvl8pPr>
              <a:defRPr sz="2475" b="1">
                <a:solidFill>
                  <a:srgbClr val="167D77"/>
                </a:solidFill>
                <a:latin typeface="Times New Roman"/>
                <a:ea typeface="Times New Roman"/>
                <a:cs typeface="Times New Roman"/>
              </a:defRPr>
            </a:lvl8pPr>
            <a:lvl9pPr>
              <a:defRPr sz="2475" b="1">
                <a:solidFill>
                  <a:srgbClr val="167D77"/>
                </a:solidFill>
                <a:latin typeface="Times New Roman"/>
                <a:ea typeface="Times New Roman"/>
                <a:cs typeface="Times New Roman"/>
              </a:defRPr>
            </a:lvl9pPr>
          </a:lstStyle>
          <a:p xmlns:a="http://schemas.openxmlformats.org/drawingml/2006/main">
            <a:pPr>
              <a:defRPr sz="2475" b="1">
                <a:solidFill>
                  <a:srgbClr val="167D77"/>
                </a:solidFill>
                <a:latin typeface="Times New Roman"/>
                <a:ea typeface="Times New Roman"/>
                <a:cs typeface="Times New Roman"/>
              </a:defRPr>
            </a:pPr>
            <a:r>
              <a:rPr sz="2475" b="1">
                <a:solidFill>
                  <a:srgbClr val="167D77"/>
                </a:solidFill>
                <a:latin typeface="Times New Roman"/>
                <a:ea typeface="Times New Roman"/>
                <a:cs typeface="Times New Roman"/>
              </a:rPr>
              <a:t>58.99% − 58.71%</a:t>
            </a:r>
          </a:p>
          <a:p xmlns:a="http://schemas.openxmlformats.org/drawingml/2006/main">
            <a:pPr>
              <a:defRPr sz="2475" b="1">
                <a:solidFill>
                  <a:srgbClr val="167D77"/>
                </a:solidFill>
                <a:latin typeface="Times New Roman"/>
                <a:ea typeface="Times New Roman"/>
                <a:cs typeface="Times New Roman"/>
              </a:defRPr>
            </a:pPr>
            <a:r>
              <a:rPr sz="2475" b="1">
                <a:solidFill>
                  <a:srgbClr val="167D77"/>
                </a:solidFill>
                <a:latin typeface="Times New Roman"/>
                <a:ea typeface="Times New Roman"/>
                <a:cs typeface="Times New Roman"/>
              </a:rPr>
              <a:t>= +0.28 points</a:t>
            </a:r>
          </a:p>
        </p:txBody>
      </p:sp>
      <p:graphicFrame>
        <p:nvGraphicFramePr>
          <p:cNvPr id="8" name="Chart">
            <a:extLst xmlns:a="http://schemas.openxmlformats.org/drawingml/2006/main">
              <a:ext uri="{FF2B5EF4-FFF2-40B4-BE49-F238E27FC236}">
                <a16:creationId xmlns:a16="http://schemas.microsoft.com/office/drawing/2014/main" id="{F197FE7B-17C6-41E7-A9A8-CB56A2DB17E1}"/>
              </a:ext>
            </a:extLst>
          </p:cNvPr>
          <p:cNvGraphicFramePr/>
          <p:nvPr/>
        </p:nvGraphicFramePr>
        <p:xfrm>
          <a:off xmlns:a="http://schemas.openxmlformats.org/drawingml/2006/main" x="7810500" y="3952875"/>
          <a:ext xmlns:a="http://schemas.openxmlformats.org/drawingml/2006/main" cx="4000500" cy="1381125"/>
        </p:xfrm>
        <a:graphic xmlns:a="http://schemas.openxmlformats.org/drawingml/2006/main">
          <a:graphicData uri="http://schemas.openxmlformats.org/drawingml/2006/chart">
            <c:chart xmlns:r="http://schemas.openxmlformats.org/officeDocument/2006/relationships" xmlns:c="http://schemas.openxmlformats.org/drawingml/2006/chart" r:id="Radf00dd07f7e478f"/>
          </a:graphicData>
        </a:graphic>
      </p:graphicFrame>
      <p:sp>
        <p:nvSpPr>
          <p:cNvPr id="9" name="">
            <a:extLst xmlns:a="http://schemas.openxmlformats.org/drawingml/2006/main">
              <a:ext uri="{FF2B5EF4-FFF2-40B4-BE49-F238E27FC236}">
                <a16:creationId xmlns:a16="http://schemas.microsoft.com/office/drawing/2014/main" id="{0CEE6317-42E1-4391-AD4A-30C4707D750F}"/>
              </a:ext>
            </a:extLst>
          </p:cNvPr>
          <p:cNvSpPr>
            <a:spLocks xmlns:a="http://schemas.openxmlformats.org/drawingml/2006/main" noGrp="1"/>
          </p:cNvSpPr>
          <p:nvPr/>
        </p:nvSpPr>
        <p:spPr>
          <a:xfrm xmlns:a="http://schemas.openxmlformats.org/drawingml/2006/main">
            <a:off x="8143875" y="5524500"/>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4324B"/>
                </a:solidFill>
                <a:latin typeface="Times New Roman"/>
                <a:ea typeface="Times New Roman"/>
                <a:cs typeface="Times New Roman"/>
              </a:defRPr>
            </a:defPPr>
            <a:lvl1pPr>
              <a:defRPr sz="1875">
                <a:solidFill>
                  <a:srgbClr val="14324B"/>
                </a:solidFill>
                <a:latin typeface="Times New Roman"/>
                <a:ea typeface="Times New Roman"/>
                <a:cs typeface="Times New Roman"/>
              </a:defRPr>
            </a:lvl1pPr>
            <a:lvl2pPr>
              <a:defRPr sz="1875">
                <a:solidFill>
                  <a:srgbClr val="14324B"/>
                </a:solidFill>
                <a:latin typeface="Times New Roman"/>
                <a:ea typeface="Times New Roman"/>
                <a:cs typeface="Times New Roman"/>
              </a:defRPr>
            </a:lvl2pPr>
            <a:lvl3pPr>
              <a:defRPr sz="1875">
                <a:solidFill>
                  <a:srgbClr val="14324B"/>
                </a:solidFill>
                <a:latin typeface="Times New Roman"/>
                <a:ea typeface="Times New Roman"/>
                <a:cs typeface="Times New Roman"/>
              </a:defRPr>
            </a:lvl3pPr>
            <a:lvl4pPr>
              <a:defRPr sz="1875">
                <a:solidFill>
                  <a:srgbClr val="14324B"/>
                </a:solidFill>
                <a:latin typeface="Times New Roman"/>
                <a:ea typeface="Times New Roman"/>
                <a:cs typeface="Times New Roman"/>
              </a:defRPr>
            </a:lvl4pPr>
            <a:lvl5pPr>
              <a:defRPr sz="1875">
                <a:solidFill>
                  <a:srgbClr val="14324B"/>
                </a:solidFill>
                <a:latin typeface="Times New Roman"/>
                <a:ea typeface="Times New Roman"/>
                <a:cs typeface="Times New Roman"/>
              </a:defRPr>
            </a:lvl5pPr>
            <a:lvl6pPr>
              <a:defRPr sz="1875">
                <a:solidFill>
                  <a:srgbClr val="14324B"/>
                </a:solidFill>
                <a:latin typeface="Times New Roman"/>
                <a:ea typeface="Times New Roman"/>
                <a:cs typeface="Times New Roman"/>
              </a:defRPr>
            </a:lvl6pPr>
            <a:lvl7pPr>
              <a:defRPr sz="1875">
                <a:solidFill>
                  <a:srgbClr val="14324B"/>
                </a:solidFill>
                <a:latin typeface="Times New Roman"/>
                <a:ea typeface="Times New Roman"/>
                <a:cs typeface="Times New Roman"/>
              </a:defRPr>
            </a:lvl7pPr>
            <a:lvl8pPr>
              <a:defRPr sz="1875">
                <a:solidFill>
                  <a:srgbClr val="14324B"/>
                </a:solidFill>
                <a:latin typeface="Times New Roman"/>
                <a:ea typeface="Times New Roman"/>
                <a:cs typeface="Times New Roman"/>
              </a:defRPr>
            </a:lvl8pPr>
            <a:lvl9pPr>
              <a:defRPr sz="1875">
                <a:solidFill>
                  <a:srgbClr val="14324B"/>
                </a:solidFill>
                <a:latin typeface="Times New Roman"/>
                <a:ea typeface="Times New Roman"/>
                <a:cs typeface="Times New Roman"/>
              </a:defRPr>
            </a:lvl9pPr>
          </a:lstStyle>
          <a:p xmlns:a="http://schemas.openxmlformats.org/drawingml/2006/main">
            <a:pPr>
              <a:defRPr sz="1875">
                <a:solidFill>
                  <a:srgbClr val="14324B"/>
                </a:solidFill>
                <a:latin typeface="Times New Roman"/>
                <a:ea typeface="Times New Roman"/>
                <a:cs typeface="Times New Roman"/>
              </a:defRPr>
            </a:pPr>
            <a:r>
              <a:rPr sz="1875">
                <a:solidFill>
                  <a:srgbClr val="14324B"/>
                </a:solidFill>
                <a:latin typeface="Times New Roman"/>
                <a:ea typeface="Times New Roman"/>
                <a:cs typeface="Times New Roman"/>
              </a:rPr>
              <a:t>95% interval: [−2.95, 3.51]</a:t>
            </a:r>
          </a:p>
        </p:txBody>
      </p:sp>
      <p:sp>
        <p:nvSpPr>
          <p:cNvPr id="10" name="">
            <a:extLst xmlns:a="http://schemas.openxmlformats.org/drawingml/2006/main">
              <a:ext uri="{FF2B5EF4-FFF2-40B4-BE49-F238E27FC236}">
                <a16:creationId xmlns:a16="http://schemas.microsoft.com/office/drawing/2014/main" id="{D312C6F4-8B90-445E-8042-D29B203F0C5E}"/>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CaLM concatenation gain: +0.14 points [−2.67, 2.81]. Both intervals cross zero. These estimates do not establish equivalence or a general lack of useful fusion.</a:t>
            </a:r>
          </a:p>
        </p:txBody>
      </p:sp>
    </p:spTree>
    <p:extLst>
      <p:ext uri="{BB962C8B-B14F-4D97-AF65-F5344CB8AC3E}">
        <p14:creationId xmlns:p14="http://schemas.microsoft.com/office/powerpoint/2010/main" val="16279224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14316CB0-BF0B-43F6-9336-AB01FE6A2EF7}"/>
              </a:ext>
            </a:extLst>
          </p:cNvPr>
          <p:cNvCxnSpPr>
            <a:stCxn xmlns:a="http://schemas.openxmlformats.org/drawingml/2006/main" id="8" idx="3"/>
            <a:endCxn xmlns:a="http://schemas.openxmlformats.org/drawingml/2006/main" id="9" idx="1"/>
          </p:cNvCxnSpPr>
          <p:nvPr/>
        </p:nvCxnSpPr>
        <p:spPr>
          <a:xfrm xmlns:a="http://schemas.openxmlformats.org/drawingml/2006/main" flipV="1">
            <a:off x="6477000" y="2643188"/>
            <a:ext cx="1905000" cy="357188"/>
          </a:xfrm>
          <a:prstGeom xmlns:a="http://schemas.openxmlformats.org/drawingml/2006/main" prst="bentConnector3">
            <a:avLst>
              <a:gd name="adj1" fmla="val 50000"/>
            </a:avLst>
          </a:prstGeom>
          <a:ln xmlns:a="http://schemas.openxmlformats.org/drawingml/2006/main" w="21908">
            <a:solidFill>
              <a:srgbClr val="52636B"/>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EC93635B-D9CE-4FA8-A99A-81929C3D81DA}"/>
              </a:ext>
            </a:extLst>
          </p:cNvPr>
          <p:cNvCxnSpPr>
            <a:stCxn xmlns:a="http://schemas.openxmlformats.org/drawingml/2006/main" id="6" idx="3"/>
            <a:endCxn xmlns:a="http://schemas.openxmlformats.org/drawingml/2006/main" id="9" idx="1"/>
          </p:cNvCxnSpPr>
          <p:nvPr/>
        </p:nvCxnSpPr>
        <p:spPr>
          <a:xfrm xmlns:a="http://schemas.openxmlformats.org/drawingml/2006/main">
            <a:off x="6477000" y="2238375"/>
            <a:ext cx="1905000" cy="404813"/>
          </a:xfrm>
          <a:prstGeom xmlns:a="http://schemas.openxmlformats.org/drawingml/2006/main" prst="bentConnector3">
            <a:avLst>
              <a:gd name="adj1" fmla="val 50000"/>
            </a:avLst>
          </a:prstGeom>
          <a:ln xmlns:a="http://schemas.openxmlformats.org/drawingml/2006/main" w="21908">
            <a:solidFill>
              <a:srgbClr val="52636B"/>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032FE9F8-C828-4945-AAD8-86D3EF82087A}"/>
              </a:ext>
            </a:extLst>
          </p:cNvPr>
          <p:cNvCxnSpPr>
            <a:stCxn xmlns:a="http://schemas.openxmlformats.org/drawingml/2006/main" id="7" idx="3"/>
            <a:endCxn xmlns:a="http://schemas.openxmlformats.org/drawingml/2006/main" id="8" idx="1"/>
          </p:cNvCxnSpPr>
          <p:nvPr/>
        </p:nvCxnSpPr>
        <p:spPr>
          <a:xfrm xmlns:a="http://schemas.openxmlformats.org/drawingml/2006/main">
            <a:off x="2667000" y="3000375"/>
            <a:ext cx="809625"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224F1549-BB67-436B-A3F2-12B0D2E963BD}"/>
              </a:ext>
            </a:extLst>
          </p:cNvPr>
          <p:cNvCxnSpPr>
            <a:stCxn xmlns:a="http://schemas.openxmlformats.org/drawingml/2006/main" id="5" idx="3"/>
            <a:endCxn xmlns:a="http://schemas.openxmlformats.org/drawingml/2006/main" id="6" idx="1"/>
          </p:cNvCxnSpPr>
          <p:nvPr/>
        </p:nvCxnSpPr>
        <p:spPr>
          <a:xfrm xmlns:a="http://schemas.openxmlformats.org/drawingml/2006/main">
            <a:off x="2667000" y="2238375"/>
            <a:ext cx="809625"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FC4278CA-BD68-4B4C-9005-D678BA3EC921}"/>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C3AD6E-29CC-4829-8A57-846B5ACA5948}"/>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LucaOne improves the matched representation comparison</a:t>
            </a:r>
          </a:p>
        </p:txBody>
      </p:sp>
      <p:sp>
        <p:nvSpPr>
          <p:cNvPr id="3" name="">
            <a:extLst xmlns:a="http://schemas.openxmlformats.org/drawingml/2006/main">
              <a:ext uri="{FF2B5EF4-FFF2-40B4-BE49-F238E27FC236}">
                <a16:creationId xmlns:a16="http://schemas.microsoft.com/office/drawing/2014/main" id="{9B5DDC91-7FFF-49B0-9CAE-43E38FDDB5C0}"/>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mRNA stability. The same pooled-ridge procedure compares the representation families.</a:t>
            </a:r>
          </a:p>
        </p:txBody>
      </p:sp>
      <p:sp>
        <p:nvSpPr>
          <p:cNvPr id="4" name="">
            <a:extLst xmlns:a="http://schemas.openxmlformats.org/drawingml/2006/main">
              <a:ext uri="{FF2B5EF4-FFF2-40B4-BE49-F238E27FC236}">
                <a16:creationId xmlns:a16="http://schemas.microsoft.com/office/drawing/2014/main" id="{A9356D73-9F4A-4339-A137-E6101509B5BC}"/>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11</a:t>
            </a:r>
          </a:p>
        </p:txBody>
      </p:sp>
      <p:sp>
        <p:nvSpPr>
          <p:cNvPr id="5" name="">
            <a:extLst xmlns:a="http://schemas.openxmlformats.org/drawingml/2006/main">
              <a:ext uri="{FF2B5EF4-FFF2-40B4-BE49-F238E27FC236}">
                <a16:creationId xmlns:a16="http://schemas.microsoft.com/office/drawing/2014/main" id="{77E53A6E-7CDA-4D54-B432-055D87C0FFE4}"/>
              </a:ext>
            </a:extLst>
          </p:cNvPr>
          <p:cNvSpPr>
            <a:spLocks xmlns:a="http://schemas.openxmlformats.org/drawingml/2006/main" noGrp="1"/>
          </p:cNvSpPr>
          <p:nvPr/>
        </p:nvSpPr>
        <p:spPr>
          <a:xfrm xmlns:a="http://schemas.openxmlformats.org/drawingml/2006/main">
            <a:off x="523875" y="1952625"/>
            <a:ext cx="2143125" cy="57150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025" b="1">
                <a:solidFill>
                  <a:srgbClr val="167D77"/>
                </a:solidFill>
                <a:latin typeface="Times New Roman"/>
                <a:ea typeface="Times New Roman"/>
                <a:cs typeface="Times New Roman"/>
              </a:defRPr>
            </a:defPPr>
            <a:lvl1pPr algn="ctr">
              <a:defRPr sz="2025" b="1">
                <a:solidFill>
                  <a:srgbClr val="167D77"/>
                </a:solidFill>
                <a:latin typeface="Times New Roman"/>
                <a:ea typeface="Times New Roman"/>
                <a:cs typeface="Times New Roman"/>
              </a:defRPr>
            </a:lvl1pPr>
            <a:lvl2pPr algn="ctr">
              <a:defRPr sz="2025" b="1">
                <a:solidFill>
                  <a:srgbClr val="167D77"/>
                </a:solidFill>
                <a:latin typeface="Times New Roman"/>
                <a:ea typeface="Times New Roman"/>
                <a:cs typeface="Times New Roman"/>
              </a:defRPr>
            </a:lvl2pPr>
            <a:lvl3pPr algn="ctr">
              <a:defRPr sz="2025" b="1">
                <a:solidFill>
                  <a:srgbClr val="167D77"/>
                </a:solidFill>
                <a:latin typeface="Times New Roman"/>
                <a:ea typeface="Times New Roman"/>
                <a:cs typeface="Times New Roman"/>
              </a:defRPr>
            </a:lvl3pPr>
            <a:lvl4pPr algn="ctr">
              <a:defRPr sz="2025" b="1">
                <a:solidFill>
                  <a:srgbClr val="167D77"/>
                </a:solidFill>
                <a:latin typeface="Times New Roman"/>
                <a:ea typeface="Times New Roman"/>
                <a:cs typeface="Times New Roman"/>
              </a:defRPr>
            </a:lvl4pPr>
            <a:lvl5pPr algn="ctr">
              <a:defRPr sz="2025" b="1">
                <a:solidFill>
                  <a:srgbClr val="167D77"/>
                </a:solidFill>
                <a:latin typeface="Times New Roman"/>
                <a:ea typeface="Times New Roman"/>
                <a:cs typeface="Times New Roman"/>
              </a:defRPr>
            </a:lvl5pPr>
            <a:lvl6pPr algn="ctr">
              <a:defRPr sz="2025" b="1">
                <a:solidFill>
                  <a:srgbClr val="167D77"/>
                </a:solidFill>
                <a:latin typeface="Times New Roman"/>
                <a:ea typeface="Times New Roman"/>
                <a:cs typeface="Times New Roman"/>
              </a:defRPr>
            </a:lvl6pPr>
            <a:lvl7pPr algn="ctr">
              <a:defRPr sz="2025" b="1">
                <a:solidFill>
                  <a:srgbClr val="167D77"/>
                </a:solidFill>
                <a:latin typeface="Times New Roman"/>
                <a:ea typeface="Times New Roman"/>
                <a:cs typeface="Times New Roman"/>
              </a:defRPr>
            </a:lvl7pPr>
            <a:lvl8pPr algn="ctr">
              <a:defRPr sz="2025" b="1">
                <a:solidFill>
                  <a:srgbClr val="167D77"/>
                </a:solidFill>
                <a:latin typeface="Times New Roman"/>
                <a:ea typeface="Times New Roman"/>
                <a:cs typeface="Times New Roman"/>
              </a:defRPr>
            </a:lvl8pPr>
            <a:lvl9pPr algn="ctr">
              <a:defRPr sz="2025" b="1">
                <a:solidFill>
                  <a:srgbClr val="167D77"/>
                </a:solidFill>
                <a:latin typeface="Times New Roman"/>
                <a:ea typeface="Times New Roman"/>
                <a:cs typeface="Times New Roman"/>
              </a:defRPr>
            </a:lvl9pPr>
          </a:lstStyle>
          <a:p xmlns:a="http://schemas.openxmlformats.org/drawingml/2006/main">
            <a:pPr algn="ctr">
              <a:defRPr sz="2025" b="1">
                <a:solidFill>
                  <a:srgbClr val="167D77"/>
                </a:solidFill>
                <a:latin typeface="Times New Roman"/>
                <a:ea typeface="Times New Roman"/>
                <a:cs typeface="Times New Roman"/>
              </a:defRPr>
            </a:pPr>
            <a:r>
              <a:rPr sz="2025" b="1">
                <a:solidFill>
                  <a:srgbClr val="167D77"/>
                </a:solidFill>
                <a:latin typeface="Times New Roman"/>
                <a:ea typeface="Times New Roman"/>
                <a:cs typeface="Times New Roman"/>
              </a:rPr>
              <a:t>Gene sequence</a:t>
            </a:r>
          </a:p>
        </p:txBody>
      </p:sp>
      <p:sp>
        <p:nvSpPr>
          <p:cNvPr id="6" name="">
            <a:extLst xmlns:a="http://schemas.openxmlformats.org/drawingml/2006/main">
              <a:ext uri="{FF2B5EF4-FFF2-40B4-BE49-F238E27FC236}">
                <a16:creationId xmlns:a16="http://schemas.microsoft.com/office/drawing/2014/main" id="{BC840A4C-1AC1-4754-B71E-7B07E339E6C3}"/>
              </a:ext>
            </a:extLst>
          </p:cNvPr>
          <p:cNvSpPr>
            <a:spLocks xmlns:a="http://schemas.openxmlformats.org/drawingml/2006/main" noGrp="1"/>
          </p:cNvSpPr>
          <p:nvPr/>
        </p:nvSpPr>
        <p:spPr>
          <a:xfrm xmlns:a="http://schemas.openxmlformats.org/drawingml/2006/main">
            <a:off x="3476625" y="1952625"/>
            <a:ext cx="3000375" cy="57150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025" b="1">
                <a:solidFill>
                  <a:srgbClr val="167D77"/>
                </a:solidFill>
                <a:latin typeface="Times New Roman"/>
                <a:ea typeface="Times New Roman"/>
                <a:cs typeface="Times New Roman"/>
              </a:defRPr>
            </a:defPPr>
            <a:lvl1pPr algn="ctr">
              <a:defRPr sz="2025" b="1">
                <a:solidFill>
                  <a:srgbClr val="167D77"/>
                </a:solidFill>
                <a:latin typeface="Times New Roman"/>
                <a:ea typeface="Times New Roman"/>
                <a:cs typeface="Times New Roman"/>
              </a:defRPr>
            </a:lvl1pPr>
            <a:lvl2pPr algn="ctr">
              <a:defRPr sz="2025" b="1">
                <a:solidFill>
                  <a:srgbClr val="167D77"/>
                </a:solidFill>
                <a:latin typeface="Times New Roman"/>
                <a:ea typeface="Times New Roman"/>
                <a:cs typeface="Times New Roman"/>
              </a:defRPr>
            </a:lvl2pPr>
            <a:lvl3pPr algn="ctr">
              <a:defRPr sz="2025" b="1">
                <a:solidFill>
                  <a:srgbClr val="167D77"/>
                </a:solidFill>
                <a:latin typeface="Times New Roman"/>
                <a:ea typeface="Times New Roman"/>
                <a:cs typeface="Times New Roman"/>
              </a:defRPr>
            </a:lvl3pPr>
            <a:lvl4pPr algn="ctr">
              <a:defRPr sz="2025" b="1">
                <a:solidFill>
                  <a:srgbClr val="167D77"/>
                </a:solidFill>
                <a:latin typeface="Times New Roman"/>
                <a:ea typeface="Times New Roman"/>
                <a:cs typeface="Times New Roman"/>
              </a:defRPr>
            </a:lvl4pPr>
            <a:lvl5pPr algn="ctr">
              <a:defRPr sz="2025" b="1">
                <a:solidFill>
                  <a:srgbClr val="167D77"/>
                </a:solidFill>
                <a:latin typeface="Times New Roman"/>
                <a:ea typeface="Times New Roman"/>
                <a:cs typeface="Times New Roman"/>
              </a:defRPr>
            </a:lvl5pPr>
            <a:lvl6pPr algn="ctr">
              <a:defRPr sz="2025" b="1">
                <a:solidFill>
                  <a:srgbClr val="167D77"/>
                </a:solidFill>
                <a:latin typeface="Times New Roman"/>
                <a:ea typeface="Times New Roman"/>
                <a:cs typeface="Times New Roman"/>
              </a:defRPr>
            </a:lvl6pPr>
            <a:lvl7pPr algn="ctr">
              <a:defRPr sz="2025" b="1">
                <a:solidFill>
                  <a:srgbClr val="167D77"/>
                </a:solidFill>
                <a:latin typeface="Times New Roman"/>
                <a:ea typeface="Times New Roman"/>
                <a:cs typeface="Times New Roman"/>
              </a:defRPr>
            </a:lvl7pPr>
            <a:lvl8pPr algn="ctr">
              <a:defRPr sz="2025" b="1">
                <a:solidFill>
                  <a:srgbClr val="167D77"/>
                </a:solidFill>
                <a:latin typeface="Times New Roman"/>
                <a:ea typeface="Times New Roman"/>
                <a:cs typeface="Times New Roman"/>
              </a:defRPr>
            </a:lvl8pPr>
            <a:lvl9pPr algn="ctr">
              <a:defRPr sz="2025" b="1">
                <a:solidFill>
                  <a:srgbClr val="167D77"/>
                </a:solidFill>
                <a:latin typeface="Times New Roman"/>
                <a:ea typeface="Times New Roman"/>
                <a:cs typeface="Times New Roman"/>
              </a:defRPr>
            </a:lvl9pPr>
          </a:lstStyle>
          <a:p xmlns:a="http://schemas.openxmlformats.org/drawingml/2006/main">
            <a:pPr algn="ctr">
              <a:defRPr sz="2025" b="1">
                <a:solidFill>
                  <a:srgbClr val="167D77"/>
                </a:solidFill>
                <a:latin typeface="Times New Roman"/>
                <a:ea typeface="Times New Roman"/>
                <a:cs typeface="Times New Roman"/>
              </a:defRPr>
            </a:pPr>
            <a:r>
              <a:rPr sz="2025" b="1">
                <a:solidFill>
                  <a:srgbClr val="167D77"/>
                </a:solidFill>
                <a:latin typeface="Times New Roman"/>
                <a:ea typeface="Times New Roman"/>
                <a:cs typeface="Times New Roman"/>
              </a:rPr>
              <a:t>LucaOne gene vector</a:t>
            </a:r>
          </a:p>
        </p:txBody>
      </p:sp>
      <p:sp>
        <p:nvSpPr>
          <p:cNvPr id="7" name="">
            <a:extLst xmlns:a="http://schemas.openxmlformats.org/drawingml/2006/main">
              <a:ext uri="{FF2B5EF4-FFF2-40B4-BE49-F238E27FC236}">
                <a16:creationId xmlns:a16="http://schemas.microsoft.com/office/drawing/2014/main" id="{9D0BF272-74A9-4156-826D-627430FAFF88}"/>
              </a:ext>
            </a:extLst>
          </p:cNvPr>
          <p:cNvSpPr>
            <a:spLocks xmlns:a="http://schemas.openxmlformats.org/drawingml/2006/main" noGrp="1"/>
          </p:cNvSpPr>
          <p:nvPr/>
        </p:nvSpPr>
        <p:spPr>
          <a:xfrm xmlns:a="http://schemas.openxmlformats.org/drawingml/2006/main">
            <a:off x="523875" y="2714625"/>
            <a:ext cx="2143125" cy="571500"/>
          </a:xfrm>
          <a:prstGeom xmlns:a="http://schemas.openxmlformats.org/drawingml/2006/main" prst="rect">
            <a:avLst/>
          </a:prstGeom>
          <a:solidFill xmlns:a="http://schemas.openxmlformats.org/drawingml/2006/main">
            <a:srgbClr val="F0EAF5"/>
          </a:solidFill>
          <a:ln xmlns:a="http://schemas.openxmlformats.org/drawingml/2006/main" w="14288">
            <a:solidFill>
              <a:srgbClr val="815897"/>
            </a:solidFill>
          </a:ln>
        </p:spPr>
        <p:txBody>
          <a:bodyPr xmlns:a="http://schemas.openxmlformats.org/drawingml/2006/main" wrap="square" lIns="85725" tIns="85725" rIns="85725" bIns="85725" anchor="ctr">
            <a:noAutofit/>
          </a:bodyPr>
          <a:lstStyle xmlns:a="http://schemas.openxmlformats.org/drawingml/2006/main">
            <a:defPPr algn="ctr">
              <a:defRPr sz="2025" b="1">
                <a:solidFill>
                  <a:srgbClr val="815897"/>
                </a:solidFill>
                <a:latin typeface="Times New Roman"/>
                <a:ea typeface="Times New Roman"/>
                <a:cs typeface="Times New Roman"/>
              </a:defRPr>
            </a:defPPr>
            <a:lvl1pPr algn="ctr">
              <a:defRPr sz="2025" b="1">
                <a:solidFill>
                  <a:srgbClr val="815897"/>
                </a:solidFill>
                <a:latin typeface="Times New Roman"/>
                <a:ea typeface="Times New Roman"/>
                <a:cs typeface="Times New Roman"/>
              </a:defRPr>
            </a:lvl1pPr>
            <a:lvl2pPr algn="ctr">
              <a:defRPr sz="2025" b="1">
                <a:solidFill>
                  <a:srgbClr val="815897"/>
                </a:solidFill>
                <a:latin typeface="Times New Roman"/>
                <a:ea typeface="Times New Roman"/>
                <a:cs typeface="Times New Roman"/>
              </a:defRPr>
            </a:lvl2pPr>
            <a:lvl3pPr algn="ctr">
              <a:defRPr sz="2025" b="1">
                <a:solidFill>
                  <a:srgbClr val="815897"/>
                </a:solidFill>
                <a:latin typeface="Times New Roman"/>
                <a:ea typeface="Times New Roman"/>
                <a:cs typeface="Times New Roman"/>
              </a:defRPr>
            </a:lvl3pPr>
            <a:lvl4pPr algn="ctr">
              <a:defRPr sz="2025" b="1">
                <a:solidFill>
                  <a:srgbClr val="815897"/>
                </a:solidFill>
                <a:latin typeface="Times New Roman"/>
                <a:ea typeface="Times New Roman"/>
                <a:cs typeface="Times New Roman"/>
              </a:defRPr>
            </a:lvl4pPr>
            <a:lvl5pPr algn="ctr">
              <a:defRPr sz="2025" b="1">
                <a:solidFill>
                  <a:srgbClr val="815897"/>
                </a:solidFill>
                <a:latin typeface="Times New Roman"/>
                <a:ea typeface="Times New Roman"/>
                <a:cs typeface="Times New Roman"/>
              </a:defRPr>
            </a:lvl5pPr>
            <a:lvl6pPr algn="ctr">
              <a:defRPr sz="2025" b="1">
                <a:solidFill>
                  <a:srgbClr val="815897"/>
                </a:solidFill>
                <a:latin typeface="Times New Roman"/>
                <a:ea typeface="Times New Roman"/>
                <a:cs typeface="Times New Roman"/>
              </a:defRPr>
            </a:lvl6pPr>
            <a:lvl7pPr algn="ctr">
              <a:defRPr sz="2025" b="1">
                <a:solidFill>
                  <a:srgbClr val="815897"/>
                </a:solidFill>
                <a:latin typeface="Times New Roman"/>
                <a:ea typeface="Times New Roman"/>
                <a:cs typeface="Times New Roman"/>
              </a:defRPr>
            </a:lvl7pPr>
            <a:lvl8pPr algn="ctr">
              <a:defRPr sz="2025" b="1">
                <a:solidFill>
                  <a:srgbClr val="815897"/>
                </a:solidFill>
                <a:latin typeface="Times New Roman"/>
                <a:ea typeface="Times New Roman"/>
                <a:cs typeface="Times New Roman"/>
              </a:defRPr>
            </a:lvl8pPr>
            <a:lvl9pPr algn="ctr">
              <a:defRPr sz="2025" b="1">
                <a:solidFill>
                  <a:srgbClr val="815897"/>
                </a:solidFill>
                <a:latin typeface="Times New Roman"/>
                <a:ea typeface="Times New Roman"/>
                <a:cs typeface="Times New Roman"/>
              </a:defRPr>
            </a:lvl9pPr>
          </a:lstStyle>
          <a:p xmlns:a="http://schemas.openxmlformats.org/drawingml/2006/main">
            <a:pPr algn="ctr">
              <a:defRPr sz="2025" b="1">
                <a:solidFill>
                  <a:srgbClr val="815897"/>
                </a:solidFill>
                <a:latin typeface="Times New Roman"/>
                <a:ea typeface="Times New Roman"/>
                <a:cs typeface="Times New Roman"/>
              </a:defRPr>
            </a:pPr>
            <a:r>
              <a:rPr sz="2025" b="1">
                <a:solidFill>
                  <a:srgbClr val="815897"/>
                </a:solidFill>
                <a:latin typeface="Times New Roman"/>
                <a:ea typeface="Times New Roman"/>
                <a:cs typeface="Times New Roman"/>
              </a:rPr>
              <a:t>Protein sequence</a:t>
            </a:r>
          </a:p>
        </p:txBody>
      </p:sp>
      <p:sp>
        <p:nvSpPr>
          <p:cNvPr id="8" name="">
            <a:extLst xmlns:a="http://schemas.openxmlformats.org/drawingml/2006/main">
              <a:ext uri="{FF2B5EF4-FFF2-40B4-BE49-F238E27FC236}">
                <a16:creationId xmlns:a16="http://schemas.microsoft.com/office/drawing/2014/main" id="{D650E72B-F35C-493A-A67E-6B0F08646E8B}"/>
              </a:ext>
            </a:extLst>
          </p:cNvPr>
          <p:cNvSpPr>
            <a:spLocks xmlns:a="http://schemas.openxmlformats.org/drawingml/2006/main" noGrp="1"/>
          </p:cNvSpPr>
          <p:nvPr/>
        </p:nvSpPr>
        <p:spPr>
          <a:xfrm xmlns:a="http://schemas.openxmlformats.org/drawingml/2006/main">
            <a:off x="3476625" y="2714625"/>
            <a:ext cx="3000375" cy="571500"/>
          </a:xfrm>
          <a:prstGeom xmlns:a="http://schemas.openxmlformats.org/drawingml/2006/main" prst="rect">
            <a:avLst/>
          </a:prstGeom>
          <a:solidFill xmlns:a="http://schemas.openxmlformats.org/drawingml/2006/main">
            <a:srgbClr val="F0EAF5"/>
          </a:solidFill>
          <a:ln xmlns:a="http://schemas.openxmlformats.org/drawingml/2006/main" w="14288">
            <a:solidFill>
              <a:srgbClr val="815897"/>
            </a:solidFill>
          </a:ln>
        </p:spPr>
        <p:txBody>
          <a:bodyPr xmlns:a="http://schemas.openxmlformats.org/drawingml/2006/main" wrap="square" lIns="85725" tIns="85725" rIns="85725" bIns="85725" anchor="ctr">
            <a:noAutofit/>
          </a:bodyPr>
          <a:lstStyle xmlns:a="http://schemas.openxmlformats.org/drawingml/2006/main">
            <a:defPPr algn="ctr">
              <a:defRPr sz="2025" b="1">
                <a:solidFill>
                  <a:srgbClr val="815897"/>
                </a:solidFill>
                <a:latin typeface="Times New Roman"/>
                <a:ea typeface="Times New Roman"/>
                <a:cs typeface="Times New Roman"/>
              </a:defRPr>
            </a:defPPr>
            <a:lvl1pPr algn="ctr">
              <a:defRPr sz="2025" b="1">
                <a:solidFill>
                  <a:srgbClr val="815897"/>
                </a:solidFill>
                <a:latin typeface="Times New Roman"/>
                <a:ea typeface="Times New Roman"/>
                <a:cs typeface="Times New Roman"/>
              </a:defRPr>
            </a:lvl1pPr>
            <a:lvl2pPr algn="ctr">
              <a:defRPr sz="2025" b="1">
                <a:solidFill>
                  <a:srgbClr val="815897"/>
                </a:solidFill>
                <a:latin typeface="Times New Roman"/>
                <a:ea typeface="Times New Roman"/>
                <a:cs typeface="Times New Roman"/>
              </a:defRPr>
            </a:lvl2pPr>
            <a:lvl3pPr algn="ctr">
              <a:defRPr sz="2025" b="1">
                <a:solidFill>
                  <a:srgbClr val="815897"/>
                </a:solidFill>
                <a:latin typeface="Times New Roman"/>
                <a:ea typeface="Times New Roman"/>
                <a:cs typeface="Times New Roman"/>
              </a:defRPr>
            </a:lvl3pPr>
            <a:lvl4pPr algn="ctr">
              <a:defRPr sz="2025" b="1">
                <a:solidFill>
                  <a:srgbClr val="815897"/>
                </a:solidFill>
                <a:latin typeface="Times New Roman"/>
                <a:ea typeface="Times New Roman"/>
                <a:cs typeface="Times New Roman"/>
              </a:defRPr>
            </a:lvl4pPr>
            <a:lvl5pPr algn="ctr">
              <a:defRPr sz="2025" b="1">
                <a:solidFill>
                  <a:srgbClr val="815897"/>
                </a:solidFill>
                <a:latin typeface="Times New Roman"/>
                <a:ea typeface="Times New Roman"/>
                <a:cs typeface="Times New Roman"/>
              </a:defRPr>
            </a:lvl5pPr>
            <a:lvl6pPr algn="ctr">
              <a:defRPr sz="2025" b="1">
                <a:solidFill>
                  <a:srgbClr val="815897"/>
                </a:solidFill>
                <a:latin typeface="Times New Roman"/>
                <a:ea typeface="Times New Roman"/>
                <a:cs typeface="Times New Roman"/>
              </a:defRPr>
            </a:lvl6pPr>
            <a:lvl7pPr algn="ctr">
              <a:defRPr sz="2025" b="1">
                <a:solidFill>
                  <a:srgbClr val="815897"/>
                </a:solidFill>
                <a:latin typeface="Times New Roman"/>
                <a:ea typeface="Times New Roman"/>
                <a:cs typeface="Times New Roman"/>
              </a:defRPr>
            </a:lvl7pPr>
            <a:lvl8pPr algn="ctr">
              <a:defRPr sz="2025" b="1">
                <a:solidFill>
                  <a:srgbClr val="815897"/>
                </a:solidFill>
                <a:latin typeface="Times New Roman"/>
                <a:ea typeface="Times New Roman"/>
                <a:cs typeface="Times New Roman"/>
              </a:defRPr>
            </a:lvl8pPr>
            <a:lvl9pPr algn="ctr">
              <a:defRPr sz="2025" b="1">
                <a:solidFill>
                  <a:srgbClr val="815897"/>
                </a:solidFill>
                <a:latin typeface="Times New Roman"/>
                <a:ea typeface="Times New Roman"/>
                <a:cs typeface="Times New Roman"/>
              </a:defRPr>
            </a:lvl9pPr>
          </a:lstStyle>
          <a:p xmlns:a="http://schemas.openxmlformats.org/drawingml/2006/main">
            <a:pPr algn="ctr">
              <a:defRPr sz="2025" b="1">
                <a:solidFill>
                  <a:srgbClr val="815897"/>
                </a:solidFill>
                <a:latin typeface="Times New Roman"/>
                <a:ea typeface="Times New Roman"/>
                <a:cs typeface="Times New Roman"/>
              </a:defRPr>
            </a:pPr>
            <a:r>
              <a:rPr sz="2025" b="1">
                <a:solidFill>
                  <a:srgbClr val="815897"/>
                </a:solidFill>
                <a:latin typeface="Times New Roman"/>
                <a:ea typeface="Times New Roman"/>
                <a:cs typeface="Times New Roman"/>
              </a:rPr>
              <a:t>LucaOne protein vector</a:t>
            </a:r>
          </a:p>
        </p:txBody>
      </p:sp>
      <p:sp>
        <p:nvSpPr>
          <p:cNvPr id="9" name="">
            <a:extLst xmlns:a="http://schemas.openxmlformats.org/drawingml/2006/main">
              <a:ext uri="{FF2B5EF4-FFF2-40B4-BE49-F238E27FC236}">
                <a16:creationId xmlns:a16="http://schemas.microsoft.com/office/drawing/2014/main" id="{FE92DCA5-ED49-4A04-83DC-75FD1D643047}"/>
              </a:ext>
            </a:extLst>
          </p:cNvPr>
          <p:cNvSpPr>
            <a:spLocks xmlns:a="http://schemas.openxmlformats.org/drawingml/2006/main" noGrp="1"/>
          </p:cNvSpPr>
          <p:nvPr/>
        </p:nvSpPr>
        <p:spPr>
          <a:xfrm xmlns:a="http://schemas.openxmlformats.org/drawingml/2006/main">
            <a:off x="8382000" y="2190750"/>
            <a:ext cx="3095625" cy="904875"/>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14324B"/>
                </a:solidFill>
                <a:latin typeface="Times New Roman"/>
                <a:ea typeface="Times New Roman"/>
                <a:cs typeface="Times New Roman"/>
              </a:defRPr>
            </a:defPPr>
            <a:lvl1pPr algn="ctr">
              <a:defRPr sz="2100" b="1">
                <a:solidFill>
                  <a:srgbClr val="14324B"/>
                </a:solidFill>
                <a:latin typeface="Times New Roman"/>
                <a:ea typeface="Times New Roman"/>
                <a:cs typeface="Times New Roman"/>
              </a:defRPr>
            </a:lvl1pPr>
            <a:lvl2pPr algn="ctr">
              <a:defRPr sz="2100" b="1">
                <a:solidFill>
                  <a:srgbClr val="14324B"/>
                </a:solidFill>
                <a:latin typeface="Times New Roman"/>
                <a:ea typeface="Times New Roman"/>
                <a:cs typeface="Times New Roman"/>
              </a:defRPr>
            </a:lvl2pPr>
            <a:lvl3pPr algn="ctr">
              <a:defRPr sz="2100" b="1">
                <a:solidFill>
                  <a:srgbClr val="14324B"/>
                </a:solidFill>
                <a:latin typeface="Times New Roman"/>
                <a:ea typeface="Times New Roman"/>
                <a:cs typeface="Times New Roman"/>
              </a:defRPr>
            </a:lvl3pPr>
            <a:lvl4pPr algn="ctr">
              <a:defRPr sz="2100" b="1">
                <a:solidFill>
                  <a:srgbClr val="14324B"/>
                </a:solidFill>
                <a:latin typeface="Times New Roman"/>
                <a:ea typeface="Times New Roman"/>
                <a:cs typeface="Times New Roman"/>
              </a:defRPr>
            </a:lvl4pPr>
            <a:lvl5pPr algn="ctr">
              <a:defRPr sz="2100" b="1">
                <a:solidFill>
                  <a:srgbClr val="14324B"/>
                </a:solidFill>
                <a:latin typeface="Times New Roman"/>
                <a:ea typeface="Times New Roman"/>
                <a:cs typeface="Times New Roman"/>
              </a:defRPr>
            </a:lvl5pPr>
            <a:lvl6pPr algn="ctr">
              <a:defRPr sz="2100" b="1">
                <a:solidFill>
                  <a:srgbClr val="14324B"/>
                </a:solidFill>
                <a:latin typeface="Times New Roman"/>
                <a:ea typeface="Times New Roman"/>
                <a:cs typeface="Times New Roman"/>
              </a:defRPr>
            </a:lvl6pPr>
            <a:lvl7pPr algn="ctr">
              <a:defRPr sz="2100" b="1">
                <a:solidFill>
                  <a:srgbClr val="14324B"/>
                </a:solidFill>
                <a:latin typeface="Times New Roman"/>
                <a:ea typeface="Times New Roman"/>
                <a:cs typeface="Times New Roman"/>
              </a:defRPr>
            </a:lvl7pPr>
            <a:lvl8pPr algn="ctr">
              <a:defRPr sz="2100" b="1">
                <a:solidFill>
                  <a:srgbClr val="14324B"/>
                </a:solidFill>
                <a:latin typeface="Times New Roman"/>
                <a:ea typeface="Times New Roman"/>
                <a:cs typeface="Times New Roman"/>
              </a:defRPr>
            </a:lvl8pPr>
            <a:lvl9pPr algn="ctr">
              <a:defRPr sz="2100" b="1">
                <a:solidFill>
                  <a:srgbClr val="14324B"/>
                </a:solidFill>
                <a:latin typeface="Times New Roman"/>
                <a:ea typeface="Times New Roman"/>
                <a:cs typeface="Times New Roman"/>
              </a:defRPr>
            </a:lvl9pPr>
          </a:lstStyle>
          <a:p xmlns:a="http://schemas.openxmlformats.org/drawingml/2006/main">
            <a:pPr algn="ctr">
              <a:defRPr sz="2100" b="1">
                <a:solidFill>
                  <a:srgbClr val="14324B"/>
                </a:solidFill>
                <a:latin typeface="Times New Roman"/>
                <a:ea typeface="Times New Roman"/>
                <a:cs typeface="Times New Roman"/>
              </a:defRPr>
            </a:pPr>
            <a:r>
              <a:rPr sz="2100" b="1">
                <a:solidFill>
                  <a:srgbClr val="14324B"/>
                </a:solidFill>
                <a:latin typeface="Times New Roman"/>
                <a:ea typeface="Times New Roman"/>
                <a:cs typeface="Times New Roman"/>
              </a:rPr>
              <a:t>Concatenate</a:t>
            </a:r>
          </a:p>
          <a:p xmlns:a="http://schemas.openxmlformats.org/drawingml/2006/main">
            <a:pPr algn="ctr">
              <a:defRPr sz="2100" b="1">
                <a:solidFill>
                  <a:srgbClr val="14324B"/>
                </a:solidFill>
                <a:latin typeface="Times New Roman"/>
                <a:ea typeface="Times New Roman"/>
                <a:cs typeface="Times New Roman"/>
              </a:defRPr>
            </a:pPr>
            <a:r>
              <a:rPr sz="2100" b="1">
                <a:solidFill>
                  <a:srgbClr val="14324B"/>
                </a:solidFill>
                <a:latin typeface="Times New Roman"/>
                <a:ea typeface="Times New Roman"/>
                <a:cs typeface="Times New Roman"/>
              </a:rPr>
              <a:t>then fit ridge</a:t>
            </a:r>
          </a:p>
        </p:txBody>
      </p:sp>
      <p:graphicFrame>
        <p:nvGraphicFramePr>
          <p:cNvPr id="14" name="Chart">
            <a:extLst xmlns:a="http://schemas.openxmlformats.org/drawingml/2006/main">
              <a:ext uri="{FF2B5EF4-FFF2-40B4-BE49-F238E27FC236}">
                <a16:creationId xmlns:a16="http://schemas.microsoft.com/office/drawing/2014/main" id="{54D30A7E-605B-4A79-8D7A-7F6555114D40}"/>
              </a:ext>
            </a:extLst>
          </p:cNvPr>
          <p:cNvGraphicFramePr/>
          <p:nvPr/>
        </p:nvGraphicFramePr>
        <p:xfrm>
          <a:off xmlns:a="http://schemas.openxmlformats.org/drawingml/2006/main" x="381000" y="3381375"/>
          <a:ext xmlns:a="http://schemas.openxmlformats.org/drawingml/2006/main" cx="11334750" cy="2333625"/>
        </p:xfrm>
        <a:graphic xmlns:a="http://schemas.openxmlformats.org/drawingml/2006/main">
          <a:graphicData uri="http://schemas.openxmlformats.org/drawingml/2006/chart">
            <c:chart xmlns:r="http://schemas.openxmlformats.org/officeDocument/2006/relationships" xmlns:c="http://schemas.openxmlformats.org/drawingml/2006/chart" r:id="R2a660ff403ba4891"/>
          </a:graphicData>
        </a:graphic>
      </p:graphicFrame>
      <p:sp>
        <p:nvSpPr>
          <p:cNvPr id="15" name="">
            <a:extLst xmlns:a="http://schemas.openxmlformats.org/drawingml/2006/main">
              <a:ext uri="{FF2B5EF4-FFF2-40B4-BE49-F238E27FC236}">
                <a16:creationId xmlns:a16="http://schemas.microsoft.com/office/drawing/2014/main" id="{0970A64F-BEDA-4D67-B501-C8698CBEC357}"/>
              </a:ext>
            </a:extLst>
          </p:cNvPr>
          <p:cNvSpPr>
            <a:spLocks xmlns:a="http://schemas.openxmlformats.org/drawingml/2006/main" noGrp="1"/>
          </p:cNvSpPr>
          <p:nvPr/>
        </p:nvSpPr>
        <p:spPr>
          <a:xfrm xmlns:a="http://schemas.openxmlformats.org/drawingml/2006/main">
            <a:off x="523875" y="57435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7D77"/>
                </a:solidFill>
                <a:latin typeface="Times New Roman"/>
                <a:ea typeface="Times New Roman"/>
                <a:cs typeface="Times New Roman"/>
              </a:defRPr>
            </a:defPPr>
            <a:lvl1pPr>
              <a:defRPr sz="2100">
                <a:solidFill>
                  <a:srgbClr val="167D77"/>
                </a:solidFill>
                <a:latin typeface="Times New Roman"/>
                <a:ea typeface="Times New Roman"/>
                <a:cs typeface="Times New Roman"/>
              </a:defRPr>
            </a:lvl1pPr>
            <a:lvl2pPr>
              <a:defRPr sz="2100">
                <a:solidFill>
                  <a:srgbClr val="167D77"/>
                </a:solidFill>
                <a:latin typeface="Times New Roman"/>
                <a:ea typeface="Times New Roman"/>
                <a:cs typeface="Times New Roman"/>
              </a:defRPr>
            </a:lvl2pPr>
            <a:lvl3pPr>
              <a:defRPr sz="2100">
                <a:solidFill>
                  <a:srgbClr val="167D77"/>
                </a:solidFill>
                <a:latin typeface="Times New Roman"/>
                <a:ea typeface="Times New Roman"/>
                <a:cs typeface="Times New Roman"/>
              </a:defRPr>
            </a:lvl3pPr>
            <a:lvl4pPr>
              <a:defRPr sz="2100">
                <a:solidFill>
                  <a:srgbClr val="167D77"/>
                </a:solidFill>
                <a:latin typeface="Times New Roman"/>
                <a:ea typeface="Times New Roman"/>
                <a:cs typeface="Times New Roman"/>
              </a:defRPr>
            </a:lvl4pPr>
            <a:lvl5pPr>
              <a:defRPr sz="2100">
                <a:solidFill>
                  <a:srgbClr val="167D77"/>
                </a:solidFill>
                <a:latin typeface="Times New Roman"/>
                <a:ea typeface="Times New Roman"/>
                <a:cs typeface="Times New Roman"/>
              </a:defRPr>
            </a:lvl5pPr>
            <a:lvl6pPr>
              <a:defRPr sz="2100">
                <a:solidFill>
                  <a:srgbClr val="167D77"/>
                </a:solidFill>
                <a:latin typeface="Times New Roman"/>
                <a:ea typeface="Times New Roman"/>
                <a:cs typeface="Times New Roman"/>
              </a:defRPr>
            </a:lvl6pPr>
            <a:lvl7pPr>
              <a:defRPr sz="2100">
                <a:solidFill>
                  <a:srgbClr val="167D77"/>
                </a:solidFill>
                <a:latin typeface="Times New Roman"/>
                <a:ea typeface="Times New Roman"/>
                <a:cs typeface="Times New Roman"/>
              </a:defRPr>
            </a:lvl7pPr>
            <a:lvl8pPr>
              <a:defRPr sz="2100">
                <a:solidFill>
                  <a:srgbClr val="167D77"/>
                </a:solidFill>
                <a:latin typeface="Times New Roman"/>
                <a:ea typeface="Times New Roman"/>
                <a:cs typeface="Times New Roman"/>
              </a:defRPr>
            </a:lvl8pPr>
            <a:lvl9pPr>
              <a:defRPr sz="2100">
                <a:solidFill>
                  <a:srgbClr val="167D77"/>
                </a:solidFill>
                <a:latin typeface="Times New Roman"/>
                <a:ea typeface="Times New Roman"/>
                <a:cs typeface="Times New Roman"/>
              </a:defRPr>
            </a:lvl9pPr>
          </a:lstStyle>
          <a:p xmlns:a="http://schemas.openxmlformats.org/drawingml/2006/main">
            <a:pPr>
              <a:defRPr sz="2100">
                <a:solidFill>
                  <a:srgbClr val="167D77"/>
                </a:solidFill>
                <a:latin typeface="Times New Roman"/>
                <a:ea typeface="Times New Roman"/>
                <a:cs typeface="Times New Roman"/>
              </a:defRPr>
            </a:pPr>
            <a:r>
              <a:rPr sz="2100">
                <a:solidFill>
                  <a:srgbClr val="167D77"/>
                </a:solidFill>
                <a:latin typeface="Times New Roman"/>
                <a:ea typeface="Times New Roman"/>
                <a:cs typeface="Times New Roman"/>
              </a:rPr>
              <a:t>Concat gain over original representations: +0.092 [0.066, 0.120]</a:t>
            </a:r>
          </a:p>
        </p:txBody>
      </p:sp>
      <p:sp>
        <p:nvSpPr>
          <p:cNvPr id="16" name="">
            <a:extLst xmlns:a="http://schemas.openxmlformats.org/drawingml/2006/main">
              <a:ext uri="{FF2B5EF4-FFF2-40B4-BE49-F238E27FC236}">
                <a16:creationId xmlns:a16="http://schemas.microsoft.com/office/drawing/2014/main" id="{708D8523-4169-4064-8BD0-8ED82379F558}"/>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One fixed-split probe; train/test overlap remains. Gene and protein are encoded separately. The result does not isolate joint pretraining as the cause.</a:t>
            </a:r>
          </a:p>
        </p:txBody>
      </p:sp>
    </p:spTree>
    <p:extLst>
      <p:ext uri="{BB962C8B-B14F-4D97-AF65-F5344CB8AC3E}">
        <p14:creationId xmlns:p14="http://schemas.microsoft.com/office/powerpoint/2010/main" val="3715030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E09A71BC-1A68-4331-BFD4-ADD565DDFF72}"/>
              </a:ext>
            </a:extLst>
          </p:cNvPr>
          <p:cNvCxnSpPr>
            <a:stCxn xmlns:a="http://schemas.openxmlformats.org/drawingml/2006/main" id="6" idx="2"/>
            <a:endCxn xmlns:a="http://schemas.openxmlformats.org/drawingml/2006/main" id="9" idx="0"/>
          </p:cNvCxnSpPr>
          <p:nvPr/>
        </p:nvCxnSpPr>
        <p:spPr>
          <a:xfrm xmlns:a="http://schemas.openxmlformats.org/drawingml/2006/main">
            <a:off x="2952750" y="3381375"/>
            <a:ext cx="1976438" cy="809625"/>
          </a:xfrm>
          <a:prstGeom xmlns:a="http://schemas.openxmlformats.org/drawingml/2006/main" prst="bentConnector4">
            <a:avLst>
              <a:gd name="adj1" fmla="val 0"/>
              <a:gd name="adj2" fmla="val 50000"/>
            </a:avLst>
          </a:prstGeom>
          <a:ln xmlns:a="http://schemas.openxmlformats.org/drawingml/2006/main" w="21908">
            <a:solidFill>
              <a:srgbClr val="52636B"/>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95F7F949-AF6F-49D3-85BB-BF8E2CCB5DAE}"/>
              </a:ext>
            </a:extLst>
          </p:cNvPr>
          <p:cNvCxnSpPr>
            <a:stCxn xmlns:a="http://schemas.openxmlformats.org/drawingml/2006/main" id="6" idx="2"/>
            <a:endCxn xmlns:a="http://schemas.openxmlformats.org/drawingml/2006/main" id="8" idx="0"/>
          </p:cNvCxnSpPr>
          <p:nvPr/>
        </p:nvCxnSpPr>
        <p:spPr>
          <a:xfrm xmlns:a="http://schemas.openxmlformats.org/drawingml/2006/main">
            <a:off x="2952750" y="3381375"/>
            <a:ext cx="119063" cy="809625"/>
          </a:xfrm>
          <a:prstGeom xmlns:a="http://schemas.openxmlformats.org/drawingml/2006/main" prst="bentConnector4">
            <a:avLst>
              <a:gd name="adj1" fmla="val 0"/>
              <a:gd name="adj2" fmla="val 50000"/>
            </a:avLst>
          </a:prstGeom>
          <a:ln xmlns:a="http://schemas.openxmlformats.org/drawingml/2006/main" w="21908">
            <a:solidFill>
              <a:srgbClr val="52636B"/>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530E282C-B836-4812-AD00-9C2405181D07}"/>
              </a:ext>
            </a:extLst>
          </p:cNvPr>
          <p:cNvCxnSpPr>
            <a:stCxn xmlns:a="http://schemas.openxmlformats.org/drawingml/2006/main" id="6" idx="2"/>
            <a:endCxn xmlns:a="http://schemas.openxmlformats.org/drawingml/2006/main" id="7" idx="0"/>
          </p:cNvCxnSpPr>
          <p:nvPr/>
        </p:nvCxnSpPr>
        <p:spPr>
          <a:xfrm xmlns:a="http://schemas.openxmlformats.org/drawingml/2006/main" flipH="1">
            <a:off x="1214438" y="3381375"/>
            <a:ext cx="1738313" cy="809625"/>
          </a:xfrm>
          <a:prstGeom xmlns:a="http://schemas.openxmlformats.org/drawingml/2006/main" prst="bentConnector4">
            <a:avLst>
              <a:gd name="adj1" fmla="val 0"/>
              <a:gd name="adj2" fmla="val 50000"/>
            </a:avLst>
          </a:prstGeom>
          <a:ln xmlns:a="http://schemas.openxmlformats.org/drawingml/2006/main" w="21908">
            <a:solidFill>
              <a:srgbClr val="52636B"/>
            </a:solidFill>
            <a:prstDash val="solid"/>
            <a:tailEnd type="triangle" w="med" len="med"/>
          </a:ln>
        </p:spPr>
      </p:cxnSp>
      <p:sp>
        <p:nvSpPr>
          <p:cNvPr id="21" name="">
            <a:extLst xmlns:a="http://schemas.openxmlformats.org/drawingml/2006/main">
              <a:ext uri="{FF2B5EF4-FFF2-40B4-BE49-F238E27FC236}">
                <a16:creationId xmlns:a16="http://schemas.microsoft.com/office/drawing/2014/main" id="{54F7D86A-6406-4D4D-9BA9-76C9EF1AAACF}"/>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79B660-AD1C-4052-AD0A-381B194385C4}"/>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More encoders and more sequence context are different changes</a:t>
            </a:r>
          </a:p>
        </p:txBody>
      </p:sp>
      <p:sp>
        <p:nvSpPr>
          <p:cNvPr id="3" name="">
            <a:extLst xmlns:a="http://schemas.openxmlformats.org/drawingml/2006/main">
              <a:ext uri="{FF2B5EF4-FFF2-40B4-BE49-F238E27FC236}">
                <a16:creationId xmlns:a16="http://schemas.microsoft.com/office/drawing/2014/main" id="{0CD0995B-93D7-4320-A969-E4A1246821AA}"/>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The next experiments ask what happens when inputs include information outside the coding sequence.</a:t>
            </a:r>
          </a:p>
        </p:txBody>
      </p:sp>
      <p:sp>
        <p:nvSpPr>
          <p:cNvPr id="4" name="">
            <a:extLst xmlns:a="http://schemas.openxmlformats.org/drawingml/2006/main">
              <a:ext uri="{FF2B5EF4-FFF2-40B4-BE49-F238E27FC236}">
                <a16:creationId xmlns:a16="http://schemas.microsoft.com/office/drawing/2014/main" id="{9292BA20-4407-48E8-90CC-7EA14DFA79E9}"/>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12</a:t>
            </a:r>
          </a:p>
        </p:txBody>
      </p:sp>
      <p:sp>
        <p:nvSpPr>
          <p:cNvPr id="5" name="">
            <a:extLst xmlns:a="http://schemas.openxmlformats.org/drawingml/2006/main">
              <a:ext uri="{FF2B5EF4-FFF2-40B4-BE49-F238E27FC236}">
                <a16:creationId xmlns:a16="http://schemas.microsoft.com/office/drawing/2014/main" id="{EC158744-DFC7-4629-93C7-BC9996AA8453}"/>
              </a:ext>
            </a:extLst>
          </p:cNvPr>
          <p:cNvSpPr>
            <a:spLocks xmlns:a="http://schemas.openxmlformats.org/drawingml/2006/main" noGrp="1"/>
          </p:cNvSpPr>
          <p:nvPr/>
        </p:nvSpPr>
        <p:spPr>
          <a:xfrm xmlns:a="http://schemas.openxmlformats.org/drawingml/2006/main">
            <a:off x="428625" y="20478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324B"/>
                </a:solidFill>
                <a:latin typeface="Times New Roman"/>
                <a:ea typeface="Times New Roman"/>
                <a:cs typeface="Times New Roman"/>
              </a:defRPr>
            </a:defPPr>
            <a:lvl1pPr>
              <a:defRPr sz="2175" b="1">
                <a:solidFill>
                  <a:srgbClr val="14324B"/>
                </a:solidFill>
                <a:latin typeface="Times New Roman"/>
                <a:ea typeface="Times New Roman"/>
                <a:cs typeface="Times New Roman"/>
              </a:defRPr>
            </a:lvl1pPr>
            <a:lvl2pPr>
              <a:defRPr sz="2175" b="1">
                <a:solidFill>
                  <a:srgbClr val="14324B"/>
                </a:solidFill>
                <a:latin typeface="Times New Roman"/>
                <a:ea typeface="Times New Roman"/>
                <a:cs typeface="Times New Roman"/>
              </a:defRPr>
            </a:lvl2pPr>
            <a:lvl3pPr>
              <a:defRPr sz="2175" b="1">
                <a:solidFill>
                  <a:srgbClr val="14324B"/>
                </a:solidFill>
                <a:latin typeface="Times New Roman"/>
                <a:ea typeface="Times New Roman"/>
                <a:cs typeface="Times New Roman"/>
              </a:defRPr>
            </a:lvl3pPr>
            <a:lvl4pPr>
              <a:defRPr sz="2175" b="1">
                <a:solidFill>
                  <a:srgbClr val="14324B"/>
                </a:solidFill>
                <a:latin typeface="Times New Roman"/>
                <a:ea typeface="Times New Roman"/>
                <a:cs typeface="Times New Roman"/>
              </a:defRPr>
            </a:lvl4pPr>
            <a:lvl5pPr>
              <a:defRPr sz="2175" b="1">
                <a:solidFill>
                  <a:srgbClr val="14324B"/>
                </a:solidFill>
                <a:latin typeface="Times New Roman"/>
                <a:ea typeface="Times New Roman"/>
                <a:cs typeface="Times New Roman"/>
              </a:defRPr>
            </a:lvl5pPr>
            <a:lvl6pPr>
              <a:defRPr sz="2175" b="1">
                <a:solidFill>
                  <a:srgbClr val="14324B"/>
                </a:solidFill>
                <a:latin typeface="Times New Roman"/>
                <a:ea typeface="Times New Roman"/>
                <a:cs typeface="Times New Roman"/>
              </a:defRPr>
            </a:lvl6pPr>
            <a:lvl7pPr>
              <a:defRPr sz="2175" b="1">
                <a:solidFill>
                  <a:srgbClr val="14324B"/>
                </a:solidFill>
                <a:latin typeface="Times New Roman"/>
                <a:ea typeface="Times New Roman"/>
                <a:cs typeface="Times New Roman"/>
              </a:defRPr>
            </a:lvl7pPr>
            <a:lvl8pPr>
              <a:defRPr sz="2175" b="1">
                <a:solidFill>
                  <a:srgbClr val="14324B"/>
                </a:solidFill>
                <a:latin typeface="Times New Roman"/>
                <a:ea typeface="Times New Roman"/>
                <a:cs typeface="Times New Roman"/>
              </a:defRPr>
            </a:lvl8pPr>
            <a:lvl9pPr>
              <a:defRPr sz="2175" b="1">
                <a:solidFill>
                  <a:srgbClr val="14324B"/>
                </a:solidFill>
                <a:latin typeface="Times New Roman"/>
                <a:ea typeface="Times New Roman"/>
                <a:cs typeface="Times New Roman"/>
              </a:defRPr>
            </a:lvl9pPr>
          </a:lstStyle>
          <a:p xmlns:a="http://schemas.openxmlformats.org/drawingml/2006/main">
            <a:pPr>
              <a:defRPr sz="2175" b="1">
                <a:solidFill>
                  <a:srgbClr val="14324B"/>
                </a:solidFill>
                <a:latin typeface="Times New Roman"/>
                <a:ea typeface="Times New Roman"/>
                <a:cs typeface="Times New Roman"/>
              </a:defRPr>
            </a:pPr>
            <a:r>
              <a:rPr sz="2175" b="1">
                <a:solidFill>
                  <a:srgbClr val="14324B"/>
                </a:solidFill>
                <a:latin typeface="Times New Roman"/>
                <a:ea typeface="Times New Roman"/>
                <a:cs typeface="Times New Roman"/>
              </a:rPr>
              <a:t>Earlier coding-sequence benchmarks</a:t>
            </a:r>
          </a:p>
        </p:txBody>
      </p:sp>
      <p:sp>
        <p:nvSpPr>
          <p:cNvPr id="6" name="">
            <a:extLst xmlns:a="http://schemas.openxmlformats.org/drawingml/2006/main">
              <a:ext uri="{FF2B5EF4-FFF2-40B4-BE49-F238E27FC236}">
                <a16:creationId xmlns:a16="http://schemas.microsoft.com/office/drawing/2014/main" id="{67C038AD-9694-4CE5-AAE3-A587B7158FA4}"/>
              </a:ext>
            </a:extLst>
          </p:cNvPr>
          <p:cNvSpPr>
            <a:spLocks xmlns:a="http://schemas.openxmlformats.org/drawingml/2006/main" noGrp="1"/>
          </p:cNvSpPr>
          <p:nvPr/>
        </p:nvSpPr>
        <p:spPr>
          <a:xfrm xmlns:a="http://schemas.openxmlformats.org/drawingml/2006/main">
            <a:off x="571500" y="2762250"/>
            <a:ext cx="4762500" cy="619125"/>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175" b="1">
                <a:solidFill>
                  <a:srgbClr val="167D77"/>
                </a:solidFill>
                <a:latin typeface="Times New Roman"/>
                <a:ea typeface="Times New Roman"/>
                <a:cs typeface="Times New Roman"/>
              </a:defRPr>
            </a:defPPr>
            <a:lvl1pPr algn="ctr">
              <a:defRPr sz="2175" b="1">
                <a:solidFill>
                  <a:srgbClr val="167D77"/>
                </a:solidFill>
                <a:latin typeface="Times New Roman"/>
                <a:ea typeface="Times New Roman"/>
                <a:cs typeface="Times New Roman"/>
              </a:defRPr>
            </a:lvl1pPr>
            <a:lvl2pPr algn="ctr">
              <a:defRPr sz="2175" b="1">
                <a:solidFill>
                  <a:srgbClr val="167D77"/>
                </a:solidFill>
                <a:latin typeface="Times New Roman"/>
                <a:ea typeface="Times New Roman"/>
                <a:cs typeface="Times New Roman"/>
              </a:defRPr>
            </a:lvl2pPr>
            <a:lvl3pPr algn="ctr">
              <a:defRPr sz="2175" b="1">
                <a:solidFill>
                  <a:srgbClr val="167D77"/>
                </a:solidFill>
                <a:latin typeface="Times New Roman"/>
                <a:ea typeface="Times New Roman"/>
                <a:cs typeface="Times New Roman"/>
              </a:defRPr>
            </a:lvl3pPr>
            <a:lvl4pPr algn="ctr">
              <a:defRPr sz="2175" b="1">
                <a:solidFill>
                  <a:srgbClr val="167D77"/>
                </a:solidFill>
                <a:latin typeface="Times New Roman"/>
                <a:ea typeface="Times New Roman"/>
                <a:cs typeface="Times New Roman"/>
              </a:defRPr>
            </a:lvl4pPr>
            <a:lvl5pPr algn="ctr">
              <a:defRPr sz="2175" b="1">
                <a:solidFill>
                  <a:srgbClr val="167D77"/>
                </a:solidFill>
                <a:latin typeface="Times New Roman"/>
                <a:ea typeface="Times New Roman"/>
                <a:cs typeface="Times New Roman"/>
              </a:defRPr>
            </a:lvl5pPr>
            <a:lvl6pPr algn="ctr">
              <a:defRPr sz="2175" b="1">
                <a:solidFill>
                  <a:srgbClr val="167D77"/>
                </a:solidFill>
                <a:latin typeface="Times New Roman"/>
                <a:ea typeface="Times New Roman"/>
                <a:cs typeface="Times New Roman"/>
              </a:defRPr>
            </a:lvl6pPr>
            <a:lvl7pPr algn="ctr">
              <a:defRPr sz="2175" b="1">
                <a:solidFill>
                  <a:srgbClr val="167D77"/>
                </a:solidFill>
                <a:latin typeface="Times New Roman"/>
                <a:ea typeface="Times New Roman"/>
                <a:cs typeface="Times New Roman"/>
              </a:defRPr>
            </a:lvl7pPr>
            <a:lvl8pPr algn="ctr">
              <a:defRPr sz="2175" b="1">
                <a:solidFill>
                  <a:srgbClr val="167D77"/>
                </a:solidFill>
                <a:latin typeface="Times New Roman"/>
                <a:ea typeface="Times New Roman"/>
                <a:cs typeface="Times New Roman"/>
              </a:defRPr>
            </a:lvl8pPr>
            <a:lvl9pPr algn="ctr">
              <a:defRPr sz="2175" b="1">
                <a:solidFill>
                  <a:srgbClr val="167D77"/>
                </a:solidFill>
                <a:latin typeface="Times New Roman"/>
                <a:ea typeface="Times New Roman"/>
                <a:cs typeface="Times New Roman"/>
              </a:defRPr>
            </a:lvl9pPr>
          </a:lstStyle>
          <a:p xmlns:a="http://schemas.openxmlformats.org/drawingml/2006/main">
            <a:pPr algn="ctr">
              <a:defRPr sz="2175" b="1">
                <a:solidFill>
                  <a:srgbClr val="167D77"/>
                </a:solidFill>
                <a:latin typeface="Times New Roman"/>
                <a:ea typeface="Times New Roman"/>
                <a:cs typeface="Times New Roman"/>
              </a:defRPr>
            </a:pPr>
            <a:r>
              <a:rPr sz="2175" b="1">
                <a:solidFill>
                  <a:srgbClr val="167D77"/>
                </a:solidFill>
                <a:latin typeface="Times New Roman"/>
                <a:ea typeface="Times New Roman"/>
                <a:cs typeface="Times New Roman"/>
              </a:rPr>
              <a:t>Supplied coding sequence</a:t>
            </a:r>
          </a:p>
        </p:txBody>
      </p:sp>
      <p:sp>
        <p:nvSpPr>
          <p:cNvPr id="7" name="">
            <a:extLst xmlns:a="http://schemas.openxmlformats.org/drawingml/2006/main">
              <a:ext uri="{FF2B5EF4-FFF2-40B4-BE49-F238E27FC236}">
                <a16:creationId xmlns:a16="http://schemas.microsoft.com/office/drawing/2014/main" id="{3C4F2D67-9B65-4926-A61A-1FBF95661534}"/>
              </a:ext>
            </a:extLst>
          </p:cNvPr>
          <p:cNvSpPr>
            <a:spLocks xmlns:a="http://schemas.openxmlformats.org/drawingml/2006/main" noGrp="1"/>
          </p:cNvSpPr>
          <p:nvPr/>
        </p:nvSpPr>
        <p:spPr>
          <a:xfrm xmlns:a="http://schemas.openxmlformats.org/drawingml/2006/main">
            <a:off x="428625" y="4191000"/>
            <a:ext cx="1571625" cy="666750"/>
          </a:xfrm>
          <a:prstGeom xmlns:a="http://schemas.openxmlformats.org/drawingml/2006/main" prst="rect">
            <a:avLst/>
          </a:prstGeom>
          <a:solidFill xmlns:a="http://schemas.openxmlformats.org/drawingml/2006/main">
            <a:srgbClr val="EAF1F8"/>
          </a:solidFill>
          <a:ln xmlns:a="http://schemas.openxmlformats.org/drawingml/2006/main" w="14288">
            <a:solidFill>
              <a:srgbClr val="326DA8"/>
            </a:solidFill>
          </a:ln>
        </p:spPr>
        <p:txBody>
          <a:bodyPr xmlns:a="http://schemas.openxmlformats.org/drawingml/2006/main" wrap="square" lIns="85725" tIns="85725" rIns="85725" bIns="85725" anchor="ctr">
            <a:noAutofit/>
          </a:bodyPr>
          <a:lstStyle xmlns:a="http://schemas.openxmlformats.org/drawingml/2006/main">
            <a:defPPr algn="ctr">
              <a:defRPr sz="1875" b="1">
                <a:solidFill>
                  <a:srgbClr val="326DA8"/>
                </a:solidFill>
                <a:latin typeface="Times New Roman"/>
                <a:ea typeface="Times New Roman"/>
                <a:cs typeface="Times New Roman"/>
              </a:defRPr>
            </a:defPPr>
            <a:lvl1pPr algn="ctr">
              <a:defRPr sz="1875" b="1">
                <a:solidFill>
                  <a:srgbClr val="326DA8"/>
                </a:solidFill>
                <a:latin typeface="Times New Roman"/>
                <a:ea typeface="Times New Roman"/>
                <a:cs typeface="Times New Roman"/>
              </a:defRPr>
            </a:lvl1pPr>
            <a:lvl2pPr algn="ctr">
              <a:defRPr sz="1875" b="1">
                <a:solidFill>
                  <a:srgbClr val="326DA8"/>
                </a:solidFill>
                <a:latin typeface="Times New Roman"/>
                <a:ea typeface="Times New Roman"/>
                <a:cs typeface="Times New Roman"/>
              </a:defRPr>
            </a:lvl2pPr>
            <a:lvl3pPr algn="ctr">
              <a:defRPr sz="1875" b="1">
                <a:solidFill>
                  <a:srgbClr val="326DA8"/>
                </a:solidFill>
                <a:latin typeface="Times New Roman"/>
                <a:ea typeface="Times New Roman"/>
                <a:cs typeface="Times New Roman"/>
              </a:defRPr>
            </a:lvl3pPr>
            <a:lvl4pPr algn="ctr">
              <a:defRPr sz="1875" b="1">
                <a:solidFill>
                  <a:srgbClr val="326DA8"/>
                </a:solidFill>
                <a:latin typeface="Times New Roman"/>
                <a:ea typeface="Times New Roman"/>
                <a:cs typeface="Times New Roman"/>
              </a:defRPr>
            </a:lvl4pPr>
            <a:lvl5pPr algn="ctr">
              <a:defRPr sz="1875" b="1">
                <a:solidFill>
                  <a:srgbClr val="326DA8"/>
                </a:solidFill>
                <a:latin typeface="Times New Roman"/>
                <a:ea typeface="Times New Roman"/>
                <a:cs typeface="Times New Roman"/>
              </a:defRPr>
            </a:lvl5pPr>
            <a:lvl6pPr algn="ctr">
              <a:defRPr sz="1875" b="1">
                <a:solidFill>
                  <a:srgbClr val="326DA8"/>
                </a:solidFill>
                <a:latin typeface="Times New Roman"/>
                <a:ea typeface="Times New Roman"/>
                <a:cs typeface="Times New Roman"/>
              </a:defRPr>
            </a:lvl6pPr>
            <a:lvl7pPr algn="ctr">
              <a:defRPr sz="1875" b="1">
                <a:solidFill>
                  <a:srgbClr val="326DA8"/>
                </a:solidFill>
                <a:latin typeface="Times New Roman"/>
                <a:ea typeface="Times New Roman"/>
                <a:cs typeface="Times New Roman"/>
              </a:defRPr>
            </a:lvl7pPr>
            <a:lvl8pPr algn="ctr">
              <a:defRPr sz="1875" b="1">
                <a:solidFill>
                  <a:srgbClr val="326DA8"/>
                </a:solidFill>
                <a:latin typeface="Times New Roman"/>
                <a:ea typeface="Times New Roman"/>
                <a:cs typeface="Times New Roman"/>
              </a:defRPr>
            </a:lvl8pPr>
            <a:lvl9pPr algn="ctr">
              <a:defRPr sz="1875" b="1">
                <a:solidFill>
                  <a:srgbClr val="326DA8"/>
                </a:solidFill>
                <a:latin typeface="Times New Roman"/>
                <a:ea typeface="Times New Roman"/>
                <a:cs typeface="Times New Roman"/>
              </a:defRPr>
            </a:lvl9pPr>
          </a:lstStyle>
          <a:p xmlns:a="http://schemas.openxmlformats.org/drawingml/2006/main">
            <a:pPr algn="ctr">
              <a:defRPr sz="1875" b="1">
                <a:solidFill>
                  <a:srgbClr val="326DA8"/>
                </a:solidFill>
                <a:latin typeface="Times New Roman"/>
                <a:ea typeface="Times New Roman"/>
                <a:cs typeface="Times New Roman"/>
              </a:defRPr>
            </a:pPr>
            <a:r>
              <a:rPr sz="1875" b="1">
                <a:solidFill>
                  <a:srgbClr val="326DA8"/>
                </a:solidFill>
                <a:latin typeface="Times New Roman"/>
                <a:ea typeface="Times New Roman"/>
                <a:cs typeface="Times New Roman"/>
              </a:rPr>
              <a:t>DNA letters</a:t>
            </a:r>
          </a:p>
        </p:txBody>
      </p:sp>
      <p:sp>
        <p:nvSpPr>
          <p:cNvPr id="8" name="">
            <a:extLst xmlns:a="http://schemas.openxmlformats.org/drawingml/2006/main">
              <a:ext uri="{FF2B5EF4-FFF2-40B4-BE49-F238E27FC236}">
                <a16:creationId xmlns:a16="http://schemas.microsoft.com/office/drawing/2014/main" id="{3FC7F69E-5943-4173-9BE3-89F999F480C8}"/>
              </a:ext>
            </a:extLst>
          </p:cNvPr>
          <p:cNvSpPr>
            <a:spLocks xmlns:a="http://schemas.openxmlformats.org/drawingml/2006/main" noGrp="1"/>
          </p:cNvSpPr>
          <p:nvPr/>
        </p:nvSpPr>
        <p:spPr>
          <a:xfrm xmlns:a="http://schemas.openxmlformats.org/drawingml/2006/main">
            <a:off x="2286000" y="4191000"/>
            <a:ext cx="1571625" cy="66675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1875" b="1">
                <a:solidFill>
                  <a:srgbClr val="167D77"/>
                </a:solidFill>
                <a:latin typeface="Times New Roman"/>
                <a:ea typeface="Times New Roman"/>
                <a:cs typeface="Times New Roman"/>
              </a:defRPr>
            </a:defPPr>
            <a:lvl1pPr algn="ctr">
              <a:defRPr sz="1875" b="1">
                <a:solidFill>
                  <a:srgbClr val="167D77"/>
                </a:solidFill>
                <a:latin typeface="Times New Roman"/>
                <a:ea typeface="Times New Roman"/>
                <a:cs typeface="Times New Roman"/>
              </a:defRPr>
            </a:lvl1pPr>
            <a:lvl2pPr algn="ctr">
              <a:defRPr sz="1875" b="1">
                <a:solidFill>
                  <a:srgbClr val="167D77"/>
                </a:solidFill>
                <a:latin typeface="Times New Roman"/>
                <a:ea typeface="Times New Roman"/>
                <a:cs typeface="Times New Roman"/>
              </a:defRPr>
            </a:lvl2pPr>
            <a:lvl3pPr algn="ctr">
              <a:defRPr sz="1875" b="1">
                <a:solidFill>
                  <a:srgbClr val="167D77"/>
                </a:solidFill>
                <a:latin typeface="Times New Roman"/>
                <a:ea typeface="Times New Roman"/>
                <a:cs typeface="Times New Roman"/>
              </a:defRPr>
            </a:lvl3pPr>
            <a:lvl4pPr algn="ctr">
              <a:defRPr sz="1875" b="1">
                <a:solidFill>
                  <a:srgbClr val="167D77"/>
                </a:solidFill>
                <a:latin typeface="Times New Roman"/>
                <a:ea typeface="Times New Roman"/>
                <a:cs typeface="Times New Roman"/>
              </a:defRPr>
            </a:lvl4pPr>
            <a:lvl5pPr algn="ctr">
              <a:defRPr sz="1875" b="1">
                <a:solidFill>
                  <a:srgbClr val="167D77"/>
                </a:solidFill>
                <a:latin typeface="Times New Roman"/>
                <a:ea typeface="Times New Roman"/>
                <a:cs typeface="Times New Roman"/>
              </a:defRPr>
            </a:lvl5pPr>
            <a:lvl6pPr algn="ctr">
              <a:defRPr sz="1875" b="1">
                <a:solidFill>
                  <a:srgbClr val="167D77"/>
                </a:solidFill>
                <a:latin typeface="Times New Roman"/>
                <a:ea typeface="Times New Roman"/>
                <a:cs typeface="Times New Roman"/>
              </a:defRPr>
            </a:lvl6pPr>
            <a:lvl7pPr algn="ctr">
              <a:defRPr sz="1875" b="1">
                <a:solidFill>
                  <a:srgbClr val="167D77"/>
                </a:solidFill>
                <a:latin typeface="Times New Roman"/>
                <a:ea typeface="Times New Roman"/>
                <a:cs typeface="Times New Roman"/>
              </a:defRPr>
            </a:lvl7pPr>
            <a:lvl8pPr algn="ctr">
              <a:defRPr sz="1875" b="1">
                <a:solidFill>
                  <a:srgbClr val="167D77"/>
                </a:solidFill>
                <a:latin typeface="Times New Roman"/>
                <a:ea typeface="Times New Roman"/>
                <a:cs typeface="Times New Roman"/>
              </a:defRPr>
            </a:lvl8pPr>
            <a:lvl9pPr algn="ctr">
              <a:defRPr sz="1875" b="1">
                <a:solidFill>
                  <a:srgbClr val="167D77"/>
                </a:solidFill>
                <a:latin typeface="Times New Roman"/>
                <a:ea typeface="Times New Roman"/>
                <a:cs typeface="Times New Roman"/>
              </a:defRPr>
            </a:lvl9pPr>
          </a:lstStyle>
          <a:p xmlns:a="http://schemas.openxmlformats.org/drawingml/2006/main">
            <a:pPr algn="ctr">
              <a:defRPr sz="1875" b="1">
                <a:solidFill>
                  <a:srgbClr val="167D77"/>
                </a:solidFill>
                <a:latin typeface="Times New Roman"/>
                <a:ea typeface="Times New Roman"/>
                <a:cs typeface="Times New Roman"/>
              </a:defRPr>
            </a:pPr>
            <a:r>
              <a:rPr sz="1875" b="1">
                <a:solidFill>
                  <a:srgbClr val="167D77"/>
                </a:solidFill>
                <a:latin typeface="Times New Roman"/>
                <a:ea typeface="Times New Roman"/>
                <a:cs typeface="Times New Roman"/>
              </a:rPr>
              <a:t>RNA letters</a:t>
            </a:r>
          </a:p>
        </p:txBody>
      </p:sp>
      <p:sp>
        <p:nvSpPr>
          <p:cNvPr id="9" name="">
            <a:extLst xmlns:a="http://schemas.openxmlformats.org/drawingml/2006/main">
              <a:ext uri="{FF2B5EF4-FFF2-40B4-BE49-F238E27FC236}">
                <a16:creationId xmlns:a16="http://schemas.microsoft.com/office/drawing/2014/main" id="{B027FAA6-72FE-409A-8B4D-B79DDA521D5F}"/>
              </a:ext>
            </a:extLst>
          </p:cNvPr>
          <p:cNvSpPr>
            <a:spLocks xmlns:a="http://schemas.openxmlformats.org/drawingml/2006/main" noGrp="1"/>
          </p:cNvSpPr>
          <p:nvPr/>
        </p:nvSpPr>
        <p:spPr>
          <a:xfrm xmlns:a="http://schemas.openxmlformats.org/drawingml/2006/main">
            <a:off x="4143375" y="4191000"/>
            <a:ext cx="1571625" cy="666750"/>
          </a:xfrm>
          <a:prstGeom xmlns:a="http://schemas.openxmlformats.org/drawingml/2006/main" prst="rect">
            <a:avLst/>
          </a:prstGeom>
          <a:solidFill xmlns:a="http://schemas.openxmlformats.org/drawingml/2006/main">
            <a:srgbClr val="F0EAF5"/>
          </a:solidFill>
          <a:ln xmlns:a="http://schemas.openxmlformats.org/drawingml/2006/main" w="14288">
            <a:solidFill>
              <a:srgbClr val="815897"/>
            </a:solidFill>
          </a:ln>
        </p:spPr>
        <p:txBody>
          <a:bodyPr xmlns:a="http://schemas.openxmlformats.org/drawingml/2006/main" wrap="square" lIns="85725" tIns="85725" rIns="85725" bIns="85725" anchor="ctr">
            <a:noAutofit/>
          </a:bodyPr>
          <a:lstStyle xmlns:a="http://schemas.openxmlformats.org/drawingml/2006/main">
            <a:defPPr algn="ctr">
              <a:defRPr sz="1875" b="1">
                <a:solidFill>
                  <a:srgbClr val="815897"/>
                </a:solidFill>
                <a:latin typeface="Times New Roman"/>
                <a:ea typeface="Times New Roman"/>
                <a:cs typeface="Times New Roman"/>
              </a:defRPr>
            </a:defPPr>
            <a:lvl1pPr algn="ctr">
              <a:defRPr sz="1875" b="1">
                <a:solidFill>
                  <a:srgbClr val="815897"/>
                </a:solidFill>
                <a:latin typeface="Times New Roman"/>
                <a:ea typeface="Times New Roman"/>
                <a:cs typeface="Times New Roman"/>
              </a:defRPr>
            </a:lvl1pPr>
            <a:lvl2pPr algn="ctr">
              <a:defRPr sz="1875" b="1">
                <a:solidFill>
                  <a:srgbClr val="815897"/>
                </a:solidFill>
                <a:latin typeface="Times New Roman"/>
                <a:ea typeface="Times New Roman"/>
                <a:cs typeface="Times New Roman"/>
              </a:defRPr>
            </a:lvl2pPr>
            <a:lvl3pPr algn="ctr">
              <a:defRPr sz="1875" b="1">
                <a:solidFill>
                  <a:srgbClr val="815897"/>
                </a:solidFill>
                <a:latin typeface="Times New Roman"/>
                <a:ea typeface="Times New Roman"/>
                <a:cs typeface="Times New Roman"/>
              </a:defRPr>
            </a:lvl3pPr>
            <a:lvl4pPr algn="ctr">
              <a:defRPr sz="1875" b="1">
                <a:solidFill>
                  <a:srgbClr val="815897"/>
                </a:solidFill>
                <a:latin typeface="Times New Roman"/>
                <a:ea typeface="Times New Roman"/>
                <a:cs typeface="Times New Roman"/>
              </a:defRPr>
            </a:lvl4pPr>
            <a:lvl5pPr algn="ctr">
              <a:defRPr sz="1875" b="1">
                <a:solidFill>
                  <a:srgbClr val="815897"/>
                </a:solidFill>
                <a:latin typeface="Times New Roman"/>
                <a:ea typeface="Times New Roman"/>
                <a:cs typeface="Times New Roman"/>
              </a:defRPr>
            </a:lvl5pPr>
            <a:lvl6pPr algn="ctr">
              <a:defRPr sz="1875" b="1">
                <a:solidFill>
                  <a:srgbClr val="815897"/>
                </a:solidFill>
                <a:latin typeface="Times New Roman"/>
                <a:ea typeface="Times New Roman"/>
                <a:cs typeface="Times New Roman"/>
              </a:defRPr>
            </a:lvl6pPr>
            <a:lvl7pPr algn="ctr">
              <a:defRPr sz="1875" b="1">
                <a:solidFill>
                  <a:srgbClr val="815897"/>
                </a:solidFill>
                <a:latin typeface="Times New Roman"/>
                <a:ea typeface="Times New Roman"/>
                <a:cs typeface="Times New Roman"/>
              </a:defRPr>
            </a:lvl7pPr>
            <a:lvl8pPr algn="ctr">
              <a:defRPr sz="1875" b="1">
                <a:solidFill>
                  <a:srgbClr val="815897"/>
                </a:solidFill>
                <a:latin typeface="Times New Roman"/>
                <a:ea typeface="Times New Roman"/>
                <a:cs typeface="Times New Roman"/>
              </a:defRPr>
            </a:lvl8pPr>
            <a:lvl9pPr algn="ctr">
              <a:defRPr sz="1875" b="1">
                <a:solidFill>
                  <a:srgbClr val="815897"/>
                </a:solidFill>
                <a:latin typeface="Times New Roman"/>
                <a:ea typeface="Times New Roman"/>
                <a:cs typeface="Times New Roman"/>
              </a:defRPr>
            </a:lvl9pPr>
          </a:lstStyle>
          <a:p xmlns:a="http://schemas.openxmlformats.org/drawingml/2006/main">
            <a:pPr algn="ctr">
              <a:defRPr sz="1875" b="1">
                <a:solidFill>
                  <a:srgbClr val="815897"/>
                </a:solidFill>
                <a:latin typeface="Times New Roman"/>
                <a:ea typeface="Times New Roman"/>
                <a:cs typeface="Times New Roman"/>
              </a:defRPr>
            </a:pPr>
            <a:r>
              <a:rPr sz="1875" b="1">
                <a:solidFill>
                  <a:srgbClr val="815897"/>
                </a:solidFill>
                <a:latin typeface="Times New Roman"/>
                <a:ea typeface="Times New Roman"/>
                <a:cs typeface="Times New Roman"/>
              </a:rPr>
              <a:t>Translation</a:t>
            </a:r>
          </a:p>
        </p:txBody>
      </p:sp>
      <p:sp>
        <p:nvSpPr>
          <p:cNvPr id="13" name="">
            <a:extLst xmlns:a="http://schemas.openxmlformats.org/drawingml/2006/main">
              <a:ext uri="{FF2B5EF4-FFF2-40B4-BE49-F238E27FC236}">
                <a16:creationId xmlns:a16="http://schemas.microsoft.com/office/drawing/2014/main" id="{A9CE0255-1B7E-43D8-866A-28F15F136211}"/>
              </a:ext>
            </a:extLst>
          </p:cNvPr>
          <p:cNvSpPr>
            <a:spLocks xmlns:a="http://schemas.openxmlformats.org/drawingml/2006/main" noGrp="1"/>
          </p:cNvSpPr>
          <p:nvPr/>
        </p:nvSpPr>
        <p:spPr>
          <a:xfrm xmlns:a="http://schemas.openxmlformats.org/drawingml/2006/main">
            <a:off x="476250" y="5238750"/>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7D77"/>
                </a:solidFill>
                <a:latin typeface="Times New Roman"/>
                <a:ea typeface="Times New Roman"/>
                <a:cs typeface="Times New Roman"/>
              </a:defRPr>
            </a:defPPr>
            <a:lvl1pPr>
              <a:defRPr sz="2175">
                <a:solidFill>
                  <a:srgbClr val="167D77"/>
                </a:solidFill>
                <a:latin typeface="Times New Roman"/>
                <a:ea typeface="Times New Roman"/>
                <a:cs typeface="Times New Roman"/>
              </a:defRPr>
            </a:lvl1pPr>
            <a:lvl2pPr>
              <a:defRPr sz="2175">
                <a:solidFill>
                  <a:srgbClr val="167D77"/>
                </a:solidFill>
                <a:latin typeface="Times New Roman"/>
                <a:ea typeface="Times New Roman"/>
                <a:cs typeface="Times New Roman"/>
              </a:defRPr>
            </a:lvl2pPr>
            <a:lvl3pPr>
              <a:defRPr sz="2175">
                <a:solidFill>
                  <a:srgbClr val="167D77"/>
                </a:solidFill>
                <a:latin typeface="Times New Roman"/>
                <a:ea typeface="Times New Roman"/>
                <a:cs typeface="Times New Roman"/>
              </a:defRPr>
            </a:lvl3pPr>
            <a:lvl4pPr>
              <a:defRPr sz="2175">
                <a:solidFill>
                  <a:srgbClr val="167D77"/>
                </a:solidFill>
                <a:latin typeface="Times New Roman"/>
                <a:ea typeface="Times New Roman"/>
                <a:cs typeface="Times New Roman"/>
              </a:defRPr>
            </a:lvl4pPr>
            <a:lvl5pPr>
              <a:defRPr sz="2175">
                <a:solidFill>
                  <a:srgbClr val="167D77"/>
                </a:solidFill>
                <a:latin typeface="Times New Roman"/>
                <a:ea typeface="Times New Roman"/>
                <a:cs typeface="Times New Roman"/>
              </a:defRPr>
            </a:lvl5pPr>
            <a:lvl6pPr>
              <a:defRPr sz="2175">
                <a:solidFill>
                  <a:srgbClr val="167D77"/>
                </a:solidFill>
                <a:latin typeface="Times New Roman"/>
                <a:ea typeface="Times New Roman"/>
                <a:cs typeface="Times New Roman"/>
              </a:defRPr>
            </a:lvl6pPr>
            <a:lvl7pPr>
              <a:defRPr sz="2175">
                <a:solidFill>
                  <a:srgbClr val="167D77"/>
                </a:solidFill>
                <a:latin typeface="Times New Roman"/>
                <a:ea typeface="Times New Roman"/>
                <a:cs typeface="Times New Roman"/>
              </a:defRPr>
            </a:lvl7pPr>
            <a:lvl8pPr>
              <a:defRPr sz="2175">
                <a:solidFill>
                  <a:srgbClr val="167D77"/>
                </a:solidFill>
                <a:latin typeface="Times New Roman"/>
                <a:ea typeface="Times New Roman"/>
                <a:cs typeface="Times New Roman"/>
              </a:defRPr>
            </a:lvl8pPr>
            <a:lvl9pPr>
              <a:defRPr sz="2175">
                <a:solidFill>
                  <a:srgbClr val="167D77"/>
                </a:solidFill>
                <a:latin typeface="Times New Roman"/>
                <a:ea typeface="Times New Roman"/>
                <a:cs typeface="Times New Roman"/>
              </a:defRPr>
            </a:lvl9pPr>
          </a:lstStyle>
          <a:p xmlns:a="http://schemas.openxmlformats.org/drawingml/2006/main">
            <a:pPr>
              <a:defRPr sz="2175">
                <a:solidFill>
                  <a:srgbClr val="167D77"/>
                </a:solidFill>
                <a:latin typeface="Times New Roman"/>
                <a:ea typeface="Times New Roman"/>
                <a:cs typeface="Times New Roman"/>
              </a:defRPr>
            </a:pPr>
            <a:r>
              <a:rPr sz="2175">
                <a:solidFill>
                  <a:srgbClr val="167D77"/>
                </a:solidFill>
                <a:latin typeface="Times New Roman"/>
                <a:ea typeface="Times New Roman"/>
                <a:cs typeface="Times New Roman"/>
              </a:rPr>
              <a:t>Several model views of the supplied sequence</a:t>
            </a:r>
          </a:p>
        </p:txBody>
      </p:sp>
      <p:cxnSp>
        <p:nvCxnSpPr>
          <p:cNvPr id="14" name="">
            <a:extLst xmlns:a="http://schemas.openxmlformats.org/drawingml/2006/main">
              <a:ext uri="{FF2B5EF4-FFF2-40B4-BE49-F238E27FC236}">
                <a16:creationId xmlns:a16="http://schemas.microsoft.com/office/drawing/2014/main" id="{18978886-2AD1-4393-BFAC-6246B17743D1}"/>
              </a:ext>
            </a:extLst>
          </p:cNvPr>
          <p:cNvCxnSpPr/>
          <p:nvPr/>
        </p:nvCxnSpPr>
        <p:spPr>
          <a:xfrm xmlns:a="http://schemas.openxmlformats.org/drawingml/2006/main">
            <a:off x="6048375" y="1952625"/>
            <a:ext cx="0" cy="3857625"/>
          </a:xfrm>
          <a:prstGeom xmlns:a="http://schemas.openxmlformats.org/drawingml/2006/main" prst="straightConnector1">
            <a:avLst/>
          </a:prstGeom>
          <a:ln xmlns:a="http://schemas.openxmlformats.org/drawingml/2006/main" w="11430">
            <a:solidFill>
              <a:srgbClr val="D7E0E5"/>
            </a:solidFill>
            <a:prstDash val="solid"/>
          </a:ln>
        </p:spPr>
      </p:cxnSp>
      <p:sp>
        <p:nvSpPr>
          <p:cNvPr id="15" name="">
            <a:extLst xmlns:a="http://schemas.openxmlformats.org/drawingml/2006/main">
              <a:ext uri="{FF2B5EF4-FFF2-40B4-BE49-F238E27FC236}">
                <a16:creationId xmlns:a16="http://schemas.microsoft.com/office/drawing/2014/main" id="{E6C72D2C-1CFE-446B-BDD5-A231883A529A}"/>
              </a:ext>
            </a:extLst>
          </p:cNvPr>
          <p:cNvSpPr>
            <a:spLocks xmlns:a="http://schemas.openxmlformats.org/drawingml/2006/main" noGrp="1"/>
          </p:cNvSpPr>
          <p:nvPr/>
        </p:nvSpPr>
        <p:spPr>
          <a:xfrm xmlns:a="http://schemas.openxmlformats.org/drawingml/2006/main">
            <a:off x="6667500" y="20478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324B"/>
                </a:solidFill>
                <a:latin typeface="Times New Roman"/>
                <a:ea typeface="Times New Roman"/>
                <a:cs typeface="Times New Roman"/>
              </a:defRPr>
            </a:defPPr>
            <a:lvl1pPr>
              <a:defRPr sz="2175" b="1">
                <a:solidFill>
                  <a:srgbClr val="14324B"/>
                </a:solidFill>
                <a:latin typeface="Times New Roman"/>
                <a:ea typeface="Times New Roman"/>
                <a:cs typeface="Times New Roman"/>
              </a:defRPr>
            </a:lvl1pPr>
            <a:lvl2pPr>
              <a:defRPr sz="2175" b="1">
                <a:solidFill>
                  <a:srgbClr val="14324B"/>
                </a:solidFill>
                <a:latin typeface="Times New Roman"/>
                <a:ea typeface="Times New Roman"/>
                <a:cs typeface="Times New Roman"/>
              </a:defRPr>
            </a:lvl2pPr>
            <a:lvl3pPr>
              <a:defRPr sz="2175" b="1">
                <a:solidFill>
                  <a:srgbClr val="14324B"/>
                </a:solidFill>
                <a:latin typeface="Times New Roman"/>
                <a:ea typeface="Times New Roman"/>
                <a:cs typeface="Times New Roman"/>
              </a:defRPr>
            </a:lvl3pPr>
            <a:lvl4pPr>
              <a:defRPr sz="2175" b="1">
                <a:solidFill>
                  <a:srgbClr val="14324B"/>
                </a:solidFill>
                <a:latin typeface="Times New Roman"/>
                <a:ea typeface="Times New Roman"/>
                <a:cs typeface="Times New Roman"/>
              </a:defRPr>
            </a:lvl4pPr>
            <a:lvl5pPr>
              <a:defRPr sz="2175" b="1">
                <a:solidFill>
                  <a:srgbClr val="14324B"/>
                </a:solidFill>
                <a:latin typeface="Times New Roman"/>
                <a:ea typeface="Times New Roman"/>
                <a:cs typeface="Times New Roman"/>
              </a:defRPr>
            </a:lvl5pPr>
            <a:lvl6pPr>
              <a:defRPr sz="2175" b="1">
                <a:solidFill>
                  <a:srgbClr val="14324B"/>
                </a:solidFill>
                <a:latin typeface="Times New Roman"/>
                <a:ea typeface="Times New Roman"/>
                <a:cs typeface="Times New Roman"/>
              </a:defRPr>
            </a:lvl6pPr>
            <a:lvl7pPr>
              <a:defRPr sz="2175" b="1">
                <a:solidFill>
                  <a:srgbClr val="14324B"/>
                </a:solidFill>
                <a:latin typeface="Times New Roman"/>
                <a:ea typeface="Times New Roman"/>
                <a:cs typeface="Times New Roman"/>
              </a:defRPr>
            </a:lvl7pPr>
            <a:lvl8pPr>
              <a:defRPr sz="2175" b="1">
                <a:solidFill>
                  <a:srgbClr val="14324B"/>
                </a:solidFill>
                <a:latin typeface="Times New Roman"/>
                <a:ea typeface="Times New Roman"/>
                <a:cs typeface="Times New Roman"/>
              </a:defRPr>
            </a:lvl8pPr>
            <a:lvl9pPr>
              <a:defRPr sz="2175" b="1">
                <a:solidFill>
                  <a:srgbClr val="14324B"/>
                </a:solidFill>
                <a:latin typeface="Times New Roman"/>
                <a:ea typeface="Times New Roman"/>
                <a:cs typeface="Times New Roman"/>
              </a:defRPr>
            </a:lvl9pPr>
          </a:lstStyle>
          <a:p xmlns:a="http://schemas.openxmlformats.org/drawingml/2006/main">
            <a:pPr>
              <a:defRPr sz="2175" b="1">
                <a:solidFill>
                  <a:srgbClr val="14324B"/>
                </a:solidFill>
                <a:latin typeface="Times New Roman"/>
                <a:ea typeface="Times New Roman"/>
                <a:cs typeface="Times New Roman"/>
              </a:defRPr>
            </a:pPr>
            <a:r>
              <a:rPr sz="2175" b="1">
                <a:solidFill>
                  <a:srgbClr val="14324B"/>
                </a:solidFill>
                <a:latin typeface="Times New Roman"/>
                <a:ea typeface="Times New Roman"/>
                <a:cs typeface="Times New Roman"/>
              </a:rPr>
              <a:t>GTEx transcript records</a:t>
            </a:r>
          </a:p>
        </p:txBody>
      </p:sp>
      <p:sp>
        <p:nvSpPr>
          <p:cNvPr id="16" name="">
            <a:extLst xmlns:a="http://schemas.openxmlformats.org/drawingml/2006/main">
              <a:ext uri="{FF2B5EF4-FFF2-40B4-BE49-F238E27FC236}">
                <a16:creationId xmlns:a16="http://schemas.microsoft.com/office/drawing/2014/main" id="{938280B0-ECBC-4BF7-9AD5-B0D6C2C6B9ED}"/>
              </a:ext>
            </a:extLst>
          </p:cNvPr>
          <p:cNvSpPr>
            <a:spLocks xmlns:a="http://schemas.openxmlformats.org/drawingml/2006/main" noGrp="1"/>
          </p:cNvSpPr>
          <p:nvPr/>
        </p:nvSpPr>
        <p:spPr>
          <a:xfrm xmlns:a="http://schemas.openxmlformats.org/drawingml/2006/main">
            <a:off x="6667500" y="2809875"/>
            <a:ext cx="4953000" cy="590550"/>
          </a:xfrm>
          <a:prstGeom xmlns:a="http://schemas.openxmlformats.org/drawingml/2006/main" prst="rect">
            <a:avLst/>
          </a:prstGeom>
          <a:solidFill xmlns:a="http://schemas.openxmlformats.org/drawingml/2006/main">
            <a:srgbClr val="EAF1F8"/>
          </a:solidFill>
          <a:ln xmlns:a="http://schemas.openxmlformats.org/drawingml/2006/main" w="14288">
            <a:solidFill>
              <a:srgbClr val="326DA8"/>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326DA8"/>
                </a:solidFill>
                <a:latin typeface="Times New Roman"/>
                <a:ea typeface="Times New Roman"/>
                <a:cs typeface="Times New Roman"/>
              </a:defRPr>
            </a:defPPr>
            <a:lvl1pPr algn="ctr">
              <a:defRPr sz="2100" b="1">
                <a:solidFill>
                  <a:srgbClr val="326DA8"/>
                </a:solidFill>
                <a:latin typeface="Times New Roman"/>
                <a:ea typeface="Times New Roman"/>
                <a:cs typeface="Times New Roman"/>
              </a:defRPr>
            </a:lvl1pPr>
            <a:lvl2pPr algn="ctr">
              <a:defRPr sz="2100" b="1">
                <a:solidFill>
                  <a:srgbClr val="326DA8"/>
                </a:solidFill>
                <a:latin typeface="Times New Roman"/>
                <a:ea typeface="Times New Roman"/>
                <a:cs typeface="Times New Roman"/>
              </a:defRPr>
            </a:lvl2pPr>
            <a:lvl3pPr algn="ctr">
              <a:defRPr sz="2100" b="1">
                <a:solidFill>
                  <a:srgbClr val="326DA8"/>
                </a:solidFill>
                <a:latin typeface="Times New Roman"/>
                <a:ea typeface="Times New Roman"/>
                <a:cs typeface="Times New Roman"/>
              </a:defRPr>
            </a:lvl3pPr>
            <a:lvl4pPr algn="ctr">
              <a:defRPr sz="2100" b="1">
                <a:solidFill>
                  <a:srgbClr val="326DA8"/>
                </a:solidFill>
                <a:latin typeface="Times New Roman"/>
                <a:ea typeface="Times New Roman"/>
                <a:cs typeface="Times New Roman"/>
              </a:defRPr>
            </a:lvl4pPr>
            <a:lvl5pPr algn="ctr">
              <a:defRPr sz="2100" b="1">
                <a:solidFill>
                  <a:srgbClr val="326DA8"/>
                </a:solidFill>
                <a:latin typeface="Times New Roman"/>
                <a:ea typeface="Times New Roman"/>
                <a:cs typeface="Times New Roman"/>
              </a:defRPr>
            </a:lvl5pPr>
            <a:lvl6pPr algn="ctr">
              <a:defRPr sz="2100" b="1">
                <a:solidFill>
                  <a:srgbClr val="326DA8"/>
                </a:solidFill>
                <a:latin typeface="Times New Roman"/>
                <a:ea typeface="Times New Roman"/>
                <a:cs typeface="Times New Roman"/>
              </a:defRPr>
            </a:lvl6pPr>
            <a:lvl7pPr algn="ctr">
              <a:defRPr sz="2100" b="1">
                <a:solidFill>
                  <a:srgbClr val="326DA8"/>
                </a:solidFill>
                <a:latin typeface="Times New Roman"/>
                <a:ea typeface="Times New Roman"/>
                <a:cs typeface="Times New Roman"/>
              </a:defRPr>
            </a:lvl7pPr>
            <a:lvl8pPr algn="ctr">
              <a:defRPr sz="2100" b="1">
                <a:solidFill>
                  <a:srgbClr val="326DA8"/>
                </a:solidFill>
                <a:latin typeface="Times New Roman"/>
                <a:ea typeface="Times New Roman"/>
                <a:cs typeface="Times New Roman"/>
              </a:defRPr>
            </a:lvl8pPr>
            <a:lvl9pPr algn="ctr">
              <a:defRPr sz="2100" b="1">
                <a:solidFill>
                  <a:srgbClr val="326DA8"/>
                </a:solidFill>
                <a:latin typeface="Times New Roman"/>
                <a:ea typeface="Times New Roman"/>
                <a:cs typeface="Times New Roman"/>
              </a:defRPr>
            </a:lvl9pPr>
          </a:lstStyle>
          <a:p xmlns:a="http://schemas.openxmlformats.org/drawingml/2006/main">
            <a:pPr algn="ctr">
              <a:defRPr sz="2100" b="1">
                <a:solidFill>
                  <a:srgbClr val="326DA8"/>
                </a:solidFill>
                <a:latin typeface="Times New Roman"/>
                <a:ea typeface="Times New Roman"/>
                <a:cs typeface="Times New Roman"/>
              </a:defRPr>
            </a:pPr>
            <a:r>
              <a:rPr sz="2100" b="1">
                <a:solidFill>
                  <a:srgbClr val="326DA8"/>
                </a:solidFill>
                <a:latin typeface="Times New Roman"/>
                <a:ea typeface="Times New Roman"/>
                <a:cs typeface="Times New Roman"/>
              </a:rPr>
              <a:t>6,000-nt genomic window</a:t>
            </a:r>
          </a:p>
        </p:txBody>
      </p:sp>
      <p:sp>
        <p:nvSpPr>
          <p:cNvPr id="17" name="">
            <a:extLst xmlns:a="http://schemas.openxmlformats.org/drawingml/2006/main">
              <a:ext uri="{FF2B5EF4-FFF2-40B4-BE49-F238E27FC236}">
                <a16:creationId xmlns:a16="http://schemas.microsoft.com/office/drawing/2014/main" id="{C50D6629-EAC0-4D49-BF02-132225F6ABDE}"/>
              </a:ext>
            </a:extLst>
          </p:cNvPr>
          <p:cNvSpPr>
            <a:spLocks xmlns:a="http://schemas.openxmlformats.org/drawingml/2006/main" noGrp="1"/>
          </p:cNvSpPr>
          <p:nvPr/>
        </p:nvSpPr>
        <p:spPr>
          <a:xfrm xmlns:a="http://schemas.openxmlformats.org/drawingml/2006/main">
            <a:off x="6667500" y="3667125"/>
            <a:ext cx="4953000" cy="59055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167D77"/>
                </a:solidFill>
                <a:latin typeface="Times New Roman"/>
                <a:ea typeface="Times New Roman"/>
                <a:cs typeface="Times New Roman"/>
              </a:defRPr>
            </a:defPPr>
            <a:lvl1pPr algn="ctr">
              <a:defRPr sz="2100" b="1">
                <a:solidFill>
                  <a:srgbClr val="167D77"/>
                </a:solidFill>
                <a:latin typeface="Times New Roman"/>
                <a:ea typeface="Times New Roman"/>
                <a:cs typeface="Times New Roman"/>
              </a:defRPr>
            </a:lvl1pPr>
            <a:lvl2pPr algn="ctr">
              <a:defRPr sz="2100" b="1">
                <a:solidFill>
                  <a:srgbClr val="167D77"/>
                </a:solidFill>
                <a:latin typeface="Times New Roman"/>
                <a:ea typeface="Times New Roman"/>
                <a:cs typeface="Times New Roman"/>
              </a:defRPr>
            </a:lvl2pPr>
            <a:lvl3pPr algn="ctr">
              <a:defRPr sz="2100" b="1">
                <a:solidFill>
                  <a:srgbClr val="167D77"/>
                </a:solidFill>
                <a:latin typeface="Times New Roman"/>
                <a:ea typeface="Times New Roman"/>
                <a:cs typeface="Times New Roman"/>
              </a:defRPr>
            </a:lvl3pPr>
            <a:lvl4pPr algn="ctr">
              <a:defRPr sz="2100" b="1">
                <a:solidFill>
                  <a:srgbClr val="167D77"/>
                </a:solidFill>
                <a:latin typeface="Times New Roman"/>
                <a:ea typeface="Times New Roman"/>
                <a:cs typeface="Times New Roman"/>
              </a:defRPr>
            </a:lvl4pPr>
            <a:lvl5pPr algn="ctr">
              <a:defRPr sz="2100" b="1">
                <a:solidFill>
                  <a:srgbClr val="167D77"/>
                </a:solidFill>
                <a:latin typeface="Times New Roman"/>
                <a:ea typeface="Times New Roman"/>
                <a:cs typeface="Times New Roman"/>
              </a:defRPr>
            </a:lvl5pPr>
            <a:lvl6pPr algn="ctr">
              <a:defRPr sz="2100" b="1">
                <a:solidFill>
                  <a:srgbClr val="167D77"/>
                </a:solidFill>
                <a:latin typeface="Times New Roman"/>
                <a:ea typeface="Times New Roman"/>
                <a:cs typeface="Times New Roman"/>
              </a:defRPr>
            </a:lvl6pPr>
            <a:lvl7pPr algn="ctr">
              <a:defRPr sz="2100" b="1">
                <a:solidFill>
                  <a:srgbClr val="167D77"/>
                </a:solidFill>
                <a:latin typeface="Times New Roman"/>
                <a:ea typeface="Times New Roman"/>
                <a:cs typeface="Times New Roman"/>
              </a:defRPr>
            </a:lvl7pPr>
            <a:lvl8pPr algn="ctr">
              <a:defRPr sz="2100" b="1">
                <a:solidFill>
                  <a:srgbClr val="167D77"/>
                </a:solidFill>
                <a:latin typeface="Times New Roman"/>
                <a:ea typeface="Times New Roman"/>
                <a:cs typeface="Times New Roman"/>
              </a:defRPr>
            </a:lvl8pPr>
            <a:lvl9pPr algn="ctr">
              <a:defRPr sz="2100" b="1">
                <a:solidFill>
                  <a:srgbClr val="167D77"/>
                </a:solidFill>
                <a:latin typeface="Times New Roman"/>
                <a:ea typeface="Times New Roman"/>
                <a:cs typeface="Times New Roman"/>
              </a:defRPr>
            </a:lvl9pPr>
          </a:lstStyle>
          <a:p xmlns:a="http://schemas.openxmlformats.org/drawingml/2006/main">
            <a:pPr algn="ctr">
              <a:defRPr sz="2100" b="1">
                <a:solidFill>
                  <a:srgbClr val="167D77"/>
                </a:solidFill>
                <a:latin typeface="Times New Roman"/>
                <a:ea typeface="Times New Roman"/>
                <a:cs typeface="Times New Roman"/>
              </a:defRPr>
            </a:pPr>
            <a:r>
              <a:rPr sz="2100" b="1">
                <a:solidFill>
                  <a:srgbClr val="167D77"/>
                </a:solidFill>
                <a:latin typeface="Times New Roman"/>
                <a:ea typeface="Times New Roman"/>
                <a:cs typeface="Times New Roman"/>
              </a:rPr>
              <a:t>Transcript RNA</a:t>
            </a:r>
          </a:p>
        </p:txBody>
      </p:sp>
      <p:sp>
        <p:nvSpPr>
          <p:cNvPr id="18" name="">
            <a:extLst xmlns:a="http://schemas.openxmlformats.org/drawingml/2006/main">
              <a:ext uri="{FF2B5EF4-FFF2-40B4-BE49-F238E27FC236}">
                <a16:creationId xmlns:a16="http://schemas.microsoft.com/office/drawing/2014/main" id="{42961374-F7B8-4773-80C0-053A3602318B}"/>
              </a:ext>
            </a:extLst>
          </p:cNvPr>
          <p:cNvSpPr>
            <a:spLocks xmlns:a="http://schemas.openxmlformats.org/drawingml/2006/main" noGrp="1"/>
          </p:cNvSpPr>
          <p:nvPr/>
        </p:nvSpPr>
        <p:spPr>
          <a:xfrm xmlns:a="http://schemas.openxmlformats.org/drawingml/2006/main">
            <a:off x="6667500" y="4524375"/>
            <a:ext cx="4953000" cy="590550"/>
          </a:xfrm>
          <a:prstGeom xmlns:a="http://schemas.openxmlformats.org/drawingml/2006/main" prst="rect">
            <a:avLst/>
          </a:prstGeom>
          <a:solidFill xmlns:a="http://schemas.openxmlformats.org/drawingml/2006/main">
            <a:srgbClr val="F0EAF5"/>
          </a:solidFill>
          <a:ln xmlns:a="http://schemas.openxmlformats.org/drawingml/2006/main" w="14288">
            <a:solidFill>
              <a:srgbClr val="815897"/>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815897"/>
                </a:solidFill>
                <a:latin typeface="Times New Roman"/>
                <a:ea typeface="Times New Roman"/>
                <a:cs typeface="Times New Roman"/>
              </a:defRPr>
            </a:defPPr>
            <a:lvl1pPr algn="ctr">
              <a:defRPr sz="2100" b="1">
                <a:solidFill>
                  <a:srgbClr val="815897"/>
                </a:solidFill>
                <a:latin typeface="Times New Roman"/>
                <a:ea typeface="Times New Roman"/>
                <a:cs typeface="Times New Roman"/>
              </a:defRPr>
            </a:lvl1pPr>
            <a:lvl2pPr algn="ctr">
              <a:defRPr sz="2100" b="1">
                <a:solidFill>
                  <a:srgbClr val="815897"/>
                </a:solidFill>
                <a:latin typeface="Times New Roman"/>
                <a:ea typeface="Times New Roman"/>
                <a:cs typeface="Times New Roman"/>
              </a:defRPr>
            </a:lvl2pPr>
            <a:lvl3pPr algn="ctr">
              <a:defRPr sz="2100" b="1">
                <a:solidFill>
                  <a:srgbClr val="815897"/>
                </a:solidFill>
                <a:latin typeface="Times New Roman"/>
                <a:ea typeface="Times New Roman"/>
                <a:cs typeface="Times New Roman"/>
              </a:defRPr>
            </a:lvl3pPr>
            <a:lvl4pPr algn="ctr">
              <a:defRPr sz="2100" b="1">
                <a:solidFill>
                  <a:srgbClr val="815897"/>
                </a:solidFill>
                <a:latin typeface="Times New Roman"/>
                <a:ea typeface="Times New Roman"/>
                <a:cs typeface="Times New Roman"/>
              </a:defRPr>
            </a:lvl4pPr>
            <a:lvl5pPr algn="ctr">
              <a:defRPr sz="2100" b="1">
                <a:solidFill>
                  <a:srgbClr val="815897"/>
                </a:solidFill>
                <a:latin typeface="Times New Roman"/>
                <a:ea typeface="Times New Roman"/>
                <a:cs typeface="Times New Roman"/>
              </a:defRPr>
            </a:lvl5pPr>
            <a:lvl6pPr algn="ctr">
              <a:defRPr sz="2100" b="1">
                <a:solidFill>
                  <a:srgbClr val="815897"/>
                </a:solidFill>
                <a:latin typeface="Times New Roman"/>
                <a:ea typeface="Times New Roman"/>
                <a:cs typeface="Times New Roman"/>
              </a:defRPr>
            </a:lvl6pPr>
            <a:lvl7pPr algn="ctr">
              <a:defRPr sz="2100" b="1">
                <a:solidFill>
                  <a:srgbClr val="815897"/>
                </a:solidFill>
                <a:latin typeface="Times New Roman"/>
                <a:ea typeface="Times New Roman"/>
                <a:cs typeface="Times New Roman"/>
              </a:defRPr>
            </a:lvl7pPr>
            <a:lvl8pPr algn="ctr">
              <a:defRPr sz="2100" b="1">
                <a:solidFill>
                  <a:srgbClr val="815897"/>
                </a:solidFill>
                <a:latin typeface="Times New Roman"/>
                <a:ea typeface="Times New Roman"/>
                <a:cs typeface="Times New Roman"/>
              </a:defRPr>
            </a:lvl8pPr>
            <a:lvl9pPr algn="ctr">
              <a:defRPr sz="2100" b="1">
                <a:solidFill>
                  <a:srgbClr val="815897"/>
                </a:solidFill>
                <a:latin typeface="Times New Roman"/>
                <a:ea typeface="Times New Roman"/>
                <a:cs typeface="Times New Roman"/>
              </a:defRPr>
            </a:lvl9pPr>
          </a:lstStyle>
          <a:p xmlns:a="http://schemas.openxmlformats.org/drawingml/2006/main">
            <a:pPr algn="ctr">
              <a:defRPr sz="2100" b="1">
                <a:solidFill>
                  <a:srgbClr val="815897"/>
                </a:solidFill>
                <a:latin typeface="Times New Roman"/>
                <a:ea typeface="Times New Roman"/>
                <a:cs typeface="Times New Roman"/>
              </a:defRPr>
            </a:pPr>
            <a:r>
              <a:rPr sz="2100" b="1">
                <a:solidFill>
                  <a:srgbClr val="815897"/>
                </a:solidFill>
                <a:latin typeface="Times New Roman"/>
                <a:ea typeface="Times New Roman"/>
                <a:cs typeface="Times New Roman"/>
              </a:rPr>
              <a:t>Protein sequence</a:t>
            </a:r>
          </a:p>
        </p:txBody>
      </p:sp>
      <p:sp>
        <p:nvSpPr>
          <p:cNvPr id="19" name="">
            <a:extLst xmlns:a="http://schemas.openxmlformats.org/drawingml/2006/main">
              <a:ext uri="{FF2B5EF4-FFF2-40B4-BE49-F238E27FC236}">
                <a16:creationId xmlns:a16="http://schemas.microsoft.com/office/drawing/2014/main" id="{406B46DF-4CF0-402D-9D0C-666AC773CC25}"/>
              </a:ext>
            </a:extLst>
          </p:cNvPr>
          <p:cNvSpPr>
            <a:spLocks xmlns:a="http://schemas.openxmlformats.org/drawingml/2006/main" noGrp="1"/>
          </p:cNvSpPr>
          <p:nvPr/>
        </p:nvSpPr>
        <p:spPr>
          <a:xfrm xmlns:a="http://schemas.openxmlformats.org/drawingml/2006/main">
            <a:off x="6667500" y="5381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7D77"/>
                </a:solidFill>
                <a:latin typeface="Times New Roman"/>
                <a:ea typeface="Times New Roman"/>
                <a:cs typeface="Times New Roman"/>
              </a:defRPr>
            </a:defPPr>
            <a:lvl1pPr>
              <a:defRPr sz="2175">
                <a:solidFill>
                  <a:srgbClr val="167D77"/>
                </a:solidFill>
                <a:latin typeface="Times New Roman"/>
                <a:ea typeface="Times New Roman"/>
                <a:cs typeface="Times New Roman"/>
              </a:defRPr>
            </a:lvl1pPr>
            <a:lvl2pPr>
              <a:defRPr sz="2175">
                <a:solidFill>
                  <a:srgbClr val="167D77"/>
                </a:solidFill>
                <a:latin typeface="Times New Roman"/>
                <a:ea typeface="Times New Roman"/>
                <a:cs typeface="Times New Roman"/>
              </a:defRPr>
            </a:lvl2pPr>
            <a:lvl3pPr>
              <a:defRPr sz="2175">
                <a:solidFill>
                  <a:srgbClr val="167D77"/>
                </a:solidFill>
                <a:latin typeface="Times New Roman"/>
                <a:ea typeface="Times New Roman"/>
                <a:cs typeface="Times New Roman"/>
              </a:defRPr>
            </a:lvl3pPr>
            <a:lvl4pPr>
              <a:defRPr sz="2175">
                <a:solidFill>
                  <a:srgbClr val="167D77"/>
                </a:solidFill>
                <a:latin typeface="Times New Roman"/>
                <a:ea typeface="Times New Roman"/>
                <a:cs typeface="Times New Roman"/>
              </a:defRPr>
            </a:lvl4pPr>
            <a:lvl5pPr>
              <a:defRPr sz="2175">
                <a:solidFill>
                  <a:srgbClr val="167D77"/>
                </a:solidFill>
                <a:latin typeface="Times New Roman"/>
                <a:ea typeface="Times New Roman"/>
                <a:cs typeface="Times New Roman"/>
              </a:defRPr>
            </a:lvl5pPr>
            <a:lvl6pPr>
              <a:defRPr sz="2175">
                <a:solidFill>
                  <a:srgbClr val="167D77"/>
                </a:solidFill>
                <a:latin typeface="Times New Roman"/>
                <a:ea typeface="Times New Roman"/>
                <a:cs typeface="Times New Roman"/>
              </a:defRPr>
            </a:lvl6pPr>
            <a:lvl7pPr>
              <a:defRPr sz="2175">
                <a:solidFill>
                  <a:srgbClr val="167D77"/>
                </a:solidFill>
                <a:latin typeface="Times New Roman"/>
                <a:ea typeface="Times New Roman"/>
                <a:cs typeface="Times New Roman"/>
              </a:defRPr>
            </a:lvl7pPr>
            <a:lvl8pPr>
              <a:defRPr sz="2175">
                <a:solidFill>
                  <a:srgbClr val="167D77"/>
                </a:solidFill>
                <a:latin typeface="Times New Roman"/>
                <a:ea typeface="Times New Roman"/>
                <a:cs typeface="Times New Roman"/>
              </a:defRPr>
            </a:lvl8pPr>
            <a:lvl9pPr>
              <a:defRPr sz="2175">
                <a:solidFill>
                  <a:srgbClr val="167D77"/>
                </a:solidFill>
                <a:latin typeface="Times New Roman"/>
                <a:ea typeface="Times New Roman"/>
                <a:cs typeface="Times New Roman"/>
              </a:defRPr>
            </a:lvl9pPr>
          </a:lstStyle>
          <a:p xmlns:a="http://schemas.openxmlformats.org/drawingml/2006/main">
            <a:pPr>
              <a:defRPr sz="2175">
                <a:solidFill>
                  <a:srgbClr val="167D77"/>
                </a:solidFill>
                <a:latin typeface="Times New Roman"/>
                <a:ea typeface="Times New Roman"/>
                <a:cs typeface="Times New Roman"/>
              </a:defRPr>
            </a:pPr>
            <a:r>
              <a:rPr sz="2175">
                <a:solidFill>
                  <a:srgbClr val="167D77"/>
                </a:solidFill>
                <a:latin typeface="Times New Roman"/>
                <a:ea typeface="Times New Roman"/>
                <a:cs typeface="Times New Roman"/>
              </a:rPr>
              <a:t>Linked inputs with distinct sequence context</a:t>
            </a:r>
          </a:p>
        </p:txBody>
      </p:sp>
      <p:sp>
        <p:nvSpPr>
          <p:cNvPr id="20" name="">
            <a:extLst xmlns:a="http://schemas.openxmlformats.org/drawingml/2006/main">
              <a:ext uri="{FF2B5EF4-FFF2-40B4-BE49-F238E27FC236}">
                <a16:creationId xmlns:a16="http://schemas.microsoft.com/office/drawing/2014/main" id="{E9D482C5-3929-4F7F-A6F9-16A8DD13715C}"/>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GTEx is a different dataset and target. Its genomic window is not asserted to contain the complete transcript; compare configurations within each experiment.</a:t>
            </a:r>
          </a:p>
        </p:txBody>
      </p:sp>
    </p:spTree>
    <p:extLst>
      <p:ext uri="{BB962C8B-B14F-4D97-AF65-F5344CB8AC3E}">
        <p14:creationId xmlns:p14="http://schemas.microsoft.com/office/powerpoint/2010/main" val="137941844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9" name="">
            <a:extLst xmlns:a="http://schemas.openxmlformats.org/drawingml/2006/main">
              <a:ext uri="{FF2B5EF4-FFF2-40B4-BE49-F238E27FC236}">
                <a16:creationId xmlns:a16="http://schemas.microsoft.com/office/drawing/2014/main" id="{9D91260F-83DC-48ED-BDAF-283E17EFBE45}"/>
              </a:ext>
            </a:extLst>
          </p:cNvPr>
          <p:cNvCxnSpPr>
            <a:stCxn xmlns:a="http://schemas.openxmlformats.org/drawingml/2006/main" id="32" idx="2"/>
            <a:endCxn xmlns:a="http://schemas.openxmlformats.org/drawingml/2006/main" id="38" idx="0"/>
          </p:cNvCxnSpPr>
          <p:nvPr/>
        </p:nvCxnSpPr>
        <p:spPr>
          <a:xfrm xmlns:a="http://schemas.openxmlformats.org/drawingml/2006/main" flipH="1">
            <a:off x="9525000" y="4000500"/>
            <a:ext cx="619125" cy="1143000"/>
          </a:xfrm>
          <a:prstGeom xmlns:a="http://schemas.openxmlformats.org/drawingml/2006/main" prst="bentConnector4">
            <a:avLst>
              <a:gd name="adj1" fmla="val 0"/>
              <a:gd name="adj2" fmla="val 50000"/>
            </a:avLst>
          </a:prstGeom>
          <a:ln xmlns:a="http://schemas.openxmlformats.org/drawingml/2006/main" w="21908">
            <a:solidFill>
              <a:srgbClr val="B3683D"/>
            </a:solidFill>
            <a:prstDash val="solid"/>
            <a:tailEnd type="triangle" w="med" len="med"/>
          </a:ln>
        </p:spPr>
      </p:cxnSp>
      <p:cxnSp>
        <p:nvCxnSpPr>
          <p:cNvPr id="35" name="">
            <a:extLst xmlns:a="http://schemas.openxmlformats.org/drawingml/2006/main">
              <a:ext uri="{FF2B5EF4-FFF2-40B4-BE49-F238E27FC236}">
                <a16:creationId xmlns:a16="http://schemas.microsoft.com/office/drawing/2014/main" id="{32A6496A-73E8-4F98-BB5D-62E404DCFDEE}"/>
              </a:ext>
            </a:extLst>
          </p:cNvPr>
          <p:cNvCxnSpPr>
            <a:stCxn xmlns:a="http://schemas.openxmlformats.org/drawingml/2006/main" id="30" idx="3"/>
            <a:endCxn xmlns:a="http://schemas.openxmlformats.org/drawingml/2006/main" id="32" idx="1"/>
          </p:cNvCxnSpPr>
          <p:nvPr/>
        </p:nvCxnSpPr>
        <p:spPr>
          <a:xfrm xmlns:a="http://schemas.openxmlformats.org/drawingml/2006/main" flipV="1">
            <a:off x="7953375" y="3548063"/>
            <a:ext cx="762000" cy="1262063"/>
          </a:xfrm>
          <a:prstGeom xmlns:a="http://schemas.openxmlformats.org/drawingml/2006/main" prst="bentConnector3">
            <a:avLst>
              <a:gd name="adj1" fmla="val 50000"/>
            </a:avLst>
          </a:prstGeom>
          <a:ln xmlns:a="http://schemas.openxmlformats.org/drawingml/2006/main" w="21908">
            <a:solidFill>
              <a:srgbClr val="52636B"/>
            </a:solidFill>
            <a:prstDash val="solid"/>
            <a:tailEnd type="triangle" w="med" len="med"/>
          </a:ln>
        </p:spPr>
      </p:cxnSp>
      <p:cxnSp>
        <p:nvCxnSpPr>
          <p:cNvPr id="34" name="">
            <a:extLst xmlns:a="http://schemas.openxmlformats.org/drawingml/2006/main">
              <a:ext uri="{FF2B5EF4-FFF2-40B4-BE49-F238E27FC236}">
                <a16:creationId xmlns:a16="http://schemas.microsoft.com/office/drawing/2014/main" id="{C3E228B3-3B56-4B7B-97EF-F3A7BDC4587F}"/>
              </a:ext>
            </a:extLst>
          </p:cNvPr>
          <p:cNvCxnSpPr>
            <a:stCxn xmlns:a="http://schemas.openxmlformats.org/drawingml/2006/main" id="23" idx="3"/>
            <a:endCxn xmlns:a="http://schemas.openxmlformats.org/drawingml/2006/main" id="32" idx="1"/>
          </p:cNvCxnSpPr>
          <p:nvPr/>
        </p:nvCxnSpPr>
        <p:spPr>
          <a:xfrm xmlns:a="http://schemas.openxmlformats.org/drawingml/2006/main" flipV="1">
            <a:off x="7953375" y="3548063"/>
            <a:ext cx="762000" cy="138113"/>
          </a:xfrm>
          <a:prstGeom xmlns:a="http://schemas.openxmlformats.org/drawingml/2006/main" prst="bentConnector3">
            <a:avLst>
              <a:gd name="adj1" fmla="val 50000"/>
            </a:avLst>
          </a:prstGeom>
          <a:ln xmlns:a="http://schemas.openxmlformats.org/drawingml/2006/main" w="21908">
            <a:solidFill>
              <a:srgbClr val="52636B"/>
            </a:solidFill>
            <a:prstDash val="solid"/>
            <a:tailEnd type="triangle" w="med" len="med"/>
          </a:ln>
        </p:spPr>
      </p:cxnSp>
      <p:cxnSp>
        <p:nvCxnSpPr>
          <p:cNvPr id="33" name="">
            <a:extLst xmlns:a="http://schemas.openxmlformats.org/drawingml/2006/main">
              <a:ext uri="{FF2B5EF4-FFF2-40B4-BE49-F238E27FC236}">
                <a16:creationId xmlns:a16="http://schemas.microsoft.com/office/drawing/2014/main" id="{4FB2D91D-A071-41B8-A76C-EF71745ACF7C}"/>
              </a:ext>
            </a:extLst>
          </p:cNvPr>
          <p:cNvCxnSpPr>
            <a:stCxn xmlns:a="http://schemas.openxmlformats.org/drawingml/2006/main" id="14" idx="3"/>
            <a:endCxn xmlns:a="http://schemas.openxmlformats.org/drawingml/2006/main" id="32" idx="1"/>
          </p:cNvCxnSpPr>
          <p:nvPr/>
        </p:nvCxnSpPr>
        <p:spPr>
          <a:xfrm xmlns:a="http://schemas.openxmlformats.org/drawingml/2006/main">
            <a:off x="7953375" y="2562225"/>
            <a:ext cx="762000" cy="985838"/>
          </a:xfrm>
          <a:prstGeom xmlns:a="http://schemas.openxmlformats.org/drawingml/2006/main" prst="bentConnector3">
            <a:avLst>
              <a:gd name="adj1" fmla="val 50000"/>
            </a:avLst>
          </a:prstGeom>
          <a:ln xmlns:a="http://schemas.openxmlformats.org/drawingml/2006/main" w="21908">
            <a:solidFill>
              <a:srgbClr val="52636B"/>
            </a:solidFill>
            <a:prstDash val="solid"/>
            <a:tailEnd type="triangle" w="med" len="med"/>
          </a:ln>
        </p:spPr>
      </p:cxnSp>
      <p:cxnSp>
        <p:nvCxnSpPr>
          <p:cNvPr id="31" name="">
            <a:extLst xmlns:a="http://schemas.openxmlformats.org/drawingml/2006/main">
              <a:ext uri="{FF2B5EF4-FFF2-40B4-BE49-F238E27FC236}">
                <a16:creationId xmlns:a16="http://schemas.microsoft.com/office/drawing/2014/main" id="{BD39E62F-004B-4B17-A244-DA8BA8210A37}"/>
              </a:ext>
            </a:extLst>
          </p:cNvPr>
          <p:cNvCxnSpPr>
            <a:stCxn xmlns:a="http://schemas.openxmlformats.org/drawingml/2006/main" id="26" idx="3"/>
            <a:endCxn xmlns:a="http://schemas.openxmlformats.org/drawingml/2006/main" id="28" idx="1"/>
          </p:cNvCxnSpPr>
          <p:nvPr/>
        </p:nvCxnSpPr>
        <p:spPr>
          <a:xfrm xmlns:a="http://schemas.openxmlformats.org/drawingml/2006/main" flipV="1">
            <a:off x="5619750" y="4810125"/>
            <a:ext cx="714375" cy="9525"/>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27" name="">
            <a:extLst xmlns:a="http://schemas.openxmlformats.org/drawingml/2006/main">
              <a:ext uri="{FF2B5EF4-FFF2-40B4-BE49-F238E27FC236}">
                <a16:creationId xmlns:a16="http://schemas.microsoft.com/office/drawing/2014/main" id="{9C60D910-79B7-471A-A5B0-1936C6631AB9}"/>
              </a:ext>
            </a:extLst>
          </p:cNvPr>
          <p:cNvCxnSpPr>
            <a:stCxn xmlns:a="http://schemas.openxmlformats.org/drawingml/2006/main" id="25" idx="3"/>
            <a:endCxn xmlns:a="http://schemas.openxmlformats.org/drawingml/2006/main" id="26" idx="1"/>
          </p:cNvCxnSpPr>
          <p:nvPr/>
        </p:nvCxnSpPr>
        <p:spPr>
          <a:xfrm xmlns:a="http://schemas.openxmlformats.org/drawingml/2006/main">
            <a:off x="2809875" y="4819650"/>
            <a:ext cx="714375"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24" name="">
            <a:extLst xmlns:a="http://schemas.openxmlformats.org/drawingml/2006/main">
              <a:ext uri="{FF2B5EF4-FFF2-40B4-BE49-F238E27FC236}">
                <a16:creationId xmlns:a16="http://schemas.microsoft.com/office/drawing/2014/main" id="{CA2C4911-B647-4FA3-B005-2332F33B2DFE}"/>
              </a:ext>
            </a:extLst>
          </p:cNvPr>
          <p:cNvCxnSpPr>
            <a:stCxn xmlns:a="http://schemas.openxmlformats.org/drawingml/2006/main" id="17" idx="3"/>
            <a:endCxn xmlns:a="http://schemas.openxmlformats.org/drawingml/2006/main" id="19" idx="1"/>
          </p:cNvCxnSpPr>
          <p:nvPr/>
        </p:nvCxnSpPr>
        <p:spPr>
          <a:xfrm xmlns:a="http://schemas.openxmlformats.org/drawingml/2006/main" flipV="1">
            <a:off x="5619750" y="3686175"/>
            <a:ext cx="714375" cy="9525"/>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BEAB4FF9-7D52-461F-9CBF-4468C23E0910}"/>
              </a:ext>
            </a:extLst>
          </p:cNvPr>
          <p:cNvCxnSpPr>
            <a:stCxn xmlns:a="http://schemas.openxmlformats.org/drawingml/2006/main" id="16" idx="3"/>
            <a:endCxn xmlns:a="http://schemas.openxmlformats.org/drawingml/2006/main" id="17" idx="1"/>
          </p:cNvCxnSpPr>
          <p:nvPr/>
        </p:nvCxnSpPr>
        <p:spPr>
          <a:xfrm xmlns:a="http://schemas.openxmlformats.org/drawingml/2006/main">
            <a:off x="2809875" y="3695700"/>
            <a:ext cx="714375"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BF7938CE-FF50-4C01-B3FF-F2913CA1B32A}"/>
              </a:ext>
            </a:extLst>
          </p:cNvPr>
          <p:cNvCxnSpPr>
            <a:stCxn xmlns:a="http://schemas.openxmlformats.org/drawingml/2006/main" id="6" idx="3"/>
            <a:endCxn xmlns:a="http://schemas.openxmlformats.org/drawingml/2006/main" id="8" idx="1"/>
          </p:cNvCxnSpPr>
          <p:nvPr/>
        </p:nvCxnSpPr>
        <p:spPr>
          <a:xfrm xmlns:a="http://schemas.openxmlformats.org/drawingml/2006/main" flipV="1">
            <a:off x="5619750" y="2562225"/>
            <a:ext cx="714375" cy="9525"/>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358D8C56-E821-49AE-A329-34D77494274E}"/>
              </a:ext>
            </a:extLst>
          </p:cNvPr>
          <p:cNvCxnSpPr>
            <a:stCxn xmlns:a="http://schemas.openxmlformats.org/drawingml/2006/main" id="5" idx="3"/>
            <a:endCxn xmlns:a="http://schemas.openxmlformats.org/drawingml/2006/main" id="6" idx="1"/>
          </p:cNvCxnSpPr>
          <p:nvPr/>
        </p:nvCxnSpPr>
        <p:spPr>
          <a:xfrm xmlns:a="http://schemas.openxmlformats.org/drawingml/2006/main">
            <a:off x="2809875" y="2571750"/>
            <a:ext cx="714375"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sp>
        <p:nvSpPr>
          <p:cNvPr id="41" name="">
            <a:extLst xmlns:a="http://schemas.openxmlformats.org/drawingml/2006/main">
              <a:ext uri="{FF2B5EF4-FFF2-40B4-BE49-F238E27FC236}">
                <a16:creationId xmlns:a16="http://schemas.microsoft.com/office/drawing/2014/main" id="{1C42192E-0973-4B02-82BA-6AD45ED1F817}"/>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0825E4-1510-45EB-9488-D3819C7B5F26}"/>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GTEx predicts a tissue-expression profile</a:t>
            </a:r>
          </a:p>
        </p:txBody>
      </p:sp>
      <p:sp>
        <p:nvSpPr>
          <p:cNvPr id="3" name="">
            <a:extLst xmlns:a="http://schemas.openxmlformats.org/drawingml/2006/main">
              <a:ext uri="{FF2B5EF4-FFF2-40B4-BE49-F238E27FC236}">
                <a16:creationId xmlns:a16="http://schemas.microsoft.com/office/drawing/2014/main" id="{BC162979-346B-4631-8099-A8C76D6D4695}"/>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A gene-separated pilot uses 1,000 training and 1,000 test transcripts; 50 training rows serve as validation.</a:t>
            </a:r>
          </a:p>
        </p:txBody>
      </p:sp>
      <p:sp>
        <p:nvSpPr>
          <p:cNvPr id="4" name="">
            <a:extLst xmlns:a="http://schemas.openxmlformats.org/drawingml/2006/main">
              <a:ext uri="{FF2B5EF4-FFF2-40B4-BE49-F238E27FC236}">
                <a16:creationId xmlns:a16="http://schemas.microsoft.com/office/drawing/2014/main" id="{70CE897A-B93E-4398-8FF0-091FB4660A31}"/>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13</a:t>
            </a:r>
          </a:p>
        </p:txBody>
      </p:sp>
      <p:sp>
        <p:nvSpPr>
          <p:cNvPr id="5" name="">
            <a:extLst xmlns:a="http://schemas.openxmlformats.org/drawingml/2006/main">
              <a:ext uri="{FF2B5EF4-FFF2-40B4-BE49-F238E27FC236}">
                <a16:creationId xmlns:a16="http://schemas.microsoft.com/office/drawing/2014/main" id="{77E7B9BC-1D0A-4A0E-9372-47F26BEE80EB}"/>
              </a:ext>
            </a:extLst>
          </p:cNvPr>
          <p:cNvSpPr>
            <a:spLocks xmlns:a="http://schemas.openxmlformats.org/drawingml/2006/main" noGrp="1"/>
          </p:cNvSpPr>
          <p:nvPr/>
        </p:nvSpPr>
        <p:spPr>
          <a:xfrm xmlns:a="http://schemas.openxmlformats.org/drawingml/2006/main">
            <a:off x="428625" y="2238375"/>
            <a:ext cx="2381250" cy="666750"/>
          </a:xfrm>
          <a:prstGeom xmlns:a="http://schemas.openxmlformats.org/drawingml/2006/main" prst="rect">
            <a:avLst/>
          </a:prstGeom>
          <a:solidFill xmlns:a="http://schemas.openxmlformats.org/drawingml/2006/main">
            <a:srgbClr val="EAF1F8"/>
          </a:solidFill>
          <a:ln xmlns:a="http://schemas.openxmlformats.org/drawingml/2006/main" w="14288">
            <a:solidFill>
              <a:srgbClr val="326DA8"/>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326DA8"/>
                </a:solidFill>
                <a:latin typeface="Times New Roman"/>
                <a:ea typeface="Times New Roman"/>
                <a:cs typeface="Times New Roman"/>
              </a:defRPr>
            </a:defPPr>
            <a:lvl1pPr algn="ctr">
              <a:defRPr sz="2100" b="1">
                <a:solidFill>
                  <a:srgbClr val="326DA8"/>
                </a:solidFill>
                <a:latin typeface="Times New Roman"/>
                <a:ea typeface="Times New Roman"/>
                <a:cs typeface="Times New Roman"/>
              </a:defRPr>
            </a:lvl1pPr>
            <a:lvl2pPr algn="ctr">
              <a:defRPr sz="2100" b="1">
                <a:solidFill>
                  <a:srgbClr val="326DA8"/>
                </a:solidFill>
                <a:latin typeface="Times New Roman"/>
                <a:ea typeface="Times New Roman"/>
                <a:cs typeface="Times New Roman"/>
              </a:defRPr>
            </a:lvl2pPr>
            <a:lvl3pPr algn="ctr">
              <a:defRPr sz="2100" b="1">
                <a:solidFill>
                  <a:srgbClr val="326DA8"/>
                </a:solidFill>
                <a:latin typeface="Times New Roman"/>
                <a:ea typeface="Times New Roman"/>
                <a:cs typeface="Times New Roman"/>
              </a:defRPr>
            </a:lvl3pPr>
            <a:lvl4pPr algn="ctr">
              <a:defRPr sz="2100" b="1">
                <a:solidFill>
                  <a:srgbClr val="326DA8"/>
                </a:solidFill>
                <a:latin typeface="Times New Roman"/>
                <a:ea typeface="Times New Roman"/>
                <a:cs typeface="Times New Roman"/>
              </a:defRPr>
            </a:lvl4pPr>
            <a:lvl5pPr algn="ctr">
              <a:defRPr sz="2100" b="1">
                <a:solidFill>
                  <a:srgbClr val="326DA8"/>
                </a:solidFill>
                <a:latin typeface="Times New Roman"/>
                <a:ea typeface="Times New Roman"/>
                <a:cs typeface="Times New Roman"/>
              </a:defRPr>
            </a:lvl5pPr>
            <a:lvl6pPr algn="ctr">
              <a:defRPr sz="2100" b="1">
                <a:solidFill>
                  <a:srgbClr val="326DA8"/>
                </a:solidFill>
                <a:latin typeface="Times New Roman"/>
                <a:ea typeface="Times New Roman"/>
                <a:cs typeface="Times New Roman"/>
              </a:defRPr>
            </a:lvl6pPr>
            <a:lvl7pPr algn="ctr">
              <a:defRPr sz="2100" b="1">
                <a:solidFill>
                  <a:srgbClr val="326DA8"/>
                </a:solidFill>
                <a:latin typeface="Times New Roman"/>
                <a:ea typeface="Times New Roman"/>
                <a:cs typeface="Times New Roman"/>
              </a:defRPr>
            </a:lvl7pPr>
            <a:lvl8pPr algn="ctr">
              <a:defRPr sz="2100" b="1">
                <a:solidFill>
                  <a:srgbClr val="326DA8"/>
                </a:solidFill>
                <a:latin typeface="Times New Roman"/>
                <a:ea typeface="Times New Roman"/>
                <a:cs typeface="Times New Roman"/>
              </a:defRPr>
            </a:lvl8pPr>
            <a:lvl9pPr algn="ctr">
              <a:defRPr sz="2100" b="1">
                <a:solidFill>
                  <a:srgbClr val="326DA8"/>
                </a:solidFill>
                <a:latin typeface="Times New Roman"/>
                <a:ea typeface="Times New Roman"/>
                <a:cs typeface="Times New Roman"/>
              </a:defRPr>
            </a:lvl9pPr>
          </a:lstStyle>
          <a:p xmlns:a="http://schemas.openxmlformats.org/drawingml/2006/main">
            <a:pPr algn="ctr">
              <a:defRPr sz="2100" b="1">
                <a:solidFill>
                  <a:srgbClr val="326DA8"/>
                </a:solidFill>
                <a:latin typeface="Times New Roman"/>
                <a:ea typeface="Times New Roman"/>
                <a:cs typeface="Times New Roman"/>
              </a:defRPr>
            </a:pPr>
            <a:r>
              <a:rPr sz="2100" b="1">
                <a:solidFill>
                  <a:srgbClr val="326DA8"/>
                </a:solidFill>
                <a:latin typeface="Times New Roman"/>
                <a:ea typeface="Times New Roman"/>
                <a:cs typeface="Times New Roman"/>
              </a:rPr>
              <a:t>Genomic window</a:t>
            </a:r>
          </a:p>
        </p:txBody>
      </p:sp>
      <p:sp>
        <p:nvSpPr>
          <p:cNvPr id="6" name="">
            <a:extLst xmlns:a="http://schemas.openxmlformats.org/drawingml/2006/main">
              <a:ext uri="{FF2B5EF4-FFF2-40B4-BE49-F238E27FC236}">
                <a16:creationId xmlns:a16="http://schemas.microsoft.com/office/drawing/2014/main" id="{73C5261C-A705-49A1-A8FE-5D3B41621FDE}"/>
              </a:ext>
            </a:extLst>
          </p:cNvPr>
          <p:cNvSpPr>
            <a:spLocks xmlns:a="http://schemas.openxmlformats.org/drawingml/2006/main" noGrp="1"/>
          </p:cNvSpPr>
          <p:nvPr/>
        </p:nvSpPr>
        <p:spPr>
          <a:xfrm xmlns:a="http://schemas.openxmlformats.org/drawingml/2006/main">
            <a:off x="3524250" y="2238375"/>
            <a:ext cx="2095500" cy="666750"/>
          </a:xfrm>
          <a:prstGeom xmlns:a="http://schemas.openxmlformats.org/drawingml/2006/main" prst="rect">
            <a:avLst/>
          </a:prstGeom>
          <a:solidFill xmlns:a="http://schemas.openxmlformats.org/drawingml/2006/main">
            <a:srgbClr val="EAF1F8"/>
          </a:solidFill>
          <a:ln xmlns:a="http://schemas.openxmlformats.org/drawingml/2006/main" w="14288">
            <a:solidFill>
              <a:srgbClr val="326DA8"/>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326DA8"/>
                </a:solidFill>
                <a:latin typeface="Times New Roman"/>
                <a:ea typeface="Times New Roman"/>
                <a:cs typeface="Times New Roman"/>
              </a:defRPr>
            </a:defPPr>
            <a:lvl1pPr algn="ctr">
              <a:defRPr sz="2100" b="1">
                <a:solidFill>
                  <a:srgbClr val="326DA8"/>
                </a:solidFill>
                <a:latin typeface="Times New Roman"/>
                <a:ea typeface="Times New Roman"/>
                <a:cs typeface="Times New Roman"/>
              </a:defRPr>
            </a:lvl1pPr>
            <a:lvl2pPr algn="ctr">
              <a:defRPr sz="2100" b="1">
                <a:solidFill>
                  <a:srgbClr val="326DA8"/>
                </a:solidFill>
                <a:latin typeface="Times New Roman"/>
                <a:ea typeface="Times New Roman"/>
                <a:cs typeface="Times New Roman"/>
              </a:defRPr>
            </a:lvl2pPr>
            <a:lvl3pPr algn="ctr">
              <a:defRPr sz="2100" b="1">
                <a:solidFill>
                  <a:srgbClr val="326DA8"/>
                </a:solidFill>
                <a:latin typeface="Times New Roman"/>
                <a:ea typeface="Times New Roman"/>
                <a:cs typeface="Times New Roman"/>
              </a:defRPr>
            </a:lvl3pPr>
            <a:lvl4pPr algn="ctr">
              <a:defRPr sz="2100" b="1">
                <a:solidFill>
                  <a:srgbClr val="326DA8"/>
                </a:solidFill>
                <a:latin typeface="Times New Roman"/>
                <a:ea typeface="Times New Roman"/>
                <a:cs typeface="Times New Roman"/>
              </a:defRPr>
            </a:lvl4pPr>
            <a:lvl5pPr algn="ctr">
              <a:defRPr sz="2100" b="1">
                <a:solidFill>
                  <a:srgbClr val="326DA8"/>
                </a:solidFill>
                <a:latin typeface="Times New Roman"/>
                <a:ea typeface="Times New Roman"/>
                <a:cs typeface="Times New Roman"/>
              </a:defRPr>
            </a:lvl5pPr>
            <a:lvl6pPr algn="ctr">
              <a:defRPr sz="2100" b="1">
                <a:solidFill>
                  <a:srgbClr val="326DA8"/>
                </a:solidFill>
                <a:latin typeface="Times New Roman"/>
                <a:ea typeface="Times New Roman"/>
                <a:cs typeface="Times New Roman"/>
              </a:defRPr>
            </a:lvl6pPr>
            <a:lvl7pPr algn="ctr">
              <a:defRPr sz="2100" b="1">
                <a:solidFill>
                  <a:srgbClr val="326DA8"/>
                </a:solidFill>
                <a:latin typeface="Times New Roman"/>
                <a:ea typeface="Times New Roman"/>
                <a:cs typeface="Times New Roman"/>
              </a:defRPr>
            </a:lvl7pPr>
            <a:lvl8pPr algn="ctr">
              <a:defRPr sz="2100" b="1">
                <a:solidFill>
                  <a:srgbClr val="326DA8"/>
                </a:solidFill>
                <a:latin typeface="Times New Roman"/>
                <a:ea typeface="Times New Roman"/>
                <a:cs typeface="Times New Roman"/>
              </a:defRPr>
            </a:lvl8pPr>
            <a:lvl9pPr algn="ctr">
              <a:defRPr sz="2100" b="1">
                <a:solidFill>
                  <a:srgbClr val="326DA8"/>
                </a:solidFill>
                <a:latin typeface="Times New Roman"/>
                <a:ea typeface="Times New Roman"/>
                <a:cs typeface="Times New Roman"/>
              </a:defRPr>
            </a:lvl9pPr>
          </a:lstStyle>
          <a:p xmlns:a="http://schemas.openxmlformats.org/drawingml/2006/main">
            <a:pPr algn="ctr">
              <a:defRPr sz="2100" b="1">
                <a:solidFill>
                  <a:srgbClr val="326DA8"/>
                </a:solidFill>
                <a:latin typeface="Times New Roman"/>
                <a:ea typeface="Times New Roman"/>
                <a:cs typeface="Times New Roman"/>
              </a:defRPr>
            </a:pPr>
            <a:r>
              <a:rPr sz="2100" b="1">
                <a:solidFill>
                  <a:srgbClr val="326DA8"/>
                </a:solidFill>
                <a:latin typeface="Times New Roman"/>
                <a:ea typeface="Times New Roman"/>
                <a:cs typeface="Times New Roman"/>
              </a:rPr>
              <a:t>NT v2 100M</a:t>
            </a:r>
          </a:p>
        </p:txBody>
      </p:sp>
      <p:sp>
        <p:nvSpPr>
          <p:cNvPr id="8" name="">
            <a:extLst xmlns:a="http://schemas.openxmlformats.org/drawingml/2006/main">
              <a:ext uri="{FF2B5EF4-FFF2-40B4-BE49-F238E27FC236}">
                <a16:creationId xmlns:a16="http://schemas.microsoft.com/office/drawing/2014/main" id="{C2FB3FEE-5AAB-4512-9994-F7844EE598F8}"/>
              </a:ext>
            </a:extLst>
          </p:cNvPr>
          <p:cNvSpPr>
            <a:spLocks xmlns:a="http://schemas.openxmlformats.org/drawingml/2006/main" noGrp="1"/>
          </p:cNvSpPr>
          <p:nvPr/>
        </p:nvSpPr>
        <p:spPr>
          <a:xfrm xmlns:a="http://schemas.openxmlformats.org/drawingml/2006/main">
            <a:off x="6334125" y="2409825"/>
            <a:ext cx="1905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94DB57E-4520-4E6F-8A28-368764158D27}"/>
              </a:ext>
            </a:extLst>
          </p:cNvPr>
          <p:cNvSpPr>
            <a:spLocks xmlns:a="http://schemas.openxmlformats.org/drawingml/2006/main" noGrp="1"/>
          </p:cNvSpPr>
          <p:nvPr/>
        </p:nvSpPr>
        <p:spPr>
          <a:xfrm xmlns:a="http://schemas.openxmlformats.org/drawingml/2006/main">
            <a:off x="6572250" y="2409825"/>
            <a:ext cx="1905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E1B5FD5-147C-4D44-9D3C-36369E4022C1}"/>
              </a:ext>
            </a:extLst>
          </p:cNvPr>
          <p:cNvSpPr>
            <a:spLocks xmlns:a="http://schemas.openxmlformats.org/drawingml/2006/main" noGrp="1"/>
          </p:cNvSpPr>
          <p:nvPr/>
        </p:nvSpPr>
        <p:spPr>
          <a:xfrm xmlns:a="http://schemas.openxmlformats.org/drawingml/2006/main">
            <a:off x="6810375" y="2409825"/>
            <a:ext cx="1905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356F594-3ABE-4A85-B055-E47B26BF837C}"/>
              </a:ext>
            </a:extLst>
          </p:cNvPr>
          <p:cNvSpPr>
            <a:spLocks xmlns:a="http://schemas.openxmlformats.org/drawingml/2006/main" noGrp="1"/>
          </p:cNvSpPr>
          <p:nvPr/>
        </p:nvSpPr>
        <p:spPr>
          <a:xfrm xmlns:a="http://schemas.openxmlformats.org/drawingml/2006/main">
            <a:off x="7048500" y="2409825"/>
            <a:ext cx="1905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237AB99-4BF0-4C33-BD19-FCB7CCA34CD4}"/>
              </a:ext>
            </a:extLst>
          </p:cNvPr>
          <p:cNvSpPr>
            <a:spLocks xmlns:a="http://schemas.openxmlformats.org/drawingml/2006/main" noGrp="1"/>
          </p:cNvSpPr>
          <p:nvPr/>
        </p:nvSpPr>
        <p:spPr>
          <a:xfrm xmlns:a="http://schemas.openxmlformats.org/drawingml/2006/main">
            <a:off x="7286625" y="2409825"/>
            <a:ext cx="1905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C1A8748-8013-42E5-801C-5DDE1D006DE5}"/>
              </a:ext>
            </a:extLst>
          </p:cNvPr>
          <p:cNvSpPr>
            <a:spLocks xmlns:a="http://schemas.openxmlformats.org/drawingml/2006/main" noGrp="1"/>
          </p:cNvSpPr>
          <p:nvPr/>
        </p:nvSpPr>
        <p:spPr>
          <a:xfrm xmlns:a="http://schemas.openxmlformats.org/drawingml/2006/main">
            <a:off x="7524750" y="2409825"/>
            <a:ext cx="1905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AA107DD-CFAB-4AFC-B3D1-9A3E6CBCEB9E}"/>
              </a:ext>
            </a:extLst>
          </p:cNvPr>
          <p:cNvSpPr>
            <a:spLocks xmlns:a="http://schemas.openxmlformats.org/drawingml/2006/main" noGrp="1"/>
          </p:cNvSpPr>
          <p:nvPr/>
        </p:nvSpPr>
        <p:spPr>
          <a:xfrm xmlns:a="http://schemas.openxmlformats.org/drawingml/2006/main">
            <a:off x="7762875" y="2409825"/>
            <a:ext cx="190500" cy="304800"/>
          </a:xfrm>
          <a:prstGeom xmlns:a="http://schemas.openxmlformats.org/drawingml/2006/main" prst="rect">
            <a:avLst/>
          </a:prstGeom>
          <a:solidFill xmlns:a="http://schemas.openxmlformats.org/drawingml/2006/main">
            <a:srgbClr val="326DA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5341714-0D3C-4B25-9230-48237DE97EAA}"/>
              </a:ext>
            </a:extLst>
          </p:cNvPr>
          <p:cNvSpPr>
            <a:spLocks xmlns:a="http://schemas.openxmlformats.org/drawingml/2006/main" noGrp="1"/>
          </p:cNvSpPr>
          <p:nvPr/>
        </p:nvSpPr>
        <p:spPr>
          <a:xfrm xmlns:a="http://schemas.openxmlformats.org/drawingml/2006/main">
            <a:off x="428625" y="3362325"/>
            <a:ext cx="2381250" cy="66675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167D77"/>
                </a:solidFill>
                <a:latin typeface="Times New Roman"/>
                <a:ea typeface="Times New Roman"/>
                <a:cs typeface="Times New Roman"/>
              </a:defRPr>
            </a:defPPr>
            <a:lvl1pPr algn="ctr">
              <a:defRPr sz="2100" b="1">
                <a:solidFill>
                  <a:srgbClr val="167D77"/>
                </a:solidFill>
                <a:latin typeface="Times New Roman"/>
                <a:ea typeface="Times New Roman"/>
                <a:cs typeface="Times New Roman"/>
              </a:defRPr>
            </a:lvl1pPr>
            <a:lvl2pPr algn="ctr">
              <a:defRPr sz="2100" b="1">
                <a:solidFill>
                  <a:srgbClr val="167D77"/>
                </a:solidFill>
                <a:latin typeface="Times New Roman"/>
                <a:ea typeface="Times New Roman"/>
                <a:cs typeface="Times New Roman"/>
              </a:defRPr>
            </a:lvl2pPr>
            <a:lvl3pPr algn="ctr">
              <a:defRPr sz="2100" b="1">
                <a:solidFill>
                  <a:srgbClr val="167D77"/>
                </a:solidFill>
                <a:latin typeface="Times New Roman"/>
                <a:ea typeface="Times New Roman"/>
                <a:cs typeface="Times New Roman"/>
              </a:defRPr>
            </a:lvl3pPr>
            <a:lvl4pPr algn="ctr">
              <a:defRPr sz="2100" b="1">
                <a:solidFill>
                  <a:srgbClr val="167D77"/>
                </a:solidFill>
                <a:latin typeface="Times New Roman"/>
                <a:ea typeface="Times New Roman"/>
                <a:cs typeface="Times New Roman"/>
              </a:defRPr>
            </a:lvl4pPr>
            <a:lvl5pPr algn="ctr">
              <a:defRPr sz="2100" b="1">
                <a:solidFill>
                  <a:srgbClr val="167D77"/>
                </a:solidFill>
                <a:latin typeface="Times New Roman"/>
                <a:ea typeface="Times New Roman"/>
                <a:cs typeface="Times New Roman"/>
              </a:defRPr>
            </a:lvl5pPr>
            <a:lvl6pPr algn="ctr">
              <a:defRPr sz="2100" b="1">
                <a:solidFill>
                  <a:srgbClr val="167D77"/>
                </a:solidFill>
                <a:latin typeface="Times New Roman"/>
                <a:ea typeface="Times New Roman"/>
                <a:cs typeface="Times New Roman"/>
              </a:defRPr>
            </a:lvl6pPr>
            <a:lvl7pPr algn="ctr">
              <a:defRPr sz="2100" b="1">
                <a:solidFill>
                  <a:srgbClr val="167D77"/>
                </a:solidFill>
                <a:latin typeface="Times New Roman"/>
                <a:ea typeface="Times New Roman"/>
                <a:cs typeface="Times New Roman"/>
              </a:defRPr>
            </a:lvl7pPr>
            <a:lvl8pPr algn="ctr">
              <a:defRPr sz="2100" b="1">
                <a:solidFill>
                  <a:srgbClr val="167D77"/>
                </a:solidFill>
                <a:latin typeface="Times New Roman"/>
                <a:ea typeface="Times New Roman"/>
                <a:cs typeface="Times New Roman"/>
              </a:defRPr>
            </a:lvl8pPr>
            <a:lvl9pPr algn="ctr">
              <a:defRPr sz="2100" b="1">
                <a:solidFill>
                  <a:srgbClr val="167D77"/>
                </a:solidFill>
                <a:latin typeface="Times New Roman"/>
                <a:ea typeface="Times New Roman"/>
                <a:cs typeface="Times New Roman"/>
              </a:defRPr>
            </a:lvl9pPr>
          </a:lstStyle>
          <a:p xmlns:a="http://schemas.openxmlformats.org/drawingml/2006/main">
            <a:pPr algn="ctr">
              <a:defRPr sz="2100" b="1">
                <a:solidFill>
                  <a:srgbClr val="167D77"/>
                </a:solidFill>
                <a:latin typeface="Times New Roman"/>
                <a:ea typeface="Times New Roman"/>
                <a:cs typeface="Times New Roman"/>
              </a:defRPr>
            </a:pPr>
            <a:r>
              <a:rPr sz="2100" b="1">
                <a:solidFill>
                  <a:srgbClr val="167D77"/>
                </a:solidFill>
                <a:latin typeface="Times New Roman"/>
                <a:ea typeface="Times New Roman"/>
                <a:cs typeface="Times New Roman"/>
              </a:rPr>
              <a:t>Transcript RNA</a:t>
            </a:r>
          </a:p>
        </p:txBody>
      </p:sp>
      <p:sp>
        <p:nvSpPr>
          <p:cNvPr id="17" name="">
            <a:extLst xmlns:a="http://schemas.openxmlformats.org/drawingml/2006/main">
              <a:ext uri="{FF2B5EF4-FFF2-40B4-BE49-F238E27FC236}">
                <a16:creationId xmlns:a16="http://schemas.microsoft.com/office/drawing/2014/main" id="{541FF640-7485-415B-A325-AA6D3958247A}"/>
              </a:ext>
            </a:extLst>
          </p:cNvPr>
          <p:cNvSpPr>
            <a:spLocks xmlns:a="http://schemas.openxmlformats.org/drawingml/2006/main" noGrp="1"/>
          </p:cNvSpPr>
          <p:nvPr/>
        </p:nvSpPr>
        <p:spPr>
          <a:xfrm xmlns:a="http://schemas.openxmlformats.org/drawingml/2006/main">
            <a:off x="3524250" y="3362325"/>
            <a:ext cx="2095500" cy="66675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167D77"/>
                </a:solidFill>
                <a:latin typeface="Times New Roman"/>
                <a:ea typeface="Times New Roman"/>
                <a:cs typeface="Times New Roman"/>
              </a:defRPr>
            </a:defPPr>
            <a:lvl1pPr algn="ctr">
              <a:defRPr sz="2100" b="1">
                <a:solidFill>
                  <a:srgbClr val="167D77"/>
                </a:solidFill>
                <a:latin typeface="Times New Roman"/>
                <a:ea typeface="Times New Roman"/>
                <a:cs typeface="Times New Roman"/>
              </a:defRPr>
            </a:lvl1pPr>
            <a:lvl2pPr algn="ctr">
              <a:defRPr sz="2100" b="1">
                <a:solidFill>
                  <a:srgbClr val="167D77"/>
                </a:solidFill>
                <a:latin typeface="Times New Roman"/>
                <a:ea typeface="Times New Roman"/>
                <a:cs typeface="Times New Roman"/>
              </a:defRPr>
            </a:lvl2pPr>
            <a:lvl3pPr algn="ctr">
              <a:defRPr sz="2100" b="1">
                <a:solidFill>
                  <a:srgbClr val="167D77"/>
                </a:solidFill>
                <a:latin typeface="Times New Roman"/>
                <a:ea typeface="Times New Roman"/>
                <a:cs typeface="Times New Roman"/>
              </a:defRPr>
            </a:lvl3pPr>
            <a:lvl4pPr algn="ctr">
              <a:defRPr sz="2100" b="1">
                <a:solidFill>
                  <a:srgbClr val="167D77"/>
                </a:solidFill>
                <a:latin typeface="Times New Roman"/>
                <a:ea typeface="Times New Roman"/>
                <a:cs typeface="Times New Roman"/>
              </a:defRPr>
            </a:lvl4pPr>
            <a:lvl5pPr algn="ctr">
              <a:defRPr sz="2100" b="1">
                <a:solidFill>
                  <a:srgbClr val="167D77"/>
                </a:solidFill>
                <a:latin typeface="Times New Roman"/>
                <a:ea typeface="Times New Roman"/>
                <a:cs typeface="Times New Roman"/>
              </a:defRPr>
            </a:lvl5pPr>
            <a:lvl6pPr algn="ctr">
              <a:defRPr sz="2100" b="1">
                <a:solidFill>
                  <a:srgbClr val="167D77"/>
                </a:solidFill>
                <a:latin typeface="Times New Roman"/>
                <a:ea typeface="Times New Roman"/>
                <a:cs typeface="Times New Roman"/>
              </a:defRPr>
            </a:lvl6pPr>
            <a:lvl7pPr algn="ctr">
              <a:defRPr sz="2100" b="1">
                <a:solidFill>
                  <a:srgbClr val="167D77"/>
                </a:solidFill>
                <a:latin typeface="Times New Roman"/>
                <a:ea typeface="Times New Roman"/>
                <a:cs typeface="Times New Roman"/>
              </a:defRPr>
            </a:lvl7pPr>
            <a:lvl8pPr algn="ctr">
              <a:defRPr sz="2100" b="1">
                <a:solidFill>
                  <a:srgbClr val="167D77"/>
                </a:solidFill>
                <a:latin typeface="Times New Roman"/>
                <a:ea typeface="Times New Roman"/>
                <a:cs typeface="Times New Roman"/>
              </a:defRPr>
            </a:lvl8pPr>
            <a:lvl9pPr algn="ctr">
              <a:defRPr sz="2100" b="1">
                <a:solidFill>
                  <a:srgbClr val="167D77"/>
                </a:solidFill>
                <a:latin typeface="Times New Roman"/>
                <a:ea typeface="Times New Roman"/>
                <a:cs typeface="Times New Roman"/>
              </a:defRPr>
            </a:lvl9pPr>
          </a:lstStyle>
          <a:p xmlns:a="http://schemas.openxmlformats.org/drawingml/2006/main">
            <a:pPr algn="ctr">
              <a:defRPr sz="2100" b="1">
                <a:solidFill>
                  <a:srgbClr val="167D77"/>
                </a:solidFill>
                <a:latin typeface="Times New Roman"/>
                <a:ea typeface="Times New Roman"/>
                <a:cs typeface="Times New Roman"/>
              </a:defRPr>
            </a:pPr>
            <a:r>
              <a:rPr sz="2100" b="1">
                <a:solidFill>
                  <a:srgbClr val="167D77"/>
                </a:solidFill>
                <a:latin typeface="Times New Roman"/>
                <a:ea typeface="Times New Roman"/>
                <a:cs typeface="Times New Roman"/>
              </a:rPr>
              <a:t>NT v2 100M</a:t>
            </a:r>
          </a:p>
        </p:txBody>
      </p:sp>
      <p:sp>
        <p:nvSpPr>
          <p:cNvPr id="19" name="">
            <a:extLst xmlns:a="http://schemas.openxmlformats.org/drawingml/2006/main">
              <a:ext uri="{FF2B5EF4-FFF2-40B4-BE49-F238E27FC236}">
                <a16:creationId xmlns:a16="http://schemas.microsoft.com/office/drawing/2014/main" id="{BB427456-2CBD-4C6D-A145-F92AC108CEA0}"/>
              </a:ext>
            </a:extLst>
          </p:cNvPr>
          <p:cNvSpPr>
            <a:spLocks xmlns:a="http://schemas.openxmlformats.org/drawingml/2006/main" noGrp="1"/>
          </p:cNvSpPr>
          <p:nvPr/>
        </p:nvSpPr>
        <p:spPr>
          <a:xfrm xmlns:a="http://schemas.openxmlformats.org/drawingml/2006/main">
            <a:off x="6334125" y="3533775"/>
            <a:ext cx="28575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4F44AF8-3870-43BA-9C5B-9B3C58A1FCE8}"/>
              </a:ext>
            </a:extLst>
          </p:cNvPr>
          <p:cNvSpPr>
            <a:spLocks xmlns:a="http://schemas.openxmlformats.org/drawingml/2006/main" noGrp="1"/>
          </p:cNvSpPr>
          <p:nvPr/>
        </p:nvSpPr>
        <p:spPr>
          <a:xfrm xmlns:a="http://schemas.openxmlformats.org/drawingml/2006/main">
            <a:off x="6667500" y="3533775"/>
            <a:ext cx="28575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4BEAF73-BEF3-4A80-9E28-D1FB44E4302B}"/>
              </a:ext>
            </a:extLst>
          </p:cNvPr>
          <p:cNvSpPr>
            <a:spLocks xmlns:a="http://schemas.openxmlformats.org/drawingml/2006/main" noGrp="1"/>
          </p:cNvSpPr>
          <p:nvPr/>
        </p:nvSpPr>
        <p:spPr>
          <a:xfrm xmlns:a="http://schemas.openxmlformats.org/drawingml/2006/main">
            <a:off x="7000875" y="3533775"/>
            <a:ext cx="28575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39B05FC-3A60-4715-99EC-10D241366410}"/>
              </a:ext>
            </a:extLst>
          </p:cNvPr>
          <p:cNvSpPr>
            <a:spLocks xmlns:a="http://schemas.openxmlformats.org/drawingml/2006/main" noGrp="1"/>
          </p:cNvSpPr>
          <p:nvPr/>
        </p:nvSpPr>
        <p:spPr>
          <a:xfrm xmlns:a="http://schemas.openxmlformats.org/drawingml/2006/main">
            <a:off x="7334250" y="3533775"/>
            <a:ext cx="28575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DC4D282-A8EB-48CE-BEBC-9E5F2A1F59D3}"/>
              </a:ext>
            </a:extLst>
          </p:cNvPr>
          <p:cNvSpPr>
            <a:spLocks xmlns:a="http://schemas.openxmlformats.org/drawingml/2006/main" noGrp="1"/>
          </p:cNvSpPr>
          <p:nvPr/>
        </p:nvSpPr>
        <p:spPr>
          <a:xfrm xmlns:a="http://schemas.openxmlformats.org/drawingml/2006/main">
            <a:off x="7667625" y="3533775"/>
            <a:ext cx="285750" cy="304800"/>
          </a:xfrm>
          <a:prstGeom xmlns:a="http://schemas.openxmlformats.org/drawingml/2006/main" prst="rect">
            <a:avLst/>
          </a:prstGeom>
          <a:solidFill xmlns:a="http://schemas.openxmlformats.org/drawingml/2006/main">
            <a:srgbClr val="167D7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1565B3D-B17F-48E6-83DC-196826CC41C6}"/>
              </a:ext>
            </a:extLst>
          </p:cNvPr>
          <p:cNvSpPr>
            <a:spLocks xmlns:a="http://schemas.openxmlformats.org/drawingml/2006/main" noGrp="1"/>
          </p:cNvSpPr>
          <p:nvPr/>
        </p:nvSpPr>
        <p:spPr>
          <a:xfrm xmlns:a="http://schemas.openxmlformats.org/drawingml/2006/main">
            <a:off x="428625" y="4486275"/>
            <a:ext cx="2381250" cy="666750"/>
          </a:xfrm>
          <a:prstGeom xmlns:a="http://schemas.openxmlformats.org/drawingml/2006/main" prst="rect">
            <a:avLst/>
          </a:prstGeom>
          <a:solidFill xmlns:a="http://schemas.openxmlformats.org/drawingml/2006/main">
            <a:srgbClr val="F0EAF5"/>
          </a:solidFill>
          <a:ln xmlns:a="http://schemas.openxmlformats.org/drawingml/2006/main" w="14288">
            <a:solidFill>
              <a:srgbClr val="815897"/>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815897"/>
                </a:solidFill>
                <a:latin typeface="Times New Roman"/>
                <a:ea typeface="Times New Roman"/>
                <a:cs typeface="Times New Roman"/>
              </a:defRPr>
            </a:defPPr>
            <a:lvl1pPr algn="ctr">
              <a:defRPr sz="2100" b="1">
                <a:solidFill>
                  <a:srgbClr val="815897"/>
                </a:solidFill>
                <a:latin typeface="Times New Roman"/>
                <a:ea typeface="Times New Roman"/>
                <a:cs typeface="Times New Roman"/>
              </a:defRPr>
            </a:lvl1pPr>
            <a:lvl2pPr algn="ctr">
              <a:defRPr sz="2100" b="1">
                <a:solidFill>
                  <a:srgbClr val="815897"/>
                </a:solidFill>
                <a:latin typeface="Times New Roman"/>
                <a:ea typeface="Times New Roman"/>
                <a:cs typeface="Times New Roman"/>
              </a:defRPr>
            </a:lvl2pPr>
            <a:lvl3pPr algn="ctr">
              <a:defRPr sz="2100" b="1">
                <a:solidFill>
                  <a:srgbClr val="815897"/>
                </a:solidFill>
                <a:latin typeface="Times New Roman"/>
                <a:ea typeface="Times New Roman"/>
                <a:cs typeface="Times New Roman"/>
              </a:defRPr>
            </a:lvl3pPr>
            <a:lvl4pPr algn="ctr">
              <a:defRPr sz="2100" b="1">
                <a:solidFill>
                  <a:srgbClr val="815897"/>
                </a:solidFill>
                <a:latin typeface="Times New Roman"/>
                <a:ea typeface="Times New Roman"/>
                <a:cs typeface="Times New Roman"/>
              </a:defRPr>
            </a:lvl4pPr>
            <a:lvl5pPr algn="ctr">
              <a:defRPr sz="2100" b="1">
                <a:solidFill>
                  <a:srgbClr val="815897"/>
                </a:solidFill>
                <a:latin typeface="Times New Roman"/>
                <a:ea typeface="Times New Roman"/>
                <a:cs typeface="Times New Roman"/>
              </a:defRPr>
            </a:lvl5pPr>
            <a:lvl6pPr algn="ctr">
              <a:defRPr sz="2100" b="1">
                <a:solidFill>
                  <a:srgbClr val="815897"/>
                </a:solidFill>
                <a:latin typeface="Times New Roman"/>
                <a:ea typeface="Times New Roman"/>
                <a:cs typeface="Times New Roman"/>
              </a:defRPr>
            </a:lvl6pPr>
            <a:lvl7pPr algn="ctr">
              <a:defRPr sz="2100" b="1">
                <a:solidFill>
                  <a:srgbClr val="815897"/>
                </a:solidFill>
                <a:latin typeface="Times New Roman"/>
                <a:ea typeface="Times New Roman"/>
                <a:cs typeface="Times New Roman"/>
              </a:defRPr>
            </a:lvl7pPr>
            <a:lvl8pPr algn="ctr">
              <a:defRPr sz="2100" b="1">
                <a:solidFill>
                  <a:srgbClr val="815897"/>
                </a:solidFill>
                <a:latin typeface="Times New Roman"/>
                <a:ea typeface="Times New Roman"/>
                <a:cs typeface="Times New Roman"/>
              </a:defRPr>
            </a:lvl8pPr>
            <a:lvl9pPr algn="ctr">
              <a:defRPr sz="2100" b="1">
                <a:solidFill>
                  <a:srgbClr val="815897"/>
                </a:solidFill>
                <a:latin typeface="Times New Roman"/>
                <a:ea typeface="Times New Roman"/>
                <a:cs typeface="Times New Roman"/>
              </a:defRPr>
            </a:lvl9pPr>
          </a:lstStyle>
          <a:p xmlns:a="http://schemas.openxmlformats.org/drawingml/2006/main">
            <a:pPr algn="ctr">
              <a:defRPr sz="2100" b="1">
                <a:solidFill>
                  <a:srgbClr val="815897"/>
                </a:solidFill>
                <a:latin typeface="Times New Roman"/>
                <a:ea typeface="Times New Roman"/>
                <a:cs typeface="Times New Roman"/>
              </a:defRPr>
            </a:pPr>
            <a:r>
              <a:rPr sz="2100" b="1">
                <a:solidFill>
                  <a:srgbClr val="815897"/>
                </a:solidFill>
                <a:latin typeface="Times New Roman"/>
                <a:ea typeface="Times New Roman"/>
                <a:cs typeface="Times New Roman"/>
              </a:rPr>
              <a:t>Protein</a:t>
            </a:r>
          </a:p>
        </p:txBody>
      </p:sp>
      <p:sp>
        <p:nvSpPr>
          <p:cNvPr id="26" name="">
            <a:extLst xmlns:a="http://schemas.openxmlformats.org/drawingml/2006/main">
              <a:ext uri="{FF2B5EF4-FFF2-40B4-BE49-F238E27FC236}">
                <a16:creationId xmlns:a16="http://schemas.microsoft.com/office/drawing/2014/main" id="{0B2AE1FF-D56C-49C8-8E4D-18FBAB3CB473}"/>
              </a:ext>
            </a:extLst>
          </p:cNvPr>
          <p:cNvSpPr>
            <a:spLocks xmlns:a="http://schemas.openxmlformats.org/drawingml/2006/main" noGrp="1"/>
          </p:cNvSpPr>
          <p:nvPr/>
        </p:nvSpPr>
        <p:spPr>
          <a:xfrm xmlns:a="http://schemas.openxmlformats.org/drawingml/2006/main">
            <a:off x="3524250" y="4486275"/>
            <a:ext cx="2095500" cy="666750"/>
          </a:xfrm>
          <a:prstGeom xmlns:a="http://schemas.openxmlformats.org/drawingml/2006/main" prst="rect">
            <a:avLst/>
          </a:prstGeom>
          <a:solidFill xmlns:a="http://schemas.openxmlformats.org/drawingml/2006/main">
            <a:srgbClr val="F0EAF5"/>
          </a:solidFill>
          <a:ln xmlns:a="http://schemas.openxmlformats.org/drawingml/2006/main" w="14288">
            <a:solidFill>
              <a:srgbClr val="815897"/>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815897"/>
                </a:solidFill>
                <a:latin typeface="Times New Roman"/>
                <a:ea typeface="Times New Roman"/>
                <a:cs typeface="Times New Roman"/>
              </a:defRPr>
            </a:defPPr>
            <a:lvl1pPr algn="ctr">
              <a:defRPr sz="2100" b="1">
                <a:solidFill>
                  <a:srgbClr val="815897"/>
                </a:solidFill>
                <a:latin typeface="Times New Roman"/>
                <a:ea typeface="Times New Roman"/>
                <a:cs typeface="Times New Roman"/>
              </a:defRPr>
            </a:lvl1pPr>
            <a:lvl2pPr algn="ctr">
              <a:defRPr sz="2100" b="1">
                <a:solidFill>
                  <a:srgbClr val="815897"/>
                </a:solidFill>
                <a:latin typeface="Times New Roman"/>
                <a:ea typeface="Times New Roman"/>
                <a:cs typeface="Times New Roman"/>
              </a:defRPr>
            </a:lvl2pPr>
            <a:lvl3pPr algn="ctr">
              <a:defRPr sz="2100" b="1">
                <a:solidFill>
                  <a:srgbClr val="815897"/>
                </a:solidFill>
                <a:latin typeface="Times New Roman"/>
                <a:ea typeface="Times New Roman"/>
                <a:cs typeface="Times New Roman"/>
              </a:defRPr>
            </a:lvl3pPr>
            <a:lvl4pPr algn="ctr">
              <a:defRPr sz="2100" b="1">
                <a:solidFill>
                  <a:srgbClr val="815897"/>
                </a:solidFill>
                <a:latin typeface="Times New Roman"/>
                <a:ea typeface="Times New Roman"/>
                <a:cs typeface="Times New Roman"/>
              </a:defRPr>
            </a:lvl4pPr>
            <a:lvl5pPr algn="ctr">
              <a:defRPr sz="2100" b="1">
                <a:solidFill>
                  <a:srgbClr val="815897"/>
                </a:solidFill>
                <a:latin typeface="Times New Roman"/>
                <a:ea typeface="Times New Roman"/>
                <a:cs typeface="Times New Roman"/>
              </a:defRPr>
            </a:lvl5pPr>
            <a:lvl6pPr algn="ctr">
              <a:defRPr sz="2100" b="1">
                <a:solidFill>
                  <a:srgbClr val="815897"/>
                </a:solidFill>
                <a:latin typeface="Times New Roman"/>
                <a:ea typeface="Times New Roman"/>
                <a:cs typeface="Times New Roman"/>
              </a:defRPr>
            </a:lvl6pPr>
            <a:lvl7pPr algn="ctr">
              <a:defRPr sz="2100" b="1">
                <a:solidFill>
                  <a:srgbClr val="815897"/>
                </a:solidFill>
                <a:latin typeface="Times New Roman"/>
                <a:ea typeface="Times New Roman"/>
                <a:cs typeface="Times New Roman"/>
              </a:defRPr>
            </a:lvl7pPr>
            <a:lvl8pPr algn="ctr">
              <a:defRPr sz="2100" b="1">
                <a:solidFill>
                  <a:srgbClr val="815897"/>
                </a:solidFill>
                <a:latin typeface="Times New Roman"/>
                <a:ea typeface="Times New Roman"/>
                <a:cs typeface="Times New Roman"/>
              </a:defRPr>
            </a:lvl8pPr>
            <a:lvl9pPr algn="ctr">
              <a:defRPr sz="2100" b="1">
                <a:solidFill>
                  <a:srgbClr val="815897"/>
                </a:solidFill>
                <a:latin typeface="Times New Roman"/>
                <a:ea typeface="Times New Roman"/>
                <a:cs typeface="Times New Roman"/>
              </a:defRPr>
            </a:lvl9pPr>
          </a:lstStyle>
          <a:p xmlns:a="http://schemas.openxmlformats.org/drawingml/2006/main">
            <a:pPr algn="ctr">
              <a:defRPr sz="2100" b="1">
                <a:solidFill>
                  <a:srgbClr val="815897"/>
                </a:solidFill>
                <a:latin typeface="Times New Roman"/>
                <a:ea typeface="Times New Roman"/>
                <a:cs typeface="Times New Roman"/>
              </a:defRPr>
            </a:pPr>
            <a:r>
              <a:rPr sz="2100" b="1">
                <a:solidFill>
                  <a:srgbClr val="815897"/>
                </a:solidFill>
                <a:latin typeface="Times New Roman"/>
                <a:ea typeface="Times New Roman"/>
                <a:cs typeface="Times New Roman"/>
              </a:rPr>
              <a:t>ESM-2 150M</a:t>
            </a:r>
          </a:p>
        </p:txBody>
      </p:sp>
      <p:sp>
        <p:nvSpPr>
          <p:cNvPr id="28" name="">
            <a:extLst xmlns:a="http://schemas.openxmlformats.org/drawingml/2006/main">
              <a:ext uri="{FF2B5EF4-FFF2-40B4-BE49-F238E27FC236}">
                <a16:creationId xmlns:a16="http://schemas.microsoft.com/office/drawing/2014/main" id="{DAE64D0C-68E8-4FDB-B935-180D2492E9D2}"/>
              </a:ext>
            </a:extLst>
          </p:cNvPr>
          <p:cNvSpPr>
            <a:spLocks xmlns:a="http://schemas.openxmlformats.org/drawingml/2006/main" noGrp="1"/>
          </p:cNvSpPr>
          <p:nvPr/>
        </p:nvSpPr>
        <p:spPr>
          <a:xfrm xmlns:a="http://schemas.openxmlformats.org/drawingml/2006/main">
            <a:off x="6334125" y="4657725"/>
            <a:ext cx="5080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EE1BF07-F076-462B-BB83-D6347253A0ED}"/>
              </a:ext>
            </a:extLst>
          </p:cNvPr>
          <p:cNvSpPr>
            <a:spLocks xmlns:a="http://schemas.openxmlformats.org/drawingml/2006/main" noGrp="1"/>
          </p:cNvSpPr>
          <p:nvPr/>
        </p:nvSpPr>
        <p:spPr>
          <a:xfrm xmlns:a="http://schemas.openxmlformats.org/drawingml/2006/main">
            <a:off x="6889750" y="4657725"/>
            <a:ext cx="5080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C8844B6-CA1D-419A-8B5C-83159BEC5A43}"/>
              </a:ext>
            </a:extLst>
          </p:cNvPr>
          <p:cNvSpPr>
            <a:spLocks xmlns:a="http://schemas.openxmlformats.org/drawingml/2006/main" noGrp="1"/>
          </p:cNvSpPr>
          <p:nvPr/>
        </p:nvSpPr>
        <p:spPr>
          <a:xfrm xmlns:a="http://schemas.openxmlformats.org/drawingml/2006/main">
            <a:off x="7445375" y="4657725"/>
            <a:ext cx="508000" cy="304800"/>
          </a:xfrm>
          <a:prstGeom xmlns:a="http://schemas.openxmlformats.org/drawingml/2006/main" prst="rect">
            <a:avLst/>
          </a:prstGeom>
          <a:solidFill xmlns:a="http://schemas.openxmlformats.org/drawingml/2006/main">
            <a:srgbClr val="81589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204578B-A623-4031-8959-4AF2B8B05EBD}"/>
              </a:ext>
            </a:extLst>
          </p:cNvPr>
          <p:cNvSpPr>
            <a:spLocks xmlns:a="http://schemas.openxmlformats.org/drawingml/2006/main" noGrp="1"/>
          </p:cNvSpPr>
          <p:nvPr/>
        </p:nvSpPr>
        <p:spPr>
          <a:xfrm xmlns:a="http://schemas.openxmlformats.org/drawingml/2006/main">
            <a:off x="8715375" y="3095625"/>
            <a:ext cx="2857500" cy="904875"/>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14324B"/>
                </a:solidFill>
                <a:latin typeface="Times New Roman"/>
                <a:ea typeface="Times New Roman"/>
                <a:cs typeface="Times New Roman"/>
              </a:defRPr>
            </a:defPPr>
            <a:lvl1pPr algn="ctr">
              <a:defRPr sz="2100" b="1">
                <a:solidFill>
                  <a:srgbClr val="14324B"/>
                </a:solidFill>
                <a:latin typeface="Times New Roman"/>
                <a:ea typeface="Times New Roman"/>
                <a:cs typeface="Times New Roman"/>
              </a:defRPr>
            </a:lvl1pPr>
            <a:lvl2pPr algn="ctr">
              <a:defRPr sz="2100" b="1">
                <a:solidFill>
                  <a:srgbClr val="14324B"/>
                </a:solidFill>
                <a:latin typeface="Times New Roman"/>
                <a:ea typeface="Times New Roman"/>
                <a:cs typeface="Times New Roman"/>
              </a:defRPr>
            </a:lvl2pPr>
            <a:lvl3pPr algn="ctr">
              <a:defRPr sz="2100" b="1">
                <a:solidFill>
                  <a:srgbClr val="14324B"/>
                </a:solidFill>
                <a:latin typeface="Times New Roman"/>
                <a:ea typeface="Times New Roman"/>
                <a:cs typeface="Times New Roman"/>
              </a:defRPr>
            </a:lvl3pPr>
            <a:lvl4pPr algn="ctr">
              <a:defRPr sz="2100" b="1">
                <a:solidFill>
                  <a:srgbClr val="14324B"/>
                </a:solidFill>
                <a:latin typeface="Times New Roman"/>
                <a:ea typeface="Times New Roman"/>
                <a:cs typeface="Times New Roman"/>
              </a:defRPr>
            </a:lvl4pPr>
            <a:lvl5pPr algn="ctr">
              <a:defRPr sz="2100" b="1">
                <a:solidFill>
                  <a:srgbClr val="14324B"/>
                </a:solidFill>
                <a:latin typeface="Times New Roman"/>
                <a:ea typeface="Times New Roman"/>
                <a:cs typeface="Times New Roman"/>
              </a:defRPr>
            </a:lvl5pPr>
            <a:lvl6pPr algn="ctr">
              <a:defRPr sz="2100" b="1">
                <a:solidFill>
                  <a:srgbClr val="14324B"/>
                </a:solidFill>
                <a:latin typeface="Times New Roman"/>
                <a:ea typeface="Times New Roman"/>
                <a:cs typeface="Times New Roman"/>
              </a:defRPr>
            </a:lvl6pPr>
            <a:lvl7pPr algn="ctr">
              <a:defRPr sz="2100" b="1">
                <a:solidFill>
                  <a:srgbClr val="14324B"/>
                </a:solidFill>
                <a:latin typeface="Times New Roman"/>
                <a:ea typeface="Times New Roman"/>
                <a:cs typeface="Times New Roman"/>
              </a:defRPr>
            </a:lvl7pPr>
            <a:lvl8pPr algn="ctr">
              <a:defRPr sz="2100" b="1">
                <a:solidFill>
                  <a:srgbClr val="14324B"/>
                </a:solidFill>
                <a:latin typeface="Times New Roman"/>
                <a:ea typeface="Times New Roman"/>
                <a:cs typeface="Times New Roman"/>
              </a:defRPr>
            </a:lvl8pPr>
            <a:lvl9pPr algn="ctr">
              <a:defRPr sz="2100" b="1">
                <a:solidFill>
                  <a:srgbClr val="14324B"/>
                </a:solidFill>
                <a:latin typeface="Times New Roman"/>
                <a:ea typeface="Times New Roman"/>
                <a:cs typeface="Times New Roman"/>
              </a:defRPr>
            </a:lvl9pPr>
          </a:lstStyle>
          <a:p xmlns:a="http://schemas.openxmlformats.org/drawingml/2006/main">
            <a:pPr algn="ctr">
              <a:defRPr sz="2100" b="1">
                <a:solidFill>
                  <a:srgbClr val="14324B"/>
                </a:solidFill>
                <a:latin typeface="Times New Roman"/>
                <a:ea typeface="Times New Roman"/>
                <a:cs typeface="Times New Roman"/>
              </a:defRPr>
            </a:pPr>
            <a:r>
              <a:rPr sz="2100" b="1">
                <a:solidFill>
                  <a:srgbClr val="14324B"/>
                </a:solidFill>
                <a:latin typeface="Times New Roman"/>
                <a:ea typeface="Times New Roman"/>
                <a:cs typeface="Times New Roman"/>
              </a:rPr>
              <a:t>IsoFormer-style</a:t>
            </a:r>
          </a:p>
          <a:p xmlns:a="http://schemas.openxmlformats.org/drawingml/2006/main">
            <a:pPr algn="ctr">
              <a:defRPr sz="2100" b="1">
                <a:solidFill>
                  <a:srgbClr val="14324B"/>
                </a:solidFill>
                <a:latin typeface="Times New Roman"/>
                <a:ea typeface="Times New Roman"/>
                <a:cs typeface="Times New Roman"/>
              </a:defRPr>
            </a:pPr>
            <a:r>
              <a:rPr sz="2100" b="1">
                <a:solidFill>
                  <a:srgbClr val="14324B"/>
                </a:solidFill>
                <a:latin typeface="Times New Roman"/>
                <a:ea typeface="Times New Roman"/>
                <a:cs typeface="Times New Roman"/>
              </a:rPr>
              <a:t>cross-attention</a:t>
            </a:r>
          </a:p>
        </p:txBody>
      </p:sp>
      <p:sp>
        <p:nvSpPr>
          <p:cNvPr id="36" name="">
            <a:extLst xmlns:a="http://schemas.openxmlformats.org/drawingml/2006/main">
              <a:ext uri="{FF2B5EF4-FFF2-40B4-BE49-F238E27FC236}">
                <a16:creationId xmlns:a16="http://schemas.microsoft.com/office/drawing/2014/main" id="{51183EF4-51F2-45EF-BEFE-AE9804C137B4}"/>
              </a:ext>
            </a:extLst>
          </p:cNvPr>
          <p:cNvSpPr>
            <a:spLocks xmlns:a="http://schemas.openxmlformats.org/drawingml/2006/main" noGrp="1"/>
          </p:cNvSpPr>
          <p:nvPr/>
        </p:nvSpPr>
        <p:spPr>
          <a:xfrm xmlns:a="http://schemas.openxmlformats.org/drawingml/2006/main">
            <a:off x="3495675" y="180975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4324B"/>
                </a:solidFill>
                <a:latin typeface="Times New Roman"/>
                <a:ea typeface="Times New Roman"/>
                <a:cs typeface="Times New Roman"/>
              </a:defRPr>
            </a:defPPr>
            <a:lvl1pPr>
              <a:defRPr sz="1875" b="1">
                <a:solidFill>
                  <a:srgbClr val="14324B"/>
                </a:solidFill>
                <a:latin typeface="Times New Roman"/>
                <a:ea typeface="Times New Roman"/>
                <a:cs typeface="Times New Roman"/>
              </a:defRPr>
            </a:lvl1pPr>
            <a:lvl2pPr>
              <a:defRPr sz="1875" b="1">
                <a:solidFill>
                  <a:srgbClr val="14324B"/>
                </a:solidFill>
                <a:latin typeface="Times New Roman"/>
                <a:ea typeface="Times New Roman"/>
                <a:cs typeface="Times New Roman"/>
              </a:defRPr>
            </a:lvl2pPr>
            <a:lvl3pPr>
              <a:defRPr sz="1875" b="1">
                <a:solidFill>
                  <a:srgbClr val="14324B"/>
                </a:solidFill>
                <a:latin typeface="Times New Roman"/>
                <a:ea typeface="Times New Roman"/>
                <a:cs typeface="Times New Roman"/>
              </a:defRPr>
            </a:lvl3pPr>
            <a:lvl4pPr>
              <a:defRPr sz="1875" b="1">
                <a:solidFill>
                  <a:srgbClr val="14324B"/>
                </a:solidFill>
                <a:latin typeface="Times New Roman"/>
                <a:ea typeface="Times New Roman"/>
                <a:cs typeface="Times New Roman"/>
              </a:defRPr>
            </a:lvl4pPr>
            <a:lvl5pPr>
              <a:defRPr sz="1875" b="1">
                <a:solidFill>
                  <a:srgbClr val="14324B"/>
                </a:solidFill>
                <a:latin typeface="Times New Roman"/>
                <a:ea typeface="Times New Roman"/>
                <a:cs typeface="Times New Roman"/>
              </a:defRPr>
            </a:lvl5pPr>
            <a:lvl6pPr>
              <a:defRPr sz="1875" b="1">
                <a:solidFill>
                  <a:srgbClr val="14324B"/>
                </a:solidFill>
                <a:latin typeface="Times New Roman"/>
                <a:ea typeface="Times New Roman"/>
                <a:cs typeface="Times New Roman"/>
              </a:defRPr>
            </a:lvl6pPr>
            <a:lvl7pPr>
              <a:defRPr sz="1875" b="1">
                <a:solidFill>
                  <a:srgbClr val="14324B"/>
                </a:solidFill>
                <a:latin typeface="Times New Roman"/>
                <a:ea typeface="Times New Roman"/>
                <a:cs typeface="Times New Roman"/>
              </a:defRPr>
            </a:lvl7pPr>
            <a:lvl8pPr>
              <a:defRPr sz="1875" b="1">
                <a:solidFill>
                  <a:srgbClr val="14324B"/>
                </a:solidFill>
                <a:latin typeface="Times New Roman"/>
                <a:ea typeface="Times New Roman"/>
                <a:cs typeface="Times New Roman"/>
              </a:defRPr>
            </a:lvl8pPr>
            <a:lvl9pPr>
              <a:defRPr sz="1875" b="1">
                <a:solidFill>
                  <a:srgbClr val="14324B"/>
                </a:solidFill>
                <a:latin typeface="Times New Roman"/>
                <a:ea typeface="Times New Roman"/>
                <a:cs typeface="Times New Roman"/>
              </a:defRPr>
            </a:lvl9pPr>
          </a:lstStyle>
          <a:p xmlns:a="http://schemas.openxmlformats.org/drawingml/2006/main">
            <a:pPr>
              <a:defRPr sz="1875" b="1">
                <a:solidFill>
                  <a:srgbClr val="14324B"/>
                </a:solidFill>
                <a:latin typeface="Times New Roman"/>
                <a:ea typeface="Times New Roman"/>
                <a:cs typeface="Times New Roman"/>
              </a:defRPr>
            </a:pPr>
            <a:r>
              <a:rPr sz="1875" b="1">
                <a:solidFill>
                  <a:srgbClr val="14324B"/>
                </a:solidFill>
                <a:latin typeface="Times New Roman"/>
                <a:ea typeface="Times New Roman"/>
                <a:cs typeface="Times New Roman"/>
              </a:rPr>
              <a:t>Frozen encoders</a:t>
            </a:r>
          </a:p>
        </p:txBody>
      </p:sp>
      <p:sp>
        <p:nvSpPr>
          <p:cNvPr id="37" name="">
            <a:extLst xmlns:a="http://schemas.openxmlformats.org/drawingml/2006/main">
              <a:ext uri="{FF2B5EF4-FFF2-40B4-BE49-F238E27FC236}">
                <a16:creationId xmlns:a16="http://schemas.microsoft.com/office/drawing/2014/main" id="{25CA3355-1F5A-4FBD-9341-F9353D249D71}"/>
              </a:ext>
            </a:extLst>
          </p:cNvPr>
          <p:cNvSpPr>
            <a:spLocks xmlns:a="http://schemas.openxmlformats.org/drawingml/2006/main" noGrp="1"/>
          </p:cNvSpPr>
          <p:nvPr/>
        </p:nvSpPr>
        <p:spPr>
          <a:xfrm xmlns:a="http://schemas.openxmlformats.org/drawingml/2006/main">
            <a:off x="8715375" y="266700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4324B"/>
                </a:solidFill>
                <a:latin typeface="Times New Roman"/>
                <a:ea typeface="Times New Roman"/>
                <a:cs typeface="Times New Roman"/>
              </a:defRPr>
            </a:defPPr>
            <a:lvl1pPr>
              <a:defRPr sz="1800" b="1">
                <a:solidFill>
                  <a:srgbClr val="14324B"/>
                </a:solidFill>
                <a:latin typeface="Times New Roman"/>
                <a:ea typeface="Times New Roman"/>
                <a:cs typeface="Times New Roman"/>
              </a:defRPr>
            </a:lvl1pPr>
            <a:lvl2pPr>
              <a:defRPr sz="1800" b="1">
                <a:solidFill>
                  <a:srgbClr val="14324B"/>
                </a:solidFill>
                <a:latin typeface="Times New Roman"/>
                <a:ea typeface="Times New Roman"/>
                <a:cs typeface="Times New Roman"/>
              </a:defRPr>
            </a:lvl2pPr>
            <a:lvl3pPr>
              <a:defRPr sz="1800" b="1">
                <a:solidFill>
                  <a:srgbClr val="14324B"/>
                </a:solidFill>
                <a:latin typeface="Times New Roman"/>
                <a:ea typeface="Times New Roman"/>
                <a:cs typeface="Times New Roman"/>
              </a:defRPr>
            </a:lvl3pPr>
            <a:lvl4pPr>
              <a:defRPr sz="1800" b="1">
                <a:solidFill>
                  <a:srgbClr val="14324B"/>
                </a:solidFill>
                <a:latin typeface="Times New Roman"/>
                <a:ea typeface="Times New Roman"/>
                <a:cs typeface="Times New Roman"/>
              </a:defRPr>
            </a:lvl4pPr>
            <a:lvl5pPr>
              <a:defRPr sz="1800" b="1">
                <a:solidFill>
                  <a:srgbClr val="14324B"/>
                </a:solidFill>
                <a:latin typeface="Times New Roman"/>
                <a:ea typeface="Times New Roman"/>
                <a:cs typeface="Times New Roman"/>
              </a:defRPr>
            </a:lvl5pPr>
            <a:lvl6pPr>
              <a:defRPr sz="1800" b="1">
                <a:solidFill>
                  <a:srgbClr val="14324B"/>
                </a:solidFill>
                <a:latin typeface="Times New Roman"/>
                <a:ea typeface="Times New Roman"/>
                <a:cs typeface="Times New Roman"/>
              </a:defRPr>
            </a:lvl6pPr>
            <a:lvl7pPr>
              <a:defRPr sz="1800" b="1">
                <a:solidFill>
                  <a:srgbClr val="14324B"/>
                </a:solidFill>
                <a:latin typeface="Times New Roman"/>
                <a:ea typeface="Times New Roman"/>
                <a:cs typeface="Times New Roman"/>
              </a:defRPr>
            </a:lvl7pPr>
            <a:lvl8pPr>
              <a:defRPr sz="1800" b="1">
                <a:solidFill>
                  <a:srgbClr val="14324B"/>
                </a:solidFill>
                <a:latin typeface="Times New Roman"/>
                <a:ea typeface="Times New Roman"/>
                <a:cs typeface="Times New Roman"/>
              </a:defRPr>
            </a:lvl8pPr>
            <a:lvl9pPr>
              <a:defRPr sz="1800" b="1">
                <a:solidFill>
                  <a:srgbClr val="14324B"/>
                </a:solidFill>
                <a:latin typeface="Times New Roman"/>
                <a:ea typeface="Times New Roman"/>
                <a:cs typeface="Times New Roman"/>
              </a:defRPr>
            </a:lvl9pPr>
          </a:lstStyle>
          <a:p xmlns:a="http://schemas.openxmlformats.org/drawingml/2006/main">
            <a:pPr>
              <a:defRPr sz="1800" b="1">
                <a:solidFill>
                  <a:srgbClr val="14324B"/>
                </a:solidFill>
                <a:latin typeface="Times New Roman"/>
                <a:ea typeface="Times New Roman"/>
                <a:cs typeface="Times New Roman"/>
              </a:defRPr>
            </a:pPr>
            <a:r>
              <a:rPr sz="1800" b="1">
                <a:solidFill>
                  <a:srgbClr val="14324B"/>
                </a:solidFill>
                <a:latin typeface="Times New Roman"/>
                <a:ea typeface="Times New Roman"/>
                <a:cs typeface="Times New Roman"/>
              </a:rPr>
              <a:t>Trainable combination</a:t>
            </a:r>
          </a:p>
        </p:txBody>
      </p:sp>
      <p:sp>
        <p:nvSpPr>
          <p:cNvPr id="38" name="">
            <a:extLst xmlns:a="http://schemas.openxmlformats.org/drawingml/2006/main">
              <a:ext uri="{FF2B5EF4-FFF2-40B4-BE49-F238E27FC236}">
                <a16:creationId xmlns:a16="http://schemas.microsoft.com/office/drawing/2014/main" id="{45BF5966-EF98-4EDB-8C51-4219148BD1B6}"/>
              </a:ext>
            </a:extLst>
          </p:cNvPr>
          <p:cNvSpPr>
            <a:spLocks xmlns:a="http://schemas.openxmlformats.org/drawingml/2006/main" noGrp="1"/>
          </p:cNvSpPr>
          <p:nvPr/>
        </p:nvSpPr>
        <p:spPr>
          <a:xfrm xmlns:a="http://schemas.openxmlformats.org/drawingml/2006/main">
            <a:off x="7477125" y="5143500"/>
            <a:ext cx="4095750" cy="619125"/>
          </a:xfrm>
          <a:prstGeom xmlns:a="http://schemas.openxmlformats.org/drawingml/2006/main" prst="rect">
            <a:avLst/>
          </a:prstGeom>
          <a:solidFill xmlns:a="http://schemas.openxmlformats.org/drawingml/2006/main">
            <a:srgbClr val="FAEEE6"/>
          </a:solidFill>
          <a:ln xmlns:a="http://schemas.openxmlformats.org/drawingml/2006/main" w="14288">
            <a:solidFill>
              <a:srgbClr val="B3683D"/>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B3683D"/>
                </a:solidFill>
                <a:latin typeface="Times New Roman"/>
                <a:ea typeface="Times New Roman"/>
                <a:cs typeface="Times New Roman"/>
              </a:defRPr>
            </a:defPPr>
            <a:lvl1pPr algn="ctr">
              <a:defRPr sz="2100" b="1">
                <a:solidFill>
                  <a:srgbClr val="B3683D"/>
                </a:solidFill>
                <a:latin typeface="Times New Roman"/>
                <a:ea typeface="Times New Roman"/>
                <a:cs typeface="Times New Roman"/>
              </a:defRPr>
            </a:lvl1pPr>
            <a:lvl2pPr algn="ctr">
              <a:defRPr sz="2100" b="1">
                <a:solidFill>
                  <a:srgbClr val="B3683D"/>
                </a:solidFill>
                <a:latin typeface="Times New Roman"/>
                <a:ea typeface="Times New Roman"/>
                <a:cs typeface="Times New Roman"/>
              </a:defRPr>
            </a:lvl2pPr>
            <a:lvl3pPr algn="ctr">
              <a:defRPr sz="2100" b="1">
                <a:solidFill>
                  <a:srgbClr val="B3683D"/>
                </a:solidFill>
                <a:latin typeface="Times New Roman"/>
                <a:ea typeface="Times New Roman"/>
                <a:cs typeface="Times New Roman"/>
              </a:defRPr>
            </a:lvl3pPr>
            <a:lvl4pPr algn="ctr">
              <a:defRPr sz="2100" b="1">
                <a:solidFill>
                  <a:srgbClr val="B3683D"/>
                </a:solidFill>
                <a:latin typeface="Times New Roman"/>
                <a:ea typeface="Times New Roman"/>
                <a:cs typeface="Times New Roman"/>
              </a:defRPr>
            </a:lvl4pPr>
            <a:lvl5pPr algn="ctr">
              <a:defRPr sz="2100" b="1">
                <a:solidFill>
                  <a:srgbClr val="B3683D"/>
                </a:solidFill>
                <a:latin typeface="Times New Roman"/>
                <a:ea typeface="Times New Roman"/>
                <a:cs typeface="Times New Roman"/>
              </a:defRPr>
            </a:lvl5pPr>
            <a:lvl6pPr algn="ctr">
              <a:defRPr sz="2100" b="1">
                <a:solidFill>
                  <a:srgbClr val="B3683D"/>
                </a:solidFill>
                <a:latin typeface="Times New Roman"/>
                <a:ea typeface="Times New Roman"/>
                <a:cs typeface="Times New Roman"/>
              </a:defRPr>
            </a:lvl6pPr>
            <a:lvl7pPr algn="ctr">
              <a:defRPr sz="2100" b="1">
                <a:solidFill>
                  <a:srgbClr val="B3683D"/>
                </a:solidFill>
                <a:latin typeface="Times New Roman"/>
                <a:ea typeface="Times New Roman"/>
                <a:cs typeface="Times New Roman"/>
              </a:defRPr>
            </a:lvl7pPr>
            <a:lvl8pPr algn="ctr">
              <a:defRPr sz="2100" b="1">
                <a:solidFill>
                  <a:srgbClr val="B3683D"/>
                </a:solidFill>
                <a:latin typeface="Times New Roman"/>
                <a:ea typeface="Times New Roman"/>
                <a:cs typeface="Times New Roman"/>
              </a:defRPr>
            </a:lvl8pPr>
            <a:lvl9pPr algn="ctr">
              <a:defRPr sz="2100" b="1">
                <a:solidFill>
                  <a:srgbClr val="B3683D"/>
                </a:solidFill>
                <a:latin typeface="Times New Roman"/>
                <a:ea typeface="Times New Roman"/>
                <a:cs typeface="Times New Roman"/>
              </a:defRPr>
            </a:lvl9pPr>
          </a:lstStyle>
          <a:p xmlns:a="http://schemas.openxmlformats.org/drawingml/2006/main">
            <a:pPr algn="ctr">
              <a:defRPr sz="2100" b="1">
                <a:solidFill>
                  <a:srgbClr val="B3683D"/>
                </a:solidFill>
                <a:latin typeface="Times New Roman"/>
                <a:ea typeface="Times New Roman"/>
                <a:cs typeface="Times New Roman"/>
              </a:defRPr>
            </a:pPr>
            <a:r>
              <a:rPr sz="2100" b="1">
                <a:solidFill>
                  <a:srgbClr val="B3683D"/>
                </a:solidFill>
                <a:latin typeface="Times New Roman"/>
                <a:ea typeface="Times New Roman"/>
                <a:cs typeface="Times New Roman"/>
              </a:rPr>
              <a:t>30 tissue-expression predictions</a:t>
            </a:r>
          </a:p>
        </p:txBody>
      </p:sp>
      <p:sp>
        <p:nvSpPr>
          <p:cNvPr id="40" name="">
            <a:extLst xmlns:a="http://schemas.openxmlformats.org/drawingml/2006/main">
              <a:ext uri="{FF2B5EF4-FFF2-40B4-BE49-F238E27FC236}">
                <a16:creationId xmlns:a16="http://schemas.microsoft.com/office/drawing/2014/main" id="{24848030-BD8C-4A76-97DE-54ED1E8ADDDA}"/>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Token-strip lengths are schematic. Tissue measurements are prediction targets, not input features. This local pilot keeps encoders frozen.</a:t>
            </a:r>
          </a:p>
        </p:txBody>
      </p:sp>
    </p:spTree>
    <p:extLst>
      <p:ext uri="{BB962C8B-B14F-4D97-AF65-F5344CB8AC3E}">
        <p14:creationId xmlns:p14="http://schemas.microsoft.com/office/powerpoint/2010/main" val="9389575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1EAFC4-47E6-4655-BC00-CD0D38BDAA84}"/>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FDA02C-6267-4C1D-BE52-716D670FA237}"/>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Genomic context improves the RNA-only GTEx pilot</a:t>
            </a:r>
          </a:p>
        </p:txBody>
      </p:sp>
      <p:sp>
        <p:nvSpPr>
          <p:cNvPr id="3" name="">
            <a:extLst xmlns:a="http://schemas.openxmlformats.org/drawingml/2006/main">
              <a:ext uri="{FF2B5EF4-FFF2-40B4-BE49-F238E27FC236}">
                <a16:creationId xmlns:a16="http://schemas.microsoft.com/office/drawing/2014/main" id="{D0431BE2-DAD8-4897-9F2A-0D2281A34E02}"/>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Spearman ranks test transcripts within each tissue; the score averages the 30 tissue correlations.</a:t>
            </a:r>
          </a:p>
        </p:txBody>
      </p:sp>
      <p:sp>
        <p:nvSpPr>
          <p:cNvPr id="4" name="">
            <a:extLst xmlns:a="http://schemas.openxmlformats.org/drawingml/2006/main">
              <a:ext uri="{FF2B5EF4-FFF2-40B4-BE49-F238E27FC236}">
                <a16:creationId xmlns:a16="http://schemas.microsoft.com/office/drawing/2014/main" id="{4D9AE41A-8EBD-484A-823D-28028AAB2751}"/>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14</a:t>
            </a:r>
          </a:p>
        </p:txBody>
      </p:sp>
      <p:graphicFrame>
        <p:nvGraphicFramePr>
          <p:cNvPr id="5" name="Chart">
            <a:extLst xmlns:a="http://schemas.openxmlformats.org/drawingml/2006/main">
              <a:ext uri="{FF2B5EF4-FFF2-40B4-BE49-F238E27FC236}">
                <a16:creationId xmlns:a16="http://schemas.microsoft.com/office/drawing/2014/main" id="{32F165D7-5E71-49AA-9F24-72DB40F75514}"/>
              </a:ext>
            </a:extLst>
          </p:cNvPr>
          <p:cNvGraphicFramePr/>
          <p:nvPr/>
        </p:nvGraphicFramePr>
        <p:xfrm>
          <a:off xmlns:a="http://schemas.openxmlformats.org/drawingml/2006/main" x="381000" y="2047875"/>
          <a:ext xmlns:a="http://schemas.openxmlformats.org/drawingml/2006/main" cx="7429500" cy="3571875"/>
        </p:xfrm>
        <a:graphic xmlns:a="http://schemas.openxmlformats.org/drawingml/2006/main">
          <a:graphicData uri="http://schemas.openxmlformats.org/drawingml/2006/chart">
            <c:chart xmlns:r="http://schemas.openxmlformats.org/officeDocument/2006/relationships" xmlns:c="http://schemas.openxmlformats.org/drawingml/2006/chart" r:id="Rd862f9762ab04d37"/>
          </a:graphicData>
        </a:graphic>
      </p:graphicFrame>
      <p:sp>
        <p:nvSpPr>
          <p:cNvPr id="6" name="">
            <a:extLst xmlns:a="http://schemas.openxmlformats.org/drawingml/2006/main">
              <a:ext uri="{FF2B5EF4-FFF2-40B4-BE49-F238E27FC236}">
                <a16:creationId xmlns:a16="http://schemas.microsoft.com/office/drawing/2014/main" id="{C5BDEF95-1344-44E9-8061-0445AAA16B8A}"/>
              </a:ext>
            </a:extLst>
          </p:cNvPr>
          <p:cNvSpPr>
            <a:spLocks xmlns:a="http://schemas.openxmlformats.org/drawingml/2006/main" noGrp="1"/>
          </p:cNvSpPr>
          <p:nvPr/>
        </p:nvSpPr>
        <p:spPr>
          <a:xfrm xmlns:a="http://schemas.openxmlformats.org/drawingml/2006/main">
            <a:off x="8239125" y="20955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324B"/>
                </a:solidFill>
                <a:latin typeface="Times New Roman"/>
                <a:ea typeface="Times New Roman"/>
                <a:cs typeface="Times New Roman"/>
              </a:defRPr>
            </a:defPPr>
            <a:lvl1pPr>
              <a:defRPr sz="2175" b="1">
                <a:solidFill>
                  <a:srgbClr val="14324B"/>
                </a:solidFill>
                <a:latin typeface="Times New Roman"/>
                <a:ea typeface="Times New Roman"/>
                <a:cs typeface="Times New Roman"/>
              </a:defRPr>
            </a:lvl1pPr>
            <a:lvl2pPr>
              <a:defRPr sz="2175" b="1">
                <a:solidFill>
                  <a:srgbClr val="14324B"/>
                </a:solidFill>
                <a:latin typeface="Times New Roman"/>
                <a:ea typeface="Times New Roman"/>
                <a:cs typeface="Times New Roman"/>
              </a:defRPr>
            </a:lvl2pPr>
            <a:lvl3pPr>
              <a:defRPr sz="2175" b="1">
                <a:solidFill>
                  <a:srgbClr val="14324B"/>
                </a:solidFill>
                <a:latin typeface="Times New Roman"/>
                <a:ea typeface="Times New Roman"/>
                <a:cs typeface="Times New Roman"/>
              </a:defRPr>
            </a:lvl3pPr>
            <a:lvl4pPr>
              <a:defRPr sz="2175" b="1">
                <a:solidFill>
                  <a:srgbClr val="14324B"/>
                </a:solidFill>
                <a:latin typeface="Times New Roman"/>
                <a:ea typeface="Times New Roman"/>
                <a:cs typeface="Times New Roman"/>
              </a:defRPr>
            </a:lvl4pPr>
            <a:lvl5pPr>
              <a:defRPr sz="2175" b="1">
                <a:solidFill>
                  <a:srgbClr val="14324B"/>
                </a:solidFill>
                <a:latin typeface="Times New Roman"/>
                <a:ea typeface="Times New Roman"/>
                <a:cs typeface="Times New Roman"/>
              </a:defRPr>
            </a:lvl5pPr>
            <a:lvl6pPr>
              <a:defRPr sz="2175" b="1">
                <a:solidFill>
                  <a:srgbClr val="14324B"/>
                </a:solidFill>
                <a:latin typeface="Times New Roman"/>
                <a:ea typeface="Times New Roman"/>
                <a:cs typeface="Times New Roman"/>
              </a:defRPr>
            </a:lvl6pPr>
            <a:lvl7pPr>
              <a:defRPr sz="2175" b="1">
                <a:solidFill>
                  <a:srgbClr val="14324B"/>
                </a:solidFill>
                <a:latin typeface="Times New Roman"/>
                <a:ea typeface="Times New Roman"/>
                <a:cs typeface="Times New Roman"/>
              </a:defRPr>
            </a:lvl7pPr>
            <a:lvl8pPr>
              <a:defRPr sz="2175" b="1">
                <a:solidFill>
                  <a:srgbClr val="14324B"/>
                </a:solidFill>
                <a:latin typeface="Times New Roman"/>
                <a:ea typeface="Times New Roman"/>
                <a:cs typeface="Times New Roman"/>
              </a:defRPr>
            </a:lvl8pPr>
            <a:lvl9pPr>
              <a:defRPr sz="2175" b="1">
                <a:solidFill>
                  <a:srgbClr val="14324B"/>
                </a:solidFill>
                <a:latin typeface="Times New Roman"/>
                <a:ea typeface="Times New Roman"/>
                <a:cs typeface="Times New Roman"/>
              </a:defRPr>
            </a:lvl9pPr>
          </a:lstStyle>
          <a:p xmlns:a="http://schemas.openxmlformats.org/drawingml/2006/main">
            <a:pPr>
              <a:defRPr sz="2175" b="1">
                <a:solidFill>
                  <a:srgbClr val="14324B"/>
                </a:solidFill>
                <a:latin typeface="Times New Roman"/>
                <a:ea typeface="Times New Roman"/>
                <a:cs typeface="Times New Roman"/>
              </a:defRPr>
            </a:pPr>
            <a:r>
              <a:rPr sz="2175" b="1">
                <a:solidFill>
                  <a:srgbClr val="14324B"/>
                </a:solidFill>
                <a:latin typeface="Times New Roman"/>
                <a:ea typeface="Times New Roman"/>
                <a:cs typeface="Times New Roman"/>
              </a:rPr>
              <a:t>Add genomic DNA to RNA</a:t>
            </a:r>
          </a:p>
        </p:txBody>
      </p:sp>
      <p:sp>
        <p:nvSpPr>
          <p:cNvPr id="7" name="">
            <a:extLst xmlns:a="http://schemas.openxmlformats.org/drawingml/2006/main">
              <a:ext uri="{FF2B5EF4-FFF2-40B4-BE49-F238E27FC236}">
                <a16:creationId xmlns:a16="http://schemas.microsoft.com/office/drawing/2014/main" id="{9713888B-6DCC-4A5A-A9EE-1CD037FD0C89}"/>
              </a:ext>
            </a:extLst>
          </p:cNvPr>
          <p:cNvSpPr>
            <a:spLocks xmlns:a="http://schemas.openxmlformats.org/drawingml/2006/main" noGrp="1"/>
          </p:cNvSpPr>
          <p:nvPr/>
        </p:nvSpPr>
        <p:spPr>
          <a:xfrm xmlns:a="http://schemas.openxmlformats.org/drawingml/2006/main">
            <a:off x="8382000" y="28575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67D77"/>
                </a:solidFill>
                <a:latin typeface="Times New Roman"/>
                <a:ea typeface="Times New Roman"/>
                <a:cs typeface="Times New Roman"/>
              </a:defRPr>
            </a:defPPr>
            <a:lvl1pPr>
              <a:defRPr sz="2550" b="1">
                <a:solidFill>
                  <a:srgbClr val="167D77"/>
                </a:solidFill>
                <a:latin typeface="Times New Roman"/>
                <a:ea typeface="Times New Roman"/>
                <a:cs typeface="Times New Roman"/>
              </a:defRPr>
            </a:lvl1pPr>
            <a:lvl2pPr>
              <a:defRPr sz="2550" b="1">
                <a:solidFill>
                  <a:srgbClr val="167D77"/>
                </a:solidFill>
                <a:latin typeface="Times New Roman"/>
                <a:ea typeface="Times New Roman"/>
                <a:cs typeface="Times New Roman"/>
              </a:defRPr>
            </a:lvl2pPr>
            <a:lvl3pPr>
              <a:defRPr sz="2550" b="1">
                <a:solidFill>
                  <a:srgbClr val="167D77"/>
                </a:solidFill>
                <a:latin typeface="Times New Roman"/>
                <a:ea typeface="Times New Roman"/>
                <a:cs typeface="Times New Roman"/>
              </a:defRPr>
            </a:lvl3pPr>
            <a:lvl4pPr>
              <a:defRPr sz="2550" b="1">
                <a:solidFill>
                  <a:srgbClr val="167D77"/>
                </a:solidFill>
                <a:latin typeface="Times New Roman"/>
                <a:ea typeface="Times New Roman"/>
                <a:cs typeface="Times New Roman"/>
              </a:defRPr>
            </a:lvl4pPr>
            <a:lvl5pPr>
              <a:defRPr sz="2550" b="1">
                <a:solidFill>
                  <a:srgbClr val="167D77"/>
                </a:solidFill>
                <a:latin typeface="Times New Roman"/>
                <a:ea typeface="Times New Roman"/>
                <a:cs typeface="Times New Roman"/>
              </a:defRPr>
            </a:lvl5pPr>
            <a:lvl6pPr>
              <a:defRPr sz="2550" b="1">
                <a:solidFill>
                  <a:srgbClr val="167D77"/>
                </a:solidFill>
                <a:latin typeface="Times New Roman"/>
                <a:ea typeface="Times New Roman"/>
                <a:cs typeface="Times New Roman"/>
              </a:defRPr>
            </a:lvl6pPr>
            <a:lvl7pPr>
              <a:defRPr sz="2550" b="1">
                <a:solidFill>
                  <a:srgbClr val="167D77"/>
                </a:solidFill>
                <a:latin typeface="Times New Roman"/>
                <a:ea typeface="Times New Roman"/>
                <a:cs typeface="Times New Roman"/>
              </a:defRPr>
            </a:lvl7pPr>
            <a:lvl8pPr>
              <a:defRPr sz="2550" b="1">
                <a:solidFill>
                  <a:srgbClr val="167D77"/>
                </a:solidFill>
                <a:latin typeface="Times New Roman"/>
                <a:ea typeface="Times New Roman"/>
                <a:cs typeface="Times New Roman"/>
              </a:defRPr>
            </a:lvl8pPr>
            <a:lvl9pPr>
              <a:defRPr sz="2550" b="1">
                <a:solidFill>
                  <a:srgbClr val="167D77"/>
                </a:solidFill>
                <a:latin typeface="Times New Roman"/>
                <a:ea typeface="Times New Roman"/>
                <a:cs typeface="Times New Roman"/>
              </a:defRPr>
            </a:lvl9pPr>
          </a:lstStyle>
          <a:p xmlns:a="http://schemas.openxmlformats.org/drawingml/2006/main">
            <a:pPr>
              <a:defRPr sz="2550" b="1">
                <a:solidFill>
                  <a:srgbClr val="167D77"/>
                </a:solidFill>
                <a:latin typeface="Times New Roman"/>
                <a:ea typeface="Times New Roman"/>
                <a:cs typeface="Times New Roman"/>
              </a:defRPr>
            </a:pPr>
            <a:r>
              <a:rPr sz="2550" b="1">
                <a:solidFill>
                  <a:srgbClr val="167D77"/>
                </a:solidFill>
                <a:latin typeface="Times New Roman"/>
                <a:ea typeface="Times New Roman"/>
                <a:cs typeface="Times New Roman"/>
              </a:rPr>
              <a:t>+0.055</a:t>
            </a:r>
          </a:p>
          <a:p xmlns:a="http://schemas.openxmlformats.org/drawingml/2006/main">
            <a:pPr>
              <a:defRPr sz="2550" b="1">
                <a:solidFill>
                  <a:srgbClr val="167D77"/>
                </a:solidFill>
                <a:latin typeface="Times New Roman"/>
                <a:ea typeface="Times New Roman"/>
                <a:cs typeface="Times New Roman"/>
              </a:defRPr>
            </a:pPr>
            <a:r>
              <a:rPr sz="2550" b="1">
                <a:solidFill>
                  <a:srgbClr val="167D77"/>
                </a:solidFill>
                <a:latin typeface="Times New Roman"/>
                <a:ea typeface="Times New Roman"/>
                <a:cs typeface="Times New Roman"/>
              </a:rPr>
              <a:t>[0.032, 0.078]</a:t>
            </a:r>
          </a:p>
        </p:txBody>
      </p:sp>
      <p:sp>
        <p:nvSpPr>
          <p:cNvPr id="8" name="">
            <a:extLst xmlns:a="http://schemas.openxmlformats.org/drawingml/2006/main">
              <a:ext uri="{FF2B5EF4-FFF2-40B4-BE49-F238E27FC236}">
                <a16:creationId xmlns:a16="http://schemas.microsoft.com/office/drawing/2014/main" id="{443E9170-CE87-4D6F-A399-AC62E5B1F60D}"/>
              </a:ext>
            </a:extLst>
          </p:cNvPr>
          <p:cNvSpPr>
            <a:spLocks xmlns:a="http://schemas.openxmlformats.org/drawingml/2006/main" noGrp="1"/>
          </p:cNvSpPr>
          <p:nvPr/>
        </p:nvSpPr>
        <p:spPr>
          <a:xfrm xmlns:a="http://schemas.openxmlformats.org/drawingml/2006/main">
            <a:off x="8239125" y="404812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324B"/>
                </a:solidFill>
                <a:latin typeface="Times New Roman"/>
                <a:ea typeface="Times New Roman"/>
                <a:cs typeface="Times New Roman"/>
              </a:defRPr>
            </a:defPPr>
            <a:lvl1pPr>
              <a:defRPr sz="2175" b="1">
                <a:solidFill>
                  <a:srgbClr val="14324B"/>
                </a:solidFill>
                <a:latin typeface="Times New Roman"/>
                <a:ea typeface="Times New Roman"/>
                <a:cs typeface="Times New Roman"/>
              </a:defRPr>
            </a:lvl1pPr>
            <a:lvl2pPr>
              <a:defRPr sz="2175" b="1">
                <a:solidFill>
                  <a:srgbClr val="14324B"/>
                </a:solidFill>
                <a:latin typeface="Times New Roman"/>
                <a:ea typeface="Times New Roman"/>
                <a:cs typeface="Times New Roman"/>
              </a:defRPr>
            </a:lvl2pPr>
            <a:lvl3pPr>
              <a:defRPr sz="2175" b="1">
                <a:solidFill>
                  <a:srgbClr val="14324B"/>
                </a:solidFill>
                <a:latin typeface="Times New Roman"/>
                <a:ea typeface="Times New Roman"/>
                <a:cs typeface="Times New Roman"/>
              </a:defRPr>
            </a:lvl3pPr>
            <a:lvl4pPr>
              <a:defRPr sz="2175" b="1">
                <a:solidFill>
                  <a:srgbClr val="14324B"/>
                </a:solidFill>
                <a:latin typeface="Times New Roman"/>
                <a:ea typeface="Times New Roman"/>
                <a:cs typeface="Times New Roman"/>
              </a:defRPr>
            </a:lvl4pPr>
            <a:lvl5pPr>
              <a:defRPr sz="2175" b="1">
                <a:solidFill>
                  <a:srgbClr val="14324B"/>
                </a:solidFill>
                <a:latin typeface="Times New Roman"/>
                <a:ea typeface="Times New Roman"/>
                <a:cs typeface="Times New Roman"/>
              </a:defRPr>
            </a:lvl5pPr>
            <a:lvl6pPr>
              <a:defRPr sz="2175" b="1">
                <a:solidFill>
                  <a:srgbClr val="14324B"/>
                </a:solidFill>
                <a:latin typeface="Times New Roman"/>
                <a:ea typeface="Times New Roman"/>
                <a:cs typeface="Times New Roman"/>
              </a:defRPr>
            </a:lvl6pPr>
            <a:lvl7pPr>
              <a:defRPr sz="2175" b="1">
                <a:solidFill>
                  <a:srgbClr val="14324B"/>
                </a:solidFill>
                <a:latin typeface="Times New Roman"/>
                <a:ea typeface="Times New Roman"/>
                <a:cs typeface="Times New Roman"/>
              </a:defRPr>
            </a:lvl7pPr>
            <a:lvl8pPr>
              <a:defRPr sz="2175" b="1">
                <a:solidFill>
                  <a:srgbClr val="14324B"/>
                </a:solidFill>
                <a:latin typeface="Times New Roman"/>
                <a:ea typeface="Times New Roman"/>
                <a:cs typeface="Times New Roman"/>
              </a:defRPr>
            </a:lvl8pPr>
            <a:lvl9pPr>
              <a:defRPr sz="2175" b="1">
                <a:solidFill>
                  <a:srgbClr val="14324B"/>
                </a:solidFill>
                <a:latin typeface="Times New Roman"/>
                <a:ea typeface="Times New Roman"/>
                <a:cs typeface="Times New Roman"/>
              </a:defRPr>
            </a:lvl9pPr>
          </a:lstStyle>
          <a:p xmlns:a="http://schemas.openxmlformats.org/drawingml/2006/main">
            <a:pPr>
              <a:defRPr sz="2175" b="1">
                <a:solidFill>
                  <a:srgbClr val="14324B"/>
                </a:solidFill>
                <a:latin typeface="Times New Roman"/>
                <a:ea typeface="Times New Roman"/>
                <a:cs typeface="Times New Roman"/>
              </a:defRPr>
            </a:pPr>
            <a:r>
              <a:rPr sz="2175" b="1">
                <a:solidFill>
                  <a:srgbClr val="14324B"/>
                </a:solidFill>
                <a:latin typeface="Times New Roman"/>
                <a:ea typeface="Times New Roman"/>
                <a:cs typeface="Times New Roman"/>
              </a:rPr>
              <a:t>Then add protein</a:t>
            </a:r>
          </a:p>
        </p:txBody>
      </p:sp>
      <p:sp>
        <p:nvSpPr>
          <p:cNvPr id="9" name="">
            <a:extLst xmlns:a="http://schemas.openxmlformats.org/drawingml/2006/main">
              <a:ext uri="{FF2B5EF4-FFF2-40B4-BE49-F238E27FC236}">
                <a16:creationId xmlns:a16="http://schemas.microsoft.com/office/drawing/2014/main" id="{010FAF28-BAB4-49EA-8E1B-DDDDFEB33249}"/>
              </a:ext>
            </a:extLst>
          </p:cNvPr>
          <p:cNvSpPr>
            <a:spLocks xmlns:a="http://schemas.openxmlformats.org/drawingml/2006/main" noGrp="1"/>
          </p:cNvSpPr>
          <p:nvPr/>
        </p:nvSpPr>
        <p:spPr>
          <a:xfrm xmlns:a="http://schemas.openxmlformats.org/drawingml/2006/main">
            <a:off x="8382000" y="4714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815897"/>
                </a:solidFill>
                <a:latin typeface="Times New Roman"/>
                <a:ea typeface="Times New Roman"/>
                <a:cs typeface="Times New Roman"/>
              </a:defRPr>
            </a:defPPr>
            <a:lvl1pPr>
              <a:defRPr sz="2475" b="1">
                <a:solidFill>
                  <a:srgbClr val="815897"/>
                </a:solidFill>
                <a:latin typeface="Times New Roman"/>
                <a:ea typeface="Times New Roman"/>
                <a:cs typeface="Times New Roman"/>
              </a:defRPr>
            </a:lvl1pPr>
            <a:lvl2pPr>
              <a:defRPr sz="2475" b="1">
                <a:solidFill>
                  <a:srgbClr val="815897"/>
                </a:solidFill>
                <a:latin typeface="Times New Roman"/>
                <a:ea typeface="Times New Roman"/>
                <a:cs typeface="Times New Roman"/>
              </a:defRPr>
            </a:lvl2pPr>
            <a:lvl3pPr>
              <a:defRPr sz="2475" b="1">
                <a:solidFill>
                  <a:srgbClr val="815897"/>
                </a:solidFill>
                <a:latin typeface="Times New Roman"/>
                <a:ea typeface="Times New Roman"/>
                <a:cs typeface="Times New Roman"/>
              </a:defRPr>
            </a:lvl3pPr>
            <a:lvl4pPr>
              <a:defRPr sz="2475" b="1">
                <a:solidFill>
                  <a:srgbClr val="815897"/>
                </a:solidFill>
                <a:latin typeface="Times New Roman"/>
                <a:ea typeface="Times New Roman"/>
                <a:cs typeface="Times New Roman"/>
              </a:defRPr>
            </a:lvl4pPr>
            <a:lvl5pPr>
              <a:defRPr sz="2475" b="1">
                <a:solidFill>
                  <a:srgbClr val="815897"/>
                </a:solidFill>
                <a:latin typeface="Times New Roman"/>
                <a:ea typeface="Times New Roman"/>
                <a:cs typeface="Times New Roman"/>
              </a:defRPr>
            </a:lvl5pPr>
            <a:lvl6pPr>
              <a:defRPr sz="2475" b="1">
                <a:solidFill>
                  <a:srgbClr val="815897"/>
                </a:solidFill>
                <a:latin typeface="Times New Roman"/>
                <a:ea typeface="Times New Roman"/>
                <a:cs typeface="Times New Roman"/>
              </a:defRPr>
            </a:lvl6pPr>
            <a:lvl7pPr>
              <a:defRPr sz="2475" b="1">
                <a:solidFill>
                  <a:srgbClr val="815897"/>
                </a:solidFill>
                <a:latin typeface="Times New Roman"/>
                <a:ea typeface="Times New Roman"/>
                <a:cs typeface="Times New Roman"/>
              </a:defRPr>
            </a:lvl7pPr>
            <a:lvl8pPr>
              <a:defRPr sz="2475" b="1">
                <a:solidFill>
                  <a:srgbClr val="815897"/>
                </a:solidFill>
                <a:latin typeface="Times New Roman"/>
                <a:ea typeface="Times New Roman"/>
                <a:cs typeface="Times New Roman"/>
              </a:defRPr>
            </a:lvl8pPr>
            <a:lvl9pPr>
              <a:defRPr sz="2475" b="1">
                <a:solidFill>
                  <a:srgbClr val="815897"/>
                </a:solidFill>
                <a:latin typeface="Times New Roman"/>
                <a:ea typeface="Times New Roman"/>
                <a:cs typeface="Times New Roman"/>
              </a:defRPr>
            </a:lvl9pPr>
          </a:lstStyle>
          <a:p xmlns:a="http://schemas.openxmlformats.org/drawingml/2006/main">
            <a:pPr>
              <a:defRPr sz="2475" b="1">
                <a:solidFill>
                  <a:srgbClr val="815897"/>
                </a:solidFill>
                <a:latin typeface="Times New Roman"/>
                <a:ea typeface="Times New Roman"/>
                <a:cs typeface="Times New Roman"/>
              </a:defRPr>
            </a:pPr>
            <a:r>
              <a:rPr sz="2475" b="1">
                <a:solidFill>
                  <a:srgbClr val="815897"/>
                </a:solidFill>
                <a:latin typeface="Times New Roman"/>
                <a:ea typeface="Times New Roman"/>
                <a:cs typeface="Times New Roman"/>
              </a:rPr>
              <a:t>−0.007</a:t>
            </a:r>
          </a:p>
          <a:p xmlns:a="http://schemas.openxmlformats.org/drawingml/2006/main">
            <a:pPr>
              <a:defRPr sz="2475" b="1">
                <a:solidFill>
                  <a:srgbClr val="815897"/>
                </a:solidFill>
                <a:latin typeface="Times New Roman"/>
                <a:ea typeface="Times New Roman"/>
                <a:cs typeface="Times New Roman"/>
              </a:defRPr>
            </a:pPr>
            <a:r>
              <a:rPr sz="2475" b="1">
                <a:solidFill>
                  <a:srgbClr val="815897"/>
                </a:solidFill>
                <a:latin typeface="Times New Roman"/>
                <a:ea typeface="Times New Roman"/>
                <a:cs typeface="Times New Roman"/>
              </a:rPr>
              <a:t>[−0.026, 0.011]</a:t>
            </a:r>
          </a:p>
        </p:txBody>
      </p:sp>
      <p:sp>
        <p:nvSpPr>
          <p:cNvPr id="10" name="">
            <a:extLst xmlns:a="http://schemas.openxmlformats.org/drawingml/2006/main">
              <a:ext uri="{FF2B5EF4-FFF2-40B4-BE49-F238E27FC236}">
                <a16:creationId xmlns:a16="http://schemas.microsoft.com/office/drawing/2014/main" id="{59B1C3B4-7B1A-4DAB-9D2C-767ACE77A55A}"/>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One fitted seed per configuration. Paired 95% intervals describe uncertainty over the fixed test sample, not variation across training runs.</a:t>
            </a:r>
          </a:p>
        </p:txBody>
      </p:sp>
    </p:spTree>
    <p:extLst>
      <p:ext uri="{BB962C8B-B14F-4D97-AF65-F5344CB8AC3E}">
        <p14:creationId xmlns:p14="http://schemas.microsoft.com/office/powerpoint/2010/main" val="14480955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F7A501A3-E79D-4D57-9453-D74A6E98FA33}"/>
              </a:ext>
            </a:extLst>
          </p:cNvPr>
          <p:cNvCxnSpPr>
            <a:stCxn xmlns:a="http://schemas.openxmlformats.org/drawingml/2006/main" id="6" idx="2"/>
            <a:endCxn xmlns:a="http://schemas.openxmlformats.org/drawingml/2006/main" id="9" idx="0"/>
          </p:cNvCxnSpPr>
          <p:nvPr/>
        </p:nvCxnSpPr>
        <p:spPr>
          <a:xfrm xmlns:a="http://schemas.openxmlformats.org/drawingml/2006/main">
            <a:off x="5894070" y="2790825"/>
            <a:ext cx="106680" cy="876300"/>
          </a:xfrm>
          <a:prstGeom xmlns:a="http://schemas.openxmlformats.org/drawingml/2006/main" prst="straightConnector1">
            <a:avLst/>
          </a:prstGeom>
          <a:ln xmlns:a="http://schemas.openxmlformats.org/drawingml/2006/main" w="21908">
            <a:solidFill>
              <a:srgbClr val="815897"/>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0B7F01E8-60C7-460D-85EF-2B17F0CC284F}"/>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21024F-168E-4792-90EC-36C45A12BCF5}"/>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Untranslated regions stay in the RNA input</a:t>
            </a:r>
          </a:p>
        </p:txBody>
      </p:sp>
      <p:sp>
        <p:nvSpPr>
          <p:cNvPr id="3" name="">
            <a:extLst xmlns:a="http://schemas.openxmlformats.org/drawingml/2006/main">
              <a:ext uri="{FF2B5EF4-FFF2-40B4-BE49-F238E27FC236}">
                <a16:creationId xmlns:a16="http://schemas.microsoft.com/office/drawing/2014/main" id="{B9770451-8EB2-4D41-A5DD-9CC0CA9550DD}"/>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New human mRNABench datasets allow comparisons of transcript regions.</a:t>
            </a:r>
          </a:p>
        </p:txBody>
      </p:sp>
      <p:sp>
        <p:nvSpPr>
          <p:cNvPr id="4" name="">
            <a:extLst xmlns:a="http://schemas.openxmlformats.org/drawingml/2006/main">
              <a:ext uri="{FF2B5EF4-FFF2-40B4-BE49-F238E27FC236}">
                <a16:creationId xmlns:a16="http://schemas.microsoft.com/office/drawing/2014/main" id="{DE443985-3893-4A3B-AD50-19318D728E63}"/>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15</a:t>
            </a:r>
          </a:p>
        </p:txBody>
      </p:sp>
      <p:sp>
        <p:nvSpPr>
          <p:cNvPr id="5" name="">
            <a:extLst xmlns:a="http://schemas.openxmlformats.org/drawingml/2006/main">
              <a:ext uri="{FF2B5EF4-FFF2-40B4-BE49-F238E27FC236}">
                <a16:creationId xmlns:a16="http://schemas.microsoft.com/office/drawing/2014/main" id="{5BDBE7E3-C23A-4E0B-B44C-C937A316DAF2}"/>
              </a:ext>
            </a:extLst>
          </p:cNvPr>
          <p:cNvSpPr>
            <a:spLocks xmlns:a="http://schemas.openxmlformats.org/drawingml/2006/main" noGrp="1"/>
          </p:cNvSpPr>
          <p:nvPr/>
        </p:nvSpPr>
        <p:spPr>
          <a:xfrm xmlns:a="http://schemas.openxmlformats.org/drawingml/2006/main">
            <a:off x="666750" y="2333625"/>
            <a:ext cx="2560320" cy="457200"/>
          </a:xfrm>
          <a:prstGeom xmlns:a="http://schemas.openxmlformats.org/drawingml/2006/main" prst="rect">
            <a:avLst/>
          </a:prstGeom>
          <a:solidFill xmlns:a="http://schemas.openxmlformats.org/drawingml/2006/main">
            <a:srgbClr val="326DA8"/>
          </a:solidFill>
          <a:ln xmlns:a="http://schemas.openxmlformats.org/drawingml/2006/main" w="14288">
            <a:solidFill>
              <a:srgbClr val="FFFFFF"/>
            </a:solidFill>
          </a:ln>
        </p:spPr>
        <p:txBody>
          <a:bodyPr xmlns:a="http://schemas.openxmlformats.org/drawingml/2006/main" wrap="square" lIns="85725" tIns="85725" rIns="85725" bIns="85725" anchor="ctr">
            <a:noAutofit/>
          </a:bodyPr>
          <a:lstStyle xmlns:a="http://schemas.openxmlformats.org/drawingml/2006/main">
            <a:defPPr algn="ctr">
              <a:defRPr sz="1800" b="1">
                <a:solidFill>
                  <a:srgbClr val="FFFFFF"/>
                </a:solidFill>
                <a:latin typeface="Times New Roman"/>
                <a:ea typeface="Times New Roman"/>
                <a:cs typeface="Times New Roman"/>
              </a:defRPr>
            </a:defPPr>
            <a:lvl1pPr algn="ctr">
              <a:defRPr sz="1800" b="1">
                <a:solidFill>
                  <a:srgbClr val="FFFFFF"/>
                </a:solidFill>
                <a:latin typeface="Times New Roman"/>
                <a:ea typeface="Times New Roman"/>
                <a:cs typeface="Times New Roman"/>
              </a:defRPr>
            </a:lvl1pPr>
            <a:lvl2pPr algn="ctr">
              <a:defRPr sz="1800" b="1">
                <a:solidFill>
                  <a:srgbClr val="FFFFFF"/>
                </a:solidFill>
                <a:latin typeface="Times New Roman"/>
                <a:ea typeface="Times New Roman"/>
                <a:cs typeface="Times New Roman"/>
              </a:defRPr>
            </a:lvl2pPr>
            <a:lvl3pPr algn="ctr">
              <a:defRPr sz="1800" b="1">
                <a:solidFill>
                  <a:srgbClr val="FFFFFF"/>
                </a:solidFill>
                <a:latin typeface="Times New Roman"/>
                <a:ea typeface="Times New Roman"/>
                <a:cs typeface="Times New Roman"/>
              </a:defRPr>
            </a:lvl3pPr>
            <a:lvl4pPr algn="ctr">
              <a:defRPr sz="1800" b="1">
                <a:solidFill>
                  <a:srgbClr val="FFFFFF"/>
                </a:solidFill>
                <a:latin typeface="Times New Roman"/>
                <a:ea typeface="Times New Roman"/>
                <a:cs typeface="Times New Roman"/>
              </a:defRPr>
            </a:lvl4pPr>
            <a:lvl5pPr algn="ctr">
              <a:defRPr sz="1800" b="1">
                <a:solidFill>
                  <a:srgbClr val="FFFFFF"/>
                </a:solidFill>
                <a:latin typeface="Times New Roman"/>
                <a:ea typeface="Times New Roman"/>
                <a:cs typeface="Times New Roman"/>
              </a:defRPr>
            </a:lvl5pPr>
            <a:lvl6pPr algn="ctr">
              <a:defRPr sz="1800" b="1">
                <a:solidFill>
                  <a:srgbClr val="FFFFFF"/>
                </a:solidFill>
                <a:latin typeface="Times New Roman"/>
                <a:ea typeface="Times New Roman"/>
                <a:cs typeface="Times New Roman"/>
              </a:defRPr>
            </a:lvl6pPr>
            <a:lvl7pPr algn="ctr">
              <a:defRPr sz="1800" b="1">
                <a:solidFill>
                  <a:srgbClr val="FFFFFF"/>
                </a:solidFill>
                <a:latin typeface="Times New Roman"/>
                <a:ea typeface="Times New Roman"/>
                <a:cs typeface="Times New Roman"/>
              </a:defRPr>
            </a:lvl7pPr>
            <a:lvl8pPr algn="ctr">
              <a:defRPr sz="1800" b="1">
                <a:solidFill>
                  <a:srgbClr val="FFFFFF"/>
                </a:solidFill>
                <a:latin typeface="Times New Roman"/>
                <a:ea typeface="Times New Roman"/>
                <a:cs typeface="Times New Roman"/>
              </a:defRPr>
            </a:lvl8pPr>
            <a:lvl9pPr algn="ctr">
              <a:defRPr sz="1800" b="1">
                <a:solidFill>
                  <a:srgbClr val="FFFFFF"/>
                </a:solidFill>
                <a:latin typeface="Times New Roman"/>
                <a:ea typeface="Times New Roman"/>
                <a:cs typeface="Times New Roman"/>
              </a:defRPr>
            </a:lvl9pPr>
          </a:lstStyle>
          <a:p xmlns:a="http://schemas.openxmlformats.org/drawingml/2006/main">
            <a:pPr algn="ctr">
              <a:defRPr sz="1800" b="1">
                <a:solidFill>
                  <a:srgbClr val="FFFFFF"/>
                </a:solidFill>
                <a:latin typeface="Times New Roman"/>
                <a:ea typeface="Times New Roman"/>
                <a:cs typeface="Times New Roman"/>
              </a:defRPr>
            </a:pPr>
            <a:r>
              <a:rPr sz="1800" b="1">
                <a:solidFill>
                  <a:srgbClr val="FFFFFF"/>
                </a:solidFill>
                <a:latin typeface="Times New Roman"/>
                <a:ea typeface="Times New Roman"/>
                <a:cs typeface="Times New Roman"/>
              </a:rPr>
              <a:t>5′ UTR</a:t>
            </a:r>
          </a:p>
        </p:txBody>
      </p:sp>
      <p:sp>
        <p:nvSpPr>
          <p:cNvPr id="6" name="">
            <a:extLst xmlns:a="http://schemas.openxmlformats.org/drawingml/2006/main">
              <a:ext uri="{FF2B5EF4-FFF2-40B4-BE49-F238E27FC236}">
                <a16:creationId xmlns:a16="http://schemas.microsoft.com/office/drawing/2014/main" id="{1F561AEB-2DA5-44ED-8984-4A322591DDC0}"/>
              </a:ext>
            </a:extLst>
          </p:cNvPr>
          <p:cNvSpPr>
            <a:spLocks xmlns:a="http://schemas.openxmlformats.org/drawingml/2006/main" noGrp="1"/>
          </p:cNvSpPr>
          <p:nvPr/>
        </p:nvSpPr>
        <p:spPr>
          <a:xfrm xmlns:a="http://schemas.openxmlformats.org/drawingml/2006/main">
            <a:off x="3227070" y="2333625"/>
            <a:ext cx="5334000" cy="457200"/>
          </a:xfrm>
          <a:prstGeom xmlns:a="http://schemas.openxmlformats.org/drawingml/2006/main" prst="rect">
            <a:avLst/>
          </a:prstGeom>
          <a:solidFill xmlns:a="http://schemas.openxmlformats.org/drawingml/2006/main">
            <a:srgbClr val="167D77"/>
          </a:solidFill>
          <a:ln xmlns:a="http://schemas.openxmlformats.org/drawingml/2006/main" w="14288">
            <a:solidFill>
              <a:srgbClr val="FFFFFF"/>
            </a:solidFill>
          </a:ln>
        </p:spPr>
        <p:txBody>
          <a:bodyPr xmlns:a="http://schemas.openxmlformats.org/drawingml/2006/main" wrap="square" lIns="85725" tIns="85725" rIns="85725" bIns="85725" anchor="ctr">
            <a:noAutofit/>
          </a:bodyPr>
          <a:lstStyle xmlns:a="http://schemas.openxmlformats.org/drawingml/2006/main">
            <a:defPPr algn="ctr">
              <a:defRPr sz="1800" b="1">
                <a:solidFill>
                  <a:srgbClr val="FFFFFF"/>
                </a:solidFill>
                <a:latin typeface="Times New Roman"/>
                <a:ea typeface="Times New Roman"/>
                <a:cs typeface="Times New Roman"/>
              </a:defRPr>
            </a:defPPr>
            <a:lvl1pPr algn="ctr">
              <a:defRPr sz="1800" b="1">
                <a:solidFill>
                  <a:srgbClr val="FFFFFF"/>
                </a:solidFill>
                <a:latin typeface="Times New Roman"/>
                <a:ea typeface="Times New Roman"/>
                <a:cs typeface="Times New Roman"/>
              </a:defRPr>
            </a:lvl1pPr>
            <a:lvl2pPr algn="ctr">
              <a:defRPr sz="1800" b="1">
                <a:solidFill>
                  <a:srgbClr val="FFFFFF"/>
                </a:solidFill>
                <a:latin typeface="Times New Roman"/>
                <a:ea typeface="Times New Roman"/>
                <a:cs typeface="Times New Roman"/>
              </a:defRPr>
            </a:lvl2pPr>
            <a:lvl3pPr algn="ctr">
              <a:defRPr sz="1800" b="1">
                <a:solidFill>
                  <a:srgbClr val="FFFFFF"/>
                </a:solidFill>
                <a:latin typeface="Times New Roman"/>
                <a:ea typeface="Times New Roman"/>
                <a:cs typeface="Times New Roman"/>
              </a:defRPr>
            </a:lvl3pPr>
            <a:lvl4pPr algn="ctr">
              <a:defRPr sz="1800" b="1">
                <a:solidFill>
                  <a:srgbClr val="FFFFFF"/>
                </a:solidFill>
                <a:latin typeface="Times New Roman"/>
                <a:ea typeface="Times New Roman"/>
                <a:cs typeface="Times New Roman"/>
              </a:defRPr>
            </a:lvl4pPr>
            <a:lvl5pPr algn="ctr">
              <a:defRPr sz="1800" b="1">
                <a:solidFill>
                  <a:srgbClr val="FFFFFF"/>
                </a:solidFill>
                <a:latin typeface="Times New Roman"/>
                <a:ea typeface="Times New Roman"/>
                <a:cs typeface="Times New Roman"/>
              </a:defRPr>
            </a:lvl5pPr>
            <a:lvl6pPr algn="ctr">
              <a:defRPr sz="1800" b="1">
                <a:solidFill>
                  <a:srgbClr val="FFFFFF"/>
                </a:solidFill>
                <a:latin typeface="Times New Roman"/>
                <a:ea typeface="Times New Roman"/>
                <a:cs typeface="Times New Roman"/>
              </a:defRPr>
            </a:lvl6pPr>
            <a:lvl7pPr algn="ctr">
              <a:defRPr sz="1800" b="1">
                <a:solidFill>
                  <a:srgbClr val="FFFFFF"/>
                </a:solidFill>
                <a:latin typeface="Times New Roman"/>
                <a:ea typeface="Times New Roman"/>
                <a:cs typeface="Times New Roman"/>
              </a:defRPr>
            </a:lvl7pPr>
            <a:lvl8pPr algn="ctr">
              <a:defRPr sz="1800" b="1">
                <a:solidFill>
                  <a:srgbClr val="FFFFFF"/>
                </a:solidFill>
                <a:latin typeface="Times New Roman"/>
                <a:ea typeface="Times New Roman"/>
                <a:cs typeface="Times New Roman"/>
              </a:defRPr>
            </a:lvl8pPr>
            <a:lvl9pPr algn="ctr">
              <a:defRPr sz="1800" b="1">
                <a:solidFill>
                  <a:srgbClr val="FFFFFF"/>
                </a:solidFill>
                <a:latin typeface="Times New Roman"/>
                <a:ea typeface="Times New Roman"/>
                <a:cs typeface="Times New Roman"/>
              </a:defRPr>
            </a:lvl9pPr>
          </a:lstStyle>
          <a:p xmlns:a="http://schemas.openxmlformats.org/drawingml/2006/main">
            <a:pPr algn="ctr">
              <a:defRPr sz="1800" b="1">
                <a:solidFill>
                  <a:srgbClr val="FFFFFF"/>
                </a:solidFill>
                <a:latin typeface="Times New Roman"/>
                <a:ea typeface="Times New Roman"/>
                <a:cs typeface="Times New Roman"/>
              </a:defRPr>
            </a:pPr>
            <a:r>
              <a:rPr sz="1800" b="1">
                <a:solidFill>
                  <a:srgbClr val="FFFFFF"/>
                </a:solidFill>
                <a:latin typeface="Times New Roman"/>
                <a:ea typeface="Times New Roman"/>
                <a:cs typeface="Times New Roman"/>
              </a:rPr>
              <a:t>CDS</a:t>
            </a:r>
          </a:p>
        </p:txBody>
      </p:sp>
      <p:sp>
        <p:nvSpPr>
          <p:cNvPr id="7" name="">
            <a:extLst xmlns:a="http://schemas.openxmlformats.org/drawingml/2006/main">
              <a:ext uri="{FF2B5EF4-FFF2-40B4-BE49-F238E27FC236}">
                <a16:creationId xmlns:a16="http://schemas.microsoft.com/office/drawing/2014/main" id="{637F7195-F661-4C7E-8939-CF4BA8D4A879}"/>
              </a:ext>
            </a:extLst>
          </p:cNvPr>
          <p:cNvSpPr>
            <a:spLocks xmlns:a="http://schemas.openxmlformats.org/drawingml/2006/main" noGrp="1"/>
          </p:cNvSpPr>
          <p:nvPr/>
        </p:nvSpPr>
        <p:spPr>
          <a:xfrm xmlns:a="http://schemas.openxmlformats.org/drawingml/2006/main">
            <a:off x="8561070" y="2333625"/>
            <a:ext cx="2773680" cy="457200"/>
          </a:xfrm>
          <a:prstGeom xmlns:a="http://schemas.openxmlformats.org/drawingml/2006/main" prst="rect">
            <a:avLst/>
          </a:prstGeom>
          <a:solidFill xmlns:a="http://schemas.openxmlformats.org/drawingml/2006/main">
            <a:srgbClr val="326DA8"/>
          </a:solidFill>
          <a:ln xmlns:a="http://schemas.openxmlformats.org/drawingml/2006/main" w="14288">
            <a:solidFill>
              <a:srgbClr val="FFFFFF"/>
            </a:solidFill>
          </a:ln>
        </p:spPr>
        <p:txBody>
          <a:bodyPr xmlns:a="http://schemas.openxmlformats.org/drawingml/2006/main" wrap="square" lIns="85725" tIns="85725" rIns="85725" bIns="85725" anchor="ctr">
            <a:noAutofit/>
          </a:bodyPr>
          <a:lstStyle xmlns:a="http://schemas.openxmlformats.org/drawingml/2006/main">
            <a:defPPr algn="ctr">
              <a:defRPr sz="1800" b="1">
                <a:solidFill>
                  <a:srgbClr val="FFFFFF"/>
                </a:solidFill>
                <a:latin typeface="Times New Roman"/>
                <a:ea typeface="Times New Roman"/>
                <a:cs typeface="Times New Roman"/>
              </a:defRPr>
            </a:defPPr>
            <a:lvl1pPr algn="ctr">
              <a:defRPr sz="1800" b="1">
                <a:solidFill>
                  <a:srgbClr val="FFFFFF"/>
                </a:solidFill>
                <a:latin typeface="Times New Roman"/>
                <a:ea typeface="Times New Roman"/>
                <a:cs typeface="Times New Roman"/>
              </a:defRPr>
            </a:lvl1pPr>
            <a:lvl2pPr algn="ctr">
              <a:defRPr sz="1800" b="1">
                <a:solidFill>
                  <a:srgbClr val="FFFFFF"/>
                </a:solidFill>
                <a:latin typeface="Times New Roman"/>
                <a:ea typeface="Times New Roman"/>
                <a:cs typeface="Times New Roman"/>
              </a:defRPr>
            </a:lvl2pPr>
            <a:lvl3pPr algn="ctr">
              <a:defRPr sz="1800" b="1">
                <a:solidFill>
                  <a:srgbClr val="FFFFFF"/>
                </a:solidFill>
                <a:latin typeface="Times New Roman"/>
                <a:ea typeface="Times New Roman"/>
                <a:cs typeface="Times New Roman"/>
              </a:defRPr>
            </a:lvl3pPr>
            <a:lvl4pPr algn="ctr">
              <a:defRPr sz="1800" b="1">
                <a:solidFill>
                  <a:srgbClr val="FFFFFF"/>
                </a:solidFill>
                <a:latin typeface="Times New Roman"/>
                <a:ea typeface="Times New Roman"/>
                <a:cs typeface="Times New Roman"/>
              </a:defRPr>
            </a:lvl4pPr>
            <a:lvl5pPr algn="ctr">
              <a:defRPr sz="1800" b="1">
                <a:solidFill>
                  <a:srgbClr val="FFFFFF"/>
                </a:solidFill>
                <a:latin typeface="Times New Roman"/>
                <a:ea typeface="Times New Roman"/>
                <a:cs typeface="Times New Roman"/>
              </a:defRPr>
            </a:lvl5pPr>
            <a:lvl6pPr algn="ctr">
              <a:defRPr sz="1800" b="1">
                <a:solidFill>
                  <a:srgbClr val="FFFFFF"/>
                </a:solidFill>
                <a:latin typeface="Times New Roman"/>
                <a:ea typeface="Times New Roman"/>
                <a:cs typeface="Times New Roman"/>
              </a:defRPr>
            </a:lvl6pPr>
            <a:lvl7pPr algn="ctr">
              <a:defRPr sz="1800" b="1">
                <a:solidFill>
                  <a:srgbClr val="FFFFFF"/>
                </a:solidFill>
                <a:latin typeface="Times New Roman"/>
                <a:ea typeface="Times New Roman"/>
                <a:cs typeface="Times New Roman"/>
              </a:defRPr>
            </a:lvl7pPr>
            <a:lvl8pPr algn="ctr">
              <a:defRPr sz="1800" b="1">
                <a:solidFill>
                  <a:srgbClr val="FFFFFF"/>
                </a:solidFill>
                <a:latin typeface="Times New Roman"/>
                <a:ea typeface="Times New Roman"/>
                <a:cs typeface="Times New Roman"/>
              </a:defRPr>
            </a:lvl8pPr>
            <a:lvl9pPr algn="ctr">
              <a:defRPr sz="1800" b="1">
                <a:solidFill>
                  <a:srgbClr val="FFFFFF"/>
                </a:solidFill>
                <a:latin typeface="Times New Roman"/>
                <a:ea typeface="Times New Roman"/>
                <a:cs typeface="Times New Roman"/>
              </a:defRPr>
            </a:lvl9pPr>
          </a:lstStyle>
          <a:p xmlns:a="http://schemas.openxmlformats.org/drawingml/2006/main">
            <a:pPr algn="ctr">
              <a:defRPr sz="1800" b="1">
                <a:solidFill>
                  <a:srgbClr val="FFFFFF"/>
                </a:solidFill>
                <a:latin typeface="Times New Roman"/>
                <a:ea typeface="Times New Roman"/>
                <a:cs typeface="Times New Roman"/>
              </a:defRPr>
            </a:pPr>
            <a:r>
              <a:rPr sz="1800" b="1">
                <a:solidFill>
                  <a:srgbClr val="FFFFFF"/>
                </a:solidFill>
                <a:latin typeface="Times New Roman"/>
                <a:ea typeface="Times New Roman"/>
                <a:cs typeface="Times New Roman"/>
              </a:rPr>
              <a:t>3′ UTR</a:t>
            </a:r>
          </a:p>
        </p:txBody>
      </p:sp>
      <p:sp>
        <p:nvSpPr>
          <p:cNvPr id="8" name="">
            <a:extLst xmlns:a="http://schemas.openxmlformats.org/drawingml/2006/main">
              <a:ext uri="{FF2B5EF4-FFF2-40B4-BE49-F238E27FC236}">
                <a16:creationId xmlns:a16="http://schemas.microsoft.com/office/drawing/2014/main" id="{81281823-22AF-4888-AA62-D9E2DCD0139D}"/>
              </a:ext>
            </a:extLst>
          </p:cNvPr>
          <p:cNvSpPr>
            <a:spLocks xmlns:a="http://schemas.openxmlformats.org/drawingml/2006/main" noGrp="1"/>
          </p:cNvSpPr>
          <p:nvPr/>
        </p:nvSpPr>
        <p:spPr>
          <a:xfrm xmlns:a="http://schemas.openxmlformats.org/drawingml/2006/main">
            <a:off x="666750" y="192405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324B"/>
                </a:solidFill>
                <a:latin typeface="Times New Roman"/>
                <a:ea typeface="Times New Roman"/>
                <a:cs typeface="Times New Roman"/>
              </a:defRPr>
            </a:defPPr>
            <a:lvl1pPr>
              <a:defRPr sz="2250" b="1">
                <a:solidFill>
                  <a:srgbClr val="14324B"/>
                </a:solidFill>
                <a:latin typeface="Times New Roman"/>
                <a:ea typeface="Times New Roman"/>
                <a:cs typeface="Times New Roman"/>
              </a:defRPr>
            </a:lvl1pPr>
            <a:lvl2pPr>
              <a:defRPr sz="2250" b="1">
                <a:solidFill>
                  <a:srgbClr val="14324B"/>
                </a:solidFill>
                <a:latin typeface="Times New Roman"/>
                <a:ea typeface="Times New Roman"/>
                <a:cs typeface="Times New Roman"/>
              </a:defRPr>
            </a:lvl2pPr>
            <a:lvl3pPr>
              <a:defRPr sz="2250" b="1">
                <a:solidFill>
                  <a:srgbClr val="14324B"/>
                </a:solidFill>
                <a:latin typeface="Times New Roman"/>
                <a:ea typeface="Times New Roman"/>
                <a:cs typeface="Times New Roman"/>
              </a:defRPr>
            </a:lvl3pPr>
            <a:lvl4pPr>
              <a:defRPr sz="2250" b="1">
                <a:solidFill>
                  <a:srgbClr val="14324B"/>
                </a:solidFill>
                <a:latin typeface="Times New Roman"/>
                <a:ea typeface="Times New Roman"/>
                <a:cs typeface="Times New Roman"/>
              </a:defRPr>
            </a:lvl4pPr>
            <a:lvl5pPr>
              <a:defRPr sz="2250" b="1">
                <a:solidFill>
                  <a:srgbClr val="14324B"/>
                </a:solidFill>
                <a:latin typeface="Times New Roman"/>
                <a:ea typeface="Times New Roman"/>
                <a:cs typeface="Times New Roman"/>
              </a:defRPr>
            </a:lvl5pPr>
            <a:lvl6pPr>
              <a:defRPr sz="2250" b="1">
                <a:solidFill>
                  <a:srgbClr val="14324B"/>
                </a:solidFill>
                <a:latin typeface="Times New Roman"/>
                <a:ea typeface="Times New Roman"/>
                <a:cs typeface="Times New Roman"/>
              </a:defRPr>
            </a:lvl6pPr>
            <a:lvl7pPr>
              <a:defRPr sz="2250" b="1">
                <a:solidFill>
                  <a:srgbClr val="14324B"/>
                </a:solidFill>
                <a:latin typeface="Times New Roman"/>
                <a:ea typeface="Times New Roman"/>
                <a:cs typeface="Times New Roman"/>
              </a:defRPr>
            </a:lvl7pPr>
            <a:lvl8pPr>
              <a:defRPr sz="2250" b="1">
                <a:solidFill>
                  <a:srgbClr val="14324B"/>
                </a:solidFill>
                <a:latin typeface="Times New Roman"/>
                <a:ea typeface="Times New Roman"/>
                <a:cs typeface="Times New Roman"/>
              </a:defRPr>
            </a:lvl8pPr>
            <a:lvl9pPr>
              <a:defRPr sz="2250" b="1">
                <a:solidFill>
                  <a:srgbClr val="14324B"/>
                </a:solidFill>
                <a:latin typeface="Times New Roman"/>
                <a:ea typeface="Times New Roman"/>
                <a:cs typeface="Times New Roman"/>
              </a:defRPr>
            </a:lvl9pPr>
          </a:lstStyle>
          <a:p xmlns:a="http://schemas.openxmlformats.org/drawingml/2006/main">
            <a:pPr>
              <a:defRPr sz="2250" b="1">
                <a:solidFill>
                  <a:srgbClr val="14324B"/>
                </a:solidFill>
                <a:latin typeface="Times New Roman"/>
                <a:ea typeface="Times New Roman"/>
                <a:cs typeface="Times New Roman"/>
              </a:defRPr>
            </a:pPr>
            <a:r>
              <a:rPr sz="2250" b="1">
                <a:solidFill>
                  <a:srgbClr val="14324B"/>
                </a:solidFill>
                <a:latin typeface="Times New Roman"/>
                <a:ea typeface="Times New Roman"/>
                <a:cs typeface="Times New Roman"/>
              </a:rPr>
              <a:t>Full transcript</a:t>
            </a:r>
          </a:p>
        </p:txBody>
      </p:sp>
      <p:sp>
        <p:nvSpPr>
          <p:cNvPr id="9" name="">
            <a:extLst xmlns:a="http://schemas.openxmlformats.org/drawingml/2006/main">
              <a:ext uri="{FF2B5EF4-FFF2-40B4-BE49-F238E27FC236}">
                <a16:creationId xmlns:a16="http://schemas.microsoft.com/office/drawing/2014/main" id="{431B6A36-1110-49E6-A933-4F59AC94F056}"/>
              </a:ext>
            </a:extLst>
          </p:cNvPr>
          <p:cNvSpPr>
            <a:spLocks xmlns:a="http://schemas.openxmlformats.org/drawingml/2006/main" noGrp="1"/>
          </p:cNvSpPr>
          <p:nvPr/>
        </p:nvSpPr>
        <p:spPr>
          <a:xfrm xmlns:a="http://schemas.openxmlformats.org/drawingml/2006/main">
            <a:off x="4143375" y="3667125"/>
            <a:ext cx="3714750" cy="666750"/>
          </a:xfrm>
          <a:prstGeom xmlns:a="http://schemas.openxmlformats.org/drawingml/2006/main" prst="rect">
            <a:avLst/>
          </a:prstGeom>
          <a:solidFill xmlns:a="http://schemas.openxmlformats.org/drawingml/2006/main">
            <a:srgbClr val="F0EAF5"/>
          </a:solidFill>
          <a:ln xmlns:a="http://schemas.openxmlformats.org/drawingml/2006/main" w="14288">
            <a:solidFill>
              <a:srgbClr val="815897"/>
            </a:solidFill>
          </a:ln>
        </p:spPr>
        <p:txBody>
          <a:bodyPr xmlns:a="http://schemas.openxmlformats.org/drawingml/2006/main" wrap="square" lIns="85725" tIns="85725" rIns="85725" bIns="85725" anchor="ctr">
            <a:noAutofit/>
          </a:bodyPr>
          <a:lstStyle xmlns:a="http://schemas.openxmlformats.org/drawingml/2006/main">
            <a:defPPr algn="ctr">
              <a:defRPr sz="2325" b="1">
                <a:solidFill>
                  <a:srgbClr val="815897"/>
                </a:solidFill>
                <a:latin typeface="Times New Roman"/>
                <a:ea typeface="Times New Roman"/>
                <a:cs typeface="Times New Roman"/>
              </a:defRPr>
            </a:defPPr>
            <a:lvl1pPr algn="ctr">
              <a:defRPr sz="2325" b="1">
                <a:solidFill>
                  <a:srgbClr val="815897"/>
                </a:solidFill>
                <a:latin typeface="Times New Roman"/>
                <a:ea typeface="Times New Roman"/>
                <a:cs typeface="Times New Roman"/>
              </a:defRPr>
            </a:lvl1pPr>
            <a:lvl2pPr algn="ctr">
              <a:defRPr sz="2325" b="1">
                <a:solidFill>
                  <a:srgbClr val="815897"/>
                </a:solidFill>
                <a:latin typeface="Times New Roman"/>
                <a:ea typeface="Times New Roman"/>
                <a:cs typeface="Times New Roman"/>
              </a:defRPr>
            </a:lvl2pPr>
            <a:lvl3pPr algn="ctr">
              <a:defRPr sz="2325" b="1">
                <a:solidFill>
                  <a:srgbClr val="815897"/>
                </a:solidFill>
                <a:latin typeface="Times New Roman"/>
                <a:ea typeface="Times New Roman"/>
                <a:cs typeface="Times New Roman"/>
              </a:defRPr>
            </a:lvl3pPr>
            <a:lvl4pPr algn="ctr">
              <a:defRPr sz="2325" b="1">
                <a:solidFill>
                  <a:srgbClr val="815897"/>
                </a:solidFill>
                <a:latin typeface="Times New Roman"/>
                <a:ea typeface="Times New Roman"/>
                <a:cs typeface="Times New Roman"/>
              </a:defRPr>
            </a:lvl4pPr>
            <a:lvl5pPr algn="ctr">
              <a:defRPr sz="2325" b="1">
                <a:solidFill>
                  <a:srgbClr val="815897"/>
                </a:solidFill>
                <a:latin typeface="Times New Roman"/>
                <a:ea typeface="Times New Roman"/>
                <a:cs typeface="Times New Roman"/>
              </a:defRPr>
            </a:lvl5pPr>
            <a:lvl6pPr algn="ctr">
              <a:defRPr sz="2325" b="1">
                <a:solidFill>
                  <a:srgbClr val="815897"/>
                </a:solidFill>
                <a:latin typeface="Times New Roman"/>
                <a:ea typeface="Times New Roman"/>
                <a:cs typeface="Times New Roman"/>
              </a:defRPr>
            </a:lvl6pPr>
            <a:lvl7pPr algn="ctr">
              <a:defRPr sz="2325" b="1">
                <a:solidFill>
                  <a:srgbClr val="815897"/>
                </a:solidFill>
                <a:latin typeface="Times New Roman"/>
                <a:ea typeface="Times New Roman"/>
                <a:cs typeface="Times New Roman"/>
              </a:defRPr>
            </a:lvl7pPr>
            <a:lvl8pPr algn="ctr">
              <a:defRPr sz="2325" b="1">
                <a:solidFill>
                  <a:srgbClr val="815897"/>
                </a:solidFill>
                <a:latin typeface="Times New Roman"/>
                <a:ea typeface="Times New Roman"/>
                <a:cs typeface="Times New Roman"/>
              </a:defRPr>
            </a:lvl8pPr>
            <a:lvl9pPr algn="ctr">
              <a:defRPr sz="2325" b="1">
                <a:solidFill>
                  <a:srgbClr val="815897"/>
                </a:solidFill>
                <a:latin typeface="Times New Roman"/>
                <a:ea typeface="Times New Roman"/>
                <a:cs typeface="Times New Roman"/>
              </a:defRPr>
            </a:lvl9pPr>
          </a:lstStyle>
          <a:p xmlns:a="http://schemas.openxmlformats.org/drawingml/2006/main">
            <a:pPr algn="ctr">
              <a:defRPr sz="2325" b="1">
                <a:solidFill>
                  <a:srgbClr val="815897"/>
                </a:solidFill>
                <a:latin typeface="Times New Roman"/>
                <a:ea typeface="Times New Roman"/>
                <a:cs typeface="Times New Roman"/>
              </a:defRPr>
            </a:pPr>
            <a:r>
              <a:rPr sz="2325" b="1">
                <a:solidFill>
                  <a:srgbClr val="815897"/>
                </a:solidFill>
                <a:latin typeface="Times New Roman"/>
                <a:ea typeface="Times New Roman"/>
                <a:cs typeface="Times New Roman"/>
              </a:rPr>
              <a:t>Translated protein</a:t>
            </a:r>
          </a:p>
        </p:txBody>
      </p:sp>
      <p:sp>
        <p:nvSpPr>
          <p:cNvPr id="11" name="">
            <a:extLst xmlns:a="http://schemas.openxmlformats.org/drawingml/2006/main">
              <a:ext uri="{FF2B5EF4-FFF2-40B4-BE49-F238E27FC236}">
                <a16:creationId xmlns:a16="http://schemas.microsoft.com/office/drawing/2014/main" id="{E0A442CF-337D-4A24-80C6-7C155C08C11D}"/>
              </a:ext>
            </a:extLst>
          </p:cNvPr>
          <p:cNvSpPr>
            <a:spLocks xmlns:a="http://schemas.openxmlformats.org/drawingml/2006/main" noGrp="1"/>
          </p:cNvSpPr>
          <p:nvPr/>
        </p:nvSpPr>
        <p:spPr>
          <a:xfrm xmlns:a="http://schemas.openxmlformats.org/drawingml/2006/main">
            <a:off x="1857375" y="457200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67D77"/>
                </a:solidFill>
                <a:latin typeface="Times New Roman"/>
                <a:ea typeface="Times New Roman"/>
                <a:cs typeface="Times New Roman"/>
              </a:defRPr>
            </a:defPPr>
            <a:lvl1pPr>
              <a:defRPr sz="2250">
                <a:solidFill>
                  <a:srgbClr val="167D77"/>
                </a:solidFill>
                <a:latin typeface="Times New Roman"/>
                <a:ea typeface="Times New Roman"/>
                <a:cs typeface="Times New Roman"/>
              </a:defRPr>
            </a:lvl1pPr>
            <a:lvl2pPr>
              <a:defRPr sz="2250">
                <a:solidFill>
                  <a:srgbClr val="167D77"/>
                </a:solidFill>
                <a:latin typeface="Times New Roman"/>
                <a:ea typeface="Times New Roman"/>
                <a:cs typeface="Times New Roman"/>
              </a:defRPr>
            </a:lvl2pPr>
            <a:lvl3pPr>
              <a:defRPr sz="2250">
                <a:solidFill>
                  <a:srgbClr val="167D77"/>
                </a:solidFill>
                <a:latin typeface="Times New Roman"/>
                <a:ea typeface="Times New Roman"/>
                <a:cs typeface="Times New Roman"/>
              </a:defRPr>
            </a:lvl3pPr>
            <a:lvl4pPr>
              <a:defRPr sz="2250">
                <a:solidFill>
                  <a:srgbClr val="167D77"/>
                </a:solidFill>
                <a:latin typeface="Times New Roman"/>
                <a:ea typeface="Times New Roman"/>
                <a:cs typeface="Times New Roman"/>
              </a:defRPr>
            </a:lvl4pPr>
            <a:lvl5pPr>
              <a:defRPr sz="2250">
                <a:solidFill>
                  <a:srgbClr val="167D77"/>
                </a:solidFill>
                <a:latin typeface="Times New Roman"/>
                <a:ea typeface="Times New Roman"/>
                <a:cs typeface="Times New Roman"/>
              </a:defRPr>
            </a:lvl5pPr>
            <a:lvl6pPr>
              <a:defRPr sz="2250">
                <a:solidFill>
                  <a:srgbClr val="167D77"/>
                </a:solidFill>
                <a:latin typeface="Times New Roman"/>
                <a:ea typeface="Times New Roman"/>
                <a:cs typeface="Times New Roman"/>
              </a:defRPr>
            </a:lvl6pPr>
            <a:lvl7pPr>
              <a:defRPr sz="2250">
                <a:solidFill>
                  <a:srgbClr val="167D77"/>
                </a:solidFill>
                <a:latin typeface="Times New Roman"/>
                <a:ea typeface="Times New Roman"/>
                <a:cs typeface="Times New Roman"/>
              </a:defRPr>
            </a:lvl7pPr>
            <a:lvl8pPr>
              <a:defRPr sz="2250">
                <a:solidFill>
                  <a:srgbClr val="167D77"/>
                </a:solidFill>
                <a:latin typeface="Times New Roman"/>
                <a:ea typeface="Times New Roman"/>
                <a:cs typeface="Times New Roman"/>
              </a:defRPr>
            </a:lvl8pPr>
            <a:lvl9pPr>
              <a:defRPr sz="2250">
                <a:solidFill>
                  <a:srgbClr val="167D77"/>
                </a:solidFill>
                <a:latin typeface="Times New Roman"/>
                <a:ea typeface="Times New Roman"/>
                <a:cs typeface="Times New Roman"/>
              </a:defRPr>
            </a:lvl9pPr>
          </a:lstStyle>
          <a:p xmlns:a="http://schemas.openxmlformats.org/drawingml/2006/main">
            <a:pPr>
              <a:defRPr sz="2250">
                <a:solidFill>
                  <a:srgbClr val="167D77"/>
                </a:solidFill>
                <a:latin typeface="Times New Roman"/>
                <a:ea typeface="Times New Roman"/>
                <a:cs typeface="Times New Roman"/>
              </a:defRPr>
            </a:pPr>
            <a:r>
              <a:rPr sz="2250">
                <a:solidFill>
                  <a:srgbClr val="167D77"/>
                </a:solidFill>
                <a:latin typeface="Times New Roman"/>
                <a:ea typeface="Times New Roman"/>
                <a:cs typeface="Times New Roman"/>
              </a:rPr>
              <a:t>The UTRs do not specify the translated protein.</a:t>
            </a:r>
          </a:p>
        </p:txBody>
      </p:sp>
      <p:sp>
        <p:nvSpPr>
          <p:cNvPr id="12" name="">
            <a:extLst xmlns:a="http://schemas.openxmlformats.org/drawingml/2006/main">
              <a:ext uri="{FF2B5EF4-FFF2-40B4-BE49-F238E27FC236}">
                <a16:creationId xmlns:a16="http://schemas.microsoft.com/office/drawing/2014/main" id="{629FE5FA-C0EA-4EA4-BBE2-6B4126A85508}"/>
              </a:ext>
            </a:extLst>
          </p:cNvPr>
          <p:cNvSpPr>
            <a:spLocks xmlns:a="http://schemas.openxmlformats.org/drawingml/2006/main" noGrp="1"/>
          </p:cNvSpPr>
          <p:nvPr/>
        </p:nvSpPr>
        <p:spPr>
          <a:xfrm xmlns:a="http://schemas.openxmlformats.org/drawingml/2006/main">
            <a:off x="619125" y="528637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324B"/>
                </a:solidFill>
                <a:latin typeface="Times New Roman"/>
                <a:ea typeface="Times New Roman"/>
                <a:cs typeface="Times New Roman"/>
              </a:defRPr>
            </a:defPPr>
            <a:lvl1pPr>
              <a:defRPr sz="2250" b="1">
                <a:solidFill>
                  <a:srgbClr val="14324B"/>
                </a:solidFill>
                <a:latin typeface="Times New Roman"/>
                <a:ea typeface="Times New Roman"/>
                <a:cs typeface="Times New Roman"/>
              </a:defRPr>
            </a:lvl1pPr>
            <a:lvl2pPr>
              <a:defRPr sz="2250" b="1">
                <a:solidFill>
                  <a:srgbClr val="14324B"/>
                </a:solidFill>
                <a:latin typeface="Times New Roman"/>
                <a:ea typeface="Times New Roman"/>
                <a:cs typeface="Times New Roman"/>
              </a:defRPr>
            </a:lvl2pPr>
            <a:lvl3pPr>
              <a:defRPr sz="2250" b="1">
                <a:solidFill>
                  <a:srgbClr val="14324B"/>
                </a:solidFill>
                <a:latin typeface="Times New Roman"/>
                <a:ea typeface="Times New Roman"/>
                <a:cs typeface="Times New Roman"/>
              </a:defRPr>
            </a:lvl3pPr>
            <a:lvl4pPr>
              <a:defRPr sz="2250" b="1">
                <a:solidFill>
                  <a:srgbClr val="14324B"/>
                </a:solidFill>
                <a:latin typeface="Times New Roman"/>
                <a:ea typeface="Times New Roman"/>
                <a:cs typeface="Times New Roman"/>
              </a:defRPr>
            </a:lvl4pPr>
            <a:lvl5pPr>
              <a:defRPr sz="2250" b="1">
                <a:solidFill>
                  <a:srgbClr val="14324B"/>
                </a:solidFill>
                <a:latin typeface="Times New Roman"/>
                <a:ea typeface="Times New Roman"/>
                <a:cs typeface="Times New Roman"/>
              </a:defRPr>
            </a:lvl5pPr>
            <a:lvl6pPr>
              <a:defRPr sz="2250" b="1">
                <a:solidFill>
                  <a:srgbClr val="14324B"/>
                </a:solidFill>
                <a:latin typeface="Times New Roman"/>
                <a:ea typeface="Times New Roman"/>
                <a:cs typeface="Times New Roman"/>
              </a:defRPr>
            </a:lvl6pPr>
            <a:lvl7pPr>
              <a:defRPr sz="2250" b="1">
                <a:solidFill>
                  <a:srgbClr val="14324B"/>
                </a:solidFill>
                <a:latin typeface="Times New Roman"/>
                <a:ea typeface="Times New Roman"/>
                <a:cs typeface="Times New Roman"/>
              </a:defRPr>
            </a:lvl7pPr>
            <a:lvl8pPr>
              <a:defRPr sz="2250" b="1">
                <a:solidFill>
                  <a:srgbClr val="14324B"/>
                </a:solidFill>
                <a:latin typeface="Times New Roman"/>
                <a:ea typeface="Times New Roman"/>
                <a:cs typeface="Times New Roman"/>
              </a:defRPr>
            </a:lvl8pPr>
            <a:lvl9pPr>
              <a:defRPr sz="2250" b="1">
                <a:solidFill>
                  <a:srgbClr val="14324B"/>
                </a:solidFill>
                <a:latin typeface="Times New Roman"/>
                <a:ea typeface="Times New Roman"/>
                <a:cs typeface="Times New Roman"/>
              </a:defRPr>
            </a:lvl9pPr>
          </a:lstStyle>
          <a:p xmlns:a="http://schemas.openxmlformats.org/drawingml/2006/main">
            <a:pPr>
              <a:defRPr sz="2250" b="1">
                <a:solidFill>
                  <a:srgbClr val="14324B"/>
                </a:solidFill>
                <a:latin typeface="Times New Roman"/>
                <a:ea typeface="Times New Roman"/>
                <a:cs typeface="Times New Roman"/>
              </a:defRPr>
            </a:pPr>
            <a:r>
              <a:rPr sz="2250" b="1">
                <a:solidFill>
                  <a:srgbClr val="14324B"/>
                </a:solidFill>
                <a:latin typeface="Times New Roman"/>
                <a:ea typeface="Times New Roman"/>
                <a:cs typeface="Times New Roman"/>
              </a:rPr>
              <a:t>RNA half-life</a:t>
            </a:r>
          </a:p>
        </p:txBody>
      </p:sp>
      <p:sp>
        <p:nvSpPr>
          <p:cNvPr id="13" name="">
            <a:extLst xmlns:a="http://schemas.openxmlformats.org/drawingml/2006/main">
              <a:ext uri="{FF2B5EF4-FFF2-40B4-BE49-F238E27FC236}">
                <a16:creationId xmlns:a16="http://schemas.microsoft.com/office/drawing/2014/main" id="{46FD4015-F3AB-4A88-9C53-4E6DF8397016}"/>
              </a:ext>
            </a:extLst>
          </p:cNvPr>
          <p:cNvSpPr>
            <a:spLocks xmlns:a="http://schemas.openxmlformats.org/drawingml/2006/main" noGrp="1"/>
          </p:cNvSpPr>
          <p:nvPr/>
        </p:nvSpPr>
        <p:spPr>
          <a:xfrm xmlns:a="http://schemas.openxmlformats.org/drawingml/2006/main">
            <a:off x="619125" y="57150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4324B"/>
                </a:solidFill>
                <a:latin typeface="Times New Roman"/>
                <a:ea typeface="Times New Roman"/>
                <a:cs typeface="Times New Roman"/>
              </a:defRPr>
            </a:defPPr>
            <a:lvl1pPr>
              <a:defRPr sz="1800">
                <a:solidFill>
                  <a:srgbClr val="14324B"/>
                </a:solidFill>
                <a:latin typeface="Times New Roman"/>
                <a:ea typeface="Times New Roman"/>
                <a:cs typeface="Times New Roman"/>
              </a:defRPr>
            </a:lvl1pPr>
            <a:lvl2pPr>
              <a:defRPr sz="1800">
                <a:solidFill>
                  <a:srgbClr val="14324B"/>
                </a:solidFill>
                <a:latin typeface="Times New Roman"/>
                <a:ea typeface="Times New Roman"/>
                <a:cs typeface="Times New Roman"/>
              </a:defRPr>
            </a:lvl2pPr>
            <a:lvl3pPr>
              <a:defRPr sz="1800">
                <a:solidFill>
                  <a:srgbClr val="14324B"/>
                </a:solidFill>
                <a:latin typeface="Times New Roman"/>
                <a:ea typeface="Times New Roman"/>
                <a:cs typeface="Times New Roman"/>
              </a:defRPr>
            </a:lvl3pPr>
            <a:lvl4pPr>
              <a:defRPr sz="1800">
                <a:solidFill>
                  <a:srgbClr val="14324B"/>
                </a:solidFill>
                <a:latin typeface="Times New Roman"/>
                <a:ea typeface="Times New Roman"/>
                <a:cs typeface="Times New Roman"/>
              </a:defRPr>
            </a:lvl4pPr>
            <a:lvl5pPr>
              <a:defRPr sz="1800">
                <a:solidFill>
                  <a:srgbClr val="14324B"/>
                </a:solidFill>
                <a:latin typeface="Times New Roman"/>
                <a:ea typeface="Times New Roman"/>
                <a:cs typeface="Times New Roman"/>
              </a:defRPr>
            </a:lvl5pPr>
            <a:lvl6pPr>
              <a:defRPr sz="1800">
                <a:solidFill>
                  <a:srgbClr val="14324B"/>
                </a:solidFill>
                <a:latin typeface="Times New Roman"/>
                <a:ea typeface="Times New Roman"/>
                <a:cs typeface="Times New Roman"/>
              </a:defRPr>
            </a:lvl6pPr>
            <a:lvl7pPr>
              <a:defRPr sz="1800">
                <a:solidFill>
                  <a:srgbClr val="14324B"/>
                </a:solidFill>
                <a:latin typeface="Times New Roman"/>
                <a:ea typeface="Times New Roman"/>
                <a:cs typeface="Times New Roman"/>
              </a:defRPr>
            </a:lvl7pPr>
            <a:lvl8pPr>
              <a:defRPr sz="1800">
                <a:solidFill>
                  <a:srgbClr val="14324B"/>
                </a:solidFill>
                <a:latin typeface="Times New Roman"/>
                <a:ea typeface="Times New Roman"/>
                <a:cs typeface="Times New Roman"/>
              </a:defRPr>
            </a:lvl8pPr>
            <a:lvl9pPr>
              <a:defRPr sz="1800">
                <a:solidFill>
                  <a:srgbClr val="14324B"/>
                </a:solidFill>
                <a:latin typeface="Times New Roman"/>
                <a:ea typeface="Times New Roman"/>
                <a:cs typeface="Times New Roman"/>
              </a:defRPr>
            </a:lvl9pPr>
          </a:lstStyle>
          <a:p xmlns:a="http://schemas.openxmlformats.org/drawingml/2006/main">
            <a:pPr>
              <a:defRPr sz="1800">
                <a:solidFill>
                  <a:srgbClr val="14324B"/>
                </a:solidFill>
                <a:latin typeface="Times New Roman"/>
                <a:ea typeface="Times New Roman"/>
                <a:cs typeface="Times New Roman"/>
              </a:defRPr>
            </a:pPr>
            <a:r>
              <a:rPr sz="1800">
                <a:solidFill>
                  <a:srgbClr val="14324B"/>
                </a:solidFill>
                <a:latin typeface="Times New Roman"/>
                <a:ea typeface="Times New Roman"/>
                <a:cs typeface="Times New Roman"/>
              </a:rPr>
              <a:t>12,939 rows; study-summary target, not hours</a:t>
            </a:r>
          </a:p>
        </p:txBody>
      </p:sp>
      <p:sp>
        <p:nvSpPr>
          <p:cNvPr id="14" name="">
            <a:extLst xmlns:a="http://schemas.openxmlformats.org/drawingml/2006/main">
              <a:ext uri="{FF2B5EF4-FFF2-40B4-BE49-F238E27FC236}">
                <a16:creationId xmlns:a16="http://schemas.microsoft.com/office/drawing/2014/main" id="{8EDB898E-A38B-419C-9EC6-0D2B6C0898F2}"/>
              </a:ext>
            </a:extLst>
          </p:cNvPr>
          <p:cNvSpPr>
            <a:spLocks xmlns:a="http://schemas.openxmlformats.org/drawingml/2006/main" noGrp="1"/>
          </p:cNvSpPr>
          <p:nvPr/>
        </p:nvSpPr>
        <p:spPr>
          <a:xfrm xmlns:a="http://schemas.openxmlformats.org/drawingml/2006/main">
            <a:off x="6572250" y="5286375"/>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324B"/>
                </a:solidFill>
                <a:latin typeface="Times New Roman"/>
                <a:ea typeface="Times New Roman"/>
                <a:cs typeface="Times New Roman"/>
              </a:defRPr>
            </a:defPPr>
            <a:lvl1pPr>
              <a:defRPr sz="2250" b="1">
                <a:solidFill>
                  <a:srgbClr val="14324B"/>
                </a:solidFill>
                <a:latin typeface="Times New Roman"/>
                <a:ea typeface="Times New Roman"/>
                <a:cs typeface="Times New Roman"/>
              </a:defRPr>
            </a:lvl1pPr>
            <a:lvl2pPr>
              <a:defRPr sz="2250" b="1">
                <a:solidFill>
                  <a:srgbClr val="14324B"/>
                </a:solidFill>
                <a:latin typeface="Times New Roman"/>
                <a:ea typeface="Times New Roman"/>
                <a:cs typeface="Times New Roman"/>
              </a:defRPr>
            </a:lvl2pPr>
            <a:lvl3pPr>
              <a:defRPr sz="2250" b="1">
                <a:solidFill>
                  <a:srgbClr val="14324B"/>
                </a:solidFill>
                <a:latin typeface="Times New Roman"/>
                <a:ea typeface="Times New Roman"/>
                <a:cs typeface="Times New Roman"/>
              </a:defRPr>
            </a:lvl3pPr>
            <a:lvl4pPr>
              <a:defRPr sz="2250" b="1">
                <a:solidFill>
                  <a:srgbClr val="14324B"/>
                </a:solidFill>
                <a:latin typeface="Times New Roman"/>
                <a:ea typeface="Times New Roman"/>
                <a:cs typeface="Times New Roman"/>
              </a:defRPr>
            </a:lvl4pPr>
            <a:lvl5pPr>
              <a:defRPr sz="2250" b="1">
                <a:solidFill>
                  <a:srgbClr val="14324B"/>
                </a:solidFill>
                <a:latin typeface="Times New Roman"/>
                <a:ea typeface="Times New Roman"/>
                <a:cs typeface="Times New Roman"/>
              </a:defRPr>
            </a:lvl5pPr>
            <a:lvl6pPr>
              <a:defRPr sz="2250" b="1">
                <a:solidFill>
                  <a:srgbClr val="14324B"/>
                </a:solidFill>
                <a:latin typeface="Times New Roman"/>
                <a:ea typeface="Times New Roman"/>
                <a:cs typeface="Times New Roman"/>
              </a:defRPr>
            </a:lvl6pPr>
            <a:lvl7pPr>
              <a:defRPr sz="2250" b="1">
                <a:solidFill>
                  <a:srgbClr val="14324B"/>
                </a:solidFill>
                <a:latin typeface="Times New Roman"/>
                <a:ea typeface="Times New Roman"/>
                <a:cs typeface="Times New Roman"/>
              </a:defRPr>
            </a:lvl7pPr>
            <a:lvl8pPr>
              <a:defRPr sz="2250" b="1">
                <a:solidFill>
                  <a:srgbClr val="14324B"/>
                </a:solidFill>
                <a:latin typeface="Times New Roman"/>
                <a:ea typeface="Times New Roman"/>
                <a:cs typeface="Times New Roman"/>
              </a:defRPr>
            </a:lvl8pPr>
            <a:lvl9pPr>
              <a:defRPr sz="2250" b="1">
                <a:solidFill>
                  <a:srgbClr val="14324B"/>
                </a:solidFill>
                <a:latin typeface="Times New Roman"/>
                <a:ea typeface="Times New Roman"/>
                <a:cs typeface="Times New Roman"/>
              </a:defRPr>
            </a:lvl9pPr>
          </a:lstStyle>
          <a:p xmlns:a="http://schemas.openxmlformats.org/drawingml/2006/main">
            <a:pPr>
              <a:defRPr sz="2250" b="1">
                <a:solidFill>
                  <a:srgbClr val="14324B"/>
                </a:solidFill>
                <a:latin typeface="Times New Roman"/>
                <a:ea typeface="Times New Roman"/>
                <a:cs typeface="Times New Roman"/>
              </a:defRPr>
            </a:pPr>
            <a:r>
              <a:rPr sz="2250" b="1">
                <a:solidFill>
                  <a:srgbClr val="14324B"/>
                </a:solidFill>
                <a:latin typeface="Times New Roman"/>
                <a:ea typeface="Times New Roman"/>
                <a:cs typeface="Times New Roman"/>
              </a:rPr>
              <a:t>Translation efficiency</a:t>
            </a:r>
          </a:p>
        </p:txBody>
      </p:sp>
      <p:sp>
        <p:nvSpPr>
          <p:cNvPr id="15" name="">
            <a:extLst xmlns:a="http://schemas.openxmlformats.org/drawingml/2006/main">
              <a:ext uri="{FF2B5EF4-FFF2-40B4-BE49-F238E27FC236}">
                <a16:creationId xmlns:a16="http://schemas.microsoft.com/office/drawing/2014/main" id="{27A1AC54-80E6-4EBE-8099-84E523BE87F6}"/>
              </a:ext>
            </a:extLst>
          </p:cNvPr>
          <p:cNvSpPr>
            <a:spLocks xmlns:a="http://schemas.openxmlformats.org/drawingml/2006/main" noGrp="1"/>
          </p:cNvSpPr>
          <p:nvPr/>
        </p:nvSpPr>
        <p:spPr>
          <a:xfrm xmlns:a="http://schemas.openxmlformats.org/drawingml/2006/main">
            <a:off x="6572250" y="57150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4324B"/>
                </a:solidFill>
                <a:latin typeface="Times New Roman"/>
                <a:ea typeface="Times New Roman"/>
                <a:cs typeface="Times New Roman"/>
              </a:defRPr>
            </a:defPPr>
            <a:lvl1pPr>
              <a:defRPr sz="1800">
                <a:solidFill>
                  <a:srgbClr val="14324B"/>
                </a:solidFill>
                <a:latin typeface="Times New Roman"/>
                <a:ea typeface="Times New Roman"/>
                <a:cs typeface="Times New Roman"/>
              </a:defRPr>
            </a:lvl1pPr>
            <a:lvl2pPr>
              <a:defRPr sz="1800">
                <a:solidFill>
                  <a:srgbClr val="14324B"/>
                </a:solidFill>
                <a:latin typeface="Times New Roman"/>
                <a:ea typeface="Times New Roman"/>
                <a:cs typeface="Times New Roman"/>
              </a:defRPr>
            </a:lvl2pPr>
            <a:lvl3pPr>
              <a:defRPr sz="1800">
                <a:solidFill>
                  <a:srgbClr val="14324B"/>
                </a:solidFill>
                <a:latin typeface="Times New Roman"/>
                <a:ea typeface="Times New Roman"/>
                <a:cs typeface="Times New Roman"/>
              </a:defRPr>
            </a:lvl3pPr>
            <a:lvl4pPr>
              <a:defRPr sz="1800">
                <a:solidFill>
                  <a:srgbClr val="14324B"/>
                </a:solidFill>
                <a:latin typeface="Times New Roman"/>
                <a:ea typeface="Times New Roman"/>
                <a:cs typeface="Times New Roman"/>
              </a:defRPr>
            </a:lvl4pPr>
            <a:lvl5pPr>
              <a:defRPr sz="1800">
                <a:solidFill>
                  <a:srgbClr val="14324B"/>
                </a:solidFill>
                <a:latin typeface="Times New Roman"/>
                <a:ea typeface="Times New Roman"/>
                <a:cs typeface="Times New Roman"/>
              </a:defRPr>
            </a:lvl5pPr>
            <a:lvl6pPr>
              <a:defRPr sz="1800">
                <a:solidFill>
                  <a:srgbClr val="14324B"/>
                </a:solidFill>
                <a:latin typeface="Times New Roman"/>
                <a:ea typeface="Times New Roman"/>
                <a:cs typeface="Times New Roman"/>
              </a:defRPr>
            </a:lvl6pPr>
            <a:lvl7pPr>
              <a:defRPr sz="1800">
                <a:solidFill>
                  <a:srgbClr val="14324B"/>
                </a:solidFill>
                <a:latin typeface="Times New Roman"/>
                <a:ea typeface="Times New Roman"/>
                <a:cs typeface="Times New Roman"/>
              </a:defRPr>
            </a:lvl7pPr>
            <a:lvl8pPr>
              <a:defRPr sz="1800">
                <a:solidFill>
                  <a:srgbClr val="14324B"/>
                </a:solidFill>
                <a:latin typeface="Times New Roman"/>
                <a:ea typeface="Times New Roman"/>
                <a:cs typeface="Times New Roman"/>
              </a:defRPr>
            </a:lvl8pPr>
            <a:lvl9pPr>
              <a:defRPr sz="1800">
                <a:solidFill>
                  <a:srgbClr val="14324B"/>
                </a:solidFill>
                <a:latin typeface="Times New Roman"/>
                <a:ea typeface="Times New Roman"/>
                <a:cs typeface="Times New Roman"/>
              </a:defRPr>
            </a:lvl9pPr>
          </a:lstStyle>
          <a:p xmlns:a="http://schemas.openxmlformats.org/drawingml/2006/main">
            <a:pPr>
              <a:defRPr sz="1800">
                <a:solidFill>
                  <a:srgbClr val="14324B"/>
                </a:solidFill>
                <a:latin typeface="Times New Roman"/>
                <a:ea typeface="Times New Roman"/>
                <a:cs typeface="Times New Roman"/>
              </a:defRPr>
            </a:pPr>
            <a:r>
              <a:rPr sz="1800">
                <a:solidFill>
                  <a:srgbClr val="14324B"/>
                </a:solidFill>
                <a:latin typeface="Times New Roman"/>
                <a:ea typeface="Times New Roman"/>
                <a:cs typeface="Times New Roman"/>
              </a:rPr>
              <a:t>10,277 rows; ribosome profiling relative to RNA abundance</a:t>
            </a:r>
          </a:p>
        </p:txBody>
      </p:sp>
      <p:sp>
        <p:nvSpPr>
          <p:cNvPr id="16" name="">
            <a:extLst xmlns:a="http://schemas.openxmlformats.org/drawingml/2006/main">
              <a:ext uri="{FF2B5EF4-FFF2-40B4-BE49-F238E27FC236}">
                <a16:creationId xmlns:a16="http://schemas.microsoft.com/office/drawing/2014/main" id="{B32B111B-15C8-4C18-8849-CC8D4568C51F}"/>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Region widths are schematic. These are new datasets, not UTRs appended to the earlier BioLangFusion stability rows.</a:t>
            </a:r>
          </a:p>
        </p:txBody>
      </p:sp>
    </p:spTree>
    <p:extLst>
      <p:ext uri="{BB962C8B-B14F-4D97-AF65-F5344CB8AC3E}">
        <p14:creationId xmlns:p14="http://schemas.microsoft.com/office/powerpoint/2010/main" val="115937312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0E81DD8-1541-462B-9284-A21C6BF25ED5}"/>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149154-8C4C-4865-9214-AC82382F48C4}"/>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Region information helps before choosing an encoder</a:t>
            </a:r>
          </a:p>
        </p:txBody>
      </p:sp>
      <p:sp>
        <p:nvSpPr>
          <p:cNvPr id="3" name="">
            <a:extLst xmlns:a="http://schemas.openxmlformats.org/drawingml/2006/main">
              <a:ext uri="{FF2B5EF4-FFF2-40B4-BE49-F238E27FC236}">
                <a16:creationId xmlns:a16="http://schemas.microsoft.com/office/drawing/2014/main" id="{85BE491B-E01B-4B5D-A902-97A70BDB235D}"/>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Calculated GC, length and composition features with ridge; three gene-grouped split assignments.</a:t>
            </a:r>
          </a:p>
        </p:txBody>
      </p:sp>
      <p:sp>
        <p:nvSpPr>
          <p:cNvPr id="4" name="">
            <a:extLst xmlns:a="http://schemas.openxmlformats.org/drawingml/2006/main">
              <a:ext uri="{FF2B5EF4-FFF2-40B4-BE49-F238E27FC236}">
                <a16:creationId xmlns:a16="http://schemas.microsoft.com/office/drawing/2014/main" id="{8DB8ABB3-421A-4AFD-9189-5AF61646780B}"/>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16</a:t>
            </a:r>
          </a:p>
        </p:txBody>
      </p:sp>
      <p:sp>
        <p:nvSpPr>
          <p:cNvPr id="5" name="">
            <a:extLst xmlns:a="http://schemas.openxmlformats.org/drawingml/2006/main">
              <a:ext uri="{FF2B5EF4-FFF2-40B4-BE49-F238E27FC236}">
                <a16:creationId xmlns:a16="http://schemas.microsoft.com/office/drawing/2014/main" id="{6308FA5D-6A0B-42E5-B319-2C36D2A32886}"/>
              </a:ext>
            </a:extLst>
          </p:cNvPr>
          <p:cNvSpPr>
            <a:spLocks xmlns:a="http://schemas.openxmlformats.org/drawingml/2006/main" noGrp="1"/>
          </p:cNvSpPr>
          <p:nvPr/>
        </p:nvSpPr>
        <p:spPr>
          <a:xfrm xmlns:a="http://schemas.openxmlformats.org/drawingml/2006/main">
            <a:off x="428625" y="20955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324B"/>
                </a:solidFill>
                <a:latin typeface="Times New Roman"/>
                <a:ea typeface="Times New Roman"/>
                <a:cs typeface="Times New Roman"/>
              </a:defRPr>
            </a:defPPr>
            <a:lvl1pPr>
              <a:defRPr sz="2175" b="1">
                <a:solidFill>
                  <a:srgbClr val="14324B"/>
                </a:solidFill>
                <a:latin typeface="Times New Roman"/>
                <a:ea typeface="Times New Roman"/>
                <a:cs typeface="Times New Roman"/>
              </a:defRPr>
            </a:lvl1pPr>
            <a:lvl2pPr>
              <a:defRPr sz="2175" b="1">
                <a:solidFill>
                  <a:srgbClr val="14324B"/>
                </a:solidFill>
                <a:latin typeface="Times New Roman"/>
                <a:ea typeface="Times New Roman"/>
                <a:cs typeface="Times New Roman"/>
              </a:defRPr>
            </a:lvl2pPr>
            <a:lvl3pPr>
              <a:defRPr sz="2175" b="1">
                <a:solidFill>
                  <a:srgbClr val="14324B"/>
                </a:solidFill>
                <a:latin typeface="Times New Roman"/>
                <a:ea typeface="Times New Roman"/>
                <a:cs typeface="Times New Roman"/>
              </a:defRPr>
            </a:lvl3pPr>
            <a:lvl4pPr>
              <a:defRPr sz="2175" b="1">
                <a:solidFill>
                  <a:srgbClr val="14324B"/>
                </a:solidFill>
                <a:latin typeface="Times New Roman"/>
                <a:ea typeface="Times New Roman"/>
                <a:cs typeface="Times New Roman"/>
              </a:defRPr>
            </a:lvl4pPr>
            <a:lvl5pPr>
              <a:defRPr sz="2175" b="1">
                <a:solidFill>
                  <a:srgbClr val="14324B"/>
                </a:solidFill>
                <a:latin typeface="Times New Roman"/>
                <a:ea typeface="Times New Roman"/>
                <a:cs typeface="Times New Roman"/>
              </a:defRPr>
            </a:lvl5pPr>
            <a:lvl6pPr>
              <a:defRPr sz="2175" b="1">
                <a:solidFill>
                  <a:srgbClr val="14324B"/>
                </a:solidFill>
                <a:latin typeface="Times New Roman"/>
                <a:ea typeface="Times New Roman"/>
                <a:cs typeface="Times New Roman"/>
              </a:defRPr>
            </a:lvl6pPr>
            <a:lvl7pPr>
              <a:defRPr sz="2175" b="1">
                <a:solidFill>
                  <a:srgbClr val="14324B"/>
                </a:solidFill>
                <a:latin typeface="Times New Roman"/>
                <a:ea typeface="Times New Roman"/>
                <a:cs typeface="Times New Roman"/>
              </a:defRPr>
            </a:lvl7pPr>
            <a:lvl8pPr>
              <a:defRPr sz="2175" b="1">
                <a:solidFill>
                  <a:srgbClr val="14324B"/>
                </a:solidFill>
                <a:latin typeface="Times New Roman"/>
                <a:ea typeface="Times New Roman"/>
                <a:cs typeface="Times New Roman"/>
              </a:defRPr>
            </a:lvl8pPr>
            <a:lvl9pPr>
              <a:defRPr sz="2175" b="1">
                <a:solidFill>
                  <a:srgbClr val="14324B"/>
                </a:solidFill>
                <a:latin typeface="Times New Roman"/>
                <a:ea typeface="Times New Roman"/>
                <a:cs typeface="Times New Roman"/>
              </a:defRPr>
            </a:lvl9pPr>
          </a:lstStyle>
          <a:p xmlns:a="http://schemas.openxmlformats.org/drawingml/2006/main">
            <a:pPr>
              <a:defRPr sz="2175" b="1">
                <a:solidFill>
                  <a:srgbClr val="14324B"/>
                </a:solidFill>
                <a:latin typeface="Times New Roman"/>
                <a:ea typeface="Times New Roman"/>
                <a:cs typeface="Times New Roman"/>
              </a:defRPr>
            </a:pPr>
            <a:r>
              <a:rPr sz="2175" b="1">
                <a:solidFill>
                  <a:srgbClr val="14324B"/>
                </a:solidFill>
                <a:latin typeface="Times New Roman"/>
                <a:ea typeface="Times New Roman"/>
                <a:cs typeface="Times New Roman"/>
              </a:rPr>
              <a:t>Which regions supply features?</a:t>
            </a:r>
          </a:p>
        </p:txBody>
      </p:sp>
      <p:sp>
        <p:nvSpPr>
          <p:cNvPr id="6" name="">
            <a:extLst xmlns:a="http://schemas.openxmlformats.org/drawingml/2006/main">
              <a:ext uri="{FF2B5EF4-FFF2-40B4-BE49-F238E27FC236}">
                <a16:creationId xmlns:a16="http://schemas.microsoft.com/office/drawing/2014/main" id="{E2333F4F-D7E0-46E1-B6B2-B5AF0250A468}"/>
              </a:ext>
            </a:extLst>
          </p:cNvPr>
          <p:cNvSpPr>
            <a:spLocks xmlns:a="http://schemas.openxmlformats.org/drawingml/2006/main" noGrp="1"/>
          </p:cNvSpPr>
          <p:nvPr/>
        </p:nvSpPr>
        <p:spPr>
          <a:xfrm xmlns:a="http://schemas.openxmlformats.org/drawingml/2006/main">
            <a:off x="428625" y="2857500"/>
            <a:ext cx="1074420" cy="457200"/>
          </a:xfrm>
          <a:prstGeom xmlns:a="http://schemas.openxmlformats.org/drawingml/2006/main" prst="rect">
            <a:avLst/>
          </a:prstGeom>
          <a:solidFill xmlns:a="http://schemas.openxmlformats.org/drawingml/2006/main">
            <a:srgbClr val="F0F4F6"/>
          </a:solidFill>
          <a:ln xmlns:a="http://schemas.openxmlformats.org/drawingml/2006/main" w="14288">
            <a:solidFill>
              <a:srgbClr val="7D878C"/>
            </a:solidFill>
          </a:ln>
        </p:spPr>
        <p:txBody>
          <a:bodyPr xmlns:a="http://schemas.openxmlformats.org/drawingml/2006/main" wrap="square" lIns="85725" tIns="85725" rIns="85725" bIns="85725" anchor="ctr">
            <a:noAutofit/>
          </a:bodyPr>
          <a:lstStyle xmlns:a="http://schemas.openxmlformats.org/drawingml/2006/main">
            <a:defPPr algn="ctr">
              <a:defRPr sz="1800" b="1">
                <a:solidFill>
                  <a:srgbClr val="7D878C"/>
                </a:solidFill>
                <a:latin typeface="Times New Roman"/>
                <a:ea typeface="Times New Roman"/>
                <a:cs typeface="Times New Roman"/>
              </a:defRPr>
            </a:defPPr>
            <a:lvl1pPr algn="ctr">
              <a:defRPr sz="1800" b="1">
                <a:solidFill>
                  <a:srgbClr val="7D878C"/>
                </a:solidFill>
                <a:latin typeface="Times New Roman"/>
                <a:ea typeface="Times New Roman"/>
                <a:cs typeface="Times New Roman"/>
              </a:defRPr>
            </a:lvl1pPr>
            <a:lvl2pPr algn="ctr">
              <a:defRPr sz="1800" b="1">
                <a:solidFill>
                  <a:srgbClr val="7D878C"/>
                </a:solidFill>
                <a:latin typeface="Times New Roman"/>
                <a:ea typeface="Times New Roman"/>
                <a:cs typeface="Times New Roman"/>
              </a:defRPr>
            </a:lvl2pPr>
            <a:lvl3pPr algn="ctr">
              <a:defRPr sz="1800" b="1">
                <a:solidFill>
                  <a:srgbClr val="7D878C"/>
                </a:solidFill>
                <a:latin typeface="Times New Roman"/>
                <a:ea typeface="Times New Roman"/>
                <a:cs typeface="Times New Roman"/>
              </a:defRPr>
            </a:lvl3pPr>
            <a:lvl4pPr algn="ctr">
              <a:defRPr sz="1800" b="1">
                <a:solidFill>
                  <a:srgbClr val="7D878C"/>
                </a:solidFill>
                <a:latin typeface="Times New Roman"/>
                <a:ea typeface="Times New Roman"/>
                <a:cs typeface="Times New Roman"/>
              </a:defRPr>
            </a:lvl4pPr>
            <a:lvl5pPr algn="ctr">
              <a:defRPr sz="1800" b="1">
                <a:solidFill>
                  <a:srgbClr val="7D878C"/>
                </a:solidFill>
                <a:latin typeface="Times New Roman"/>
                <a:ea typeface="Times New Roman"/>
                <a:cs typeface="Times New Roman"/>
              </a:defRPr>
            </a:lvl5pPr>
            <a:lvl6pPr algn="ctr">
              <a:defRPr sz="1800" b="1">
                <a:solidFill>
                  <a:srgbClr val="7D878C"/>
                </a:solidFill>
                <a:latin typeface="Times New Roman"/>
                <a:ea typeface="Times New Roman"/>
                <a:cs typeface="Times New Roman"/>
              </a:defRPr>
            </a:lvl6pPr>
            <a:lvl7pPr algn="ctr">
              <a:defRPr sz="1800" b="1">
                <a:solidFill>
                  <a:srgbClr val="7D878C"/>
                </a:solidFill>
                <a:latin typeface="Times New Roman"/>
                <a:ea typeface="Times New Roman"/>
                <a:cs typeface="Times New Roman"/>
              </a:defRPr>
            </a:lvl7pPr>
            <a:lvl8pPr algn="ctr">
              <a:defRPr sz="1800" b="1">
                <a:solidFill>
                  <a:srgbClr val="7D878C"/>
                </a:solidFill>
                <a:latin typeface="Times New Roman"/>
                <a:ea typeface="Times New Roman"/>
                <a:cs typeface="Times New Roman"/>
              </a:defRPr>
            </a:lvl8pPr>
            <a:lvl9pPr algn="ctr">
              <a:defRPr sz="1800" b="1">
                <a:solidFill>
                  <a:srgbClr val="7D878C"/>
                </a:solidFill>
                <a:latin typeface="Times New Roman"/>
                <a:ea typeface="Times New Roman"/>
                <a:cs typeface="Times New Roman"/>
              </a:defRPr>
            </a:lvl9pPr>
          </a:lstStyle>
          <a:p xmlns:a="http://schemas.openxmlformats.org/drawingml/2006/main">
            <a:pPr algn="ctr">
              <a:defRPr sz="1800" b="1">
                <a:solidFill>
                  <a:srgbClr val="7D878C"/>
                </a:solidFill>
                <a:latin typeface="Times New Roman"/>
                <a:ea typeface="Times New Roman"/>
                <a:cs typeface="Times New Roman"/>
              </a:defRPr>
            </a:pPr>
            <a:r>
              <a:rPr sz="1800" b="1">
                <a:solidFill>
                  <a:srgbClr val="7D878C"/>
                </a:solidFill>
                <a:latin typeface="Times New Roman"/>
                <a:ea typeface="Times New Roman"/>
                <a:cs typeface="Times New Roman"/>
              </a:rPr>
              <a:t>5′ UTR</a:t>
            </a:r>
          </a:p>
        </p:txBody>
      </p:sp>
      <p:sp>
        <p:nvSpPr>
          <p:cNvPr id="7" name="">
            <a:extLst xmlns:a="http://schemas.openxmlformats.org/drawingml/2006/main">
              <a:ext uri="{FF2B5EF4-FFF2-40B4-BE49-F238E27FC236}">
                <a16:creationId xmlns:a16="http://schemas.microsoft.com/office/drawing/2014/main" id="{DECE78BC-0DE9-4962-BE5A-A57721C6DFD2}"/>
              </a:ext>
            </a:extLst>
          </p:cNvPr>
          <p:cNvSpPr>
            <a:spLocks xmlns:a="http://schemas.openxmlformats.org/drawingml/2006/main" noGrp="1"/>
          </p:cNvSpPr>
          <p:nvPr/>
        </p:nvSpPr>
        <p:spPr>
          <a:xfrm xmlns:a="http://schemas.openxmlformats.org/drawingml/2006/main">
            <a:off x="1503045" y="2857500"/>
            <a:ext cx="2238375" cy="457200"/>
          </a:xfrm>
          <a:prstGeom xmlns:a="http://schemas.openxmlformats.org/drawingml/2006/main" prst="rect">
            <a:avLst/>
          </a:prstGeom>
          <a:solidFill xmlns:a="http://schemas.openxmlformats.org/drawingml/2006/main">
            <a:srgbClr val="167D77"/>
          </a:solidFill>
          <a:ln xmlns:a="http://schemas.openxmlformats.org/drawingml/2006/main" w="14288">
            <a:solidFill>
              <a:srgbClr val="FFFFFF"/>
            </a:solidFill>
          </a:ln>
        </p:spPr>
        <p:txBody>
          <a:bodyPr xmlns:a="http://schemas.openxmlformats.org/drawingml/2006/main" wrap="square" lIns="85725" tIns="85725" rIns="85725" bIns="85725" anchor="ctr">
            <a:noAutofit/>
          </a:bodyPr>
          <a:lstStyle xmlns:a="http://schemas.openxmlformats.org/drawingml/2006/main">
            <a:defPPr algn="ctr">
              <a:defRPr sz="1800" b="1">
                <a:solidFill>
                  <a:srgbClr val="FFFFFF"/>
                </a:solidFill>
                <a:latin typeface="Times New Roman"/>
                <a:ea typeface="Times New Roman"/>
                <a:cs typeface="Times New Roman"/>
              </a:defRPr>
            </a:defPPr>
            <a:lvl1pPr algn="ctr">
              <a:defRPr sz="1800" b="1">
                <a:solidFill>
                  <a:srgbClr val="FFFFFF"/>
                </a:solidFill>
                <a:latin typeface="Times New Roman"/>
                <a:ea typeface="Times New Roman"/>
                <a:cs typeface="Times New Roman"/>
              </a:defRPr>
            </a:lvl1pPr>
            <a:lvl2pPr algn="ctr">
              <a:defRPr sz="1800" b="1">
                <a:solidFill>
                  <a:srgbClr val="FFFFFF"/>
                </a:solidFill>
                <a:latin typeface="Times New Roman"/>
                <a:ea typeface="Times New Roman"/>
                <a:cs typeface="Times New Roman"/>
              </a:defRPr>
            </a:lvl2pPr>
            <a:lvl3pPr algn="ctr">
              <a:defRPr sz="1800" b="1">
                <a:solidFill>
                  <a:srgbClr val="FFFFFF"/>
                </a:solidFill>
                <a:latin typeface="Times New Roman"/>
                <a:ea typeface="Times New Roman"/>
                <a:cs typeface="Times New Roman"/>
              </a:defRPr>
            </a:lvl3pPr>
            <a:lvl4pPr algn="ctr">
              <a:defRPr sz="1800" b="1">
                <a:solidFill>
                  <a:srgbClr val="FFFFFF"/>
                </a:solidFill>
                <a:latin typeface="Times New Roman"/>
                <a:ea typeface="Times New Roman"/>
                <a:cs typeface="Times New Roman"/>
              </a:defRPr>
            </a:lvl4pPr>
            <a:lvl5pPr algn="ctr">
              <a:defRPr sz="1800" b="1">
                <a:solidFill>
                  <a:srgbClr val="FFFFFF"/>
                </a:solidFill>
                <a:latin typeface="Times New Roman"/>
                <a:ea typeface="Times New Roman"/>
                <a:cs typeface="Times New Roman"/>
              </a:defRPr>
            </a:lvl5pPr>
            <a:lvl6pPr algn="ctr">
              <a:defRPr sz="1800" b="1">
                <a:solidFill>
                  <a:srgbClr val="FFFFFF"/>
                </a:solidFill>
                <a:latin typeface="Times New Roman"/>
                <a:ea typeface="Times New Roman"/>
                <a:cs typeface="Times New Roman"/>
              </a:defRPr>
            </a:lvl6pPr>
            <a:lvl7pPr algn="ctr">
              <a:defRPr sz="1800" b="1">
                <a:solidFill>
                  <a:srgbClr val="FFFFFF"/>
                </a:solidFill>
                <a:latin typeface="Times New Roman"/>
                <a:ea typeface="Times New Roman"/>
                <a:cs typeface="Times New Roman"/>
              </a:defRPr>
            </a:lvl7pPr>
            <a:lvl8pPr algn="ctr">
              <a:defRPr sz="1800" b="1">
                <a:solidFill>
                  <a:srgbClr val="FFFFFF"/>
                </a:solidFill>
                <a:latin typeface="Times New Roman"/>
                <a:ea typeface="Times New Roman"/>
                <a:cs typeface="Times New Roman"/>
              </a:defRPr>
            </a:lvl8pPr>
            <a:lvl9pPr algn="ctr">
              <a:defRPr sz="1800" b="1">
                <a:solidFill>
                  <a:srgbClr val="FFFFFF"/>
                </a:solidFill>
                <a:latin typeface="Times New Roman"/>
                <a:ea typeface="Times New Roman"/>
                <a:cs typeface="Times New Roman"/>
              </a:defRPr>
            </a:lvl9pPr>
          </a:lstStyle>
          <a:p xmlns:a="http://schemas.openxmlformats.org/drawingml/2006/main">
            <a:pPr algn="ctr">
              <a:defRPr sz="1800" b="1">
                <a:solidFill>
                  <a:srgbClr val="FFFFFF"/>
                </a:solidFill>
                <a:latin typeface="Times New Roman"/>
                <a:ea typeface="Times New Roman"/>
                <a:cs typeface="Times New Roman"/>
              </a:defRPr>
            </a:pPr>
            <a:r>
              <a:rPr sz="1800" b="1">
                <a:solidFill>
                  <a:srgbClr val="FFFFFF"/>
                </a:solidFill>
                <a:latin typeface="Times New Roman"/>
                <a:ea typeface="Times New Roman"/>
                <a:cs typeface="Times New Roman"/>
              </a:rPr>
              <a:t>CDS</a:t>
            </a:r>
          </a:p>
        </p:txBody>
      </p:sp>
      <p:sp>
        <p:nvSpPr>
          <p:cNvPr id="8" name="">
            <a:extLst xmlns:a="http://schemas.openxmlformats.org/drawingml/2006/main">
              <a:ext uri="{FF2B5EF4-FFF2-40B4-BE49-F238E27FC236}">
                <a16:creationId xmlns:a16="http://schemas.microsoft.com/office/drawing/2014/main" id="{44734956-B9AF-4D44-9C61-E45164926A34}"/>
              </a:ext>
            </a:extLst>
          </p:cNvPr>
          <p:cNvSpPr>
            <a:spLocks xmlns:a="http://schemas.openxmlformats.org/drawingml/2006/main" noGrp="1"/>
          </p:cNvSpPr>
          <p:nvPr/>
        </p:nvSpPr>
        <p:spPr>
          <a:xfrm xmlns:a="http://schemas.openxmlformats.org/drawingml/2006/main">
            <a:off x="3741420" y="2857500"/>
            <a:ext cx="1163955" cy="457200"/>
          </a:xfrm>
          <a:prstGeom xmlns:a="http://schemas.openxmlformats.org/drawingml/2006/main" prst="rect">
            <a:avLst/>
          </a:prstGeom>
          <a:solidFill xmlns:a="http://schemas.openxmlformats.org/drawingml/2006/main">
            <a:srgbClr val="F0F4F6"/>
          </a:solidFill>
          <a:ln xmlns:a="http://schemas.openxmlformats.org/drawingml/2006/main" w="14288">
            <a:solidFill>
              <a:srgbClr val="7D878C"/>
            </a:solidFill>
          </a:ln>
        </p:spPr>
        <p:txBody>
          <a:bodyPr xmlns:a="http://schemas.openxmlformats.org/drawingml/2006/main" wrap="square" lIns="85725" tIns="85725" rIns="85725" bIns="85725" anchor="ctr">
            <a:noAutofit/>
          </a:bodyPr>
          <a:lstStyle xmlns:a="http://schemas.openxmlformats.org/drawingml/2006/main">
            <a:defPPr algn="ctr">
              <a:defRPr sz="1800" b="1">
                <a:solidFill>
                  <a:srgbClr val="7D878C"/>
                </a:solidFill>
                <a:latin typeface="Times New Roman"/>
                <a:ea typeface="Times New Roman"/>
                <a:cs typeface="Times New Roman"/>
              </a:defRPr>
            </a:defPPr>
            <a:lvl1pPr algn="ctr">
              <a:defRPr sz="1800" b="1">
                <a:solidFill>
                  <a:srgbClr val="7D878C"/>
                </a:solidFill>
                <a:latin typeface="Times New Roman"/>
                <a:ea typeface="Times New Roman"/>
                <a:cs typeface="Times New Roman"/>
              </a:defRPr>
            </a:lvl1pPr>
            <a:lvl2pPr algn="ctr">
              <a:defRPr sz="1800" b="1">
                <a:solidFill>
                  <a:srgbClr val="7D878C"/>
                </a:solidFill>
                <a:latin typeface="Times New Roman"/>
                <a:ea typeface="Times New Roman"/>
                <a:cs typeface="Times New Roman"/>
              </a:defRPr>
            </a:lvl2pPr>
            <a:lvl3pPr algn="ctr">
              <a:defRPr sz="1800" b="1">
                <a:solidFill>
                  <a:srgbClr val="7D878C"/>
                </a:solidFill>
                <a:latin typeface="Times New Roman"/>
                <a:ea typeface="Times New Roman"/>
                <a:cs typeface="Times New Roman"/>
              </a:defRPr>
            </a:lvl3pPr>
            <a:lvl4pPr algn="ctr">
              <a:defRPr sz="1800" b="1">
                <a:solidFill>
                  <a:srgbClr val="7D878C"/>
                </a:solidFill>
                <a:latin typeface="Times New Roman"/>
                <a:ea typeface="Times New Roman"/>
                <a:cs typeface="Times New Roman"/>
              </a:defRPr>
            </a:lvl4pPr>
            <a:lvl5pPr algn="ctr">
              <a:defRPr sz="1800" b="1">
                <a:solidFill>
                  <a:srgbClr val="7D878C"/>
                </a:solidFill>
                <a:latin typeface="Times New Roman"/>
                <a:ea typeface="Times New Roman"/>
                <a:cs typeface="Times New Roman"/>
              </a:defRPr>
            </a:lvl5pPr>
            <a:lvl6pPr algn="ctr">
              <a:defRPr sz="1800" b="1">
                <a:solidFill>
                  <a:srgbClr val="7D878C"/>
                </a:solidFill>
                <a:latin typeface="Times New Roman"/>
                <a:ea typeface="Times New Roman"/>
                <a:cs typeface="Times New Roman"/>
              </a:defRPr>
            </a:lvl6pPr>
            <a:lvl7pPr algn="ctr">
              <a:defRPr sz="1800" b="1">
                <a:solidFill>
                  <a:srgbClr val="7D878C"/>
                </a:solidFill>
                <a:latin typeface="Times New Roman"/>
                <a:ea typeface="Times New Roman"/>
                <a:cs typeface="Times New Roman"/>
              </a:defRPr>
            </a:lvl7pPr>
            <a:lvl8pPr algn="ctr">
              <a:defRPr sz="1800" b="1">
                <a:solidFill>
                  <a:srgbClr val="7D878C"/>
                </a:solidFill>
                <a:latin typeface="Times New Roman"/>
                <a:ea typeface="Times New Roman"/>
                <a:cs typeface="Times New Roman"/>
              </a:defRPr>
            </a:lvl8pPr>
            <a:lvl9pPr algn="ctr">
              <a:defRPr sz="1800" b="1">
                <a:solidFill>
                  <a:srgbClr val="7D878C"/>
                </a:solidFill>
                <a:latin typeface="Times New Roman"/>
                <a:ea typeface="Times New Roman"/>
                <a:cs typeface="Times New Roman"/>
              </a:defRPr>
            </a:lvl9pPr>
          </a:lstStyle>
          <a:p xmlns:a="http://schemas.openxmlformats.org/drawingml/2006/main">
            <a:pPr algn="ctr">
              <a:defRPr sz="1800" b="1">
                <a:solidFill>
                  <a:srgbClr val="7D878C"/>
                </a:solidFill>
                <a:latin typeface="Times New Roman"/>
                <a:ea typeface="Times New Roman"/>
                <a:cs typeface="Times New Roman"/>
              </a:defRPr>
            </a:pPr>
            <a:r>
              <a:rPr sz="1800" b="1">
                <a:solidFill>
                  <a:srgbClr val="7D878C"/>
                </a:solidFill>
                <a:latin typeface="Times New Roman"/>
                <a:ea typeface="Times New Roman"/>
                <a:cs typeface="Times New Roman"/>
              </a:rPr>
              <a:t>3′ UTR</a:t>
            </a:r>
          </a:p>
        </p:txBody>
      </p:sp>
      <p:sp>
        <p:nvSpPr>
          <p:cNvPr id="9" name="">
            <a:extLst xmlns:a="http://schemas.openxmlformats.org/drawingml/2006/main">
              <a:ext uri="{FF2B5EF4-FFF2-40B4-BE49-F238E27FC236}">
                <a16:creationId xmlns:a16="http://schemas.microsoft.com/office/drawing/2014/main" id="{B7A74B1A-069A-4418-B2D5-DEF36C649B51}"/>
              </a:ext>
            </a:extLst>
          </p:cNvPr>
          <p:cNvSpPr>
            <a:spLocks xmlns:a="http://schemas.openxmlformats.org/drawingml/2006/main" noGrp="1"/>
          </p:cNvSpPr>
          <p:nvPr/>
        </p:nvSpPr>
        <p:spPr>
          <a:xfrm xmlns:a="http://schemas.openxmlformats.org/drawingml/2006/main">
            <a:off x="428625" y="3905250"/>
            <a:ext cx="1074420" cy="457200"/>
          </a:xfrm>
          <a:prstGeom xmlns:a="http://schemas.openxmlformats.org/drawingml/2006/main" prst="rect">
            <a:avLst/>
          </a:prstGeom>
          <a:solidFill xmlns:a="http://schemas.openxmlformats.org/drawingml/2006/main">
            <a:srgbClr val="F0F4F6"/>
          </a:solidFill>
          <a:ln xmlns:a="http://schemas.openxmlformats.org/drawingml/2006/main" w="14288">
            <a:solidFill>
              <a:srgbClr val="7D878C"/>
            </a:solidFill>
          </a:ln>
        </p:spPr>
        <p:txBody>
          <a:bodyPr xmlns:a="http://schemas.openxmlformats.org/drawingml/2006/main" wrap="square" lIns="85725" tIns="85725" rIns="85725" bIns="85725" anchor="ctr">
            <a:noAutofit/>
          </a:bodyPr>
          <a:lstStyle xmlns:a="http://schemas.openxmlformats.org/drawingml/2006/main">
            <a:defPPr algn="ctr">
              <a:defRPr sz="1800" b="1">
                <a:solidFill>
                  <a:srgbClr val="7D878C"/>
                </a:solidFill>
                <a:latin typeface="Times New Roman"/>
                <a:ea typeface="Times New Roman"/>
                <a:cs typeface="Times New Roman"/>
              </a:defRPr>
            </a:defPPr>
            <a:lvl1pPr algn="ctr">
              <a:defRPr sz="1800" b="1">
                <a:solidFill>
                  <a:srgbClr val="7D878C"/>
                </a:solidFill>
                <a:latin typeface="Times New Roman"/>
                <a:ea typeface="Times New Roman"/>
                <a:cs typeface="Times New Roman"/>
              </a:defRPr>
            </a:lvl1pPr>
            <a:lvl2pPr algn="ctr">
              <a:defRPr sz="1800" b="1">
                <a:solidFill>
                  <a:srgbClr val="7D878C"/>
                </a:solidFill>
                <a:latin typeface="Times New Roman"/>
                <a:ea typeface="Times New Roman"/>
                <a:cs typeface="Times New Roman"/>
              </a:defRPr>
            </a:lvl2pPr>
            <a:lvl3pPr algn="ctr">
              <a:defRPr sz="1800" b="1">
                <a:solidFill>
                  <a:srgbClr val="7D878C"/>
                </a:solidFill>
                <a:latin typeface="Times New Roman"/>
                <a:ea typeface="Times New Roman"/>
                <a:cs typeface="Times New Roman"/>
              </a:defRPr>
            </a:lvl3pPr>
            <a:lvl4pPr algn="ctr">
              <a:defRPr sz="1800" b="1">
                <a:solidFill>
                  <a:srgbClr val="7D878C"/>
                </a:solidFill>
                <a:latin typeface="Times New Roman"/>
                <a:ea typeface="Times New Roman"/>
                <a:cs typeface="Times New Roman"/>
              </a:defRPr>
            </a:lvl4pPr>
            <a:lvl5pPr algn="ctr">
              <a:defRPr sz="1800" b="1">
                <a:solidFill>
                  <a:srgbClr val="7D878C"/>
                </a:solidFill>
                <a:latin typeface="Times New Roman"/>
                <a:ea typeface="Times New Roman"/>
                <a:cs typeface="Times New Roman"/>
              </a:defRPr>
            </a:lvl5pPr>
            <a:lvl6pPr algn="ctr">
              <a:defRPr sz="1800" b="1">
                <a:solidFill>
                  <a:srgbClr val="7D878C"/>
                </a:solidFill>
                <a:latin typeface="Times New Roman"/>
                <a:ea typeface="Times New Roman"/>
                <a:cs typeface="Times New Roman"/>
              </a:defRPr>
            </a:lvl6pPr>
            <a:lvl7pPr algn="ctr">
              <a:defRPr sz="1800" b="1">
                <a:solidFill>
                  <a:srgbClr val="7D878C"/>
                </a:solidFill>
                <a:latin typeface="Times New Roman"/>
                <a:ea typeface="Times New Roman"/>
                <a:cs typeface="Times New Roman"/>
              </a:defRPr>
            </a:lvl7pPr>
            <a:lvl8pPr algn="ctr">
              <a:defRPr sz="1800" b="1">
                <a:solidFill>
                  <a:srgbClr val="7D878C"/>
                </a:solidFill>
                <a:latin typeface="Times New Roman"/>
                <a:ea typeface="Times New Roman"/>
                <a:cs typeface="Times New Roman"/>
              </a:defRPr>
            </a:lvl8pPr>
            <a:lvl9pPr algn="ctr">
              <a:defRPr sz="1800" b="1">
                <a:solidFill>
                  <a:srgbClr val="7D878C"/>
                </a:solidFill>
                <a:latin typeface="Times New Roman"/>
                <a:ea typeface="Times New Roman"/>
                <a:cs typeface="Times New Roman"/>
              </a:defRPr>
            </a:lvl9pPr>
          </a:lstStyle>
          <a:p xmlns:a="http://schemas.openxmlformats.org/drawingml/2006/main">
            <a:pPr algn="ctr">
              <a:defRPr sz="1800" b="1">
                <a:solidFill>
                  <a:srgbClr val="7D878C"/>
                </a:solidFill>
                <a:latin typeface="Times New Roman"/>
                <a:ea typeface="Times New Roman"/>
                <a:cs typeface="Times New Roman"/>
              </a:defRPr>
            </a:pPr>
            <a:r>
              <a:rPr sz="1800" b="1">
                <a:solidFill>
                  <a:srgbClr val="7D878C"/>
                </a:solidFill>
                <a:latin typeface="Times New Roman"/>
                <a:ea typeface="Times New Roman"/>
                <a:cs typeface="Times New Roman"/>
              </a:rPr>
              <a:t>5′ UTR</a:t>
            </a:r>
          </a:p>
        </p:txBody>
      </p:sp>
      <p:sp>
        <p:nvSpPr>
          <p:cNvPr id="10" name="">
            <a:extLst xmlns:a="http://schemas.openxmlformats.org/drawingml/2006/main">
              <a:ext uri="{FF2B5EF4-FFF2-40B4-BE49-F238E27FC236}">
                <a16:creationId xmlns:a16="http://schemas.microsoft.com/office/drawing/2014/main" id="{EC0C53A6-6691-4D3C-9592-2B22F6695D98}"/>
              </a:ext>
            </a:extLst>
          </p:cNvPr>
          <p:cNvSpPr>
            <a:spLocks xmlns:a="http://schemas.openxmlformats.org/drawingml/2006/main" noGrp="1"/>
          </p:cNvSpPr>
          <p:nvPr/>
        </p:nvSpPr>
        <p:spPr>
          <a:xfrm xmlns:a="http://schemas.openxmlformats.org/drawingml/2006/main">
            <a:off x="1503045" y="3905250"/>
            <a:ext cx="2238375" cy="457200"/>
          </a:xfrm>
          <a:prstGeom xmlns:a="http://schemas.openxmlformats.org/drawingml/2006/main" prst="rect">
            <a:avLst/>
          </a:prstGeom>
          <a:solidFill xmlns:a="http://schemas.openxmlformats.org/drawingml/2006/main">
            <a:srgbClr val="167D77"/>
          </a:solidFill>
          <a:ln xmlns:a="http://schemas.openxmlformats.org/drawingml/2006/main" w="14288">
            <a:solidFill>
              <a:srgbClr val="FFFFFF"/>
            </a:solidFill>
          </a:ln>
        </p:spPr>
        <p:txBody>
          <a:bodyPr xmlns:a="http://schemas.openxmlformats.org/drawingml/2006/main" wrap="square" lIns="85725" tIns="85725" rIns="85725" bIns="85725" anchor="ctr">
            <a:noAutofit/>
          </a:bodyPr>
          <a:lstStyle xmlns:a="http://schemas.openxmlformats.org/drawingml/2006/main">
            <a:defPPr algn="ctr">
              <a:defRPr sz="1800" b="1">
                <a:solidFill>
                  <a:srgbClr val="FFFFFF"/>
                </a:solidFill>
                <a:latin typeface="Times New Roman"/>
                <a:ea typeface="Times New Roman"/>
                <a:cs typeface="Times New Roman"/>
              </a:defRPr>
            </a:defPPr>
            <a:lvl1pPr algn="ctr">
              <a:defRPr sz="1800" b="1">
                <a:solidFill>
                  <a:srgbClr val="FFFFFF"/>
                </a:solidFill>
                <a:latin typeface="Times New Roman"/>
                <a:ea typeface="Times New Roman"/>
                <a:cs typeface="Times New Roman"/>
              </a:defRPr>
            </a:lvl1pPr>
            <a:lvl2pPr algn="ctr">
              <a:defRPr sz="1800" b="1">
                <a:solidFill>
                  <a:srgbClr val="FFFFFF"/>
                </a:solidFill>
                <a:latin typeface="Times New Roman"/>
                <a:ea typeface="Times New Roman"/>
                <a:cs typeface="Times New Roman"/>
              </a:defRPr>
            </a:lvl2pPr>
            <a:lvl3pPr algn="ctr">
              <a:defRPr sz="1800" b="1">
                <a:solidFill>
                  <a:srgbClr val="FFFFFF"/>
                </a:solidFill>
                <a:latin typeface="Times New Roman"/>
                <a:ea typeface="Times New Roman"/>
                <a:cs typeface="Times New Roman"/>
              </a:defRPr>
            </a:lvl3pPr>
            <a:lvl4pPr algn="ctr">
              <a:defRPr sz="1800" b="1">
                <a:solidFill>
                  <a:srgbClr val="FFFFFF"/>
                </a:solidFill>
                <a:latin typeface="Times New Roman"/>
                <a:ea typeface="Times New Roman"/>
                <a:cs typeface="Times New Roman"/>
              </a:defRPr>
            </a:lvl4pPr>
            <a:lvl5pPr algn="ctr">
              <a:defRPr sz="1800" b="1">
                <a:solidFill>
                  <a:srgbClr val="FFFFFF"/>
                </a:solidFill>
                <a:latin typeface="Times New Roman"/>
                <a:ea typeface="Times New Roman"/>
                <a:cs typeface="Times New Roman"/>
              </a:defRPr>
            </a:lvl5pPr>
            <a:lvl6pPr algn="ctr">
              <a:defRPr sz="1800" b="1">
                <a:solidFill>
                  <a:srgbClr val="FFFFFF"/>
                </a:solidFill>
                <a:latin typeface="Times New Roman"/>
                <a:ea typeface="Times New Roman"/>
                <a:cs typeface="Times New Roman"/>
              </a:defRPr>
            </a:lvl6pPr>
            <a:lvl7pPr algn="ctr">
              <a:defRPr sz="1800" b="1">
                <a:solidFill>
                  <a:srgbClr val="FFFFFF"/>
                </a:solidFill>
                <a:latin typeface="Times New Roman"/>
                <a:ea typeface="Times New Roman"/>
                <a:cs typeface="Times New Roman"/>
              </a:defRPr>
            </a:lvl7pPr>
            <a:lvl8pPr algn="ctr">
              <a:defRPr sz="1800" b="1">
                <a:solidFill>
                  <a:srgbClr val="FFFFFF"/>
                </a:solidFill>
                <a:latin typeface="Times New Roman"/>
                <a:ea typeface="Times New Roman"/>
                <a:cs typeface="Times New Roman"/>
              </a:defRPr>
            </a:lvl8pPr>
            <a:lvl9pPr algn="ctr">
              <a:defRPr sz="1800" b="1">
                <a:solidFill>
                  <a:srgbClr val="FFFFFF"/>
                </a:solidFill>
                <a:latin typeface="Times New Roman"/>
                <a:ea typeface="Times New Roman"/>
                <a:cs typeface="Times New Roman"/>
              </a:defRPr>
            </a:lvl9pPr>
          </a:lstStyle>
          <a:p xmlns:a="http://schemas.openxmlformats.org/drawingml/2006/main">
            <a:pPr algn="ctr">
              <a:defRPr sz="1800" b="1">
                <a:solidFill>
                  <a:srgbClr val="FFFFFF"/>
                </a:solidFill>
                <a:latin typeface="Times New Roman"/>
                <a:ea typeface="Times New Roman"/>
                <a:cs typeface="Times New Roman"/>
              </a:defRPr>
            </a:pPr>
            <a:r>
              <a:rPr sz="1800" b="1">
                <a:solidFill>
                  <a:srgbClr val="FFFFFF"/>
                </a:solidFill>
                <a:latin typeface="Times New Roman"/>
                <a:ea typeface="Times New Roman"/>
                <a:cs typeface="Times New Roman"/>
              </a:rPr>
              <a:t>CDS</a:t>
            </a:r>
          </a:p>
        </p:txBody>
      </p:sp>
      <p:sp>
        <p:nvSpPr>
          <p:cNvPr id="11" name="">
            <a:extLst xmlns:a="http://schemas.openxmlformats.org/drawingml/2006/main">
              <a:ext uri="{FF2B5EF4-FFF2-40B4-BE49-F238E27FC236}">
                <a16:creationId xmlns:a16="http://schemas.microsoft.com/office/drawing/2014/main" id="{412F1D9C-634D-427B-81CF-64742E09ACDB}"/>
              </a:ext>
            </a:extLst>
          </p:cNvPr>
          <p:cNvSpPr>
            <a:spLocks xmlns:a="http://schemas.openxmlformats.org/drawingml/2006/main" noGrp="1"/>
          </p:cNvSpPr>
          <p:nvPr/>
        </p:nvSpPr>
        <p:spPr>
          <a:xfrm xmlns:a="http://schemas.openxmlformats.org/drawingml/2006/main">
            <a:off x="3741420" y="3905250"/>
            <a:ext cx="1163955" cy="457200"/>
          </a:xfrm>
          <a:prstGeom xmlns:a="http://schemas.openxmlformats.org/drawingml/2006/main" prst="rect">
            <a:avLst/>
          </a:prstGeom>
          <a:solidFill xmlns:a="http://schemas.openxmlformats.org/drawingml/2006/main">
            <a:srgbClr val="326DA8"/>
          </a:solidFill>
          <a:ln xmlns:a="http://schemas.openxmlformats.org/drawingml/2006/main" w="14288">
            <a:solidFill>
              <a:srgbClr val="FFFFFF"/>
            </a:solidFill>
          </a:ln>
        </p:spPr>
        <p:txBody>
          <a:bodyPr xmlns:a="http://schemas.openxmlformats.org/drawingml/2006/main" wrap="square" lIns="85725" tIns="85725" rIns="85725" bIns="85725" anchor="ctr">
            <a:noAutofit/>
          </a:bodyPr>
          <a:lstStyle xmlns:a="http://schemas.openxmlformats.org/drawingml/2006/main">
            <a:defPPr algn="ctr">
              <a:defRPr sz="1800" b="1">
                <a:solidFill>
                  <a:srgbClr val="FFFFFF"/>
                </a:solidFill>
                <a:latin typeface="Times New Roman"/>
                <a:ea typeface="Times New Roman"/>
                <a:cs typeface="Times New Roman"/>
              </a:defRPr>
            </a:defPPr>
            <a:lvl1pPr algn="ctr">
              <a:defRPr sz="1800" b="1">
                <a:solidFill>
                  <a:srgbClr val="FFFFFF"/>
                </a:solidFill>
                <a:latin typeface="Times New Roman"/>
                <a:ea typeface="Times New Roman"/>
                <a:cs typeface="Times New Roman"/>
              </a:defRPr>
            </a:lvl1pPr>
            <a:lvl2pPr algn="ctr">
              <a:defRPr sz="1800" b="1">
                <a:solidFill>
                  <a:srgbClr val="FFFFFF"/>
                </a:solidFill>
                <a:latin typeface="Times New Roman"/>
                <a:ea typeface="Times New Roman"/>
                <a:cs typeface="Times New Roman"/>
              </a:defRPr>
            </a:lvl2pPr>
            <a:lvl3pPr algn="ctr">
              <a:defRPr sz="1800" b="1">
                <a:solidFill>
                  <a:srgbClr val="FFFFFF"/>
                </a:solidFill>
                <a:latin typeface="Times New Roman"/>
                <a:ea typeface="Times New Roman"/>
                <a:cs typeface="Times New Roman"/>
              </a:defRPr>
            </a:lvl3pPr>
            <a:lvl4pPr algn="ctr">
              <a:defRPr sz="1800" b="1">
                <a:solidFill>
                  <a:srgbClr val="FFFFFF"/>
                </a:solidFill>
                <a:latin typeface="Times New Roman"/>
                <a:ea typeface="Times New Roman"/>
                <a:cs typeface="Times New Roman"/>
              </a:defRPr>
            </a:lvl4pPr>
            <a:lvl5pPr algn="ctr">
              <a:defRPr sz="1800" b="1">
                <a:solidFill>
                  <a:srgbClr val="FFFFFF"/>
                </a:solidFill>
                <a:latin typeface="Times New Roman"/>
                <a:ea typeface="Times New Roman"/>
                <a:cs typeface="Times New Roman"/>
              </a:defRPr>
            </a:lvl5pPr>
            <a:lvl6pPr algn="ctr">
              <a:defRPr sz="1800" b="1">
                <a:solidFill>
                  <a:srgbClr val="FFFFFF"/>
                </a:solidFill>
                <a:latin typeface="Times New Roman"/>
                <a:ea typeface="Times New Roman"/>
                <a:cs typeface="Times New Roman"/>
              </a:defRPr>
            </a:lvl6pPr>
            <a:lvl7pPr algn="ctr">
              <a:defRPr sz="1800" b="1">
                <a:solidFill>
                  <a:srgbClr val="FFFFFF"/>
                </a:solidFill>
                <a:latin typeface="Times New Roman"/>
                <a:ea typeface="Times New Roman"/>
                <a:cs typeface="Times New Roman"/>
              </a:defRPr>
            </a:lvl7pPr>
            <a:lvl8pPr algn="ctr">
              <a:defRPr sz="1800" b="1">
                <a:solidFill>
                  <a:srgbClr val="FFFFFF"/>
                </a:solidFill>
                <a:latin typeface="Times New Roman"/>
                <a:ea typeface="Times New Roman"/>
                <a:cs typeface="Times New Roman"/>
              </a:defRPr>
            </a:lvl8pPr>
            <a:lvl9pPr algn="ctr">
              <a:defRPr sz="1800" b="1">
                <a:solidFill>
                  <a:srgbClr val="FFFFFF"/>
                </a:solidFill>
                <a:latin typeface="Times New Roman"/>
                <a:ea typeface="Times New Roman"/>
                <a:cs typeface="Times New Roman"/>
              </a:defRPr>
            </a:lvl9pPr>
          </a:lstStyle>
          <a:p xmlns:a="http://schemas.openxmlformats.org/drawingml/2006/main">
            <a:pPr algn="ctr">
              <a:defRPr sz="1800" b="1">
                <a:solidFill>
                  <a:srgbClr val="FFFFFF"/>
                </a:solidFill>
                <a:latin typeface="Times New Roman"/>
                <a:ea typeface="Times New Roman"/>
                <a:cs typeface="Times New Roman"/>
              </a:defRPr>
            </a:pPr>
            <a:r>
              <a:rPr sz="1800" b="1">
                <a:solidFill>
                  <a:srgbClr val="FFFFFF"/>
                </a:solidFill>
                <a:latin typeface="Times New Roman"/>
                <a:ea typeface="Times New Roman"/>
                <a:cs typeface="Times New Roman"/>
              </a:rPr>
              <a:t>3′ UTR</a:t>
            </a:r>
          </a:p>
        </p:txBody>
      </p:sp>
      <p:sp>
        <p:nvSpPr>
          <p:cNvPr id="12" name="">
            <a:extLst xmlns:a="http://schemas.openxmlformats.org/drawingml/2006/main">
              <a:ext uri="{FF2B5EF4-FFF2-40B4-BE49-F238E27FC236}">
                <a16:creationId xmlns:a16="http://schemas.microsoft.com/office/drawing/2014/main" id="{72B7A721-EE26-4C66-84CA-D0BBC60D9AC3}"/>
              </a:ext>
            </a:extLst>
          </p:cNvPr>
          <p:cNvSpPr>
            <a:spLocks xmlns:a="http://schemas.openxmlformats.org/drawingml/2006/main" noGrp="1"/>
          </p:cNvSpPr>
          <p:nvPr/>
        </p:nvSpPr>
        <p:spPr>
          <a:xfrm xmlns:a="http://schemas.openxmlformats.org/drawingml/2006/main">
            <a:off x="428625" y="4953000"/>
            <a:ext cx="1074420" cy="457200"/>
          </a:xfrm>
          <a:prstGeom xmlns:a="http://schemas.openxmlformats.org/drawingml/2006/main" prst="rect">
            <a:avLst/>
          </a:prstGeom>
          <a:solidFill xmlns:a="http://schemas.openxmlformats.org/drawingml/2006/main">
            <a:srgbClr val="326DA8"/>
          </a:solidFill>
          <a:ln xmlns:a="http://schemas.openxmlformats.org/drawingml/2006/main" w="14288">
            <a:solidFill>
              <a:srgbClr val="FFFFFF"/>
            </a:solidFill>
          </a:ln>
        </p:spPr>
        <p:txBody>
          <a:bodyPr xmlns:a="http://schemas.openxmlformats.org/drawingml/2006/main" wrap="square" lIns="85725" tIns="85725" rIns="85725" bIns="85725" anchor="ctr">
            <a:noAutofit/>
          </a:bodyPr>
          <a:lstStyle xmlns:a="http://schemas.openxmlformats.org/drawingml/2006/main">
            <a:defPPr algn="ctr">
              <a:defRPr sz="1800" b="1">
                <a:solidFill>
                  <a:srgbClr val="FFFFFF"/>
                </a:solidFill>
                <a:latin typeface="Times New Roman"/>
                <a:ea typeface="Times New Roman"/>
                <a:cs typeface="Times New Roman"/>
              </a:defRPr>
            </a:defPPr>
            <a:lvl1pPr algn="ctr">
              <a:defRPr sz="1800" b="1">
                <a:solidFill>
                  <a:srgbClr val="FFFFFF"/>
                </a:solidFill>
                <a:latin typeface="Times New Roman"/>
                <a:ea typeface="Times New Roman"/>
                <a:cs typeface="Times New Roman"/>
              </a:defRPr>
            </a:lvl1pPr>
            <a:lvl2pPr algn="ctr">
              <a:defRPr sz="1800" b="1">
                <a:solidFill>
                  <a:srgbClr val="FFFFFF"/>
                </a:solidFill>
                <a:latin typeface="Times New Roman"/>
                <a:ea typeface="Times New Roman"/>
                <a:cs typeface="Times New Roman"/>
              </a:defRPr>
            </a:lvl2pPr>
            <a:lvl3pPr algn="ctr">
              <a:defRPr sz="1800" b="1">
                <a:solidFill>
                  <a:srgbClr val="FFFFFF"/>
                </a:solidFill>
                <a:latin typeface="Times New Roman"/>
                <a:ea typeface="Times New Roman"/>
                <a:cs typeface="Times New Roman"/>
              </a:defRPr>
            </a:lvl3pPr>
            <a:lvl4pPr algn="ctr">
              <a:defRPr sz="1800" b="1">
                <a:solidFill>
                  <a:srgbClr val="FFFFFF"/>
                </a:solidFill>
                <a:latin typeface="Times New Roman"/>
                <a:ea typeface="Times New Roman"/>
                <a:cs typeface="Times New Roman"/>
              </a:defRPr>
            </a:lvl4pPr>
            <a:lvl5pPr algn="ctr">
              <a:defRPr sz="1800" b="1">
                <a:solidFill>
                  <a:srgbClr val="FFFFFF"/>
                </a:solidFill>
                <a:latin typeface="Times New Roman"/>
                <a:ea typeface="Times New Roman"/>
                <a:cs typeface="Times New Roman"/>
              </a:defRPr>
            </a:lvl5pPr>
            <a:lvl6pPr algn="ctr">
              <a:defRPr sz="1800" b="1">
                <a:solidFill>
                  <a:srgbClr val="FFFFFF"/>
                </a:solidFill>
                <a:latin typeface="Times New Roman"/>
                <a:ea typeface="Times New Roman"/>
                <a:cs typeface="Times New Roman"/>
              </a:defRPr>
            </a:lvl6pPr>
            <a:lvl7pPr algn="ctr">
              <a:defRPr sz="1800" b="1">
                <a:solidFill>
                  <a:srgbClr val="FFFFFF"/>
                </a:solidFill>
                <a:latin typeface="Times New Roman"/>
                <a:ea typeface="Times New Roman"/>
                <a:cs typeface="Times New Roman"/>
              </a:defRPr>
            </a:lvl7pPr>
            <a:lvl8pPr algn="ctr">
              <a:defRPr sz="1800" b="1">
                <a:solidFill>
                  <a:srgbClr val="FFFFFF"/>
                </a:solidFill>
                <a:latin typeface="Times New Roman"/>
                <a:ea typeface="Times New Roman"/>
                <a:cs typeface="Times New Roman"/>
              </a:defRPr>
            </a:lvl8pPr>
            <a:lvl9pPr algn="ctr">
              <a:defRPr sz="1800" b="1">
                <a:solidFill>
                  <a:srgbClr val="FFFFFF"/>
                </a:solidFill>
                <a:latin typeface="Times New Roman"/>
                <a:ea typeface="Times New Roman"/>
                <a:cs typeface="Times New Roman"/>
              </a:defRPr>
            </a:lvl9pPr>
          </a:lstStyle>
          <a:p xmlns:a="http://schemas.openxmlformats.org/drawingml/2006/main">
            <a:pPr algn="ctr">
              <a:defRPr sz="1800" b="1">
                <a:solidFill>
                  <a:srgbClr val="FFFFFF"/>
                </a:solidFill>
                <a:latin typeface="Times New Roman"/>
                <a:ea typeface="Times New Roman"/>
                <a:cs typeface="Times New Roman"/>
              </a:defRPr>
            </a:pPr>
            <a:r>
              <a:rPr sz="1800" b="1">
                <a:solidFill>
                  <a:srgbClr val="FFFFFF"/>
                </a:solidFill>
                <a:latin typeface="Times New Roman"/>
                <a:ea typeface="Times New Roman"/>
                <a:cs typeface="Times New Roman"/>
              </a:rPr>
              <a:t>5′ UTR</a:t>
            </a:r>
          </a:p>
        </p:txBody>
      </p:sp>
      <p:sp>
        <p:nvSpPr>
          <p:cNvPr id="13" name="">
            <a:extLst xmlns:a="http://schemas.openxmlformats.org/drawingml/2006/main">
              <a:ext uri="{FF2B5EF4-FFF2-40B4-BE49-F238E27FC236}">
                <a16:creationId xmlns:a16="http://schemas.microsoft.com/office/drawing/2014/main" id="{BA5A01FA-82CE-43DC-878E-DCC6E6D29EA4}"/>
              </a:ext>
            </a:extLst>
          </p:cNvPr>
          <p:cNvSpPr>
            <a:spLocks xmlns:a="http://schemas.openxmlformats.org/drawingml/2006/main" noGrp="1"/>
          </p:cNvSpPr>
          <p:nvPr/>
        </p:nvSpPr>
        <p:spPr>
          <a:xfrm xmlns:a="http://schemas.openxmlformats.org/drawingml/2006/main">
            <a:off x="1503045" y="4953000"/>
            <a:ext cx="2238375" cy="457200"/>
          </a:xfrm>
          <a:prstGeom xmlns:a="http://schemas.openxmlformats.org/drawingml/2006/main" prst="rect">
            <a:avLst/>
          </a:prstGeom>
          <a:solidFill xmlns:a="http://schemas.openxmlformats.org/drawingml/2006/main">
            <a:srgbClr val="167D77"/>
          </a:solidFill>
          <a:ln xmlns:a="http://schemas.openxmlformats.org/drawingml/2006/main" w="14288">
            <a:solidFill>
              <a:srgbClr val="FFFFFF"/>
            </a:solidFill>
          </a:ln>
        </p:spPr>
        <p:txBody>
          <a:bodyPr xmlns:a="http://schemas.openxmlformats.org/drawingml/2006/main" wrap="square" lIns="85725" tIns="85725" rIns="85725" bIns="85725" anchor="ctr">
            <a:noAutofit/>
          </a:bodyPr>
          <a:lstStyle xmlns:a="http://schemas.openxmlformats.org/drawingml/2006/main">
            <a:defPPr algn="ctr">
              <a:defRPr sz="1800" b="1">
                <a:solidFill>
                  <a:srgbClr val="FFFFFF"/>
                </a:solidFill>
                <a:latin typeface="Times New Roman"/>
                <a:ea typeface="Times New Roman"/>
                <a:cs typeface="Times New Roman"/>
              </a:defRPr>
            </a:defPPr>
            <a:lvl1pPr algn="ctr">
              <a:defRPr sz="1800" b="1">
                <a:solidFill>
                  <a:srgbClr val="FFFFFF"/>
                </a:solidFill>
                <a:latin typeface="Times New Roman"/>
                <a:ea typeface="Times New Roman"/>
                <a:cs typeface="Times New Roman"/>
              </a:defRPr>
            </a:lvl1pPr>
            <a:lvl2pPr algn="ctr">
              <a:defRPr sz="1800" b="1">
                <a:solidFill>
                  <a:srgbClr val="FFFFFF"/>
                </a:solidFill>
                <a:latin typeface="Times New Roman"/>
                <a:ea typeface="Times New Roman"/>
                <a:cs typeface="Times New Roman"/>
              </a:defRPr>
            </a:lvl2pPr>
            <a:lvl3pPr algn="ctr">
              <a:defRPr sz="1800" b="1">
                <a:solidFill>
                  <a:srgbClr val="FFFFFF"/>
                </a:solidFill>
                <a:latin typeface="Times New Roman"/>
                <a:ea typeface="Times New Roman"/>
                <a:cs typeface="Times New Roman"/>
              </a:defRPr>
            </a:lvl3pPr>
            <a:lvl4pPr algn="ctr">
              <a:defRPr sz="1800" b="1">
                <a:solidFill>
                  <a:srgbClr val="FFFFFF"/>
                </a:solidFill>
                <a:latin typeface="Times New Roman"/>
                <a:ea typeface="Times New Roman"/>
                <a:cs typeface="Times New Roman"/>
              </a:defRPr>
            </a:lvl4pPr>
            <a:lvl5pPr algn="ctr">
              <a:defRPr sz="1800" b="1">
                <a:solidFill>
                  <a:srgbClr val="FFFFFF"/>
                </a:solidFill>
                <a:latin typeface="Times New Roman"/>
                <a:ea typeface="Times New Roman"/>
                <a:cs typeface="Times New Roman"/>
              </a:defRPr>
            </a:lvl5pPr>
            <a:lvl6pPr algn="ctr">
              <a:defRPr sz="1800" b="1">
                <a:solidFill>
                  <a:srgbClr val="FFFFFF"/>
                </a:solidFill>
                <a:latin typeface="Times New Roman"/>
                <a:ea typeface="Times New Roman"/>
                <a:cs typeface="Times New Roman"/>
              </a:defRPr>
            </a:lvl6pPr>
            <a:lvl7pPr algn="ctr">
              <a:defRPr sz="1800" b="1">
                <a:solidFill>
                  <a:srgbClr val="FFFFFF"/>
                </a:solidFill>
                <a:latin typeface="Times New Roman"/>
                <a:ea typeface="Times New Roman"/>
                <a:cs typeface="Times New Roman"/>
              </a:defRPr>
            </a:lvl7pPr>
            <a:lvl8pPr algn="ctr">
              <a:defRPr sz="1800" b="1">
                <a:solidFill>
                  <a:srgbClr val="FFFFFF"/>
                </a:solidFill>
                <a:latin typeface="Times New Roman"/>
                <a:ea typeface="Times New Roman"/>
                <a:cs typeface="Times New Roman"/>
              </a:defRPr>
            </a:lvl8pPr>
            <a:lvl9pPr algn="ctr">
              <a:defRPr sz="1800" b="1">
                <a:solidFill>
                  <a:srgbClr val="FFFFFF"/>
                </a:solidFill>
                <a:latin typeface="Times New Roman"/>
                <a:ea typeface="Times New Roman"/>
                <a:cs typeface="Times New Roman"/>
              </a:defRPr>
            </a:lvl9pPr>
          </a:lstStyle>
          <a:p xmlns:a="http://schemas.openxmlformats.org/drawingml/2006/main">
            <a:pPr algn="ctr">
              <a:defRPr sz="1800" b="1">
                <a:solidFill>
                  <a:srgbClr val="FFFFFF"/>
                </a:solidFill>
                <a:latin typeface="Times New Roman"/>
                <a:ea typeface="Times New Roman"/>
                <a:cs typeface="Times New Roman"/>
              </a:defRPr>
            </a:pPr>
            <a:r>
              <a:rPr sz="1800" b="1">
                <a:solidFill>
                  <a:srgbClr val="FFFFFF"/>
                </a:solidFill>
                <a:latin typeface="Times New Roman"/>
                <a:ea typeface="Times New Roman"/>
                <a:cs typeface="Times New Roman"/>
              </a:rPr>
              <a:t>CDS</a:t>
            </a:r>
          </a:p>
        </p:txBody>
      </p:sp>
      <p:sp>
        <p:nvSpPr>
          <p:cNvPr id="14" name="">
            <a:extLst xmlns:a="http://schemas.openxmlformats.org/drawingml/2006/main">
              <a:ext uri="{FF2B5EF4-FFF2-40B4-BE49-F238E27FC236}">
                <a16:creationId xmlns:a16="http://schemas.microsoft.com/office/drawing/2014/main" id="{24C2C670-B1AB-4856-827E-A7B37CC187B7}"/>
              </a:ext>
            </a:extLst>
          </p:cNvPr>
          <p:cNvSpPr>
            <a:spLocks xmlns:a="http://schemas.openxmlformats.org/drawingml/2006/main" noGrp="1"/>
          </p:cNvSpPr>
          <p:nvPr/>
        </p:nvSpPr>
        <p:spPr>
          <a:xfrm xmlns:a="http://schemas.openxmlformats.org/drawingml/2006/main">
            <a:off x="3741420" y="4953000"/>
            <a:ext cx="1163955" cy="457200"/>
          </a:xfrm>
          <a:prstGeom xmlns:a="http://schemas.openxmlformats.org/drawingml/2006/main" prst="rect">
            <a:avLst/>
          </a:prstGeom>
          <a:solidFill xmlns:a="http://schemas.openxmlformats.org/drawingml/2006/main">
            <a:srgbClr val="326DA8"/>
          </a:solidFill>
          <a:ln xmlns:a="http://schemas.openxmlformats.org/drawingml/2006/main" w="14288">
            <a:solidFill>
              <a:srgbClr val="FFFFFF"/>
            </a:solidFill>
          </a:ln>
        </p:spPr>
        <p:txBody>
          <a:bodyPr xmlns:a="http://schemas.openxmlformats.org/drawingml/2006/main" wrap="square" lIns="85725" tIns="85725" rIns="85725" bIns="85725" anchor="ctr">
            <a:noAutofit/>
          </a:bodyPr>
          <a:lstStyle xmlns:a="http://schemas.openxmlformats.org/drawingml/2006/main">
            <a:defPPr algn="ctr">
              <a:defRPr sz="1800" b="1">
                <a:solidFill>
                  <a:srgbClr val="FFFFFF"/>
                </a:solidFill>
                <a:latin typeface="Times New Roman"/>
                <a:ea typeface="Times New Roman"/>
                <a:cs typeface="Times New Roman"/>
              </a:defRPr>
            </a:defPPr>
            <a:lvl1pPr algn="ctr">
              <a:defRPr sz="1800" b="1">
                <a:solidFill>
                  <a:srgbClr val="FFFFFF"/>
                </a:solidFill>
                <a:latin typeface="Times New Roman"/>
                <a:ea typeface="Times New Roman"/>
                <a:cs typeface="Times New Roman"/>
              </a:defRPr>
            </a:lvl1pPr>
            <a:lvl2pPr algn="ctr">
              <a:defRPr sz="1800" b="1">
                <a:solidFill>
                  <a:srgbClr val="FFFFFF"/>
                </a:solidFill>
                <a:latin typeface="Times New Roman"/>
                <a:ea typeface="Times New Roman"/>
                <a:cs typeface="Times New Roman"/>
              </a:defRPr>
            </a:lvl2pPr>
            <a:lvl3pPr algn="ctr">
              <a:defRPr sz="1800" b="1">
                <a:solidFill>
                  <a:srgbClr val="FFFFFF"/>
                </a:solidFill>
                <a:latin typeface="Times New Roman"/>
                <a:ea typeface="Times New Roman"/>
                <a:cs typeface="Times New Roman"/>
              </a:defRPr>
            </a:lvl3pPr>
            <a:lvl4pPr algn="ctr">
              <a:defRPr sz="1800" b="1">
                <a:solidFill>
                  <a:srgbClr val="FFFFFF"/>
                </a:solidFill>
                <a:latin typeface="Times New Roman"/>
                <a:ea typeface="Times New Roman"/>
                <a:cs typeface="Times New Roman"/>
              </a:defRPr>
            </a:lvl4pPr>
            <a:lvl5pPr algn="ctr">
              <a:defRPr sz="1800" b="1">
                <a:solidFill>
                  <a:srgbClr val="FFFFFF"/>
                </a:solidFill>
                <a:latin typeface="Times New Roman"/>
                <a:ea typeface="Times New Roman"/>
                <a:cs typeface="Times New Roman"/>
              </a:defRPr>
            </a:lvl5pPr>
            <a:lvl6pPr algn="ctr">
              <a:defRPr sz="1800" b="1">
                <a:solidFill>
                  <a:srgbClr val="FFFFFF"/>
                </a:solidFill>
                <a:latin typeface="Times New Roman"/>
                <a:ea typeface="Times New Roman"/>
                <a:cs typeface="Times New Roman"/>
              </a:defRPr>
            </a:lvl6pPr>
            <a:lvl7pPr algn="ctr">
              <a:defRPr sz="1800" b="1">
                <a:solidFill>
                  <a:srgbClr val="FFFFFF"/>
                </a:solidFill>
                <a:latin typeface="Times New Roman"/>
                <a:ea typeface="Times New Roman"/>
                <a:cs typeface="Times New Roman"/>
              </a:defRPr>
            </a:lvl7pPr>
            <a:lvl8pPr algn="ctr">
              <a:defRPr sz="1800" b="1">
                <a:solidFill>
                  <a:srgbClr val="FFFFFF"/>
                </a:solidFill>
                <a:latin typeface="Times New Roman"/>
                <a:ea typeface="Times New Roman"/>
                <a:cs typeface="Times New Roman"/>
              </a:defRPr>
            </a:lvl8pPr>
            <a:lvl9pPr algn="ctr">
              <a:defRPr sz="1800" b="1">
                <a:solidFill>
                  <a:srgbClr val="FFFFFF"/>
                </a:solidFill>
                <a:latin typeface="Times New Roman"/>
                <a:ea typeface="Times New Roman"/>
                <a:cs typeface="Times New Roman"/>
              </a:defRPr>
            </a:lvl9pPr>
          </a:lstStyle>
          <a:p xmlns:a="http://schemas.openxmlformats.org/drawingml/2006/main">
            <a:pPr algn="ctr">
              <a:defRPr sz="1800" b="1">
                <a:solidFill>
                  <a:srgbClr val="FFFFFF"/>
                </a:solidFill>
                <a:latin typeface="Times New Roman"/>
                <a:ea typeface="Times New Roman"/>
                <a:cs typeface="Times New Roman"/>
              </a:defRPr>
            </a:pPr>
            <a:r>
              <a:rPr sz="1800" b="1">
                <a:solidFill>
                  <a:srgbClr val="FFFFFF"/>
                </a:solidFill>
                <a:latin typeface="Times New Roman"/>
                <a:ea typeface="Times New Roman"/>
                <a:cs typeface="Times New Roman"/>
              </a:rPr>
              <a:t>3′ UTR</a:t>
            </a:r>
          </a:p>
        </p:txBody>
      </p:sp>
      <p:sp>
        <p:nvSpPr>
          <p:cNvPr id="15" name="">
            <a:extLst xmlns:a="http://schemas.openxmlformats.org/drawingml/2006/main">
              <a:ext uri="{FF2B5EF4-FFF2-40B4-BE49-F238E27FC236}">
                <a16:creationId xmlns:a16="http://schemas.microsoft.com/office/drawing/2014/main" id="{46E7D482-275F-47B8-8F6C-05D05D278F0E}"/>
              </a:ext>
            </a:extLst>
          </p:cNvPr>
          <p:cNvSpPr>
            <a:spLocks xmlns:a="http://schemas.openxmlformats.org/drawingml/2006/main" noGrp="1"/>
          </p:cNvSpPr>
          <p:nvPr/>
        </p:nvSpPr>
        <p:spPr>
          <a:xfrm xmlns:a="http://schemas.openxmlformats.org/drawingml/2006/main">
            <a:off x="428625" y="2524125"/>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4324B"/>
                </a:solidFill>
                <a:latin typeface="Times New Roman"/>
                <a:ea typeface="Times New Roman"/>
                <a:cs typeface="Times New Roman"/>
              </a:defRPr>
            </a:defPPr>
            <a:lvl1pPr>
              <a:defRPr sz="1725">
                <a:solidFill>
                  <a:srgbClr val="14324B"/>
                </a:solidFill>
                <a:latin typeface="Times New Roman"/>
                <a:ea typeface="Times New Roman"/>
                <a:cs typeface="Times New Roman"/>
              </a:defRPr>
            </a:lvl1pPr>
            <a:lvl2pPr>
              <a:defRPr sz="1725">
                <a:solidFill>
                  <a:srgbClr val="14324B"/>
                </a:solidFill>
                <a:latin typeface="Times New Roman"/>
                <a:ea typeface="Times New Roman"/>
                <a:cs typeface="Times New Roman"/>
              </a:defRPr>
            </a:lvl2pPr>
            <a:lvl3pPr>
              <a:defRPr sz="1725">
                <a:solidFill>
                  <a:srgbClr val="14324B"/>
                </a:solidFill>
                <a:latin typeface="Times New Roman"/>
                <a:ea typeface="Times New Roman"/>
                <a:cs typeface="Times New Roman"/>
              </a:defRPr>
            </a:lvl3pPr>
            <a:lvl4pPr>
              <a:defRPr sz="1725">
                <a:solidFill>
                  <a:srgbClr val="14324B"/>
                </a:solidFill>
                <a:latin typeface="Times New Roman"/>
                <a:ea typeface="Times New Roman"/>
                <a:cs typeface="Times New Roman"/>
              </a:defRPr>
            </a:lvl4pPr>
            <a:lvl5pPr>
              <a:defRPr sz="1725">
                <a:solidFill>
                  <a:srgbClr val="14324B"/>
                </a:solidFill>
                <a:latin typeface="Times New Roman"/>
                <a:ea typeface="Times New Roman"/>
                <a:cs typeface="Times New Roman"/>
              </a:defRPr>
            </a:lvl5pPr>
            <a:lvl6pPr>
              <a:defRPr sz="1725">
                <a:solidFill>
                  <a:srgbClr val="14324B"/>
                </a:solidFill>
                <a:latin typeface="Times New Roman"/>
                <a:ea typeface="Times New Roman"/>
                <a:cs typeface="Times New Roman"/>
              </a:defRPr>
            </a:lvl6pPr>
            <a:lvl7pPr>
              <a:defRPr sz="1725">
                <a:solidFill>
                  <a:srgbClr val="14324B"/>
                </a:solidFill>
                <a:latin typeface="Times New Roman"/>
                <a:ea typeface="Times New Roman"/>
                <a:cs typeface="Times New Roman"/>
              </a:defRPr>
            </a:lvl7pPr>
            <a:lvl8pPr>
              <a:defRPr sz="1725">
                <a:solidFill>
                  <a:srgbClr val="14324B"/>
                </a:solidFill>
                <a:latin typeface="Times New Roman"/>
                <a:ea typeface="Times New Roman"/>
                <a:cs typeface="Times New Roman"/>
              </a:defRPr>
            </a:lvl8pPr>
            <a:lvl9pPr>
              <a:defRPr sz="1725">
                <a:solidFill>
                  <a:srgbClr val="14324B"/>
                </a:solidFill>
                <a:latin typeface="Times New Roman"/>
                <a:ea typeface="Times New Roman"/>
                <a:cs typeface="Times New Roman"/>
              </a:defRPr>
            </a:lvl9pPr>
          </a:lstStyle>
          <a:p xmlns:a="http://schemas.openxmlformats.org/drawingml/2006/main">
            <a:pPr>
              <a:defRPr sz="1725">
                <a:solidFill>
                  <a:srgbClr val="14324B"/>
                </a:solidFill>
                <a:latin typeface="Times New Roman"/>
                <a:ea typeface="Times New Roman"/>
                <a:cs typeface="Times New Roman"/>
              </a:defRPr>
            </a:pPr>
            <a:r>
              <a:rPr sz="1725">
                <a:solidFill>
                  <a:srgbClr val="14324B"/>
                </a:solidFill>
                <a:latin typeface="Times New Roman"/>
                <a:ea typeface="Times New Roman"/>
                <a:cs typeface="Times New Roman"/>
              </a:rPr>
              <a:t>CDS only</a:t>
            </a:r>
          </a:p>
        </p:txBody>
      </p:sp>
      <p:sp>
        <p:nvSpPr>
          <p:cNvPr id="16" name="">
            <a:extLst xmlns:a="http://schemas.openxmlformats.org/drawingml/2006/main">
              <a:ext uri="{FF2B5EF4-FFF2-40B4-BE49-F238E27FC236}">
                <a16:creationId xmlns:a16="http://schemas.microsoft.com/office/drawing/2014/main" id="{E82FBDC4-5C01-4418-AEA0-B9653E157BBA}"/>
              </a:ext>
            </a:extLst>
          </p:cNvPr>
          <p:cNvSpPr>
            <a:spLocks xmlns:a="http://schemas.openxmlformats.org/drawingml/2006/main" noGrp="1"/>
          </p:cNvSpPr>
          <p:nvPr/>
        </p:nvSpPr>
        <p:spPr>
          <a:xfrm xmlns:a="http://schemas.openxmlformats.org/drawingml/2006/main">
            <a:off x="428625" y="3571875"/>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4324B"/>
                </a:solidFill>
                <a:latin typeface="Times New Roman"/>
                <a:ea typeface="Times New Roman"/>
                <a:cs typeface="Times New Roman"/>
              </a:defRPr>
            </a:defPPr>
            <a:lvl1pPr>
              <a:defRPr sz="1725">
                <a:solidFill>
                  <a:srgbClr val="14324B"/>
                </a:solidFill>
                <a:latin typeface="Times New Roman"/>
                <a:ea typeface="Times New Roman"/>
                <a:cs typeface="Times New Roman"/>
              </a:defRPr>
            </a:lvl1pPr>
            <a:lvl2pPr>
              <a:defRPr sz="1725">
                <a:solidFill>
                  <a:srgbClr val="14324B"/>
                </a:solidFill>
                <a:latin typeface="Times New Roman"/>
                <a:ea typeface="Times New Roman"/>
                <a:cs typeface="Times New Roman"/>
              </a:defRPr>
            </a:lvl2pPr>
            <a:lvl3pPr>
              <a:defRPr sz="1725">
                <a:solidFill>
                  <a:srgbClr val="14324B"/>
                </a:solidFill>
                <a:latin typeface="Times New Roman"/>
                <a:ea typeface="Times New Roman"/>
                <a:cs typeface="Times New Roman"/>
              </a:defRPr>
            </a:lvl3pPr>
            <a:lvl4pPr>
              <a:defRPr sz="1725">
                <a:solidFill>
                  <a:srgbClr val="14324B"/>
                </a:solidFill>
                <a:latin typeface="Times New Roman"/>
                <a:ea typeface="Times New Roman"/>
                <a:cs typeface="Times New Roman"/>
              </a:defRPr>
            </a:lvl4pPr>
            <a:lvl5pPr>
              <a:defRPr sz="1725">
                <a:solidFill>
                  <a:srgbClr val="14324B"/>
                </a:solidFill>
                <a:latin typeface="Times New Roman"/>
                <a:ea typeface="Times New Roman"/>
                <a:cs typeface="Times New Roman"/>
              </a:defRPr>
            </a:lvl5pPr>
            <a:lvl6pPr>
              <a:defRPr sz="1725">
                <a:solidFill>
                  <a:srgbClr val="14324B"/>
                </a:solidFill>
                <a:latin typeface="Times New Roman"/>
                <a:ea typeface="Times New Roman"/>
                <a:cs typeface="Times New Roman"/>
              </a:defRPr>
            </a:lvl6pPr>
            <a:lvl7pPr>
              <a:defRPr sz="1725">
                <a:solidFill>
                  <a:srgbClr val="14324B"/>
                </a:solidFill>
                <a:latin typeface="Times New Roman"/>
                <a:ea typeface="Times New Roman"/>
                <a:cs typeface="Times New Roman"/>
              </a:defRPr>
            </a:lvl7pPr>
            <a:lvl8pPr>
              <a:defRPr sz="1725">
                <a:solidFill>
                  <a:srgbClr val="14324B"/>
                </a:solidFill>
                <a:latin typeface="Times New Roman"/>
                <a:ea typeface="Times New Roman"/>
                <a:cs typeface="Times New Roman"/>
              </a:defRPr>
            </a:lvl8pPr>
            <a:lvl9pPr>
              <a:defRPr sz="1725">
                <a:solidFill>
                  <a:srgbClr val="14324B"/>
                </a:solidFill>
                <a:latin typeface="Times New Roman"/>
                <a:ea typeface="Times New Roman"/>
                <a:cs typeface="Times New Roman"/>
              </a:defRPr>
            </a:lvl9pPr>
          </a:lstStyle>
          <a:p xmlns:a="http://schemas.openxmlformats.org/drawingml/2006/main">
            <a:pPr>
              <a:defRPr sz="1725">
                <a:solidFill>
                  <a:srgbClr val="14324B"/>
                </a:solidFill>
                <a:latin typeface="Times New Roman"/>
                <a:ea typeface="Times New Roman"/>
                <a:cs typeface="Times New Roman"/>
              </a:defRPr>
            </a:pPr>
            <a:r>
              <a:rPr sz="1725">
                <a:solidFill>
                  <a:srgbClr val="14324B"/>
                </a:solidFill>
                <a:latin typeface="Times New Roman"/>
                <a:ea typeface="Times New Roman"/>
                <a:cs typeface="Times New Roman"/>
              </a:rPr>
              <a:t>CDS + 3′ UTR</a:t>
            </a:r>
          </a:p>
        </p:txBody>
      </p:sp>
      <p:sp>
        <p:nvSpPr>
          <p:cNvPr id="17" name="">
            <a:extLst xmlns:a="http://schemas.openxmlformats.org/drawingml/2006/main">
              <a:ext uri="{FF2B5EF4-FFF2-40B4-BE49-F238E27FC236}">
                <a16:creationId xmlns:a16="http://schemas.microsoft.com/office/drawing/2014/main" id="{52A0564C-AA55-4381-8EC8-FCF10FE64F34}"/>
              </a:ext>
            </a:extLst>
          </p:cNvPr>
          <p:cNvSpPr>
            <a:spLocks xmlns:a="http://schemas.openxmlformats.org/drawingml/2006/main" noGrp="1"/>
          </p:cNvSpPr>
          <p:nvPr/>
        </p:nvSpPr>
        <p:spPr>
          <a:xfrm xmlns:a="http://schemas.openxmlformats.org/drawingml/2006/main">
            <a:off x="428625" y="4619625"/>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4324B"/>
                </a:solidFill>
                <a:latin typeface="Times New Roman"/>
                <a:ea typeface="Times New Roman"/>
                <a:cs typeface="Times New Roman"/>
              </a:defRPr>
            </a:defPPr>
            <a:lvl1pPr>
              <a:defRPr sz="1725">
                <a:solidFill>
                  <a:srgbClr val="14324B"/>
                </a:solidFill>
                <a:latin typeface="Times New Roman"/>
                <a:ea typeface="Times New Roman"/>
                <a:cs typeface="Times New Roman"/>
              </a:defRPr>
            </a:lvl1pPr>
            <a:lvl2pPr>
              <a:defRPr sz="1725">
                <a:solidFill>
                  <a:srgbClr val="14324B"/>
                </a:solidFill>
                <a:latin typeface="Times New Roman"/>
                <a:ea typeface="Times New Roman"/>
                <a:cs typeface="Times New Roman"/>
              </a:defRPr>
            </a:lvl2pPr>
            <a:lvl3pPr>
              <a:defRPr sz="1725">
                <a:solidFill>
                  <a:srgbClr val="14324B"/>
                </a:solidFill>
                <a:latin typeface="Times New Roman"/>
                <a:ea typeface="Times New Roman"/>
                <a:cs typeface="Times New Roman"/>
              </a:defRPr>
            </a:lvl3pPr>
            <a:lvl4pPr>
              <a:defRPr sz="1725">
                <a:solidFill>
                  <a:srgbClr val="14324B"/>
                </a:solidFill>
                <a:latin typeface="Times New Roman"/>
                <a:ea typeface="Times New Roman"/>
                <a:cs typeface="Times New Roman"/>
              </a:defRPr>
            </a:lvl4pPr>
            <a:lvl5pPr>
              <a:defRPr sz="1725">
                <a:solidFill>
                  <a:srgbClr val="14324B"/>
                </a:solidFill>
                <a:latin typeface="Times New Roman"/>
                <a:ea typeface="Times New Roman"/>
                <a:cs typeface="Times New Roman"/>
              </a:defRPr>
            </a:lvl5pPr>
            <a:lvl6pPr>
              <a:defRPr sz="1725">
                <a:solidFill>
                  <a:srgbClr val="14324B"/>
                </a:solidFill>
                <a:latin typeface="Times New Roman"/>
                <a:ea typeface="Times New Roman"/>
                <a:cs typeface="Times New Roman"/>
              </a:defRPr>
            </a:lvl6pPr>
            <a:lvl7pPr>
              <a:defRPr sz="1725">
                <a:solidFill>
                  <a:srgbClr val="14324B"/>
                </a:solidFill>
                <a:latin typeface="Times New Roman"/>
                <a:ea typeface="Times New Roman"/>
                <a:cs typeface="Times New Roman"/>
              </a:defRPr>
            </a:lvl7pPr>
            <a:lvl8pPr>
              <a:defRPr sz="1725">
                <a:solidFill>
                  <a:srgbClr val="14324B"/>
                </a:solidFill>
                <a:latin typeface="Times New Roman"/>
                <a:ea typeface="Times New Roman"/>
                <a:cs typeface="Times New Roman"/>
              </a:defRPr>
            </a:lvl8pPr>
            <a:lvl9pPr>
              <a:defRPr sz="1725">
                <a:solidFill>
                  <a:srgbClr val="14324B"/>
                </a:solidFill>
                <a:latin typeface="Times New Roman"/>
                <a:ea typeface="Times New Roman"/>
                <a:cs typeface="Times New Roman"/>
              </a:defRPr>
            </a:lvl9pPr>
          </a:lstStyle>
          <a:p xmlns:a="http://schemas.openxmlformats.org/drawingml/2006/main">
            <a:pPr>
              <a:defRPr sz="1725">
                <a:solidFill>
                  <a:srgbClr val="14324B"/>
                </a:solidFill>
                <a:latin typeface="Times New Roman"/>
                <a:ea typeface="Times New Roman"/>
                <a:cs typeface="Times New Roman"/>
              </a:defRPr>
            </a:pPr>
            <a:r>
              <a:rPr sz="1725">
                <a:solidFill>
                  <a:srgbClr val="14324B"/>
                </a:solidFill>
                <a:latin typeface="Times New Roman"/>
                <a:ea typeface="Times New Roman"/>
                <a:cs typeface="Times New Roman"/>
              </a:rPr>
              <a:t>All transcript regions</a:t>
            </a:r>
          </a:p>
        </p:txBody>
      </p:sp>
      <p:graphicFrame>
        <p:nvGraphicFramePr>
          <p:cNvPr id="18" name="Chart">
            <a:extLst xmlns:a="http://schemas.openxmlformats.org/drawingml/2006/main">
              <a:ext uri="{FF2B5EF4-FFF2-40B4-BE49-F238E27FC236}">
                <a16:creationId xmlns:a16="http://schemas.microsoft.com/office/drawing/2014/main" id="{0B137693-A31A-4C4D-BAAF-863B349F3E42}"/>
              </a:ext>
            </a:extLst>
          </p:cNvPr>
          <p:cNvGraphicFramePr/>
          <p:nvPr/>
        </p:nvGraphicFramePr>
        <p:xfrm>
          <a:off xmlns:a="http://schemas.openxmlformats.org/drawingml/2006/main" x="5334000" y="2095500"/>
          <a:ext xmlns:a="http://schemas.openxmlformats.org/drawingml/2006/main" cx="6381750" cy="3476625"/>
        </p:xfrm>
        <a:graphic xmlns:a="http://schemas.openxmlformats.org/drawingml/2006/main">
          <a:graphicData uri="http://schemas.openxmlformats.org/drawingml/2006/chart">
            <c:chart xmlns:r="http://schemas.openxmlformats.org/officeDocument/2006/relationships" xmlns:c="http://schemas.openxmlformats.org/drawingml/2006/chart" r:id="Rc3e5b122610c45a8"/>
          </a:graphicData>
        </a:graphic>
      </p:graphicFrame>
      <p:sp>
        <p:nvSpPr>
          <p:cNvPr id="19" name="">
            <a:extLst xmlns:a="http://schemas.openxmlformats.org/drawingml/2006/main">
              <a:ext uri="{FF2B5EF4-FFF2-40B4-BE49-F238E27FC236}">
                <a16:creationId xmlns:a16="http://schemas.microsoft.com/office/drawing/2014/main" id="{A4FDDF10-5534-4F86-8379-81FC63BA3128}"/>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Pearson measures linear association between predictions and targets. Additional region features improve the displayed means; this is not a causal UTR intervention.</a:t>
            </a:r>
          </a:p>
        </p:txBody>
      </p:sp>
    </p:spTree>
    <p:extLst>
      <p:ext uri="{BB962C8B-B14F-4D97-AF65-F5344CB8AC3E}">
        <p14:creationId xmlns:p14="http://schemas.microsoft.com/office/powerpoint/2010/main" val="133441911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5C1CBD96-2DB4-44DE-89CB-EA2135055EF6}"/>
              </a:ext>
            </a:extLst>
          </p:cNvPr>
          <p:cNvCxnSpPr>
            <a:stCxn xmlns:a="http://schemas.openxmlformats.org/drawingml/2006/main" id="11" idx="2"/>
            <a:endCxn xmlns:a="http://schemas.openxmlformats.org/drawingml/2006/main" id="17" idx="0"/>
          </p:cNvCxnSpPr>
          <p:nvPr/>
        </p:nvCxnSpPr>
        <p:spPr>
          <a:xfrm xmlns:a="http://schemas.openxmlformats.org/drawingml/2006/main">
            <a:off x="4881563" y="4381500"/>
            <a:ext cx="1857375" cy="714375"/>
          </a:xfrm>
          <a:prstGeom xmlns:a="http://schemas.openxmlformats.org/drawingml/2006/main" prst="bentConnector4">
            <a:avLst>
              <a:gd name="adj1" fmla="val 0"/>
              <a:gd name="adj2" fmla="val 68000"/>
            </a:avLst>
          </a:prstGeom>
          <a:ln xmlns:a="http://schemas.openxmlformats.org/drawingml/2006/main" w="21908">
            <a:solidFill>
              <a:srgbClr val="326DA8"/>
            </a:solidFill>
            <a:prstDash val="dash"/>
            <a:tailEnd type="triangle" w="med" len="med"/>
          </a:ln>
        </p:spPr>
      </p:cxnSp>
      <p:cxnSp>
        <p:nvCxnSpPr>
          <p:cNvPr id="19" name="">
            <a:extLst xmlns:a="http://schemas.openxmlformats.org/drawingml/2006/main">
              <a:ext uri="{FF2B5EF4-FFF2-40B4-BE49-F238E27FC236}">
                <a16:creationId xmlns:a16="http://schemas.microsoft.com/office/drawing/2014/main" id="{D57C292D-0271-42E2-BAB2-2F4EEF8C9909}"/>
              </a:ext>
            </a:extLst>
          </p:cNvPr>
          <p:cNvCxnSpPr>
            <a:stCxn xmlns:a="http://schemas.openxmlformats.org/drawingml/2006/main" id="15" idx="2"/>
            <a:endCxn xmlns:a="http://schemas.openxmlformats.org/drawingml/2006/main" id="17" idx="3"/>
          </p:cNvCxnSpPr>
          <p:nvPr/>
        </p:nvCxnSpPr>
        <p:spPr>
          <a:xfrm xmlns:a="http://schemas.openxmlformats.org/drawingml/2006/main" flipH="1">
            <a:off x="9477375" y="4381500"/>
            <a:ext cx="333375" cy="1023938"/>
          </a:xfrm>
          <a:prstGeom xmlns:a="http://schemas.openxmlformats.org/drawingml/2006/main" prst="bentConnector5">
            <a:avLst>
              <a:gd name="adj1" fmla="val 0"/>
              <a:gd name="adj2" fmla="val 22326"/>
              <a:gd name="adj3" fmla="val 31429"/>
            </a:avLst>
          </a:prstGeom>
          <a:ln xmlns:a="http://schemas.openxmlformats.org/drawingml/2006/main" w="21908">
            <a:solidFill>
              <a:srgbClr val="815897"/>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60FA14EC-6512-413E-83DC-FC68D170E82F}"/>
              </a:ext>
            </a:extLst>
          </p:cNvPr>
          <p:cNvCxnSpPr>
            <a:stCxn xmlns:a="http://schemas.openxmlformats.org/drawingml/2006/main" id="10" idx="2"/>
            <a:endCxn xmlns:a="http://schemas.openxmlformats.org/drawingml/2006/main" id="17" idx="1"/>
          </p:cNvCxnSpPr>
          <p:nvPr/>
        </p:nvCxnSpPr>
        <p:spPr>
          <a:xfrm xmlns:a="http://schemas.openxmlformats.org/drawingml/2006/main">
            <a:off x="1785938" y="4381500"/>
            <a:ext cx="2214563" cy="1023938"/>
          </a:xfrm>
          <a:prstGeom xmlns:a="http://schemas.openxmlformats.org/drawingml/2006/main" prst="bentConnector5">
            <a:avLst>
              <a:gd name="adj1" fmla="val 0"/>
              <a:gd name="adj2" fmla="val 22326"/>
              <a:gd name="adj3" fmla="val 89677"/>
            </a:avLst>
          </a:prstGeom>
          <a:ln xmlns:a="http://schemas.openxmlformats.org/drawingml/2006/main" w="21908">
            <a:solidFill>
              <a:srgbClr val="167D77"/>
            </a:solidFill>
            <a:prstDash val="solid"/>
            <a:tailEnd type="triangle" w="med" len="med"/>
          </a:ln>
        </p:spPr>
      </p:cxnSp>
      <p:cxnSp>
        <p:nvCxnSpPr>
          <p:cNvPr id="16" name="">
            <a:extLst xmlns:a="http://schemas.openxmlformats.org/drawingml/2006/main">
              <a:ext uri="{FF2B5EF4-FFF2-40B4-BE49-F238E27FC236}">
                <a16:creationId xmlns:a16="http://schemas.microsoft.com/office/drawing/2014/main" id="{6A797A59-F14E-450E-B096-A6997D7999B1}"/>
              </a:ext>
            </a:extLst>
          </p:cNvPr>
          <p:cNvCxnSpPr>
            <a:stCxn xmlns:a="http://schemas.openxmlformats.org/drawingml/2006/main" id="14" idx="2"/>
            <a:endCxn xmlns:a="http://schemas.openxmlformats.org/drawingml/2006/main" id="15" idx="0"/>
          </p:cNvCxnSpPr>
          <p:nvPr/>
        </p:nvCxnSpPr>
        <p:spPr>
          <a:xfrm xmlns:a="http://schemas.openxmlformats.org/drawingml/2006/main">
            <a:off x="9667875" y="2857500"/>
            <a:ext cx="142875" cy="714375"/>
          </a:xfrm>
          <a:prstGeom xmlns:a="http://schemas.openxmlformats.org/drawingml/2006/main" prst="bentConnector4">
            <a:avLst>
              <a:gd name="adj1" fmla="val 0"/>
              <a:gd name="adj2" fmla="val 50000"/>
            </a:avLst>
          </a:prstGeom>
          <a:ln xmlns:a="http://schemas.openxmlformats.org/drawingml/2006/main" w="21908">
            <a:solidFill>
              <a:srgbClr val="815897"/>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0C0FA061-AC30-4F44-9B6B-C0683DF7A29D}"/>
              </a:ext>
            </a:extLst>
          </p:cNvPr>
          <p:cNvCxnSpPr>
            <a:stCxn xmlns:a="http://schemas.openxmlformats.org/drawingml/2006/main" id="9" idx="2"/>
            <a:endCxn xmlns:a="http://schemas.openxmlformats.org/drawingml/2006/main" id="11" idx="0"/>
          </p:cNvCxnSpPr>
          <p:nvPr/>
        </p:nvCxnSpPr>
        <p:spPr>
          <a:xfrm xmlns:a="http://schemas.openxmlformats.org/drawingml/2006/main">
            <a:off x="3309938" y="2647950"/>
            <a:ext cx="1571625" cy="923925"/>
          </a:xfrm>
          <a:prstGeom xmlns:a="http://schemas.openxmlformats.org/drawingml/2006/main" prst="bentConnector4">
            <a:avLst>
              <a:gd name="adj1" fmla="val 0"/>
              <a:gd name="adj2" fmla="val 50000"/>
            </a:avLst>
          </a:prstGeom>
          <a:ln xmlns:a="http://schemas.openxmlformats.org/drawingml/2006/main" w="21908">
            <a:solidFill>
              <a:srgbClr val="52636B"/>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E9AA75FE-1A4B-46D9-9DD7-DFC60061697D}"/>
              </a:ext>
            </a:extLst>
          </p:cNvPr>
          <p:cNvCxnSpPr>
            <a:stCxn xmlns:a="http://schemas.openxmlformats.org/drawingml/2006/main" id="9" idx="2"/>
            <a:endCxn xmlns:a="http://schemas.openxmlformats.org/drawingml/2006/main" id="10" idx="0"/>
          </p:cNvCxnSpPr>
          <p:nvPr/>
        </p:nvCxnSpPr>
        <p:spPr>
          <a:xfrm xmlns:a="http://schemas.openxmlformats.org/drawingml/2006/main" flipH="1">
            <a:off x="1785938" y="2647950"/>
            <a:ext cx="1524000" cy="923925"/>
          </a:xfrm>
          <a:prstGeom xmlns:a="http://schemas.openxmlformats.org/drawingml/2006/main" prst="bentConnector4">
            <a:avLst>
              <a:gd name="adj1" fmla="val 0"/>
              <a:gd name="adj2" fmla="val 50000"/>
            </a:avLst>
          </a:prstGeom>
          <a:ln xmlns:a="http://schemas.openxmlformats.org/drawingml/2006/main" w="21908">
            <a:solidFill>
              <a:srgbClr val="52636B"/>
            </a:solidFill>
            <a:prstDash val="solid"/>
            <a:tailEnd type="triangle" w="med" len="med"/>
          </a:ln>
        </p:spPr>
      </p:cxnSp>
      <p:sp>
        <p:nvSpPr>
          <p:cNvPr id="24" name="">
            <a:extLst xmlns:a="http://schemas.openxmlformats.org/drawingml/2006/main">
              <a:ext uri="{FF2B5EF4-FFF2-40B4-BE49-F238E27FC236}">
                <a16:creationId xmlns:a16="http://schemas.microsoft.com/office/drawing/2014/main" id="{71CAF43F-0F37-4DA8-B827-BEA114B3F953}"/>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E62C15-7AE3-4F98-8EBD-10C451A01F89}"/>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Full-transcript fusion combines different representations</a:t>
            </a:r>
          </a:p>
        </p:txBody>
      </p:sp>
      <p:sp>
        <p:nvSpPr>
          <p:cNvPr id="3" name="">
            <a:extLst xmlns:a="http://schemas.openxmlformats.org/drawingml/2006/main">
              <a:ext uri="{FF2B5EF4-FFF2-40B4-BE49-F238E27FC236}">
                <a16:creationId xmlns:a16="http://schemas.microsoft.com/office/drawing/2014/main" id="{764C3042-5BCB-410C-8BB6-E29CE3FE0CAF}"/>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Frozen encoders process consecutive windows of long sequences, then pool the returned vectors.</a:t>
            </a:r>
          </a:p>
        </p:txBody>
      </p:sp>
      <p:sp>
        <p:nvSpPr>
          <p:cNvPr id="4" name="">
            <a:extLst xmlns:a="http://schemas.openxmlformats.org/drawingml/2006/main">
              <a:ext uri="{FF2B5EF4-FFF2-40B4-BE49-F238E27FC236}">
                <a16:creationId xmlns:a16="http://schemas.microsoft.com/office/drawing/2014/main" id="{D70C389E-E0E8-446B-AE2C-14C7278DDBCC}"/>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17</a:t>
            </a:r>
          </a:p>
        </p:txBody>
      </p:sp>
      <p:sp>
        <p:nvSpPr>
          <p:cNvPr id="5" name="">
            <a:extLst xmlns:a="http://schemas.openxmlformats.org/drawingml/2006/main">
              <a:ext uri="{FF2B5EF4-FFF2-40B4-BE49-F238E27FC236}">
                <a16:creationId xmlns:a16="http://schemas.microsoft.com/office/drawing/2014/main" id="{D1373E02-47EF-4E5F-B593-A40C6BDF13FB}"/>
              </a:ext>
            </a:extLst>
          </p:cNvPr>
          <p:cNvSpPr>
            <a:spLocks xmlns:a="http://schemas.openxmlformats.org/drawingml/2006/main" noGrp="1"/>
          </p:cNvSpPr>
          <p:nvPr/>
        </p:nvSpPr>
        <p:spPr>
          <a:xfrm xmlns:a="http://schemas.openxmlformats.org/drawingml/2006/main">
            <a:off x="571500" y="2190750"/>
            <a:ext cx="1314450" cy="457200"/>
          </a:xfrm>
          <a:prstGeom xmlns:a="http://schemas.openxmlformats.org/drawingml/2006/main" prst="rect">
            <a:avLst/>
          </a:prstGeom>
          <a:solidFill xmlns:a="http://schemas.openxmlformats.org/drawingml/2006/main">
            <a:srgbClr val="326DA8"/>
          </a:solidFill>
          <a:ln xmlns:a="http://schemas.openxmlformats.org/drawingml/2006/main" w="14288">
            <a:solidFill>
              <a:srgbClr val="FFFFFF"/>
            </a:solidFill>
          </a:ln>
        </p:spPr>
        <p:txBody>
          <a:bodyPr xmlns:a="http://schemas.openxmlformats.org/drawingml/2006/main" wrap="square" lIns="85725" tIns="85725" rIns="85725" bIns="85725" anchor="ctr">
            <a:noAutofit/>
          </a:bodyPr>
          <a:lstStyle xmlns:a="http://schemas.openxmlformats.org/drawingml/2006/main">
            <a:defPPr algn="ctr">
              <a:defRPr sz="1800" b="1">
                <a:solidFill>
                  <a:srgbClr val="FFFFFF"/>
                </a:solidFill>
                <a:latin typeface="Times New Roman"/>
                <a:ea typeface="Times New Roman"/>
                <a:cs typeface="Times New Roman"/>
              </a:defRPr>
            </a:defPPr>
            <a:lvl1pPr algn="ctr">
              <a:defRPr sz="1800" b="1">
                <a:solidFill>
                  <a:srgbClr val="FFFFFF"/>
                </a:solidFill>
                <a:latin typeface="Times New Roman"/>
                <a:ea typeface="Times New Roman"/>
                <a:cs typeface="Times New Roman"/>
              </a:defRPr>
            </a:lvl1pPr>
            <a:lvl2pPr algn="ctr">
              <a:defRPr sz="1800" b="1">
                <a:solidFill>
                  <a:srgbClr val="FFFFFF"/>
                </a:solidFill>
                <a:latin typeface="Times New Roman"/>
                <a:ea typeface="Times New Roman"/>
                <a:cs typeface="Times New Roman"/>
              </a:defRPr>
            </a:lvl2pPr>
            <a:lvl3pPr algn="ctr">
              <a:defRPr sz="1800" b="1">
                <a:solidFill>
                  <a:srgbClr val="FFFFFF"/>
                </a:solidFill>
                <a:latin typeface="Times New Roman"/>
                <a:ea typeface="Times New Roman"/>
                <a:cs typeface="Times New Roman"/>
              </a:defRPr>
            </a:lvl3pPr>
            <a:lvl4pPr algn="ctr">
              <a:defRPr sz="1800" b="1">
                <a:solidFill>
                  <a:srgbClr val="FFFFFF"/>
                </a:solidFill>
                <a:latin typeface="Times New Roman"/>
                <a:ea typeface="Times New Roman"/>
                <a:cs typeface="Times New Roman"/>
              </a:defRPr>
            </a:lvl4pPr>
            <a:lvl5pPr algn="ctr">
              <a:defRPr sz="1800" b="1">
                <a:solidFill>
                  <a:srgbClr val="FFFFFF"/>
                </a:solidFill>
                <a:latin typeface="Times New Roman"/>
                <a:ea typeface="Times New Roman"/>
                <a:cs typeface="Times New Roman"/>
              </a:defRPr>
            </a:lvl5pPr>
            <a:lvl6pPr algn="ctr">
              <a:defRPr sz="1800" b="1">
                <a:solidFill>
                  <a:srgbClr val="FFFFFF"/>
                </a:solidFill>
                <a:latin typeface="Times New Roman"/>
                <a:ea typeface="Times New Roman"/>
                <a:cs typeface="Times New Roman"/>
              </a:defRPr>
            </a:lvl6pPr>
            <a:lvl7pPr algn="ctr">
              <a:defRPr sz="1800" b="1">
                <a:solidFill>
                  <a:srgbClr val="FFFFFF"/>
                </a:solidFill>
                <a:latin typeface="Times New Roman"/>
                <a:ea typeface="Times New Roman"/>
                <a:cs typeface="Times New Roman"/>
              </a:defRPr>
            </a:lvl7pPr>
            <a:lvl8pPr algn="ctr">
              <a:defRPr sz="1800" b="1">
                <a:solidFill>
                  <a:srgbClr val="FFFFFF"/>
                </a:solidFill>
                <a:latin typeface="Times New Roman"/>
                <a:ea typeface="Times New Roman"/>
                <a:cs typeface="Times New Roman"/>
              </a:defRPr>
            </a:lvl8pPr>
            <a:lvl9pPr algn="ctr">
              <a:defRPr sz="1800" b="1">
                <a:solidFill>
                  <a:srgbClr val="FFFFFF"/>
                </a:solidFill>
                <a:latin typeface="Times New Roman"/>
                <a:ea typeface="Times New Roman"/>
                <a:cs typeface="Times New Roman"/>
              </a:defRPr>
            </a:lvl9pPr>
          </a:lstStyle>
          <a:p xmlns:a="http://schemas.openxmlformats.org/drawingml/2006/main">
            <a:pPr algn="ctr">
              <a:defRPr sz="1800" b="1">
                <a:solidFill>
                  <a:srgbClr val="FFFFFF"/>
                </a:solidFill>
                <a:latin typeface="Times New Roman"/>
                <a:ea typeface="Times New Roman"/>
                <a:cs typeface="Times New Roman"/>
              </a:defRPr>
            </a:pPr>
            <a:r>
              <a:rPr sz="1800" b="1">
                <a:solidFill>
                  <a:srgbClr val="FFFFFF"/>
                </a:solidFill>
                <a:latin typeface="Times New Roman"/>
                <a:ea typeface="Times New Roman"/>
                <a:cs typeface="Times New Roman"/>
              </a:rPr>
              <a:t>5′ UTR</a:t>
            </a:r>
          </a:p>
        </p:txBody>
      </p:sp>
      <p:sp>
        <p:nvSpPr>
          <p:cNvPr id="6" name="">
            <a:extLst xmlns:a="http://schemas.openxmlformats.org/drawingml/2006/main">
              <a:ext uri="{FF2B5EF4-FFF2-40B4-BE49-F238E27FC236}">
                <a16:creationId xmlns:a16="http://schemas.microsoft.com/office/drawing/2014/main" id="{4DF3415B-3572-48F2-8689-FAE3DD8AFF49}"/>
              </a:ext>
            </a:extLst>
          </p:cNvPr>
          <p:cNvSpPr>
            <a:spLocks xmlns:a="http://schemas.openxmlformats.org/drawingml/2006/main" noGrp="1"/>
          </p:cNvSpPr>
          <p:nvPr/>
        </p:nvSpPr>
        <p:spPr>
          <a:xfrm xmlns:a="http://schemas.openxmlformats.org/drawingml/2006/main">
            <a:off x="1885950" y="2190750"/>
            <a:ext cx="2738438" cy="457200"/>
          </a:xfrm>
          <a:prstGeom xmlns:a="http://schemas.openxmlformats.org/drawingml/2006/main" prst="rect">
            <a:avLst/>
          </a:prstGeom>
          <a:solidFill xmlns:a="http://schemas.openxmlformats.org/drawingml/2006/main">
            <a:srgbClr val="167D77"/>
          </a:solidFill>
          <a:ln xmlns:a="http://schemas.openxmlformats.org/drawingml/2006/main" w="14288">
            <a:solidFill>
              <a:srgbClr val="FFFFFF"/>
            </a:solidFill>
          </a:ln>
        </p:spPr>
        <p:txBody>
          <a:bodyPr xmlns:a="http://schemas.openxmlformats.org/drawingml/2006/main" wrap="square" lIns="85725" tIns="85725" rIns="85725" bIns="85725" anchor="ctr">
            <a:noAutofit/>
          </a:bodyPr>
          <a:lstStyle xmlns:a="http://schemas.openxmlformats.org/drawingml/2006/main">
            <a:defPPr algn="ctr">
              <a:defRPr sz="1800" b="1">
                <a:solidFill>
                  <a:srgbClr val="FFFFFF"/>
                </a:solidFill>
                <a:latin typeface="Times New Roman"/>
                <a:ea typeface="Times New Roman"/>
                <a:cs typeface="Times New Roman"/>
              </a:defRPr>
            </a:defPPr>
            <a:lvl1pPr algn="ctr">
              <a:defRPr sz="1800" b="1">
                <a:solidFill>
                  <a:srgbClr val="FFFFFF"/>
                </a:solidFill>
                <a:latin typeface="Times New Roman"/>
                <a:ea typeface="Times New Roman"/>
                <a:cs typeface="Times New Roman"/>
              </a:defRPr>
            </a:lvl1pPr>
            <a:lvl2pPr algn="ctr">
              <a:defRPr sz="1800" b="1">
                <a:solidFill>
                  <a:srgbClr val="FFFFFF"/>
                </a:solidFill>
                <a:latin typeface="Times New Roman"/>
                <a:ea typeface="Times New Roman"/>
                <a:cs typeface="Times New Roman"/>
              </a:defRPr>
            </a:lvl2pPr>
            <a:lvl3pPr algn="ctr">
              <a:defRPr sz="1800" b="1">
                <a:solidFill>
                  <a:srgbClr val="FFFFFF"/>
                </a:solidFill>
                <a:latin typeface="Times New Roman"/>
                <a:ea typeface="Times New Roman"/>
                <a:cs typeface="Times New Roman"/>
              </a:defRPr>
            </a:lvl3pPr>
            <a:lvl4pPr algn="ctr">
              <a:defRPr sz="1800" b="1">
                <a:solidFill>
                  <a:srgbClr val="FFFFFF"/>
                </a:solidFill>
                <a:latin typeface="Times New Roman"/>
                <a:ea typeface="Times New Roman"/>
                <a:cs typeface="Times New Roman"/>
              </a:defRPr>
            </a:lvl4pPr>
            <a:lvl5pPr algn="ctr">
              <a:defRPr sz="1800" b="1">
                <a:solidFill>
                  <a:srgbClr val="FFFFFF"/>
                </a:solidFill>
                <a:latin typeface="Times New Roman"/>
                <a:ea typeface="Times New Roman"/>
                <a:cs typeface="Times New Roman"/>
              </a:defRPr>
            </a:lvl5pPr>
            <a:lvl6pPr algn="ctr">
              <a:defRPr sz="1800" b="1">
                <a:solidFill>
                  <a:srgbClr val="FFFFFF"/>
                </a:solidFill>
                <a:latin typeface="Times New Roman"/>
                <a:ea typeface="Times New Roman"/>
                <a:cs typeface="Times New Roman"/>
              </a:defRPr>
            </a:lvl6pPr>
            <a:lvl7pPr algn="ctr">
              <a:defRPr sz="1800" b="1">
                <a:solidFill>
                  <a:srgbClr val="FFFFFF"/>
                </a:solidFill>
                <a:latin typeface="Times New Roman"/>
                <a:ea typeface="Times New Roman"/>
                <a:cs typeface="Times New Roman"/>
              </a:defRPr>
            </a:lvl7pPr>
            <a:lvl8pPr algn="ctr">
              <a:defRPr sz="1800" b="1">
                <a:solidFill>
                  <a:srgbClr val="FFFFFF"/>
                </a:solidFill>
                <a:latin typeface="Times New Roman"/>
                <a:ea typeface="Times New Roman"/>
                <a:cs typeface="Times New Roman"/>
              </a:defRPr>
            </a:lvl8pPr>
            <a:lvl9pPr algn="ctr">
              <a:defRPr sz="1800" b="1">
                <a:solidFill>
                  <a:srgbClr val="FFFFFF"/>
                </a:solidFill>
                <a:latin typeface="Times New Roman"/>
                <a:ea typeface="Times New Roman"/>
                <a:cs typeface="Times New Roman"/>
              </a:defRPr>
            </a:lvl9pPr>
          </a:lstStyle>
          <a:p xmlns:a="http://schemas.openxmlformats.org/drawingml/2006/main">
            <a:pPr algn="ctr">
              <a:defRPr sz="1800" b="1">
                <a:solidFill>
                  <a:srgbClr val="FFFFFF"/>
                </a:solidFill>
                <a:latin typeface="Times New Roman"/>
                <a:ea typeface="Times New Roman"/>
                <a:cs typeface="Times New Roman"/>
              </a:defRPr>
            </a:pPr>
            <a:r>
              <a:rPr sz="1800" b="1">
                <a:solidFill>
                  <a:srgbClr val="FFFFFF"/>
                </a:solidFill>
                <a:latin typeface="Times New Roman"/>
                <a:ea typeface="Times New Roman"/>
                <a:cs typeface="Times New Roman"/>
              </a:rPr>
              <a:t>CDS</a:t>
            </a:r>
          </a:p>
        </p:txBody>
      </p:sp>
      <p:sp>
        <p:nvSpPr>
          <p:cNvPr id="7" name="">
            <a:extLst xmlns:a="http://schemas.openxmlformats.org/drawingml/2006/main">
              <a:ext uri="{FF2B5EF4-FFF2-40B4-BE49-F238E27FC236}">
                <a16:creationId xmlns:a16="http://schemas.microsoft.com/office/drawing/2014/main" id="{1E9D810C-0652-48CA-9B18-7988CCBFE34F}"/>
              </a:ext>
            </a:extLst>
          </p:cNvPr>
          <p:cNvSpPr>
            <a:spLocks xmlns:a="http://schemas.openxmlformats.org/drawingml/2006/main" noGrp="1"/>
          </p:cNvSpPr>
          <p:nvPr/>
        </p:nvSpPr>
        <p:spPr>
          <a:xfrm xmlns:a="http://schemas.openxmlformats.org/drawingml/2006/main">
            <a:off x="4624388" y="2190750"/>
            <a:ext cx="1423988" cy="457200"/>
          </a:xfrm>
          <a:prstGeom xmlns:a="http://schemas.openxmlformats.org/drawingml/2006/main" prst="rect">
            <a:avLst/>
          </a:prstGeom>
          <a:solidFill xmlns:a="http://schemas.openxmlformats.org/drawingml/2006/main">
            <a:srgbClr val="326DA8"/>
          </a:solidFill>
          <a:ln xmlns:a="http://schemas.openxmlformats.org/drawingml/2006/main" w="14288">
            <a:solidFill>
              <a:srgbClr val="FFFFFF"/>
            </a:solidFill>
          </a:ln>
        </p:spPr>
        <p:txBody>
          <a:bodyPr xmlns:a="http://schemas.openxmlformats.org/drawingml/2006/main" wrap="square" lIns="85725" tIns="85725" rIns="85725" bIns="85725" anchor="ctr">
            <a:noAutofit/>
          </a:bodyPr>
          <a:lstStyle xmlns:a="http://schemas.openxmlformats.org/drawingml/2006/main">
            <a:defPPr algn="ctr">
              <a:defRPr sz="1800" b="1">
                <a:solidFill>
                  <a:srgbClr val="FFFFFF"/>
                </a:solidFill>
                <a:latin typeface="Times New Roman"/>
                <a:ea typeface="Times New Roman"/>
                <a:cs typeface="Times New Roman"/>
              </a:defRPr>
            </a:defPPr>
            <a:lvl1pPr algn="ctr">
              <a:defRPr sz="1800" b="1">
                <a:solidFill>
                  <a:srgbClr val="FFFFFF"/>
                </a:solidFill>
                <a:latin typeface="Times New Roman"/>
                <a:ea typeface="Times New Roman"/>
                <a:cs typeface="Times New Roman"/>
              </a:defRPr>
            </a:lvl1pPr>
            <a:lvl2pPr algn="ctr">
              <a:defRPr sz="1800" b="1">
                <a:solidFill>
                  <a:srgbClr val="FFFFFF"/>
                </a:solidFill>
                <a:latin typeface="Times New Roman"/>
                <a:ea typeface="Times New Roman"/>
                <a:cs typeface="Times New Roman"/>
              </a:defRPr>
            </a:lvl2pPr>
            <a:lvl3pPr algn="ctr">
              <a:defRPr sz="1800" b="1">
                <a:solidFill>
                  <a:srgbClr val="FFFFFF"/>
                </a:solidFill>
                <a:latin typeface="Times New Roman"/>
                <a:ea typeface="Times New Roman"/>
                <a:cs typeface="Times New Roman"/>
              </a:defRPr>
            </a:lvl3pPr>
            <a:lvl4pPr algn="ctr">
              <a:defRPr sz="1800" b="1">
                <a:solidFill>
                  <a:srgbClr val="FFFFFF"/>
                </a:solidFill>
                <a:latin typeface="Times New Roman"/>
                <a:ea typeface="Times New Roman"/>
                <a:cs typeface="Times New Roman"/>
              </a:defRPr>
            </a:lvl4pPr>
            <a:lvl5pPr algn="ctr">
              <a:defRPr sz="1800" b="1">
                <a:solidFill>
                  <a:srgbClr val="FFFFFF"/>
                </a:solidFill>
                <a:latin typeface="Times New Roman"/>
                <a:ea typeface="Times New Roman"/>
                <a:cs typeface="Times New Roman"/>
              </a:defRPr>
            </a:lvl5pPr>
            <a:lvl6pPr algn="ctr">
              <a:defRPr sz="1800" b="1">
                <a:solidFill>
                  <a:srgbClr val="FFFFFF"/>
                </a:solidFill>
                <a:latin typeface="Times New Roman"/>
                <a:ea typeface="Times New Roman"/>
                <a:cs typeface="Times New Roman"/>
              </a:defRPr>
            </a:lvl6pPr>
            <a:lvl7pPr algn="ctr">
              <a:defRPr sz="1800" b="1">
                <a:solidFill>
                  <a:srgbClr val="FFFFFF"/>
                </a:solidFill>
                <a:latin typeface="Times New Roman"/>
                <a:ea typeface="Times New Roman"/>
                <a:cs typeface="Times New Roman"/>
              </a:defRPr>
            </a:lvl7pPr>
            <a:lvl8pPr algn="ctr">
              <a:defRPr sz="1800" b="1">
                <a:solidFill>
                  <a:srgbClr val="FFFFFF"/>
                </a:solidFill>
                <a:latin typeface="Times New Roman"/>
                <a:ea typeface="Times New Roman"/>
                <a:cs typeface="Times New Roman"/>
              </a:defRPr>
            </a:lvl8pPr>
            <a:lvl9pPr algn="ctr">
              <a:defRPr sz="1800" b="1">
                <a:solidFill>
                  <a:srgbClr val="FFFFFF"/>
                </a:solidFill>
                <a:latin typeface="Times New Roman"/>
                <a:ea typeface="Times New Roman"/>
                <a:cs typeface="Times New Roman"/>
              </a:defRPr>
            </a:lvl9pPr>
          </a:lstStyle>
          <a:p xmlns:a="http://schemas.openxmlformats.org/drawingml/2006/main">
            <a:pPr algn="ctr">
              <a:defRPr sz="1800" b="1">
                <a:solidFill>
                  <a:srgbClr val="FFFFFF"/>
                </a:solidFill>
                <a:latin typeface="Times New Roman"/>
                <a:ea typeface="Times New Roman"/>
                <a:cs typeface="Times New Roman"/>
              </a:defRPr>
            </a:pPr>
            <a:r>
              <a:rPr sz="1800" b="1">
                <a:solidFill>
                  <a:srgbClr val="FFFFFF"/>
                </a:solidFill>
                <a:latin typeface="Times New Roman"/>
                <a:ea typeface="Times New Roman"/>
                <a:cs typeface="Times New Roman"/>
              </a:rPr>
              <a:t>3′ UTR</a:t>
            </a:r>
          </a:p>
        </p:txBody>
      </p:sp>
      <p:sp>
        <p:nvSpPr>
          <p:cNvPr id="8" name="">
            <a:extLst xmlns:a="http://schemas.openxmlformats.org/drawingml/2006/main">
              <a:ext uri="{FF2B5EF4-FFF2-40B4-BE49-F238E27FC236}">
                <a16:creationId xmlns:a16="http://schemas.microsoft.com/office/drawing/2014/main" id="{BDE3F890-876B-4D9B-B67D-883A8B0AB578}"/>
              </a:ext>
            </a:extLst>
          </p:cNvPr>
          <p:cNvSpPr>
            <a:spLocks xmlns:a="http://schemas.openxmlformats.org/drawingml/2006/main" noGrp="1"/>
          </p:cNvSpPr>
          <p:nvPr/>
        </p:nvSpPr>
        <p:spPr>
          <a:xfrm xmlns:a="http://schemas.openxmlformats.org/drawingml/2006/main">
            <a:off x="571500" y="176212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324B"/>
                </a:solidFill>
                <a:latin typeface="Times New Roman"/>
                <a:ea typeface="Times New Roman"/>
                <a:cs typeface="Times New Roman"/>
              </a:defRPr>
            </a:defPPr>
            <a:lvl1pPr>
              <a:defRPr sz="2175" b="1">
                <a:solidFill>
                  <a:srgbClr val="14324B"/>
                </a:solidFill>
                <a:latin typeface="Times New Roman"/>
                <a:ea typeface="Times New Roman"/>
                <a:cs typeface="Times New Roman"/>
              </a:defRPr>
            </a:lvl1pPr>
            <a:lvl2pPr>
              <a:defRPr sz="2175" b="1">
                <a:solidFill>
                  <a:srgbClr val="14324B"/>
                </a:solidFill>
                <a:latin typeface="Times New Roman"/>
                <a:ea typeface="Times New Roman"/>
                <a:cs typeface="Times New Roman"/>
              </a:defRPr>
            </a:lvl2pPr>
            <a:lvl3pPr>
              <a:defRPr sz="2175" b="1">
                <a:solidFill>
                  <a:srgbClr val="14324B"/>
                </a:solidFill>
                <a:latin typeface="Times New Roman"/>
                <a:ea typeface="Times New Roman"/>
                <a:cs typeface="Times New Roman"/>
              </a:defRPr>
            </a:lvl3pPr>
            <a:lvl4pPr>
              <a:defRPr sz="2175" b="1">
                <a:solidFill>
                  <a:srgbClr val="14324B"/>
                </a:solidFill>
                <a:latin typeface="Times New Roman"/>
                <a:ea typeface="Times New Roman"/>
                <a:cs typeface="Times New Roman"/>
              </a:defRPr>
            </a:lvl4pPr>
            <a:lvl5pPr>
              <a:defRPr sz="2175" b="1">
                <a:solidFill>
                  <a:srgbClr val="14324B"/>
                </a:solidFill>
                <a:latin typeface="Times New Roman"/>
                <a:ea typeface="Times New Roman"/>
                <a:cs typeface="Times New Roman"/>
              </a:defRPr>
            </a:lvl5pPr>
            <a:lvl6pPr>
              <a:defRPr sz="2175" b="1">
                <a:solidFill>
                  <a:srgbClr val="14324B"/>
                </a:solidFill>
                <a:latin typeface="Times New Roman"/>
                <a:ea typeface="Times New Roman"/>
                <a:cs typeface="Times New Roman"/>
              </a:defRPr>
            </a:lvl6pPr>
            <a:lvl7pPr>
              <a:defRPr sz="2175" b="1">
                <a:solidFill>
                  <a:srgbClr val="14324B"/>
                </a:solidFill>
                <a:latin typeface="Times New Roman"/>
                <a:ea typeface="Times New Roman"/>
                <a:cs typeface="Times New Roman"/>
              </a:defRPr>
            </a:lvl7pPr>
            <a:lvl8pPr>
              <a:defRPr sz="2175" b="1">
                <a:solidFill>
                  <a:srgbClr val="14324B"/>
                </a:solidFill>
                <a:latin typeface="Times New Roman"/>
                <a:ea typeface="Times New Roman"/>
                <a:cs typeface="Times New Roman"/>
              </a:defRPr>
            </a:lvl8pPr>
            <a:lvl9pPr>
              <a:defRPr sz="2175" b="1">
                <a:solidFill>
                  <a:srgbClr val="14324B"/>
                </a:solidFill>
                <a:latin typeface="Times New Roman"/>
                <a:ea typeface="Times New Roman"/>
                <a:cs typeface="Times New Roman"/>
              </a:defRPr>
            </a:lvl9pPr>
          </a:lstStyle>
          <a:p xmlns:a="http://schemas.openxmlformats.org/drawingml/2006/main">
            <a:pPr>
              <a:defRPr sz="2175" b="1">
                <a:solidFill>
                  <a:srgbClr val="14324B"/>
                </a:solidFill>
                <a:latin typeface="Times New Roman"/>
                <a:ea typeface="Times New Roman"/>
                <a:cs typeface="Times New Roman"/>
              </a:defRPr>
            </a:pPr>
            <a:r>
              <a:rPr sz="2175" b="1">
                <a:solidFill>
                  <a:srgbClr val="14324B"/>
                </a:solidFill>
                <a:latin typeface="Times New Roman"/>
                <a:ea typeface="Times New Roman"/>
                <a:cs typeface="Times New Roman"/>
              </a:rPr>
              <a:t>Full transcript to each encoder</a:t>
            </a:r>
          </a:p>
        </p:txBody>
      </p:sp>
      <p:sp>
        <p:nvSpPr>
          <p:cNvPr id="9" name="">
            <a:extLst xmlns:a="http://schemas.openxmlformats.org/drawingml/2006/main">
              <a:ext uri="{FF2B5EF4-FFF2-40B4-BE49-F238E27FC236}">
                <a16:creationId xmlns:a16="http://schemas.microsoft.com/office/drawing/2014/main" id="{AC0C2B07-105C-4900-A9ED-D835A541A928}"/>
              </a:ext>
            </a:extLst>
          </p:cNvPr>
          <p:cNvSpPr>
            <a:spLocks xmlns:a="http://schemas.openxmlformats.org/drawingml/2006/main" noGrp="1"/>
          </p:cNvSpPr>
          <p:nvPr/>
        </p:nvSpPr>
        <p:spPr>
          <a:xfrm xmlns:a="http://schemas.openxmlformats.org/drawingml/2006/main">
            <a:off x="571500" y="2190750"/>
            <a:ext cx="5476875" cy="457200"/>
          </a:xfrm>
          <a:prstGeom xmlns:a="http://schemas.openxmlformats.org/drawingml/2006/main" prst="rect">
            <a:avLst/>
          </a:prstGeom>
          <a:noFill xmlns:a="http://schemas.openxmlformats.org/drawingml/2006/main"/>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6B42346-D3E4-49E6-B0EA-295742A0DC74}"/>
              </a:ext>
            </a:extLst>
          </p:cNvPr>
          <p:cNvSpPr>
            <a:spLocks xmlns:a="http://schemas.openxmlformats.org/drawingml/2006/main" noGrp="1"/>
          </p:cNvSpPr>
          <p:nvPr/>
        </p:nvSpPr>
        <p:spPr>
          <a:xfrm xmlns:a="http://schemas.openxmlformats.org/drawingml/2006/main">
            <a:off x="619125" y="3571875"/>
            <a:ext cx="2333625" cy="809625"/>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025" b="1">
                <a:solidFill>
                  <a:srgbClr val="167D77"/>
                </a:solidFill>
                <a:latin typeface="Times New Roman"/>
                <a:ea typeface="Times New Roman"/>
                <a:cs typeface="Times New Roman"/>
              </a:defRPr>
            </a:defPPr>
            <a:lvl1pPr algn="ctr">
              <a:defRPr sz="2025" b="1">
                <a:solidFill>
                  <a:srgbClr val="167D77"/>
                </a:solidFill>
                <a:latin typeface="Times New Roman"/>
                <a:ea typeface="Times New Roman"/>
                <a:cs typeface="Times New Roman"/>
              </a:defRPr>
            </a:lvl1pPr>
            <a:lvl2pPr algn="ctr">
              <a:defRPr sz="2025" b="1">
                <a:solidFill>
                  <a:srgbClr val="167D77"/>
                </a:solidFill>
                <a:latin typeface="Times New Roman"/>
                <a:ea typeface="Times New Roman"/>
                <a:cs typeface="Times New Roman"/>
              </a:defRPr>
            </a:lvl2pPr>
            <a:lvl3pPr algn="ctr">
              <a:defRPr sz="2025" b="1">
                <a:solidFill>
                  <a:srgbClr val="167D77"/>
                </a:solidFill>
                <a:latin typeface="Times New Roman"/>
                <a:ea typeface="Times New Roman"/>
                <a:cs typeface="Times New Roman"/>
              </a:defRPr>
            </a:lvl3pPr>
            <a:lvl4pPr algn="ctr">
              <a:defRPr sz="2025" b="1">
                <a:solidFill>
                  <a:srgbClr val="167D77"/>
                </a:solidFill>
                <a:latin typeface="Times New Roman"/>
                <a:ea typeface="Times New Roman"/>
                <a:cs typeface="Times New Roman"/>
              </a:defRPr>
            </a:lvl4pPr>
            <a:lvl5pPr algn="ctr">
              <a:defRPr sz="2025" b="1">
                <a:solidFill>
                  <a:srgbClr val="167D77"/>
                </a:solidFill>
                <a:latin typeface="Times New Roman"/>
                <a:ea typeface="Times New Roman"/>
                <a:cs typeface="Times New Roman"/>
              </a:defRPr>
            </a:lvl5pPr>
            <a:lvl6pPr algn="ctr">
              <a:defRPr sz="2025" b="1">
                <a:solidFill>
                  <a:srgbClr val="167D77"/>
                </a:solidFill>
                <a:latin typeface="Times New Roman"/>
                <a:ea typeface="Times New Roman"/>
                <a:cs typeface="Times New Roman"/>
              </a:defRPr>
            </a:lvl6pPr>
            <a:lvl7pPr algn="ctr">
              <a:defRPr sz="2025" b="1">
                <a:solidFill>
                  <a:srgbClr val="167D77"/>
                </a:solidFill>
                <a:latin typeface="Times New Roman"/>
                <a:ea typeface="Times New Roman"/>
                <a:cs typeface="Times New Roman"/>
              </a:defRPr>
            </a:lvl7pPr>
            <a:lvl8pPr algn="ctr">
              <a:defRPr sz="2025" b="1">
                <a:solidFill>
                  <a:srgbClr val="167D77"/>
                </a:solidFill>
                <a:latin typeface="Times New Roman"/>
                <a:ea typeface="Times New Roman"/>
                <a:cs typeface="Times New Roman"/>
              </a:defRPr>
            </a:lvl8pPr>
            <a:lvl9pPr algn="ctr">
              <a:defRPr sz="2025" b="1">
                <a:solidFill>
                  <a:srgbClr val="167D77"/>
                </a:solidFill>
                <a:latin typeface="Times New Roman"/>
                <a:ea typeface="Times New Roman"/>
                <a:cs typeface="Times New Roman"/>
              </a:defRPr>
            </a:lvl9pPr>
          </a:lstStyle>
          <a:p xmlns:a="http://schemas.openxmlformats.org/drawingml/2006/main">
            <a:pPr algn="ctr">
              <a:defRPr sz="2025" b="1">
                <a:solidFill>
                  <a:srgbClr val="167D77"/>
                </a:solidFill>
                <a:latin typeface="Times New Roman"/>
                <a:ea typeface="Times New Roman"/>
                <a:cs typeface="Times New Roman"/>
              </a:defRPr>
            </a:pPr>
            <a:r>
              <a:rPr sz="2025" b="1">
                <a:solidFill>
                  <a:srgbClr val="167D77"/>
                </a:solidFill>
                <a:latin typeface="Times New Roman"/>
                <a:ea typeface="Times New Roman"/>
                <a:cs typeface="Times New Roman"/>
              </a:rPr>
              <a:t>RNA-FM vector</a:t>
            </a:r>
          </a:p>
          <a:p xmlns:a="http://schemas.openxmlformats.org/drawingml/2006/main">
            <a:pPr algn="ctr">
              <a:defRPr sz="2025" b="1">
                <a:solidFill>
                  <a:srgbClr val="167D77"/>
                </a:solidFill>
                <a:latin typeface="Times New Roman"/>
                <a:ea typeface="Times New Roman"/>
                <a:cs typeface="Times New Roman"/>
              </a:defRPr>
            </a:pPr>
            <a:r>
              <a:rPr sz="2025" b="1">
                <a:solidFill>
                  <a:srgbClr val="167D77"/>
                </a:solidFill>
                <a:latin typeface="Times New Roman"/>
                <a:ea typeface="Times New Roman"/>
                <a:cs typeface="Times New Roman"/>
              </a:rPr>
              <a:t>RNA alphabet</a:t>
            </a:r>
          </a:p>
        </p:txBody>
      </p:sp>
      <p:sp>
        <p:nvSpPr>
          <p:cNvPr id="11" name="">
            <a:extLst xmlns:a="http://schemas.openxmlformats.org/drawingml/2006/main">
              <a:ext uri="{FF2B5EF4-FFF2-40B4-BE49-F238E27FC236}">
                <a16:creationId xmlns:a16="http://schemas.microsoft.com/office/drawing/2014/main" id="{DA6BD6FC-7B63-4A53-978C-5AAEA7A3C017}"/>
              </a:ext>
            </a:extLst>
          </p:cNvPr>
          <p:cNvSpPr>
            <a:spLocks xmlns:a="http://schemas.openxmlformats.org/drawingml/2006/main" noGrp="1"/>
          </p:cNvSpPr>
          <p:nvPr/>
        </p:nvSpPr>
        <p:spPr>
          <a:xfrm xmlns:a="http://schemas.openxmlformats.org/drawingml/2006/main">
            <a:off x="3714750" y="3571875"/>
            <a:ext cx="2333625" cy="809625"/>
          </a:xfrm>
          <a:prstGeom xmlns:a="http://schemas.openxmlformats.org/drawingml/2006/main" prst="rect">
            <a:avLst/>
          </a:prstGeom>
          <a:solidFill xmlns:a="http://schemas.openxmlformats.org/drawingml/2006/main">
            <a:srgbClr val="EAF1F8"/>
          </a:solidFill>
          <a:ln xmlns:a="http://schemas.openxmlformats.org/drawingml/2006/main" w="14288">
            <a:solidFill>
              <a:srgbClr val="326DA8"/>
            </a:solidFill>
          </a:ln>
        </p:spPr>
        <p:txBody>
          <a:bodyPr xmlns:a="http://schemas.openxmlformats.org/drawingml/2006/main" wrap="square" lIns="85725" tIns="85725" rIns="85725" bIns="85725" anchor="ctr">
            <a:noAutofit/>
          </a:bodyPr>
          <a:lstStyle xmlns:a="http://schemas.openxmlformats.org/drawingml/2006/main">
            <a:defPPr algn="ctr">
              <a:defRPr sz="2025" b="1">
                <a:solidFill>
                  <a:srgbClr val="326DA8"/>
                </a:solidFill>
                <a:latin typeface="Times New Roman"/>
                <a:ea typeface="Times New Roman"/>
                <a:cs typeface="Times New Roman"/>
              </a:defRPr>
            </a:defPPr>
            <a:lvl1pPr algn="ctr">
              <a:defRPr sz="2025" b="1">
                <a:solidFill>
                  <a:srgbClr val="326DA8"/>
                </a:solidFill>
                <a:latin typeface="Times New Roman"/>
                <a:ea typeface="Times New Roman"/>
                <a:cs typeface="Times New Roman"/>
              </a:defRPr>
            </a:lvl1pPr>
            <a:lvl2pPr algn="ctr">
              <a:defRPr sz="2025" b="1">
                <a:solidFill>
                  <a:srgbClr val="326DA8"/>
                </a:solidFill>
                <a:latin typeface="Times New Roman"/>
                <a:ea typeface="Times New Roman"/>
                <a:cs typeface="Times New Roman"/>
              </a:defRPr>
            </a:lvl2pPr>
            <a:lvl3pPr algn="ctr">
              <a:defRPr sz="2025" b="1">
                <a:solidFill>
                  <a:srgbClr val="326DA8"/>
                </a:solidFill>
                <a:latin typeface="Times New Roman"/>
                <a:ea typeface="Times New Roman"/>
                <a:cs typeface="Times New Roman"/>
              </a:defRPr>
            </a:lvl3pPr>
            <a:lvl4pPr algn="ctr">
              <a:defRPr sz="2025" b="1">
                <a:solidFill>
                  <a:srgbClr val="326DA8"/>
                </a:solidFill>
                <a:latin typeface="Times New Roman"/>
                <a:ea typeface="Times New Roman"/>
                <a:cs typeface="Times New Roman"/>
              </a:defRPr>
            </a:lvl4pPr>
            <a:lvl5pPr algn="ctr">
              <a:defRPr sz="2025" b="1">
                <a:solidFill>
                  <a:srgbClr val="326DA8"/>
                </a:solidFill>
                <a:latin typeface="Times New Roman"/>
                <a:ea typeface="Times New Roman"/>
                <a:cs typeface="Times New Roman"/>
              </a:defRPr>
            </a:lvl5pPr>
            <a:lvl6pPr algn="ctr">
              <a:defRPr sz="2025" b="1">
                <a:solidFill>
                  <a:srgbClr val="326DA8"/>
                </a:solidFill>
                <a:latin typeface="Times New Roman"/>
                <a:ea typeface="Times New Roman"/>
                <a:cs typeface="Times New Roman"/>
              </a:defRPr>
            </a:lvl6pPr>
            <a:lvl7pPr algn="ctr">
              <a:defRPr sz="2025" b="1">
                <a:solidFill>
                  <a:srgbClr val="326DA8"/>
                </a:solidFill>
                <a:latin typeface="Times New Roman"/>
                <a:ea typeface="Times New Roman"/>
                <a:cs typeface="Times New Roman"/>
              </a:defRPr>
            </a:lvl7pPr>
            <a:lvl8pPr algn="ctr">
              <a:defRPr sz="2025" b="1">
                <a:solidFill>
                  <a:srgbClr val="326DA8"/>
                </a:solidFill>
                <a:latin typeface="Times New Roman"/>
                <a:ea typeface="Times New Roman"/>
                <a:cs typeface="Times New Roman"/>
              </a:defRPr>
            </a:lvl8pPr>
            <a:lvl9pPr algn="ctr">
              <a:defRPr sz="2025" b="1">
                <a:solidFill>
                  <a:srgbClr val="326DA8"/>
                </a:solidFill>
                <a:latin typeface="Times New Roman"/>
                <a:ea typeface="Times New Roman"/>
                <a:cs typeface="Times New Roman"/>
              </a:defRPr>
            </a:lvl9pPr>
          </a:lstStyle>
          <a:p xmlns:a="http://schemas.openxmlformats.org/drawingml/2006/main">
            <a:pPr algn="ctr">
              <a:defRPr sz="2025" b="1">
                <a:solidFill>
                  <a:srgbClr val="326DA8"/>
                </a:solidFill>
                <a:latin typeface="Times New Roman"/>
                <a:ea typeface="Times New Roman"/>
                <a:cs typeface="Times New Roman"/>
              </a:defRPr>
            </a:pPr>
            <a:r>
              <a:rPr sz="2025" b="1">
                <a:solidFill>
                  <a:srgbClr val="326DA8"/>
                </a:solidFill>
                <a:latin typeface="Times New Roman"/>
                <a:ea typeface="Times New Roman"/>
                <a:cs typeface="Times New Roman"/>
              </a:rPr>
              <a:t>NT v2 vector</a:t>
            </a:r>
          </a:p>
          <a:p xmlns:a="http://schemas.openxmlformats.org/drawingml/2006/main">
            <a:pPr algn="ctr">
              <a:defRPr sz="2025" b="1">
                <a:solidFill>
                  <a:srgbClr val="326DA8"/>
                </a:solidFill>
                <a:latin typeface="Times New Roman"/>
                <a:ea typeface="Times New Roman"/>
                <a:cs typeface="Times New Roman"/>
              </a:defRPr>
            </a:pPr>
            <a:r>
              <a:rPr sz="2025" b="1">
                <a:solidFill>
                  <a:srgbClr val="326DA8"/>
                </a:solidFill>
                <a:latin typeface="Times New Roman"/>
                <a:ea typeface="Times New Roman"/>
                <a:cs typeface="Times New Roman"/>
              </a:rPr>
              <a:t>DNA alphabet</a:t>
            </a:r>
          </a:p>
        </p:txBody>
      </p:sp>
      <p:sp>
        <p:nvSpPr>
          <p:cNvPr id="14" name="">
            <a:extLst xmlns:a="http://schemas.openxmlformats.org/drawingml/2006/main">
              <a:ext uri="{FF2B5EF4-FFF2-40B4-BE49-F238E27FC236}">
                <a16:creationId xmlns:a16="http://schemas.microsoft.com/office/drawing/2014/main" id="{A4F3156E-6879-4BBA-BDCF-A8E2C966629F}"/>
              </a:ext>
            </a:extLst>
          </p:cNvPr>
          <p:cNvSpPr>
            <a:spLocks xmlns:a="http://schemas.openxmlformats.org/drawingml/2006/main" noGrp="1"/>
          </p:cNvSpPr>
          <p:nvPr/>
        </p:nvSpPr>
        <p:spPr>
          <a:xfrm xmlns:a="http://schemas.openxmlformats.org/drawingml/2006/main">
            <a:off x="7858125" y="2190750"/>
            <a:ext cx="3619500" cy="666750"/>
          </a:xfrm>
          <a:prstGeom xmlns:a="http://schemas.openxmlformats.org/drawingml/2006/main" prst="rect">
            <a:avLst/>
          </a:prstGeom>
          <a:solidFill xmlns:a="http://schemas.openxmlformats.org/drawingml/2006/main">
            <a:srgbClr val="F0EAF5"/>
          </a:solidFill>
          <a:ln xmlns:a="http://schemas.openxmlformats.org/drawingml/2006/main" w="14288">
            <a:solidFill>
              <a:srgbClr val="815897"/>
            </a:solidFill>
          </a:ln>
        </p:spPr>
        <p:txBody>
          <a:bodyPr xmlns:a="http://schemas.openxmlformats.org/drawingml/2006/main" wrap="square" lIns="85725" tIns="85725" rIns="85725" bIns="85725" anchor="ctr">
            <a:noAutofit/>
          </a:bodyPr>
          <a:lstStyle xmlns:a="http://schemas.openxmlformats.org/drawingml/2006/main">
            <a:defPPr algn="ctr">
              <a:defRPr sz="2175" b="1">
                <a:solidFill>
                  <a:srgbClr val="815897"/>
                </a:solidFill>
                <a:latin typeface="Times New Roman"/>
                <a:ea typeface="Times New Roman"/>
                <a:cs typeface="Times New Roman"/>
              </a:defRPr>
            </a:defPPr>
            <a:lvl1pPr algn="ctr">
              <a:defRPr sz="2175" b="1">
                <a:solidFill>
                  <a:srgbClr val="815897"/>
                </a:solidFill>
                <a:latin typeface="Times New Roman"/>
                <a:ea typeface="Times New Roman"/>
                <a:cs typeface="Times New Roman"/>
              </a:defRPr>
            </a:lvl1pPr>
            <a:lvl2pPr algn="ctr">
              <a:defRPr sz="2175" b="1">
                <a:solidFill>
                  <a:srgbClr val="815897"/>
                </a:solidFill>
                <a:latin typeface="Times New Roman"/>
                <a:ea typeface="Times New Roman"/>
                <a:cs typeface="Times New Roman"/>
              </a:defRPr>
            </a:lvl2pPr>
            <a:lvl3pPr algn="ctr">
              <a:defRPr sz="2175" b="1">
                <a:solidFill>
                  <a:srgbClr val="815897"/>
                </a:solidFill>
                <a:latin typeface="Times New Roman"/>
                <a:ea typeface="Times New Roman"/>
                <a:cs typeface="Times New Roman"/>
              </a:defRPr>
            </a:lvl3pPr>
            <a:lvl4pPr algn="ctr">
              <a:defRPr sz="2175" b="1">
                <a:solidFill>
                  <a:srgbClr val="815897"/>
                </a:solidFill>
                <a:latin typeface="Times New Roman"/>
                <a:ea typeface="Times New Roman"/>
                <a:cs typeface="Times New Roman"/>
              </a:defRPr>
            </a:lvl4pPr>
            <a:lvl5pPr algn="ctr">
              <a:defRPr sz="2175" b="1">
                <a:solidFill>
                  <a:srgbClr val="815897"/>
                </a:solidFill>
                <a:latin typeface="Times New Roman"/>
                <a:ea typeface="Times New Roman"/>
                <a:cs typeface="Times New Roman"/>
              </a:defRPr>
            </a:lvl5pPr>
            <a:lvl6pPr algn="ctr">
              <a:defRPr sz="2175" b="1">
                <a:solidFill>
                  <a:srgbClr val="815897"/>
                </a:solidFill>
                <a:latin typeface="Times New Roman"/>
                <a:ea typeface="Times New Roman"/>
                <a:cs typeface="Times New Roman"/>
              </a:defRPr>
            </a:lvl6pPr>
            <a:lvl7pPr algn="ctr">
              <a:defRPr sz="2175" b="1">
                <a:solidFill>
                  <a:srgbClr val="815897"/>
                </a:solidFill>
                <a:latin typeface="Times New Roman"/>
                <a:ea typeface="Times New Roman"/>
                <a:cs typeface="Times New Roman"/>
              </a:defRPr>
            </a:lvl7pPr>
            <a:lvl8pPr algn="ctr">
              <a:defRPr sz="2175" b="1">
                <a:solidFill>
                  <a:srgbClr val="815897"/>
                </a:solidFill>
                <a:latin typeface="Times New Roman"/>
                <a:ea typeface="Times New Roman"/>
                <a:cs typeface="Times New Roman"/>
              </a:defRPr>
            </a:lvl8pPr>
            <a:lvl9pPr algn="ctr">
              <a:defRPr sz="2175" b="1">
                <a:solidFill>
                  <a:srgbClr val="815897"/>
                </a:solidFill>
                <a:latin typeface="Times New Roman"/>
                <a:ea typeface="Times New Roman"/>
                <a:cs typeface="Times New Roman"/>
              </a:defRPr>
            </a:lvl9pPr>
          </a:lstStyle>
          <a:p xmlns:a="http://schemas.openxmlformats.org/drawingml/2006/main">
            <a:pPr algn="ctr">
              <a:defRPr sz="2175" b="1">
                <a:solidFill>
                  <a:srgbClr val="815897"/>
                </a:solidFill>
                <a:latin typeface="Times New Roman"/>
                <a:ea typeface="Times New Roman"/>
                <a:cs typeface="Times New Roman"/>
              </a:defRPr>
            </a:pPr>
            <a:r>
              <a:rPr sz="2175" b="1">
                <a:solidFill>
                  <a:srgbClr val="815897"/>
                </a:solidFill>
                <a:latin typeface="Times New Roman"/>
                <a:ea typeface="Times New Roman"/>
                <a:cs typeface="Times New Roman"/>
              </a:rPr>
              <a:t>Protein translated</a:t>
            </a:r>
          </a:p>
          <a:p xmlns:a="http://schemas.openxmlformats.org/drawingml/2006/main">
            <a:pPr algn="ctr">
              <a:defRPr sz="2175" b="1">
                <a:solidFill>
                  <a:srgbClr val="815897"/>
                </a:solidFill>
                <a:latin typeface="Times New Roman"/>
                <a:ea typeface="Times New Roman"/>
                <a:cs typeface="Times New Roman"/>
              </a:defRPr>
            </a:pPr>
            <a:r>
              <a:rPr sz="2175" b="1">
                <a:solidFill>
                  <a:srgbClr val="815897"/>
                </a:solidFill>
                <a:latin typeface="Times New Roman"/>
                <a:ea typeface="Times New Roman"/>
                <a:cs typeface="Times New Roman"/>
              </a:rPr>
              <a:t>from the CDS</a:t>
            </a:r>
          </a:p>
        </p:txBody>
      </p:sp>
      <p:sp>
        <p:nvSpPr>
          <p:cNvPr id="15" name="">
            <a:extLst xmlns:a="http://schemas.openxmlformats.org/drawingml/2006/main">
              <a:ext uri="{FF2B5EF4-FFF2-40B4-BE49-F238E27FC236}">
                <a16:creationId xmlns:a16="http://schemas.microsoft.com/office/drawing/2014/main" id="{76FE42CD-93CC-4699-871A-02B0E35C81DD}"/>
              </a:ext>
            </a:extLst>
          </p:cNvPr>
          <p:cNvSpPr>
            <a:spLocks xmlns:a="http://schemas.openxmlformats.org/drawingml/2006/main" noGrp="1"/>
          </p:cNvSpPr>
          <p:nvPr/>
        </p:nvSpPr>
        <p:spPr>
          <a:xfrm xmlns:a="http://schemas.openxmlformats.org/drawingml/2006/main">
            <a:off x="8143875" y="3571875"/>
            <a:ext cx="3333750" cy="809625"/>
          </a:xfrm>
          <a:prstGeom xmlns:a="http://schemas.openxmlformats.org/drawingml/2006/main" prst="rect">
            <a:avLst/>
          </a:prstGeom>
          <a:solidFill xmlns:a="http://schemas.openxmlformats.org/drawingml/2006/main">
            <a:srgbClr val="F0EAF5"/>
          </a:solidFill>
          <a:ln xmlns:a="http://schemas.openxmlformats.org/drawingml/2006/main" w="14288">
            <a:solidFill>
              <a:srgbClr val="815897"/>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815897"/>
                </a:solidFill>
                <a:latin typeface="Times New Roman"/>
                <a:ea typeface="Times New Roman"/>
                <a:cs typeface="Times New Roman"/>
              </a:defRPr>
            </a:defPPr>
            <a:lvl1pPr algn="ctr">
              <a:defRPr sz="2100" b="1">
                <a:solidFill>
                  <a:srgbClr val="815897"/>
                </a:solidFill>
                <a:latin typeface="Times New Roman"/>
                <a:ea typeface="Times New Roman"/>
                <a:cs typeface="Times New Roman"/>
              </a:defRPr>
            </a:lvl1pPr>
            <a:lvl2pPr algn="ctr">
              <a:defRPr sz="2100" b="1">
                <a:solidFill>
                  <a:srgbClr val="815897"/>
                </a:solidFill>
                <a:latin typeface="Times New Roman"/>
                <a:ea typeface="Times New Roman"/>
                <a:cs typeface="Times New Roman"/>
              </a:defRPr>
            </a:lvl2pPr>
            <a:lvl3pPr algn="ctr">
              <a:defRPr sz="2100" b="1">
                <a:solidFill>
                  <a:srgbClr val="815897"/>
                </a:solidFill>
                <a:latin typeface="Times New Roman"/>
                <a:ea typeface="Times New Roman"/>
                <a:cs typeface="Times New Roman"/>
              </a:defRPr>
            </a:lvl3pPr>
            <a:lvl4pPr algn="ctr">
              <a:defRPr sz="2100" b="1">
                <a:solidFill>
                  <a:srgbClr val="815897"/>
                </a:solidFill>
                <a:latin typeface="Times New Roman"/>
                <a:ea typeface="Times New Roman"/>
                <a:cs typeface="Times New Roman"/>
              </a:defRPr>
            </a:lvl4pPr>
            <a:lvl5pPr algn="ctr">
              <a:defRPr sz="2100" b="1">
                <a:solidFill>
                  <a:srgbClr val="815897"/>
                </a:solidFill>
                <a:latin typeface="Times New Roman"/>
                <a:ea typeface="Times New Roman"/>
                <a:cs typeface="Times New Roman"/>
              </a:defRPr>
            </a:lvl5pPr>
            <a:lvl6pPr algn="ctr">
              <a:defRPr sz="2100" b="1">
                <a:solidFill>
                  <a:srgbClr val="815897"/>
                </a:solidFill>
                <a:latin typeface="Times New Roman"/>
                <a:ea typeface="Times New Roman"/>
                <a:cs typeface="Times New Roman"/>
              </a:defRPr>
            </a:lvl6pPr>
            <a:lvl7pPr algn="ctr">
              <a:defRPr sz="2100" b="1">
                <a:solidFill>
                  <a:srgbClr val="815897"/>
                </a:solidFill>
                <a:latin typeface="Times New Roman"/>
                <a:ea typeface="Times New Roman"/>
                <a:cs typeface="Times New Roman"/>
              </a:defRPr>
            </a:lvl7pPr>
            <a:lvl8pPr algn="ctr">
              <a:defRPr sz="2100" b="1">
                <a:solidFill>
                  <a:srgbClr val="815897"/>
                </a:solidFill>
                <a:latin typeface="Times New Roman"/>
                <a:ea typeface="Times New Roman"/>
                <a:cs typeface="Times New Roman"/>
              </a:defRPr>
            </a:lvl8pPr>
            <a:lvl9pPr algn="ctr">
              <a:defRPr sz="2100" b="1">
                <a:solidFill>
                  <a:srgbClr val="815897"/>
                </a:solidFill>
                <a:latin typeface="Times New Roman"/>
                <a:ea typeface="Times New Roman"/>
                <a:cs typeface="Times New Roman"/>
              </a:defRPr>
            </a:lvl9pPr>
          </a:lstStyle>
          <a:p xmlns:a="http://schemas.openxmlformats.org/drawingml/2006/main">
            <a:pPr algn="ctr">
              <a:defRPr sz="2100" b="1">
                <a:solidFill>
                  <a:srgbClr val="815897"/>
                </a:solidFill>
                <a:latin typeface="Times New Roman"/>
                <a:ea typeface="Times New Roman"/>
                <a:cs typeface="Times New Roman"/>
              </a:defRPr>
            </a:pPr>
            <a:r>
              <a:rPr sz="2100" b="1">
                <a:solidFill>
                  <a:srgbClr val="815897"/>
                </a:solidFill>
                <a:latin typeface="Times New Roman"/>
                <a:ea typeface="Times New Roman"/>
                <a:cs typeface="Times New Roman"/>
              </a:rPr>
              <a:t>ESM-2 8M vector</a:t>
            </a:r>
          </a:p>
        </p:txBody>
      </p:sp>
      <p:sp>
        <p:nvSpPr>
          <p:cNvPr id="17" name="">
            <a:extLst xmlns:a="http://schemas.openxmlformats.org/drawingml/2006/main">
              <a:ext uri="{FF2B5EF4-FFF2-40B4-BE49-F238E27FC236}">
                <a16:creationId xmlns:a16="http://schemas.microsoft.com/office/drawing/2014/main" id="{9CF95EC3-739D-476B-A0BB-AB2157454E8C}"/>
              </a:ext>
            </a:extLst>
          </p:cNvPr>
          <p:cNvSpPr>
            <a:spLocks xmlns:a="http://schemas.openxmlformats.org/drawingml/2006/main" noGrp="1"/>
          </p:cNvSpPr>
          <p:nvPr/>
        </p:nvSpPr>
        <p:spPr>
          <a:xfrm xmlns:a="http://schemas.openxmlformats.org/drawingml/2006/main">
            <a:off x="4000500" y="5095875"/>
            <a:ext cx="5476875" cy="619125"/>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14324B"/>
                </a:solidFill>
                <a:latin typeface="Times New Roman"/>
                <a:ea typeface="Times New Roman"/>
                <a:cs typeface="Times New Roman"/>
              </a:defRPr>
            </a:defPPr>
            <a:lvl1pPr algn="ctr">
              <a:defRPr sz="2100" b="1">
                <a:solidFill>
                  <a:srgbClr val="14324B"/>
                </a:solidFill>
                <a:latin typeface="Times New Roman"/>
                <a:ea typeface="Times New Roman"/>
                <a:cs typeface="Times New Roman"/>
              </a:defRPr>
            </a:lvl1pPr>
            <a:lvl2pPr algn="ctr">
              <a:defRPr sz="2100" b="1">
                <a:solidFill>
                  <a:srgbClr val="14324B"/>
                </a:solidFill>
                <a:latin typeface="Times New Roman"/>
                <a:ea typeface="Times New Roman"/>
                <a:cs typeface="Times New Roman"/>
              </a:defRPr>
            </a:lvl2pPr>
            <a:lvl3pPr algn="ctr">
              <a:defRPr sz="2100" b="1">
                <a:solidFill>
                  <a:srgbClr val="14324B"/>
                </a:solidFill>
                <a:latin typeface="Times New Roman"/>
                <a:ea typeface="Times New Roman"/>
                <a:cs typeface="Times New Roman"/>
              </a:defRPr>
            </a:lvl3pPr>
            <a:lvl4pPr algn="ctr">
              <a:defRPr sz="2100" b="1">
                <a:solidFill>
                  <a:srgbClr val="14324B"/>
                </a:solidFill>
                <a:latin typeface="Times New Roman"/>
                <a:ea typeface="Times New Roman"/>
                <a:cs typeface="Times New Roman"/>
              </a:defRPr>
            </a:lvl4pPr>
            <a:lvl5pPr algn="ctr">
              <a:defRPr sz="2100" b="1">
                <a:solidFill>
                  <a:srgbClr val="14324B"/>
                </a:solidFill>
                <a:latin typeface="Times New Roman"/>
                <a:ea typeface="Times New Roman"/>
                <a:cs typeface="Times New Roman"/>
              </a:defRPr>
            </a:lvl5pPr>
            <a:lvl6pPr algn="ctr">
              <a:defRPr sz="2100" b="1">
                <a:solidFill>
                  <a:srgbClr val="14324B"/>
                </a:solidFill>
                <a:latin typeface="Times New Roman"/>
                <a:ea typeface="Times New Roman"/>
                <a:cs typeface="Times New Roman"/>
              </a:defRPr>
            </a:lvl6pPr>
            <a:lvl7pPr algn="ctr">
              <a:defRPr sz="2100" b="1">
                <a:solidFill>
                  <a:srgbClr val="14324B"/>
                </a:solidFill>
                <a:latin typeface="Times New Roman"/>
                <a:ea typeface="Times New Roman"/>
                <a:cs typeface="Times New Roman"/>
              </a:defRPr>
            </a:lvl7pPr>
            <a:lvl8pPr algn="ctr">
              <a:defRPr sz="2100" b="1">
                <a:solidFill>
                  <a:srgbClr val="14324B"/>
                </a:solidFill>
                <a:latin typeface="Times New Roman"/>
                <a:ea typeface="Times New Roman"/>
                <a:cs typeface="Times New Roman"/>
              </a:defRPr>
            </a:lvl8pPr>
            <a:lvl9pPr algn="ctr">
              <a:defRPr sz="2100" b="1">
                <a:solidFill>
                  <a:srgbClr val="14324B"/>
                </a:solidFill>
                <a:latin typeface="Times New Roman"/>
                <a:ea typeface="Times New Roman"/>
                <a:cs typeface="Times New Roman"/>
              </a:defRPr>
            </a:lvl9pPr>
          </a:lstStyle>
          <a:p xmlns:a="http://schemas.openxmlformats.org/drawingml/2006/main">
            <a:pPr algn="ctr">
              <a:defRPr sz="2100" b="1">
                <a:solidFill>
                  <a:srgbClr val="14324B"/>
                </a:solidFill>
                <a:latin typeface="Times New Roman"/>
                <a:ea typeface="Times New Roman"/>
                <a:cs typeface="Times New Roman"/>
              </a:defRPr>
            </a:pPr>
            <a:r>
              <a:rPr sz="2100" b="1">
                <a:solidFill>
                  <a:srgbClr val="14324B"/>
                </a:solidFill>
                <a:latin typeface="Times New Roman"/>
                <a:ea typeface="Times New Roman"/>
                <a:cs typeface="Times New Roman"/>
              </a:rPr>
              <a:t>Concatenate pooled vectors, fit ridge</a:t>
            </a:r>
          </a:p>
        </p:txBody>
      </p:sp>
      <p:sp>
        <p:nvSpPr>
          <p:cNvPr id="21" name="">
            <a:extLst xmlns:a="http://schemas.openxmlformats.org/drawingml/2006/main">
              <a:ext uri="{FF2B5EF4-FFF2-40B4-BE49-F238E27FC236}">
                <a16:creationId xmlns:a16="http://schemas.microsoft.com/office/drawing/2014/main" id="{5D7EA1DC-CA18-48FB-A502-460C5EDF95BD}"/>
              </a:ext>
            </a:extLst>
          </p:cNvPr>
          <p:cNvSpPr>
            <a:spLocks xmlns:a="http://schemas.openxmlformats.org/drawingml/2006/main" noGrp="1"/>
          </p:cNvSpPr>
          <p:nvPr/>
        </p:nvSpPr>
        <p:spPr>
          <a:xfrm xmlns:a="http://schemas.openxmlformats.org/drawingml/2006/main">
            <a:off x="6191250" y="4419600"/>
            <a:ext cx="2714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326DA8"/>
                </a:solidFill>
                <a:latin typeface="Times New Roman"/>
                <a:ea typeface="Times New Roman"/>
                <a:cs typeface="Times New Roman"/>
              </a:defRPr>
            </a:defPPr>
            <a:lvl1pPr>
              <a:defRPr sz="1650">
                <a:solidFill>
                  <a:srgbClr val="326DA8"/>
                </a:solidFill>
                <a:latin typeface="Times New Roman"/>
                <a:ea typeface="Times New Roman"/>
                <a:cs typeface="Times New Roman"/>
              </a:defRPr>
            </a:lvl1pPr>
            <a:lvl2pPr>
              <a:defRPr sz="1650">
                <a:solidFill>
                  <a:srgbClr val="326DA8"/>
                </a:solidFill>
                <a:latin typeface="Times New Roman"/>
                <a:ea typeface="Times New Roman"/>
                <a:cs typeface="Times New Roman"/>
              </a:defRPr>
            </a:lvl2pPr>
            <a:lvl3pPr>
              <a:defRPr sz="1650">
                <a:solidFill>
                  <a:srgbClr val="326DA8"/>
                </a:solidFill>
                <a:latin typeface="Times New Roman"/>
                <a:ea typeface="Times New Roman"/>
                <a:cs typeface="Times New Roman"/>
              </a:defRPr>
            </a:lvl3pPr>
            <a:lvl4pPr>
              <a:defRPr sz="1650">
                <a:solidFill>
                  <a:srgbClr val="326DA8"/>
                </a:solidFill>
                <a:latin typeface="Times New Roman"/>
                <a:ea typeface="Times New Roman"/>
                <a:cs typeface="Times New Roman"/>
              </a:defRPr>
            </a:lvl4pPr>
            <a:lvl5pPr>
              <a:defRPr sz="1650">
                <a:solidFill>
                  <a:srgbClr val="326DA8"/>
                </a:solidFill>
                <a:latin typeface="Times New Roman"/>
                <a:ea typeface="Times New Roman"/>
                <a:cs typeface="Times New Roman"/>
              </a:defRPr>
            </a:lvl5pPr>
            <a:lvl6pPr>
              <a:defRPr sz="1650">
                <a:solidFill>
                  <a:srgbClr val="326DA8"/>
                </a:solidFill>
                <a:latin typeface="Times New Roman"/>
                <a:ea typeface="Times New Roman"/>
                <a:cs typeface="Times New Roman"/>
              </a:defRPr>
            </a:lvl6pPr>
            <a:lvl7pPr>
              <a:defRPr sz="1650">
                <a:solidFill>
                  <a:srgbClr val="326DA8"/>
                </a:solidFill>
                <a:latin typeface="Times New Roman"/>
                <a:ea typeface="Times New Roman"/>
                <a:cs typeface="Times New Roman"/>
              </a:defRPr>
            </a:lvl7pPr>
            <a:lvl8pPr>
              <a:defRPr sz="1650">
                <a:solidFill>
                  <a:srgbClr val="326DA8"/>
                </a:solidFill>
                <a:latin typeface="Times New Roman"/>
                <a:ea typeface="Times New Roman"/>
                <a:cs typeface="Times New Roman"/>
              </a:defRPr>
            </a:lvl8pPr>
            <a:lvl9pPr>
              <a:defRPr sz="1650">
                <a:solidFill>
                  <a:srgbClr val="326DA8"/>
                </a:solidFill>
                <a:latin typeface="Times New Roman"/>
                <a:ea typeface="Times New Roman"/>
                <a:cs typeface="Times New Roman"/>
              </a:defRPr>
            </a:lvl9pPr>
          </a:lstStyle>
          <a:p xmlns:a="http://schemas.openxmlformats.org/drawingml/2006/main">
            <a:pPr>
              <a:defRPr sz="1650">
                <a:solidFill>
                  <a:srgbClr val="326DA8"/>
                </a:solidFill>
                <a:latin typeface="Times New Roman"/>
                <a:ea typeface="Times New Roman"/>
                <a:cs typeface="Times New Roman"/>
              </a:defRPr>
            </a:pPr>
            <a:r>
              <a:rPr sz="1650">
                <a:solidFill>
                  <a:srgbClr val="326DA8"/>
                </a:solidFill>
                <a:latin typeface="Times New Roman"/>
                <a:ea typeface="Times New Roman"/>
                <a:cs typeface="Times New Roman"/>
              </a:rPr>
              <a:t>Optional third vector</a:t>
            </a:r>
          </a:p>
        </p:txBody>
      </p:sp>
      <p:sp>
        <p:nvSpPr>
          <p:cNvPr id="22" name="">
            <a:extLst xmlns:a="http://schemas.openxmlformats.org/drawingml/2006/main">
              <a:ext uri="{FF2B5EF4-FFF2-40B4-BE49-F238E27FC236}">
                <a16:creationId xmlns:a16="http://schemas.microsoft.com/office/drawing/2014/main" id="{4E1597C9-B65A-4AE5-9603-49701F66C5D6}"/>
              </a:ext>
            </a:extLst>
          </p:cNvPr>
          <p:cNvSpPr>
            <a:spLocks xmlns:a="http://schemas.openxmlformats.org/drawingml/2006/main" noGrp="1"/>
          </p:cNvSpPr>
          <p:nvPr/>
        </p:nvSpPr>
        <p:spPr>
          <a:xfrm xmlns:a="http://schemas.openxmlformats.org/drawingml/2006/main">
            <a:off x="523875" y="58102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4324B"/>
                </a:solidFill>
                <a:latin typeface="Times New Roman"/>
                <a:ea typeface="Times New Roman"/>
                <a:cs typeface="Times New Roman"/>
              </a:defRPr>
            </a:defPPr>
            <a:lvl1pPr>
              <a:defRPr sz="1950">
                <a:solidFill>
                  <a:srgbClr val="14324B"/>
                </a:solidFill>
                <a:latin typeface="Times New Roman"/>
                <a:ea typeface="Times New Roman"/>
                <a:cs typeface="Times New Roman"/>
              </a:defRPr>
            </a:lvl1pPr>
            <a:lvl2pPr>
              <a:defRPr sz="1950">
                <a:solidFill>
                  <a:srgbClr val="14324B"/>
                </a:solidFill>
                <a:latin typeface="Times New Roman"/>
                <a:ea typeface="Times New Roman"/>
                <a:cs typeface="Times New Roman"/>
              </a:defRPr>
            </a:lvl2pPr>
            <a:lvl3pPr>
              <a:defRPr sz="1950">
                <a:solidFill>
                  <a:srgbClr val="14324B"/>
                </a:solidFill>
                <a:latin typeface="Times New Roman"/>
                <a:ea typeface="Times New Roman"/>
                <a:cs typeface="Times New Roman"/>
              </a:defRPr>
            </a:lvl3pPr>
            <a:lvl4pPr>
              <a:defRPr sz="1950">
                <a:solidFill>
                  <a:srgbClr val="14324B"/>
                </a:solidFill>
                <a:latin typeface="Times New Roman"/>
                <a:ea typeface="Times New Roman"/>
                <a:cs typeface="Times New Roman"/>
              </a:defRPr>
            </a:lvl4pPr>
            <a:lvl5pPr>
              <a:defRPr sz="1950">
                <a:solidFill>
                  <a:srgbClr val="14324B"/>
                </a:solidFill>
                <a:latin typeface="Times New Roman"/>
                <a:ea typeface="Times New Roman"/>
                <a:cs typeface="Times New Roman"/>
              </a:defRPr>
            </a:lvl5pPr>
            <a:lvl6pPr>
              <a:defRPr sz="1950">
                <a:solidFill>
                  <a:srgbClr val="14324B"/>
                </a:solidFill>
                <a:latin typeface="Times New Roman"/>
                <a:ea typeface="Times New Roman"/>
                <a:cs typeface="Times New Roman"/>
              </a:defRPr>
            </a:lvl6pPr>
            <a:lvl7pPr>
              <a:defRPr sz="1950">
                <a:solidFill>
                  <a:srgbClr val="14324B"/>
                </a:solidFill>
                <a:latin typeface="Times New Roman"/>
                <a:ea typeface="Times New Roman"/>
                <a:cs typeface="Times New Roman"/>
              </a:defRPr>
            </a:lvl7pPr>
            <a:lvl8pPr>
              <a:defRPr sz="1950">
                <a:solidFill>
                  <a:srgbClr val="14324B"/>
                </a:solidFill>
                <a:latin typeface="Times New Roman"/>
                <a:ea typeface="Times New Roman"/>
                <a:cs typeface="Times New Roman"/>
              </a:defRPr>
            </a:lvl8pPr>
            <a:lvl9pPr>
              <a:defRPr sz="1950">
                <a:solidFill>
                  <a:srgbClr val="14324B"/>
                </a:solidFill>
                <a:latin typeface="Times New Roman"/>
                <a:ea typeface="Times New Roman"/>
                <a:cs typeface="Times New Roman"/>
              </a:defRPr>
            </a:lvl9pPr>
          </a:lstStyle>
          <a:p xmlns:a="http://schemas.openxmlformats.org/drawingml/2006/main">
            <a:pPr>
              <a:defRPr sz="1950">
                <a:solidFill>
                  <a:srgbClr val="14324B"/>
                </a:solidFill>
                <a:latin typeface="Times New Roman"/>
                <a:ea typeface="Times New Roman"/>
                <a:cs typeface="Times New Roman"/>
              </a:defRPr>
            </a:pPr>
            <a:r>
              <a:rPr sz="1950">
                <a:solidFill>
                  <a:srgbClr val="14324B"/>
                </a:solidFill>
                <a:latin typeface="Times New Roman"/>
                <a:ea typeface="Times New Roman"/>
                <a:cs typeface="Times New Roman"/>
              </a:rPr>
              <a:t>NT sees the same transcript in DNA letters, without genomic flanks.</a:t>
            </a:r>
          </a:p>
        </p:txBody>
      </p:sp>
      <p:sp>
        <p:nvSpPr>
          <p:cNvPr id="23" name="">
            <a:extLst xmlns:a="http://schemas.openxmlformats.org/drawingml/2006/main">
              <a:ext uri="{FF2B5EF4-FFF2-40B4-BE49-F238E27FC236}">
                <a16:creationId xmlns:a16="http://schemas.microsoft.com/office/drawing/2014/main" id="{E74A51EE-EC99-4D9B-8785-41AC3B04C52F}"/>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Solid paths show RNA-FM + protein. Dashed path adds NT. Separate windows are pooled; the encoders do not model interactions across windows.</a:t>
            </a:r>
          </a:p>
        </p:txBody>
      </p:sp>
    </p:spTree>
    <p:extLst>
      <p:ext uri="{BB962C8B-B14F-4D97-AF65-F5344CB8AC3E}">
        <p14:creationId xmlns:p14="http://schemas.microsoft.com/office/powerpoint/2010/main" val="61219994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8AC659-DB97-4D1C-9F60-694B516C6D05}"/>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FC178D-8E52-4511-8B62-F1A95C7B3134}"/>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RNA plus protein raises both mean prediction scores</a:t>
            </a:r>
          </a:p>
        </p:txBody>
      </p:sp>
      <p:sp>
        <p:nvSpPr>
          <p:cNvPr id="3" name="">
            <a:extLst xmlns:a="http://schemas.openxmlformats.org/drawingml/2006/main">
              <a:ext uri="{FF2B5EF4-FFF2-40B4-BE49-F238E27FC236}">
                <a16:creationId xmlns:a16="http://schemas.microsoft.com/office/drawing/2014/main" id="{8375A9D2-C498-460D-9209-584DEF194818}"/>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Nine gene-grouped split assignments for each human task, with ridge on frozen representations.</a:t>
            </a:r>
          </a:p>
        </p:txBody>
      </p:sp>
      <p:sp>
        <p:nvSpPr>
          <p:cNvPr id="4" name="">
            <a:extLst xmlns:a="http://schemas.openxmlformats.org/drawingml/2006/main">
              <a:ext uri="{FF2B5EF4-FFF2-40B4-BE49-F238E27FC236}">
                <a16:creationId xmlns:a16="http://schemas.microsoft.com/office/drawing/2014/main" id="{BC4F45B3-25FB-426E-AB57-54FD0437879D}"/>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18</a:t>
            </a:r>
          </a:p>
        </p:txBody>
      </p:sp>
      <p:graphicFrame>
        <p:nvGraphicFramePr>
          <p:cNvPr id="5" name="Chart">
            <a:extLst xmlns:a="http://schemas.openxmlformats.org/drawingml/2006/main">
              <a:ext uri="{FF2B5EF4-FFF2-40B4-BE49-F238E27FC236}">
                <a16:creationId xmlns:a16="http://schemas.microsoft.com/office/drawing/2014/main" id="{0FEB86DC-C5DC-44C4-8D79-C35482D920DA}"/>
              </a:ext>
            </a:extLst>
          </p:cNvPr>
          <p:cNvGraphicFramePr/>
          <p:nvPr/>
        </p:nvGraphicFramePr>
        <p:xfrm>
          <a:off xmlns:a="http://schemas.openxmlformats.org/drawingml/2006/main" x="428625" y="2047875"/>
          <a:ext xmlns:a="http://schemas.openxmlformats.org/drawingml/2006/main" cx="11239500" cy="3333750"/>
        </p:xfrm>
        <a:graphic xmlns:a="http://schemas.openxmlformats.org/drawingml/2006/main">
          <a:graphicData uri="http://schemas.openxmlformats.org/drawingml/2006/chart">
            <c:chart xmlns:r="http://schemas.openxmlformats.org/officeDocument/2006/relationships" xmlns:c="http://schemas.openxmlformats.org/drawingml/2006/chart" r:id="Rb500777f7c414d1b"/>
          </a:graphicData>
        </a:graphic>
      </p:graphicFrame>
      <p:sp>
        <p:nvSpPr>
          <p:cNvPr id="6" name="">
            <a:extLst xmlns:a="http://schemas.openxmlformats.org/drawingml/2006/main">
              <a:ext uri="{FF2B5EF4-FFF2-40B4-BE49-F238E27FC236}">
                <a16:creationId xmlns:a16="http://schemas.microsoft.com/office/drawing/2014/main" id="{DF46B8C8-B7C1-496D-A211-99F0C36DAF0C}"/>
              </a:ext>
            </a:extLst>
          </p:cNvPr>
          <p:cNvSpPr>
            <a:spLocks xmlns:a="http://schemas.openxmlformats.org/drawingml/2006/main" noGrp="1"/>
          </p:cNvSpPr>
          <p:nvPr/>
        </p:nvSpPr>
        <p:spPr>
          <a:xfrm xmlns:a="http://schemas.openxmlformats.org/drawingml/2006/main">
            <a:off x="619125" y="55721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26DA8"/>
                </a:solidFill>
                <a:latin typeface="Times New Roman"/>
                <a:ea typeface="Times New Roman"/>
                <a:cs typeface="Times New Roman"/>
              </a:defRPr>
            </a:defPPr>
            <a:lvl1pPr>
              <a:defRPr sz="2175" b="1">
                <a:solidFill>
                  <a:srgbClr val="326DA8"/>
                </a:solidFill>
                <a:latin typeface="Times New Roman"/>
                <a:ea typeface="Times New Roman"/>
                <a:cs typeface="Times New Roman"/>
              </a:defRPr>
            </a:lvl1pPr>
            <a:lvl2pPr>
              <a:defRPr sz="2175" b="1">
                <a:solidFill>
                  <a:srgbClr val="326DA8"/>
                </a:solidFill>
                <a:latin typeface="Times New Roman"/>
                <a:ea typeface="Times New Roman"/>
                <a:cs typeface="Times New Roman"/>
              </a:defRPr>
            </a:lvl2pPr>
            <a:lvl3pPr>
              <a:defRPr sz="2175" b="1">
                <a:solidFill>
                  <a:srgbClr val="326DA8"/>
                </a:solidFill>
                <a:latin typeface="Times New Roman"/>
                <a:ea typeface="Times New Roman"/>
                <a:cs typeface="Times New Roman"/>
              </a:defRPr>
            </a:lvl3pPr>
            <a:lvl4pPr>
              <a:defRPr sz="2175" b="1">
                <a:solidFill>
                  <a:srgbClr val="326DA8"/>
                </a:solidFill>
                <a:latin typeface="Times New Roman"/>
                <a:ea typeface="Times New Roman"/>
                <a:cs typeface="Times New Roman"/>
              </a:defRPr>
            </a:lvl4pPr>
            <a:lvl5pPr>
              <a:defRPr sz="2175" b="1">
                <a:solidFill>
                  <a:srgbClr val="326DA8"/>
                </a:solidFill>
                <a:latin typeface="Times New Roman"/>
                <a:ea typeface="Times New Roman"/>
                <a:cs typeface="Times New Roman"/>
              </a:defRPr>
            </a:lvl5pPr>
            <a:lvl6pPr>
              <a:defRPr sz="2175" b="1">
                <a:solidFill>
                  <a:srgbClr val="326DA8"/>
                </a:solidFill>
                <a:latin typeface="Times New Roman"/>
                <a:ea typeface="Times New Roman"/>
                <a:cs typeface="Times New Roman"/>
              </a:defRPr>
            </a:lvl6pPr>
            <a:lvl7pPr>
              <a:defRPr sz="2175" b="1">
                <a:solidFill>
                  <a:srgbClr val="326DA8"/>
                </a:solidFill>
                <a:latin typeface="Times New Roman"/>
                <a:ea typeface="Times New Roman"/>
                <a:cs typeface="Times New Roman"/>
              </a:defRPr>
            </a:lvl7pPr>
            <a:lvl8pPr>
              <a:defRPr sz="2175" b="1">
                <a:solidFill>
                  <a:srgbClr val="326DA8"/>
                </a:solidFill>
                <a:latin typeface="Times New Roman"/>
                <a:ea typeface="Times New Roman"/>
                <a:cs typeface="Times New Roman"/>
              </a:defRPr>
            </a:lvl8pPr>
            <a:lvl9pPr>
              <a:defRPr sz="2175" b="1">
                <a:solidFill>
                  <a:srgbClr val="326DA8"/>
                </a:solidFill>
                <a:latin typeface="Times New Roman"/>
                <a:ea typeface="Times New Roman"/>
                <a:cs typeface="Times New Roman"/>
              </a:defRPr>
            </a:lvl9pPr>
          </a:lstStyle>
          <a:p xmlns:a="http://schemas.openxmlformats.org/drawingml/2006/main">
            <a:pPr>
              <a:defRPr sz="2175" b="1">
                <a:solidFill>
                  <a:srgbClr val="326DA8"/>
                </a:solidFill>
                <a:latin typeface="Times New Roman"/>
                <a:ea typeface="Times New Roman"/>
                <a:cs typeface="Times New Roman"/>
              </a:defRPr>
            </a:pPr>
            <a:r>
              <a:rPr sz="2175" b="1">
                <a:solidFill>
                  <a:srgbClr val="326DA8"/>
                </a:solidFill>
                <a:latin typeface="Times New Roman"/>
                <a:ea typeface="Times New Roman"/>
                <a:cs typeface="Times New Roman"/>
              </a:rPr>
              <a:t>Half-life gain: +0.053</a:t>
            </a:r>
          </a:p>
        </p:txBody>
      </p:sp>
      <p:sp>
        <p:nvSpPr>
          <p:cNvPr id="7" name="">
            <a:extLst xmlns:a="http://schemas.openxmlformats.org/drawingml/2006/main">
              <a:ext uri="{FF2B5EF4-FFF2-40B4-BE49-F238E27FC236}">
                <a16:creationId xmlns:a16="http://schemas.microsoft.com/office/drawing/2014/main" id="{8201C3A4-EC4F-4C59-8946-EEF49BE42637}"/>
              </a:ext>
            </a:extLst>
          </p:cNvPr>
          <p:cNvSpPr>
            <a:spLocks xmlns:a="http://schemas.openxmlformats.org/drawingml/2006/main" noGrp="1"/>
          </p:cNvSpPr>
          <p:nvPr/>
        </p:nvSpPr>
        <p:spPr>
          <a:xfrm xmlns:a="http://schemas.openxmlformats.org/drawingml/2006/main">
            <a:off x="6667500" y="55721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7D77"/>
                </a:solidFill>
                <a:latin typeface="Times New Roman"/>
                <a:ea typeface="Times New Roman"/>
                <a:cs typeface="Times New Roman"/>
              </a:defRPr>
            </a:defPPr>
            <a:lvl1pPr>
              <a:defRPr sz="2175" b="1">
                <a:solidFill>
                  <a:srgbClr val="167D77"/>
                </a:solidFill>
                <a:latin typeface="Times New Roman"/>
                <a:ea typeface="Times New Roman"/>
                <a:cs typeface="Times New Roman"/>
              </a:defRPr>
            </a:lvl1pPr>
            <a:lvl2pPr>
              <a:defRPr sz="2175" b="1">
                <a:solidFill>
                  <a:srgbClr val="167D77"/>
                </a:solidFill>
                <a:latin typeface="Times New Roman"/>
                <a:ea typeface="Times New Roman"/>
                <a:cs typeface="Times New Roman"/>
              </a:defRPr>
            </a:lvl2pPr>
            <a:lvl3pPr>
              <a:defRPr sz="2175" b="1">
                <a:solidFill>
                  <a:srgbClr val="167D77"/>
                </a:solidFill>
                <a:latin typeface="Times New Roman"/>
                <a:ea typeface="Times New Roman"/>
                <a:cs typeface="Times New Roman"/>
              </a:defRPr>
            </a:lvl3pPr>
            <a:lvl4pPr>
              <a:defRPr sz="2175" b="1">
                <a:solidFill>
                  <a:srgbClr val="167D77"/>
                </a:solidFill>
                <a:latin typeface="Times New Roman"/>
                <a:ea typeface="Times New Roman"/>
                <a:cs typeface="Times New Roman"/>
              </a:defRPr>
            </a:lvl4pPr>
            <a:lvl5pPr>
              <a:defRPr sz="2175" b="1">
                <a:solidFill>
                  <a:srgbClr val="167D77"/>
                </a:solidFill>
                <a:latin typeface="Times New Roman"/>
                <a:ea typeface="Times New Roman"/>
                <a:cs typeface="Times New Roman"/>
              </a:defRPr>
            </a:lvl5pPr>
            <a:lvl6pPr>
              <a:defRPr sz="2175" b="1">
                <a:solidFill>
                  <a:srgbClr val="167D77"/>
                </a:solidFill>
                <a:latin typeface="Times New Roman"/>
                <a:ea typeface="Times New Roman"/>
                <a:cs typeface="Times New Roman"/>
              </a:defRPr>
            </a:lvl6pPr>
            <a:lvl7pPr>
              <a:defRPr sz="2175" b="1">
                <a:solidFill>
                  <a:srgbClr val="167D77"/>
                </a:solidFill>
                <a:latin typeface="Times New Roman"/>
                <a:ea typeface="Times New Roman"/>
                <a:cs typeface="Times New Roman"/>
              </a:defRPr>
            </a:lvl7pPr>
            <a:lvl8pPr>
              <a:defRPr sz="2175" b="1">
                <a:solidFill>
                  <a:srgbClr val="167D77"/>
                </a:solidFill>
                <a:latin typeface="Times New Roman"/>
                <a:ea typeface="Times New Roman"/>
                <a:cs typeface="Times New Roman"/>
              </a:defRPr>
            </a:lvl8pPr>
            <a:lvl9pPr>
              <a:defRPr sz="2175" b="1">
                <a:solidFill>
                  <a:srgbClr val="167D77"/>
                </a:solidFill>
                <a:latin typeface="Times New Roman"/>
                <a:ea typeface="Times New Roman"/>
                <a:cs typeface="Times New Roman"/>
              </a:defRPr>
            </a:lvl9pPr>
          </a:lstStyle>
          <a:p xmlns:a="http://schemas.openxmlformats.org/drawingml/2006/main">
            <a:pPr>
              <a:defRPr sz="2175" b="1">
                <a:solidFill>
                  <a:srgbClr val="167D77"/>
                </a:solidFill>
                <a:latin typeface="Times New Roman"/>
                <a:ea typeface="Times New Roman"/>
                <a:cs typeface="Times New Roman"/>
              </a:defRPr>
            </a:pPr>
            <a:r>
              <a:rPr sz="2175" b="1">
                <a:solidFill>
                  <a:srgbClr val="167D77"/>
                </a:solidFill>
                <a:latin typeface="Times New Roman"/>
                <a:ea typeface="Times New Roman"/>
                <a:cs typeface="Times New Roman"/>
              </a:rPr>
              <a:t>Translation-efficiency gain: +0.030</a:t>
            </a:r>
          </a:p>
        </p:txBody>
      </p:sp>
      <p:sp>
        <p:nvSpPr>
          <p:cNvPr id="8" name="">
            <a:extLst xmlns:a="http://schemas.openxmlformats.org/drawingml/2006/main">
              <a:ext uri="{FF2B5EF4-FFF2-40B4-BE49-F238E27FC236}">
                <a16:creationId xmlns:a16="http://schemas.microsoft.com/office/drawing/2014/main" id="{EA795EBB-52BC-40F6-8EF9-50A4070831F1}"/>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Gains use unrounded means and the best observed single-encoder test mean. No paired gain intervals; gene grouping does not ensure unrelated sequence families.</a:t>
            </a:r>
          </a:p>
        </p:txBody>
      </p:sp>
    </p:spTree>
    <p:extLst>
      <p:ext uri="{BB962C8B-B14F-4D97-AF65-F5344CB8AC3E}">
        <p14:creationId xmlns:p14="http://schemas.microsoft.com/office/powerpoint/2010/main" val="194817491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560CBDAB-7C70-4E20-9E7C-7463070DC914}"/>
              </a:ext>
            </a:extLst>
          </p:cNvPr>
          <p:cNvCxnSpPr>
            <a:stCxn xmlns:a="http://schemas.openxmlformats.org/drawingml/2006/main" id="6" idx="3"/>
            <a:endCxn xmlns:a="http://schemas.openxmlformats.org/drawingml/2006/main" id="7" idx="1"/>
          </p:cNvCxnSpPr>
          <p:nvPr/>
        </p:nvCxnSpPr>
        <p:spPr>
          <a:xfrm xmlns:a="http://schemas.openxmlformats.org/drawingml/2006/main">
            <a:off x="8715375" y="2381250"/>
            <a:ext cx="571500"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82676954-AFE4-4384-8A12-05A6E36AE73B}"/>
              </a:ext>
            </a:extLst>
          </p:cNvPr>
          <p:cNvCxnSpPr>
            <a:stCxn xmlns:a="http://schemas.openxmlformats.org/drawingml/2006/main" id="5" idx="3"/>
            <a:endCxn xmlns:a="http://schemas.openxmlformats.org/drawingml/2006/main" id="6" idx="1"/>
          </p:cNvCxnSpPr>
          <p:nvPr/>
        </p:nvCxnSpPr>
        <p:spPr>
          <a:xfrm xmlns:a="http://schemas.openxmlformats.org/drawingml/2006/main">
            <a:off x="5762625" y="2381250"/>
            <a:ext cx="571500"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BF515D36-5237-4550-92DC-62251FBCAC71}"/>
              </a:ext>
            </a:extLst>
          </p:cNvPr>
          <p:cNvCxnSpPr>
            <a:stCxn xmlns:a="http://schemas.openxmlformats.org/drawingml/2006/main" id="4" idx="3"/>
            <a:endCxn xmlns:a="http://schemas.openxmlformats.org/drawingml/2006/main" id="5" idx="1"/>
          </p:cNvCxnSpPr>
          <p:nvPr/>
        </p:nvCxnSpPr>
        <p:spPr>
          <a:xfrm xmlns:a="http://schemas.openxmlformats.org/drawingml/2006/main">
            <a:off x="2809875" y="2381250"/>
            <a:ext cx="571500"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8E6F04E5-4C61-4040-AA10-1DA90AA2D8D4}"/>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FFB0D1-9CA8-451A-8485-FD20292B2994}"/>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The investigation changes how we judge a fusion result</a:t>
            </a:r>
          </a:p>
        </p:txBody>
      </p:sp>
      <p:sp>
        <p:nvSpPr>
          <p:cNvPr id="3" name="">
            <a:extLst xmlns:a="http://schemas.openxmlformats.org/drawingml/2006/main">
              <a:ext uri="{FF2B5EF4-FFF2-40B4-BE49-F238E27FC236}">
                <a16:creationId xmlns:a16="http://schemas.microsoft.com/office/drawing/2014/main" id="{1F974AA6-4AF3-43A2-A4CC-B951E1314B7C}"/>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19</a:t>
            </a:r>
          </a:p>
        </p:txBody>
      </p:sp>
      <p:sp>
        <p:nvSpPr>
          <p:cNvPr id="4" name="">
            <a:extLst xmlns:a="http://schemas.openxmlformats.org/drawingml/2006/main">
              <a:ext uri="{FF2B5EF4-FFF2-40B4-BE49-F238E27FC236}">
                <a16:creationId xmlns:a16="http://schemas.microsoft.com/office/drawing/2014/main" id="{E598FE7C-3070-49C0-A17A-BA52424BF7C6}"/>
              </a:ext>
            </a:extLst>
          </p:cNvPr>
          <p:cNvSpPr>
            <a:spLocks xmlns:a="http://schemas.openxmlformats.org/drawingml/2006/main" noGrp="1"/>
          </p:cNvSpPr>
          <p:nvPr/>
        </p:nvSpPr>
        <p:spPr>
          <a:xfrm xmlns:a="http://schemas.openxmlformats.org/drawingml/2006/main">
            <a:off x="428625" y="1952625"/>
            <a:ext cx="2381250" cy="857250"/>
          </a:xfrm>
          <a:prstGeom xmlns:a="http://schemas.openxmlformats.org/drawingml/2006/main" prst="rect">
            <a:avLst/>
          </a:prstGeom>
          <a:solidFill xmlns:a="http://schemas.openxmlformats.org/drawingml/2006/main">
            <a:srgbClr val="EAF1F8"/>
          </a:solidFill>
          <a:ln xmlns:a="http://schemas.openxmlformats.org/drawingml/2006/main" w="14288">
            <a:solidFill>
              <a:srgbClr val="326DA8"/>
            </a:solidFill>
          </a:ln>
        </p:spPr>
        <p:txBody>
          <a:bodyPr xmlns:a="http://schemas.openxmlformats.org/drawingml/2006/main" wrap="square" lIns="85725" tIns="85725" rIns="85725" bIns="85725" anchor="ctr">
            <a:noAutofit/>
          </a:bodyPr>
          <a:lstStyle xmlns:a="http://schemas.openxmlformats.org/drawingml/2006/main">
            <a:defPPr algn="ctr">
              <a:defRPr sz="2325" b="1">
                <a:solidFill>
                  <a:srgbClr val="326DA8"/>
                </a:solidFill>
                <a:latin typeface="Times New Roman"/>
                <a:ea typeface="Times New Roman"/>
                <a:cs typeface="Times New Roman"/>
              </a:defRPr>
            </a:defPPr>
            <a:lvl1pPr algn="ctr">
              <a:defRPr sz="2325" b="1">
                <a:solidFill>
                  <a:srgbClr val="326DA8"/>
                </a:solidFill>
                <a:latin typeface="Times New Roman"/>
                <a:ea typeface="Times New Roman"/>
                <a:cs typeface="Times New Roman"/>
              </a:defRPr>
            </a:lvl1pPr>
            <a:lvl2pPr algn="ctr">
              <a:defRPr sz="2325" b="1">
                <a:solidFill>
                  <a:srgbClr val="326DA8"/>
                </a:solidFill>
                <a:latin typeface="Times New Roman"/>
                <a:ea typeface="Times New Roman"/>
                <a:cs typeface="Times New Roman"/>
              </a:defRPr>
            </a:lvl2pPr>
            <a:lvl3pPr algn="ctr">
              <a:defRPr sz="2325" b="1">
                <a:solidFill>
                  <a:srgbClr val="326DA8"/>
                </a:solidFill>
                <a:latin typeface="Times New Roman"/>
                <a:ea typeface="Times New Roman"/>
                <a:cs typeface="Times New Roman"/>
              </a:defRPr>
            </a:lvl3pPr>
            <a:lvl4pPr algn="ctr">
              <a:defRPr sz="2325" b="1">
                <a:solidFill>
                  <a:srgbClr val="326DA8"/>
                </a:solidFill>
                <a:latin typeface="Times New Roman"/>
                <a:ea typeface="Times New Roman"/>
                <a:cs typeface="Times New Roman"/>
              </a:defRPr>
            </a:lvl4pPr>
            <a:lvl5pPr algn="ctr">
              <a:defRPr sz="2325" b="1">
                <a:solidFill>
                  <a:srgbClr val="326DA8"/>
                </a:solidFill>
                <a:latin typeface="Times New Roman"/>
                <a:ea typeface="Times New Roman"/>
                <a:cs typeface="Times New Roman"/>
              </a:defRPr>
            </a:lvl5pPr>
            <a:lvl6pPr algn="ctr">
              <a:defRPr sz="2325" b="1">
                <a:solidFill>
                  <a:srgbClr val="326DA8"/>
                </a:solidFill>
                <a:latin typeface="Times New Roman"/>
                <a:ea typeface="Times New Roman"/>
                <a:cs typeface="Times New Roman"/>
              </a:defRPr>
            </a:lvl6pPr>
            <a:lvl7pPr algn="ctr">
              <a:defRPr sz="2325" b="1">
                <a:solidFill>
                  <a:srgbClr val="326DA8"/>
                </a:solidFill>
                <a:latin typeface="Times New Roman"/>
                <a:ea typeface="Times New Roman"/>
                <a:cs typeface="Times New Roman"/>
              </a:defRPr>
            </a:lvl7pPr>
            <a:lvl8pPr algn="ctr">
              <a:defRPr sz="2325" b="1">
                <a:solidFill>
                  <a:srgbClr val="326DA8"/>
                </a:solidFill>
                <a:latin typeface="Times New Roman"/>
                <a:ea typeface="Times New Roman"/>
                <a:cs typeface="Times New Roman"/>
              </a:defRPr>
            </a:lvl8pPr>
            <a:lvl9pPr algn="ctr">
              <a:defRPr sz="2325" b="1">
                <a:solidFill>
                  <a:srgbClr val="326DA8"/>
                </a:solidFill>
                <a:latin typeface="Times New Roman"/>
                <a:ea typeface="Times New Roman"/>
                <a:cs typeface="Times New Roman"/>
              </a:defRPr>
            </a:lvl9pPr>
          </a:lstStyle>
          <a:p xmlns:a="http://schemas.openxmlformats.org/drawingml/2006/main">
            <a:pPr algn="ctr">
              <a:defRPr sz="2325" b="1">
                <a:solidFill>
                  <a:srgbClr val="326DA8"/>
                </a:solidFill>
                <a:latin typeface="Times New Roman"/>
                <a:ea typeface="Times New Roman"/>
                <a:cs typeface="Times New Roman"/>
              </a:defRPr>
            </a:pPr>
            <a:r>
              <a:rPr sz="2325" b="1">
                <a:solidFill>
                  <a:srgbClr val="326DA8"/>
                </a:solidFill>
                <a:latin typeface="Times New Roman"/>
                <a:ea typeface="Times New Roman"/>
                <a:cs typeface="Times New Roman"/>
              </a:rPr>
              <a:t>Sequence</a:t>
            </a:r>
          </a:p>
          <a:p xmlns:a="http://schemas.openxmlformats.org/drawingml/2006/main">
            <a:pPr algn="ctr">
              <a:defRPr sz="2325" b="1">
                <a:solidFill>
                  <a:srgbClr val="326DA8"/>
                </a:solidFill>
                <a:latin typeface="Times New Roman"/>
                <a:ea typeface="Times New Roman"/>
                <a:cs typeface="Times New Roman"/>
              </a:defRPr>
            </a:pPr>
            <a:r>
              <a:rPr sz="2325" b="1">
                <a:solidFill>
                  <a:srgbClr val="326DA8"/>
                </a:solidFill>
                <a:latin typeface="Times New Roman"/>
                <a:ea typeface="Times New Roman"/>
                <a:cs typeface="Times New Roman"/>
              </a:rPr>
              <a:t>information</a:t>
            </a:r>
          </a:p>
        </p:txBody>
      </p:sp>
      <p:sp>
        <p:nvSpPr>
          <p:cNvPr id="5" name="">
            <a:extLst xmlns:a="http://schemas.openxmlformats.org/drawingml/2006/main">
              <a:ext uri="{FF2B5EF4-FFF2-40B4-BE49-F238E27FC236}">
                <a16:creationId xmlns:a16="http://schemas.microsoft.com/office/drawing/2014/main" id="{A28A6283-AAAD-4F54-8BB7-A08E0DA8F863}"/>
              </a:ext>
            </a:extLst>
          </p:cNvPr>
          <p:cNvSpPr>
            <a:spLocks xmlns:a="http://schemas.openxmlformats.org/drawingml/2006/main" noGrp="1"/>
          </p:cNvSpPr>
          <p:nvPr/>
        </p:nvSpPr>
        <p:spPr>
          <a:xfrm xmlns:a="http://schemas.openxmlformats.org/drawingml/2006/main">
            <a:off x="3381375" y="1952625"/>
            <a:ext cx="2381250" cy="85725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250" b="1">
                <a:solidFill>
                  <a:srgbClr val="167D77"/>
                </a:solidFill>
                <a:latin typeface="Times New Roman"/>
                <a:ea typeface="Times New Roman"/>
                <a:cs typeface="Times New Roman"/>
              </a:defRPr>
            </a:defPPr>
            <a:lvl1pPr algn="ctr">
              <a:defRPr sz="2250" b="1">
                <a:solidFill>
                  <a:srgbClr val="167D77"/>
                </a:solidFill>
                <a:latin typeface="Times New Roman"/>
                <a:ea typeface="Times New Roman"/>
                <a:cs typeface="Times New Roman"/>
              </a:defRPr>
            </a:lvl1pPr>
            <a:lvl2pPr algn="ctr">
              <a:defRPr sz="2250" b="1">
                <a:solidFill>
                  <a:srgbClr val="167D77"/>
                </a:solidFill>
                <a:latin typeface="Times New Roman"/>
                <a:ea typeface="Times New Roman"/>
                <a:cs typeface="Times New Roman"/>
              </a:defRPr>
            </a:lvl2pPr>
            <a:lvl3pPr algn="ctr">
              <a:defRPr sz="2250" b="1">
                <a:solidFill>
                  <a:srgbClr val="167D77"/>
                </a:solidFill>
                <a:latin typeface="Times New Roman"/>
                <a:ea typeface="Times New Roman"/>
                <a:cs typeface="Times New Roman"/>
              </a:defRPr>
            </a:lvl3pPr>
            <a:lvl4pPr algn="ctr">
              <a:defRPr sz="2250" b="1">
                <a:solidFill>
                  <a:srgbClr val="167D77"/>
                </a:solidFill>
                <a:latin typeface="Times New Roman"/>
                <a:ea typeface="Times New Roman"/>
                <a:cs typeface="Times New Roman"/>
              </a:defRPr>
            </a:lvl4pPr>
            <a:lvl5pPr algn="ctr">
              <a:defRPr sz="2250" b="1">
                <a:solidFill>
                  <a:srgbClr val="167D77"/>
                </a:solidFill>
                <a:latin typeface="Times New Roman"/>
                <a:ea typeface="Times New Roman"/>
                <a:cs typeface="Times New Roman"/>
              </a:defRPr>
            </a:lvl5pPr>
            <a:lvl6pPr algn="ctr">
              <a:defRPr sz="2250" b="1">
                <a:solidFill>
                  <a:srgbClr val="167D77"/>
                </a:solidFill>
                <a:latin typeface="Times New Roman"/>
                <a:ea typeface="Times New Roman"/>
                <a:cs typeface="Times New Roman"/>
              </a:defRPr>
            </a:lvl6pPr>
            <a:lvl7pPr algn="ctr">
              <a:defRPr sz="2250" b="1">
                <a:solidFill>
                  <a:srgbClr val="167D77"/>
                </a:solidFill>
                <a:latin typeface="Times New Roman"/>
                <a:ea typeface="Times New Roman"/>
                <a:cs typeface="Times New Roman"/>
              </a:defRPr>
            </a:lvl7pPr>
            <a:lvl8pPr algn="ctr">
              <a:defRPr sz="2250" b="1">
                <a:solidFill>
                  <a:srgbClr val="167D77"/>
                </a:solidFill>
                <a:latin typeface="Times New Roman"/>
                <a:ea typeface="Times New Roman"/>
                <a:cs typeface="Times New Roman"/>
              </a:defRPr>
            </a:lvl8pPr>
            <a:lvl9pPr algn="ctr">
              <a:defRPr sz="2250" b="1">
                <a:solidFill>
                  <a:srgbClr val="167D77"/>
                </a:solidFill>
                <a:latin typeface="Times New Roman"/>
                <a:ea typeface="Times New Roman"/>
                <a:cs typeface="Times New Roman"/>
              </a:defRPr>
            </a:lvl9pPr>
          </a:lstStyle>
          <a:p xmlns:a="http://schemas.openxmlformats.org/drawingml/2006/main">
            <a:pPr algn="ctr">
              <a:defRPr sz="2250" b="1">
                <a:solidFill>
                  <a:srgbClr val="167D77"/>
                </a:solidFill>
                <a:latin typeface="Times New Roman"/>
                <a:ea typeface="Times New Roman"/>
                <a:cs typeface="Times New Roman"/>
              </a:defRPr>
            </a:pPr>
            <a:r>
              <a:rPr sz="2250" b="1">
                <a:solidFill>
                  <a:srgbClr val="167D77"/>
                </a:solidFill>
                <a:latin typeface="Times New Roman"/>
                <a:ea typeface="Times New Roman"/>
                <a:cs typeface="Times New Roman"/>
              </a:rPr>
              <a:t>Representation</a:t>
            </a:r>
          </a:p>
        </p:txBody>
      </p:sp>
      <p:sp>
        <p:nvSpPr>
          <p:cNvPr id="6" name="">
            <a:extLst xmlns:a="http://schemas.openxmlformats.org/drawingml/2006/main">
              <a:ext uri="{FF2B5EF4-FFF2-40B4-BE49-F238E27FC236}">
                <a16:creationId xmlns:a16="http://schemas.microsoft.com/office/drawing/2014/main" id="{25CF71D6-2AF7-43D0-B229-6154D42B532F}"/>
              </a:ext>
            </a:extLst>
          </p:cNvPr>
          <p:cNvSpPr>
            <a:spLocks xmlns:a="http://schemas.openxmlformats.org/drawingml/2006/main" noGrp="1"/>
          </p:cNvSpPr>
          <p:nvPr/>
        </p:nvSpPr>
        <p:spPr>
          <a:xfrm xmlns:a="http://schemas.openxmlformats.org/drawingml/2006/main">
            <a:off x="6334125" y="1952625"/>
            <a:ext cx="2381250" cy="857250"/>
          </a:xfrm>
          <a:prstGeom xmlns:a="http://schemas.openxmlformats.org/drawingml/2006/main" prst="rect">
            <a:avLst/>
          </a:prstGeom>
          <a:solidFill xmlns:a="http://schemas.openxmlformats.org/drawingml/2006/main">
            <a:srgbClr val="FAEEE6"/>
          </a:solidFill>
          <a:ln xmlns:a="http://schemas.openxmlformats.org/drawingml/2006/main" w="14288">
            <a:solidFill>
              <a:srgbClr val="B3683D"/>
            </a:solidFill>
          </a:ln>
        </p:spPr>
        <p:txBody>
          <a:bodyPr xmlns:a="http://schemas.openxmlformats.org/drawingml/2006/main" wrap="square" lIns="85725" tIns="85725" rIns="85725" bIns="85725" anchor="ctr">
            <a:noAutofit/>
          </a:bodyPr>
          <a:lstStyle xmlns:a="http://schemas.openxmlformats.org/drawingml/2006/main">
            <a:defPPr algn="ctr">
              <a:defRPr sz="2250" b="1">
                <a:solidFill>
                  <a:srgbClr val="B3683D"/>
                </a:solidFill>
                <a:latin typeface="Times New Roman"/>
                <a:ea typeface="Times New Roman"/>
                <a:cs typeface="Times New Roman"/>
              </a:defRPr>
            </a:defPPr>
            <a:lvl1pPr algn="ctr">
              <a:defRPr sz="2250" b="1">
                <a:solidFill>
                  <a:srgbClr val="B3683D"/>
                </a:solidFill>
                <a:latin typeface="Times New Roman"/>
                <a:ea typeface="Times New Roman"/>
                <a:cs typeface="Times New Roman"/>
              </a:defRPr>
            </a:lvl1pPr>
            <a:lvl2pPr algn="ctr">
              <a:defRPr sz="2250" b="1">
                <a:solidFill>
                  <a:srgbClr val="B3683D"/>
                </a:solidFill>
                <a:latin typeface="Times New Roman"/>
                <a:ea typeface="Times New Roman"/>
                <a:cs typeface="Times New Roman"/>
              </a:defRPr>
            </a:lvl2pPr>
            <a:lvl3pPr algn="ctr">
              <a:defRPr sz="2250" b="1">
                <a:solidFill>
                  <a:srgbClr val="B3683D"/>
                </a:solidFill>
                <a:latin typeface="Times New Roman"/>
                <a:ea typeface="Times New Roman"/>
                <a:cs typeface="Times New Roman"/>
              </a:defRPr>
            </a:lvl3pPr>
            <a:lvl4pPr algn="ctr">
              <a:defRPr sz="2250" b="1">
                <a:solidFill>
                  <a:srgbClr val="B3683D"/>
                </a:solidFill>
                <a:latin typeface="Times New Roman"/>
                <a:ea typeface="Times New Roman"/>
                <a:cs typeface="Times New Roman"/>
              </a:defRPr>
            </a:lvl4pPr>
            <a:lvl5pPr algn="ctr">
              <a:defRPr sz="2250" b="1">
                <a:solidFill>
                  <a:srgbClr val="B3683D"/>
                </a:solidFill>
                <a:latin typeface="Times New Roman"/>
                <a:ea typeface="Times New Roman"/>
                <a:cs typeface="Times New Roman"/>
              </a:defRPr>
            </a:lvl5pPr>
            <a:lvl6pPr algn="ctr">
              <a:defRPr sz="2250" b="1">
                <a:solidFill>
                  <a:srgbClr val="B3683D"/>
                </a:solidFill>
                <a:latin typeface="Times New Roman"/>
                <a:ea typeface="Times New Roman"/>
                <a:cs typeface="Times New Roman"/>
              </a:defRPr>
            </a:lvl6pPr>
            <a:lvl7pPr algn="ctr">
              <a:defRPr sz="2250" b="1">
                <a:solidFill>
                  <a:srgbClr val="B3683D"/>
                </a:solidFill>
                <a:latin typeface="Times New Roman"/>
                <a:ea typeface="Times New Roman"/>
                <a:cs typeface="Times New Roman"/>
              </a:defRPr>
            </a:lvl7pPr>
            <a:lvl8pPr algn="ctr">
              <a:defRPr sz="2250" b="1">
                <a:solidFill>
                  <a:srgbClr val="B3683D"/>
                </a:solidFill>
                <a:latin typeface="Times New Roman"/>
                <a:ea typeface="Times New Roman"/>
                <a:cs typeface="Times New Roman"/>
              </a:defRPr>
            </a:lvl8pPr>
            <a:lvl9pPr algn="ctr">
              <a:defRPr sz="2250" b="1">
                <a:solidFill>
                  <a:srgbClr val="B3683D"/>
                </a:solidFill>
                <a:latin typeface="Times New Roman"/>
                <a:ea typeface="Times New Roman"/>
                <a:cs typeface="Times New Roman"/>
              </a:defRPr>
            </a:lvl9pPr>
          </a:lstStyle>
          <a:p xmlns:a="http://schemas.openxmlformats.org/drawingml/2006/main">
            <a:pPr algn="ctr">
              <a:defRPr sz="2250" b="1">
                <a:solidFill>
                  <a:srgbClr val="B3683D"/>
                </a:solidFill>
                <a:latin typeface="Times New Roman"/>
                <a:ea typeface="Times New Roman"/>
                <a:cs typeface="Times New Roman"/>
              </a:defRPr>
            </a:pPr>
            <a:r>
              <a:rPr sz="2250" b="1">
                <a:solidFill>
                  <a:srgbClr val="B3683D"/>
                </a:solidFill>
                <a:latin typeface="Times New Roman"/>
                <a:ea typeface="Times New Roman"/>
                <a:cs typeface="Times New Roman"/>
              </a:rPr>
              <a:t>Combination</a:t>
            </a:r>
          </a:p>
        </p:txBody>
      </p:sp>
      <p:sp>
        <p:nvSpPr>
          <p:cNvPr id="7" name="">
            <a:extLst xmlns:a="http://schemas.openxmlformats.org/drawingml/2006/main">
              <a:ext uri="{FF2B5EF4-FFF2-40B4-BE49-F238E27FC236}">
                <a16:creationId xmlns:a16="http://schemas.microsoft.com/office/drawing/2014/main" id="{923A4606-9C99-4600-9D9F-18B0BD717D2A}"/>
              </a:ext>
            </a:extLst>
          </p:cNvPr>
          <p:cNvSpPr>
            <a:spLocks xmlns:a="http://schemas.openxmlformats.org/drawingml/2006/main" noGrp="1"/>
          </p:cNvSpPr>
          <p:nvPr/>
        </p:nvSpPr>
        <p:spPr>
          <a:xfrm xmlns:a="http://schemas.openxmlformats.org/drawingml/2006/main">
            <a:off x="9286875" y="1952625"/>
            <a:ext cx="2381250" cy="857250"/>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2250" b="1">
                <a:solidFill>
                  <a:srgbClr val="14324B"/>
                </a:solidFill>
                <a:latin typeface="Times New Roman"/>
                <a:ea typeface="Times New Roman"/>
                <a:cs typeface="Times New Roman"/>
              </a:defRPr>
            </a:defPPr>
            <a:lvl1pPr algn="ctr">
              <a:defRPr sz="2250" b="1">
                <a:solidFill>
                  <a:srgbClr val="14324B"/>
                </a:solidFill>
                <a:latin typeface="Times New Roman"/>
                <a:ea typeface="Times New Roman"/>
                <a:cs typeface="Times New Roman"/>
              </a:defRPr>
            </a:lvl1pPr>
            <a:lvl2pPr algn="ctr">
              <a:defRPr sz="2250" b="1">
                <a:solidFill>
                  <a:srgbClr val="14324B"/>
                </a:solidFill>
                <a:latin typeface="Times New Roman"/>
                <a:ea typeface="Times New Roman"/>
                <a:cs typeface="Times New Roman"/>
              </a:defRPr>
            </a:lvl2pPr>
            <a:lvl3pPr algn="ctr">
              <a:defRPr sz="2250" b="1">
                <a:solidFill>
                  <a:srgbClr val="14324B"/>
                </a:solidFill>
                <a:latin typeface="Times New Roman"/>
                <a:ea typeface="Times New Roman"/>
                <a:cs typeface="Times New Roman"/>
              </a:defRPr>
            </a:lvl3pPr>
            <a:lvl4pPr algn="ctr">
              <a:defRPr sz="2250" b="1">
                <a:solidFill>
                  <a:srgbClr val="14324B"/>
                </a:solidFill>
                <a:latin typeface="Times New Roman"/>
                <a:ea typeface="Times New Roman"/>
                <a:cs typeface="Times New Roman"/>
              </a:defRPr>
            </a:lvl4pPr>
            <a:lvl5pPr algn="ctr">
              <a:defRPr sz="2250" b="1">
                <a:solidFill>
                  <a:srgbClr val="14324B"/>
                </a:solidFill>
                <a:latin typeface="Times New Roman"/>
                <a:ea typeface="Times New Roman"/>
                <a:cs typeface="Times New Roman"/>
              </a:defRPr>
            </a:lvl5pPr>
            <a:lvl6pPr algn="ctr">
              <a:defRPr sz="2250" b="1">
                <a:solidFill>
                  <a:srgbClr val="14324B"/>
                </a:solidFill>
                <a:latin typeface="Times New Roman"/>
                <a:ea typeface="Times New Roman"/>
                <a:cs typeface="Times New Roman"/>
              </a:defRPr>
            </a:lvl6pPr>
            <a:lvl7pPr algn="ctr">
              <a:defRPr sz="2250" b="1">
                <a:solidFill>
                  <a:srgbClr val="14324B"/>
                </a:solidFill>
                <a:latin typeface="Times New Roman"/>
                <a:ea typeface="Times New Roman"/>
                <a:cs typeface="Times New Roman"/>
              </a:defRPr>
            </a:lvl7pPr>
            <a:lvl8pPr algn="ctr">
              <a:defRPr sz="2250" b="1">
                <a:solidFill>
                  <a:srgbClr val="14324B"/>
                </a:solidFill>
                <a:latin typeface="Times New Roman"/>
                <a:ea typeface="Times New Roman"/>
                <a:cs typeface="Times New Roman"/>
              </a:defRPr>
            </a:lvl8pPr>
            <a:lvl9pPr algn="ctr">
              <a:defRPr sz="2250" b="1">
                <a:solidFill>
                  <a:srgbClr val="14324B"/>
                </a:solidFill>
                <a:latin typeface="Times New Roman"/>
                <a:ea typeface="Times New Roman"/>
                <a:cs typeface="Times New Roman"/>
              </a:defRPr>
            </a:lvl9pPr>
          </a:lstStyle>
          <a:p xmlns:a="http://schemas.openxmlformats.org/drawingml/2006/main">
            <a:pPr algn="ctr">
              <a:defRPr sz="2250" b="1">
                <a:solidFill>
                  <a:srgbClr val="14324B"/>
                </a:solidFill>
                <a:latin typeface="Times New Roman"/>
                <a:ea typeface="Times New Roman"/>
                <a:cs typeface="Times New Roman"/>
              </a:defRPr>
            </a:pPr>
            <a:r>
              <a:rPr sz="2250" b="1">
                <a:solidFill>
                  <a:srgbClr val="14324B"/>
                </a:solidFill>
                <a:latin typeface="Times New Roman"/>
                <a:ea typeface="Times New Roman"/>
                <a:cs typeface="Times New Roman"/>
              </a:rPr>
              <a:t>Evaluation</a:t>
            </a:r>
          </a:p>
        </p:txBody>
      </p:sp>
      <p:sp>
        <p:nvSpPr>
          <p:cNvPr id="11" name="">
            <a:extLst xmlns:a="http://schemas.openxmlformats.org/drawingml/2006/main">
              <a:ext uri="{FF2B5EF4-FFF2-40B4-BE49-F238E27FC236}">
                <a16:creationId xmlns:a16="http://schemas.microsoft.com/office/drawing/2014/main" id="{49E1D482-B81A-4F85-B88A-2EE612B42578}"/>
              </a:ext>
            </a:extLst>
          </p:cNvPr>
          <p:cNvSpPr>
            <a:spLocks xmlns:a="http://schemas.openxmlformats.org/drawingml/2006/main" noGrp="1"/>
          </p:cNvSpPr>
          <p:nvPr/>
        </p:nvSpPr>
        <p:spPr>
          <a:xfrm xmlns:a="http://schemas.openxmlformats.org/drawingml/2006/main">
            <a:off x="428625" y="3286125"/>
            <a:ext cx="238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4324B"/>
                </a:solidFill>
                <a:latin typeface="Times New Roman"/>
                <a:ea typeface="Times New Roman"/>
                <a:cs typeface="Times New Roman"/>
              </a:defRPr>
            </a:defPPr>
            <a:lvl1pPr>
              <a:defRPr sz="2175">
                <a:solidFill>
                  <a:srgbClr val="14324B"/>
                </a:solidFill>
                <a:latin typeface="Times New Roman"/>
                <a:ea typeface="Times New Roman"/>
                <a:cs typeface="Times New Roman"/>
              </a:defRPr>
            </a:lvl1pPr>
            <a:lvl2pPr>
              <a:defRPr sz="2175">
                <a:solidFill>
                  <a:srgbClr val="14324B"/>
                </a:solidFill>
                <a:latin typeface="Times New Roman"/>
                <a:ea typeface="Times New Roman"/>
                <a:cs typeface="Times New Roman"/>
              </a:defRPr>
            </a:lvl2pPr>
            <a:lvl3pPr>
              <a:defRPr sz="2175">
                <a:solidFill>
                  <a:srgbClr val="14324B"/>
                </a:solidFill>
                <a:latin typeface="Times New Roman"/>
                <a:ea typeface="Times New Roman"/>
                <a:cs typeface="Times New Roman"/>
              </a:defRPr>
            </a:lvl3pPr>
            <a:lvl4pPr>
              <a:defRPr sz="2175">
                <a:solidFill>
                  <a:srgbClr val="14324B"/>
                </a:solidFill>
                <a:latin typeface="Times New Roman"/>
                <a:ea typeface="Times New Roman"/>
                <a:cs typeface="Times New Roman"/>
              </a:defRPr>
            </a:lvl4pPr>
            <a:lvl5pPr>
              <a:defRPr sz="2175">
                <a:solidFill>
                  <a:srgbClr val="14324B"/>
                </a:solidFill>
                <a:latin typeface="Times New Roman"/>
                <a:ea typeface="Times New Roman"/>
                <a:cs typeface="Times New Roman"/>
              </a:defRPr>
            </a:lvl5pPr>
            <a:lvl6pPr>
              <a:defRPr sz="2175">
                <a:solidFill>
                  <a:srgbClr val="14324B"/>
                </a:solidFill>
                <a:latin typeface="Times New Roman"/>
                <a:ea typeface="Times New Roman"/>
                <a:cs typeface="Times New Roman"/>
              </a:defRPr>
            </a:lvl6pPr>
            <a:lvl7pPr>
              <a:defRPr sz="2175">
                <a:solidFill>
                  <a:srgbClr val="14324B"/>
                </a:solidFill>
                <a:latin typeface="Times New Roman"/>
                <a:ea typeface="Times New Roman"/>
                <a:cs typeface="Times New Roman"/>
              </a:defRPr>
            </a:lvl7pPr>
            <a:lvl8pPr>
              <a:defRPr sz="2175">
                <a:solidFill>
                  <a:srgbClr val="14324B"/>
                </a:solidFill>
                <a:latin typeface="Times New Roman"/>
                <a:ea typeface="Times New Roman"/>
                <a:cs typeface="Times New Roman"/>
              </a:defRPr>
            </a:lvl8pPr>
            <a:lvl9pPr>
              <a:defRPr sz="2175">
                <a:solidFill>
                  <a:srgbClr val="14324B"/>
                </a:solidFill>
                <a:latin typeface="Times New Roman"/>
                <a:ea typeface="Times New Roman"/>
                <a:cs typeface="Times New Roman"/>
              </a:defRPr>
            </a:lvl9pPr>
          </a:lstStyle>
          <a:p xmlns:a="http://schemas.openxmlformats.org/drawingml/2006/main">
            <a:pPr>
              <a:defRPr sz="2175">
                <a:solidFill>
                  <a:srgbClr val="14324B"/>
                </a:solidFill>
                <a:latin typeface="Times New Roman"/>
                <a:ea typeface="Times New Roman"/>
                <a:cs typeface="Times New Roman"/>
              </a:defRPr>
            </a:pPr>
            <a:r>
              <a:rPr sz="2175">
                <a:solidFill>
                  <a:srgbClr val="14324B"/>
                </a:solidFill>
                <a:latin typeface="Times New Roman"/>
                <a:ea typeface="Times New Roman"/>
                <a:cs typeface="Times New Roman"/>
              </a:rPr>
              <a:t>GTEx and UTR comparisons ask what context is available.</a:t>
            </a:r>
          </a:p>
        </p:txBody>
      </p:sp>
      <p:sp>
        <p:nvSpPr>
          <p:cNvPr id="12" name="">
            <a:extLst xmlns:a="http://schemas.openxmlformats.org/drawingml/2006/main">
              <a:ext uri="{FF2B5EF4-FFF2-40B4-BE49-F238E27FC236}">
                <a16:creationId xmlns:a16="http://schemas.microsoft.com/office/drawing/2014/main" id="{06EA82E3-A07D-4422-8F63-8D5027FAD478}"/>
              </a:ext>
            </a:extLst>
          </p:cNvPr>
          <p:cNvSpPr>
            <a:spLocks xmlns:a="http://schemas.openxmlformats.org/drawingml/2006/main" noGrp="1"/>
          </p:cNvSpPr>
          <p:nvPr/>
        </p:nvSpPr>
        <p:spPr>
          <a:xfrm xmlns:a="http://schemas.openxmlformats.org/drawingml/2006/main">
            <a:off x="3381375" y="3286125"/>
            <a:ext cx="2381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4324B"/>
                </a:solidFill>
                <a:latin typeface="Times New Roman"/>
                <a:ea typeface="Times New Roman"/>
                <a:cs typeface="Times New Roman"/>
              </a:defRPr>
            </a:defPPr>
            <a:lvl1pPr>
              <a:defRPr sz="2175">
                <a:solidFill>
                  <a:srgbClr val="14324B"/>
                </a:solidFill>
                <a:latin typeface="Times New Roman"/>
                <a:ea typeface="Times New Roman"/>
                <a:cs typeface="Times New Roman"/>
              </a:defRPr>
            </a:lvl1pPr>
            <a:lvl2pPr>
              <a:defRPr sz="2175">
                <a:solidFill>
                  <a:srgbClr val="14324B"/>
                </a:solidFill>
                <a:latin typeface="Times New Roman"/>
                <a:ea typeface="Times New Roman"/>
                <a:cs typeface="Times New Roman"/>
              </a:defRPr>
            </a:lvl2pPr>
            <a:lvl3pPr>
              <a:defRPr sz="2175">
                <a:solidFill>
                  <a:srgbClr val="14324B"/>
                </a:solidFill>
                <a:latin typeface="Times New Roman"/>
                <a:ea typeface="Times New Roman"/>
                <a:cs typeface="Times New Roman"/>
              </a:defRPr>
            </a:lvl3pPr>
            <a:lvl4pPr>
              <a:defRPr sz="2175">
                <a:solidFill>
                  <a:srgbClr val="14324B"/>
                </a:solidFill>
                <a:latin typeface="Times New Roman"/>
                <a:ea typeface="Times New Roman"/>
                <a:cs typeface="Times New Roman"/>
              </a:defRPr>
            </a:lvl4pPr>
            <a:lvl5pPr>
              <a:defRPr sz="2175">
                <a:solidFill>
                  <a:srgbClr val="14324B"/>
                </a:solidFill>
                <a:latin typeface="Times New Roman"/>
                <a:ea typeface="Times New Roman"/>
                <a:cs typeface="Times New Roman"/>
              </a:defRPr>
            </a:lvl5pPr>
            <a:lvl6pPr>
              <a:defRPr sz="2175">
                <a:solidFill>
                  <a:srgbClr val="14324B"/>
                </a:solidFill>
                <a:latin typeface="Times New Roman"/>
                <a:ea typeface="Times New Roman"/>
                <a:cs typeface="Times New Roman"/>
              </a:defRPr>
            </a:lvl6pPr>
            <a:lvl7pPr>
              <a:defRPr sz="2175">
                <a:solidFill>
                  <a:srgbClr val="14324B"/>
                </a:solidFill>
                <a:latin typeface="Times New Roman"/>
                <a:ea typeface="Times New Roman"/>
                <a:cs typeface="Times New Roman"/>
              </a:defRPr>
            </a:lvl7pPr>
            <a:lvl8pPr>
              <a:defRPr sz="2175">
                <a:solidFill>
                  <a:srgbClr val="14324B"/>
                </a:solidFill>
                <a:latin typeface="Times New Roman"/>
                <a:ea typeface="Times New Roman"/>
                <a:cs typeface="Times New Roman"/>
              </a:defRPr>
            </a:lvl8pPr>
            <a:lvl9pPr>
              <a:defRPr sz="2175">
                <a:solidFill>
                  <a:srgbClr val="14324B"/>
                </a:solidFill>
                <a:latin typeface="Times New Roman"/>
                <a:ea typeface="Times New Roman"/>
                <a:cs typeface="Times New Roman"/>
              </a:defRPr>
            </a:lvl9pPr>
          </a:lstStyle>
          <a:p xmlns:a="http://schemas.openxmlformats.org/drawingml/2006/main">
            <a:pPr>
              <a:defRPr sz="2175">
                <a:solidFill>
                  <a:srgbClr val="14324B"/>
                </a:solidFill>
                <a:latin typeface="Times New Roman"/>
                <a:ea typeface="Times New Roman"/>
                <a:cs typeface="Times New Roman"/>
              </a:defRPr>
            </a:pPr>
            <a:r>
              <a:rPr sz="2175">
                <a:solidFill>
                  <a:srgbClr val="14324B"/>
                </a:solidFill>
                <a:latin typeface="Times New Roman"/>
                <a:ea typeface="Times New Roman"/>
                <a:cs typeface="Times New Roman"/>
              </a:rPr>
              <a:t>mRFP and LucaOne show that the encoder changes useful predictors.</a:t>
            </a:r>
          </a:p>
        </p:txBody>
      </p:sp>
      <p:sp>
        <p:nvSpPr>
          <p:cNvPr id="13" name="">
            <a:extLst xmlns:a="http://schemas.openxmlformats.org/drawingml/2006/main">
              <a:ext uri="{FF2B5EF4-FFF2-40B4-BE49-F238E27FC236}">
                <a16:creationId xmlns:a16="http://schemas.microsoft.com/office/drawing/2014/main" id="{CAE5094E-C69C-46AC-B0C8-09892FCD871A}"/>
              </a:ext>
            </a:extLst>
          </p:cNvPr>
          <p:cNvSpPr>
            <a:spLocks xmlns:a="http://schemas.openxmlformats.org/drawingml/2006/main" noGrp="1"/>
          </p:cNvSpPr>
          <p:nvPr/>
        </p:nvSpPr>
        <p:spPr>
          <a:xfrm xmlns:a="http://schemas.openxmlformats.org/drawingml/2006/main">
            <a:off x="6334125" y="3286125"/>
            <a:ext cx="2381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4324B"/>
                </a:solidFill>
                <a:latin typeface="Times New Roman"/>
                <a:ea typeface="Times New Roman"/>
                <a:cs typeface="Times New Roman"/>
              </a:defRPr>
            </a:defPPr>
            <a:lvl1pPr>
              <a:defRPr sz="2175">
                <a:solidFill>
                  <a:srgbClr val="14324B"/>
                </a:solidFill>
                <a:latin typeface="Times New Roman"/>
                <a:ea typeface="Times New Roman"/>
                <a:cs typeface="Times New Roman"/>
              </a:defRPr>
            </a:lvl1pPr>
            <a:lvl2pPr>
              <a:defRPr sz="2175">
                <a:solidFill>
                  <a:srgbClr val="14324B"/>
                </a:solidFill>
                <a:latin typeface="Times New Roman"/>
                <a:ea typeface="Times New Roman"/>
                <a:cs typeface="Times New Roman"/>
              </a:defRPr>
            </a:lvl2pPr>
            <a:lvl3pPr>
              <a:defRPr sz="2175">
                <a:solidFill>
                  <a:srgbClr val="14324B"/>
                </a:solidFill>
                <a:latin typeface="Times New Roman"/>
                <a:ea typeface="Times New Roman"/>
                <a:cs typeface="Times New Roman"/>
              </a:defRPr>
            </a:lvl3pPr>
            <a:lvl4pPr>
              <a:defRPr sz="2175">
                <a:solidFill>
                  <a:srgbClr val="14324B"/>
                </a:solidFill>
                <a:latin typeface="Times New Roman"/>
                <a:ea typeface="Times New Roman"/>
                <a:cs typeface="Times New Roman"/>
              </a:defRPr>
            </a:lvl4pPr>
            <a:lvl5pPr>
              <a:defRPr sz="2175">
                <a:solidFill>
                  <a:srgbClr val="14324B"/>
                </a:solidFill>
                <a:latin typeface="Times New Roman"/>
                <a:ea typeface="Times New Roman"/>
                <a:cs typeface="Times New Roman"/>
              </a:defRPr>
            </a:lvl5pPr>
            <a:lvl6pPr>
              <a:defRPr sz="2175">
                <a:solidFill>
                  <a:srgbClr val="14324B"/>
                </a:solidFill>
                <a:latin typeface="Times New Roman"/>
                <a:ea typeface="Times New Roman"/>
                <a:cs typeface="Times New Roman"/>
              </a:defRPr>
            </a:lvl6pPr>
            <a:lvl7pPr>
              <a:defRPr sz="2175">
                <a:solidFill>
                  <a:srgbClr val="14324B"/>
                </a:solidFill>
                <a:latin typeface="Times New Roman"/>
                <a:ea typeface="Times New Roman"/>
                <a:cs typeface="Times New Roman"/>
              </a:defRPr>
            </a:lvl7pPr>
            <a:lvl8pPr>
              <a:defRPr sz="2175">
                <a:solidFill>
                  <a:srgbClr val="14324B"/>
                </a:solidFill>
                <a:latin typeface="Times New Roman"/>
                <a:ea typeface="Times New Roman"/>
                <a:cs typeface="Times New Roman"/>
              </a:defRPr>
            </a:lvl8pPr>
            <a:lvl9pPr>
              <a:defRPr sz="2175">
                <a:solidFill>
                  <a:srgbClr val="14324B"/>
                </a:solidFill>
                <a:latin typeface="Times New Roman"/>
                <a:ea typeface="Times New Roman"/>
                <a:cs typeface="Times New Roman"/>
              </a:defRPr>
            </a:lvl9pPr>
          </a:lstStyle>
          <a:p xmlns:a="http://schemas.openxmlformats.org/drawingml/2006/main">
            <a:pPr>
              <a:defRPr sz="2175">
                <a:solidFill>
                  <a:srgbClr val="14324B"/>
                </a:solidFill>
                <a:latin typeface="Times New Roman"/>
                <a:ea typeface="Times New Roman"/>
                <a:cs typeface="Times New Roman"/>
              </a:defRPr>
            </a:pPr>
            <a:r>
              <a:rPr sz="2175">
                <a:solidFill>
                  <a:srgbClr val="14324B"/>
                </a:solidFill>
                <a:latin typeface="Times New Roman"/>
                <a:ea typeface="Times New Roman"/>
                <a:cs typeface="Times New Roman"/>
              </a:rPr>
              <a:t>Phase A and swaps ask what fusion adds beyond a strong single.</a:t>
            </a:r>
          </a:p>
        </p:txBody>
      </p:sp>
      <p:sp>
        <p:nvSpPr>
          <p:cNvPr id="14" name="">
            <a:extLst xmlns:a="http://schemas.openxmlformats.org/drawingml/2006/main">
              <a:ext uri="{FF2B5EF4-FFF2-40B4-BE49-F238E27FC236}">
                <a16:creationId xmlns:a16="http://schemas.microsoft.com/office/drawing/2014/main" id="{B195ACD5-C463-4953-9C1C-058BF5F5C459}"/>
              </a:ext>
            </a:extLst>
          </p:cNvPr>
          <p:cNvSpPr>
            <a:spLocks xmlns:a="http://schemas.openxmlformats.org/drawingml/2006/main" noGrp="1"/>
          </p:cNvSpPr>
          <p:nvPr/>
        </p:nvSpPr>
        <p:spPr>
          <a:xfrm xmlns:a="http://schemas.openxmlformats.org/drawingml/2006/main">
            <a:off x="9286875" y="3286125"/>
            <a:ext cx="2381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4324B"/>
                </a:solidFill>
                <a:latin typeface="Times New Roman"/>
                <a:ea typeface="Times New Roman"/>
                <a:cs typeface="Times New Roman"/>
              </a:defRPr>
            </a:defPPr>
            <a:lvl1pPr>
              <a:defRPr sz="2175">
                <a:solidFill>
                  <a:srgbClr val="14324B"/>
                </a:solidFill>
                <a:latin typeface="Times New Roman"/>
                <a:ea typeface="Times New Roman"/>
                <a:cs typeface="Times New Roman"/>
              </a:defRPr>
            </a:lvl1pPr>
            <a:lvl2pPr>
              <a:defRPr sz="2175">
                <a:solidFill>
                  <a:srgbClr val="14324B"/>
                </a:solidFill>
                <a:latin typeface="Times New Roman"/>
                <a:ea typeface="Times New Roman"/>
                <a:cs typeface="Times New Roman"/>
              </a:defRPr>
            </a:lvl2pPr>
            <a:lvl3pPr>
              <a:defRPr sz="2175">
                <a:solidFill>
                  <a:srgbClr val="14324B"/>
                </a:solidFill>
                <a:latin typeface="Times New Roman"/>
                <a:ea typeface="Times New Roman"/>
                <a:cs typeface="Times New Roman"/>
              </a:defRPr>
            </a:lvl3pPr>
            <a:lvl4pPr>
              <a:defRPr sz="2175">
                <a:solidFill>
                  <a:srgbClr val="14324B"/>
                </a:solidFill>
                <a:latin typeface="Times New Roman"/>
                <a:ea typeface="Times New Roman"/>
                <a:cs typeface="Times New Roman"/>
              </a:defRPr>
            </a:lvl4pPr>
            <a:lvl5pPr>
              <a:defRPr sz="2175">
                <a:solidFill>
                  <a:srgbClr val="14324B"/>
                </a:solidFill>
                <a:latin typeface="Times New Roman"/>
                <a:ea typeface="Times New Roman"/>
                <a:cs typeface="Times New Roman"/>
              </a:defRPr>
            </a:lvl5pPr>
            <a:lvl6pPr>
              <a:defRPr sz="2175">
                <a:solidFill>
                  <a:srgbClr val="14324B"/>
                </a:solidFill>
                <a:latin typeface="Times New Roman"/>
                <a:ea typeface="Times New Roman"/>
                <a:cs typeface="Times New Roman"/>
              </a:defRPr>
            </a:lvl6pPr>
            <a:lvl7pPr>
              <a:defRPr sz="2175">
                <a:solidFill>
                  <a:srgbClr val="14324B"/>
                </a:solidFill>
                <a:latin typeface="Times New Roman"/>
                <a:ea typeface="Times New Roman"/>
                <a:cs typeface="Times New Roman"/>
              </a:defRPr>
            </a:lvl7pPr>
            <a:lvl8pPr>
              <a:defRPr sz="2175">
                <a:solidFill>
                  <a:srgbClr val="14324B"/>
                </a:solidFill>
                <a:latin typeface="Times New Roman"/>
                <a:ea typeface="Times New Roman"/>
                <a:cs typeface="Times New Roman"/>
              </a:defRPr>
            </a:lvl8pPr>
            <a:lvl9pPr>
              <a:defRPr sz="2175">
                <a:solidFill>
                  <a:srgbClr val="14324B"/>
                </a:solidFill>
                <a:latin typeface="Times New Roman"/>
                <a:ea typeface="Times New Roman"/>
                <a:cs typeface="Times New Roman"/>
              </a:defRPr>
            </a:lvl9pPr>
          </a:lstStyle>
          <a:p xmlns:a="http://schemas.openxmlformats.org/drawingml/2006/main">
            <a:pPr>
              <a:defRPr sz="2175">
                <a:solidFill>
                  <a:srgbClr val="14324B"/>
                </a:solidFill>
                <a:latin typeface="Times New Roman"/>
                <a:ea typeface="Times New Roman"/>
                <a:cs typeface="Times New Roman"/>
              </a:defRPr>
            </a:pPr>
            <a:r>
              <a:rPr sz="2175">
                <a:solidFill>
                  <a:srgbClr val="14324B"/>
                </a:solidFill>
                <a:latin typeface="Times New Roman"/>
                <a:ea typeface="Times New Roman"/>
                <a:cs typeface="Times New Roman"/>
              </a:rPr>
              <a:t>Overlap, grouping and repeats determine how far the claim extends.</a:t>
            </a:r>
          </a:p>
        </p:txBody>
      </p:sp>
      <p:sp>
        <p:nvSpPr>
          <p:cNvPr id="15" name="">
            <a:extLst xmlns:a="http://schemas.openxmlformats.org/drawingml/2006/main">
              <a:ext uri="{FF2B5EF4-FFF2-40B4-BE49-F238E27FC236}">
                <a16:creationId xmlns:a16="http://schemas.microsoft.com/office/drawing/2014/main" id="{E9114EE9-E822-4AD4-AD75-DE59D61B57D4}"/>
              </a:ext>
            </a:extLst>
          </p:cNvPr>
          <p:cNvSpPr>
            <a:spLocks xmlns:a="http://schemas.openxmlformats.org/drawingml/2006/main" noGrp="1"/>
          </p:cNvSpPr>
          <p:nvPr/>
        </p:nvSpPr>
        <p:spPr>
          <a:xfrm xmlns:a="http://schemas.openxmlformats.org/drawingml/2006/main">
            <a:off x="619125" y="5381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a:solidFill>
                  <a:srgbClr val="167D77"/>
                </a:solidFill>
                <a:latin typeface="Times New Roman"/>
                <a:ea typeface="Times New Roman"/>
                <a:cs typeface="Times New Roman"/>
              </a:defRPr>
            </a:defPPr>
            <a:lvl1pPr>
              <a:defRPr sz="2550">
                <a:solidFill>
                  <a:srgbClr val="167D77"/>
                </a:solidFill>
                <a:latin typeface="Times New Roman"/>
                <a:ea typeface="Times New Roman"/>
                <a:cs typeface="Times New Roman"/>
              </a:defRPr>
            </a:lvl1pPr>
            <a:lvl2pPr>
              <a:defRPr sz="2550">
                <a:solidFill>
                  <a:srgbClr val="167D77"/>
                </a:solidFill>
                <a:latin typeface="Times New Roman"/>
                <a:ea typeface="Times New Roman"/>
                <a:cs typeface="Times New Roman"/>
              </a:defRPr>
            </a:lvl2pPr>
            <a:lvl3pPr>
              <a:defRPr sz="2550">
                <a:solidFill>
                  <a:srgbClr val="167D77"/>
                </a:solidFill>
                <a:latin typeface="Times New Roman"/>
                <a:ea typeface="Times New Roman"/>
                <a:cs typeface="Times New Roman"/>
              </a:defRPr>
            </a:lvl3pPr>
            <a:lvl4pPr>
              <a:defRPr sz="2550">
                <a:solidFill>
                  <a:srgbClr val="167D77"/>
                </a:solidFill>
                <a:latin typeface="Times New Roman"/>
                <a:ea typeface="Times New Roman"/>
                <a:cs typeface="Times New Roman"/>
              </a:defRPr>
            </a:lvl4pPr>
            <a:lvl5pPr>
              <a:defRPr sz="2550">
                <a:solidFill>
                  <a:srgbClr val="167D77"/>
                </a:solidFill>
                <a:latin typeface="Times New Roman"/>
                <a:ea typeface="Times New Roman"/>
                <a:cs typeface="Times New Roman"/>
              </a:defRPr>
            </a:lvl5pPr>
            <a:lvl6pPr>
              <a:defRPr sz="2550">
                <a:solidFill>
                  <a:srgbClr val="167D77"/>
                </a:solidFill>
                <a:latin typeface="Times New Roman"/>
                <a:ea typeface="Times New Roman"/>
                <a:cs typeface="Times New Roman"/>
              </a:defRPr>
            </a:lvl6pPr>
            <a:lvl7pPr>
              <a:defRPr sz="2550">
                <a:solidFill>
                  <a:srgbClr val="167D77"/>
                </a:solidFill>
                <a:latin typeface="Times New Roman"/>
                <a:ea typeface="Times New Roman"/>
                <a:cs typeface="Times New Roman"/>
              </a:defRPr>
            </a:lvl7pPr>
            <a:lvl8pPr>
              <a:defRPr sz="2550">
                <a:solidFill>
                  <a:srgbClr val="167D77"/>
                </a:solidFill>
                <a:latin typeface="Times New Roman"/>
                <a:ea typeface="Times New Roman"/>
                <a:cs typeface="Times New Roman"/>
              </a:defRPr>
            </a:lvl8pPr>
            <a:lvl9pPr>
              <a:defRPr sz="2550">
                <a:solidFill>
                  <a:srgbClr val="167D77"/>
                </a:solidFill>
                <a:latin typeface="Times New Roman"/>
                <a:ea typeface="Times New Roman"/>
                <a:cs typeface="Times New Roman"/>
              </a:defRPr>
            </a:lvl9pPr>
          </a:lstStyle>
          <a:p xmlns:a="http://schemas.openxmlformats.org/drawingml/2006/main">
            <a:pPr>
              <a:defRPr sz="2550">
                <a:solidFill>
                  <a:srgbClr val="167D77"/>
                </a:solidFill>
                <a:latin typeface="Times New Roman"/>
                <a:ea typeface="Times New Roman"/>
                <a:cs typeface="Times New Roman"/>
              </a:defRPr>
            </a:pPr>
            <a:r>
              <a:rPr sz="2550">
                <a:solidFill>
                  <a:srgbClr val="167D77"/>
                </a:solidFill>
                <a:latin typeface="Times New Roman"/>
                <a:ea typeface="Times New Roman"/>
                <a:cs typeface="Times New Roman"/>
              </a:rPr>
              <a:t>A higher combined score needs a biological input explanation and a matched, credible comparison.</a:t>
            </a:r>
          </a:p>
        </p:txBody>
      </p:sp>
      <p:sp>
        <p:nvSpPr>
          <p:cNvPr id="16" name="">
            <a:extLst xmlns:a="http://schemas.openxmlformats.org/drawingml/2006/main">
              <a:ext uri="{FF2B5EF4-FFF2-40B4-BE49-F238E27FC236}">
                <a16:creationId xmlns:a16="http://schemas.microsoft.com/office/drawing/2014/main" id="{97773D36-D9B1-47A8-8BFF-B6C17188CE62}"/>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These experiments establish specific predictive comparisons. They do not establish cellular mechanisms or a general benefit from adding streams.</a:t>
            </a:r>
          </a:p>
        </p:txBody>
      </p:sp>
    </p:spTree>
    <p:extLst>
      <p:ext uri="{BB962C8B-B14F-4D97-AF65-F5344CB8AC3E}">
        <p14:creationId xmlns:p14="http://schemas.microsoft.com/office/powerpoint/2010/main" val="190233299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E72CAD2D-DCF3-4181-8360-E655F03E2FA9}"/>
              </a:ext>
            </a:extLst>
          </p:cNvPr>
          <p:cNvCxnSpPr>
            <a:stCxn xmlns:a="http://schemas.openxmlformats.org/drawingml/2006/main" id="6" idx="3"/>
            <a:endCxn xmlns:a="http://schemas.openxmlformats.org/drawingml/2006/main" id="7" idx="1"/>
          </p:cNvCxnSpPr>
          <p:nvPr/>
        </p:nvCxnSpPr>
        <p:spPr>
          <a:xfrm xmlns:a="http://schemas.openxmlformats.org/drawingml/2006/main">
            <a:off x="8429625" y="3238500"/>
            <a:ext cx="1190625"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B90DF624-AFC6-48D4-ADE5-CC5DEEDED3B1}"/>
              </a:ext>
            </a:extLst>
          </p:cNvPr>
          <p:cNvCxnSpPr>
            <a:stCxn xmlns:a="http://schemas.openxmlformats.org/drawingml/2006/main" id="5" idx="3"/>
            <a:endCxn xmlns:a="http://schemas.openxmlformats.org/drawingml/2006/main" id="6" idx="1"/>
          </p:cNvCxnSpPr>
          <p:nvPr/>
        </p:nvCxnSpPr>
        <p:spPr>
          <a:xfrm xmlns:a="http://schemas.openxmlformats.org/drawingml/2006/main">
            <a:off x="2857500" y="3238500"/>
            <a:ext cx="1190625" cy="0"/>
          </a:xfrm>
          <a:prstGeom xmlns:a="http://schemas.openxmlformats.org/drawingml/2006/main" prst="straightConnector1">
            <a:avLst/>
          </a:prstGeom>
          <a:ln xmlns:a="http://schemas.openxmlformats.org/drawingml/2006/main" w="21908">
            <a:solidFill>
              <a:srgbClr val="52636B"/>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BED2322A-9DD8-4F80-BD10-675031E590EB}"/>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9384F4-B34E-4F3E-9B6E-E101DFBD7334}"/>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What should the next matched comparison hold fixed?</a:t>
            </a:r>
          </a:p>
        </p:txBody>
      </p:sp>
      <p:sp>
        <p:nvSpPr>
          <p:cNvPr id="3" name="">
            <a:extLst xmlns:a="http://schemas.openxmlformats.org/drawingml/2006/main">
              <a:ext uri="{FF2B5EF4-FFF2-40B4-BE49-F238E27FC236}">
                <a16:creationId xmlns:a16="http://schemas.microsoft.com/office/drawing/2014/main" id="{E0F7A85D-52A5-4442-B49E-ED0F1BF05D52}"/>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Discussion: which uncertainty most needs resolving before choosing a new fusion architecture?</a:t>
            </a:r>
          </a:p>
        </p:txBody>
      </p:sp>
      <p:sp>
        <p:nvSpPr>
          <p:cNvPr id="4" name="">
            <a:extLst xmlns:a="http://schemas.openxmlformats.org/drawingml/2006/main">
              <a:ext uri="{FF2B5EF4-FFF2-40B4-BE49-F238E27FC236}">
                <a16:creationId xmlns:a16="http://schemas.microsoft.com/office/drawing/2014/main" id="{7C9EF2B6-9D81-4E45-B42B-8419D4DC61EF}"/>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20</a:t>
            </a:r>
          </a:p>
        </p:txBody>
      </p:sp>
      <p:sp>
        <p:nvSpPr>
          <p:cNvPr id="5" name="">
            <a:extLst xmlns:a="http://schemas.openxmlformats.org/drawingml/2006/main">
              <a:ext uri="{FF2B5EF4-FFF2-40B4-BE49-F238E27FC236}">
                <a16:creationId xmlns:a16="http://schemas.microsoft.com/office/drawing/2014/main" id="{DB9E83CB-6ED0-4174-9B57-BC7390D5A2FD}"/>
              </a:ext>
            </a:extLst>
          </p:cNvPr>
          <p:cNvSpPr>
            <a:spLocks xmlns:a="http://schemas.openxmlformats.org/drawingml/2006/main" noGrp="1"/>
          </p:cNvSpPr>
          <p:nvPr/>
        </p:nvSpPr>
        <p:spPr>
          <a:xfrm xmlns:a="http://schemas.openxmlformats.org/drawingml/2006/main">
            <a:off x="571500" y="2762250"/>
            <a:ext cx="2286000" cy="952500"/>
          </a:xfrm>
          <a:prstGeom xmlns:a="http://schemas.openxmlformats.org/drawingml/2006/main" prst="rect">
            <a:avLst/>
          </a:prstGeom>
          <a:solidFill xmlns:a="http://schemas.openxmlformats.org/drawingml/2006/main">
            <a:srgbClr val="E6F3EF"/>
          </a:solidFill>
          <a:ln xmlns:a="http://schemas.openxmlformats.org/drawingml/2006/main" w="14288">
            <a:solidFill>
              <a:srgbClr val="167D77"/>
            </a:solidFill>
          </a:ln>
        </p:spPr>
        <p:txBody>
          <a:bodyPr xmlns:a="http://schemas.openxmlformats.org/drawingml/2006/main" wrap="square" lIns="85725" tIns="85725" rIns="85725" bIns="85725" anchor="ctr">
            <a:noAutofit/>
          </a:bodyPr>
          <a:lstStyle xmlns:a="http://schemas.openxmlformats.org/drawingml/2006/main">
            <a:defPPr algn="ctr">
              <a:defRPr sz="2400" b="1">
                <a:solidFill>
                  <a:srgbClr val="167D77"/>
                </a:solidFill>
                <a:latin typeface="Times New Roman"/>
                <a:ea typeface="Times New Roman"/>
                <a:cs typeface="Times New Roman"/>
              </a:defRPr>
            </a:defPPr>
            <a:lvl1pPr algn="ctr">
              <a:defRPr sz="2400" b="1">
                <a:solidFill>
                  <a:srgbClr val="167D77"/>
                </a:solidFill>
                <a:latin typeface="Times New Roman"/>
                <a:ea typeface="Times New Roman"/>
                <a:cs typeface="Times New Roman"/>
              </a:defRPr>
            </a:lvl1pPr>
            <a:lvl2pPr algn="ctr">
              <a:defRPr sz="2400" b="1">
                <a:solidFill>
                  <a:srgbClr val="167D77"/>
                </a:solidFill>
                <a:latin typeface="Times New Roman"/>
                <a:ea typeface="Times New Roman"/>
                <a:cs typeface="Times New Roman"/>
              </a:defRPr>
            </a:lvl2pPr>
            <a:lvl3pPr algn="ctr">
              <a:defRPr sz="2400" b="1">
                <a:solidFill>
                  <a:srgbClr val="167D77"/>
                </a:solidFill>
                <a:latin typeface="Times New Roman"/>
                <a:ea typeface="Times New Roman"/>
                <a:cs typeface="Times New Roman"/>
              </a:defRPr>
            </a:lvl3pPr>
            <a:lvl4pPr algn="ctr">
              <a:defRPr sz="2400" b="1">
                <a:solidFill>
                  <a:srgbClr val="167D77"/>
                </a:solidFill>
                <a:latin typeface="Times New Roman"/>
                <a:ea typeface="Times New Roman"/>
                <a:cs typeface="Times New Roman"/>
              </a:defRPr>
            </a:lvl4pPr>
            <a:lvl5pPr algn="ctr">
              <a:defRPr sz="2400" b="1">
                <a:solidFill>
                  <a:srgbClr val="167D77"/>
                </a:solidFill>
                <a:latin typeface="Times New Roman"/>
                <a:ea typeface="Times New Roman"/>
                <a:cs typeface="Times New Roman"/>
              </a:defRPr>
            </a:lvl5pPr>
            <a:lvl6pPr algn="ctr">
              <a:defRPr sz="2400" b="1">
                <a:solidFill>
                  <a:srgbClr val="167D77"/>
                </a:solidFill>
                <a:latin typeface="Times New Roman"/>
                <a:ea typeface="Times New Roman"/>
                <a:cs typeface="Times New Roman"/>
              </a:defRPr>
            </a:lvl6pPr>
            <a:lvl7pPr algn="ctr">
              <a:defRPr sz="2400" b="1">
                <a:solidFill>
                  <a:srgbClr val="167D77"/>
                </a:solidFill>
                <a:latin typeface="Times New Roman"/>
                <a:ea typeface="Times New Roman"/>
                <a:cs typeface="Times New Roman"/>
              </a:defRPr>
            </a:lvl7pPr>
            <a:lvl8pPr algn="ctr">
              <a:defRPr sz="2400" b="1">
                <a:solidFill>
                  <a:srgbClr val="167D77"/>
                </a:solidFill>
                <a:latin typeface="Times New Roman"/>
                <a:ea typeface="Times New Roman"/>
                <a:cs typeface="Times New Roman"/>
              </a:defRPr>
            </a:lvl8pPr>
            <a:lvl9pPr algn="ctr">
              <a:defRPr sz="2400" b="1">
                <a:solidFill>
                  <a:srgbClr val="167D77"/>
                </a:solidFill>
                <a:latin typeface="Times New Roman"/>
                <a:ea typeface="Times New Roman"/>
                <a:cs typeface="Times New Roman"/>
              </a:defRPr>
            </a:lvl9pPr>
          </a:lstStyle>
          <a:p xmlns:a="http://schemas.openxmlformats.org/drawingml/2006/main">
            <a:pPr algn="ctr">
              <a:defRPr sz="2400" b="1">
                <a:solidFill>
                  <a:srgbClr val="167D77"/>
                </a:solidFill>
                <a:latin typeface="Times New Roman"/>
                <a:ea typeface="Times New Roman"/>
                <a:cs typeface="Times New Roman"/>
              </a:defRPr>
            </a:pPr>
            <a:r>
              <a:rPr sz="2400" b="1">
                <a:solidFill>
                  <a:srgbClr val="167D77"/>
                </a:solidFill>
                <a:latin typeface="Times New Roman"/>
                <a:ea typeface="Times New Roman"/>
                <a:cs typeface="Times New Roman"/>
              </a:rPr>
              <a:t>Current gains</a:t>
            </a:r>
          </a:p>
        </p:txBody>
      </p:sp>
      <p:sp>
        <p:nvSpPr>
          <p:cNvPr id="6" name="">
            <a:extLst xmlns:a="http://schemas.openxmlformats.org/drawingml/2006/main">
              <a:ext uri="{FF2B5EF4-FFF2-40B4-BE49-F238E27FC236}">
                <a16:creationId xmlns:a16="http://schemas.microsoft.com/office/drawing/2014/main" id="{535A4A9C-698E-4062-9EAA-5FD2453A49A8}"/>
              </a:ext>
            </a:extLst>
          </p:cNvPr>
          <p:cNvSpPr>
            <a:spLocks xmlns:a="http://schemas.openxmlformats.org/drawingml/2006/main" noGrp="1"/>
          </p:cNvSpPr>
          <p:nvPr/>
        </p:nvSpPr>
        <p:spPr>
          <a:xfrm xmlns:a="http://schemas.openxmlformats.org/drawingml/2006/main">
            <a:off x="4048125" y="2286000"/>
            <a:ext cx="4381500" cy="1905000"/>
          </a:xfrm>
          <a:prstGeom xmlns:a="http://schemas.openxmlformats.org/drawingml/2006/main" prst="rect">
            <a:avLst/>
          </a:prstGeom>
          <a:solidFill xmlns:a="http://schemas.openxmlformats.org/drawingml/2006/main">
            <a:srgbClr val="F0F4F6"/>
          </a:solidFill>
          <a:ln xmlns:a="http://schemas.openxmlformats.org/drawingml/2006/main" w="14288">
            <a:solidFill>
              <a:srgbClr val="14324B"/>
            </a:solidFill>
          </a:ln>
        </p:spPr>
        <p:txBody>
          <a:bodyPr xmlns:a="http://schemas.openxmlformats.org/drawingml/2006/main" wrap="square" lIns="85725" tIns="85725" rIns="85725" bIns="85725" anchor="ctr">
            <a:noAutofit/>
          </a:bodyPr>
          <a:lstStyle xmlns:a="http://schemas.openxmlformats.org/drawingml/2006/main">
            <a:defPPr algn="ctr">
              <a:defRPr sz="2250" b="1">
                <a:solidFill>
                  <a:srgbClr val="14324B"/>
                </a:solidFill>
                <a:latin typeface="Times New Roman"/>
                <a:ea typeface="Times New Roman"/>
                <a:cs typeface="Times New Roman"/>
              </a:defRPr>
            </a:defPPr>
            <a:lvl1pPr algn="ctr">
              <a:defRPr sz="2250" b="1">
                <a:solidFill>
                  <a:srgbClr val="14324B"/>
                </a:solidFill>
                <a:latin typeface="Times New Roman"/>
                <a:ea typeface="Times New Roman"/>
                <a:cs typeface="Times New Roman"/>
              </a:defRPr>
            </a:lvl1pPr>
            <a:lvl2pPr algn="ctr">
              <a:defRPr sz="2250" b="1">
                <a:solidFill>
                  <a:srgbClr val="14324B"/>
                </a:solidFill>
                <a:latin typeface="Times New Roman"/>
                <a:ea typeface="Times New Roman"/>
                <a:cs typeface="Times New Roman"/>
              </a:defRPr>
            </a:lvl2pPr>
            <a:lvl3pPr algn="ctr">
              <a:defRPr sz="2250" b="1">
                <a:solidFill>
                  <a:srgbClr val="14324B"/>
                </a:solidFill>
                <a:latin typeface="Times New Roman"/>
                <a:ea typeface="Times New Roman"/>
                <a:cs typeface="Times New Roman"/>
              </a:defRPr>
            </a:lvl3pPr>
            <a:lvl4pPr algn="ctr">
              <a:defRPr sz="2250" b="1">
                <a:solidFill>
                  <a:srgbClr val="14324B"/>
                </a:solidFill>
                <a:latin typeface="Times New Roman"/>
                <a:ea typeface="Times New Roman"/>
                <a:cs typeface="Times New Roman"/>
              </a:defRPr>
            </a:lvl4pPr>
            <a:lvl5pPr algn="ctr">
              <a:defRPr sz="2250" b="1">
                <a:solidFill>
                  <a:srgbClr val="14324B"/>
                </a:solidFill>
                <a:latin typeface="Times New Roman"/>
                <a:ea typeface="Times New Roman"/>
                <a:cs typeface="Times New Roman"/>
              </a:defRPr>
            </a:lvl5pPr>
            <a:lvl6pPr algn="ctr">
              <a:defRPr sz="2250" b="1">
                <a:solidFill>
                  <a:srgbClr val="14324B"/>
                </a:solidFill>
                <a:latin typeface="Times New Roman"/>
                <a:ea typeface="Times New Roman"/>
                <a:cs typeface="Times New Roman"/>
              </a:defRPr>
            </a:lvl6pPr>
            <a:lvl7pPr algn="ctr">
              <a:defRPr sz="2250" b="1">
                <a:solidFill>
                  <a:srgbClr val="14324B"/>
                </a:solidFill>
                <a:latin typeface="Times New Roman"/>
                <a:ea typeface="Times New Roman"/>
                <a:cs typeface="Times New Roman"/>
              </a:defRPr>
            </a:lvl7pPr>
            <a:lvl8pPr algn="ctr">
              <a:defRPr sz="2250" b="1">
                <a:solidFill>
                  <a:srgbClr val="14324B"/>
                </a:solidFill>
                <a:latin typeface="Times New Roman"/>
                <a:ea typeface="Times New Roman"/>
                <a:cs typeface="Times New Roman"/>
              </a:defRPr>
            </a:lvl8pPr>
            <a:lvl9pPr algn="ctr">
              <a:defRPr sz="2250" b="1">
                <a:solidFill>
                  <a:srgbClr val="14324B"/>
                </a:solidFill>
                <a:latin typeface="Times New Roman"/>
                <a:ea typeface="Times New Roman"/>
                <a:cs typeface="Times New Roman"/>
              </a:defRPr>
            </a:lvl9pPr>
          </a:lstStyle>
          <a:p xmlns:a="http://schemas.openxmlformats.org/drawingml/2006/main">
            <a:pPr algn="ctr">
              <a:defRPr sz="2250" b="1">
                <a:solidFill>
                  <a:srgbClr val="14324B"/>
                </a:solidFill>
                <a:latin typeface="Times New Roman"/>
                <a:ea typeface="Times New Roman"/>
                <a:cs typeface="Times New Roman"/>
              </a:defRPr>
            </a:pPr>
            <a:r>
              <a:rPr sz="2250" b="1">
                <a:solidFill>
                  <a:srgbClr val="14324B"/>
                </a:solidFill>
                <a:latin typeface="Times New Roman"/>
                <a:ea typeface="Times New Roman"/>
                <a:cs typeface="Times New Roman"/>
              </a:rPr>
              <a:t>Strongest single reference</a:t>
            </a:r>
          </a:p>
          <a:p xmlns:a="http://schemas.openxmlformats.org/drawingml/2006/main">
            <a:pPr algn="ctr">
              <a:defRPr sz="2250" b="1">
                <a:solidFill>
                  <a:srgbClr val="14324B"/>
                </a:solidFill>
                <a:latin typeface="Times New Roman"/>
                <a:ea typeface="Times New Roman"/>
                <a:cs typeface="Times New Roman"/>
              </a:defRPr>
            </a:pPr>
            <a:r>
              <a:rPr sz="2250" b="1">
                <a:solidFill>
                  <a:srgbClr val="14324B"/>
                </a:solidFill>
                <a:latin typeface="Times New Roman"/>
                <a:ea typeface="Times New Roman"/>
                <a:cs typeface="Times New Roman"/>
              </a:rPr>
              <a:t>Matched inputs and recipe</a:t>
            </a:r>
          </a:p>
          <a:p xmlns:a="http://schemas.openxmlformats.org/drawingml/2006/main">
            <a:pPr algn="ctr">
              <a:defRPr sz="2250" b="1">
                <a:solidFill>
                  <a:srgbClr val="14324B"/>
                </a:solidFill>
                <a:latin typeface="Times New Roman"/>
                <a:ea typeface="Times New Roman"/>
                <a:cs typeface="Times New Roman"/>
              </a:defRPr>
            </a:pPr>
            <a:r>
              <a:rPr sz="2250" b="1">
                <a:solidFill>
                  <a:srgbClr val="14324B"/>
                </a:solidFill>
                <a:latin typeface="Times New Roman"/>
                <a:ea typeface="Times New Roman"/>
                <a:cs typeface="Times New Roman"/>
              </a:rPr>
              <a:t>Grouping and repeated fits</a:t>
            </a:r>
          </a:p>
        </p:txBody>
      </p:sp>
      <p:sp>
        <p:nvSpPr>
          <p:cNvPr id="7" name="">
            <a:extLst xmlns:a="http://schemas.openxmlformats.org/drawingml/2006/main">
              <a:ext uri="{FF2B5EF4-FFF2-40B4-BE49-F238E27FC236}">
                <a16:creationId xmlns:a16="http://schemas.microsoft.com/office/drawing/2014/main" id="{F7ABF9C7-BA2D-47CE-B033-DA80E8A65B3D}"/>
              </a:ext>
            </a:extLst>
          </p:cNvPr>
          <p:cNvSpPr>
            <a:spLocks xmlns:a="http://schemas.openxmlformats.org/drawingml/2006/main" noGrp="1"/>
          </p:cNvSpPr>
          <p:nvPr/>
        </p:nvSpPr>
        <p:spPr>
          <a:xfrm xmlns:a="http://schemas.openxmlformats.org/drawingml/2006/main">
            <a:off x="9620250" y="2762250"/>
            <a:ext cx="2095500" cy="952500"/>
          </a:xfrm>
          <a:prstGeom xmlns:a="http://schemas.openxmlformats.org/drawingml/2006/main" prst="rect">
            <a:avLst/>
          </a:prstGeom>
          <a:solidFill xmlns:a="http://schemas.openxmlformats.org/drawingml/2006/main">
            <a:srgbClr val="FAEEE6"/>
          </a:solidFill>
          <a:ln xmlns:a="http://schemas.openxmlformats.org/drawingml/2006/main" w="14288">
            <a:solidFill>
              <a:srgbClr val="B3683D"/>
            </a:solidFill>
          </a:ln>
        </p:spPr>
        <p:txBody>
          <a:bodyPr xmlns:a="http://schemas.openxmlformats.org/drawingml/2006/main" wrap="square" lIns="85725" tIns="85725" rIns="85725" bIns="85725" anchor="ctr">
            <a:noAutofit/>
          </a:bodyPr>
          <a:lstStyle xmlns:a="http://schemas.openxmlformats.org/drawingml/2006/main">
            <a:defPPr algn="ctr">
              <a:defRPr sz="2100" b="1">
                <a:solidFill>
                  <a:srgbClr val="B3683D"/>
                </a:solidFill>
                <a:latin typeface="Times New Roman"/>
                <a:ea typeface="Times New Roman"/>
                <a:cs typeface="Times New Roman"/>
              </a:defRPr>
            </a:defPPr>
            <a:lvl1pPr algn="ctr">
              <a:defRPr sz="2100" b="1">
                <a:solidFill>
                  <a:srgbClr val="B3683D"/>
                </a:solidFill>
                <a:latin typeface="Times New Roman"/>
                <a:ea typeface="Times New Roman"/>
                <a:cs typeface="Times New Roman"/>
              </a:defRPr>
            </a:lvl1pPr>
            <a:lvl2pPr algn="ctr">
              <a:defRPr sz="2100" b="1">
                <a:solidFill>
                  <a:srgbClr val="B3683D"/>
                </a:solidFill>
                <a:latin typeface="Times New Roman"/>
                <a:ea typeface="Times New Roman"/>
                <a:cs typeface="Times New Roman"/>
              </a:defRPr>
            </a:lvl2pPr>
            <a:lvl3pPr algn="ctr">
              <a:defRPr sz="2100" b="1">
                <a:solidFill>
                  <a:srgbClr val="B3683D"/>
                </a:solidFill>
                <a:latin typeface="Times New Roman"/>
                <a:ea typeface="Times New Roman"/>
                <a:cs typeface="Times New Roman"/>
              </a:defRPr>
            </a:lvl3pPr>
            <a:lvl4pPr algn="ctr">
              <a:defRPr sz="2100" b="1">
                <a:solidFill>
                  <a:srgbClr val="B3683D"/>
                </a:solidFill>
                <a:latin typeface="Times New Roman"/>
                <a:ea typeface="Times New Roman"/>
                <a:cs typeface="Times New Roman"/>
              </a:defRPr>
            </a:lvl4pPr>
            <a:lvl5pPr algn="ctr">
              <a:defRPr sz="2100" b="1">
                <a:solidFill>
                  <a:srgbClr val="B3683D"/>
                </a:solidFill>
                <a:latin typeface="Times New Roman"/>
                <a:ea typeface="Times New Roman"/>
                <a:cs typeface="Times New Roman"/>
              </a:defRPr>
            </a:lvl5pPr>
            <a:lvl6pPr algn="ctr">
              <a:defRPr sz="2100" b="1">
                <a:solidFill>
                  <a:srgbClr val="B3683D"/>
                </a:solidFill>
                <a:latin typeface="Times New Roman"/>
                <a:ea typeface="Times New Roman"/>
                <a:cs typeface="Times New Roman"/>
              </a:defRPr>
            </a:lvl6pPr>
            <a:lvl7pPr algn="ctr">
              <a:defRPr sz="2100" b="1">
                <a:solidFill>
                  <a:srgbClr val="B3683D"/>
                </a:solidFill>
                <a:latin typeface="Times New Roman"/>
                <a:ea typeface="Times New Roman"/>
                <a:cs typeface="Times New Roman"/>
              </a:defRPr>
            </a:lvl7pPr>
            <a:lvl8pPr algn="ctr">
              <a:defRPr sz="2100" b="1">
                <a:solidFill>
                  <a:srgbClr val="B3683D"/>
                </a:solidFill>
                <a:latin typeface="Times New Roman"/>
                <a:ea typeface="Times New Roman"/>
                <a:cs typeface="Times New Roman"/>
              </a:defRPr>
            </a:lvl8pPr>
            <a:lvl9pPr algn="ctr">
              <a:defRPr sz="2100" b="1">
                <a:solidFill>
                  <a:srgbClr val="B3683D"/>
                </a:solidFill>
                <a:latin typeface="Times New Roman"/>
                <a:ea typeface="Times New Roman"/>
                <a:cs typeface="Times New Roman"/>
              </a:defRPr>
            </a:lvl9pPr>
          </a:lstStyle>
          <a:p xmlns:a="http://schemas.openxmlformats.org/drawingml/2006/main">
            <a:pPr algn="ctr">
              <a:defRPr sz="2100" b="1">
                <a:solidFill>
                  <a:srgbClr val="B3683D"/>
                </a:solidFill>
                <a:latin typeface="Times New Roman"/>
                <a:ea typeface="Times New Roman"/>
                <a:cs typeface="Times New Roman"/>
              </a:defRPr>
            </a:pPr>
            <a:r>
              <a:rPr sz="2100" b="1">
                <a:solidFill>
                  <a:srgbClr val="B3683D"/>
                </a:solidFill>
                <a:latin typeface="Times New Roman"/>
                <a:ea typeface="Times New Roman"/>
                <a:cs typeface="Times New Roman"/>
              </a:rPr>
              <a:t>Matched architecture</a:t>
            </a:r>
          </a:p>
          <a:p xmlns:a="http://schemas.openxmlformats.org/drawingml/2006/main">
            <a:pPr algn="ctr">
              <a:defRPr sz="2100" b="1">
                <a:solidFill>
                  <a:srgbClr val="B3683D"/>
                </a:solidFill>
                <a:latin typeface="Times New Roman"/>
                <a:ea typeface="Times New Roman"/>
                <a:cs typeface="Times New Roman"/>
              </a:defRPr>
            </a:pPr>
            <a:r>
              <a:rPr sz="2100" b="1">
                <a:solidFill>
                  <a:srgbClr val="B3683D"/>
                </a:solidFill>
                <a:latin typeface="Times New Roman"/>
                <a:ea typeface="Times New Roman"/>
                <a:cs typeface="Times New Roman"/>
              </a:rPr>
              <a:t>comparison</a:t>
            </a:r>
          </a:p>
        </p:txBody>
      </p:sp>
      <p:sp>
        <p:nvSpPr>
          <p:cNvPr id="10" name="">
            <a:extLst xmlns:a="http://schemas.openxmlformats.org/drawingml/2006/main">
              <a:ext uri="{FF2B5EF4-FFF2-40B4-BE49-F238E27FC236}">
                <a16:creationId xmlns:a16="http://schemas.microsoft.com/office/drawing/2014/main" id="{256DC5E5-0894-4DDA-957B-1D8CD0559FF6}"/>
              </a:ext>
            </a:extLst>
          </p:cNvPr>
          <p:cNvSpPr>
            <a:spLocks xmlns:a="http://schemas.openxmlformats.org/drawingml/2006/main" noGrp="1"/>
          </p:cNvSpPr>
          <p:nvPr/>
        </p:nvSpPr>
        <p:spPr>
          <a:xfrm xmlns:a="http://schemas.openxmlformats.org/drawingml/2006/main">
            <a:off x="619125" y="495300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324B"/>
                </a:solidFill>
                <a:latin typeface="Times New Roman"/>
                <a:ea typeface="Times New Roman"/>
                <a:cs typeface="Times New Roman"/>
              </a:defRPr>
            </a:defPPr>
            <a:lvl1pPr>
              <a:defRPr sz="2250" b="1">
                <a:solidFill>
                  <a:srgbClr val="14324B"/>
                </a:solidFill>
                <a:latin typeface="Times New Roman"/>
                <a:ea typeface="Times New Roman"/>
                <a:cs typeface="Times New Roman"/>
              </a:defRPr>
            </a:lvl1pPr>
            <a:lvl2pPr>
              <a:defRPr sz="2250" b="1">
                <a:solidFill>
                  <a:srgbClr val="14324B"/>
                </a:solidFill>
                <a:latin typeface="Times New Roman"/>
                <a:ea typeface="Times New Roman"/>
                <a:cs typeface="Times New Roman"/>
              </a:defRPr>
            </a:lvl2pPr>
            <a:lvl3pPr>
              <a:defRPr sz="2250" b="1">
                <a:solidFill>
                  <a:srgbClr val="14324B"/>
                </a:solidFill>
                <a:latin typeface="Times New Roman"/>
                <a:ea typeface="Times New Roman"/>
                <a:cs typeface="Times New Roman"/>
              </a:defRPr>
            </a:lvl3pPr>
            <a:lvl4pPr>
              <a:defRPr sz="2250" b="1">
                <a:solidFill>
                  <a:srgbClr val="14324B"/>
                </a:solidFill>
                <a:latin typeface="Times New Roman"/>
                <a:ea typeface="Times New Roman"/>
                <a:cs typeface="Times New Roman"/>
              </a:defRPr>
            </a:lvl4pPr>
            <a:lvl5pPr>
              <a:defRPr sz="2250" b="1">
                <a:solidFill>
                  <a:srgbClr val="14324B"/>
                </a:solidFill>
                <a:latin typeface="Times New Roman"/>
                <a:ea typeface="Times New Roman"/>
                <a:cs typeface="Times New Roman"/>
              </a:defRPr>
            </a:lvl5pPr>
            <a:lvl6pPr>
              <a:defRPr sz="2250" b="1">
                <a:solidFill>
                  <a:srgbClr val="14324B"/>
                </a:solidFill>
                <a:latin typeface="Times New Roman"/>
                <a:ea typeface="Times New Roman"/>
                <a:cs typeface="Times New Roman"/>
              </a:defRPr>
            </a:lvl6pPr>
            <a:lvl7pPr>
              <a:defRPr sz="2250" b="1">
                <a:solidFill>
                  <a:srgbClr val="14324B"/>
                </a:solidFill>
                <a:latin typeface="Times New Roman"/>
                <a:ea typeface="Times New Roman"/>
                <a:cs typeface="Times New Roman"/>
              </a:defRPr>
            </a:lvl7pPr>
            <a:lvl8pPr>
              <a:defRPr sz="2250" b="1">
                <a:solidFill>
                  <a:srgbClr val="14324B"/>
                </a:solidFill>
                <a:latin typeface="Times New Roman"/>
                <a:ea typeface="Times New Roman"/>
                <a:cs typeface="Times New Roman"/>
              </a:defRPr>
            </a:lvl8pPr>
            <a:lvl9pPr>
              <a:defRPr sz="2250" b="1">
                <a:solidFill>
                  <a:srgbClr val="14324B"/>
                </a:solidFill>
                <a:latin typeface="Times New Roman"/>
                <a:ea typeface="Times New Roman"/>
                <a:cs typeface="Times New Roman"/>
              </a:defRPr>
            </a:lvl9pPr>
          </a:lstStyle>
          <a:p xmlns:a="http://schemas.openxmlformats.org/drawingml/2006/main">
            <a:pPr>
              <a:defRPr sz="2250" b="1">
                <a:solidFill>
                  <a:srgbClr val="14324B"/>
                </a:solidFill>
                <a:latin typeface="Times New Roman"/>
                <a:ea typeface="Times New Roman"/>
                <a:cs typeface="Times New Roman"/>
              </a:defRPr>
            </a:pPr>
            <a:r>
              <a:rPr sz="2250" b="1">
                <a:solidFill>
                  <a:srgbClr val="14324B"/>
                </a:solidFill>
                <a:latin typeface="Times New Roman"/>
                <a:ea typeface="Times New Roman"/>
                <a:cs typeface="Times New Roman"/>
              </a:rPr>
              <a:t>Complete the swaps</a:t>
            </a:r>
          </a:p>
        </p:txBody>
      </p:sp>
      <p:sp>
        <p:nvSpPr>
          <p:cNvPr id="11" name="">
            <a:extLst xmlns:a="http://schemas.openxmlformats.org/drawingml/2006/main">
              <a:ext uri="{FF2B5EF4-FFF2-40B4-BE49-F238E27FC236}">
                <a16:creationId xmlns:a16="http://schemas.microsoft.com/office/drawing/2014/main" id="{D7AD97C0-2C74-4ECC-95F9-BE5A834CBAE9}"/>
              </a:ext>
            </a:extLst>
          </p:cNvPr>
          <p:cNvSpPr>
            <a:spLocks xmlns:a="http://schemas.openxmlformats.org/drawingml/2006/main" noGrp="1"/>
          </p:cNvSpPr>
          <p:nvPr/>
        </p:nvSpPr>
        <p:spPr>
          <a:xfrm xmlns:a="http://schemas.openxmlformats.org/drawingml/2006/main">
            <a:off x="4286250" y="4953000"/>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324B"/>
                </a:solidFill>
                <a:latin typeface="Times New Roman"/>
                <a:ea typeface="Times New Roman"/>
                <a:cs typeface="Times New Roman"/>
              </a:defRPr>
            </a:defPPr>
            <a:lvl1pPr>
              <a:defRPr sz="2250" b="1">
                <a:solidFill>
                  <a:srgbClr val="14324B"/>
                </a:solidFill>
                <a:latin typeface="Times New Roman"/>
                <a:ea typeface="Times New Roman"/>
                <a:cs typeface="Times New Roman"/>
              </a:defRPr>
            </a:lvl1pPr>
            <a:lvl2pPr>
              <a:defRPr sz="2250" b="1">
                <a:solidFill>
                  <a:srgbClr val="14324B"/>
                </a:solidFill>
                <a:latin typeface="Times New Roman"/>
                <a:ea typeface="Times New Roman"/>
                <a:cs typeface="Times New Roman"/>
              </a:defRPr>
            </a:lvl2pPr>
            <a:lvl3pPr>
              <a:defRPr sz="2250" b="1">
                <a:solidFill>
                  <a:srgbClr val="14324B"/>
                </a:solidFill>
                <a:latin typeface="Times New Roman"/>
                <a:ea typeface="Times New Roman"/>
                <a:cs typeface="Times New Roman"/>
              </a:defRPr>
            </a:lvl3pPr>
            <a:lvl4pPr>
              <a:defRPr sz="2250" b="1">
                <a:solidFill>
                  <a:srgbClr val="14324B"/>
                </a:solidFill>
                <a:latin typeface="Times New Roman"/>
                <a:ea typeface="Times New Roman"/>
                <a:cs typeface="Times New Roman"/>
              </a:defRPr>
            </a:lvl4pPr>
            <a:lvl5pPr>
              <a:defRPr sz="2250" b="1">
                <a:solidFill>
                  <a:srgbClr val="14324B"/>
                </a:solidFill>
                <a:latin typeface="Times New Roman"/>
                <a:ea typeface="Times New Roman"/>
                <a:cs typeface="Times New Roman"/>
              </a:defRPr>
            </a:lvl5pPr>
            <a:lvl6pPr>
              <a:defRPr sz="2250" b="1">
                <a:solidFill>
                  <a:srgbClr val="14324B"/>
                </a:solidFill>
                <a:latin typeface="Times New Roman"/>
                <a:ea typeface="Times New Roman"/>
                <a:cs typeface="Times New Roman"/>
              </a:defRPr>
            </a:lvl6pPr>
            <a:lvl7pPr>
              <a:defRPr sz="2250" b="1">
                <a:solidFill>
                  <a:srgbClr val="14324B"/>
                </a:solidFill>
                <a:latin typeface="Times New Roman"/>
                <a:ea typeface="Times New Roman"/>
                <a:cs typeface="Times New Roman"/>
              </a:defRPr>
            </a:lvl7pPr>
            <a:lvl8pPr>
              <a:defRPr sz="2250" b="1">
                <a:solidFill>
                  <a:srgbClr val="14324B"/>
                </a:solidFill>
                <a:latin typeface="Times New Roman"/>
                <a:ea typeface="Times New Roman"/>
                <a:cs typeface="Times New Roman"/>
              </a:defRPr>
            </a:lvl8pPr>
            <a:lvl9pPr>
              <a:defRPr sz="2250" b="1">
                <a:solidFill>
                  <a:srgbClr val="14324B"/>
                </a:solidFill>
                <a:latin typeface="Times New Roman"/>
                <a:ea typeface="Times New Roman"/>
                <a:cs typeface="Times New Roman"/>
              </a:defRPr>
            </a:lvl9pPr>
          </a:lstStyle>
          <a:p xmlns:a="http://schemas.openxmlformats.org/drawingml/2006/main">
            <a:pPr>
              <a:defRPr sz="2250" b="1">
                <a:solidFill>
                  <a:srgbClr val="14324B"/>
                </a:solidFill>
                <a:latin typeface="Times New Roman"/>
                <a:ea typeface="Times New Roman"/>
                <a:cs typeface="Times New Roman"/>
              </a:defRPr>
            </a:pPr>
            <a:r>
              <a:rPr sz="2250" b="1">
                <a:solidFill>
                  <a:srgbClr val="14324B"/>
                </a:solidFill>
                <a:latin typeface="Times New Roman"/>
                <a:ea typeface="Times New Roman"/>
                <a:cs typeface="Times New Roman"/>
              </a:rPr>
              <a:t>Repeat and strengthen evaluation</a:t>
            </a:r>
          </a:p>
        </p:txBody>
      </p:sp>
      <p:sp>
        <p:nvSpPr>
          <p:cNvPr id="12" name="">
            <a:extLst xmlns:a="http://schemas.openxmlformats.org/drawingml/2006/main">
              <a:ext uri="{FF2B5EF4-FFF2-40B4-BE49-F238E27FC236}">
                <a16:creationId xmlns:a16="http://schemas.microsoft.com/office/drawing/2014/main" id="{E30C6E04-348E-4904-847B-B7DEEF5861A6}"/>
              </a:ext>
            </a:extLst>
          </p:cNvPr>
          <p:cNvSpPr>
            <a:spLocks xmlns:a="http://schemas.openxmlformats.org/drawingml/2006/main" noGrp="1"/>
          </p:cNvSpPr>
          <p:nvPr/>
        </p:nvSpPr>
        <p:spPr>
          <a:xfrm xmlns:a="http://schemas.openxmlformats.org/drawingml/2006/main">
            <a:off x="8858250" y="4953000"/>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324B"/>
                </a:solidFill>
                <a:latin typeface="Times New Roman"/>
                <a:ea typeface="Times New Roman"/>
                <a:cs typeface="Times New Roman"/>
              </a:defRPr>
            </a:defPPr>
            <a:lvl1pPr>
              <a:defRPr sz="2250" b="1">
                <a:solidFill>
                  <a:srgbClr val="14324B"/>
                </a:solidFill>
                <a:latin typeface="Times New Roman"/>
                <a:ea typeface="Times New Roman"/>
                <a:cs typeface="Times New Roman"/>
              </a:defRPr>
            </a:lvl1pPr>
            <a:lvl2pPr>
              <a:defRPr sz="2250" b="1">
                <a:solidFill>
                  <a:srgbClr val="14324B"/>
                </a:solidFill>
                <a:latin typeface="Times New Roman"/>
                <a:ea typeface="Times New Roman"/>
                <a:cs typeface="Times New Roman"/>
              </a:defRPr>
            </a:lvl2pPr>
            <a:lvl3pPr>
              <a:defRPr sz="2250" b="1">
                <a:solidFill>
                  <a:srgbClr val="14324B"/>
                </a:solidFill>
                <a:latin typeface="Times New Roman"/>
                <a:ea typeface="Times New Roman"/>
                <a:cs typeface="Times New Roman"/>
              </a:defRPr>
            </a:lvl3pPr>
            <a:lvl4pPr>
              <a:defRPr sz="2250" b="1">
                <a:solidFill>
                  <a:srgbClr val="14324B"/>
                </a:solidFill>
                <a:latin typeface="Times New Roman"/>
                <a:ea typeface="Times New Roman"/>
                <a:cs typeface="Times New Roman"/>
              </a:defRPr>
            </a:lvl4pPr>
            <a:lvl5pPr>
              <a:defRPr sz="2250" b="1">
                <a:solidFill>
                  <a:srgbClr val="14324B"/>
                </a:solidFill>
                <a:latin typeface="Times New Roman"/>
                <a:ea typeface="Times New Roman"/>
                <a:cs typeface="Times New Roman"/>
              </a:defRPr>
            </a:lvl5pPr>
            <a:lvl6pPr>
              <a:defRPr sz="2250" b="1">
                <a:solidFill>
                  <a:srgbClr val="14324B"/>
                </a:solidFill>
                <a:latin typeface="Times New Roman"/>
                <a:ea typeface="Times New Roman"/>
                <a:cs typeface="Times New Roman"/>
              </a:defRPr>
            </a:lvl6pPr>
            <a:lvl7pPr>
              <a:defRPr sz="2250" b="1">
                <a:solidFill>
                  <a:srgbClr val="14324B"/>
                </a:solidFill>
                <a:latin typeface="Times New Roman"/>
                <a:ea typeface="Times New Roman"/>
                <a:cs typeface="Times New Roman"/>
              </a:defRPr>
            </a:lvl7pPr>
            <a:lvl8pPr>
              <a:defRPr sz="2250" b="1">
                <a:solidFill>
                  <a:srgbClr val="14324B"/>
                </a:solidFill>
                <a:latin typeface="Times New Roman"/>
                <a:ea typeface="Times New Roman"/>
                <a:cs typeface="Times New Roman"/>
              </a:defRPr>
            </a:lvl8pPr>
            <a:lvl9pPr>
              <a:defRPr sz="2250" b="1">
                <a:solidFill>
                  <a:srgbClr val="14324B"/>
                </a:solidFill>
                <a:latin typeface="Times New Roman"/>
                <a:ea typeface="Times New Roman"/>
                <a:cs typeface="Times New Roman"/>
              </a:defRPr>
            </a:lvl9pPr>
          </a:lstStyle>
          <a:p xmlns:a="http://schemas.openxmlformats.org/drawingml/2006/main">
            <a:pPr>
              <a:defRPr sz="2250" b="1">
                <a:solidFill>
                  <a:srgbClr val="14324B"/>
                </a:solidFill>
                <a:latin typeface="Times New Roman"/>
                <a:ea typeface="Times New Roman"/>
                <a:cs typeface="Times New Roman"/>
              </a:defRPr>
            </a:pPr>
            <a:r>
              <a:rPr sz="2250" b="1">
                <a:solidFill>
                  <a:srgbClr val="14324B"/>
                </a:solidFill>
                <a:latin typeface="Times New Roman"/>
                <a:ea typeface="Times New Roman"/>
                <a:cs typeface="Times New Roman"/>
              </a:rPr>
              <a:t>Then compare designs</a:t>
            </a:r>
          </a:p>
        </p:txBody>
      </p:sp>
      <p:sp>
        <p:nvSpPr>
          <p:cNvPr id="13" name="">
            <a:extLst xmlns:a="http://schemas.openxmlformats.org/drawingml/2006/main">
              <a:ext uri="{FF2B5EF4-FFF2-40B4-BE49-F238E27FC236}">
                <a16:creationId xmlns:a16="http://schemas.microsoft.com/office/drawing/2014/main" id="{BB8E8DD4-4710-48C1-A536-0B3107761D3C}"/>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Existing plan: swaps (Details 24), GTEx repeats (44), full-transcript comparisons (42), then Coupled Mamba feasibility/evaluation (20–21).</a:t>
            </a:r>
          </a:p>
        </p:txBody>
      </p:sp>
    </p:spTree>
    <p:extLst>
      <p:ext uri="{BB962C8B-B14F-4D97-AF65-F5344CB8AC3E}">
        <p14:creationId xmlns:p14="http://schemas.microsoft.com/office/powerpoint/2010/main" val="155254520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7982B5-EDD0-4CC5-B1E3-CF9FCF8FC6E2}"/>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0D2FD3-B27D-4479-91C4-90FA628EEAB9}"/>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Appendix: mRFP controls and the residual test</a:t>
            </a:r>
          </a:p>
        </p:txBody>
      </p:sp>
      <p:sp>
        <p:nvSpPr>
          <p:cNvPr id="3" name="">
            <a:extLst xmlns:a="http://schemas.openxmlformats.org/drawingml/2006/main">
              <a:ext uri="{FF2B5EF4-FFF2-40B4-BE49-F238E27FC236}">
                <a16:creationId xmlns:a16="http://schemas.microsoft.com/office/drawing/2014/main" id="{6C8DF333-FC5E-4595-9CBC-BD2FCFB3224E}"/>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21</a:t>
            </a:r>
          </a:p>
        </p:txBody>
      </p:sp>
      <p:graphicFrame>
        <p:nvGraphicFramePr>
          <p:cNvPr id="4" name="">
            <a:extLst xmlns:a="http://schemas.openxmlformats.org/drawingml/2006/main">
              <a:ext uri="{FF2B5EF4-FFF2-40B4-BE49-F238E27FC236}">
                <a16:creationId xmlns:a16="http://schemas.microsoft.com/office/drawing/2014/main" id="{6F99C318-B735-49D1-AB13-DB0F546FC14B}"/>
              </a:ext>
            </a:extLst>
          </p:cNvPr>
          <p:cNvGraphicFramePr/>
          <p:nvPr/>
        </p:nvGraphicFramePr>
        <p:xfrm>
          <a:off xmlns:a="http://schemas.openxmlformats.org/drawingml/2006/main" x="428625" y="1809750"/>
          <a:ext xmlns:a="http://schemas.openxmlformats.org/drawingml/2006/main" cx="11239500" cy="3143250"/>
        </p:xfrm>
        <a:graphic xmlns:a="http://schemas.openxmlformats.org/drawingml/2006/main">
          <a:graphicData uri="http://schemas.openxmlformats.org/drawingml/2006/table">
            <a:tbl>
              <a:tblPr/>
              <a:tblGrid>
                <a:gridCol w="3048000"/>
                <a:gridCol w="8191500"/>
              </a:tblGrid>
              <a:tr h="628650">
                <a:tc>
                  <a:txBody>
                    <a:bodyPr/>
                    <a:lstStyle/>
                    <a:p>
                      <a:r>
                        <a:rPr sz="1950" b="1">
                          <a:solidFill>
                            <a:srgbClr val="FFFFFF"/>
                          </a:solidFill>
                          <a:latin typeface="Times New Roman"/>
                          <a:ea typeface="Times New Roman"/>
                          <a:cs typeface="Times New Roman"/>
                        </a:rPr>
                        <a:t>Control</a:t>
                      </a:r>
                    </a:p>
                  </a:txBody>
                  <a:tcPr marL="123825" marR="123825" marT="95250" marB="95250" anchor="ctr">
                    <a:lnL w="6668">
                      <a:solidFill>
                        <a:srgbClr val="D7E0E5"/>
                      </a:solidFill>
                      <a:prstDash val="solid"/>
                    </a:lnL>
                    <a:lnR w="6668">
                      <a:solidFill>
                        <a:srgbClr val="D7E0E5"/>
                      </a:solidFill>
                      <a:prstDash val="solid"/>
                    </a:lnR>
                    <a:lnT w="6668">
                      <a:solidFill>
                        <a:srgbClr val="D7E0E5"/>
                      </a:solidFill>
                      <a:prstDash val="solid"/>
                    </a:lnT>
                    <a:lnB w="6668">
                      <a:solidFill>
                        <a:srgbClr val="D7E0E5"/>
                      </a:solidFill>
                      <a:prstDash val="solid"/>
                    </a:lnB>
                    <a:solidFill>
                      <a:srgbClr val="12324E"/>
                    </a:solidFill>
                  </a:tcPr>
                </a:tc>
                <a:tc>
                  <a:txBody>
                    <a:bodyPr/>
                    <a:lstStyle/>
                    <a:p>
                      <a:r>
                        <a:rPr sz="1950" b="1">
                          <a:solidFill>
                            <a:srgbClr val="FFFFFF"/>
                          </a:solidFill>
                          <a:latin typeface="Times New Roman"/>
                          <a:ea typeface="Times New Roman"/>
                          <a:cs typeface="Times New Roman"/>
                        </a:rPr>
                        <a:t>Meaning</a:t>
                      </a:r>
                    </a:p>
                  </a:txBody>
                  <a:tcPr marL="123825" marR="123825" marT="95250" marB="95250" anchor="ctr">
                    <a:lnR w="6668">
                      <a:solidFill>
                        <a:srgbClr val="D7E0E5"/>
                      </a:solidFill>
                      <a:prstDash val="solid"/>
                    </a:lnR>
                    <a:lnT w="6668">
                      <a:solidFill>
                        <a:srgbClr val="D7E0E5"/>
                      </a:solidFill>
                      <a:prstDash val="solid"/>
                    </a:lnT>
                    <a:lnB w="6668">
                      <a:solidFill>
                        <a:srgbClr val="D7E0E5"/>
                      </a:solidFill>
                      <a:prstDash val="solid"/>
                    </a:lnB>
                    <a:solidFill>
                      <a:srgbClr val="12324E"/>
                    </a:solidFill>
                  </a:tcPr>
                </a:tc>
              </a:tr>
              <a:tr h="628650">
                <a:tc>
                  <a:txBody>
                    <a:bodyPr/>
                    <a:lstStyle/>
                    <a:p>
                      <a:r>
                        <a:rPr sz="1950">
                          <a:solidFill>
                            <a:srgbClr val="14324B"/>
                          </a:solidFill>
                          <a:latin typeface="Times New Roman"/>
                          <a:ea typeface="Times New Roman"/>
                          <a:cs typeface="Times New Roman"/>
                        </a:rPr>
                        <a:t>GC / GC3</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950">
                          <a:solidFill>
                            <a:srgbClr val="14324B"/>
                          </a:solidFill>
                          <a:latin typeface="Times New Roman"/>
                          <a:ea typeface="Times New Roman"/>
                          <a:cs typeface="Times New Roman"/>
                        </a:rPr>
                        <a:t>G or C fraction across the sequence / at third codon positions</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r h="628650">
                <a:tc>
                  <a:txBody>
                    <a:bodyPr/>
                    <a:lstStyle/>
                    <a:p>
                      <a:r>
                        <a:rPr sz="1950">
                          <a:solidFill>
                            <a:srgbClr val="14324B"/>
                          </a:solidFill>
                          <a:latin typeface="Times New Roman"/>
                          <a:ea typeface="Times New Roman"/>
                          <a:cs typeface="Times New Roman"/>
                        </a:rPr>
                        <a:t>64 codon frequencies</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950">
                          <a:solidFill>
                            <a:srgbClr val="14324B"/>
                          </a:solidFill>
                          <a:latin typeface="Times New Roman"/>
                          <a:ea typeface="Times New Roman"/>
                          <a:cs typeface="Times New Roman"/>
                        </a:rPr>
                        <a:t>Fractions of nonoverlapping coding-frame triplets</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r h="628650">
                <a:tc>
                  <a:txBody>
                    <a:bodyPr/>
                    <a:lstStyle/>
                    <a:p>
                      <a:r>
                        <a:rPr sz="1950">
                          <a:solidFill>
                            <a:srgbClr val="14324B"/>
                          </a:solidFill>
                          <a:latin typeface="Times New Roman"/>
                          <a:ea typeface="Times New Roman"/>
                          <a:cs typeface="Times New Roman"/>
                        </a:rPr>
                        <a:t>Nussinov / ViennaRNA</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950">
                          <a:solidFill>
                            <a:srgbClr val="14324B"/>
                          </a:solidFill>
                          <a:latin typeface="Times New Roman"/>
                          <a:ea typeface="Times New Roman"/>
                          <a:cs typeface="Times New Roman"/>
                        </a:rPr>
                        <a:t>Pairing summary for first 200 nt / estimated free energy for first 60 nt and full sequence</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r h="628650">
                <a:tc>
                  <a:txBody>
                    <a:bodyPr/>
                    <a:lstStyle/>
                    <a:p>
                      <a:r>
                        <a:rPr sz="1950">
                          <a:solidFill>
                            <a:srgbClr val="14324B"/>
                          </a:solidFill>
                          <a:latin typeface="Times New Roman"/>
                          <a:ea typeface="Times New Roman"/>
                          <a:cs typeface="Times New Roman"/>
                        </a:rPr>
                        <a:t>Residual test</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950">
                          <a:solidFill>
                            <a:srgbClr val="14324B"/>
                          </a:solidFill>
                          <a:latin typeface="Times New Roman"/>
                          <a:ea typeface="Times New Roman"/>
                          <a:cs typeface="Times New Roman"/>
                        </a:rPr>
                        <a:t>Inner grouped control predictions define training errors; a second ridge predictor learns them from embeddings</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90EA78B-058D-4EBA-94DD-3BDA78005CDB}"/>
              </a:ext>
            </a:extLst>
          </p:cNvPr>
          <p:cNvSpPr>
            <a:spLocks xmlns:a="http://schemas.openxmlformats.org/drawingml/2006/main" noGrp="1"/>
          </p:cNvSpPr>
          <p:nvPr/>
        </p:nvSpPr>
        <p:spPr>
          <a:xfrm xmlns:a="http://schemas.openxmlformats.org/drawingml/2006/main">
            <a:off x="523875" y="52863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4324B"/>
                </a:solidFill>
                <a:latin typeface="Times New Roman"/>
                <a:ea typeface="Times New Roman"/>
                <a:cs typeface="Times New Roman"/>
              </a:defRPr>
            </a:defPPr>
            <a:lvl1pPr>
              <a:defRPr sz="2250">
                <a:solidFill>
                  <a:srgbClr val="14324B"/>
                </a:solidFill>
                <a:latin typeface="Times New Roman"/>
                <a:ea typeface="Times New Roman"/>
                <a:cs typeface="Times New Roman"/>
              </a:defRPr>
            </a:lvl1pPr>
            <a:lvl2pPr>
              <a:defRPr sz="2250">
                <a:solidFill>
                  <a:srgbClr val="14324B"/>
                </a:solidFill>
                <a:latin typeface="Times New Roman"/>
                <a:ea typeface="Times New Roman"/>
                <a:cs typeface="Times New Roman"/>
              </a:defRPr>
            </a:lvl2pPr>
            <a:lvl3pPr>
              <a:defRPr sz="2250">
                <a:solidFill>
                  <a:srgbClr val="14324B"/>
                </a:solidFill>
                <a:latin typeface="Times New Roman"/>
                <a:ea typeface="Times New Roman"/>
                <a:cs typeface="Times New Roman"/>
              </a:defRPr>
            </a:lvl3pPr>
            <a:lvl4pPr>
              <a:defRPr sz="2250">
                <a:solidFill>
                  <a:srgbClr val="14324B"/>
                </a:solidFill>
                <a:latin typeface="Times New Roman"/>
                <a:ea typeface="Times New Roman"/>
                <a:cs typeface="Times New Roman"/>
              </a:defRPr>
            </a:lvl4pPr>
            <a:lvl5pPr>
              <a:defRPr sz="2250">
                <a:solidFill>
                  <a:srgbClr val="14324B"/>
                </a:solidFill>
                <a:latin typeface="Times New Roman"/>
                <a:ea typeface="Times New Roman"/>
                <a:cs typeface="Times New Roman"/>
              </a:defRPr>
            </a:lvl5pPr>
            <a:lvl6pPr>
              <a:defRPr sz="2250">
                <a:solidFill>
                  <a:srgbClr val="14324B"/>
                </a:solidFill>
                <a:latin typeface="Times New Roman"/>
                <a:ea typeface="Times New Roman"/>
                <a:cs typeface="Times New Roman"/>
              </a:defRPr>
            </a:lvl6pPr>
            <a:lvl7pPr>
              <a:defRPr sz="2250">
                <a:solidFill>
                  <a:srgbClr val="14324B"/>
                </a:solidFill>
                <a:latin typeface="Times New Roman"/>
                <a:ea typeface="Times New Roman"/>
                <a:cs typeface="Times New Roman"/>
              </a:defRPr>
            </a:lvl7pPr>
            <a:lvl8pPr>
              <a:defRPr sz="2250">
                <a:solidFill>
                  <a:srgbClr val="14324B"/>
                </a:solidFill>
                <a:latin typeface="Times New Roman"/>
                <a:ea typeface="Times New Roman"/>
                <a:cs typeface="Times New Roman"/>
              </a:defRPr>
            </a:lvl8pPr>
            <a:lvl9pPr>
              <a:defRPr sz="2250">
                <a:solidFill>
                  <a:srgbClr val="14324B"/>
                </a:solidFill>
                <a:latin typeface="Times New Roman"/>
                <a:ea typeface="Times New Roman"/>
                <a:cs typeface="Times New Roman"/>
              </a:defRPr>
            </a:lvl9pPr>
          </a:lstStyle>
          <a:p xmlns:a="http://schemas.openxmlformats.org/drawingml/2006/main">
            <a:pPr>
              <a:defRPr sz="2250">
                <a:solidFill>
                  <a:srgbClr val="14324B"/>
                </a:solidFill>
                <a:latin typeface="Times New Roman"/>
                <a:ea typeface="Times New Roman"/>
                <a:cs typeface="Times New Roman"/>
              </a:defRPr>
            </a:pPr>
            <a:r>
              <a:rPr sz="2250">
                <a:solidFill>
                  <a:srgbClr val="14324B"/>
                </a:solidFill>
                <a:latin typeface="Times New Roman"/>
                <a:ea typeface="Times New Roman"/>
                <a:cs typeface="Times New Roman"/>
              </a:rPr>
              <a:t>Mean gains over controls: mRNA-FM +0.182, NT 500M +0.076, CaLM +0.022.</a:t>
            </a:r>
          </a:p>
        </p:txBody>
      </p:sp>
      <p:sp>
        <p:nvSpPr>
          <p:cNvPr id="6" name="">
            <a:extLst xmlns:a="http://schemas.openxmlformats.org/drawingml/2006/main">
              <a:ext uri="{FF2B5EF4-FFF2-40B4-BE49-F238E27FC236}">
                <a16:creationId xmlns:a16="http://schemas.microsoft.com/office/drawing/2014/main" id="{C711F453-8BF3-4392-A89B-A54C3C9F20CD}"/>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mRNA-FM and NT gains are positive in 10/10 assignments; CaLM in 9/10. These do not remove every nonlinear composition relationship.</a:t>
            </a:r>
          </a:p>
        </p:txBody>
      </p:sp>
    </p:spTree>
    <p:extLst>
      <p:ext uri="{BB962C8B-B14F-4D97-AF65-F5344CB8AC3E}">
        <p14:creationId xmlns:p14="http://schemas.microsoft.com/office/powerpoint/2010/main" val="3438685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9377D0-0E9C-4171-B180-B5432D3F7165}"/>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B9C5C6-B10E-45CE-859A-BF860515B6C8}"/>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Appendix: Phase A estimates and paired intervals</a:t>
            </a:r>
          </a:p>
        </p:txBody>
      </p:sp>
      <p:sp>
        <p:nvSpPr>
          <p:cNvPr id="3" name="">
            <a:extLst xmlns:a="http://schemas.openxmlformats.org/drawingml/2006/main">
              <a:ext uri="{FF2B5EF4-FFF2-40B4-BE49-F238E27FC236}">
                <a16:creationId xmlns:a16="http://schemas.microsoft.com/office/drawing/2014/main" id="{8A01A517-E24B-467E-8E44-5651A4D8D30C}"/>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22</a:t>
            </a:r>
          </a:p>
        </p:txBody>
      </p:sp>
      <p:graphicFrame>
        <p:nvGraphicFramePr>
          <p:cNvPr id="4" name="">
            <a:extLst xmlns:a="http://schemas.openxmlformats.org/drawingml/2006/main">
              <a:ext uri="{FF2B5EF4-FFF2-40B4-BE49-F238E27FC236}">
                <a16:creationId xmlns:a16="http://schemas.microsoft.com/office/drawing/2014/main" id="{EAC3278E-46CA-42D8-BB72-50DA36846AEF}"/>
              </a:ext>
            </a:extLst>
          </p:cNvPr>
          <p:cNvGraphicFramePr/>
          <p:nvPr/>
        </p:nvGraphicFramePr>
        <p:xfrm>
          <a:off xmlns:a="http://schemas.openxmlformats.org/drawingml/2006/main" x="428625" y="1905000"/>
          <a:ext xmlns:a="http://schemas.openxmlformats.org/drawingml/2006/main" cx="11239500" cy="3333750"/>
        </p:xfrm>
        <a:graphic xmlns:a="http://schemas.openxmlformats.org/drawingml/2006/main">
          <a:graphicData uri="http://schemas.openxmlformats.org/drawingml/2006/table">
            <a:tbl>
              <a:tblPr/>
              <a:tblGrid>
                <a:gridCol w="3333750"/>
                <a:gridCol w="2667000"/>
                <a:gridCol w="2619375"/>
                <a:gridCol w="2619375"/>
              </a:tblGrid>
              <a:tr h="666750">
                <a:tc>
                  <a:txBody>
                    <a:bodyPr/>
                    <a:lstStyle/>
                    <a:p>
                      <a:r>
                        <a:rPr sz="1725" b="1">
                          <a:solidFill>
                            <a:srgbClr val="FFFFFF"/>
                          </a:solidFill>
                          <a:latin typeface="Times New Roman"/>
                          <a:ea typeface="Times New Roman"/>
                          <a:cs typeface="Times New Roman"/>
                        </a:rPr>
                        <a:t>Comparison</a:t>
                      </a:r>
                    </a:p>
                  </a:txBody>
                  <a:tcPr marL="123825" marR="123825" marT="95250" marB="95250" anchor="ctr">
                    <a:lnL w="6668">
                      <a:solidFill>
                        <a:srgbClr val="D7E0E5"/>
                      </a:solidFill>
                      <a:prstDash val="solid"/>
                    </a:lnL>
                    <a:lnR w="6668">
                      <a:solidFill>
                        <a:srgbClr val="D7E0E5"/>
                      </a:solidFill>
                      <a:prstDash val="solid"/>
                    </a:lnR>
                    <a:lnT w="6668">
                      <a:solidFill>
                        <a:srgbClr val="D7E0E5"/>
                      </a:solidFill>
                      <a:prstDash val="solid"/>
                    </a:lnT>
                    <a:lnB w="6668">
                      <a:solidFill>
                        <a:srgbClr val="D7E0E5"/>
                      </a:solidFill>
                      <a:prstDash val="solid"/>
                    </a:lnB>
                    <a:solidFill>
                      <a:srgbClr val="12324E"/>
                    </a:solidFill>
                  </a:tcPr>
                </a:tc>
                <a:tc>
                  <a:txBody>
                    <a:bodyPr/>
                    <a:lstStyle/>
                    <a:p>
                      <a:r>
                        <a:rPr sz="1725" b="1">
                          <a:solidFill>
                            <a:srgbClr val="FFFFFF"/>
                          </a:solidFill>
                          <a:latin typeface="Times New Roman"/>
                          <a:ea typeface="Times New Roman"/>
                          <a:cs typeface="Times New Roman"/>
                        </a:rPr>
                        <a:t>Concat</a:t>
                      </a:r>
                    </a:p>
                  </a:txBody>
                  <a:tcPr marL="123825" marR="123825" marT="95250" marB="95250" anchor="ctr">
                    <a:lnR w="6668">
                      <a:solidFill>
                        <a:srgbClr val="D7E0E5"/>
                      </a:solidFill>
                      <a:prstDash val="solid"/>
                    </a:lnR>
                    <a:lnT w="6668">
                      <a:solidFill>
                        <a:srgbClr val="D7E0E5"/>
                      </a:solidFill>
                      <a:prstDash val="solid"/>
                    </a:lnT>
                    <a:lnB w="6668">
                      <a:solidFill>
                        <a:srgbClr val="D7E0E5"/>
                      </a:solidFill>
                      <a:prstDash val="solid"/>
                    </a:lnB>
                    <a:solidFill>
                      <a:srgbClr val="12324E"/>
                    </a:solidFill>
                  </a:tcPr>
                </a:tc>
                <a:tc>
                  <a:txBody>
                    <a:bodyPr/>
                    <a:lstStyle/>
                    <a:p>
                      <a:r>
                        <a:rPr sz="1725" b="1">
                          <a:solidFill>
                            <a:srgbClr val="FFFFFF"/>
                          </a:solidFill>
                          <a:latin typeface="Times New Roman"/>
                          <a:ea typeface="Times New Roman"/>
                          <a:cs typeface="Times New Roman"/>
                        </a:rPr>
                        <a:t>Gated</a:t>
                      </a:r>
                    </a:p>
                  </a:txBody>
                  <a:tcPr marL="123825" marR="123825" marT="95250" marB="95250" anchor="ctr">
                    <a:lnR w="6668">
                      <a:solidFill>
                        <a:srgbClr val="D7E0E5"/>
                      </a:solidFill>
                      <a:prstDash val="solid"/>
                    </a:lnR>
                    <a:lnT w="6668">
                      <a:solidFill>
                        <a:srgbClr val="D7E0E5"/>
                      </a:solidFill>
                      <a:prstDash val="solid"/>
                    </a:lnT>
                    <a:lnB w="6668">
                      <a:solidFill>
                        <a:srgbClr val="D7E0E5"/>
                      </a:solidFill>
                      <a:prstDash val="solid"/>
                    </a:lnB>
                    <a:solidFill>
                      <a:srgbClr val="12324E"/>
                    </a:solidFill>
                  </a:tcPr>
                </a:tc>
                <a:tc>
                  <a:txBody>
                    <a:bodyPr/>
                    <a:lstStyle/>
                    <a:p>
                      <a:r>
                        <a:rPr sz="1725" b="1">
                          <a:solidFill>
                            <a:srgbClr val="FFFFFF"/>
                          </a:solidFill>
                          <a:latin typeface="Times New Roman"/>
                          <a:ea typeface="Times New Roman"/>
                          <a:cs typeface="Times New Roman"/>
                        </a:rPr>
                        <a:t>Cross</a:t>
                      </a:r>
                    </a:p>
                  </a:txBody>
                  <a:tcPr marL="123825" marR="123825" marT="95250" marB="95250" anchor="ctr">
                    <a:lnR w="6668">
                      <a:solidFill>
                        <a:srgbClr val="D7E0E5"/>
                      </a:solidFill>
                      <a:prstDash val="solid"/>
                    </a:lnR>
                    <a:lnT w="6668">
                      <a:solidFill>
                        <a:srgbClr val="D7E0E5"/>
                      </a:solidFill>
                      <a:prstDash val="solid"/>
                    </a:lnT>
                    <a:lnB w="6668">
                      <a:solidFill>
                        <a:srgbClr val="D7E0E5"/>
                      </a:solidFill>
                      <a:prstDash val="solid"/>
                    </a:lnB>
                    <a:solidFill>
                      <a:srgbClr val="12324E"/>
                    </a:solidFill>
                  </a:tcPr>
                </a:tc>
              </a:tr>
              <a:tr h="666750">
                <a:tc>
                  <a:txBody>
                    <a:bodyPr/>
                    <a:lstStyle/>
                    <a:p>
                      <a:r>
                        <a:rPr sz="1725">
                          <a:solidFill>
                            <a:srgbClr val="14324B"/>
                          </a:solidFill>
                          <a:latin typeface="Times New Roman"/>
                          <a:ea typeface="Times New Roman"/>
                          <a:cs typeface="Times New Roman"/>
                        </a:rPr>
                        <a:t>E. coli gain, accuracy points</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+6.929 [4.167, 9.597]</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+2.809 [0.936, 4.822]</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+1.779 [−0.890, 4.494]</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r h="666750">
                <a:tc>
                  <a:txBody>
                    <a:bodyPr/>
                    <a:lstStyle/>
                    <a:p>
                      <a:r>
                        <a:rPr sz="1725">
                          <a:solidFill>
                            <a:srgbClr val="14324B"/>
                          </a:solidFill>
                          <a:latin typeface="Times New Roman"/>
                          <a:ea typeface="Times New Roman"/>
                          <a:cs typeface="Times New Roman"/>
                        </a:rPr>
                        <a:t>CoV-Vac gain, Spearman</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−.038 [−.066, −.012]</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−.055 [−.093, −.019]</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−.002 [−.026, .020]</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r h="666750">
                <a:tc>
                  <a:txBody>
                    <a:bodyPr/>
                    <a:lstStyle/>
                    <a:p>
                      <a:r>
                        <a:rPr sz="1725">
                          <a:solidFill>
                            <a:srgbClr val="14324B"/>
                          </a:solidFill>
                          <a:latin typeface="Times New Roman"/>
                          <a:ea typeface="Times New Roman"/>
                          <a:cs typeface="Times New Roman"/>
                        </a:rPr>
                        <a:t>Stability full test, Spearman</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+.007 [−.006, .019]</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−.001 [−.014, .012]</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+.001 [−.012, .015]</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r h="666750">
                <a:tc>
                  <a:txBody>
                    <a:bodyPr/>
                    <a:lstStyle/>
                    <a:p>
                      <a:r>
                        <a:rPr sz="1725">
                          <a:solidFill>
                            <a:srgbClr val="14324B"/>
                          </a:solidFill>
                          <a:latin typeface="Times New Roman"/>
                          <a:ea typeface="Times New Roman"/>
                          <a:cs typeface="Times New Roman"/>
                        </a:rPr>
                        <a:t>Stability unseen subset, Spearman</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+.040 [−.003, .083]</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+.034 [−.012, .079]</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+.027 [−.019, .073]</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313EE0D-1807-4ED4-9404-FCFCCA6F63E9}"/>
              </a:ext>
            </a:extLst>
          </p:cNvPr>
          <p:cNvSpPr>
            <a:spLocks xmlns:a="http://schemas.openxmlformats.org/drawingml/2006/main" noGrp="1"/>
          </p:cNvSpPr>
          <p:nvPr/>
        </p:nvSpPr>
        <p:spPr>
          <a:xfrm xmlns:a="http://schemas.openxmlformats.org/drawingml/2006/main">
            <a:off x="523875" y="55245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4324B"/>
                </a:solidFill>
                <a:latin typeface="Times New Roman"/>
                <a:ea typeface="Times New Roman"/>
                <a:cs typeface="Times New Roman"/>
              </a:defRPr>
            </a:defPPr>
            <a:lvl1pPr>
              <a:defRPr sz="2100">
                <a:solidFill>
                  <a:srgbClr val="14324B"/>
                </a:solidFill>
                <a:latin typeface="Times New Roman"/>
                <a:ea typeface="Times New Roman"/>
                <a:cs typeface="Times New Roman"/>
              </a:defRPr>
            </a:lvl1pPr>
            <a:lvl2pPr>
              <a:defRPr sz="2100">
                <a:solidFill>
                  <a:srgbClr val="14324B"/>
                </a:solidFill>
                <a:latin typeface="Times New Roman"/>
                <a:ea typeface="Times New Roman"/>
                <a:cs typeface="Times New Roman"/>
              </a:defRPr>
            </a:lvl2pPr>
            <a:lvl3pPr>
              <a:defRPr sz="2100">
                <a:solidFill>
                  <a:srgbClr val="14324B"/>
                </a:solidFill>
                <a:latin typeface="Times New Roman"/>
                <a:ea typeface="Times New Roman"/>
                <a:cs typeface="Times New Roman"/>
              </a:defRPr>
            </a:lvl3pPr>
            <a:lvl4pPr>
              <a:defRPr sz="2100">
                <a:solidFill>
                  <a:srgbClr val="14324B"/>
                </a:solidFill>
                <a:latin typeface="Times New Roman"/>
                <a:ea typeface="Times New Roman"/>
                <a:cs typeface="Times New Roman"/>
              </a:defRPr>
            </a:lvl4pPr>
            <a:lvl5pPr>
              <a:defRPr sz="2100">
                <a:solidFill>
                  <a:srgbClr val="14324B"/>
                </a:solidFill>
                <a:latin typeface="Times New Roman"/>
                <a:ea typeface="Times New Roman"/>
                <a:cs typeface="Times New Roman"/>
              </a:defRPr>
            </a:lvl5pPr>
            <a:lvl6pPr>
              <a:defRPr sz="2100">
                <a:solidFill>
                  <a:srgbClr val="14324B"/>
                </a:solidFill>
                <a:latin typeface="Times New Roman"/>
                <a:ea typeface="Times New Roman"/>
                <a:cs typeface="Times New Roman"/>
              </a:defRPr>
            </a:lvl6pPr>
            <a:lvl7pPr>
              <a:defRPr sz="2100">
                <a:solidFill>
                  <a:srgbClr val="14324B"/>
                </a:solidFill>
                <a:latin typeface="Times New Roman"/>
                <a:ea typeface="Times New Roman"/>
                <a:cs typeface="Times New Roman"/>
              </a:defRPr>
            </a:lvl7pPr>
            <a:lvl8pPr>
              <a:defRPr sz="2100">
                <a:solidFill>
                  <a:srgbClr val="14324B"/>
                </a:solidFill>
                <a:latin typeface="Times New Roman"/>
                <a:ea typeface="Times New Roman"/>
                <a:cs typeface="Times New Roman"/>
              </a:defRPr>
            </a:lvl8pPr>
            <a:lvl9pPr>
              <a:defRPr sz="2100">
                <a:solidFill>
                  <a:srgbClr val="14324B"/>
                </a:solidFill>
                <a:latin typeface="Times New Roman"/>
                <a:ea typeface="Times New Roman"/>
                <a:cs typeface="Times New Roman"/>
              </a:defRPr>
            </a:lvl9pPr>
          </a:lstStyle>
          <a:p xmlns:a="http://schemas.openxmlformats.org/drawingml/2006/main">
            <a:pPr>
              <a:defRPr sz="2100">
                <a:solidFill>
                  <a:srgbClr val="14324B"/>
                </a:solidFill>
                <a:latin typeface="Times New Roman"/>
                <a:ea typeface="Times New Roman"/>
                <a:cs typeface="Times New Roman"/>
              </a:defRPr>
            </a:pPr>
            <a:r>
              <a:rPr sz="2100">
                <a:solidFill>
                  <a:srgbClr val="14324B"/>
                </a:solidFill>
                <a:latin typeface="Times New Roman"/>
                <a:ea typeface="Times New Roman"/>
                <a:cs typeface="Times New Roman"/>
              </a:rPr>
              <a:t>References: E. coli ESM-2 8M; CoV-Vac and stability RNA-FM.</a:t>
            </a:r>
          </a:p>
        </p:txBody>
      </p:sp>
      <p:sp>
        <p:nvSpPr>
          <p:cNvPr id="6" name="">
            <a:extLst xmlns:a="http://schemas.openxmlformats.org/drawingml/2006/main">
              <a:ext uri="{FF2B5EF4-FFF2-40B4-BE49-F238E27FC236}">
                <a16:creationId xmlns:a16="http://schemas.microsoft.com/office/drawing/2014/main" id="{66070732-9CE8-4020-B148-670168CB6E0F}"/>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4,000 paired resamples grouping identical test sequences. Three fitted seeds for E. coli / CoV-Vac; one for stability.</a:t>
            </a:r>
          </a:p>
        </p:txBody>
      </p:sp>
    </p:spTree>
    <p:extLst>
      <p:ext uri="{BB962C8B-B14F-4D97-AF65-F5344CB8AC3E}">
        <p14:creationId xmlns:p14="http://schemas.microsoft.com/office/powerpoint/2010/main" val="435009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CF5DA6-E1A6-4FA2-BD03-7DF8B2DEA55A}"/>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EF1B06-9506-49EB-85AA-E9396F3B7AC0}"/>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Appendix: all four retained encoder-swap comparisons</a:t>
            </a:r>
          </a:p>
        </p:txBody>
      </p:sp>
      <p:sp>
        <p:nvSpPr>
          <p:cNvPr id="3" name="">
            <a:extLst xmlns:a="http://schemas.openxmlformats.org/drawingml/2006/main">
              <a:ext uri="{FF2B5EF4-FFF2-40B4-BE49-F238E27FC236}">
                <a16:creationId xmlns:a16="http://schemas.microsoft.com/office/drawing/2014/main" id="{D7974F6E-C16F-40E4-961F-E714CF4768A1}"/>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Fusion minus the validation-selected single encoder, with 95% paired intervals.</a:t>
            </a:r>
          </a:p>
        </p:txBody>
      </p:sp>
      <p:sp>
        <p:nvSpPr>
          <p:cNvPr id="4" name="">
            <a:extLst xmlns:a="http://schemas.openxmlformats.org/drawingml/2006/main">
              <a:ext uri="{FF2B5EF4-FFF2-40B4-BE49-F238E27FC236}">
                <a16:creationId xmlns:a16="http://schemas.microsoft.com/office/drawing/2014/main" id="{BF4CB9E5-C690-456F-8F8C-1D67D1E978AA}"/>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23</a:t>
            </a:r>
          </a:p>
        </p:txBody>
      </p:sp>
      <p:graphicFrame>
        <p:nvGraphicFramePr>
          <p:cNvPr id="5" name="">
            <a:extLst xmlns:a="http://schemas.openxmlformats.org/drawingml/2006/main">
              <a:ext uri="{FF2B5EF4-FFF2-40B4-BE49-F238E27FC236}">
                <a16:creationId xmlns:a16="http://schemas.microsoft.com/office/drawing/2014/main" id="{A877500C-E2FA-48D9-92A6-81E972CC783E}"/>
              </a:ext>
            </a:extLst>
          </p:cNvPr>
          <p:cNvGraphicFramePr/>
          <p:nvPr/>
        </p:nvGraphicFramePr>
        <p:xfrm>
          <a:off xmlns:a="http://schemas.openxmlformats.org/drawingml/2006/main" x="428625" y="2000250"/>
          <a:ext xmlns:a="http://schemas.openxmlformats.org/drawingml/2006/main" cx="11239500" cy="3286125"/>
        </p:xfrm>
        <a:graphic xmlns:a="http://schemas.openxmlformats.org/drawingml/2006/main">
          <a:graphicData uri="http://schemas.openxmlformats.org/drawingml/2006/table">
            <a:tbl>
              <a:tblPr/>
              <a:tblGrid>
                <a:gridCol w="3333750"/>
                <a:gridCol w="2667000"/>
                <a:gridCol w="2619375"/>
                <a:gridCol w="2619375"/>
              </a:tblGrid>
              <a:tr h="657225">
                <a:tc>
                  <a:txBody>
                    <a:bodyPr/>
                    <a:lstStyle/>
                    <a:p>
                      <a:r>
                        <a:rPr sz="1725" b="1">
                          <a:solidFill>
                            <a:srgbClr val="FFFFFF"/>
                          </a:solidFill>
                          <a:latin typeface="Times New Roman"/>
                          <a:ea typeface="Times New Roman"/>
                          <a:cs typeface="Times New Roman"/>
                        </a:rPr>
                        <a:t>Dataset / replacement</a:t>
                      </a:r>
                    </a:p>
                  </a:txBody>
                  <a:tcPr marL="123825" marR="123825" marT="95250" marB="95250" anchor="ctr">
                    <a:lnL w="6668">
                      <a:solidFill>
                        <a:srgbClr val="D7E0E5"/>
                      </a:solidFill>
                      <a:prstDash val="solid"/>
                    </a:lnL>
                    <a:lnR w="6668">
                      <a:solidFill>
                        <a:srgbClr val="D7E0E5"/>
                      </a:solidFill>
                      <a:prstDash val="solid"/>
                    </a:lnR>
                    <a:lnT w="6668">
                      <a:solidFill>
                        <a:srgbClr val="D7E0E5"/>
                      </a:solidFill>
                      <a:prstDash val="solid"/>
                    </a:lnT>
                    <a:lnB w="6668">
                      <a:solidFill>
                        <a:srgbClr val="D7E0E5"/>
                      </a:solidFill>
                      <a:prstDash val="solid"/>
                    </a:lnB>
                    <a:solidFill>
                      <a:srgbClr val="12324E"/>
                    </a:solidFill>
                  </a:tcPr>
                </a:tc>
                <a:tc>
                  <a:txBody>
                    <a:bodyPr/>
                    <a:lstStyle/>
                    <a:p>
                      <a:r>
                        <a:rPr sz="1725" b="1">
                          <a:solidFill>
                            <a:srgbClr val="FFFFFF"/>
                          </a:solidFill>
                          <a:latin typeface="Times New Roman"/>
                          <a:ea typeface="Times New Roman"/>
                          <a:cs typeface="Times New Roman"/>
                        </a:rPr>
                        <a:t>Concat</a:t>
                      </a:r>
                    </a:p>
                  </a:txBody>
                  <a:tcPr marL="123825" marR="123825" marT="95250" marB="95250" anchor="ctr">
                    <a:lnR w="6668">
                      <a:solidFill>
                        <a:srgbClr val="D7E0E5"/>
                      </a:solidFill>
                      <a:prstDash val="solid"/>
                    </a:lnR>
                    <a:lnT w="6668">
                      <a:solidFill>
                        <a:srgbClr val="D7E0E5"/>
                      </a:solidFill>
                      <a:prstDash val="solid"/>
                    </a:lnT>
                    <a:lnB w="6668">
                      <a:solidFill>
                        <a:srgbClr val="D7E0E5"/>
                      </a:solidFill>
                      <a:prstDash val="solid"/>
                    </a:lnB>
                    <a:solidFill>
                      <a:srgbClr val="12324E"/>
                    </a:solidFill>
                  </a:tcPr>
                </a:tc>
                <a:tc>
                  <a:txBody>
                    <a:bodyPr/>
                    <a:lstStyle/>
                    <a:p>
                      <a:r>
                        <a:rPr sz="1725" b="1">
                          <a:solidFill>
                            <a:srgbClr val="FFFFFF"/>
                          </a:solidFill>
                          <a:latin typeface="Times New Roman"/>
                          <a:ea typeface="Times New Roman"/>
                          <a:cs typeface="Times New Roman"/>
                        </a:rPr>
                        <a:t>Gated</a:t>
                      </a:r>
                    </a:p>
                  </a:txBody>
                  <a:tcPr marL="123825" marR="123825" marT="95250" marB="95250" anchor="ctr">
                    <a:lnR w="6668">
                      <a:solidFill>
                        <a:srgbClr val="D7E0E5"/>
                      </a:solidFill>
                      <a:prstDash val="solid"/>
                    </a:lnR>
                    <a:lnT w="6668">
                      <a:solidFill>
                        <a:srgbClr val="D7E0E5"/>
                      </a:solidFill>
                      <a:prstDash val="solid"/>
                    </a:lnT>
                    <a:lnB w="6668">
                      <a:solidFill>
                        <a:srgbClr val="D7E0E5"/>
                      </a:solidFill>
                      <a:prstDash val="solid"/>
                    </a:lnB>
                    <a:solidFill>
                      <a:srgbClr val="12324E"/>
                    </a:solidFill>
                  </a:tcPr>
                </a:tc>
                <a:tc>
                  <a:txBody>
                    <a:bodyPr/>
                    <a:lstStyle/>
                    <a:p>
                      <a:r>
                        <a:rPr sz="1725" b="1">
                          <a:solidFill>
                            <a:srgbClr val="FFFFFF"/>
                          </a:solidFill>
                          <a:latin typeface="Times New Roman"/>
                          <a:ea typeface="Times New Roman"/>
                          <a:cs typeface="Times New Roman"/>
                        </a:rPr>
                        <a:t>Cross</a:t>
                      </a:r>
                    </a:p>
                  </a:txBody>
                  <a:tcPr marL="123825" marR="123825" marT="95250" marB="95250" anchor="ctr">
                    <a:lnR w="6668">
                      <a:solidFill>
                        <a:srgbClr val="D7E0E5"/>
                      </a:solidFill>
                      <a:prstDash val="solid"/>
                    </a:lnR>
                    <a:lnT w="6668">
                      <a:solidFill>
                        <a:srgbClr val="D7E0E5"/>
                      </a:solidFill>
                      <a:prstDash val="solid"/>
                    </a:lnT>
                    <a:lnB w="6668">
                      <a:solidFill>
                        <a:srgbClr val="D7E0E5"/>
                      </a:solidFill>
                      <a:prstDash val="solid"/>
                    </a:lnB>
                    <a:solidFill>
                      <a:srgbClr val="12324E"/>
                    </a:solidFill>
                  </a:tcPr>
                </a:tc>
              </a:tr>
              <a:tr h="657225">
                <a:tc>
                  <a:txBody>
                    <a:bodyPr/>
                    <a:lstStyle/>
                    <a:p>
                      <a:r>
                        <a:rPr sz="1725">
                          <a:solidFill>
                            <a:srgbClr val="14324B"/>
                          </a:solidFill>
                          <a:latin typeface="Times New Roman"/>
                          <a:ea typeface="Times New Roman"/>
                          <a:cs typeface="Times New Roman"/>
                        </a:rPr>
                        <a:t>E. coli / mRNA-FM</a:t>
                      </a:r>
                    </a:p>
                    <a:p>
                      <a:r>
                        <a:rPr sz="1725">
                          <a:solidFill>
                            <a:srgbClr val="14324B"/>
                          </a:solidFill>
                          <a:latin typeface="Times New Roman"/>
                          <a:ea typeface="Times New Roman"/>
                          <a:cs typeface="Times New Roman"/>
                        </a:rPr>
                        <a:t>accuracy points</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+.28 [−2.95, 3.51]</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−5.62 [−9.69, −1.54]</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−3.93 [−7.87, .00]</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r h="657225">
                <a:tc>
                  <a:txBody>
                    <a:bodyPr/>
                    <a:lstStyle/>
                    <a:p>
                      <a:r>
                        <a:rPr sz="1725">
                          <a:solidFill>
                            <a:srgbClr val="14324B"/>
                          </a:solidFill>
                          <a:latin typeface="Times New Roman"/>
                          <a:ea typeface="Times New Roman"/>
                          <a:cs typeface="Times New Roman"/>
                        </a:rPr>
                        <a:t>E. coli / CaLM</a:t>
                      </a:r>
                    </a:p>
                    <a:p>
                      <a:r>
                        <a:rPr sz="1725">
                          <a:solidFill>
                            <a:srgbClr val="14324B"/>
                          </a:solidFill>
                          <a:latin typeface="Times New Roman"/>
                          <a:ea typeface="Times New Roman"/>
                          <a:cs typeface="Times New Roman"/>
                        </a:rPr>
                        <a:t>accuracy points</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+.14 [−2.67, 2.81]</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−.84 [−3.65, 1.97]</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−3.65 [−6.88, −.42]</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r h="657225">
                <a:tc>
                  <a:txBody>
                    <a:bodyPr/>
                    <a:lstStyle/>
                    <a:p>
                      <a:r>
                        <a:rPr sz="1725">
                          <a:solidFill>
                            <a:srgbClr val="14324B"/>
                          </a:solidFill>
                          <a:latin typeface="Times New Roman"/>
                          <a:ea typeface="Times New Roman"/>
                          <a:cs typeface="Times New Roman"/>
                        </a:rPr>
                        <a:t>CoV-Vac / mRNA-FM</a:t>
                      </a:r>
                    </a:p>
                    <a:p>
                      <a:r>
                        <a:rPr sz="1725">
                          <a:solidFill>
                            <a:srgbClr val="14324B"/>
                          </a:solidFill>
                          <a:latin typeface="Times New Roman"/>
                          <a:ea typeface="Times New Roman"/>
                          <a:cs typeface="Times New Roman"/>
                        </a:rPr>
                        <a:t>Spearman</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−.054 [−.088, −.019]</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−.050 [−.085, −.018]</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+.009 [−.024, .045]</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r h="657225">
                <a:tc>
                  <a:txBody>
                    <a:bodyPr/>
                    <a:lstStyle/>
                    <a:p>
                      <a:r>
                        <a:rPr sz="1725">
                          <a:solidFill>
                            <a:srgbClr val="14324B"/>
                          </a:solidFill>
                          <a:latin typeface="Times New Roman"/>
                          <a:ea typeface="Times New Roman"/>
                          <a:cs typeface="Times New Roman"/>
                        </a:rPr>
                        <a:t>CoV-Vac / CaLM</a:t>
                      </a:r>
                    </a:p>
                    <a:p>
                      <a:r>
                        <a:rPr sz="1725">
                          <a:solidFill>
                            <a:srgbClr val="14324B"/>
                          </a:solidFill>
                          <a:latin typeface="Times New Roman"/>
                          <a:ea typeface="Times New Roman"/>
                          <a:cs typeface="Times New Roman"/>
                        </a:rPr>
                        <a:t>Spearman</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−.027 [−.052, −.003]</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−.042 [−.073, −.014]</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c>
                  <a:txBody>
                    <a:bodyPr/>
                    <a:lstStyle/>
                    <a:p>
                      <a:r>
                        <a:rPr sz="1725">
                          <a:solidFill>
                            <a:srgbClr val="14324B"/>
                          </a:solidFill>
                          <a:latin typeface="Times New Roman"/>
                          <a:ea typeface="Times New Roman"/>
                          <a:cs typeface="Times New Roman"/>
                        </a:rPr>
                        <a:t>−.017 [−.041, .007]</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80034EE-76E2-4685-B743-1689009DEF43}"/>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One fitted seed per configuration; 2,000 grouped paired test resamples. Historical producer/runtime identity is partly incomplete.</a:t>
            </a:r>
          </a:p>
        </p:txBody>
      </p:sp>
    </p:spTree>
    <p:extLst>
      <p:ext uri="{BB962C8B-B14F-4D97-AF65-F5344CB8AC3E}">
        <p14:creationId xmlns:p14="http://schemas.microsoft.com/office/powerpoint/2010/main" val="148204840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12D546-B610-48E3-AB93-7449F78CC39E}"/>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BD961C-BCAA-41E4-937C-CABBC2E0143D}"/>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Appendix: fungal expression is an earlier cohort</a:t>
            </a:r>
          </a:p>
        </p:txBody>
      </p:sp>
      <p:sp>
        <p:nvSpPr>
          <p:cNvPr id="3" name="">
            <a:extLst xmlns:a="http://schemas.openxmlformats.org/drawingml/2006/main">
              <a:ext uri="{FF2B5EF4-FFF2-40B4-BE49-F238E27FC236}">
                <a16:creationId xmlns:a16="http://schemas.microsoft.com/office/drawing/2014/main" id="{A2068FF9-EB67-4BFB-AC7E-CFA1C6B27592}"/>
              </a:ext>
            </a:extLst>
          </p:cNvPr>
          <p:cNvSpPr>
            <a:spLocks xmlns:a="http://schemas.openxmlformats.org/drawingml/2006/main" noGrp="1"/>
          </p:cNvSpPr>
          <p:nvPr/>
        </p:nvSpPr>
        <p:spPr>
          <a:xfrm xmlns:a="http://schemas.openxmlformats.org/drawingml/2006/main">
            <a:off x="409575" y="12382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52636B"/>
                </a:solidFill>
                <a:latin typeface="Times New Roman"/>
                <a:ea typeface="Times New Roman"/>
                <a:cs typeface="Times New Roman"/>
              </a:defRPr>
            </a:defPPr>
            <a:lvl1pPr>
              <a:defRPr sz="1950">
                <a:solidFill>
                  <a:srgbClr val="52636B"/>
                </a:solidFill>
                <a:latin typeface="Times New Roman"/>
                <a:ea typeface="Times New Roman"/>
                <a:cs typeface="Times New Roman"/>
              </a:defRPr>
            </a:lvl1pPr>
            <a:lvl2pPr>
              <a:defRPr sz="1950">
                <a:solidFill>
                  <a:srgbClr val="52636B"/>
                </a:solidFill>
                <a:latin typeface="Times New Roman"/>
                <a:ea typeface="Times New Roman"/>
                <a:cs typeface="Times New Roman"/>
              </a:defRPr>
            </a:lvl2pPr>
            <a:lvl3pPr>
              <a:defRPr sz="1950">
                <a:solidFill>
                  <a:srgbClr val="52636B"/>
                </a:solidFill>
                <a:latin typeface="Times New Roman"/>
                <a:ea typeface="Times New Roman"/>
                <a:cs typeface="Times New Roman"/>
              </a:defRPr>
            </a:lvl3pPr>
            <a:lvl4pPr>
              <a:defRPr sz="1950">
                <a:solidFill>
                  <a:srgbClr val="52636B"/>
                </a:solidFill>
                <a:latin typeface="Times New Roman"/>
                <a:ea typeface="Times New Roman"/>
                <a:cs typeface="Times New Roman"/>
              </a:defRPr>
            </a:lvl4pPr>
            <a:lvl5pPr>
              <a:defRPr sz="1950">
                <a:solidFill>
                  <a:srgbClr val="52636B"/>
                </a:solidFill>
                <a:latin typeface="Times New Roman"/>
                <a:ea typeface="Times New Roman"/>
                <a:cs typeface="Times New Roman"/>
              </a:defRPr>
            </a:lvl5pPr>
            <a:lvl6pPr>
              <a:defRPr sz="1950">
                <a:solidFill>
                  <a:srgbClr val="52636B"/>
                </a:solidFill>
                <a:latin typeface="Times New Roman"/>
                <a:ea typeface="Times New Roman"/>
                <a:cs typeface="Times New Roman"/>
              </a:defRPr>
            </a:lvl6pPr>
            <a:lvl7pPr>
              <a:defRPr sz="1950">
                <a:solidFill>
                  <a:srgbClr val="52636B"/>
                </a:solidFill>
                <a:latin typeface="Times New Roman"/>
                <a:ea typeface="Times New Roman"/>
                <a:cs typeface="Times New Roman"/>
              </a:defRPr>
            </a:lvl7pPr>
            <a:lvl8pPr>
              <a:defRPr sz="1950">
                <a:solidFill>
                  <a:srgbClr val="52636B"/>
                </a:solidFill>
                <a:latin typeface="Times New Roman"/>
                <a:ea typeface="Times New Roman"/>
                <a:cs typeface="Times New Roman"/>
              </a:defRPr>
            </a:lvl8pPr>
            <a:lvl9pPr>
              <a:defRPr sz="1950">
                <a:solidFill>
                  <a:srgbClr val="52636B"/>
                </a:solidFill>
                <a:latin typeface="Times New Roman"/>
                <a:ea typeface="Times New Roman"/>
                <a:cs typeface="Times New Roman"/>
              </a:defRPr>
            </a:lvl9pPr>
          </a:lstStyle>
          <a:p xmlns:a="http://schemas.openxmlformats.org/drawingml/2006/main">
            <a:pPr>
              <a:defRPr sz="1950">
                <a:solidFill>
                  <a:srgbClr val="52636B"/>
                </a:solidFill>
                <a:latin typeface="Times New Roman"/>
                <a:ea typeface="Times New Roman"/>
                <a:cs typeface="Times New Roman"/>
              </a:defRPr>
            </a:pPr>
            <a:r>
              <a:rPr sz="1950">
                <a:solidFill>
                  <a:srgbClr val="52636B"/>
                </a:solidFill>
                <a:latin typeface="Times New Roman"/>
                <a:ea typeface="Times New Roman"/>
                <a:cs typeface="Times New Roman"/>
              </a:rPr>
              <a:t>Stage 3 Equation 1 comparison, 430 test rows and three fitted seeds.</a:t>
            </a:r>
          </a:p>
        </p:txBody>
      </p:sp>
      <p:sp>
        <p:nvSpPr>
          <p:cNvPr id="4" name="">
            <a:extLst xmlns:a="http://schemas.openxmlformats.org/drawingml/2006/main">
              <a:ext uri="{FF2B5EF4-FFF2-40B4-BE49-F238E27FC236}">
                <a16:creationId xmlns:a16="http://schemas.microsoft.com/office/drawing/2014/main" id="{7FAB63A8-7990-4450-B84D-7290D89D9A34}"/>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24</a:t>
            </a:r>
          </a:p>
        </p:txBody>
      </p:sp>
      <p:graphicFrame>
        <p:nvGraphicFramePr>
          <p:cNvPr id="5" name="Chart">
            <a:extLst xmlns:a="http://schemas.openxmlformats.org/drawingml/2006/main">
              <a:ext uri="{FF2B5EF4-FFF2-40B4-BE49-F238E27FC236}">
                <a16:creationId xmlns:a16="http://schemas.microsoft.com/office/drawing/2014/main" id="{D14C9F2F-C7EE-4179-B8BF-C9B4976E6CBF}"/>
              </a:ext>
            </a:extLst>
          </p:cNvPr>
          <p:cNvGraphicFramePr/>
          <p:nvPr/>
        </p:nvGraphicFramePr>
        <p:xfrm>
          <a:off xmlns:a="http://schemas.openxmlformats.org/drawingml/2006/main" x="428625" y="2095500"/>
          <a:ext xmlns:a="http://schemas.openxmlformats.org/drawingml/2006/main" cx="7239000" cy="3333750"/>
        </p:xfrm>
        <a:graphic xmlns:a="http://schemas.openxmlformats.org/drawingml/2006/main">
          <a:graphicData uri="http://schemas.openxmlformats.org/drawingml/2006/chart">
            <c:chart xmlns:r="http://schemas.openxmlformats.org/officeDocument/2006/relationships" xmlns:c="http://schemas.openxmlformats.org/drawingml/2006/chart" r:id="R59f42423cdc744bb"/>
          </a:graphicData>
        </a:graphic>
      </p:graphicFrame>
      <p:sp>
        <p:nvSpPr>
          <p:cNvPr id="6" name="">
            <a:extLst xmlns:a="http://schemas.openxmlformats.org/drawingml/2006/main">
              <a:ext uri="{FF2B5EF4-FFF2-40B4-BE49-F238E27FC236}">
                <a16:creationId xmlns:a16="http://schemas.microsoft.com/office/drawing/2014/main" id="{646F6E57-D75D-47D2-A247-B57499482F4A}"/>
              </a:ext>
            </a:extLst>
          </p:cNvPr>
          <p:cNvSpPr>
            <a:spLocks xmlns:a="http://schemas.openxmlformats.org/drawingml/2006/main" noGrp="1"/>
          </p:cNvSpPr>
          <p:nvPr/>
        </p:nvSpPr>
        <p:spPr>
          <a:xfrm xmlns:a="http://schemas.openxmlformats.org/drawingml/2006/main">
            <a:off x="8286750" y="2381250"/>
            <a:ext cx="3333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67D77"/>
                </a:solidFill>
                <a:latin typeface="Times New Roman"/>
                <a:ea typeface="Times New Roman"/>
                <a:cs typeface="Times New Roman"/>
              </a:defRPr>
            </a:defPPr>
            <a:lvl1pPr>
              <a:defRPr sz="2550" b="1">
                <a:solidFill>
                  <a:srgbClr val="167D77"/>
                </a:solidFill>
                <a:latin typeface="Times New Roman"/>
                <a:ea typeface="Times New Roman"/>
                <a:cs typeface="Times New Roman"/>
              </a:defRPr>
            </a:lvl1pPr>
            <a:lvl2pPr>
              <a:defRPr sz="2550" b="1">
                <a:solidFill>
                  <a:srgbClr val="167D77"/>
                </a:solidFill>
                <a:latin typeface="Times New Roman"/>
                <a:ea typeface="Times New Roman"/>
                <a:cs typeface="Times New Roman"/>
              </a:defRPr>
            </a:lvl2pPr>
            <a:lvl3pPr>
              <a:defRPr sz="2550" b="1">
                <a:solidFill>
                  <a:srgbClr val="167D77"/>
                </a:solidFill>
                <a:latin typeface="Times New Roman"/>
                <a:ea typeface="Times New Roman"/>
                <a:cs typeface="Times New Roman"/>
              </a:defRPr>
            </a:lvl3pPr>
            <a:lvl4pPr>
              <a:defRPr sz="2550" b="1">
                <a:solidFill>
                  <a:srgbClr val="167D77"/>
                </a:solidFill>
                <a:latin typeface="Times New Roman"/>
                <a:ea typeface="Times New Roman"/>
                <a:cs typeface="Times New Roman"/>
              </a:defRPr>
            </a:lvl4pPr>
            <a:lvl5pPr>
              <a:defRPr sz="2550" b="1">
                <a:solidFill>
                  <a:srgbClr val="167D77"/>
                </a:solidFill>
                <a:latin typeface="Times New Roman"/>
                <a:ea typeface="Times New Roman"/>
                <a:cs typeface="Times New Roman"/>
              </a:defRPr>
            </a:lvl5pPr>
            <a:lvl6pPr>
              <a:defRPr sz="2550" b="1">
                <a:solidFill>
                  <a:srgbClr val="167D77"/>
                </a:solidFill>
                <a:latin typeface="Times New Roman"/>
                <a:ea typeface="Times New Roman"/>
                <a:cs typeface="Times New Roman"/>
              </a:defRPr>
            </a:lvl6pPr>
            <a:lvl7pPr>
              <a:defRPr sz="2550" b="1">
                <a:solidFill>
                  <a:srgbClr val="167D77"/>
                </a:solidFill>
                <a:latin typeface="Times New Roman"/>
                <a:ea typeface="Times New Roman"/>
                <a:cs typeface="Times New Roman"/>
              </a:defRPr>
            </a:lvl7pPr>
            <a:lvl8pPr>
              <a:defRPr sz="2550" b="1">
                <a:solidFill>
                  <a:srgbClr val="167D77"/>
                </a:solidFill>
                <a:latin typeface="Times New Roman"/>
                <a:ea typeface="Times New Roman"/>
                <a:cs typeface="Times New Roman"/>
              </a:defRPr>
            </a:lvl8pPr>
            <a:lvl9pPr>
              <a:defRPr sz="2550" b="1">
                <a:solidFill>
                  <a:srgbClr val="167D77"/>
                </a:solidFill>
                <a:latin typeface="Times New Roman"/>
                <a:ea typeface="Times New Roman"/>
                <a:cs typeface="Times New Roman"/>
              </a:defRPr>
            </a:lvl9pPr>
          </a:lstStyle>
          <a:p xmlns:a="http://schemas.openxmlformats.org/drawingml/2006/main">
            <a:pPr>
              <a:defRPr sz="2550" b="1">
                <a:solidFill>
                  <a:srgbClr val="167D77"/>
                </a:solidFill>
                <a:latin typeface="Times New Roman"/>
                <a:ea typeface="Times New Roman"/>
                <a:cs typeface="Times New Roman"/>
              </a:defRPr>
            </a:pPr>
            <a:r>
              <a:rPr sz="2550" b="1">
                <a:solidFill>
                  <a:srgbClr val="167D77"/>
                </a:solidFill>
                <a:latin typeface="Times New Roman"/>
                <a:ea typeface="Times New Roman"/>
                <a:cs typeface="Times New Roman"/>
              </a:rPr>
              <a:t>Cross − DNA</a:t>
            </a:r>
          </a:p>
          <a:p xmlns:a="http://schemas.openxmlformats.org/drawingml/2006/main">
            <a:pPr>
              <a:defRPr sz="2550" b="1">
                <a:solidFill>
                  <a:srgbClr val="167D77"/>
                </a:solidFill>
                <a:latin typeface="Times New Roman"/>
                <a:ea typeface="Times New Roman"/>
                <a:cs typeface="Times New Roman"/>
              </a:defRPr>
            </a:pPr>
            <a:r>
              <a:rPr sz="2550" b="1">
                <a:solidFill>
                  <a:srgbClr val="167D77"/>
                </a:solidFill>
                <a:latin typeface="Times New Roman"/>
                <a:ea typeface="Times New Roman"/>
                <a:cs typeface="Times New Roman"/>
              </a:rPr>
              <a:t>+0.016</a:t>
            </a:r>
          </a:p>
          <a:p xmlns:a="http://schemas.openxmlformats.org/drawingml/2006/main">
            <a:pPr>
              <a:defRPr sz="2550" b="1">
                <a:solidFill>
                  <a:srgbClr val="167D77"/>
                </a:solidFill>
                <a:latin typeface="Times New Roman"/>
                <a:ea typeface="Times New Roman"/>
                <a:cs typeface="Times New Roman"/>
              </a:defRPr>
            </a:pPr>
            <a:r>
              <a:rPr sz="2550" b="1">
                <a:solidFill>
                  <a:srgbClr val="167D77"/>
                </a:solidFill>
                <a:latin typeface="Times New Roman"/>
                <a:ea typeface="Times New Roman"/>
                <a:cs typeface="Times New Roman"/>
              </a:rPr>
              <a:t>[−0.014, 0.048]</a:t>
            </a:r>
          </a:p>
        </p:txBody>
      </p:sp>
      <p:sp>
        <p:nvSpPr>
          <p:cNvPr id="7" name="">
            <a:extLst xmlns:a="http://schemas.openxmlformats.org/drawingml/2006/main">
              <a:ext uri="{FF2B5EF4-FFF2-40B4-BE49-F238E27FC236}">
                <a16:creationId xmlns:a16="http://schemas.microsoft.com/office/drawing/2014/main" id="{E9E96C47-BDB9-4399-9198-87E218165606}"/>
              </a:ext>
            </a:extLst>
          </p:cNvPr>
          <p:cNvSpPr>
            <a:spLocks xmlns:a="http://schemas.openxmlformats.org/drawingml/2006/main" noGrp="1"/>
          </p:cNvSpPr>
          <p:nvPr/>
        </p:nvSpPr>
        <p:spPr>
          <a:xfrm xmlns:a="http://schemas.openxmlformats.org/drawingml/2006/main">
            <a:off x="8001000" y="447675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4324B"/>
                </a:solidFill>
                <a:latin typeface="Times New Roman"/>
                <a:ea typeface="Times New Roman"/>
                <a:cs typeface="Times New Roman"/>
              </a:defRPr>
            </a:defPPr>
            <a:lvl1pPr>
              <a:defRPr sz="1875">
                <a:solidFill>
                  <a:srgbClr val="14324B"/>
                </a:solidFill>
                <a:latin typeface="Times New Roman"/>
                <a:ea typeface="Times New Roman"/>
                <a:cs typeface="Times New Roman"/>
              </a:defRPr>
            </a:lvl1pPr>
            <a:lvl2pPr>
              <a:defRPr sz="1875">
                <a:solidFill>
                  <a:srgbClr val="14324B"/>
                </a:solidFill>
                <a:latin typeface="Times New Roman"/>
                <a:ea typeface="Times New Roman"/>
                <a:cs typeface="Times New Roman"/>
              </a:defRPr>
            </a:lvl2pPr>
            <a:lvl3pPr>
              <a:defRPr sz="1875">
                <a:solidFill>
                  <a:srgbClr val="14324B"/>
                </a:solidFill>
                <a:latin typeface="Times New Roman"/>
                <a:ea typeface="Times New Roman"/>
                <a:cs typeface="Times New Roman"/>
              </a:defRPr>
            </a:lvl3pPr>
            <a:lvl4pPr>
              <a:defRPr sz="1875">
                <a:solidFill>
                  <a:srgbClr val="14324B"/>
                </a:solidFill>
                <a:latin typeface="Times New Roman"/>
                <a:ea typeface="Times New Roman"/>
                <a:cs typeface="Times New Roman"/>
              </a:defRPr>
            </a:lvl4pPr>
            <a:lvl5pPr>
              <a:defRPr sz="1875">
                <a:solidFill>
                  <a:srgbClr val="14324B"/>
                </a:solidFill>
                <a:latin typeface="Times New Roman"/>
                <a:ea typeface="Times New Roman"/>
                <a:cs typeface="Times New Roman"/>
              </a:defRPr>
            </a:lvl5pPr>
            <a:lvl6pPr>
              <a:defRPr sz="1875">
                <a:solidFill>
                  <a:srgbClr val="14324B"/>
                </a:solidFill>
                <a:latin typeface="Times New Roman"/>
                <a:ea typeface="Times New Roman"/>
                <a:cs typeface="Times New Roman"/>
              </a:defRPr>
            </a:lvl6pPr>
            <a:lvl7pPr>
              <a:defRPr sz="1875">
                <a:solidFill>
                  <a:srgbClr val="14324B"/>
                </a:solidFill>
                <a:latin typeface="Times New Roman"/>
                <a:ea typeface="Times New Roman"/>
                <a:cs typeface="Times New Roman"/>
              </a:defRPr>
            </a:lvl7pPr>
            <a:lvl8pPr>
              <a:defRPr sz="1875">
                <a:solidFill>
                  <a:srgbClr val="14324B"/>
                </a:solidFill>
                <a:latin typeface="Times New Roman"/>
                <a:ea typeface="Times New Roman"/>
                <a:cs typeface="Times New Roman"/>
              </a:defRPr>
            </a:lvl8pPr>
            <a:lvl9pPr>
              <a:defRPr sz="1875">
                <a:solidFill>
                  <a:srgbClr val="14324B"/>
                </a:solidFill>
                <a:latin typeface="Times New Roman"/>
                <a:ea typeface="Times New Roman"/>
                <a:cs typeface="Times New Roman"/>
              </a:defRPr>
            </a:lvl9pPr>
          </a:lstStyle>
          <a:p xmlns:a="http://schemas.openxmlformats.org/drawingml/2006/main">
            <a:pPr>
              <a:defRPr sz="1875">
                <a:solidFill>
                  <a:srgbClr val="14324B"/>
                </a:solidFill>
                <a:latin typeface="Times New Roman"/>
                <a:ea typeface="Times New Roman"/>
                <a:cs typeface="Times New Roman"/>
              </a:defRPr>
            </a:pPr>
            <a:r>
              <a:rPr sz="1875">
                <a:solidFill>
                  <a:srgbClr val="14324B"/>
                </a:solidFill>
                <a:latin typeface="Times New Roman"/>
                <a:ea typeface="Times New Roman"/>
                <a:cs typeface="Times New Roman"/>
              </a:rPr>
              <a:t>Native RNA-FM: .722</a:t>
            </a:r>
          </a:p>
          <a:p xmlns:a="http://schemas.openxmlformats.org/drawingml/2006/main">
            <a:pPr>
              <a:defRPr sz="1875">
                <a:solidFill>
                  <a:srgbClr val="14324B"/>
                </a:solidFill>
                <a:latin typeface="Times New Roman"/>
                <a:ea typeface="Times New Roman"/>
                <a:cs typeface="Times New Roman"/>
              </a:defRPr>
            </a:pPr>
            <a:r>
              <a:rPr sz="1875">
                <a:solidFill>
                  <a:srgbClr val="14324B"/>
                </a:solidFill>
                <a:latin typeface="Times New Roman"/>
                <a:ea typeface="Times New Roman"/>
                <a:cs typeface="Times New Roman"/>
              </a:rPr>
              <a:t>Codon-grid RNA-FM: .794</a:t>
            </a:r>
          </a:p>
          <a:p xmlns:a="http://schemas.openxmlformats.org/drawingml/2006/main">
            <a:pPr>
              <a:defRPr sz="1875">
                <a:solidFill>
                  <a:srgbClr val="14324B"/>
                </a:solidFill>
                <a:latin typeface="Times New Roman"/>
                <a:ea typeface="Times New Roman"/>
                <a:cs typeface="Times New Roman"/>
              </a:defRPr>
            </a:pPr>
            <a:r>
              <a:rPr sz="1875">
                <a:solidFill>
                  <a:srgbClr val="14324B"/>
                </a:solidFill>
                <a:latin typeface="Times New Roman"/>
                <a:ea typeface="Times New Roman"/>
                <a:cs typeface="Times New Roman"/>
              </a:rPr>
              <a:t>Separate single-fit diagnostic</a:t>
            </a:r>
          </a:p>
        </p:txBody>
      </p:sp>
      <p:sp>
        <p:nvSpPr>
          <p:cNvPr id="8" name="">
            <a:extLst xmlns:a="http://schemas.openxmlformats.org/drawingml/2006/main">
              <a:ext uri="{FF2B5EF4-FFF2-40B4-BE49-F238E27FC236}">
                <a16:creationId xmlns:a16="http://schemas.microsoft.com/office/drawing/2014/main" id="{C2BB05B8-A167-48FD-A45C-F33CC5C4D7FB}"/>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Historical row bootstrap; validation-only reference selection is unestablished. Target transformation and species coverage remain unresolved.</a:t>
            </a:r>
          </a:p>
        </p:txBody>
      </p:sp>
    </p:spTree>
    <p:extLst>
      <p:ext uri="{BB962C8B-B14F-4D97-AF65-F5344CB8AC3E}">
        <p14:creationId xmlns:p14="http://schemas.microsoft.com/office/powerpoint/2010/main" val="206547206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9095F2-5EAA-45DA-85BA-C89BDE85305C}"/>
              </a:ext>
            </a:extLst>
          </p:cNvPr>
          <p:cNvSpPr>
            <a:spLocks xmlns:a="http://schemas.openxmlformats.org/drawingml/2006/main" noGrp="1"/>
          </p:cNvSpPr>
          <p:nvPr/>
        </p:nvSpPr>
        <p:spPr>
          <a:xfrm xmlns:a="http://schemas.openxmlformats.org/drawingml/2006/main">
            <a:off x="0" y="0"/>
            <a:ext cx="12192000" cy="1104900"/>
          </a:xfrm>
          <a:prstGeom xmlns:a="http://schemas.openxmlformats.org/drawingml/2006/main" prst="rect">
            <a:avLst/>
          </a:prstGeom>
          <a:solidFill xmlns:a="http://schemas.openxmlformats.org/drawingml/2006/main">
            <a:srgbClr val="12324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FD9DB8-0984-415D-8D7C-EC8889613AF4}"/>
              </a:ext>
            </a:extLst>
          </p:cNvPr>
          <p:cNvSpPr>
            <a:spLocks xmlns:a="http://schemas.openxmlformats.org/drawingml/2006/main" noGrp="1"/>
          </p:cNvSpPr>
          <p:nvPr/>
        </p:nvSpPr>
        <p:spPr>
          <a:xfrm xmlns:a="http://schemas.openxmlformats.org/drawingml/2006/main">
            <a:off x="400050" y="209550"/>
            <a:ext cx="11372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Times New Roman"/>
                <a:ea typeface="Times New Roman"/>
                <a:cs typeface="Times New Roman"/>
              </a:defRPr>
            </a:defPPr>
            <a:lvl1pPr>
              <a:defRPr sz="3150" b="1">
                <a:solidFill>
                  <a:srgbClr val="FFFFFF"/>
                </a:solidFill>
                <a:latin typeface="Times New Roman"/>
                <a:ea typeface="Times New Roman"/>
                <a:cs typeface="Times New Roman"/>
              </a:defRPr>
            </a:lvl1pPr>
            <a:lvl2pPr>
              <a:defRPr sz="3150" b="1">
                <a:solidFill>
                  <a:srgbClr val="FFFFFF"/>
                </a:solidFill>
                <a:latin typeface="Times New Roman"/>
                <a:ea typeface="Times New Roman"/>
                <a:cs typeface="Times New Roman"/>
              </a:defRPr>
            </a:lvl2pPr>
            <a:lvl3pPr>
              <a:defRPr sz="3150" b="1">
                <a:solidFill>
                  <a:srgbClr val="FFFFFF"/>
                </a:solidFill>
                <a:latin typeface="Times New Roman"/>
                <a:ea typeface="Times New Roman"/>
                <a:cs typeface="Times New Roman"/>
              </a:defRPr>
            </a:lvl3pPr>
            <a:lvl4pPr>
              <a:defRPr sz="3150" b="1">
                <a:solidFill>
                  <a:srgbClr val="FFFFFF"/>
                </a:solidFill>
                <a:latin typeface="Times New Roman"/>
                <a:ea typeface="Times New Roman"/>
                <a:cs typeface="Times New Roman"/>
              </a:defRPr>
            </a:lvl4pPr>
            <a:lvl5pPr>
              <a:defRPr sz="3150" b="1">
                <a:solidFill>
                  <a:srgbClr val="FFFFFF"/>
                </a:solidFill>
                <a:latin typeface="Times New Roman"/>
                <a:ea typeface="Times New Roman"/>
                <a:cs typeface="Times New Roman"/>
              </a:defRPr>
            </a:lvl5pPr>
            <a:lvl6pPr>
              <a:defRPr sz="3150" b="1">
                <a:solidFill>
                  <a:srgbClr val="FFFFFF"/>
                </a:solidFill>
                <a:latin typeface="Times New Roman"/>
                <a:ea typeface="Times New Roman"/>
                <a:cs typeface="Times New Roman"/>
              </a:defRPr>
            </a:lvl6pPr>
            <a:lvl7pPr>
              <a:defRPr sz="3150" b="1">
                <a:solidFill>
                  <a:srgbClr val="FFFFFF"/>
                </a:solidFill>
                <a:latin typeface="Times New Roman"/>
                <a:ea typeface="Times New Roman"/>
                <a:cs typeface="Times New Roman"/>
              </a:defRPr>
            </a:lvl7pPr>
            <a:lvl8pPr>
              <a:defRPr sz="3150" b="1">
                <a:solidFill>
                  <a:srgbClr val="FFFFFF"/>
                </a:solidFill>
                <a:latin typeface="Times New Roman"/>
                <a:ea typeface="Times New Roman"/>
                <a:cs typeface="Times New Roman"/>
              </a:defRPr>
            </a:lvl8pPr>
            <a:lvl9pPr>
              <a:defRPr sz="3150" b="1">
                <a:solidFill>
                  <a:srgbClr val="FFFFFF"/>
                </a:solidFill>
                <a:latin typeface="Times New Roman"/>
                <a:ea typeface="Times New Roman"/>
                <a:cs typeface="Times New Roman"/>
              </a:defRPr>
            </a:lvl9pPr>
          </a:lstStyle>
          <a:p xmlns:a="http://schemas.openxmlformats.org/drawingml/2006/main">
            <a:pPr>
              <a:defRPr sz="3150" b="1">
                <a:solidFill>
                  <a:srgbClr val="FFFFFF"/>
                </a:solidFill>
                <a:latin typeface="Times New Roman"/>
                <a:ea typeface="Times New Roman"/>
                <a:cs typeface="Times New Roman"/>
              </a:defRPr>
            </a:pPr>
            <a:r>
              <a:rPr sz="3150" b="1">
                <a:solidFill>
                  <a:srgbClr val="FFFFFF"/>
                </a:solidFill>
                <a:latin typeface="Times New Roman"/>
                <a:ea typeface="Times New Roman"/>
                <a:cs typeface="Times New Roman"/>
              </a:rPr>
              <a:t>Appendix: what the scores and uncertainty mean</a:t>
            </a:r>
          </a:p>
        </p:txBody>
      </p:sp>
      <p:sp>
        <p:nvSpPr>
          <p:cNvPr id="3" name="">
            <a:extLst xmlns:a="http://schemas.openxmlformats.org/drawingml/2006/main">
              <a:ext uri="{FF2B5EF4-FFF2-40B4-BE49-F238E27FC236}">
                <a16:creationId xmlns:a16="http://schemas.microsoft.com/office/drawing/2014/main" id="{AB8B5A3F-8BF8-4A1F-879D-ED854CCE98B5}"/>
              </a:ext>
            </a:extLst>
          </p:cNvPr>
          <p:cNvSpPr>
            <a:spLocks xmlns:a="http://schemas.openxmlformats.org/drawingml/2006/main" noGrp="1"/>
          </p:cNvSpPr>
          <p:nvPr/>
        </p:nvSpPr>
        <p:spPr>
          <a:xfrm xmlns:a="http://schemas.openxmlformats.org/drawingml/2006/main">
            <a:off x="11430000" y="6486525"/>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52636B"/>
                </a:solidFill>
                <a:latin typeface="Times New Roman"/>
                <a:ea typeface="Times New Roman"/>
                <a:cs typeface="Times New Roman"/>
              </a:defRPr>
            </a:defPPr>
            <a:lvl1pPr algn="r">
              <a:defRPr sz="1350">
                <a:solidFill>
                  <a:srgbClr val="52636B"/>
                </a:solidFill>
                <a:latin typeface="Times New Roman"/>
                <a:ea typeface="Times New Roman"/>
                <a:cs typeface="Times New Roman"/>
              </a:defRPr>
            </a:lvl1pPr>
            <a:lvl2pPr algn="r">
              <a:defRPr sz="1350">
                <a:solidFill>
                  <a:srgbClr val="52636B"/>
                </a:solidFill>
                <a:latin typeface="Times New Roman"/>
                <a:ea typeface="Times New Roman"/>
                <a:cs typeface="Times New Roman"/>
              </a:defRPr>
            </a:lvl2pPr>
            <a:lvl3pPr algn="r">
              <a:defRPr sz="1350">
                <a:solidFill>
                  <a:srgbClr val="52636B"/>
                </a:solidFill>
                <a:latin typeface="Times New Roman"/>
                <a:ea typeface="Times New Roman"/>
                <a:cs typeface="Times New Roman"/>
              </a:defRPr>
            </a:lvl3pPr>
            <a:lvl4pPr algn="r">
              <a:defRPr sz="1350">
                <a:solidFill>
                  <a:srgbClr val="52636B"/>
                </a:solidFill>
                <a:latin typeface="Times New Roman"/>
                <a:ea typeface="Times New Roman"/>
                <a:cs typeface="Times New Roman"/>
              </a:defRPr>
            </a:lvl4pPr>
            <a:lvl5pPr algn="r">
              <a:defRPr sz="1350">
                <a:solidFill>
                  <a:srgbClr val="52636B"/>
                </a:solidFill>
                <a:latin typeface="Times New Roman"/>
                <a:ea typeface="Times New Roman"/>
                <a:cs typeface="Times New Roman"/>
              </a:defRPr>
            </a:lvl5pPr>
            <a:lvl6pPr algn="r">
              <a:defRPr sz="1350">
                <a:solidFill>
                  <a:srgbClr val="52636B"/>
                </a:solidFill>
                <a:latin typeface="Times New Roman"/>
                <a:ea typeface="Times New Roman"/>
                <a:cs typeface="Times New Roman"/>
              </a:defRPr>
            </a:lvl6pPr>
            <a:lvl7pPr algn="r">
              <a:defRPr sz="1350">
                <a:solidFill>
                  <a:srgbClr val="52636B"/>
                </a:solidFill>
                <a:latin typeface="Times New Roman"/>
                <a:ea typeface="Times New Roman"/>
                <a:cs typeface="Times New Roman"/>
              </a:defRPr>
            </a:lvl7pPr>
            <a:lvl8pPr algn="r">
              <a:defRPr sz="1350">
                <a:solidFill>
                  <a:srgbClr val="52636B"/>
                </a:solidFill>
                <a:latin typeface="Times New Roman"/>
                <a:ea typeface="Times New Roman"/>
                <a:cs typeface="Times New Roman"/>
              </a:defRPr>
            </a:lvl8pPr>
            <a:lvl9pPr algn="r">
              <a:defRPr sz="1350">
                <a:solidFill>
                  <a:srgbClr val="52636B"/>
                </a:solidFill>
                <a:latin typeface="Times New Roman"/>
                <a:ea typeface="Times New Roman"/>
                <a:cs typeface="Times New Roman"/>
              </a:defRPr>
            </a:lvl9pPr>
          </a:lstStyle>
          <a:p xmlns:a="http://schemas.openxmlformats.org/drawingml/2006/main">
            <a:pPr algn="r">
              <a:defRPr sz="1350">
                <a:solidFill>
                  <a:srgbClr val="52636B"/>
                </a:solidFill>
                <a:latin typeface="Times New Roman"/>
                <a:ea typeface="Times New Roman"/>
                <a:cs typeface="Times New Roman"/>
              </a:defRPr>
            </a:pPr>
            <a:r>
              <a:rPr sz="1350">
                <a:solidFill>
                  <a:srgbClr val="52636B"/>
                </a:solidFill>
                <a:latin typeface="Times New Roman"/>
                <a:ea typeface="Times New Roman"/>
                <a:cs typeface="Times New Roman"/>
              </a:rPr>
              <a:t>25</a:t>
            </a:r>
          </a:p>
        </p:txBody>
      </p:sp>
      <p:graphicFrame>
        <p:nvGraphicFramePr>
          <p:cNvPr id="4" name="">
            <a:extLst xmlns:a="http://schemas.openxmlformats.org/drawingml/2006/main">
              <a:ext uri="{FF2B5EF4-FFF2-40B4-BE49-F238E27FC236}">
                <a16:creationId xmlns:a16="http://schemas.microsoft.com/office/drawing/2014/main" id="{F5151B34-F358-4BA7-94D3-CCC1833D9B44}"/>
              </a:ext>
            </a:extLst>
          </p:cNvPr>
          <p:cNvGraphicFramePr/>
          <p:nvPr/>
        </p:nvGraphicFramePr>
        <p:xfrm>
          <a:off xmlns:a="http://schemas.openxmlformats.org/drawingml/2006/main" x="428625" y="1809750"/>
          <a:ext xmlns:a="http://schemas.openxmlformats.org/drawingml/2006/main" cx="11239500" cy="3381375"/>
        </p:xfrm>
        <a:graphic xmlns:a="http://schemas.openxmlformats.org/drawingml/2006/main">
          <a:graphicData uri="http://schemas.openxmlformats.org/drawingml/2006/table">
            <a:tbl>
              <a:tblPr/>
              <a:tblGrid>
                <a:gridCol w="2952750"/>
                <a:gridCol w="8286750"/>
              </a:tblGrid>
              <a:tr h="563563">
                <a:tc>
                  <a:txBody>
                    <a:bodyPr/>
                    <a:lstStyle/>
                    <a:p>
                      <a:r>
                        <a:rPr sz="1875" b="1">
                          <a:solidFill>
                            <a:srgbClr val="FFFFFF"/>
                          </a:solidFill>
                          <a:latin typeface="Times New Roman"/>
                          <a:ea typeface="Times New Roman"/>
                          <a:cs typeface="Times New Roman"/>
                        </a:rPr>
                        <a:t>Quantity</a:t>
                      </a:r>
                    </a:p>
                  </a:txBody>
                  <a:tcPr marL="123825" marR="123825" marT="95250" marB="95250" anchor="ctr">
                    <a:lnL w="6668">
                      <a:solidFill>
                        <a:srgbClr val="D7E0E5"/>
                      </a:solidFill>
                      <a:prstDash val="solid"/>
                    </a:lnL>
                    <a:lnR w="6668">
                      <a:solidFill>
                        <a:srgbClr val="D7E0E5"/>
                      </a:solidFill>
                      <a:prstDash val="solid"/>
                    </a:lnR>
                    <a:lnT w="6668">
                      <a:solidFill>
                        <a:srgbClr val="D7E0E5"/>
                      </a:solidFill>
                      <a:prstDash val="solid"/>
                    </a:lnT>
                    <a:lnB w="6668">
                      <a:solidFill>
                        <a:srgbClr val="D7E0E5"/>
                      </a:solidFill>
                      <a:prstDash val="solid"/>
                    </a:lnB>
                    <a:solidFill>
                      <a:srgbClr val="12324E"/>
                    </a:solidFill>
                  </a:tcPr>
                </a:tc>
                <a:tc>
                  <a:txBody>
                    <a:bodyPr/>
                    <a:lstStyle/>
                    <a:p>
                      <a:r>
                        <a:rPr sz="1875" b="1">
                          <a:solidFill>
                            <a:srgbClr val="FFFFFF"/>
                          </a:solidFill>
                          <a:latin typeface="Times New Roman"/>
                          <a:ea typeface="Times New Roman"/>
                          <a:cs typeface="Times New Roman"/>
                        </a:rPr>
                        <a:t>Interpretation</a:t>
                      </a:r>
                    </a:p>
                  </a:txBody>
                  <a:tcPr marL="123825" marR="123825" marT="95250" marB="95250" anchor="ctr">
                    <a:lnR w="6668">
                      <a:solidFill>
                        <a:srgbClr val="D7E0E5"/>
                      </a:solidFill>
                      <a:prstDash val="solid"/>
                    </a:lnR>
                    <a:lnT w="6668">
                      <a:solidFill>
                        <a:srgbClr val="D7E0E5"/>
                      </a:solidFill>
                      <a:prstDash val="solid"/>
                    </a:lnT>
                    <a:lnB w="6668">
                      <a:solidFill>
                        <a:srgbClr val="D7E0E5"/>
                      </a:solidFill>
                      <a:prstDash val="solid"/>
                    </a:lnB>
                    <a:solidFill>
                      <a:srgbClr val="12324E"/>
                    </a:solidFill>
                  </a:tcPr>
                </a:tc>
              </a:tr>
              <a:tr h="563563">
                <a:tc>
                  <a:txBody>
                    <a:bodyPr/>
                    <a:lstStyle/>
                    <a:p>
                      <a:r>
                        <a:rPr sz="1875">
                          <a:solidFill>
                            <a:srgbClr val="14324B"/>
                          </a:solidFill>
                          <a:latin typeface="Times New Roman"/>
                          <a:ea typeface="Times New Roman"/>
                          <a:cs typeface="Times New Roman"/>
                        </a:rPr>
                        <a:t>Accuracy</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875">
                          <a:solidFill>
                            <a:srgbClr val="14324B"/>
                          </a:solidFill>
                          <a:latin typeface="Times New Roman"/>
                          <a:ea typeface="Times New Roman"/>
                          <a:cs typeface="Times New Roman"/>
                        </a:rPr>
                        <a:t>Fraction of test rows assigned the correct class</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r h="563563">
                <a:tc>
                  <a:txBody>
                    <a:bodyPr/>
                    <a:lstStyle/>
                    <a:p>
                      <a:r>
                        <a:rPr sz="1875">
                          <a:solidFill>
                            <a:srgbClr val="14324B"/>
                          </a:solidFill>
                          <a:latin typeface="Times New Roman"/>
                          <a:ea typeface="Times New Roman"/>
                          <a:cs typeface="Times New Roman"/>
                        </a:rPr>
                        <a:t>R²</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875">
                          <a:solidFill>
                            <a:srgbClr val="14324B"/>
                          </a:solidFill>
                          <a:latin typeface="Times New Roman"/>
                          <a:ea typeface="Times New Roman"/>
                          <a:cs typeface="Times New Roman"/>
                        </a:rPr>
                        <a:t>One minus squared prediction error divided by mean-baseline error; can be negative</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r h="563563">
                <a:tc>
                  <a:txBody>
                    <a:bodyPr/>
                    <a:lstStyle/>
                    <a:p>
                      <a:r>
                        <a:rPr sz="1875">
                          <a:solidFill>
                            <a:srgbClr val="14324B"/>
                          </a:solidFill>
                          <a:latin typeface="Times New Roman"/>
                          <a:ea typeface="Times New Roman"/>
                          <a:cs typeface="Times New Roman"/>
                        </a:rPr>
                        <a:t>Spearman / Pearson</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875">
                          <a:solidFill>
                            <a:srgbClr val="14324B"/>
                          </a:solidFill>
                          <a:latin typeface="Times New Roman"/>
                          <a:ea typeface="Times New Roman"/>
                          <a:cs typeface="Times New Roman"/>
                        </a:rPr>
                        <a:t>Agreement in ranks / linear association of predictions and targets</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r h="563563">
                <a:tc>
                  <a:txBody>
                    <a:bodyPr/>
                    <a:lstStyle/>
                    <a:p>
                      <a:r>
                        <a:rPr sz="1875">
                          <a:solidFill>
                            <a:srgbClr val="14324B"/>
                          </a:solidFill>
                          <a:latin typeface="Times New Roman"/>
                          <a:ea typeface="Times New Roman"/>
                          <a:cs typeface="Times New Roman"/>
                        </a:rPr>
                        <a:t>Paired interval</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875">
                          <a:solidFill>
                            <a:srgbClr val="14324B"/>
                          </a:solidFill>
                          <a:latin typeface="Times New Roman"/>
                          <a:ea typeface="Times New Roman"/>
                          <a:cs typeface="Times New Roman"/>
                        </a:rPr>
                        <a:t>Compare both models on the same resampled test examples; fitted models stay fixed</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r h="563563">
                <a:tc>
                  <a:txBody>
                    <a:bodyPr/>
                    <a:lstStyle/>
                    <a:p>
                      <a:r>
                        <a:rPr sz="1875">
                          <a:solidFill>
                            <a:srgbClr val="14324B"/>
                          </a:solidFill>
                          <a:latin typeface="Times New Roman"/>
                          <a:ea typeface="Times New Roman"/>
                          <a:cs typeface="Times New Roman"/>
                        </a:rPr>
                        <a:t>Repeated seeds</a:t>
                      </a:r>
                    </a:p>
                  </a:txBody>
                  <a:tcPr marL="123825" marR="123825" marT="95250" marB="95250" anchor="ctr">
                    <a:lnL w="6668">
                      <a:solidFill>
                        <a:srgbClr val="D7E0E5"/>
                      </a:solidFill>
                      <a:prstDash val="solid"/>
                    </a:lnL>
                    <a:lnR w="6668">
                      <a:solidFill>
                        <a:srgbClr val="D7E0E5"/>
                      </a:solidFill>
                      <a:prstDash val="solid"/>
                    </a:lnR>
                    <a:lnB w="6668">
                      <a:solidFill>
                        <a:srgbClr val="D7E0E5"/>
                      </a:solidFill>
                      <a:prstDash val="solid"/>
                    </a:lnB>
                    <a:solidFill>
                      <a:srgbClr val="FFFFFF"/>
                    </a:solidFill>
                  </a:tcPr>
                </a:tc>
                <a:tc>
                  <a:txBody>
                    <a:bodyPr/>
                    <a:lstStyle/>
                    <a:p>
                      <a:r>
                        <a:rPr sz="1875">
                          <a:solidFill>
                            <a:srgbClr val="14324B"/>
                          </a:solidFill>
                          <a:latin typeface="Times New Roman"/>
                          <a:ea typeface="Times New Roman"/>
                          <a:cs typeface="Times New Roman"/>
                        </a:rPr>
                        <a:t>May change training initialization or data partitions, depending on the experiment</a:t>
                      </a:r>
                    </a:p>
                  </a:txBody>
                  <a:tcPr marL="123825" marR="123825" marT="95250" marB="95250" anchor="ctr">
                    <a:lnR w="6668">
                      <a:solidFill>
                        <a:srgbClr val="D7E0E5"/>
                      </a:solidFill>
                      <a:prstDash val="solid"/>
                    </a:lnR>
                    <a:lnB w="6668">
                      <a:solidFill>
                        <a:srgbClr val="D7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EBBD969-415B-4E8A-AB3D-DA32A5B923E3}"/>
              </a:ext>
            </a:extLst>
          </p:cNvPr>
          <p:cNvSpPr>
            <a:spLocks xmlns:a="http://schemas.openxmlformats.org/drawingml/2006/main" noGrp="1"/>
          </p:cNvSpPr>
          <p:nvPr/>
        </p:nvSpPr>
        <p:spPr>
          <a:xfrm xmlns:a="http://schemas.openxmlformats.org/drawingml/2006/main">
            <a:off x="523875" y="58102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4324B"/>
                </a:solidFill>
                <a:latin typeface="Times New Roman"/>
                <a:ea typeface="Times New Roman"/>
                <a:cs typeface="Times New Roman"/>
              </a:defRPr>
            </a:defPPr>
            <a:lvl1pPr>
              <a:defRPr sz="1875">
                <a:solidFill>
                  <a:srgbClr val="14324B"/>
                </a:solidFill>
                <a:latin typeface="Times New Roman"/>
                <a:ea typeface="Times New Roman"/>
                <a:cs typeface="Times New Roman"/>
              </a:defRPr>
            </a:lvl1pPr>
            <a:lvl2pPr>
              <a:defRPr sz="1875">
                <a:solidFill>
                  <a:srgbClr val="14324B"/>
                </a:solidFill>
                <a:latin typeface="Times New Roman"/>
                <a:ea typeface="Times New Roman"/>
                <a:cs typeface="Times New Roman"/>
              </a:defRPr>
            </a:lvl2pPr>
            <a:lvl3pPr>
              <a:defRPr sz="1875">
                <a:solidFill>
                  <a:srgbClr val="14324B"/>
                </a:solidFill>
                <a:latin typeface="Times New Roman"/>
                <a:ea typeface="Times New Roman"/>
                <a:cs typeface="Times New Roman"/>
              </a:defRPr>
            </a:lvl3pPr>
            <a:lvl4pPr>
              <a:defRPr sz="1875">
                <a:solidFill>
                  <a:srgbClr val="14324B"/>
                </a:solidFill>
                <a:latin typeface="Times New Roman"/>
                <a:ea typeface="Times New Roman"/>
                <a:cs typeface="Times New Roman"/>
              </a:defRPr>
            </a:lvl4pPr>
            <a:lvl5pPr>
              <a:defRPr sz="1875">
                <a:solidFill>
                  <a:srgbClr val="14324B"/>
                </a:solidFill>
                <a:latin typeface="Times New Roman"/>
                <a:ea typeface="Times New Roman"/>
                <a:cs typeface="Times New Roman"/>
              </a:defRPr>
            </a:lvl5pPr>
            <a:lvl6pPr>
              <a:defRPr sz="1875">
                <a:solidFill>
                  <a:srgbClr val="14324B"/>
                </a:solidFill>
                <a:latin typeface="Times New Roman"/>
                <a:ea typeface="Times New Roman"/>
                <a:cs typeface="Times New Roman"/>
              </a:defRPr>
            </a:lvl6pPr>
            <a:lvl7pPr>
              <a:defRPr sz="1875">
                <a:solidFill>
                  <a:srgbClr val="14324B"/>
                </a:solidFill>
                <a:latin typeface="Times New Roman"/>
                <a:ea typeface="Times New Roman"/>
                <a:cs typeface="Times New Roman"/>
              </a:defRPr>
            </a:lvl7pPr>
            <a:lvl8pPr>
              <a:defRPr sz="1875">
                <a:solidFill>
                  <a:srgbClr val="14324B"/>
                </a:solidFill>
                <a:latin typeface="Times New Roman"/>
                <a:ea typeface="Times New Roman"/>
                <a:cs typeface="Times New Roman"/>
              </a:defRPr>
            </a:lvl8pPr>
            <a:lvl9pPr>
              <a:defRPr sz="1875">
                <a:solidFill>
                  <a:srgbClr val="14324B"/>
                </a:solidFill>
                <a:latin typeface="Times New Roman"/>
                <a:ea typeface="Times New Roman"/>
                <a:cs typeface="Times New Roman"/>
              </a:defRPr>
            </a:lvl9pPr>
          </a:lstStyle>
          <a:p xmlns:a="http://schemas.openxmlformats.org/drawingml/2006/main">
            <a:pPr>
              <a:defRPr sz="1875">
                <a:solidFill>
                  <a:srgbClr val="14324B"/>
                </a:solidFill>
                <a:latin typeface="Times New Roman"/>
                <a:ea typeface="Times New Roman"/>
                <a:cs typeface="Times New Roman"/>
              </a:defRPr>
            </a:pPr>
            <a:r>
              <a:rPr sz="1875">
                <a:solidFill>
                  <a:srgbClr val="14324B"/>
                </a:solidFill>
                <a:latin typeface="Times New Roman"/>
                <a:ea typeface="Times New Roman"/>
                <a:cs typeface="Times New Roman"/>
              </a:rPr>
              <a:t>Details: root README, Stage 4 README, notebooks and saved result records.</a:t>
            </a:r>
          </a:p>
        </p:txBody>
      </p:sp>
      <p:sp>
        <p:nvSpPr>
          <p:cNvPr id="6" name="">
            <a:extLst xmlns:a="http://schemas.openxmlformats.org/drawingml/2006/main">
              <a:ext uri="{FF2B5EF4-FFF2-40B4-BE49-F238E27FC236}">
                <a16:creationId xmlns:a16="http://schemas.microsoft.com/office/drawing/2014/main" id="{42D11963-B076-4DFD-AC5E-B1ADB459117B}"/>
              </a:ext>
            </a:extLst>
          </p:cNvPr>
          <p:cNvSpPr>
            <a:spLocks xmlns:a="http://schemas.openxmlformats.org/drawingml/2006/main" noGrp="1"/>
          </p:cNvSpPr>
          <p:nvPr/>
        </p:nvSpPr>
        <p:spPr>
          <a:xfrm xmlns:a="http://schemas.openxmlformats.org/drawingml/2006/main">
            <a:off x="428625" y="6172200"/>
            <a:ext cx="1109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52636B"/>
                </a:solidFill>
                <a:latin typeface="Times New Roman"/>
                <a:ea typeface="Times New Roman"/>
                <a:cs typeface="Times New Roman"/>
              </a:defRPr>
            </a:defPPr>
            <a:lvl1pPr>
              <a:defRPr sz="1500">
                <a:solidFill>
                  <a:srgbClr val="52636B"/>
                </a:solidFill>
                <a:latin typeface="Times New Roman"/>
                <a:ea typeface="Times New Roman"/>
                <a:cs typeface="Times New Roman"/>
              </a:defRPr>
            </a:lvl1pPr>
            <a:lvl2pPr>
              <a:defRPr sz="1500">
                <a:solidFill>
                  <a:srgbClr val="52636B"/>
                </a:solidFill>
                <a:latin typeface="Times New Roman"/>
                <a:ea typeface="Times New Roman"/>
                <a:cs typeface="Times New Roman"/>
              </a:defRPr>
            </a:lvl2pPr>
            <a:lvl3pPr>
              <a:defRPr sz="1500">
                <a:solidFill>
                  <a:srgbClr val="52636B"/>
                </a:solidFill>
                <a:latin typeface="Times New Roman"/>
                <a:ea typeface="Times New Roman"/>
                <a:cs typeface="Times New Roman"/>
              </a:defRPr>
            </a:lvl3pPr>
            <a:lvl4pPr>
              <a:defRPr sz="1500">
                <a:solidFill>
                  <a:srgbClr val="52636B"/>
                </a:solidFill>
                <a:latin typeface="Times New Roman"/>
                <a:ea typeface="Times New Roman"/>
                <a:cs typeface="Times New Roman"/>
              </a:defRPr>
            </a:lvl4pPr>
            <a:lvl5pPr>
              <a:defRPr sz="1500">
                <a:solidFill>
                  <a:srgbClr val="52636B"/>
                </a:solidFill>
                <a:latin typeface="Times New Roman"/>
                <a:ea typeface="Times New Roman"/>
                <a:cs typeface="Times New Roman"/>
              </a:defRPr>
            </a:lvl5pPr>
            <a:lvl6pPr>
              <a:defRPr sz="1500">
                <a:solidFill>
                  <a:srgbClr val="52636B"/>
                </a:solidFill>
                <a:latin typeface="Times New Roman"/>
                <a:ea typeface="Times New Roman"/>
                <a:cs typeface="Times New Roman"/>
              </a:defRPr>
            </a:lvl6pPr>
            <a:lvl7pPr>
              <a:defRPr sz="1500">
                <a:solidFill>
                  <a:srgbClr val="52636B"/>
                </a:solidFill>
                <a:latin typeface="Times New Roman"/>
                <a:ea typeface="Times New Roman"/>
                <a:cs typeface="Times New Roman"/>
              </a:defRPr>
            </a:lvl7pPr>
            <a:lvl8pPr>
              <a:defRPr sz="1500">
                <a:solidFill>
                  <a:srgbClr val="52636B"/>
                </a:solidFill>
                <a:latin typeface="Times New Roman"/>
                <a:ea typeface="Times New Roman"/>
                <a:cs typeface="Times New Roman"/>
              </a:defRPr>
            </a:lvl8pPr>
            <a:lvl9pPr>
              <a:defRPr sz="1500">
                <a:solidFill>
                  <a:srgbClr val="52636B"/>
                </a:solidFill>
                <a:latin typeface="Times New Roman"/>
                <a:ea typeface="Times New Roman"/>
                <a:cs typeface="Times New Roman"/>
              </a:defRPr>
            </a:lvl9pPr>
          </a:lstStyle>
          <a:p xmlns:a="http://schemas.openxmlformats.org/drawingml/2006/main">
            <a:pPr>
              <a:defRPr sz="1500">
                <a:solidFill>
                  <a:srgbClr val="52636B"/>
                </a:solidFill>
                <a:latin typeface="Times New Roman"/>
                <a:ea typeface="Times New Roman"/>
                <a:cs typeface="Times New Roman"/>
              </a:defRPr>
            </a:pPr>
            <a:r>
              <a:rPr sz="1500">
                <a:solidFill>
                  <a:srgbClr val="52636B"/>
                </a:solidFill>
                <a:latin typeface="Times New Roman"/>
                <a:ea typeface="Times New Roman"/>
                <a:cs typeface="Times New Roman"/>
              </a:rPr>
              <a:t>Sources are attached to individual slide notes. Different targets, metrics and splitting procedures do not form one comparable score scale.</a:t>
            </a:r>
          </a:p>
        </p:txBody>
      </p:sp>
    </p:spTree>
    <p:extLst>
      <p:ext uri="{BB962C8B-B14F-4D97-AF65-F5344CB8AC3E}">
        <p14:creationId xmlns:p14="http://schemas.microsoft.com/office/powerpoint/2010/main" val="473646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2026-10-26T20:15:11.6690000Z</dcterms:created>
  <dcterms:modified xsi:type="dcterms:W3CDTF">2026-10-26T20:15:11.6690000Z</dcterms:modified>
</coreProperties>
</file>