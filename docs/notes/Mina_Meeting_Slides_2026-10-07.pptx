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21"/>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  <Relationship Id="rId21" Type="http://schemas.openxmlformats.org/officeDocument/2006/relationships/slide" Target="slides/slide15.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Composition share (%)</c:v>
                </c:pt>
              </c:strCache>
            </c:strRef>
          </c:tx>
          <c:spPr>
            <a:solidFill>
              <a:srgbClr val="A9CC8E"/>
            </a:solidFill>
            <a:effectLst/>
          </c:spPr>
          <c:invertIfNegative val="0"/>
          <c:dLbls>
            <c:numFmt formatCode="0&quot;%&quot;" sourceLinked="0"/>
            <c:txPr>
              <a:bodyPr/>
              <a:lstStyle/>
              <a:p>
                <a:pPr>
                  <a:defRPr b="0" i="0" strike="noStrike" sz="1100" u="none">
                    <a:solidFill>
                      <a:srgbClr val="F4F7F1"/>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ProtBERT</c:v>
                  </c:pt>
                  <c:pt idx="1">
                    <c:v>ESM-2 150M</c:v>
                  </c:pt>
                  <c:pt idx="2">
                    <c:v>ESM-2 35M</c:v>
                  </c:pt>
                  <c:pt idx="3">
                    <c:v>ESM-2 8M</c:v>
                  </c:pt>
                  <c:pt idx="4">
                    <c:v>CaLM</c:v>
                  </c:pt>
                  <c:pt idx="5">
                    <c:v>mRNA-FM</c:v>
                  </c:pt>
                  <c:pt idx="6">
                    <c:v>RiNALMo</c:v>
                  </c:pt>
                  <c:pt idx="7">
                    <c:v>RNA-FM</c:v>
                  </c:pt>
                  <c:pt idx="8">
                    <c:v>HyenaDNA</c:v>
                  </c:pt>
                  <c:pt idx="9">
                    <c:v>DNABERT-2</c:v>
                  </c:pt>
                  <c:pt idx="10">
                    <c:v>NT v2</c:v>
                  </c:pt>
                  <c:pt idx="11">
                    <c:v>NT 500M</c:v>
                  </c:pt>
                </c:lvl>
              </c:multiLvlStrCache>
            </c:multiLvlStrRef>
          </c:cat>
          <c:val>
            <c:numRef>
              <c:f>Sheet1!$B$2:$B$13</c:f>
              <c:numCache>
                <c:formatCode>General</c:formatCode>
                <c:ptCount val="12"/>
                <c:pt idx="0">
                  <c:v>41.5</c:v>
                </c:pt>
                <c:pt idx="1">
                  <c:v>43.7</c:v>
                </c:pt>
                <c:pt idx="2">
                  <c:v>44.6</c:v>
                </c:pt>
                <c:pt idx="3">
                  <c:v>47.9</c:v>
                </c:pt>
                <c:pt idx="4">
                  <c:v>47.2</c:v>
                </c:pt>
                <c:pt idx="5">
                  <c:v>29.6</c:v>
                </c:pt>
                <c:pt idx="6">
                  <c:v>64.8</c:v>
                </c:pt>
                <c:pt idx="7">
                  <c:v>67.7</c:v>
                </c:pt>
                <c:pt idx="8">
                  <c:v>92.4</c:v>
                </c:pt>
                <c:pt idx="9">
                  <c:v>61</c:v>
                </c:pt>
                <c:pt idx="10">
                  <c:v>80.4</c:v>
                </c:pt>
                <c:pt idx="11">
                  <c:v>61.8</c:v>
                </c:pt>
              </c:numCache>
            </c:numRef>
          </c:val>
        </c:ser>
        <c:dLbls>
          <c:numFmt formatCode="0&quot;%&quot;" sourceLinked="0"/>
          <c:txPr>
            <a:bodyPr/>
            <a:lstStyle/>
            <a:p>
              <a:pPr>
                <a:defRPr b="0" i="0" strike="noStrike" sz="1100" u="none">
                  <a:solidFill>
                    <a:srgbClr val="F4F7F1"/>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C9DBC0"/>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now covers twelve frozen encoders, four per modality, on two datasets. On the mRNA stability data every encoder reads one coding sequence, as in BioLangFusion. On IsoFormer's GTEx data each encoder reads its own molecule: genomic DNA around the start site, the transcript, or the protein. Today: what each encoder knows, how they relate, how much of their agreement is composition, the published comparisons, and the proposed Stage 2 alignment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settings. In the stability data a modality is defined by the encoder, because every encoder reads one coding sequence; differences between encoders reflect pretraining and tokenization, not new biology. In the GTEx pilot each modality is a different molecule, so the DNA input holds promoter sequence and the transcript holds untranslated regions that the protein lacks. Four encoders per modality show how much encoders of one modality agree with each other. RNA-FM and RiNALMo read only the first 1,022 nucleotides, so they see the start of most 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protein encoders explain about 11 to 14 percent of stability variance, and both codon-level encoders reach the same range, so that result does not depend on one model. Encoders reading single nucleotides, six-nucleotide tokens or byte-pair tokens reach 3 to 8 percent even though they read every letter; HyenaDNA is lowest. Length alone predicts nothing. GC3 is where the nucleotide models carry information protein cannot. HyenaDNA, a causal model, has the best GC probe but the largest GC3 drop and stands out on the Nussinov pairing proxy computed from the first 200 nucleotides, consistent with its pooled embedding over-weighting the sequence start. Identical sequences carry labels differing by a median standard deviation of 0.49, which caps every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66 pairs was concatenated and probed on the same folds as the single encoders. Sixteen pairs gain under all ten further fold assignments, and the clearest group is the codon-level RNA encoders with the protein encoders: all eight such pairings gain every time, by about one to two hundredths of R squared. The two codon-level encoders also gain together, so they are not redundant. The other consistent gains are smaller. Larger concatenations do not help, because a ridge probe on 981 rows cannot use thousands of extra columns. These are concatenation baselines; they say nothing yet about a trained fusion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is final-layer linear CKA for all 66 pairs. Agreement follows tokenization and training more than the modality label: RNA-FM and RiNALMo agree most of any pair, then the ESM-2 models, and encoders reading single letters or short tokens of the same sequence agree whether they are called DNA or RNA. The two codon-level encoders differ sharply: CaLM looks like the single-nucleotide RNA encoders and the protein encoders, while mRNA-FM agrees with almost nothing. Retrieval after CCA separates pairs more clearly than CKA; CaLM finds its protein partner as often as ProtBERT finds an ESM-2 model's. Layer-wise, mRNA-FM's middle layers agree with the ESM-2 models at up to 0.69; its last blocks are what make it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regress 87 composition features, GC, GC3, length, codon and amino-acid frequencies, out of every embedding and recompute agreement. Composition explains most of the variance of the DNA embeddings and the single-nucleotide RNA embeddings, up to 92 percent for HyenaDNA, and less for the codon-level and protein encoders. Removing it removes most agreement involving a DNA encoder. Three groups keep strong agreement: the protein encoders among themselves, RNA-FM with RiNALMo, and CaLM with the protein encoders. CaLM's residual correspondence with protein is the strongest evidence in Stage 1 that a nucleotide encoder represents something protein-like beyond counts. The control is linear, so nonlinear composition could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embedding is split into its ten largest principal components and everything else. Composition, the stability signal a linear probe can reach, and most cross-encoder agreement all sit in the dominant directions. The low-variance directions are not empty: the ESM-2 models and CaLM with the protein encoders still agree there, and mRNA-FM is the case where they agree more than the top block, which explains how it can have low CKA with the protein encoders and still retrieve its partner under CCA. The rest blocks have nearly as many columns as rows, which inflates CKA, so compare them with each other, not with the top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is CaLM's attention on one example sequence with candidate pattern matches. The table lists the only rows with permutation p below 0.05. Position never explains them: each keeps its gap within 100-nucleotide bins. Codon context explains most: mRNA-FM's DRACH shift falls to 0.0001 and RiNALMo's ARE gap disappears when labels move only among positions with the same codon. CaLM's ARE-pentamer gap is the one result that survives both nulls, at the smallest p 500 shuffles allow; with 36 tests that cannot pass a Bonferroni correction, so it is a lead, not a finding. These sequences are coding-only; the GTEx data test the 3-prime UTR, where AU-rich elements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published split the frozen encoders keep the cross-validation order: ProtBERT, CaLM and ESM-2 150M lead. Scores on test sequences absent from training are within 0.04 except HyenaDNA. Concatenating mRNA-FM with ProtBERT or ESM-2 150M scores about the same as the protein encoder alone, and all twelve encoders together reach 0.401. BioLangFusion's own three encoders reach 0.364 when concatenated here versus 0.539 in its paper; the gap bounds what a trained head, token-level inputs and ten times more data add together. Reproducing its head on these embeddings would separate those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GTEx each encoder reads its own molecule, and the labels are expression in 30 tissues, which correlate strongly, so most of what is predictable is a transcript's overall level. RNA and protein encoders reach 9 to 18 percent of the variance; the DNA encoders reading six kilobases around the start site reach 3 to 5 percent. But four simple length features beat every single encoder. Mean pooling divides by the number of tokens, truncation caps what an encoder sees, and every DNA window has the same length, so pooled embeddings hide lengths that are known correlates of expression. The reference for an encoder on this task is 0.24, not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IsoFormer's modality combinations with frozen encoders and a linear probe on the published split. DNA alone is weakest, protein alone with IsoFormer's own protein encoder comes close to the published value, and RNA alone falls furthest short, which fits IsoFormer fine-tuning its RNA encoder. Adding modalities helps in IsoFormer's order. Right: under cross-validation, concatenation helps far more broadly than on stability, because the inputs are different molecules; the DNA window adds signal even though it predicts little alone. The exception is DNA with RNA-FM or RiNALMo, which partly read the same region. All twelve together only match the length features, so any fusion comparison on GTEx needs the length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distinct inputs the geometry changes as expected. The DNA encoders agree strongly with each other and barely at all with the RNA and protein encoders; a transcript's own DNA window is almost never ranked first. The encoders that read coding information behave as on the stability data, and CaLM again keeps the most correspondence with protein after the composition control. In the 3-prime UTRs, where AU-rich elements act, RNA-FM's attention shows nothing and RiNALMo attends to U-rich trinucleotides wherever they occur, not to the pentamer as a unit. Per-sequence alignment again has no relationship with prediction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is a decision, recorded in the Overleaf and the project notes, not a notebook, and it runs no experiments. We impose only the positional alignment the biology gives us: the codon grid on the stability data, and cross-attention on GTEx, where no grid exists. The first fusion models train on the prediction loss alone, because a contrastive alignment term would mostly push encoders to agree on composition and could erase what only one modality carries, such as codon choice. CaLM with a protein encoder is the one pair that stays aligned after the composition control, so it gets the one ablation, with and without an alignment loss. We start with the pairings Stage 1 favors, keep one ESM-2 model per experiment, and report each pair's alignment before and after the control beside its fusion gain, which tests whether Stage 1 predicts where fusion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starts with token-level embeddings, because pooled vectors cannot support positional fusion. Every fused model is compared with the best single encoder, concatenation plus an MLP, and on GTEx the length features. Coupled Mamba comes first, then IsoFormer-style cross-attention. The questions are where Mina's input changes what we build: whether per-pair decisions fit the lab's alignment work, how to treat length on GTEx, which benchmark Stage 4 uses, and whether the CaLM attention lead is worth pursuing.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Alignment has two meanings here. Positional alignment means step t in every input is the same place in the gene, the way video frame t and audio window t are the same moment. Biology gives us this on the stability data, because each codon maps to exactly one amino acid, so we can resample every encoder's tokens onto one codon grid, which is what Coupled Mamba needs. On GTEx there is no such mapping between the promoter window, the transcript, and the protein. Representational alignment means two encoders see the same genes as similar. Stage 1 measured it, and most of the raw agreement turned out to be letter, codon, and amino-acid counts. After removing those, only the ESM-2 models, RNA-FM with RiNALMo, and CaLM with the protein encoders still agree. Alignment never predicted which sequences were predicted well, and some of the most useful pairings barely align. So for us alignment is something we measure and report, not something we train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99"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23"/>
        </a:solidFill>
      </p:bgPr>
    </p:bg>
    <p:spTree>
      <p:nvGrpSpPr>
        <p:cNvPr id="1" name=""/>
        <p:cNvGrpSpPr/>
        <p:nvPr/>
      </p:nvGrpSpPr>
      <p:grpSpPr>
        <a:xfrm>
          <a:off x="0" y="0"/>
          <a:ext cx="0" cy="0"/>
          <a:chOff x="0" y="0"/>
          <a:chExt cx="0" cy="0"/>
        </a:xfrm>
      </p:grpSpPr>
      <p:sp>
        <p:nvSpPr>
          <p:cNvPr id="2" name="Text 0"/>
          <p:cNvSpPr txBox="1"/>
          <p:nvPr/>
        </p:nvSpPr>
        <p:spPr>
          <a:xfrm>
            <a:off x="685800" y="1097280"/>
            <a:ext cx="10817352" cy="320040"/>
          </a:xfrm>
          <a:prstGeom prst="rect">
            <a:avLst/>
          </a:prstGeom>
          <a:noFill/>
          <a:ln/>
        </p:spPr>
        <p:txBody>
          <a:bodyPr wrap="square" lIns="0" tIns="0" rIns="0" bIns="0" rtlCol="0" anchor="ctr"/>
          <a:lstStyle/>
          <a:p>
            <a:pPr indent="0" marL="0">
              <a:buNone/>
            </a:pPr>
            <a:r>
              <a:rPr lang="en-US" sz="1300" b="1" spc="300" kern="0" dirty="0">
                <a:solidFill>
                  <a:srgbClr val="A9CC8E"/>
                </a:solidFill>
                <a:latin typeface="Calibri" pitchFamily="34" charset="0"/>
                <a:ea typeface="Calibri" pitchFamily="34" charset="-122"/>
                <a:cs typeface="Calibri" pitchFamily="34" charset="-120"/>
              </a:rPr>
              <a:t>MULTIMODAL-BIO-FUSION  ·  PROGRESS UPDATE</a:t>
            </a:r>
            <a:endParaRPr lang="en-US" sz="1300" dirty="0"/>
          </a:p>
        </p:txBody>
      </p:sp>
      <p:sp>
        <p:nvSpPr>
          <p:cNvPr id="3" name="Text 1"/>
          <p:cNvSpPr txBox="1"/>
          <p:nvPr/>
        </p:nvSpPr>
        <p:spPr>
          <a:xfrm>
            <a:off x="685800" y="1554480"/>
            <a:ext cx="10515600" cy="914400"/>
          </a:xfrm>
          <a:prstGeom prst="rect">
            <a:avLst/>
          </a:prstGeom>
          <a:noFill/>
          <a:ln/>
        </p:spPr>
        <p:txBody>
          <a:bodyPr wrap="square" lIns="0" tIns="0" rIns="0" bIns="0" rtlCol="0" anchor="ctr"/>
          <a:lstStyle/>
          <a:p>
            <a:pPr indent="0" marL="0">
              <a:buNone/>
            </a:pPr>
            <a:r>
              <a:rPr lang="en-US" sz="4400" b="1" dirty="0">
                <a:solidFill>
                  <a:srgbClr val="F4F7F1"/>
                </a:solidFill>
                <a:latin typeface="Cambria" pitchFamily="34" charset="0"/>
                <a:ea typeface="Cambria" pitchFamily="34" charset="-122"/>
                <a:cs typeface="Cambria" pitchFamily="34" charset="-120"/>
              </a:rPr>
              <a:t>Stage 1: twelve encoders, two datasets</a:t>
            </a:r>
            <a:endParaRPr lang="en-US" sz="4400" dirty="0"/>
          </a:p>
        </p:txBody>
      </p:sp>
      <p:sp>
        <p:nvSpPr>
          <p:cNvPr id="4" name="Text 2"/>
          <p:cNvSpPr txBox="1"/>
          <p:nvPr/>
        </p:nvSpPr>
        <p:spPr>
          <a:xfrm>
            <a:off x="685800" y="2651760"/>
            <a:ext cx="9692640" cy="1005840"/>
          </a:xfrm>
          <a:prstGeom prst="rect">
            <a:avLst/>
          </a:prstGeom>
          <a:noFill/>
          <a:ln/>
        </p:spPr>
        <p:txBody>
          <a:bodyPr wrap="square" lIns="0" tIns="0" rIns="0" bIns="0" rtlCol="0" anchor="t"/>
          <a:lstStyle/>
          <a:p>
            <a:pPr indent="0" marL="0">
              <a:buNone/>
            </a:pPr>
            <a:r>
              <a:rPr lang="en-US" sz="1800" dirty="0">
                <a:solidFill>
                  <a:srgbClr val="C9DBC0"/>
                </a:solidFill>
                <a:latin typeface="Calibri" pitchFamily="34" charset="0"/>
                <a:ea typeface="Calibri" pitchFamily="34" charset="-122"/>
                <a:cs typeface="Calibri" pitchFamily="34" charset="-120"/>
              </a:rPr>
              <a:t>Four frozen foundation models per modality on mRNA stability and GTEx expression: what each one knows, how they relate, how much of that is sequence composition, and what it means for alignment and fusion.</a:t>
            </a:r>
            <a:endParaRPr lang="en-US" sz="1800" dirty="0"/>
          </a:p>
        </p:txBody>
      </p:sp>
      <p:sp>
        <p:nvSpPr>
          <p:cNvPr id="5" name="Shape 3"/>
          <p:cNvSpPr/>
          <p:nvPr/>
        </p:nvSpPr>
        <p:spPr>
          <a:xfrm>
            <a:off x="685800" y="3977640"/>
            <a:ext cx="3931920" cy="457200"/>
          </a:xfrm>
          <a:prstGeom prst="roundRect">
            <a:avLst>
              <a:gd name="adj" fmla="val 50000"/>
            </a:avLst>
          </a:prstGeom>
          <a:solidFill>
            <a:srgbClr val="A9CC8E"/>
          </a:solidFill>
          <a:ln w="12700">
            <a:solidFill>
              <a:srgbClr val="A9CC8E"/>
            </a:solidFill>
            <a:prstDash val="solid"/>
          </a:ln>
        </p:spPr>
      </p:sp>
      <p:sp>
        <p:nvSpPr>
          <p:cNvPr id="6" name="Text 4"/>
          <p:cNvSpPr txBox="1"/>
          <p:nvPr/>
        </p:nvSpPr>
        <p:spPr>
          <a:xfrm>
            <a:off x="685800" y="3977640"/>
            <a:ext cx="3931920" cy="457200"/>
          </a:xfrm>
          <a:prstGeom prst="rect">
            <a:avLst/>
          </a:prstGeom>
          <a:noFill/>
          <a:ln/>
        </p:spPr>
        <p:txBody>
          <a:bodyPr wrap="square" lIns="0" tIns="0" rIns="0" bIns="0" rtlCol="0" anchor="ctr"/>
          <a:lstStyle/>
          <a:p>
            <a:pPr algn="ctr" indent="0" marL="0">
              <a:buNone/>
            </a:pPr>
            <a:r>
              <a:rPr lang="en-US" sz="1300" b="1" dirty="0">
                <a:solidFill>
                  <a:srgbClr val="1E3A23"/>
                </a:solidFill>
                <a:latin typeface="Calibri" pitchFamily="34" charset="0"/>
                <a:ea typeface="Calibri" pitchFamily="34" charset="-122"/>
                <a:cs typeface="Calibri" pitchFamily="34" charset="-120"/>
              </a:rPr>
              <a:t>DNA · NT 500M, NT v2, DNABERT-2, HyenaDNA</a:t>
            </a:r>
            <a:endParaRPr lang="en-US" sz="1300" dirty="0"/>
          </a:p>
        </p:txBody>
      </p:sp>
      <p:sp>
        <p:nvSpPr>
          <p:cNvPr id="7" name="Shape 5"/>
          <p:cNvSpPr/>
          <p:nvPr/>
        </p:nvSpPr>
        <p:spPr>
          <a:xfrm>
            <a:off x="4754880" y="3977640"/>
            <a:ext cx="3611880" cy="457200"/>
          </a:xfrm>
          <a:prstGeom prst="roundRect">
            <a:avLst>
              <a:gd name="adj" fmla="val 50000"/>
            </a:avLst>
          </a:prstGeom>
          <a:solidFill>
            <a:srgbClr val="A9CC8E"/>
          </a:solidFill>
          <a:ln w="12700">
            <a:solidFill>
              <a:srgbClr val="A9CC8E"/>
            </a:solidFill>
            <a:prstDash val="solid"/>
          </a:ln>
        </p:spPr>
      </p:sp>
      <p:sp>
        <p:nvSpPr>
          <p:cNvPr id="8" name="Text 6"/>
          <p:cNvSpPr txBox="1"/>
          <p:nvPr/>
        </p:nvSpPr>
        <p:spPr>
          <a:xfrm>
            <a:off x="4754880" y="3977640"/>
            <a:ext cx="3611880" cy="457200"/>
          </a:xfrm>
          <a:prstGeom prst="rect">
            <a:avLst/>
          </a:prstGeom>
          <a:noFill/>
          <a:ln/>
        </p:spPr>
        <p:txBody>
          <a:bodyPr wrap="square" lIns="0" tIns="0" rIns="0" bIns="0" rtlCol="0" anchor="ctr"/>
          <a:lstStyle/>
          <a:p>
            <a:pPr algn="ctr" indent="0" marL="0">
              <a:buNone/>
            </a:pPr>
            <a:r>
              <a:rPr lang="en-US" sz="1300" b="1" dirty="0">
                <a:solidFill>
                  <a:srgbClr val="1E3A23"/>
                </a:solidFill>
                <a:latin typeface="Calibri" pitchFamily="34" charset="0"/>
                <a:ea typeface="Calibri" pitchFamily="34" charset="-122"/>
                <a:cs typeface="Calibri" pitchFamily="34" charset="-120"/>
              </a:rPr>
              <a:t>RNA · RNA-FM, RiNALMo, mRNA-FM, CaLM</a:t>
            </a:r>
            <a:endParaRPr lang="en-US" sz="1300" dirty="0"/>
          </a:p>
        </p:txBody>
      </p:sp>
      <p:sp>
        <p:nvSpPr>
          <p:cNvPr id="9" name="Shape 7"/>
          <p:cNvSpPr/>
          <p:nvPr/>
        </p:nvSpPr>
        <p:spPr>
          <a:xfrm>
            <a:off x="8503920" y="3977640"/>
            <a:ext cx="3611880" cy="457200"/>
          </a:xfrm>
          <a:prstGeom prst="roundRect">
            <a:avLst>
              <a:gd name="adj" fmla="val 50000"/>
            </a:avLst>
          </a:prstGeom>
          <a:solidFill>
            <a:srgbClr val="A9CC8E"/>
          </a:solidFill>
          <a:ln w="12700">
            <a:solidFill>
              <a:srgbClr val="A9CC8E"/>
            </a:solidFill>
            <a:prstDash val="solid"/>
          </a:ln>
        </p:spPr>
      </p:sp>
      <p:sp>
        <p:nvSpPr>
          <p:cNvPr id="10" name="Text 8"/>
          <p:cNvSpPr txBox="1"/>
          <p:nvPr/>
        </p:nvSpPr>
        <p:spPr>
          <a:xfrm>
            <a:off x="8503920" y="3977640"/>
            <a:ext cx="3611880" cy="457200"/>
          </a:xfrm>
          <a:prstGeom prst="rect">
            <a:avLst/>
          </a:prstGeom>
          <a:noFill/>
          <a:ln/>
        </p:spPr>
        <p:txBody>
          <a:bodyPr wrap="square" lIns="0" tIns="0" rIns="0" bIns="0" rtlCol="0" anchor="ctr"/>
          <a:lstStyle/>
          <a:p>
            <a:pPr algn="ctr" indent="0" marL="0">
              <a:buNone/>
            </a:pPr>
            <a:r>
              <a:rPr lang="en-US" sz="1300" b="1" dirty="0">
                <a:solidFill>
                  <a:srgbClr val="1E3A23"/>
                </a:solidFill>
                <a:latin typeface="Calibri" pitchFamily="34" charset="0"/>
                <a:ea typeface="Calibri" pitchFamily="34" charset="-122"/>
                <a:cs typeface="Calibri" pitchFamily="34" charset="-120"/>
              </a:rPr>
              <a:t>Protein · ESM-2 8M, 35M, 150M, ProtBERT</a:t>
            </a:r>
            <a:endParaRPr lang="en-US" sz="1300" dirty="0"/>
          </a:p>
        </p:txBody>
      </p:sp>
      <p:sp>
        <p:nvSpPr>
          <p:cNvPr id="11" name="Text 9"/>
          <p:cNvSpPr txBox="1"/>
          <p:nvPr/>
        </p:nvSpPr>
        <p:spPr>
          <a:xfrm>
            <a:off x="685800" y="6263640"/>
            <a:ext cx="10817352" cy="320040"/>
          </a:xfrm>
          <a:prstGeom prst="rect">
            <a:avLst/>
          </a:prstGeom>
          <a:noFill/>
          <a:ln/>
        </p:spPr>
        <p:txBody>
          <a:bodyPr wrap="square" lIns="0" tIns="0" rIns="0" bIns="0" rtlCol="0" anchor="ctr"/>
          <a:lstStyle/>
          <a:p>
            <a:pPr indent="0" marL="0">
              <a:buNone/>
            </a:pPr>
            <a:r>
              <a:rPr lang="en-US" sz="1100" dirty="0">
                <a:solidFill>
                  <a:srgbClr val="A9C2A0"/>
                </a:solidFill>
                <a:latin typeface="Calibri" pitchFamily="34" charset="0"/>
                <a:ea typeface="Calibri" pitchFamily="34" charset="-122"/>
                <a:cs typeface="Calibri" pitchFamily="34" charset="-120"/>
              </a:rPr>
              <a:t>Julian McKinley and Chase Di Maria Breisinger   |   MSDA AI Track, UCF   |   Meeting with Mina Basirat, October 7,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STAGE 1 SETUP</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Two settings, twelve frozen encoders</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All encoders frozen; mean-pooled final layer; ridge probes over gene- or sequence-grouped folds. One notebook: Code/Stage1_analysis.ipynb.</a:t>
            </a:r>
            <a:endParaRPr lang="en-US" sz="1100" dirty="0"/>
          </a:p>
        </p:txBody>
      </p:sp>
      <p:sp>
        <p:nvSpPr>
          <p:cNvPr id="5" name="Shape 3"/>
          <p:cNvSpPr/>
          <p:nvPr/>
        </p:nvSpPr>
        <p:spPr>
          <a:xfrm>
            <a:off x="685800" y="1691640"/>
            <a:ext cx="5271516" cy="1783080"/>
          </a:xfrm>
          <a:prstGeom prst="roundRect">
            <a:avLst>
              <a:gd name="adj" fmla="val 4103"/>
            </a:avLst>
          </a:prstGeom>
          <a:solidFill>
            <a:srgbClr val="EEF3EA"/>
          </a:solidFill>
          <a:ln w="12700">
            <a:solidFill>
              <a:srgbClr val="EEF3EA"/>
            </a:solidFill>
            <a:prstDash val="solid"/>
          </a:ln>
        </p:spPr>
      </p:sp>
      <p:sp>
        <p:nvSpPr>
          <p:cNvPr id="6" name="Text 4"/>
          <p:cNvSpPr txBox="1"/>
          <p:nvPr/>
        </p:nvSpPr>
        <p:spPr>
          <a:xfrm>
            <a:off x="960120" y="1828800"/>
            <a:ext cx="4722876" cy="274320"/>
          </a:xfrm>
          <a:prstGeom prst="rect">
            <a:avLst/>
          </a:prstGeom>
          <a:noFill/>
          <a:ln/>
        </p:spPr>
        <p:txBody>
          <a:bodyPr wrap="square" lIns="0" tIns="0" rIns="0" bIns="0" rtlCol="0" anchor="ctr"/>
          <a:lstStyle/>
          <a:p>
            <a:pPr indent="0" marL="0">
              <a:buNone/>
            </a:pPr>
            <a:r>
              <a:rPr lang="en-US" sz="1200" b="1" spc="200" kern="0" dirty="0">
                <a:solidFill>
                  <a:srgbClr val="3E7A34"/>
                </a:solidFill>
                <a:latin typeface="Calibri" pitchFamily="34" charset="0"/>
                <a:ea typeface="Calibri" pitchFamily="34" charset="-122"/>
                <a:cs typeface="Calibri" pitchFamily="34" charset="-120"/>
              </a:rPr>
              <a:t>DERIVED INPUTS · mRNA STABILITY</a:t>
            </a:r>
            <a:endParaRPr lang="en-US" sz="1200" dirty="0"/>
          </a:p>
        </p:txBody>
      </p:sp>
      <p:sp>
        <p:nvSpPr>
          <p:cNvPr id="7" name="Text 5"/>
          <p:cNvSpPr txBox="1"/>
          <p:nvPr/>
        </p:nvSpPr>
        <p:spPr>
          <a:xfrm>
            <a:off x="960120" y="2121408"/>
            <a:ext cx="4722876" cy="365760"/>
          </a:xfrm>
          <a:prstGeom prst="rect">
            <a:avLst/>
          </a:prstGeom>
          <a:noFill/>
          <a:ln/>
        </p:spPr>
        <p:txBody>
          <a:bodyPr wrap="square" lIns="0" tIns="0" rIns="0" bIns="0" rtlCol="0" anchor="ctr"/>
          <a:lstStyle/>
          <a:p>
            <a:pPr indent="0" marL="0">
              <a:buNone/>
            </a:pPr>
            <a:r>
              <a:rPr lang="en-US" sz="1700" b="1" dirty="0">
                <a:solidFill>
                  <a:srgbClr val="1E2A20"/>
                </a:solidFill>
                <a:latin typeface="Cambria" pitchFamily="34" charset="0"/>
                <a:ea typeface="Cambria" pitchFamily="34" charset="-122"/>
                <a:cs typeface="Cambria" pitchFamily="34" charset="-120"/>
              </a:rPr>
              <a:t>981 coding sequences (964 distinct)</a:t>
            </a:r>
            <a:endParaRPr lang="en-US" sz="1700" dirty="0"/>
          </a:p>
        </p:txBody>
      </p:sp>
      <p:sp>
        <p:nvSpPr>
          <p:cNvPr id="8" name="Text 6"/>
          <p:cNvSpPr txBox="1"/>
          <p:nvPr/>
        </p:nvSpPr>
        <p:spPr>
          <a:xfrm>
            <a:off x="960120" y="2514600"/>
            <a:ext cx="4722876" cy="91440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Every encoder reads the same coding sequence: DNA letters, RNA letters, or its translation. Label: mRNA stability. Published comparison: BioLangFusion.</a:t>
            </a:r>
            <a:endParaRPr lang="en-US" sz="1300" dirty="0"/>
          </a:p>
        </p:txBody>
      </p:sp>
      <p:sp>
        <p:nvSpPr>
          <p:cNvPr id="9" name="Shape 7"/>
          <p:cNvSpPr/>
          <p:nvPr/>
        </p:nvSpPr>
        <p:spPr>
          <a:xfrm>
            <a:off x="6231636" y="1691640"/>
            <a:ext cx="5271516" cy="1783080"/>
          </a:xfrm>
          <a:prstGeom prst="roundRect">
            <a:avLst>
              <a:gd name="adj" fmla="val 4103"/>
            </a:avLst>
          </a:prstGeom>
          <a:solidFill>
            <a:srgbClr val="EEF3EA"/>
          </a:solidFill>
          <a:ln w="12700">
            <a:solidFill>
              <a:srgbClr val="EEF3EA"/>
            </a:solidFill>
            <a:prstDash val="solid"/>
          </a:ln>
        </p:spPr>
      </p:sp>
      <p:sp>
        <p:nvSpPr>
          <p:cNvPr id="10" name="Text 8"/>
          <p:cNvSpPr txBox="1"/>
          <p:nvPr/>
        </p:nvSpPr>
        <p:spPr>
          <a:xfrm>
            <a:off x="6505956" y="1828800"/>
            <a:ext cx="4722876" cy="274320"/>
          </a:xfrm>
          <a:prstGeom prst="rect">
            <a:avLst/>
          </a:prstGeom>
          <a:noFill/>
          <a:ln/>
        </p:spPr>
        <p:txBody>
          <a:bodyPr wrap="square" lIns="0" tIns="0" rIns="0" bIns="0" rtlCol="0" anchor="ctr"/>
          <a:lstStyle/>
          <a:p>
            <a:pPr indent="0" marL="0">
              <a:buNone/>
            </a:pPr>
            <a:r>
              <a:rPr lang="en-US" sz="1200" b="1" spc="200" kern="0" dirty="0">
                <a:solidFill>
                  <a:srgbClr val="3E7A34"/>
                </a:solidFill>
                <a:latin typeface="Calibri" pitchFamily="34" charset="0"/>
                <a:ea typeface="Calibri" pitchFamily="34" charset="-122"/>
                <a:cs typeface="Calibri" pitchFamily="34" charset="-120"/>
              </a:rPr>
              <a:t>DISTINCT INPUTS · GTEx EXPRESSION</a:t>
            </a:r>
            <a:endParaRPr lang="en-US" sz="1200" dirty="0"/>
          </a:p>
        </p:txBody>
      </p:sp>
      <p:sp>
        <p:nvSpPr>
          <p:cNvPr id="11" name="Text 9"/>
          <p:cNvSpPr txBox="1"/>
          <p:nvPr/>
        </p:nvSpPr>
        <p:spPr>
          <a:xfrm>
            <a:off x="6505956" y="2121408"/>
            <a:ext cx="4722876" cy="365760"/>
          </a:xfrm>
          <a:prstGeom prst="rect">
            <a:avLst/>
          </a:prstGeom>
          <a:noFill/>
          <a:ln/>
        </p:spPr>
        <p:txBody>
          <a:bodyPr wrap="square" lIns="0" tIns="0" rIns="0" bIns="0" rtlCol="0" anchor="ctr"/>
          <a:lstStyle/>
          <a:p>
            <a:pPr indent="0" marL="0">
              <a:buNone/>
            </a:pPr>
            <a:r>
              <a:rPr lang="en-US" sz="1700" b="1" dirty="0">
                <a:solidFill>
                  <a:srgbClr val="1E2A20"/>
                </a:solidFill>
                <a:latin typeface="Cambria" pitchFamily="34" charset="0"/>
                <a:ea typeface="Cambria" pitchFamily="34" charset="-122"/>
                <a:cs typeface="Cambria" pitchFamily="34" charset="-120"/>
              </a:rPr>
              <a:t>999 train and 996 test transcripts</a:t>
            </a:r>
            <a:endParaRPr lang="en-US" sz="1700" dirty="0"/>
          </a:p>
        </p:txBody>
      </p:sp>
      <p:sp>
        <p:nvSpPr>
          <p:cNvPr id="12" name="Text 10"/>
          <p:cNvSpPr txBox="1"/>
          <p:nvPr/>
        </p:nvSpPr>
        <p:spPr>
          <a:xfrm>
            <a:off x="6505956" y="2514600"/>
            <a:ext cx="4722876" cy="91440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DNA encoders read 6 kb of genome around the start site, RNA encoders the transcript or its coding sequence, protein encoders the protein. Labels: expression in 30 tissues. Published comparison: IsoFormer.</a:t>
            </a:r>
            <a:endParaRPr lang="en-US" sz="1300" dirty="0"/>
          </a:p>
        </p:txBody>
      </p:sp>
      <p:sp>
        <p:nvSpPr>
          <p:cNvPr id="13" name="Shape 11"/>
          <p:cNvSpPr/>
          <p:nvPr/>
        </p:nvSpPr>
        <p:spPr>
          <a:xfrm>
            <a:off x="685800" y="3703320"/>
            <a:ext cx="3422904" cy="2377440"/>
          </a:xfrm>
          <a:prstGeom prst="roundRect">
            <a:avLst>
              <a:gd name="adj" fmla="val 3077"/>
            </a:avLst>
          </a:prstGeom>
          <a:solidFill>
            <a:srgbClr val="EEF3EA"/>
          </a:solidFill>
          <a:ln w="12700">
            <a:solidFill>
              <a:srgbClr val="EEF3EA"/>
            </a:solidFill>
            <a:prstDash val="solid"/>
          </a:ln>
        </p:spPr>
      </p:sp>
      <p:sp>
        <p:nvSpPr>
          <p:cNvPr id="14" name="Text 12"/>
          <p:cNvSpPr txBox="1"/>
          <p:nvPr/>
        </p:nvSpPr>
        <p:spPr>
          <a:xfrm>
            <a:off x="960120" y="3840480"/>
            <a:ext cx="2874264" cy="274320"/>
          </a:xfrm>
          <a:prstGeom prst="rect">
            <a:avLst/>
          </a:prstGeom>
          <a:noFill/>
          <a:ln/>
        </p:spPr>
        <p:txBody>
          <a:bodyPr wrap="square" lIns="0" tIns="0" rIns="0" bIns="0" rtlCol="0" anchor="ctr"/>
          <a:lstStyle/>
          <a:p>
            <a:pPr indent="0" marL="0">
              <a:buNone/>
            </a:pPr>
            <a:r>
              <a:rPr lang="en-US" sz="1200" b="1" spc="300" kern="0" dirty="0">
                <a:solidFill>
                  <a:srgbClr val="3E7A34"/>
                </a:solidFill>
                <a:latin typeface="Calibri" pitchFamily="34" charset="0"/>
                <a:ea typeface="Calibri" pitchFamily="34" charset="-122"/>
                <a:cs typeface="Calibri" pitchFamily="34" charset="-120"/>
              </a:rPr>
              <a:t>DNA</a:t>
            </a:r>
            <a:endParaRPr lang="en-US" sz="1200" dirty="0"/>
          </a:p>
        </p:txBody>
      </p:sp>
      <p:sp>
        <p:nvSpPr>
          <p:cNvPr id="15" name="Text 13"/>
          <p:cNvSpPr txBox="1"/>
          <p:nvPr/>
        </p:nvSpPr>
        <p:spPr>
          <a:xfrm>
            <a:off x="960120" y="4133088"/>
            <a:ext cx="2874264" cy="685800"/>
          </a:xfrm>
          <a:prstGeom prst="rect">
            <a:avLst/>
          </a:prstGeom>
          <a:noFill/>
          <a:ln/>
        </p:spPr>
        <p:txBody>
          <a:bodyPr wrap="square" lIns="0" tIns="0" rIns="0" bIns="0" rtlCol="0" anchor="t"/>
          <a:lstStyle/>
          <a:p>
            <a:pPr indent="0" marL="0">
              <a:buNone/>
            </a:pPr>
            <a:r>
              <a:rPr lang="en-US" sz="1500" b="1" dirty="0">
                <a:solidFill>
                  <a:srgbClr val="1E2A20"/>
                </a:solidFill>
                <a:latin typeface="Cambria" pitchFamily="34" charset="0"/>
                <a:ea typeface="Cambria" pitchFamily="34" charset="-122"/>
                <a:cs typeface="Cambria" pitchFamily="34" charset="-120"/>
              </a:rPr>
              <a:t>NT 500M human-ref · NT v2 100M · DNABERT-2 · HyenaDNA large</a:t>
            </a:r>
            <a:endParaRPr lang="en-US" sz="1500" dirty="0"/>
          </a:p>
        </p:txBody>
      </p:sp>
      <p:sp>
        <p:nvSpPr>
          <p:cNvPr id="16" name="Text 14"/>
          <p:cNvSpPr txBox="1"/>
          <p:nvPr/>
        </p:nvSpPr>
        <p:spPr>
          <a:xfrm>
            <a:off x="960120" y="4846320"/>
            <a:ext cx="2874264" cy="114300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6-mer, byte-pair, and single-nucleotide tokens. HyenaDNA uses long convolutions, not attention, and is causal.</a:t>
            </a:r>
            <a:endParaRPr lang="en-US" sz="1300" dirty="0"/>
          </a:p>
        </p:txBody>
      </p:sp>
      <p:sp>
        <p:nvSpPr>
          <p:cNvPr id="17" name="Shape 15"/>
          <p:cNvSpPr/>
          <p:nvPr/>
        </p:nvSpPr>
        <p:spPr>
          <a:xfrm>
            <a:off x="4383024" y="3703320"/>
            <a:ext cx="3422904" cy="2377440"/>
          </a:xfrm>
          <a:prstGeom prst="roundRect">
            <a:avLst>
              <a:gd name="adj" fmla="val 3077"/>
            </a:avLst>
          </a:prstGeom>
          <a:solidFill>
            <a:srgbClr val="EEF3EA"/>
          </a:solidFill>
          <a:ln w="12700">
            <a:solidFill>
              <a:srgbClr val="EEF3EA"/>
            </a:solidFill>
            <a:prstDash val="solid"/>
          </a:ln>
        </p:spPr>
      </p:sp>
      <p:sp>
        <p:nvSpPr>
          <p:cNvPr id="18" name="Text 16"/>
          <p:cNvSpPr txBox="1"/>
          <p:nvPr/>
        </p:nvSpPr>
        <p:spPr>
          <a:xfrm>
            <a:off x="4657344" y="3840480"/>
            <a:ext cx="2874264" cy="274320"/>
          </a:xfrm>
          <a:prstGeom prst="rect">
            <a:avLst/>
          </a:prstGeom>
          <a:noFill/>
          <a:ln/>
        </p:spPr>
        <p:txBody>
          <a:bodyPr wrap="square" lIns="0" tIns="0" rIns="0" bIns="0" rtlCol="0" anchor="ctr"/>
          <a:lstStyle/>
          <a:p>
            <a:pPr indent="0" marL="0">
              <a:buNone/>
            </a:pPr>
            <a:r>
              <a:rPr lang="en-US" sz="1200" b="1" spc="300" kern="0" dirty="0">
                <a:solidFill>
                  <a:srgbClr val="3E7A34"/>
                </a:solidFill>
                <a:latin typeface="Calibri" pitchFamily="34" charset="0"/>
                <a:ea typeface="Calibri" pitchFamily="34" charset="-122"/>
                <a:cs typeface="Calibri" pitchFamily="34" charset="-120"/>
              </a:rPr>
              <a:t>RNA</a:t>
            </a:r>
            <a:endParaRPr lang="en-US" sz="1200" dirty="0"/>
          </a:p>
        </p:txBody>
      </p:sp>
      <p:sp>
        <p:nvSpPr>
          <p:cNvPr id="19" name="Text 17"/>
          <p:cNvSpPr txBox="1"/>
          <p:nvPr/>
        </p:nvSpPr>
        <p:spPr>
          <a:xfrm>
            <a:off x="4657344" y="4133088"/>
            <a:ext cx="2874264" cy="685800"/>
          </a:xfrm>
          <a:prstGeom prst="rect">
            <a:avLst/>
          </a:prstGeom>
          <a:noFill/>
          <a:ln/>
        </p:spPr>
        <p:txBody>
          <a:bodyPr wrap="square" lIns="0" tIns="0" rIns="0" bIns="0" rtlCol="0" anchor="t"/>
          <a:lstStyle/>
          <a:p>
            <a:pPr indent="0" marL="0">
              <a:buNone/>
            </a:pPr>
            <a:r>
              <a:rPr lang="en-US" sz="1500" b="1" dirty="0">
                <a:solidFill>
                  <a:srgbClr val="1E2A20"/>
                </a:solidFill>
                <a:latin typeface="Cambria" pitchFamily="34" charset="0"/>
                <a:ea typeface="Cambria" pitchFamily="34" charset="-122"/>
                <a:cs typeface="Cambria" pitchFamily="34" charset="-120"/>
              </a:rPr>
              <a:t>RNA-FM · RiNALMo 150M · mRNA-FM · CaLM</a:t>
            </a:r>
            <a:endParaRPr lang="en-US" sz="1500" dirty="0"/>
          </a:p>
        </p:txBody>
      </p:sp>
      <p:sp>
        <p:nvSpPr>
          <p:cNvPr id="20" name="Text 18"/>
          <p:cNvSpPr txBox="1"/>
          <p:nvPr/>
        </p:nvSpPr>
        <p:spPr>
          <a:xfrm>
            <a:off x="4657344" y="4846320"/>
            <a:ext cx="2874264" cy="114300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RNA-FM and RiNALMo read single nucleotides (first 1,022 only); mRNA-FM and CaLM read one token per codon.</a:t>
            </a:r>
            <a:endParaRPr lang="en-US" sz="1300" dirty="0"/>
          </a:p>
        </p:txBody>
      </p:sp>
      <p:sp>
        <p:nvSpPr>
          <p:cNvPr id="21" name="Shape 19"/>
          <p:cNvSpPr/>
          <p:nvPr/>
        </p:nvSpPr>
        <p:spPr>
          <a:xfrm>
            <a:off x="8080248" y="3703320"/>
            <a:ext cx="3422904" cy="2377440"/>
          </a:xfrm>
          <a:prstGeom prst="roundRect">
            <a:avLst>
              <a:gd name="adj" fmla="val 3077"/>
            </a:avLst>
          </a:prstGeom>
          <a:solidFill>
            <a:srgbClr val="EEF3EA"/>
          </a:solidFill>
          <a:ln w="12700">
            <a:solidFill>
              <a:srgbClr val="EEF3EA"/>
            </a:solidFill>
            <a:prstDash val="solid"/>
          </a:ln>
        </p:spPr>
      </p:sp>
      <p:sp>
        <p:nvSpPr>
          <p:cNvPr id="22" name="Text 20"/>
          <p:cNvSpPr txBox="1"/>
          <p:nvPr/>
        </p:nvSpPr>
        <p:spPr>
          <a:xfrm>
            <a:off x="8354568" y="3840480"/>
            <a:ext cx="2874264" cy="274320"/>
          </a:xfrm>
          <a:prstGeom prst="rect">
            <a:avLst/>
          </a:prstGeom>
          <a:noFill/>
          <a:ln/>
        </p:spPr>
        <p:txBody>
          <a:bodyPr wrap="square" lIns="0" tIns="0" rIns="0" bIns="0" rtlCol="0" anchor="ctr"/>
          <a:lstStyle/>
          <a:p>
            <a:pPr indent="0" marL="0">
              <a:buNone/>
            </a:pPr>
            <a:r>
              <a:rPr lang="en-US" sz="1200" b="1" spc="300" kern="0" dirty="0">
                <a:solidFill>
                  <a:srgbClr val="3E7A34"/>
                </a:solidFill>
                <a:latin typeface="Calibri" pitchFamily="34" charset="0"/>
                <a:ea typeface="Calibri" pitchFamily="34" charset="-122"/>
                <a:cs typeface="Calibri" pitchFamily="34" charset="-120"/>
              </a:rPr>
              <a:t>PROTEIN</a:t>
            </a:r>
            <a:endParaRPr lang="en-US" sz="1200" dirty="0"/>
          </a:p>
        </p:txBody>
      </p:sp>
      <p:sp>
        <p:nvSpPr>
          <p:cNvPr id="23" name="Text 21"/>
          <p:cNvSpPr txBox="1"/>
          <p:nvPr/>
        </p:nvSpPr>
        <p:spPr>
          <a:xfrm>
            <a:off x="8354568" y="4133088"/>
            <a:ext cx="2874264" cy="685800"/>
          </a:xfrm>
          <a:prstGeom prst="rect">
            <a:avLst/>
          </a:prstGeom>
          <a:noFill/>
          <a:ln/>
        </p:spPr>
        <p:txBody>
          <a:bodyPr wrap="square" lIns="0" tIns="0" rIns="0" bIns="0" rtlCol="0" anchor="t"/>
          <a:lstStyle/>
          <a:p>
            <a:pPr indent="0" marL="0">
              <a:buNone/>
            </a:pPr>
            <a:r>
              <a:rPr lang="en-US" sz="1500" b="1" dirty="0">
                <a:solidFill>
                  <a:srgbClr val="1E2A20"/>
                </a:solidFill>
                <a:latin typeface="Cambria" pitchFamily="34" charset="0"/>
                <a:ea typeface="Cambria" pitchFamily="34" charset="-122"/>
                <a:cs typeface="Cambria" pitchFamily="34" charset="-120"/>
              </a:rPr>
              <a:t>ESM-2 8M · 35M · 150M · ProtBERT</a:t>
            </a:r>
            <a:endParaRPr lang="en-US" sz="1500" dirty="0"/>
          </a:p>
        </p:txBody>
      </p:sp>
      <p:sp>
        <p:nvSpPr>
          <p:cNvPr id="24" name="Text 22"/>
          <p:cNvSpPr txBox="1"/>
          <p:nvPr/>
        </p:nvSpPr>
        <p:spPr>
          <a:xfrm>
            <a:off x="8354568" y="4846320"/>
            <a:ext cx="2874264" cy="114300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One token per amino acid. ESM-2 8M is BioLangFusion's encoder, ESM-2 150M IsoFormer's; ProtBERT is outside the ESM-2 family.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TRACK A · mRNA STABILITY</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Protein and codon-level RNA predict stability best</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Ridge probes over 5 folds that keep identical sequences together, pinned by a sequence hash; "10 splits" is the mean over 10 further fold assignments.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6858000" cy="914400"/>
        </p:xfrm>
        <a:graphic>
          <a:graphicData uri="http://schemas.openxmlformats.org/drawingml/2006/table">
            <a:tbl>
              <a:tblPr/>
              <a:tblGrid>
                <a:gridCol w="2651760"/>
                <a:gridCol w="1600200"/>
                <a:gridCol w="960120"/>
                <a:gridCol w="822960"/>
                <a:gridCol w="822960"/>
              </a:tblGrid>
              <a:tr h="301752">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Encoder</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Stability R² (SD)</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10 splits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GC R²</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GC3 R²</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NT 500M human-ref</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0.032 (0.043)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0.046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0.985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0.968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NT v2 100M multi-species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0.080 (0.032)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0.074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0.991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0.986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DNABERT-2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0.054 (0.031)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0.990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0.948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HyenaDNA large</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0.026 (0.017)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0.997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0.896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0.052 (0.032)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0.046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0.951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0.917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RiNALMo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0.078 (0.021)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0.079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0.954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0.949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0.127 (0.032)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0.951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0.946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0.127 (0.058)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0.132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0.984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0.982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8M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0.127 (0.044)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0.131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0.679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0.379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35M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0.114 (0.049)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0.123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0.686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0.387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0.144 (0.035)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0.708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0.436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ProtBERT</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0.143 (0.041)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0.135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0.700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0.440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Sequence length only</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0.003 (0.009)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6" name="Shape 3"/>
          <p:cNvSpPr/>
          <p:nvPr/>
        </p:nvSpPr>
        <p:spPr>
          <a:xfrm>
            <a:off x="7863840" y="1645920"/>
            <a:ext cx="3639312" cy="1965960"/>
          </a:xfrm>
          <a:prstGeom prst="roundRect">
            <a:avLst>
              <a:gd name="adj" fmla="val 3721"/>
            </a:avLst>
          </a:prstGeom>
          <a:solidFill>
            <a:srgbClr val="EEF3EA"/>
          </a:solidFill>
          <a:ln w="12700">
            <a:solidFill>
              <a:srgbClr val="EEF3EA"/>
            </a:solidFill>
            <a:prstDash val="solid"/>
          </a:ln>
        </p:spPr>
      </p:sp>
      <p:sp>
        <p:nvSpPr>
          <p:cNvPr id="7" name="Text 4"/>
          <p:cNvSpPr txBox="1"/>
          <p:nvPr/>
        </p:nvSpPr>
        <p:spPr>
          <a:xfrm>
            <a:off x="8138160" y="1783080"/>
            <a:ext cx="3090672" cy="502920"/>
          </a:xfrm>
          <a:prstGeom prst="rect">
            <a:avLst/>
          </a:prstGeom>
          <a:noFill/>
          <a:ln/>
        </p:spPr>
        <p:txBody>
          <a:bodyPr wrap="square" lIns="0" tIns="0" rIns="0" bIns="0" rtlCol="0" anchor="ctr"/>
          <a:lstStyle/>
          <a:p>
            <a:pPr indent="0" marL="0">
              <a:buNone/>
            </a:pPr>
            <a:r>
              <a:rPr lang="en-US" sz="2600" b="1" dirty="0">
                <a:solidFill>
                  <a:srgbClr val="1E3A23"/>
                </a:solidFill>
                <a:latin typeface="Cambria" pitchFamily="34" charset="0"/>
                <a:ea typeface="Cambria" pitchFamily="34" charset="-122"/>
                <a:cs typeface="Cambria" pitchFamily="34" charset="-120"/>
              </a:rPr>
              <a:t>0.127 and 0.127</a:t>
            </a:r>
            <a:endParaRPr lang="en-US" sz="2600" dirty="0"/>
          </a:p>
        </p:txBody>
      </p:sp>
      <p:sp>
        <p:nvSpPr>
          <p:cNvPr id="8" name="Text 5"/>
          <p:cNvSpPr txBox="1"/>
          <p:nvPr/>
        </p:nvSpPr>
        <p:spPr>
          <a:xfrm>
            <a:off x="8138160" y="2304288"/>
            <a:ext cx="3090672" cy="118872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mRNA-FM and CaLM, two codon-level encoders from different groups, match the protein encoders (0.114 to 0.144). The other nucleotide encoders reach 0.026 to 0.080.</a:t>
            </a:r>
            <a:endParaRPr lang="en-US" sz="1300" dirty="0"/>
          </a:p>
        </p:txBody>
      </p:sp>
      <p:sp>
        <p:nvSpPr>
          <p:cNvPr id="9" name="Shape 6"/>
          <p:cNvSpPr/>
          <p:nvPr/>
        </p:nvSpPr>
        <p:spPr>
          <a:xfrm>
            <a:off x="7863840" y="3840480"/>
            <a:ext cx="3639312" cy="1965960"/>
          </a:xfrm>
          <a:prstGeom prst="roundRect">
            <a:avLst>
              <a:gd name="adj" fmla="val 3721"/>
            </a:avLst>
          </a:prstGeom>
          <a:solidFill>
            <a:srgbClr val="EEF3EA"/>
          </a:solidFill>
          <a:ln w="12700">
            <a:solidFill>
              <a:srgbClr val="EEF3EA"/>
            </a:solidFill>
            <a:prstDash val="solid"/>
          </a:ln>
        </p:spPr>
      </p:sp>
      <p:sp>
        <p:nvSpPr>
          <p:cNvPr id="10" name="Text 7"/>
          <p:cNvSpPr txBox="1"/>
          <p:nvPr/>
        </p:nvSpPr>
        <p:spPr>
          <a:xfrm>
            <a:off x="8138160" y="3977640"/>
            <a:ext cx="3090672" cy="502920"/>
          </a:xfrm>
          <a:prstGeom prst="rect">
            <a:avLst/>
          </a:prstGeom>
          <a:noFill/>
          <a:ln/>
        </p:spPr>
        <p:txBody>
          <a:bodyPr wrap="square" lIns="0" tIns="0" rIns="0" bIns="0" rtlCol="0" anchor="ctr"/>
          <a:lstStyle/>
          <a:p>
            <a:pPr indent="0" marL="0">
              <a:buNone/>
            </a:pPr>
            <a:r>
              <a:rPr lang="en-US" sz="2600" b="1" dirty="0">
                <a:solidFill>
                  <a:srgbClr val="1E3A23"/>
                </a:solidFill>
                <a:latin typeface="Cambria" pitchFamily="34" charset="0"/>
                <a:ea typeface="Cambria" pitchFamily="34" charset="-122"/>
                <a:cs typeface="Cambria" pitchFamily="34" charset="-120"/>
              </a:rPr>
              <a:t>-0.26 to -0.30</a:t>
            </a:r>
            <a:endParaRPr lang="en-US" sz="2600" dirty="0"/>
          </a:p>
        </p:txBody>
      </p:sp>
      <p:sp>
        <p:nvSpPr>
          <p:cNvPr id="11" name="Text 8"/>
          <p:cNvSpPr txBox="1"/>
          <p:nvPr/>
        </p:nvSpPr>
        <p:spPr>
          <a:xfrm>
            <a:off x="8138160" y="4498848"/>
            <a:ext cx="3090672" cy="118872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Protein R² drop from GC to GC3: translation loses codon choice. Nucleotide encoders keep it (GC3 0.90 to 0.98).</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TRACK A · CONCATENATION</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Codon-level RNA plus protein is the consistent gain</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Gain = concatenated pair's R² minus the better single encoder's R², on the same folds; 66 pairs, 10 further fold assignments.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6858000" cy="914400"/>
        </p:xfrm>
        <a:graphic>
          <a:graphicData uri="http://schemas.openxmlformats.org/drawingml/2006/table">
            <a:tbl>
              <a:tblPr/>
              <a:tblGrid>
                <a:gridCol w="2651760"/>
                <a:gridCol w="1280160"/>
                <a:gridCol w="1691640"/>
                <a:gridCol w="1234440"/>
              </a:tblGrid>
              <a:tr h="301752">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Pair</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Mean gain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Range, 10 splits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Splits with gain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 + ESM-2 35M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+0.022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+0.014 to +0.031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10 of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 + ESM-2 150M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+0.007 to +0.025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10 of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 + ProtBERT</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+0.003 to +0.025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10 of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 + ESM-2 8M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+0.004 to +0.023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10 of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 + ESM-2 35M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+0.006 to +0.019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10 of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 + ProtBERT</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+0.004 to +0.017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10 of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 + ESM-2 8M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+0.001 to +0.012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10 of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 + ESM-2 150M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+0.001 to +0.013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10 of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Other 58 pairs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-0.015 to +0.011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 to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85800" y="4937760"/>
          <a:ext cx="6858000" cy="914400"/>
        </p:xfrm>
        <a:graphic>
          <a:graphicData uri="http://schemas.openxmlformats.org/drawingml/2006/table">
            <a:tbl>
              <a:tblPr/>
              <a:tblGrid>
                <a:gridCol w="2651760"/>
                <a:gridCol w="1280160"/>
                <a:gridCol w="1691640"/>
                <a:gridCol w="1234440"/>
              </a:tblGrid>
              <a:tr h="301752">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Combination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R², pinned</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R², 10 splits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vs best member</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All four protein encoders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01752">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All twelve encoders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0.132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7" name="Shape 3"/>
          <p:cNvSpPr/>
          <p:nvPr/>
        </p:nvSpPr>
        <p:spPr>
          <a:xfrm>
            <a:off x="7863840" y="1645920"/>
            <a:ext cx="3639312" cy="1965960"/>
          </a:xfrm>
          <a:prstGeom prst="roundRect">
            <a:avLst>
              <a:gd name="adj" fmla="val 3721"/>
            </a:avLst>
          </a:prstGeom>
          <a:solidFill>
            <a:srgbClr val="EEF3EA"/>
          </a:solidFill>
          <a:ln w="12700">
            <a:solidFill>
              <a:srgbClr val="EEF3EA"/>
            </a:solidFill>
            <a:prstDash val="solid"/>
          </a:ln>
        </p:spPr>
      </p:sp>
      <p:sp>
        <p:nvSpPr>
          <p:cNvPr id="8" name="Text 4"/>
          <p:cNvSpPr txBox="1"/>
          <p:nvPr/>
        </p:nvSpPr>
        <p:spPr>
          <a:xfrm>
            <a:off x="8138160" y="1783080"/>
            <a:ext cx="3090672" cy="502920"/>
          </a:xfrm>
          <a:prstGeom prst="rect">
            <a:avLst/>
          </a:prstGeom>
          <a:noFill/>
          <a:ln/>
        </p:spPr>
        <p:txBody>
          <a:bodyPr wrap="square" lIns="0" tIns="0" rIns="0" bIns="0" rtlCol="0" anchor="ctr"/>
          <a:lstStyle/>
          <a:p>
            <a:pPr indent="0" marL="0">
              <a:buNone/>
            </a:pPr>
            <a:r>
              <a:rPr lang="en-US" sz="2600" b="1" dirty="0">
                <a:solidFill>
                  <a:srgbClr val="1E3A23"/>
                </a:solidFill>
                <a:latin typeface="Cambria" pitchFamily="34" charset="0"/>
                <a:ea typeface="Cambria" pitchFamily="34" charset="-122"/>
                <a:cs typeface="Cambria" pitchFamily="34" charset="-120"/>
              </a:rPr>
              <a:t>8 of 8</a:t>
            </a:r>
            <a:endParaRPr lang="en-US" sz="2600" dirty="0"/>
          </a:p>
        </p:txBody>
      </p:sp>
      <p:sp>
        <p:nvSpPr>
          <p:cNvPr id="9" name="Text 5"/>
          <p:cNvSpPr txBox="1"/>
          <p:nvPr/>
        </p:nvSpPr>
        <p:spPr>
          <a:xfrm>
            <a:off x="8138160" y="2304288"/>
            <a:ext cx="3090672" cy="118872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pairings of a codon-level RNA encoder with a protein encoder gain under every fold assignment, by about 0.01 to 0.02. mRNA-FM with CaLM gains too.</a:t>
            </a:r>
            <a:endParaRPr lang="en-US" sz="1300" dirty="0"/>
          </a:p>
        </p:txBody>
      </p:sp>
      <p:sp>
        <p:nvSpPr>
          <p:cNvPr id="10" name="Shape 6"/>
          <p:cNvSpPr/>
          <p:nvPr/>
        </p:nvSpPr>
        <p:spPr>
          <a:xfrm>
            <a:off x="7863840" y="3840480"/>
            <a:ext cx="3639312" cy="1965960"/>
          </a:xfrm>
          <a:prstGeom prst="roundRect">
            <a:avLst>
              <a:gd name="adj" fmla="val 3721"/>
            </a:avLst>
          </a:prstGeom>
          <a:solidFill>
            <a:srgbClr val="EEF3EA"/>
          </a:solidFill>
          <a:ln w="12700">
            <a:solidFill>
              <a:srgbClr val="EEF3EA"/>
            </a:solidFill>
            <a:prstDash val="solid"/>
          </a:ln>
        </p:spPr>
      </p:sp>
      <p:sp>
        <p:nvSpPr>
          <p:cNvPr id="11" name="Text 7"/>
          <p:cNvSpPr txBox="1"/>
          <p:nvPr/>
        </p:nvSpPr>
        <p:spPr>
          <a:xfrm>
            <a:off x="8138160" y="3977640"/>
            <a:ext cx="3090672" cy="502920"/>
          </a:xfrm>
          <a:prstGeom prst="rect">
            <a:avLst/>
          </a:prstGeom>
          <a:noFill/>
          <a:ln/>
        </p:spPr>
        <p:txBody>
          <a:bodyPr wrap="square" lIns="0" tIns="0" rIns="0" bIns="0" rtlCol="0" anchor="ctr"/>
          <a:lstStyle/>
          <a:p>
            <a:pPr indent="0" marL="0">
              <a:buNone/>
            </a:pPr>
            <a:r>
              <a:rPr lang="en-US" sz="2600" b="1" dirty="0">
                <a:solidFill>
                  <a:srgbClr val="1E3A23"/>
                </a:solidFill>
                <a:latin typeface="Cambria" pitchFamily="34" charset="0"/>
                <a:ea typeface="Cambria" pitchFamily="34" charset="-122"/>
                <a:cs typeface="Cambria" pitchFamily="34" charset="-120"/>
              </a:rPr>
              <a:t>0.132</a:t>
            </a:r>
            <a:endParaRPr lang="en-US" sz="2600" dirty="0"/>
          </a:p>
        </p:txBody>
      </p:sp>
      <p:sp>
        <p:nvSpPr>
          <p:cNvPr id="12" name="Text 8"/>
          <p:cNvSpPr txBox="1"/>
          <p:nvPr/>
        </p:nvSpPr>
        <p:spPr>
          <a:xfrm>
            <a:off x="8138160" y="4498848"/>
            <a:ext cx="3090672" cy="118872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All twelve encoders together, below ESM-2 150M alone (0.144): extra columns do not help a linear probe on 981 rows.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TRACK B · CROSS-ENCODER GEOMETRY</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Agreement follows tokenization more than modality</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Linear CKA and mutual k-NN (k = 10, chance 0.010) on all 981 rows; CCA fitted on 690 rows, Recall@1 on 291 held-out rows (chance 0.0034).</a:t>
            </a:r>
            <a:endParaRPr lang="en-US" sz="1100" dirty="0"/>
          </a:p>
        </p:txBody>
      </p:sp>
      <p:pic>
        <p:nvPicPr>
          <p:cNvPr id="5" name="Image 0" descr="/tmp/claude-0/-home-claude/2a4f0c13-177d-5225-8f81-76aee78ac893/scratchpad/figs2/cka_stability.png">    </p:cNvPr>
          <p:cNvPicPr>
            <a:picLocks noChangeAspect="1"/>
          </p:cNvPicPr>
          <p:nvPr/>
        </p:nvPicPr>
        <p:blipFill>
          <a:blip r:embed="rId1"/>
          <a:stretch>
            <a:fillRect/>
          </a:stretch>
        </p:blipFill>
        <p:spPr>
          <a:xfrm>
            <a:off x="594360" y="1600200"/>
            <a:ext cx="4663440" cy="4044666"/>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40680" y="1645920"/>
          <a:ext cx="6062472" cy="914400"/>
        </p:xfrm>
        <a:graphic>
          <a:graphicData uri="http://schemas.openxmlformats.org/drawingml/2006/table">
            <a:tbl>
              <a:tblPr/>
              <a:tblGrid>
                <a:gridCol w="2514600"/>
                <a:gridCol w="1188720"/>
                <a:gridCol w="1170432"/>
                <a:gridCol w="1188720"/>
              </a:tblGrid>
              <a:tr h="329184">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Encoder pairs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Linear CKA</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Mutual k-NN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Recall@1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RNA-FM with RiNALMo</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0.809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0.931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Within ESM-2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0.553 to 0.744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0.30 to 0.44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0.942 to 0.955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Within DNA</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0.270 to 0.736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0.15 to 0.21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0.591 to 0.773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 with RNA-FM or RiNALMo</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0.171 to 0.613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0.10 to 0.16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0.491 to 0.677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 with protein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0.309 to 0.448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0.16 to 0.25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0.794 to 0.866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ProtBERT with ESM-2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0.199 to 0.312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 to 0.15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0.818 to 0.873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 with protein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0.037 to 0.295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0.09 to 0.11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0.405 to 0.464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 with CaLM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0.163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0.619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 with protein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0.058 to 0.163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 to 0.08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0.168 to 0.540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7" name="Text 3"/>
          <p:cNvSpPr txBox="1"/>
          <p:nvPr/>
        </p:nvSpPr>
        <p:spPr>
          <a:xfrm>
            <a:off x="5440680" y="5120640"/>
            <a:ext cx="6062472" cy="109728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CaLM agrees with RNA-FM, RiNALMo, and every protein encoder. mRNA-FM agrees globally with almost nothing (at most 0.182, except ProtBERT at 0.295), yet still finds its protein partner 41% to 46% of the time.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3A23"/>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A9CC8E"/>
                </a:solidFill>
                <a:latin typeface="Calibri" pitchFamily="34" charset="0"/>
                <a:ea typeface="Calibri" pitchFamily="34" charset="-122"/>
                <a:cs typeface="Calibri" pitchFamily="34" charset="-120"/>
              </a:rPr>
              <a:t>TRACK B · COMPOSITION CONTROL</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F4F7F1"/>
                </a:solidFill>
                <a:latin typeface="Cambria" pitchFamily="34" charset="0"/>
                <a:ea typeface="Cambria" pitchFamily="34" charset="-122"/>
                <a:cs typeface="Cambria" pitchFamily="34" charset="-120"/>
              </a:rPr>
              <a:t>Most agreement involving DNA is composition</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A9C2A0"/>
                </a:solidFill>
                <a:latin typeface="Calibri" pitchFamily="34" charset="0"/>
                <a:ea typeface="Calibri" pitchFamily="34" charset="-122"/>
                <a:cs typeface="Calibri" pitchFamily="34" charset="-120"/>
              </a:rPr>
              <a:t>Linear residualization on 87 composition features (GC, GC3, length, 64 codon and 20 amino-acid frequencies), all 981 rows; chance about 9%.</a:t>
            </a:r>
            <a:endParaRPr lang="en-US" sz="1100" dirty="0"/>
          </a:p>
        </p:txBody>
      </p:sp>
      <p:sp>
        <p:nvSpPr>
          <p:cNvPr id="5" name="Text 3"/>
          <p:cNvSpPr txBox="1"/>
          <p:nvPr/>
        </p:nvSpPr>
        <p:spPr>
          <a:xfrm>
            <a:off x="685800" y="1600200"/>
            <a:ext cx="4023360" cy="365760"/>
          </a:xfrm>
          <a:prstGeom prst="rect">
            <a:avLst/>
          </a:prstGeom>
          <a:noFill/>
          <a:ln/>
        </p:spPr>
        <p:txBody>
          <a:bodyPr wrap="square" lIns="0" tIns="0" rIns="0" bIns="0" rtlCol="0" anchor="ctr"/>
          <a:lstStyle/>
          <a:p>
            <a:pPr indent="0" marL="0">
              <a:buNone/>
            </a:pPr>
            <a:r>
              <a:rPr lang="en-US" sz="1300" dirty="0">
                <a:solidFill>
                  <a:srgbClr val="C9DBC0"/>
                </a:solidFill>
                <a:latin typeface="Calibri" pitchFamily="34" charset="0"/>
                <a:ea typeface="Calibri" pitchFamily="34" charset="-122"/>
                <a:cs typeface="Calibri" pitchFamily="34" charset="-120"/>
              </a:rPr>
              <a:t>Share of each embedding explained by composition</a:t>
            </a:r>
            <a:endParaRPr lang="en-US" sz="1300" dirty="0"/>
          </a:p>
        </p:txBody>
      </p:sp>
      <p:graphicFrame>
        <p:nvGraphicFramePr>
          <p:cNvPr id="6" name="Chart 0" descr=""/>
          <p:cNvGraphicFramePr/>
          <p:nvPr/>
        </p:nvGraphicFramePr>
        <p:xfrm>
          <a:off x="594360" y="1920240"/>
          <a:ext cx="416052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10912" y="1645920"/>
          <a:ext cx="6492240" cy="914400"/>
        </p:xfrm>
        <a:graphic>
          <a:graphicData uri="http://schemas.openxmlformats.org/drawingml/2006/table">
            <a:tbl>
              <a:tblPr/>
              <a:tblGrid>
                <a:gridCol w="2286000"/>
                <a:gridCol w="1051560"/>
                <a:gridCol w="1051560"/>
                <a:gridCol w="1051560"/>
                <a:gridCol w="1051560"/>
              </a:tblGrid>
              <a:tr h="329184">
                <a:tc>
                  <a:txBody>
                    <a:bodyPr/>
                    <a:lstStyle/>
                    <a:p>
                      <a:pPr algn="l" indent="0" marL="0">
                        <a:buNone/>
                      </a:pPr>
                      <a:r>
                        <a:rPr lang="en-US" sz="1100" b="1" dirty="0">
                          <a:solidFill>
                            <a:srgbClr val="F4F7F1"/>
                          </a:solidFill>
                          <a:latin typeface="Calibri" pitchFamily="34" charset="0"/>
                          <a:ea typeface="Calibri" pitchFamily="34" charset="-122"/>
                          <a:cs typeface="Calibri" pitchFamily="34" charset="-120"/>
                        </a:rPr>
                        <a:t>Encoder pairs</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c>
                  <a:txBody>
                    <a:bodyPr/>
                    <a:lstStyle/>
                    <a:p>
                      <a:pPr algn="r" indent="0" marL="0">
                        <a:buNone/>
                      </a:pPr>
                      <a:r>
                        <a:rPr lang="en-US" sz="1100" b="1" dirty="0">
                          <a:solidFill>
                            <a:srgbClr val="F4F7F1"/>
                          </a:solidFill>
                          <a:latin typeface="Calibri" pitchFamily="34" charset="0"/>
                          <a:ea typeface="Calibri" pitchFamily="34" charset="-122"/>
                          <a:cs typeface="Calibri" pitchFamily="34" charset="-120"/>
                        </a:rPr>
                        <a:t>CKA before</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c>
                  <a:txBody>
                    <a:bodyPr/>
                    <a:lstStyle/>
                    <a:p>
                      <a:pPr algn="r" indent="0" marL="0">
                        <a:buNone/>
                      </a:pPr>
                      <a:r>
                        <a:rPr lang="en-US" sz="1100" b="1" dirty="0">
                          <a:solidFill>
                            <a:srgbClr val="F4F7F1"/>
                          </a:solidFill>
                          <a:latin typeface="Calibri" pitchFamily="34" charset="0"/>
                          <a:ea typeface="Calibri" pitchFamily="34" charset="-122"/>
                          <a:cs typeface="Calibri" pitchFamily="34" charset="-120"/>
                        </a:rPr>
                        <a:t>CKA after</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c>
                  <a:txBody>
                    <a:bodyPr/>
                    <a:lstStyle/>
                    <a:p>
                      <a:pPr algn="r" indent="0" marL="0">
                        <a:buNone/>
                      </a:pPr>
                      <a:r>
                        <a:rPr lang="en-US" sz="1100" b="1" dirty="0">
                          <a:solidFill>
                            <a:srgbClr val="F4F7F1"/>
                          </a:solidFill>
                          <a:latin typeface="Calibri" pitchFamily="34" charset="0"/>
                          <a:ea typeface="Calibri" pitchFamily="34" charset="-122"/>
                          <a:cs typeface="Calibri" pitchFamily="34" charset="-120"/>
                        </a:rPr>
                        <a:t>R@1 before</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c>
                  <a:txBody>
                    <a:bodyPr/>
                    <a:lstStyle/>
                    <a:p>
                      <a:pPr algn="r" indent="0" marL="0">
                        <a:buNone/>
                      </a:pPr>
                      <a:r>
                        <a:rPr lang="en-US" sz="1100" b="1" dirty="0">
                          <a:solidFill>
                            <a:srgbClr val="F4F7F1"/>
                          </a:solidFill>
                          <a:latin typeface="Calibri" pitchFamily="34" charset="0"/>
                          <a:ea typeface="Calibri" pitchFamily="34" charset="-122"/>
                          <a:cs typeface="Calibri" pitchFamily="34" charset="-120"/>
                        </a:rPr>
                        <a:t>R@1 after</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solidFill>
                      <a:srgbClr val="2C4F31"/>
                    </a:solidFill>
                  </a:tcPr>
                </a:tc>
              </a:tr>
              <a:tr h="329184">
                <a:tc>
                  <a:txBody>
                    <a:bodyPr/>
                    <a:lstStyle/>
                    <a:p>
                      <a:pPr algn="l" indent="0" marL="0">
                        <a:buNone/>
                      </a:pPr>
                      <a:r>
                        <a:rPr lang="en-US" sz="1100" dirty="0">
                          <a:solidFill>
                            <a:srgbClr val="F4F7F1"/>
                          </a:solidFill>
                          <a:latin typeface="Calibri" pitchFamily="34" charset="0"/>
                          <a:ea typeface="Calibri" pitchFamily="34" charset="-122"/>
                          <a:cs typeface="Calibri" pitchFamily="34" charset="-120"/>
                        </a:rPr>
                        <a:t>Within ESM-2</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0.553-0.744</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0.376-0.643</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0.942-0.955</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0.701-0.869</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329184">
                <a:tc>
                  <a:txBody>
                    <a:bodyPr/>
                    <a:lstStyle/>
                    <a:p>
                      <a:pPr algn="l" indent="0" marL="0">
                        <a:buNone/>
                      </a:pPr>
                      <a:r>
                        <a:rPr lang="en-US" sz="1100" dirty="0">
                          <a:solidFill>
                            <a:srgbClr val="F4F7F1"/>
                          </a:solidFill>
                          <a:latin typeface="Calibri" pitchFamily="34" charset="0"/>
                          <a:ea typeface="Calibri" pitchFamily="34" charset="-122"/>
                          <a:cs typeface="Calibri" pitchFamily="34" charset="-120"/>
                        </a:rPr>
                        <a:t>ProtBERT with ESM-2</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0.199-0.312</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0.093-0.162</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0.818-0.873</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0.481-0.622</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329184">
                <a:tc>
                  <a:txBody>
                    <a:bodyPr/>
                    <a:lstStyle/>
                    <a:p>
                      <a:pPr algn="l" indent="0" marL="0">
                        <a:buNone/>
                      </a:pPr>
                      <a:r>
                        <a:rPr lang="en-US" sz="1100" dirty="0">
                          <a:solidFill>
                            <a:srgbClr val="F4F7F1"/>
                          </a:solidFill>
                          <a:latin typeface="Calibri" pitchFamily="34" charset="0"/>
                          <a:ea typeface="Calibri" pitchFamily="34" charset="-122"/>
                          <a:cs typeface="Calibri" pitchFamily="34" charset="-120"/>
                        </a:rPr>
                        <a:t>RNA-FM with RiNALMo</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0.809</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0.378</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0.931</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0.704</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329184">
                <a:tc>
                  <a:txBody>
                    <a:bodyPr/>
                    <a:lstStyle/>
                    <a:p>
                      <a:pPr algn="l" indent="0" marL="0">
                        <a:buNone/>
                      </a:pPr>
                      <a:r>
                        <a:rPr lang="en-US" sz="1100" dirty="0">
                          <a:solidFill>
                            <a:srgbClr val="F4F7F1"/>
                          </a:solidFill>
                          <a:latin typeface="Calibri" pitchFamily="34" charset="0"/>
                          <a:ea typeface="Calibri" pitchFamily="34" charset="-122"/>
                          <a:cs typeface="Calibri" pitchFamily="34" charset="-120"/>
                        </a:rPr>
                        <a:t>CaLM with protein</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0.309-0.448</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0.246-0.401</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0.794-0.866</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0.581-0.687</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329184">
                <a:tc>
                  <a:txBody>
                    <a:bodyPr/>
                    <a:lstStyle/>
                    <a:p>
                      <a:pPr algn="l" indent="0" marL="0">
                        <a:buNone/>
                      </a:pPr>
                      <a:r>
                        <a:rPr lang="en-US" sz="1100" dirty="0">
                          <a:solidFill>
                            <a:srgbClr val="F4F7F1"/>
                          </a:solidFill>
                          <a:latin typeface="Calibri" pitchFamily="34" charset="0"/>
                          <a:ea typeface="Calibri" pitchFamily="34" charset="-122"/>
                          <a:cs typeface="Calibri" pitchFamily="34" charset="-120"/>
                        </a:rPr>
                        <a:t>mRNA-FM with protein</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0.037-0.295</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0.021-0.261</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0.405-0.464</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0.069-0.113</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329184">
                <a:tc>
                  <a:txBody>
                    <a:bodyPr/>
                    <a:lstStyle/>
                    <a:p>
                      <a:pPr algn="l" indent="0" marL="0">
                        <a:buNone/>
                      </a:pPr>
                      <a:r>
                        <a:rPr lang="en-US" sz="1100" dirty="0">
                          <a:solidFill>
                            <a:srgbClr val="F4F7F1"/>
                          </a:solidFill>
                          <a:latin typeface="Calibri" pitchFamily="34" charset="0"/>
                          <a:ea typeface="Calibri" pitchFamily="34" charset="-122"/>
                          <a:cs typeface="Calibri" pitchFamily="34" charset="-120"/>
                        </a:rPr>
                        <a:t>Within DNA</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0.270-0.736</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0.038-0.113</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0.591-0.773</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0.103-0.162</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329184">
                <a:tc>
                  <a:txBody>
                    <a:bodyPr/>
                    <a:lstStyle/>
                    <a:p>
                      <a:pPr algn="l" indent="0" marL="0">
                        <a:buNone/>
                      </a:pPr>
                      <a:r>
                        <a:rPr lang="en-US" sz="1100" dirty="0">
                          <a:solidFill>
                            <a:srgbClr val="F4F7F1"/>
                          </a:solidFill>
                          <a:latin typeface="Calibri" pitchFamily="34" charset="0"/>
                          <a:ea typeface="Calibri" pitchFamily="34" charset="-122"/>
                          <a:cs typeface="Calibri" pitchFamily="34" charset="-120"/>
                        </a:rPr>
                        <a:t>DNA with RNA-FM, RiNALMo</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0.171-0.613</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0.044-0.164</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0.491-0.677</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0.052-0.244</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r h="329184">
                <a:tc>
                  <a:txBody>
                    <a:bodyPr/>
                    <a:lstStyle/>
                    <a:p>
                      <a:pPr algn="l" indent="0" marL="0">
                        <a:buNone/>
                      </a:pPr>
                      <a:r>
                        <a:rPr lang="en-US" sz="1100" dirty="0">
                          <a:solidFill>
                            <a:srgbClr val="F4F7F1"/>
                          </a:solidFill>
                          <a:latin typeface="Calibri" pitchFamily="34" charset="0"/>
                          <a:ea typeface="Calibri" pitchFamily="34" charset="-122"/>
                          <a:cs typeface="Calibri" pitchFamily="34" charset="-120"/>
                        </a:rPr>
                        <a:t>DNA with protein</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0.058-0.163</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0.010-0.072</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0.168-0.540</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c>
                  <a:txBody>
                    <a:bodyPr/>
                    <a:lstStyle/>
                    <a:p>
                      <a:pPr algn="r" indent="0" marL="0">
                        <a:buNone/>
                      </a:pPr>
                      <a:r>
                        <a:rPr lang="en-US" sz="1100" dirty="0">
                          <a:solidFill>
                            <a:srgbClr val="F4F7F1"/>
                          </a:solidFill>
                          <a:latin typeface="Calibri" pitchFamily="34" charset="0"/>
                          <a:ea typeface="Calibri" pitchFamily="34" charset="-122"/>
                          <a:cs typeface="Calibri" pitchFamily="34" charset="-120"/>
                        </a:rPr>
                        <a:t>0.021-0.082</a:t>
                      </a:r>
                      <a:endParaRPr lang="en-US" sz="1100" dirty="0">
                        <a:latin typeface="Calibri" charset="0"/>
                        <a:ea typeface="Calibri" charset="0"/>
                        <a:cs typeface="Calibri" charset="0"/>
                      </a:endParaRPr>
                    </a:p>
                  </a:txBody>
                  <a:tcPr marL="45720" marR="45720" marT="45720" marB="45720" anchor="ctr">
                    <a:lnL w="9525" cap="flat" cmpd="sng" algn="ctr">
                      <a:solidFill>
                        <a:srgbClr val="4A6B4F"/>
                      </a:solidFill>
                      <a:prstDash val="solid"/>
                      <a:round/>
                      <a:headEnd type="none" w="med" len="med"/>
                      <a:tailEnd type="none" w="med" len="med"/>
                    </a:lnL>
                    <a:lnR w="9525" cap="flat" cmpd="sng" algn="ctr">
                      <a:solidFill>
                        <a:srgbClr val="4A6B4F"/>
                      </a:solidFill>
                      <a:prstDash val="solid"/>
                      <a:round/>
                      <a:headEnd type="none" w="med" len="med"/>
                      <a:tailEnd type="none" w="med" len="med"/>
                    </a:lnR>
                    <a:lnT w="9525" cap="flat" cmpd="sng" algn="ctr">
                      <a:solidFill>
                        <a:srgbClr val="4A6B4F"/>
                      </a:solidFill>
                      <a:prstDash val="solid"/>
                      <a:round/>
                      <a:headEnd type="none" w="med" len="med"/>
                      <a:tailEnd type="none" w="med" len="med"/>
                    </a:lnT>
                    <a:lnB w="9525" cap="flat" cmpd="sng" algn="ctr">
                      <a:solidFill>
                        <a:srgbClr val="4A6B4F"/>
                      </a:solidFill>
                      <a:prstDash val="solid"/>
                      <a:round/>
                      <a:headEnd type="none" w="med" len="med"/>
                      <a:tailEnd type="none" w="med" len="med"/>
                    </a:lnB>
                  </a:tcPr>
                </a:tc>
              </a:tr>
            </a:tbl>
          </a:graphicData>
        </a:graphic>
      </p:graphicFrame>
      <p:sp>
        <p:nvSpPr>
          <p:cNvPr id="8" name="Text 4"/>
          <p:cNvSpPr txBox="1"/>
          <p:nvPr/>
        </p:nvSpPr>
        <p:spPr>
          <a:xfrm>
            <a:off x="5010912" y="4791456"/>
            <a:ext cx="6492240" cy="1280160"/>
          </a:xfrm>
          <a:prstGeom prst="rect">
            <a:avLst/>
          </a:prstGeom>
          <a:noFill/>
          <a:ln/>
        </p:spPr>
        <p:txBody>
          <a:bodyPr wrap="square" lIns="0" tIns="0" rIns="0" bIns="0" rtlCol="0" anchor="t"/>
          <a:lstStyle/>
          <a:p>
            <a:pPr indent="0" marL="0">
              <a:buNone/>
            </a:pPr>
            <a:r>
              <a:rPr lang="en-US" sz="1400" dirty="0">
                <a:solidFill>
                  <a:srgbClr val="F4F7F1"/>
                </a:solidFill>
                <a:latin typeface="Calibri" pitchFamily="34" charset="0"/>
                <a:ea typeface="Calibri" pitchFamily="34" charset="-122"/>
                <a:cs typeface="Calibri" pitchFamily="34" charset="-120"/>
              </a:rPr>
              <a:t>CKA falls 52% to 90% for every pair with a DNA encoder. CaLM still finds its protein partner 58% to 69% of the time, about 170 to 200 times chance; mRNA-FM keeps 7% to 11%.</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TRACK B · HIGH- AND LOW-VARIANCE DIRECTIONS</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Where composition, signal, and agreement sit</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Each embedding split into its top 10 principal components and the rest (PCA on all 981 rows, no labels). Stability R² on pinned folds.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6949440" cy="914400"/>
        </p:xfrm>
        <a:graphic>
          <a:graphicData uri="http://schemas.openxmlformats.org/drawingml/2006/table">
            <a:tbl>
              <a:tblPr/>
              <a:tblGrid>
                <a:gridCol w="1737360"/>
                <a:gridCol w="1005840"/>
                <a:gridCol w="1051560"/>
                <a:gridCol w="1051560"/>
                <a:gridCol w="1005840"/>
                <a:gridCol w="1097280"/>
              </a:tblGrid>
              <a:tr h="329184">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Encoder</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Variance, top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Composition, top</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Composition, rest</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R², top 10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R², whole</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NT 500M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0.747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0.742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0.252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NT v2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0.891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0.858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0.356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0.080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DNABERT-2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0.715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0.764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0.224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HyenaDNA</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0.963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0.950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0.236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0.024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0.026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0.858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0.745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0.265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RiNALMo</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0.796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0.720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0.364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0.047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0.078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0.606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0.369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0.182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0.061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0.127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0.548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0.647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0.259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0.066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0.127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8M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0.625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0.575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0.319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0.108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0.127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35M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0.648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0.534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0.285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0.107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0.114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0.698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0.500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0.292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0.095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ProtBERT</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0.818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0.453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0.246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0.086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6" name="Shape 3"/>
          <p:cNvSpPr/>
          <p:nvPr/>
        </p:nvSpPr>
        <p:spPr>
          <a:xfrm>
            <a:off x="7955280" y="1645920"/>
            <a:ext cx="3547872" cy="2148840"/>
          </a:xfrm>
          <a:prstGeom prst="roundRect">
            <a:avLst>
              <a:gd name="adj" fmla="val 3404"/>
            </a:avLst>
          </a:prstGeom>
          <a:solidFill>
            <a:srgbClr val="EEF3EA"/>
          </a:solidFill>
          <a:ln w="12700">
            <a:solidFill>
              <a:srgbClr val="EEF3EA"/>
            </a:solidFill>
            <a:prstDash val="solid"/>
          </a:ln>
        </p:spPr>
      </p:sp>
      <p:sp>
        <p:nvSpPr>
          <p:cNvPr id="7" name="Text 4"/>
          <p:cNvSpPr txBox="1"/>
          <p:nvPr/>
        </p:nvSpPr>
        <p:spPr>
          <a:xfrm>
            <a:off x="8229600" y="1810512"/>
            <a:ext cx="2999232"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Composition and signal sit on top</a:t>
            </a:r>
            <a:endParaRPr lang="en-US" sz="1600" dirty="0"/>
          </a:p>
        </p:txBody>
      </p:sp>
      <p:sp>
        <p:nvSpPr>
          <p:cNvPr id="8" name="Text 5"/>
          <p:cNvSpPr txBox="1"/>
          <p:nvPr/>
        </p:nvSpPr>
        <p:spPr>
          <a:xfrm>
            <a:off x="8229600" y="2212848"/>
            <a:ext cx="2999232" cy="146304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The top 10 components hold 55% to 96% of the variance and most of the composition. For ESM-2 8M and 35M they give 85% and 94% of the stability R²; the rest alone scores below zero for every encoder.</a:t>
            </a:r>
            <a:endParaRPr lang="en-US" sz="1300" dirty="0"/>
          </a:p>
        </p:txBody>
      </p:sp>
      <p:sp>
        <p:nvSpPr>
          <p:cNvPr id="9" name="Shape 6"/>
          <p:cNvSpPr/>
          <p:nvPr/>
        </p:nvSpPr>
        <p:spPr>
          <a:xfrm>
            <a:off x="7955280" y="4023360"/>
            <a:ext cx="3547872" cy="2057400"/>
          </a:xfrm>
          <a:prstGeom prst="roundRect">
            <a:avLst>
              <a:gd name="adj" fmla="val 3556"/>
            </a:avLst>
          </a:prstGeom>
          <a:solidFill>
            <a:srgbClr val="EEF3EA"/>
          </a:solidFill>
          <a:ln w="12700">
            <a:solidFill>
              <a:srgbClr val="EEF3EA"/>
            </a:solidFill>
            <a:prstDash val="solid"/>
          </a:ln>
        </p:spPr>
      </p:sp>
      <p:sp>
        <p:nvSpPr>
          <p:cNvPr id="10" name="Text 7"/>
          <p:cNvSpPr txBox="1"/>
          <p:nvPr/>
        </p:nvSpPr>
        <p:spPr>
          <a:xfrm>
            <a:off x="8229600" y="4187952"/>
            <a:ext cx="2999232"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Agreement in both bands</a:t>
            </a:r>
            <a:endParaRPr lang="en-US" sz="1600" dirty="0"/>
          </a:p>
        </p:txBody>
      </p:sp>
      <p:sp>
        <p:nvSpPr>
          <p:cNvPr id="11" name="Text 8"/>
          <p:cNvSpPr txBox="1"/>
          <p:nvPr/>
        </p:nvSpPr>
        <p:spPr>
          <a:xfrm>
            <a:off x="8229600" y="4590288"/>
            <a:ext cx="2999232" cy="137160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CKA on the top block matches whole-embedding CKA within 0.035. The rest still agrees for ESM-2 (0.48 to 0.59) and CaLM with protein (0.39 to 0.41); mRNA-FM agrees with protein mainly there (0.29).</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TRACK C · ATTENTION WITH CONTROLS</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Codon context explains most attention hits</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Final layer, head-averaged incoming attention, first 100 sequences. Nulls shuffle motif labels within 100-nt bins (position) or among positions with the same codon and frame; 500 shuffles each.</a:t>
            </a:r>
            <a:endParaRPr lang="en-US" sz="1100" dirty="0"/>
          </a:p>
        </p:txBody>
      </p:sp>
      <p:pic>
        <p:nvPicPr>
          <p:cNvPr id="5" name="Image 0" descr="/tmp/claude-0/-home-claude/2a4f0c13-177d-5225-8f81-76aee78ac893/scratchpad/figs2/attn_calm.png">    </p:cNvPr>
          <p:cNvPicPr>
            <a:picLocks noChangeAspect="1"/>
          </p:cNvPicPr>
          <p:nvPr/>
        </p:nvPicPr>
        <p:blipFill>
          <a:blip r:embed="rId1"/>
          <a:stretch>
            <a:fillRect/>
          </a:stretch>
        </p:blipFill>
        <p:spPr>
          <a:xfrm>
            <a:off x="685800" y="1554480"/>
            <a:ext cx="10817352" cy="2258482"/>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3977640"/>
          <a:ext cx="7223760" cy="914400"/>
        </p:xfrm>
        <a:graphic>
          <a:graphicData uri="http://schemas.openxmlformats.org/drawingml/2006/table">
            <a:tbl>
              <a:tblPr/>
              <a:tblGrid>
                <a:gridCol w="2011680"/>
                <a:gridCol w="1417320"/>
                <a:gridCol w="1097280"/>
                <a:gridCol w="1371600"/>
                <a:gridCol w="1325880"/>
              </a:tblGrid>
              <a:tr h="310896">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Encoder</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Motif</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Position null</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Codon null</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NT v2 100M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ARE pentamer</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+0.011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0.014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0.200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RiNALMo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ARE pentamer</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+0.040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0.002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0.585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All pooled</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+0.0014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0.002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0.072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DRACH</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+0.0015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0.002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0.082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ARE pentamer</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0.002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p = 0.002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7" name="Shape 3"/>
          <p:cNvSpPr/>
          <p:nvPr/>
        </p:nvSpPr>
        <p:spPr>
          <a:xfrm>
            <a:off x="8183880" y="3977640"/>
            <a:ext cx="3319272" cy="2148840"/>
          </a:xfrm>
          <a:prstGeom prst="roundRect">
            <a:avLst>
              <a:gd name="adj" fmla="val 3404"/>
            </a:avLst>
          </a:prstGeom>
          <a:solidFill>
            <a:srgbClr val="EEF3EA"/>
          </a:solidFill>
          <a:ln w="12700">
            <a:solidFill>
              <a:srgbClr val="EEF3EA"/>
            </a:solidFill>
            <a:prstDash val="solid"/>
          </a:ln>
        </p:spPr>
      </p:sp>
      <p:sp>
        <p:nvSpPr>
          <p:cNvPr id="8" name="Text 4"/>
          <p:cNvSpPr txBox="1"/>
          <p:nvPr/>
        </p:nvSpPr>
        <p:spPr>
          <a:xfrm>
            <a:off x="8458200" y="4142232"/>
            <a:ext cx="2770632"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CaLM survives both nulls</a:t>
            </a:r>
            <a:endParaRPr lang="en-US" sz="1600" dirty="0"/>
          </a:p>
        </p:txBody>
      </p:sp>
      <p:sp>
        <p:nvSpPr>
          <p:cNvPr id="9" name="Text 5"/>
          <p:cNvSpPr txBox="1"/>
          <p:nvPr/>
        </p:nvSpPr>
        <p:spPr>
          <a:xfrm>
            <a:off x="8458200" y="4544568"/>
            <a:ext cx="2770632" cy="1463040"/>
          </a:xfrm>
          <a:prstGeom prst="rect">
            <a:avLst/>
          </a:prstGeom>
          <a:noFill/>
          <a:ln/>
        </p:spPr>
        <p:txBody>
          <a:bodyPr wrap="square" lIns="0" tIns="0" rIns="0" bIns="0" rtlCol="0" anchor="t"/>
          <a:lstStyle/>
          <a:p>
            <a:pPr indent="0" marL="0">
              <a:buNone/>
            </a:pPr>
            <a:r>
              <a:rPr lang="en-US" sz="1200" dirty="0">
                <a:solidFill>
                  <a:srgbClr val="46524A"/>
                </a:solidFill>
                <a:latin typeface="Calibri" pitchFamily="34" charset="0"/>
                <a:ea typeface="Calibri" pitchFamily="34" charset="-122"/>
                <a:cs typeface="Calibri" pitchFamily="34" charset="-120"/>
              </a:rPr>
              <a:t>Its ARE-pentamer gap keeps about half its size beyond codon, frame, and position (41 sequences). mRNA-FM's DRACH shift and RiNALMo's ARE gap vanish once codon context is held fixed.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PUBLISHED SPLIT · BIOLANGFUSION</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Frozen probes keep the order, well below trained fusion</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Probe fit on 2,937 rows from the published train split, scored on 981 test rows; 295 test sequences never appear in training.</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6949440" cy="914400"/>
        </p:xfrm>
        <a:graphic>
          <a:graphicData uri="http://schemas.openxmlformats.org/drawingml/2006/table">
            <a:tbl>
              <a:tblPr/>
              <a:tblGrid>
                <a:gridCol w="3108960"/>
                <a:gridCol w="1280160"/>
                <a:gridCol w="1371600"/>
                <a:gridCol w="1188720"/>
              </a:tblGrid>
              <a:tr h="329184">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Encoders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Spearman, all</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Spearman, unseen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R², all</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ProtBERT</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0.396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0.433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0.172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0.377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0.391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0.153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0.371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0.373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8M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0.329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0.299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0.131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0.328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0.326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0.120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RiNALMo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0.322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0.330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0.117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0.292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0.317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0.088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HyenaDNA large</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0.286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0.224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0.085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NT v2 100M multi-species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0.275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0.290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0.080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 + ProtBERT</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0.392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0.417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0.166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BioLangFusion's three encoders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0.364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0.351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2918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All twelve encoders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0.401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0.402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0.175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6" name="Shape 3"/>
          <p:cNvSpPr/>
          <p:nvPr/>
        </p:nvSpPr>
        <p:spPr>
          <a:xfrm>
            <a:off x="7955280" y="1645920"/>
            <a:ext cx="3547872" cy="2011680"/>
          </a:xfrm>
          <a:prstGeom prst="roundRect">
            <a:avLst>
              <a:gd name="adj" fmla="val 3636"/>
            </a:avLst>
          </a:prstGeom>
          <a:solidFill>
            <a:srgbClr val="EEF3EA"/>
          </a:solidFill>
          <a:ln w="12700">
            <a:solidFill>
              <a:srgbClr val="EEF3EA"/>
            </a:solidFill>
            <a:prstDash val="solid"/>
          </a:ln>
        </p:spPr>
      </p:sp>
      <p:sp>
        <p:nvSpPr>
          <p:cNvPr id="7" name="Text 4"/>
          <p:cNvSpPr txBox="1"/>
          <p:nvPr/>
        </p:nvSpPr>
        <p:spPr>
          <a:xfrm>
            <a:off x="8229600" y="1783080"/>
            <a:ext cx="2999232" cy="502920"/>
          </a:xfrm>
          <a:prstGeom prst="rect">
            <a:avLst/>
          </a:prstGeom>
          <a:noFill/>
          <a:ln/>
        </p:spPr>
        <p:txBody>
          <a:bodyPr wrap="square" lIns="0" tIns="0" rIns="0" bIns="0" rtlCol="0" anchor="ctr"/>
          <a:lstStyle/>
          <a:p>
            <a:pPr indent="0" marL="0">
              <a:buNone/>
            </a:pPr>
            <a:r>
              <a:rPr lang="en-US" sz="2600" b="1" dirty="0">
                <a:solidFill>
                  <a:srgbClr val="1E3A23"/>
                </a:solidFill>
                <a:latin typeface="Cambria" pitchFamily="34" charset="0"/>
                <a:ea typeface="Cambria" pitchFamily="34" charset="-122"/>
                <a:cs typeface="Cambria" pitchFamily="34" charset="-120"/>
              </a:rPr>
              <a:t>0.364 vs 0.539</a:t>
            </a:r>
            <a:endParaRPr lang="en-US" sz="2600" dirty="0"/>
          </a:p>
        </p:txBody>
      </p:sp>
      <p:sp>
        <p:nvSpPr>
          <p:cNvPr id="8" name="Text 5"/>
          <p:cNvSpPr txBox="1"/>
          <p:nvPr/>
        </p:nvSpPr>
        <p:spPr>
          <a:xfrm>
            <a:off x="8229600" y="2304288"/>
            <a:ext cx="2999232" cy="123444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BioLangFusion's three encoders concatenated here, against its published concatenation. Its best fusion reaches 0.563.</a:t>
            </a:r>
            <a:endParaRPr lang="en-US" sz="1300" dirty="0"/>
          </a:p>
        </p:txBody>
      </p:sp>
      <p:sp>
        <p:nvSpPr>
          <p:cNvPr id="9" name="Shape 6"/>
          <p:cNvSpPr/>
          <p:nvPr/>
        </p:nvSpPr>
        <p:spPr>
          <a:xfrm>
            <a:off x="7955280" y="3886200"/>
            <a:ext cx="3547872" cy="2194560"/>
          </a:xfrm>
          <a:prstGeom prst="roundRect">
            <a:avLst>
              <a:gd name="adj" fmla="val 3333"/>
            </a:avLst>
          </a:prstGeom>
          <a:solidFill>
            <a:srgbClr val="EEF3EA"/>
          </a:solidFill>
          <a:ln w="12700">
            <a:solidFill>
              <a:srgbClr val="EEF3EA"/>
            </a:solidFill>
            <a:prstDash val="solid"/>
          </a:ln>
        </p:spPr>
      </p:sp>
      <p:sp>
        <p:nvSpPr>
          <p:cNvPr id="10" name="Text 7"/>
          <p:cNvSpPr txBox="1"/>
          <p:nvPr/>
        </p:nvSpPr>
        <p:spPr>
          <a:xfrm>
            <a:off x="8229600" y="4050792"/>
            <a:ext cx="2999232"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Not like for like</a:t>
            </a:r>
            <a:endParaRPr lang="en-US" sz="1600" dirty="0"/>
          </a:p>
        </p:txBody>
      </p:sp>
      <p:sp>
        <p:nvSpPr>
          <p:cNvPr id="11" name="Text 8"/>
          <p:cNvSpPr txBox="1"/>
          <p:nvPr/>
        </p:nvSpPr>
        <p:spPr>
          <a:xfrm>
            <a:off x="8229600" y="4453128"/>
            <a:ext cx="2999232" cy="1508760"/>
          </a:xfrm>
          <a:prstGeom prst="rect">
            <a:avLst/>
          </a:prstGeom>
          <a:noFill/>
          <a:ln/>
        </p:spPr>
        <p:txBody>
          <a:bodyPr wrap="square" lIns="0" tIns="0" rIns="0" bIns="0" rtlCol="0" anchor="t"/>
          <a:lstStyle/>
          <a:p>
            <a:pPr indent="0" marL="0">
              <a:buNone/>
            </a:pPr>
            <a:r>
              <a:rPr lang="en-US" sz="1200" dirty="0">
                <a:solidFill>
                  <a:srgbClr val="46524A"/>
                </a:solidFill>
                <a:latin typeface="Calibri" pitchFamily="34" charset="0"/>
                <a:ea typeface="Calibri" pitchFamily="34" charset="-122"/>
                <a:cs typeface="Calibri" pitchFamily="34" charset="-120"/>
              </a:rPr>
              <a:t>BioLangFusion trains a TextCNN head on token-level embeddings with 23,929 sequences; this is a linear probe on pooled vectors with 2,937 rows of a different file version.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GTEx · DISTINCT INPUTS</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Transcript lengths beat every single encoder</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999 train transcripts from 951 genes; gene-grouped folds; R² averaged over 30 tissues (tissue labels correlate at a median 0.91).</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6949440" cy="914400"/>
        </p:xfrm>
        <a:graphic>
          <a:graphicData uri="http://schemas.openxmlformats.org/drawingml/2006/table">
            <a:tbl>
              <a:tblPr/>
              <a:tblGrid>
                <a:gridCol w="2651760"/>
                <a:gridCol w="1417320"/>
                <a:gridCol w="960120"/>
                <a:gridCol w="1920240"/>
              </a:tblGrid>
              <a:tr h="283464">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Encoder</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R² (fold SD)</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10 splits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Published split R²</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NT 500M human-ref</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0.034 (0.025)</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NT v2 100M multi-species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0.036 (0.030)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0.041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DNABERT-2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0.033 (0.028)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0.047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HyenaDNA large</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0.031 (0.028)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0.036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0.149 (0.037)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0.161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0.151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RiNALMo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0.149 (0.047)</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0.150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0.150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mRNA-FM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0.172 (0.044)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0.176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0.204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CaLM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0.120 (0.032)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0.119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0.172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8M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0.091 (0.022)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0.099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0.113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35M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0.104 (0.031)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0.113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0.149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ESM-2 150M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0.130 (0.043)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0.138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0.179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ProtBERT</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0.163 (0.040)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0.164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0.200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Lengths (4 features)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0.242 (0.036)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0.238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283464">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Composition (92 features)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0.239 (0.011)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0.244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6" name="Shape 3"/>
          <p:cNvSpPr/>
          <p:nvPr/>
        </p:nvSpPr>
        <p:spPr>
          <a:xfrm>
            <a:off x="7955280" y="1645920"/>
            <a:ext cx="3547872" cy="2011680"/>
          </a:xfrm>
          <a:prstGeom prst="roundRect">
            <a:avLst>
              <a:gd name="adj" fmla="val 3636"/>
            </a:avLst>
          </a:prstGeom>
          <a:solidFill>
            <a:srgbClr val="EEF3EA"/>
          </a:solidFill>
          <a:ln w="12700">
            <a:solidFill>
              <a:srgbClr val="EEF3EA"/>
            </a:solidFill>
            <a:prstDash val="solid"/>
          </a:ln>
        </p:spPr>
      </p:sp>
      <p:sp>
        <p:nvSpPr>
          <p:cNvPr id="7" name="Text 4"/>
          <p:cNvSpPr txBox="1"/>
          <p:nvPr/>
        </p:nvSpPr>
        <p:spPr>
          <a:xfrm>
            <a:off x="8229600" y="1783080"/>
            <a:ext cx="2999232" cy="502920"/>
          </a:xfrm>
          <a:prstGeom prst="rect">
            <a:avLst/>
          </a:prstGeom>
          <a:noFill/>
          <a:ln/>
        </p:spPr>
        <p:txBody>
          <a:bodyPr wrap="square" lIns="0" tIns="0" rIns="0" bIns="0" rtlCol="0" anchor="ctr"/>
          <a:lstStyle/>
          <a:p>
            <a:pPr indent="0" marL="0">
              <a:buNone/>
            </a:pPr>
            <a:r>
              <a:rPr lang="en-US" sz="2600" b="1" dirty="0">
                <a:solidFill>
                  <a:srgbClr val="1E3A23"/>
                </a:solidFill>
                <a:latin typeface="Cambria" pitchFamily="34" charset="0"/>
                <a:ea typeface="Cambria" pitchFamily="34" charset="-122"/>
                <a:cs typeface="Cambria" pitchFamily="34" charset="-120"/>
              </a:rPr>
              <a:t>0.242</a:t>
            </a:r>
            <a:endParaRPr lang="en-US" sz="2600" dirty="0"/>
          </a:p>
        </p:txBody>
      </p:sp>
      <p:sp>
        <p:nvSpPr>
          <p:cNvPr id="8" name="Text 5"/>
          <p:cNvSpPr txBox="1"/>
          <p:nvPr/>
        </p:nvSpPr>
        <p:spPr>
          <a:xfrm>
            <a:off x="8229600" y="2304288"/>
            <a:ext cx="2999232" cy="123444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Four length features (transcript, coding sequence, both UTRs) predict expression better than any encoder alone (best 0.172).</a:t>
            </a:r>
            <a:endParaRPr lang="en-US" sz="1300" dirty="0"/>
          </a:p>
        </p:txBody>
      </p:sp>
      <p:sp>
        <p:nvSpPr>
          <p:cNvPr id="9" name="Shape 6"/>
          <p:cNvSpPr/>
          <p:nvPr/>
        </p:nvSpPr>
        <p:spPr>
          <a:xfrm>
            <a:off x="7955280" y="3886200"/>
            <a:ext cx="3547872" cy="2194560"/>
          </a:xfrm>
          <a:prstGeom prst="roundRect">
            <a:avLst>
              <a:gd name="adj" fmla="val 3333"/>
            </a:avLst>
          </a:prstGeom>
          <a:solidFill>
            <a:srgbClr val="EEF3EA"/>
          </a:solidFill>
          <a:ln w="12700">
            <a:solidFill>
              <a:srgbClr val="EEF3EA"/>
            </a:solidFill>
            <a:prstDash val="solid"/>
          </a:ln>
        </p:spPr>
      </p:sp>
      <p:sp>
        <p:nvSpPr>
          <p:cNvPr id="10" name="Text 7"/>
          <p:cNvSpPr txBox="1"/>
          <p:nvPr/>
        </p:nvSpPr>
        <p:spPr>
          <a:xfrm>
            <a:off x="8229600" y="4023360"/>
            <a:ext cx="2999232" cy="502920"/>
          </a:xfrm>
          <a:prstGeom prst="rect">
            <a:avLst/>
          </a:prstGeom>
          <a:noFill/>
          <a:ln/>
        </p:spPr>
        <p:txBody>
          <a:bodyPr wrap="square" lIns="0" tIns="0" rIns="0" bIns="0" rtlCol="0" anchor="ctr"/>
          <a:lstStyle/>
          <a:p>
            <a:pPr indent="0" marL="0">
              <a:buNone/>
            </a:pPr>
            <a:r>
              <a:rPr lang="en-US" sz="2600" b="1" dirty="0">
                <a:solidFill>
                  <a:srgbClr val="1E3A23"/>
                </a:solidFill>
                <a:latin typeface="Cambria" pitchFamily="34" charset="0"/>
                <a:ea typeface="Cambria" pitchFamily="34" charset="-122"/>
                <a:cs typeface="Cambria" pitchFamily="34" charset="-120"/>
              </a:rPr>
              <a:t>0.03 to 0.05</a:t>
            </a:r>
            <a:endParaRPr lang="en-US" sz="2600" dirty="0"/>
          </a:p>
        </p:txBody>
      </p:sp>
      <p:sp>
        <p:nvSpPr>
          <p:cNvPr id="11" name="Text 8"/>
          <p:cNvSpPr txBox="1"/>
          <p:nvPr/>
        </p:nvSpPr>
        <p:spPr>
          <a:xfrm>
            <a:off x="8229600" y="4544568"/>
            <a:ext cx="2999232" cy="141732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The four DNA encoders reading 6 kb around the start site. RNA and protein encoders reach 0.09 to 0.18.</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GTEx · COMBINING MODALITIES</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Distinct inputs: combining modalities helps broadly</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Published split: probe fit on the 999 train transcripts, scored on 996 test transcripts from other genes. DNA: NT v2 100M; protein: ESM-2 150M.</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6949440" cy="914400"/>
        </p:xfrm>
        <a:graphic>
          <a:graphicData uri="http://schemas.openxmlformats.org/drawingml/2006/table">
            <a:tbl>
              <a:tblPr/>
              <a:tblGrid>
                <a:gridCol w="3291840"/>
                <a:gridCol w="1280160"/>
                <a:gridCol w="1188720"/>
                <a:gridCol w="1188720"/>
              </a:tblGrid>
              <a:tr h="310896">
                <a:tc>
                  <a:txBody>
                    <a:bodyPr/>
                    <a:lstStyle/>
                    <a:p>
                      <a:pPr algn="l" indent="0" marL="0">
                        <a:buNone/>
                      </a:pPr>
                      <a:r>
                        <a:rPr lang="en-US" sz="1200" b="1" dirty="0">
                          <a:solidFill>
                            <a:srgbClr val="1E2A20"/>
                          </a:solidFill>
                          <a:latin typeface="Calibri" pitchFamily="34" charset="0"/>
                          <a:ea typeface="Calibri" pitchFamily="34" charset="-122"/>
                          <a:cs typeface="Calibri" pitchFamily="34" charset="-120"/>
                        </a:rPr>
                        <a:t>Inputs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Spearman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c>
                  <a:txBody>
                    <a:bodyPr/>
                    <a:lstStyle/>
                    <a:p>
                      <a:pPr algn="r" indent="0" marL="0">
                        <a:buNone/>
                      </a:pPr>
                      <a:r>
                        <a:rPr lang="en-US" sz="1200" b="1" dirty="0">
                          <a:solidFill>
                            <a:srgbClr val="1E2A20"/>
                          </a:solidFill>
                          <a:latin typeface="Calibri" pitchFamily="34" charset="0"/>
                          <a:ea typeface="Calibri" pitchFamily="34" charset="-122"/>
                          <a:cs typeface="Calibri" pitchFamily="34" charset="-120"/>
                        </a:rPr>
                        <a:t>IsoFormer R²</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solidFill>
                      <a:srgbClr val="EEF3EA"/>
                    </a:solidFill>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 alone (NT v2)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0.054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0.249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RNA alone (RNA-FM)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0.151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0.396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Protein alone (ESM-2 150M)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0.179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0.423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 + protein</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0.206</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0.451</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0.28</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 + RNA (RNA-FM)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0.173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0.432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0.39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 + RNA + protein (RNA-FM)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0.232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0.484</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0.43</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DNA + RNA + protein (mRNA-FM)</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0.249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0.499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r h="310896">
                <a:tc>
                  <a:txBody>
                    <a:bodyPr/>
                    <a:lstStyle/>
                    <a:p>
                      <a:pPr algn="l" indent="0" marL="0">
                        <a:buNone/>
                      </a:pPr>
                      <a:r>
                        <a:rPr lang="en-US" sz="1200" dirty="0">
                          <a:solidFill>
                            <a:srgbClr val="1E2A20"/>
                          </a:solidFill>
                          <a:latin typeface="Calibri" pitchFamily="34" charset="0"/>
                          <a:ea typeface="Calibri" pitchFamily="34" charset="-122"/>
                          <a:cs typeface="Calibri" pitchFamily="34" charset="-120"/>
                        </a:rPr>
                        <a:t>All twelve encoders</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0.269</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r>
                        <a:rPr lang="en-US" sz="1200" dirty="0">
                          <a:solidFill>
                            <a:srgbClr val="1E2A20"/>
                          </a:solidFill>
                          <a:latin typeface="Calibri" pitchFamily="34" charset="0"/>
                          <a:ea typeface="Calibri" pitchFamily="34" charset="-122"/>
                          <a:cs typeface="Calibri" pitchFamily="34" charset="-120"/>
                        </a:rPr>
                        <a:t>0.522</a:t>
                      </a: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c>
                  <a:txBody>
                    <a:bodyPr/>
                    <a:lstStyle/>
                    <a:p>
                      <a:pPr algn="r" indent="0" marL="0">
                        <a:buNone/>
                      </a:pPr>
                      <a:endParaRPr lang="en-US" sz="1200" dirty="0">
                        <a:latin typeface="Calibri" charset="0"/>
                        <a:ea typeface="Calibri" charset="0"/>
                        <a:cs typeface="Calibri" charset="0"/>
                      </a:endParaRPr>
                    </a:p>
                  </a:txBody>
                  <a:tcPr marL="45720" marR="45720" marT="45720" marB="45720" anchor="ctr">
                    <a:lnL w="9525" cap="flat" cmpd="sng" algn="ctr">
                      <a:solidFill>
                        <a:srgbClr val="D5DDD0"/>
                      </a:solidFill>
                      <a:prstDash val="solid"/>
                      <a:round/>
                      <a:headEnd type="none" w="med" len="med"/>
                      <a:tailEnd type="none" w="med" len="med"/>
                    </a:lnL>
                    <a:lnR w="9525" cap="flat" cmpd="sng" algn="ctr">
                      <a:solidFill>
                        <a:srgbClr val="D5DDD0"/>
                      </a:solidFill>
                      <a:prstDash val="solid"/>
                      <a:round/>
                      <a:headEnd type="none" w="med" len="med"/>
                      <a:tailEnd type="none" w="med" len="med"/>
                    </a:lnR>
                    <a:lnT w="9525" cap="flat" cmpd="sng" algn="ctr">
                      <a:solidFill>
                        <a:srgbClr val="D5DDD0"/>
                      </a:solidFill>
                      <a:prstDash val="solid"/>
                      <a:round/>
                      <a:headEnd type="none" w="med" len="med"/>
                      <a:tailEnd type="none" w="med" len="med"/>
                    </a:lnT>
                    <a:lnB w="9525" cap="flat" cmpd="sng" algn="ctr">
                      <a:solidFill>
                        <a:srgbClr val="D5DDD0"/>
                      </a:solidFill>
                      <a:prstDash val="solid"/>
                      <a:round/>
                      <a:headEnd type="none" w="med" len="med"/>
                      <a:tailEnd type="none" w="med" len="med"/>
                    </a:lnB>
                  </a:tcPr>
                </a:tc>
              </a:tr>
            </a:tbl>
          </a:graphicData>
        </a:graphic>
      </p:graphicFrame>
      <p:sp>
        <p:nvSpPr>
          <p:cNvPr id="6" name="Shape 3"/>
          <p:cNvSpPr/>
          <p:nvPr/>
        </p:nvSpPr>
        <p:spPr>
          <a:xfrm>
            <a:off x="7955280" y="1645920"/>
            <a:ext cx="3547872" cy="2011680"/>
          </a:xfrm>
          <a:prstGeom prst="roundRect">
            <a:avLst>
              <a:gd name="adj" fmla="val 3636"/>
            </a:avLst>
          </a:prstGeom>
          <a:solidFill>
            <a:srgbClr val="EEF3EA"/>
          </a:solidFill>
          <a:ln w="12700">
            <a:solidFill>
              <a:srgbClr val="EEF3EA"/>
            </a:solidFill>
            <a:prstDash val="solid"/>
          </a:ln>
        </p:spPr>
      </p:sp>
      <p:sp>
        <p:nvSpPr>
          <p:cNvPr id="7" name="Text 4"/>
          <p:cNvSpPr txBox="1"/>
          <p:nvPr/>
        </p:nvSpPr>
        <p:spPr>
          <a:xfrm>
            <a:off x="8229600" y="1783080"/>
            <a:ext cx="2999232" cy="502920"/>
          </a:xfrm>
          <a:prstGeom prst="rect">
            <a:avLst/>
          </a:prstGeom>
          <a:noFill/>
          <a:ln/>
        </p:spPr>
        <p:txBody>
          <a:bodyPr wrap="square" lIns="0" tIns="0" rIns="0" bIns="0" rtlCol="0" anchor="ctr"/>
          <a:lstStyle/>
          <a:p>
            <a:pPr indent="0" marL="0">
              <a:buNone/>
            </a:pPr>
            <a:r>
              <a:rPr lang="en-US" sz="2600" b="1" dirty="0">
                <a:solidFill>
                  <a:srgbClr val="1E3A23"/>
                </a:solidFill>
                <a:latin typeface="Cambria" pitchFamily="34" charset="0"/>
                <a:ea typeface="Cambria" pitchFamily="34" charset="-122"/>
                <a:cs typeface="Cambria" pitchFamily="34" charset="-120"/>
              </a:rPr>
              <a:t>47 of 66</a:t>
            </a:r>
            <a:endParaRPr lang="en-US" sz="2600" dirty="0"/>
          </a:p>
        </p:txBody>
      </p:sp>
      <p:sp>
        <p:nvSpPr>
          <p:cNvPr id="8" name="Text 5"/>
          <p:cNvSpPr txBox="1"/>
          <p:nvPr/>
        </p:nvSpPr>
        <p:spPr>
          <a:xfrm>
            <a:off x="8229600" y="2304288"/>
            <a:ext cx="2999232" cy="123444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pairs gain under all 10 fold assignments, against 16 on stability. Every DNA encoder gains with every protein and codon-level encoder.</a:t>
            </a:r>
            <a:endParaRPr lang="en-US" sz="1300" dirty="0"/>
          </a:p>
        </p:txBody>
      </p:sp>
      <p:sp>
        <p:nvSpPr>
          <p:cNvPr id="9" name="Shape 6"/>
          <p:cNvSpPr/>
          <p:nvPr/>
        </p:nvSpPr>
        <p:spPr>
          <a:xfrm>
            <a:off x="7955280" y="3886200"/>
            <a:ext cx="3547872" cy="2194560"/>
          </a:xfrm>
          <a:prstGeom prst="roundRect">
            <a:avLst>
              <a:gd name="adj" fmla="val 3333"/>
            </a:avLst>
          </a:prstGeom>
          <a:solidFill>
            <a:srgbClr val="EEF3EA"/>
          </a:solidFill>
          <a:ln w="12700">
            <a:solidFill>
              <a:srgbClr val="EEF3EA"/>
            </a:solidFill>
            <a:prstDash val="solid"/>
          </a:ln>
        </p:spPr>
      </p:sp>
      <p:sp>
        <p:nvSpPr>
          <p:cNvPr id="10" name="Text 7"/>
          <p:cNvSpPr txBox="1"/>
          <p:nvPr/>
        </p:nvSpPr>
        <p:spPr>
          <a:xfrm>
            <a:off x="8229600" y="4023360"/>
            <a:ext cx="2999232" cy="502920"/>
          </a:xfrm>
          <a:prstGeom prst="rect">
            <a:avLst/>
          </a:prstGeom>
          <a:noFill/>
          <a:ln/>
        </p:spPr>
        <p:txBody>
          <a:bodyPr wrap="square" lIns="0" tIns="0" rIns="0" bIns="0" rtlCol="0" anchor="ctr"/>
          <a:lstStyle/>
          <a:p>
            <a:pPr indent="0" marL="0">
              <a:buNone/>
            </a:pPr>
            <a:r>
              <a:rPr lang="en-US" sz="2600" b="1" dirty="0">
                <a:solidFill>
                  <a:srgbClr val="1E3A23"/>
                </a:solidFill>
                <a:latin typeface="Cambria" pitchFamily="34" charset="0"/>
                <a:ea typeface="Cambria" pitchFamily="34" charset="-122"/>
                <a:cs typeface="Cambria" pitchFamily="34" charset="-120"/>
              </a:rPr>
              <a:t>0.239 vs 0.242</a:t>
            </a:r>
            <a:endParaRPr lang="en-US" sz="2600" dirty="0"/>
          </a:p>
        </p:txBody>
      </p:sp>
      <p:sp>
        <p:nvSpPr>
          <p:cNvPr id="11" name="Text 8"/>
          <p:cNvSpPr txBox="1"/>
          <p:nvPr/>
        </p:nvSpPr>
        <p:spPr>
          <a:xfrm>
            <a:off x="8229600" y="4544568"/>
            <a:ext cx="2999232" cy="1417320"/>
          </a:xfrm>
          <a:prstGeom prst="rect">
            <a:avLst/>
          </a:prstGeom>
          <a:noFill/>
          <a:ln/>
        </p:spPr>
        <p:txBody>
          <a:bodyPr wrap="square" lIns="0" tIns="0" rIns="0" bIns="0" rtlCol="0" anchor="t"/>
          <a:lstStyle/>
          <a:p>
            <a:pPr indent="0" marL="0">
              <a:buNone/>
            </a:pPr>
            <a:r>
              <a:rPr lang="en-US" sz="1300" dirty="0">
                <a:solidFill>
                  <a:srgbClr val="46524A"/>
                </a:solidFill>
                <a:latin typeface="Calibri" pitchFamily="34" charset="0"/>
                <a:ea typeface="Calibri" pitchFamily="34" charset="-122"/>
                <a:cs typeface="Calibri" pitchFamily="34" charset="-120"/>
              </a:rPr>
              <a:t>All twelve encoders concatenated, cross-validated, against four length features alone. On the published split the three-modality sets reach about half of IsoFormer's 0.43.</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GTEx · GEOMETRY AND UTR ATTENTION</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DNA barely corresponds to RNA or protein</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999 train transcripts; CCA fitted on 680 and Recall@1 on 319 held-out transcripts (chance 0.0031); 3' UTR attention on 100 train transcripts.</a:t>
            </a:r>
            <a:endParaRPr lang="en-US" sz="1100" dirty="0"/>
          </a:p>
        </p:txBody>
      </p:sp>
      <p:pic>
        <p:nvPicPr>
          <p:cNvPr id="5" name="Image 0" descr="/tmp/claude-0/-home-claude/2a4f0c13-177d-5225-8f81-76aee78ac893/scratchpad/figs2/cka_gtex.png">    </p:cNvPr>
          <p:cNvPicPr>
            <a:picLocks noChangeAspect="1"/>
          </p:cNvPicPr>
          <p:nvPr/>
        </p:nvPicPr>
        <p:blipFill>
          <a:blip r:embed="rId1"/>
          <a:stretch>
            <a:fillRect/>
          </a:stretch>
        </p:blipFill>
        <p:spPr>
          <a:xfrm>
            <a:off x="594360" y="1600200"/>
            <a:ext cx="4663440" cy="4024097"/>
          </a:xfrm>
          <a:prstGeom prst="rect">
            <a:avLst/>
          </a:prstGeom>
        </p:spPr>
      </p:pic>
      <p:sp>
        <p:nvSpPr>
          <p:cNvPr id="6" name="Shape 3"/>
          <p:cNvSpPr/>
          <p:nvPr/>
        </p:nvSpPr>
        <p:spPr>
          <a:xfrm>
            <a:off x="5440680" y="1645920"/>
            <a:ext cx="6062472" cy="1371600"/>
          </a:xfrm>
          <a:prstGeom prst="roundRect">
            <a:avLst>
              <a:gd name="adj" fmla="val 5333"/>
            </a:avLst>
          </a:prstGeom>
          <a:solidFill>
            <a:srgbClr val="EEF3EA"/>
          </a:solidFill>
          <a:ln w="12700">
            <a:solidFill>
              <a:srgbClr val="EEF3EA"/>
            </a:solidFill>
            <a:prstDash val="solid"/>
          </a:ln>
        </p:spPr>
      </p:sp>
      <p:sp>
        <p:nvSpPr>
          <p:cNvPr id="7" name="Text 4"/>
          <p:cNvSpPr txBox="1"/>
          <p:nvPr/>
        </p:nvSpPr>
        <p:spPr>
          <a:xfrm>
            <a:off x="5715000" y="1810512"/>
            <a:ext cx="5513832"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DNA window against transcript and protein</a:t>
            </a:r>
            <a:endParaRPr lang="en-US" sz="1600" dirty="0"/>
          </a:p>
        </p:txBody>
      </p:sp>
      <p:sp>
        <p:nvSpPr>
          <p:cNvPr id="8" name="Text 5"/>
          <p:cNvSpPr txBox="1"/>
          <p:nvPr/>
        </p:nvSpPr>
        <p:spPr>
          <a:xfrm>
            <a:off x="5715000" y="2212848"/>
            <a:ext cx="5513832" cy="685800"/>
          </a:xfrm>
          <a:prstGeom prst="rect">
            <a:avLst/>
          </a:prstGeom>
          <a:noFill/>
          <a:ln/>
        </p:spPr>
        <p:txBody>
          <a:bodyPr wrap="square" lIns="0" tIns="0" rIns="0" bIns="0" rtlCol="0" anchor="t"/>
          <a:lstStyle/>
          <a:p>
            <a:pPr indent="0" marL="0">
              <a:buNone/>
            </a:pPr>
            <a:r>
              <a:rPr lang="en-US" sz="1200" dirty="0">
                <a:solidFill>
                  <a:srgbClr val="46524A"/>
                </a:solidFill>
                <a:latin typeface="Calibri" pitchFamily="34" charset="0"/>
                <a:ea typeface="Calibri" pitchFamily="34" charset="-122"/>
                <a:cs typeface="Calibri" pitchFamily="34" charset="-120"/>
              </a:rPr>
              <a:t>Recall@1 at most 0.041 with any RNA or protein encoder, while the DNA encoders agree with each other at CKA 0.64 to 0.93. Different molecules, so this is expected, and the window still adds signal.</a:t>
            </a:r>
            <a:endParaRPr lang="en-US" sz="1200" dirty="0"/>
          </a:p>
        </p:txBody>
      </p:sp>
      <p:sp>
        <p:nvSpPr>
          <p:cNvPr id="9" name="Shape 6"/>
          <p:cNvSpPr/>
          <p:nvPr/>
        </p:nvSpPr>
        <p:spPr>
          <a:xfrm>
            <a:off x="5440680" y="3154680"/>
            <a:ext cx="6062472" cy="1371600"/>
          </a:xfrm>
          <a:prstGeom prst="roundRect">
            <a:avLst>
              <a:gd name="adj" fmla="val 5333"/>
            </a:avLst>
          </a:prstGeom>
          <a:solidFill>
            <a:srgbClr val="EEF3EA"/>
          </a:solidFill>
          <a:ln w="12700">
            <a:solidFill>
              <a:srgbClr val="EEF3EA"/>
            </a:solidFill>
            <a:prstDash val="solid"/>
          </a:ln>
        </p:spPr>
      </p:sp>
      <p:sp>
        <p:nvSpPr>
          <p:cNvPr id="10" name="Text 7"/>
          <p:cNvSpPr txBox="1"/>
          <p:nvPr/>
        </p:nvSpPr>
        <p:spPr>
          <a:xfrm>
            <a:off x="5715000" y="3319272"/>
            <a:ext cx="5513832"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Coding encoders repeat the stability pattern</a:t>
            </a:r>
            <a:endParaRPr lang="en-US" sz="1600" dirty="0"/>
          </a:p>
        </p:txBody>
      </p:sp>
      <p:sp>
        <p:nvSpPr>
          <p:cNvPr id="11" name="Text 8"/>
          <p:cNvSpPr txBox="1"/>
          <p:nvPr/>
        </p:nvSpPr>
        <p:spPr>
          <a:xfrm>
            <a:off x="5715000" y="3721608"/>
            <a:ext cx="5513832" cy="685800"/>
          </a:xfrm>
          <a:prstGeom prst="rect">
            <a:avLst/>
          </a:prstGeom>
          <a:noFill/>
          <a:ln/>
        </p:spPr>
        <p:txBody>
          <a:bodyPr wrap="square" lIns="0" tIns="0" rIns="0" bIns="0" rtlCol="0" anchor="t"/>
          <a:lstStyle/>
          <a:p>
            <a:pPr indent="0" marL="0">
              <a:buNone/>
            </a:pPr>
            <a:r>
              <a:rPr lang="en-US" sz="1200" dirty="0">
                <a:solidFill>
                  <a:srgbClr val="46524A"/>
                </a:solidFill>
                <a:latin typeface="Calibri" pitchFamily="34" charset="0"/>
                <a:ea typeface="Calibri" pitchFamily="34" charset="-122"/>
                <a:cs typeface="Calibri" pitchFamily="34" charset="-120"/>
              </a:rPr>
              <a:t>CaLM finds its protein partner 69% to 83% of the time and keeps 44% to 63% after the composition control; mRNA-FM 37% to 47%; RNA-FM and RiNALMo 9% to 26%.</a:t>
            </a:r>
            <a:endParaRPr lang="en-US" sz="1200" dirty="0"/>
          </a:p>
        </p:txBody>
      </p:sp>
      <p:sp>
        <p:nvSpPr>
          <p:cNvPr id="12" name="Shape 9"/>
          <p:cNvSpPr/>
          <p:nvPr/>
        </p:nvSpPr>
        <p:spPr>
          <a:xfrm>
            <a:off x="5440680" y="4663440"/>
            <a:ext cx="6062472" cy="1371600"/>
          </a:xfrm>
          <a:prstGeom prst="roundRect">
            <a:avLst>
              <a:gd name="adj" fmla="val 5333"/>
            </a:avLst>
          </a:prstGeom>
          <a:solidFill>
            <a:srgbClr val="EEF3EA"/>
          </a:solidFill>
          <a:ln w="12700">
            <a:solidFill>
              <a:srgbClr val="EEF3EA"/>
            </a:solidFill>
            <a:prstDash val="solid"/>
          </a:ln>
        </p:spPr>
      </p:sp>
      <p:sp>
        <p:nvSpPr>
          <p:cNvPr id="13" name="Text 10"/>
          <p:cNvSpPr txBox="1"/>
          <p:nvPr/>
        </p:nvSpPr>
        <p:spPr>
          <a:xfrm>
            <a:off x="5715000" y="4828032"/>
            <a:ext cx="5513832"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Attention in 3' UTRs</a:t>
            </a:r>
            <a:endParaRPr lang="en-US" sz="1600" dirty="0"/>
          </a:p>
        </p:txBody>
      </p:sp>
      <p:sp>
        <p:nvSpPr>
          <p:cNvPr id="14" name="Text 11"/>
          <p:cNvSpPr txBox="1"/>
          <p:nvPr/>
        </p:nvSpPr>
        <p:spPr>
          <a:xfrm>
            <a:off x="5715000" y="5230368"/>
            <a:ext cx="5513832" cy="685800"/>
          </a:xfrm>
          <a:prstGeom prst="rect">
            <a:avLst/>
          </a:prstGeom>
          <a:noFill/>
          <a:ln/>
        </p:spPr>
        <p:txBody>
          <a:bodyPr wrap="square" lIns="0" tIns="0" rIns="0" bIns="0" rtlCol="0" anchor="t"/>
          <a:lstStyle/>
          <a:p>
            <a:pPr indent="0" marL="0">
              <a:buNone/>
            </a:pPr>
            <a:r>
              <a:rPr lang="en-US" sz="1200" dirty="0">
                <a:solidFill>
                  <a:srgbClr val="46524A"/>
                </a:solidFill>
                <a:latin typeface="Calibri" pitchFamily="34" charset="0"/>
                <a:ea typeface="Calibri" pitchFamily="34" charset="-122"/>
                <a:cs typeface="Calibri" pitchFamily="34" charset="-120"/>
              </a:rPr>
              <a:t>RNA-FM shows no association. RiNALMo's ARE gap survives the position null but not a three-nucleotide-context null, matching its coding-sequence result.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8"/>
        </a:solidFill>
      </p:bgPr>
    </p:bg>
    <p:spTree>
      <p:nvGrpSpPr>
        <p:cNvPr id="1" name=""/>
        <p:cNvGrpSpPr/>
        <p:nvPr/>
      </p:nvGrpSpPr>
      <p:grpSpPr>
        <a:xfrm>
          <a:off x="0" y="0"/>
          <a:ext cx="0" cy="0"/>
          <a:chOff x="0" y="0"/>
          <a:chExt cx="0" cy="0"/>
        </a:xfrm>
      </p:grpSpPr>
      <p:sp>
        <p:nvSpPr>
          <p:cNvPr id="2" name="Eyebrow"/>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STAGE 2 · DECISION</a:t>
            </a:r>
            <a:endParaRPr lang="en-US" sz="1300" dirty="0"/>
          </a:p>
        </p:txBody>
      </p:sp>
      <p:sp>
        <p:nvSpPr>
          <p:cNvPr id="3" name="Title"/>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Proposed decision: go straight to fusion</a:t>
            </a:r>
            <a:endParaRPr lang="en-US" sz="3200" dirty="0"/>
          </a:p>
        </p:txBody>
      </p:sp>
      <p:sp>
        <p:nvSpPr>
          <p:cNvPr id="4" name="Card 1"/>
          <p:cNvSpPr/>
          <p:nvPr/>
        </p:nvSpPr>
        <p:spPr>
          <a:xfrm>
            <a:off x="685800" y="1691640"/>
            <a:ext cx="5271516" cy="1874520"/>
          </a:xfrm>
          <a:prstGeom prst="roundRect">
            <a:avLst>
              <a:gd name="adj" fmla="val 3902"/>
            </a:avLst>
          </a:prstGeom>
          <a:solidFill>
            <a:srgbClr val="EEF3EA"/>
          </a:solidFill>
          <a:ln w="12700">
            <a:solidFill>
              <a:srgbClr val="EEF3EA"/>
            </a:solidFill>
            <a:prstDash val="solid"/>
          </a:ln>
        </p:spPr>
      </p:sp>
      <p:sp>
        <p:nvSpPr>
          <p:cNvPr id="5" name="Card 1 title"/>
          <p:cNvSpPr txBox="1"/>
          <p:nvPr/>
        </p:nvSpPr>
        <p:spPr>
          <a:xfrm>
            <a:off x="960120" y="1856232"/>
            <a:ext cx="4722876"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Impose positional alignment only</a:t>
            </a:r>
            <a:endParaRPr lang="en-US" sz="1600" dirty="0"/>
          </a:p>
        </p:txBody>
      </p:sp>
      <p:sp>
        <p:nvSpPr>
          <p:cNvPr id="6" name="Card 1 body"/>
          <p:cNvSpPr txBox="1"/>
          <p:nvPr/>
        </p:nvSpPr>
        <p:spPr>
          <a:xfrm>
            <a:off x="960120" y="2295144"/>
            <a:ext cx="4722876" cy="1106424"/>
          </a:xfrm>
          <a:prstGeom prst="rect">
            <a:avLst/>
          </a:prstGeom>
          <a:noFill/>
          <a:ln/>
        </p:spPr>
        <p:txBody>
          <a:bodyPr wrap="square" lIns="0" tIns="0" rIns="0" bIns="0" rtlCol="0" anchor="t"/>
          <a:lstStyle/>
          <a:p>
            <a:pPr indent="0" marL="0">
              <a:buNone/>
            </a:pPr>
            <a:r>
              <a:rPr lang="en-US" sz="1500" dirty="0">
                <a:solidFill>
                  <a:srgbClr val="46524A"/>
                </a:solidFill>
                <a:latin typeface="Calibri" pitchFamily="34" charset="0"/>
                <a:ea typeface="Calibri" pitchFamily="34" charset="-122"/>
                <a:cs typeface="Calibri" pitchFamily="34" charset="-120"/>
              </a:rPr>
              <a:t>Stability: resample DNA, RNA, and protein tokens to one codon grid, the step grid Coupled Mamba needs. GTEx: no grid exists, so cross-attention or pooled fusion.</a:t>
            </a:r>
            <a:endParaRPr lang="en-US" sz="1500" dirty="0"/>
          </a:p>
        </p:txBody>
      </p:sp>
      <p:sp>
        <p:nvSpPr>
          <p:cNvPr id="7" name="Card 2"/>
          <p:cNvSpPr/>
          <p:nvPr/>
        </p:nvSpPr>
        <p:spPr>
          <a:xfrm>
            <a:off x="6231636" y="1691640"/>
            <a:ext cx="5271516" cy="1874520"/>
          </a:xfrm>
          <a:prstGeom prst="roundRect">
            <a:avLst>
              <a:gd name="adj" fmla="val 3902"/>
            </a:avLst>
          </a:prstGeom>
          <a:solidFill>
            <a:srgbClr val="EEF3EA"/>
          </a:solidFill>
          <a:ln w="12700">
            <a:solidFill>
              <a:srgbClr val="EEF3EA"/>
            </a:solidFill>
            <a:prstDash val="solid"/>
          </a:ln>
        </p:spPr>
      </p:sp>
      <p:sp>
        <p:nvSpPr>
          <p:cNvPr id="8" name="Card 2 title"/>
          <p:cNvSpPr txBox="1"/>
          <p:nvPr/>
        </p:nvSpPr>
        <p:spPr>
          <a:xfrm>
            <a:off x="6505956" y="1856232"/>
            <a:ext cx="4722876"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No alignment loss by default</a:t>
            </a:r>
            <a:endParaRPr lang="en-US" sz="1600" dirty="0"/>
          </a:p>
        </p:txBody>
      </p:sp>
      <p:sp>
        <p:nvSpPr>
          <p:cNvPr id="9" name="Card 2 body"/>
          <p:cNvSpPr txBox="1"/>
          <p:nvPr/>
        </p:nvSpPr>
        <p:spPr>
          <a:xfrm>
            <a:off x="6505956" y="2295144"/>
            <a:ext cx="4722876" cy="1106424"/>
          </a:xfrm>
          <a:prstGeom prst="rect">
            <a:avLst/>
          </a:prstGeom>
          <a:noFill/>
          <a:ln/>
        </p:spPr>
        <p:txBody>
          <a:bodyPr wrap="square" lIns="0" tIns="0" rIns="0" bIns="0" rtlCol="0" anchor="t"/>
          <a:lstStyle/>
          <a:p>
            <a:pPr indent="0" marL="0">
              <a:buNone/>
            </a:pPr>
            <a:r>
              <a:rPr lang="en-US" sz="1500" dirty="0">
                <a:solidFill>
                  <a:srgbClr val="46524A"/>
                </a:solidFill>
                <a:latin typeface="Calibri" pitchFamily="34" charset="0"/>
                <a:ea typeface="Calibri" pitchFamily="34" charset="-122"/>
                <a:cs typeface="Calibri" pitchFamily="34" charset="-120"/>
              </a:rPr>
              <a:t>Train on the prediction loss alone. One ablation: CaLM with a protein encoder, the only cross-modal pair aligned after the control, with and without a contrastive loss.</a:t>
            </a:r>
            <a:endParaRPr lang="en-US" sz="1500" dirty="0"/>
          </a:p>
        </p:txBody>
      </p:sp>
      <p:sp>
        <p:nvSpPr>
          <p:cNvPr id="10" name="Card 3"/>
          <p:cNvSpPr/>
          <p:nvPr/>
        </p:nvSpPr>
        <p:spPr>
          <a:xfrm>
            <a:off x="685800" y="3794760"/>
            <a:ext cx="5271516" cy="1874520"/>
          </a:xfrm>
          <a:prstGeom prst="roundRect">
            <a:avLst>
              <a:gd name="adj" fmla="val 3902"/>
            </a:avLst>
          </a:prstGeom>
          <a:solidFill>
            <a:srgbClr val="EEF3EA"/>
          </a:solidFill>
          <a:ln w="12700">
            <a:solidFill>
              <a:srgbClr val="EEF3EA"/>
            </a:solidFill>
            <a:prstDash val="solid"/>
          </a:ln>
        </p:spPr>
      </p:sp>
      <p:sp>
        <p:nvSpPr>
          <p:cNvPr id="11" name="Card 3 title"/>
          <p:cNvSpPr txBox="1"/>
          <p:nvPr/>
        </p:nvSpPr>
        <p:spPr>
          <a:xfrm>
            <a:off x="960120" y="3959352"/>
            <a:ext cx="4722876"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Start with the pairs Stage 1 favors</a:t>
            </a:r>
            <a:endParaRPr lang="en-US" sz="1600" dirty="0"/>
          </a:p>
        </p:txBody>
      </p:sp>
      <p:sp>
        <p:nvSpPr>
          <p:cNvPr id="12" name="Card 3 body"/>
          <p:cNvSpPr txBox="1"/>
          <p:nvPr/>
        </p:nvSpPr>
        <p:spPr>
          <a:xfrm>
            <a:off x="960120" y="4398264"/>
            <a:ext cx="4722876" cy="1106424"/>
          </a:xfrm>
          <a:prstGeom prst="rect">
            <a:avLst/>
          </a:prstGeom>
          <a:noFill/>
          <a:ln/>
        </p:spPr>
        <p:txBody>
          <a:bodyPr wrap="square" lIns="0" tIns="0" rIns="0" bIns="0" rtlCol="0" anchor="t"/>
          <a:lstStyle/>
          <a:p>
            <a:pPr indent="0" marL="0">
              <a:buNone/>
            </a:pPr>
            <a:r>
              <a:rPr lang="en-US" sz="1500" dirty="0">
                <a:solidFill>
                  <a:srgbClr val="46524A"/>
                </a:solidFill>
                <a:latin typeface="Calibri" pitchFamily="34" charset="0"/>
                <a:ea typeface="Calibri" pitchFamily="34" charset="-122"/>
                <a:cs typeface="Calibri" pitchFamily="34" charset="-120"/>
              </a:rPr>
              <a:t>Stability: mRNA-FM or CaLM with ESM-2 150M or ProtBERT. GTEx: transcript and protein plus the DNA window, against the length baseline. One ESM-2 model per experiment.</a:t>
            </a:r>
            <a:endParaRPr lang="en-US" sz="1500" dirty="0"/>
          </a:p>
        </p:txBody>
      </p:sp>
      <p:sp>
        <p:nvSpPr>
          <p:cNvPr id="13" name="Card 4"/>
          <p:cNvSpPr/>
          <p:nvPr/>
        </p:nvSpPr>
        <p:spPr>
          <a:xfrm>
            <a:off x="6231636" y="3794760"/>
            <a:ext cx="5271516" cy="1874520"/>
          </a:xfrm>
          <a:prstGeom prst="roundRect">
            <a:avLst>
              <a:gd name="adj" fmla="val 3902"/>
            </a:avLst>
          </a:prstGeom>
          <a:solidFill>
            <a:srgbClr val="EEF3EA"/>
          </a:solidFill>
          <a:ln w="12700">
            <a:solidFill>
              <a:srgbClr val="EEF3EA"/>
            </a:solidFill>
            <a:prstDash val="solid"/>
          </a:ln>
        </p:spPr>
      </p:sp>
      <p:sp>
        <p:nvSpPr>
          <p:cNvPr id="14" name="Card 4 title"/>
          <p:cNvSpPr txBox="1"/>
          <p:nvPr/>
        </p:nvSpPr>
        <p:spPr>
          <a:xfrm>
            <a:off x="6505956" y="3959352"/>
            <a:ext cx="4722876"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Report alignment beside every fusion gain</a:t>
            </a:r>
            <a:endParaRPr lang="en-US" sz="1600" dirty="0"/>
          </a:p>
        </p:txBody>
      </p:sp>
      <p:sp>
        <p:nvSpPr>
          <p:cNvPr id="15" name="Card 4 body"/>
          <p:cNvSpPr txBox="1"/>
          <p:nvPr/>
        </p:nvSpPr>
        <p:spPr>
          <a:xfrm>
            <a:off x="6505956" y="4398264"/>
            <a:ext cx="4722876" cy="1106424"/>
          </a:xfrm>
          <a:prstGeom prst="rect">
            <a:avLst/>
          </a:prstGeom>
          <a:noFill/>
          <a:ln/>
        </p:spPr>
        <p:txBody>
          <a:bodyPr wrap="square" lIns="0" tIns="0" rIns="0" bIns="0" rtlCol="0" anchor="t"/>
          <a:lstStyle/>
          <a:p>
            <a:pPr indent="0" marL="0">
              <a:buNone/>
            </a:pPr>
            <a:r>
              <a:rPr lang="en-US" sz="1500" dirty="0">
                <a:solidFill>
                  <a:srgbClr val="46524A"/>
                </a:solidFill>
                <a:latin typeface="Calibri" pitchFamily="34" charset="0"/>
                <a:ea typeface="Calibri" pitchFamily="34" charset="-122"/>
                <a:cs typeface="Calibri" pitchFamily="34" charset="-120"/>
              </a:rPr>
              <a:t>CKA and Recall@1 before and after the composition control, next to each pair's gain. If Stage 1 predicts where fusion helps, that is the method.</a:t>
            </a:r>
            <a:endParaRPr lang="en-US" sz="1500" dirty="0"/>
          </a:p>
        </p:txBody>
      </p:sp>
      <p:sp>
        <p:nvSpPr>
          <p:cNvPr id="16" name="Bottom line"/>
          <p:cNvSpPr txBox="1"/>
          <p:nvPr/>
        </p:nvSpPr>
        <p:spPr>
          <a:xfrm>
            <a:off x="685800" y="5852160"/>
            <a:ext cx="10817352" cy="411480"/>
          </a:xfrm>
          <a:prstGeom prst="rect">
            <a:avLst/>
          </a:prstGeom>
          <a:noFill/>
          <a:ln/>
        </p:spPr>
        <p:txBody>
          <a:bodyPr wrap="square" lIns="0" tIns="0" rIns="0" bIns="0" rtlCol="0" anchor="ctr"/>
          <a:lstStyle/>
          <a:p>
            <a:pPr indent="0" marL="0">
              <a:buNone/>
            </a:pPr>
            <a:r>
              <a:rPr lang="en-US" sz="1300" i="1" dirty="0">
                <a:solidFill>
                  <a:srgbClr val="46524A"/>
                </a:solidFill>
                <a:latin typeface="Calibri" pitchFamily="34" charset="0"/>
                <a:ea typeface="Calibri" pitchFamily="34" charset="-122"/>
                <a:cs typeface="Calibri" pitchFamily="34" charset="-120"/>
              </a:rPr>
              <a:t>Stage 2 runs no experiments; its decision is what sends the project straight into Stage 3.</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8"/>
        </a:solidFill>
      </p:bgPr>
    </p:bg>
    <p:spTree>
      <p:nvGrpSpPr>
        <p:cNvPr id="1" name=""/>
        <p:cNvGrpSpPr/>
        <p:nvPr/>
      </p:nvGrpSpPr>
      <p:grpSpPr>
        <a:xfrm>
          <a:off x="0" y="0"/>
          <a:ext cx="0" cy="0"/>
          <a:chOff x="0" y="0"/>
          <a:chExt cx="0" cy="0"/>
        </a:xfrm>
      </p:grpSpPr>
      <p:sp>
        <p:nvSpPr>
          <p:cNvPr id="2" name="Text 0"/>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NEXT STEPS</a:t>
            </a:r>
            <a:endParaRPr lang="en-US" sz="1300" dirty="0"/>
          </a:p>
        </p:txBody>
      </p:sp>
      <p:sp>
        <p:nvSpPr>
          <p:cNvPr id="3" name="Text 1"/>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Stage 3 plan and questions for Mina</a:t>
            </a:r>
            <a:endParaRPr lang="en-US" sz="3200" dirty="0"/>
          </a:p>
        </p:txBody>
      </p:sp>
      <p:sp>
        <p:nvSpPr>
          <p:cNvPr id="4" name="Text 2"/>
          <p:cNvSpPr txBox="1"/>
          <p:nvPr/>
        </p:nvSpPr>
        <p:spPr>
          <a:xfrm>
            <a:off x="685800" y="6309360"/>
            <a:ext cx="10817352" cy="365760"/>
          </a:xfrm>
          <a:prstGeom prst="rect">
            <a:avLst/>
          </a:prstGeom>
          <a:noFill/>
          <a:ln/>
        </p:spPr>
        <p:txBody>
          <a:bodyPr wrap="square" lIns="0" tIns="0" rIns="0" bIns="0" rtlCol="0" anchor="ctr"/>
          <a:lstStyle/>
          <a:p>
            <a:pPr indent="0" marL="0">
              <a:buNone/>
            </a:pPr>
            <a:r>
              <a:rPr lang="en-US" sz="1100" dirty="0">
                <a:solidFill>
                  <a:srgbClr val="6B766D"/>
                </a:solidFill>
                <a:latin typeface="Calibri" pitchFamily="34" charset="0"/>
                <a:ea typeface="Calibri" pitchFamily="34" charset="-122"/>
                <a:cs typeface="Calibri" pitchFamily="34" charset="-120"/>
              </a:rPr>
              <a:t>Fusion candidates: Coupled Mamba first, then IsoFormer-style cross-attention; concatenation plus MLP as the baseline every model must beat.</a:t>
            </a:r>
            <a:endParaRPr lang="en-US" sz="1100" dirty="0"/>
          </a:p>
        </p:txBody>
      </p:sp>
      <p:sp>
        <p:nvSpPr>
          <p:cNvPr id="5" name="Text 3"/>
          <p:cNvSpPr txBox="1"/>
          <p:nvPr/>
        </p:nvSpPr>
        <p:spPr>
          <a:xfrm>
            <a:off x="685800" y="1691640"/>
            <a:ext cx="5120640" cy="365760"/>
          </a:xfrm>
          <a:prstGeom prst="rect">
            <a:avLst/>
          </a:prstGeom>
          <a:noFill/>
          <a:ln/>
        </p:spPr>
        <p:txBody>
          <a:bodyPr wrap="square" lIns="0" tIns="0" rIns="0" bIns="0" rtlCol="0" anchor="ctr"/>
          <a:lstStyle/>
          <a:p>
            <a:pPr indent="0" marL="0">
              <a:buNone/>
            </a:pPr>
            <a:r>
              <a:rPr lang="en-US" sz="1700" b="1" dirty="0">
                <a:solidFill>
                  <a:srgbClr val="3E7A34"/>
                </a:solidFill>
                <a:latin typeface="Calibri" pitchFamily="34" charset="0"/>
                <a:ea typeface="Calibri" pitchFamily="34" charset="-122"/>
                <a:cs typeface="Calibri" pitchFamily="34" charset="-120"/>
              </a:rPr>
              <a:t>Stage 3 next</a:t>
            </a:r>
            <a:endParaRPr lang="en-US" sz="1700" dirty="0"/>
          </a:p>
        </p:txBody>
      </p:sp>
      <p:sp>
        <p:nvSpPr>
          <p:cNvPr id="6" name="Text 4"/>
          <p:cNvSpPr txBox="1"/>
          <p:nvPr/>
        </p:nvSpPr>
        <p:spPr>
          <a:xfrm>
            <a:off x="685800" y="2148840"/>
            <a:ext cx="5120640" cy="3931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A20"/>
                </a:solidFill>
                <a:latin typeface="Calibri" pitchFamily="34" charset="0"/>
                <a:ea typeface="Calibri" pitchFamily="34" charset="-122"/>
                <a:cs typeface="Calibri" pitchFamily="34" charset="-120"/>
              </a:rPr>
              <a:t>Extract token-level embeddings; resample stability inputs to one codon grid</a:t>
            </a:r>
            <a:endParaRPr lang="en-US" sz="1400" dirty="0"/>
          </a:p>
          <a:p>
            <a:pPr marL="342900" indent="-342900">
              <a:spcAft>
                <a:spcPts val="800"/>
              </a:spcAft>
              <a:buSzPct val="100000"/>
              <a:buChar char="•"/>
            </a:pPr>
            <a:r>
              <a:rPr lang="en-US" sz="1400" dirty="0">
                <a:solidFill>
                  <a:srgbClr val="1E2A20"/>
                </a:solidFill>
                <a:latin typeface="Calibri" pitchFamily="34" charset="0"/>
                <a:ea typeface="Calibri" pitchFamily="34" charset="-122"/>
                <a:cs typeface="Calibri" pitchFamily="34" charset="-120"/>
              </a:rPr>
              <a:t>Baselines first: best single encoder, concatenation plus MLP, and the length baseline on GTEx</a:t>
            </a:r>
            <a:endParaRPr lang="en-US" sz="1400" dirty="0"/>
          </a:p>
          <a:p>
            <a:pPr marL="342900" indent="-342900">
              <a:spcAft>
                <a:spcPts val="800"/>
              </a:spcAft>
              <a:buSzPct val="100000"/>
              <a:buChar char="•"/>
            </a:pPr>
            <a:r>
              <a:rPr lang="en-US" sz="1400" dirty="0">
                <a:solidFill>
                  <a:srgbClr val="1E2A20"/>
                </a:solidFill>
                <a:latin typeface="Calibri" pitchFamily="34" charset="0"/>
                <a:ea typeface="Calibri" pitchFamily="34" charset="-122"/>
                <a:cs typeface="Calibri" pitchFamily="34" charset="-120"/>
              </a:rPr>
              <a:t>Coupled Mamba, then cross-attention, on codon-level RNA with protein</a:t>
            </a:r>
            <a:endParaRPr lang="en-US" sz="1400" dirty="0"/>
          </a:p>
          <a:p>
            <a:pPr marL="342900" indent="-342900">
              <a:spcAft>
                <a:spcPts val="800"/>
              </a:spcAft>
              <a:buSzPct val="100000"/>
              <a:buChar char="•"/>
            </a:pPr>
            <a:r>
              <a:rPr lang="en-US" sz="1400" dirty="0">
                <a:solidFill>
                  <a:srgbClr val="1E2A20"/>
                </a:solidFill>
                <a:latin typeface="Calibri" pitchFamily="34" charset="0"/>
                <a:ea typeface="Calibri" pitchFamily="34" charset="-122"/>
                <a:cs typeface="Calibri" pitchFamily="34" charset="-120"/>
              </a:rPr>
              <a:t>Alignment-loss ablation on CaLM with a protein encoder</a:t>
            </a:r>
            <a:endParaRPr lang="en-US" sz="1400" dirty="0"/>
          </a:p>
          <a:p>
            <a:pPr marL="342900" indent="-342900">
              <a:spcAft>
                <a:spcPts val="800"/>
              </a:spcAft>
              <a:buSzPct val="100000"/>
              <a:buChar char="•"/>
            </a:pPr>
            <a:r>
              <a:rPr lang="en-US" sz="1400" dirty="0">
                <a:solidFill>
                  <a:srgbClr val="1E2A20"/>
                </a:solidFill>
                <a:latin typeface="Calibri" pitchFamily="34" charset="0"/>
                <a:ea typeface="Calibri" pitchFamily="34" charset="-122"/>
                <a:cs typeface="Calibri" pitchFamily="34" charset="-120"/>
              </a:rPr>
              <a:t>Secure GPU access and scale from the pilots to full training sets</a:t>
            </a:r>
            <a:endParaRPr lang="en-US" sz="1400" dirty="0"/>
          </a:p>
        </p:txBody>
      </p:sp>
      <p:sp>
        <p:nvSpPr>
          <p:cNvPr id="7" name="Shape 5"/>
          <p:cNvSpPr/>
          <p:nvPr/>
        </p:nvSpPr>
        <p:spPr>
          <a:xfrm>
            <a:off x="6172200" y="1691640"/>
            <a:ext cx="5330952" cy="4434840"/>
          </a:xfrm>
          <a:prstGeom prst="roundRect">
            <a:avLst>
              <a:gd name="adj" fmla="val 1649"/>
            </a:avLst>
          </a:prstGeom>
          <a:solidFill>
            <a:srgbClr val="EEF3EA"/>
          </a:solidFill>
          <a:ln w="12700">
            <a:solidFill>
              <a:srgbClr val="EEF3EA"/>
            </a:solidFill>
            <a:prstDash val="solid"/>
          </a:ln>
        </p:spPr>
      </p:sp>
      <p:sp>
        <p:nvSpPr>
          <p:cNvPr id="8" name="Text 6"/>
          <p:cNvSpPr txBox="1"/>
          <p:nvPr/>
        </p:nvSpPr>
        <p:spPr>
          <a:xfrm>
            <a:off x="6492240" y="1874520"/>
            <a:ext cx="4690872" cy="365760"/>
          </a:xfrm>
          <a:prstGeom prst="rect">
            <a:avLst/>
          </a:prstGeom>
          <a:noFill/>
          <a:ln/>
        </p:spPr>
        <p:txBody>
          <a:bodyPr wrap="square" lIns="0" tIns="0" rIns="0" bIns="0" rtlCol="0" anchor="ctr"/>
          <a:lstStyle/>
          <a:p>
            <a:pPr indent="0" marL="0">
              <a:buNone/>
            </a:pPr>
            <a:r>
              <a:rPr lang="en-US" sz="1700" b="1" dirty="0">
                <a:solidFill>
                  <a:srgbClr val="3E7A34"/>
                </a:solidFill>
                <a:latin typeface="Calibri" pitchFamily="34" charset="0"/>
                <a:ea typeface="Calibri" pitchFamily="34" charset="-122"/>
                <a:cs typeface="Calibri" pitchFamily="34" charset="-120"/>
              </a:rPr>
              <a:t>Questions</a:t>
            </a:r>
            <a:endParaRPr lang="en-US" sz="1700" dirty="0"/>
          </a:p>
        </p:txBody>
      </p:sp>
      <p:sp>
        <p:nvSpPr>
          <p:cNvPr id="9" name="Text 7"/>
          <p:cNvSpPr txBox="1"/>
          <p:nvPr/>
        </p:nvSpPr>
        <p:spPr>
          <a:xfrm>
            <a:off x="6492240" y="2331720"/>
            <a:ext cx="4690872" cy="36576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400" dirty="0">
                <a:solidFill>
                  <a:srgbClr val="1E2A20"/>
                </a:solidFill>
                <a:latin typeface="Calibri" pitchFamily="34" charset="0"/>
                <a:ea typeface="Calibri" pitchFamily="34" charset="-122"/>
                <a:cs typeface="Calibri" pitchFamily="34" charset="-120"/>
              </a:rPr>
              <a:t>Does our definition, positional alignment from biology and representational alignment as a measurement, fit the lab's alignment study?</a:t>
            </a:r>
            <a:endParaRPr lang="en-US" sz="1400" dirty="0"/>
          </a:p>
          <a:p>
            <a:pPr marL="342900" indent="-342900">
              <a:spcAft>
                <a:spcPts val="800"/>
              </a:spcAft>
              <a:buSzPct val="100000"/>
              <a:buFont typeface="+mj-lt"/>
              <a:buAutoNum type="arabicPeriod" startAt="1"/>
            </a:pPr>
            <a:r>
              <a:rPr lang="en-US" sz="1400" dirty="0">
                <a:solidFill>
                  <a:srgbClr val="1E2A20"/>
                </a:solidFill>
                <a:latin typeface="Calibri" pitchFamily="34" charset="0"/>
                <a:ea typeface="Calibri" pitchFamily="34" charset="-122"/>
                <a:cs typeface="Calibri" pitchFamily="34" charset="-120"/>
              </a:rPr>
              <a:t>Should transcript length be a required control or input for GTEx fusion?</a:t>
            </a:r>
            <a:endParaRPr lang="en-US" sz="1400" dirty="0"/>
          </a:p>
          <a:p>
            <a:pPr marL="342900" indent="-342900">
              <a:spcAft>
                <a:spcPts val="800"/>
              </a:spcAft>
              <a:buSzPct val="100000"/>
              <a:buFont typeface="+mj-lt"/>
              <a:buAutoNum type="arabicPeriod" startAt="1"/>
            </a:pPr>
            <a:r>
              <a:rPr lang="en-US" sz="1400" dirty="0">
                <a:solidFill>
                  <a:srgbClr val="1E2A20"/>
                </a:solidFill>
                <a:latin typeface="Calibri" pitchFamily="34" charset="0"/>
                <a:ea typeface="Calibri" pitchFamily="34" charset="-122"/>
                <a:cs typeface="Calibri" pitchFamily="34" charset="-120"/>
              </a:rPr>
              <a:t>Stability, GTEx, or both as the Stage 4 benchmark?</a:t>
            </a:r>
            <a:endParaRPr lang="en-US" sz="1400" dirty="0"/>
          </a:p>
          <a:p>
            <a:pPr marL="342900" indent="-342900">
              <a:spcAft>
                <a:spcPts val="800"/>
              </a:spcAft>
              <a:buSzPct val="100000"/>
              <a:buFont typeface="+mj-lt"/>
              <a:buAutoNum type="arabicPeriod" startAt="1"/>
            </a:pPr>
            <a:r>
              <a:rPr lang="en-US" sz="1400" dirty="0">
                <a:solidFill>
                  <a:srgbClr val="1E2A20"/>
                </a:solidFill>
                <a:latin typeface="Calibri" pitchFamily="34" charset="0"/>
                <a:ea typeface="Calibri" pitchFamily="34" charset="-122"/>
                <a:cs typeface="Calibri" pitchFamily="34" charset="-120"/>
              </a:rPr>
              <a:t>Is CaLM's attention to AU-rich pentamers worth a follow-up with more sequences and permutations?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AFBF8"/>
        </a:solidFill>
      </p:bgPr>
    </p:bg>
    <p:spTree>
      <p:nvGrpSpPr>
        <p:cNvPr id="1" name=""/>
        <p:cNvGrpSpPr/>
        <p:nvPr/>
      </p:nvGrpSpPr>
      <p:grpSpPr>
        <a:xfrm>
          <a:off x="0" y="0"/>
          <a:ext cx="0" cy="0"/>
          <a:chOff x="0" y="0"/>
          <a:chExt cx="0" cy="0"/>
        </a:xfrm>
      </p:grpSpPr>
      <p:sp>
        <p:nvSpPr>
          <p:cNvPr id="2" name="Eyebrow"/>
          <p:cNvSpPr txBox="1"/>
          <p:nvPr/>
        </p:nvSpPr>
        <p:spPr>
          <a:xfrm>
            <a:off x="685800" y="457200"/>
            <a:ext cx="10817352" cy="320040"/>
          </a:xfrm>
          <a:prstGeom prst="rect">
            <a:avLst/>
          </a:prstGeom>
          <a:noFill/>
          <a:ln/>
        </p:spPr>
        <p:txBody>
          <a:bodyPr wrap="square" lIns="0" tIns="0" rIns="0" bIns="0" rtlCol="0" anchor="ctr"/>
          <a:lstStyle/>
          <a:p>
            <a:pPr indent="0" marL="0">
              <a:buNone/>
            </a:pPr>
            <a:r>
              <a:rPr lang="en-US" sz="1300" b="1" spc="300" kern="0" dirty="0">
                <a:solidFill>
                  <a:srgbClr val="3E7A34"/>
                </a:solidFill>
                <a:latin typeface="Calibri" pitchFamily="34" charset="0"/>
                <a:ea typeface="Calibri" pitchFamily="34" charset="-122"/>
                <a:cs typeface="Calibri" pitchFamily="34" charset="-120"/>
              </a:rPr>
              <a:t>STAGE 2 · WHAT ALIGNMENT MEANS</a:t>
            </a:r>
            <a:endParaRPr lang="en-US" sz="1300" dirty="0"/>
          </a:p>
        </p:txBody>
      </p:sp>
      <p:sp>
        <p:nvSpPr>
          <p:cNvPr id="3" name="Title"/>
          <p:cNvSpPr txBox="1"/>
          <p:nvPr/>
        </p:nvSpPr>
        <p:spPr>
          <a:xfrm>
            <a:off x="685800" y="777240"/>
            <a:ext cx="10817352" cy="685800"/>
          </a:xfrm>
          <a:prstGeom prst="rect">
            <a:avLst/>
          </a:prstGeom>
          <a:noFill/>
          <a:ln/>
        </p:spPr>
        <p:txBody>
          <a:bodyPr wrap="square" lIns="0" tIns="0" rIns="0" bIns="0" rtlCol="0" anchor="ctr"/>
          <a:lstStyle/>
          <a:p>
            <a:pPr indent="0" marL="0">
              <a:buNone/>
            </a:pPr>
            <a:r>
              <a:rPr lang="en-US" sz="3200" b="1" dirty="0">
                <a:solidFill>
                  <a:srgbClr val="1E2A20"/>
                </a:solidFill>
                <a:latin typeface="Cambria" pitchFamily="34" charset="0"/>
                <a:ea typeface="Cambria" pitchFamily="34" charset="-122"/>
                <a:cs typeface="Cambria" pitchFamily="34" charset="-120"/>
              </a:rPr>
              <a:t>Two kinds of alignment: one given, one measured</a:t>
            </a:r>
            <a:endParaRPr lang="en-US" sz="3200" dirty="0"/>
          </a:p>
        </p:txBody>
      </p:sp>
      <p:sp>
        <p:nvSpPr>
          <p:cNvPr id="4" name="Card 1"/>
          <p:cNvSpPr/>
          <p:nvPr/>
        </p:nvSpPr>
        <p:spPr>
          <a:xfrm>
            <a:off x="685800" y="1645920"/>
            <a:ext cx="5271516" cy="3566160"/>
          </a:xfrm>
          <a:prstGeom prst="roundRect">
            <a:avLst>
              <a:gd name="adj" fmla="val 3902"/>
            </a:avLst>
          </a:prstGeom>
          <a:solidFill>
            <a:srgbClr val="EEF3EA"/>
          </a:solidFill>
          <a:ln w="12700">
            <a:solidFill>
              <a:srgbClr val="EEF3EA"/>
            </a:solidFill>
            <a:prstDash val="solid"/>
          </a:ln>
        </p:spPr>
      </p:sp>
      <p:sp>
        <p:nvSpPr>
          <p:cNvPr id="5" name="Card 1 title"/>
          <p:cNvSpPr txBox="1"/>
          <p:nvPr/>
        </p:nvSpPr>
        <p:spPr>
          <a:xfrm>
            <a:off x="960120" y="1810512"/>
            <a:ext cx="4722876"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Positional alignment: given by biology</a:t>
            </a:r>
            <a:endParaRPr lang="en-US" sz="1600" dirty="0"/>
          </a:p>
        </p:txBody>
      </p:sp>
      <p:sp>
        <p:nvSpPr>
          <p:cNvPr id="6" name="Card 1 body"/>
          <p:cNvSpPr txBox="1"/>
          <p:nvPr/>
        </p:nvSpPr>
        <p:spPr>
          <a:xfrm>
            <a:off x="960120" y="2249424"/>
            <a:ext cx="4722876" cy="2798064"/>
          </a:xfrm>
          <a:prstGeom prst="rect">
            <a:avLst/>
          </a:prstGeom>
          <a:noFill/>
          <a:ln/>
        </p:spPr>
        <p:txBody>
          <a:bodyPr wrap="square" lIns="0" tIns="0" rIns="0" bIns="0" rtlCol="0" anchor="t"/>
          <a:lstStyle/>
          <a:p>
            <a:pPr indent="0" marL="0">
              <a:spcAft>
                <a:spcPts val="700"/>
              </a:spcAft>
              <a:buNone/>
            </a:pPr>
            <a:r>
              <a:rPr lang="en-US" sz="1400" dirty="0">
                <a:solidFill>
                  <a:srgbClr val="46524A"/>
                </a:solidFill>
                <a:latin typeface="Calibri" pitchFamily="34" charset="0"/>
                <a:ea typeface="Calibri" pitchFamily="34" charset="-122"/>
                <a:cs typeface="Calibri" pitchFamily="34" charset="-120"/>
              </a:rPr>
              <a:t>Step t in every input must mean the same place in the gene, like video frame t and audio window t. Coupled Mamba needs this.</a:t>
            </a:r>
            <a:endParaRPr lang="en-US" sz="1400" dirty="0"/>
          </a:p>
          <a:p>
            <a:pPr indent="0" marL="0">
              <a:spcAft>
                <a:spcPts val="300"/>
              </a:spcAft>
              <a:buNone/>
            </a:pPr>
            <a:r>
              <a:rPr lang="en-US" sz="1400" b="1" dirty="0">
                <a:solidFill>
                  <a:srgbClr val="1E2A20"/>
                </a:solidFill>
                <a:latin typeface="Calibri" pitchFamily="34" charset="0"/>
                <a:ea typeface="Calibri" pitchFamily="34" charset="-122"/>
                <a:cs typeface="Calibri" pitchFamily="34" charset="-120"/>
              </a:rPr>
              <a:t>Stability: </a:t>
            </a:r>
            <a:r>
              <a:rPr lang="en-US" sz="1400" dirty="0">
                <a:solidFill>
                  <a:srgbClr val="46524A"/>
                </a:solidFill>
                <a:latin typeface="Calibri" pitchFamily="34" charset="0"/>
                <a:ea typeface="Calibri" pitchFamily="34" charset="-122"/>
                <a:cs typeface="Calibri" pitchFamily="34" charset="-120"/>
              </a:rPr>
              <a:t>each codon maps to one amino acid, so every stream can be resampled to one codon grid. For a 900-nt coding sequence:</a:t>
            </a:r>
            <a:endParaRPr lang="en-US" sz="1400" dirty="0"/>
          </a:p>
          <a:p>
            <a:pPr marL="285750" indent="-285750">
              <a:spcAft>
                <a:spcPts val="200"/>
              </a:spcAft>
              <a:buSzPct val="100000"/>
              <a:buChar char="•"/>
            </a:pPr>
            <a:r>
              <a:rPr lang="en-US" sz="1400" dirty="0">
                <a:solidFill>
                  <a:srgbClr val="46524A"/>
                </a:solidFill>
                <a:latin typeface="Calibri" pitchFamily="34" charset="0"/>
                <a:ea typeface="Calibri" pitchFamily="34" charset="-122"/>
                <a:cs typeface="Calibri" pitchFamily="34" charset="-120"/>
              </a:rPr>
              <a:t>RNA-FM: 900 nucleotide tokens, averaged in threes</a:t>
            </a:r>
            <a:endParaRPr lang="en-US" sz="1400" dirty="0"/>
          </a:p>
          <a:p>
            <a:pPr marL="285750" indent="-285750">
              <a:spcAft>
                <a:spcPts val="200"/>
              </a:spcAft>
              <a:buSzPct val="100000"/>
              <a:buChar char="•"/>
            </a:pPr>
            <a:r>
              <a:rPr lang="en-US" sz="1400" dirty="0">
                <a:solidFill>
                  <a:srgbClr val="46524A"/>
                </a:solidFill>
                <a:latin typeface="Calibri" pitchFamily="34" charset="0"/>
                <a:ea typeface="Calibri" pitchFamily="34" charset="-122"/>
                <a:cs typeface="Calibri" pitchFamily="34" charset="-120"/>
              </a:rPr>
              <a:t>NT 500M: 150 six-nucleotide tokens, each split in two</a:t>
            </a:r>
            <a:endParaRPr lang="en-US" sz="1400" dirty="0"/>
          </a:p>
          <a:p>
            <a:pPr marL="285750" indent="-285750">
              <a:spcAft>
                <a:spcPts val="700"/>
              </a:spcAft>
              <a:buSzPct val="100000"/>
              <a:buChar char="•"/>
            </a:pPr>
            <a:r>
              <a:rPr lang="en-US" sz="1400" dirty="0">
                <a:solidFill>
                  <a:srgbClr val="46524A"/>
                </a:solidFill>
                <a:latin typeface="Calibri" pitchFamily="34" charset="0"/>
                <a:ea typeface="Calibri" pitchFamily="34" charset="-122"/>
                <a:cs typeface="Calibri" pitchFamily="34" charset="-120"/>
              </a:rPr>
              <a:t>CaLM (300 codons), ESM-2 (about 300 amino acids): already one per codon</a:t>
            </a:r>
            <a:endParaRPr lang="en-US" sz="1400" dirty="0"/>
          </a:p>
          <a:p>
            <a:pPr indent="0" marL="0">
              <a:buNone/>
            </a:pPr>
            <a:r>
              <a:rPr lang="en-US" sz="1400" b="1" dirty="0">
                <a:solidFill>
                  <a:srgbClr val="1E2A20"/>
                </a:solidFill>
                <a:latin typeface="Calibri" pitchFamily="34" charset="0"/>
                <a:ea typeface="Calibri" pitchFamily="34" charset="-122"/>
                <a:cs typeface="Calibri" pitchFamily="34" charset="-120"/>
              </a:rPr>
              <a:t>GTEx: </a:t>
            </a:r>
            <a:r>
              <a:rPr lang="en-US" sz="1400" dirty="0">
                <a:solidFill>
                  <a:srgbClr val="46524A"/>
                </a:solidFill>
                <a:latin typeface="Calibri" pitchFamily="34" charset="0"/>
                <a:ea typeface="Calibri" pitchFamily="34" charset="-122"/>
                <a:cs typeface="Calibri" pitchFamily="34" charset="-120"/>
              </a:rPr>
              <a:t>promoter DNA, transcript, and protein have no position-by-position match, so fusion uses cross-attention.</a:t>
            </a:r>
            <a:endParaRPr lang="en-US" sz="1400" dirty="0"/>
          </a:p>
        </p:txBody>
      </p:sp>
      <p:sp>
        <p:nvSpPr>
          <p:cNvPr id="7" name="Card 2"/>
          <p:cNvSpPr/>
          <p:nvPr/>
        </p:nvSpPr>
        <p:spPr>
          <a:xfrm>
            <a:off x="6231636" y="1645920"/>
            <a:ext cx="5271516" cy="3566160"/>
          </a:xfrm>
          <a:prstGeom prst="roundRect">
            <a:avLst>
              <a:gd name="adj" fmla="val 3902"/>
            </a:avLst>
          </a:prstGeom>
          <a:solidFill>
            <a:srgbClr val="EEF3EA"/>
          </a:solidFill>
          <a:ln w="12700">
            <a:solidFill>
              <a:srgbClr val="EEF3EA"/>
            </a:solidFill>
            <a:prstDash val="solid"/>
          </a:ln>
        </p:spPr>
      </p:sp>
      <p:sp>
        <p:nvSpPr>
          <p:cNvPr id="8" name="Card 2 title"/>
          <p:cNvSpPr txBox="1"/>
          <p:nvPr/>
        </p:nvSpPr>
        <p:spPr>
          <a:xfrm>
            <a:off x="6505956" y="1810512"/>
            <a:ext cx="4722876" cy="365760"/>
          </a:xfrm>
          <a:prstGeom prst="rect">
            <a:avLst/>
          </a:prstGeom>
          <a:noFill/>
          <a:ln/>
        </p:spPr>
        <p:txBody>
          <a:bodyPr wrap="square" lIns="0" tIns="0" rIns="0" bIns="0" rtlCol="0" anchor="ctr"/>
          <a:lstStyle/>
          <a:p>
            <a:pPr indent="0" marL="0">
              <a:buNone/>
            </a:pPr>
            <a:r>
              <a:rPr lang="en-US" sz="1600" b="1" dirty="0">
                <a:solidFill>
                  <a:srgbClr val="1E2A20"/>
                </a:solidFill>
                <a:latin typeface="Calibri" pitchFamily="34" charset="0"/>
                <a:ea typeface="Calibri" pitchFamily="34" charset="-122"/>
                <a:cs typeface="Calibri" pitchFamily="34" charset="-120"/>
              </a:rPr>
              <a:t>Representational alignment: measured</a:t>
            </a:r>
            <a:endParaRPr lang="en-US" sz="1600" dirty="0"/>
          </a:p>
        </p:txBody>
      </p:sp>
      <p:sp>
        <p:nvSpPr>
          <p:cNvPr id="9" name="Card 2 body"/>
          <p:cNvSpPr txBox="1"/>
          <p:nvPr/>
        </p:nvSpPr>
        <p:spPr>
          <a:xfrm>
            <a:off x="6505956" y="2249424"/>
            <a:ext cx="4722876" cy="2798064"/>
          </a:xfrm>
          <a:prstGeom prst="rect">
            <a:avLst/>
          </a:prstGeom>
          <a:noFill/>
          <a:ln/>
        </p:spPr>
        <p:txBody>
          <a:bodyPr wrap="square" lIns="0" tIns="0" rIns="0" bIns="0" rtlCol="0" anchor="t"/>
          <a:lstStyle/>
          <a:p>
            <a:pPr indent="0" marL="0">
              <a:spcAft>
                <a:spcPts val="700"/>
              </a:spcAft>
              <a:buNone/>
            </a:pPr>
            <a:r>
              <a:rPr lang="en-US" sz="1400" dirty="0">
                <a:solidFill>
                  <a:srgbClr val="46524A"/>
                </a:solidFill>
                <a:latin typeface="Calibri" pitchFamily="34" charset="0"/>
                <a:ea typeface="Calibri" pitchFamily="34" charset="-122"/>
                <a:cs typeface="Calibri" pitchFamily="34" charset="-120"/>
              </a:rPr>
              <a:t>Do two encoders see the same genes as similar? Stage 1 measured it with CKA, nearest neighbors, RSA, and CCA retrieval.</a:t>
            </a:r>
            <a:endParaRPr lang="en-US" sz="1400" dirty="0"/>
          </a:p>
          <a:p>
            <a:pPr indent="0" marL="0">
              <a:spcAft>
                <a:spcPts val="700"/>
              </a:spcAft>
              <a:buNone/>
            </a:pPr>
            <a:r>
              <a:rPr lang="en-US" sz="1400" b="1" dirty="0">
                <a:solidFill>
                  <a:srgbClr val="1E2A20"/>
                </a:solidFill>
                <a:latin typeface="Calibri" pitchFamily="34" charset="0"/>
                <a:ea typeface="Calibri" pitchFamily="34" charset="-122"/>
                <a:cs typeface="Calibri" pitchFamily="34" charset="-120"/>
              </a:rPr>
              <a:t>Mostly composition. </a:t>
            </a:r>
            <a:r>
              <a:rPr lang="en-US" sz="1400" dirty="0">
                <a:solidFill>
                  <a:srgbClr val="46524A"/>
                </a:solidFill>
                <a:latin typeface="Calibri" pitchFamily="34" charset="0"/>
                <a:ea typeface="Calibri" pitchFamily="34" charset="-122"/>
                <a:cs typeface="Calibri" pitchFamily="34" charset="-120"/>
              </a:rPr>
              <a:t>Removing letter, codon, and amino-acid counts cuts CKA 52% to 90% for every pair with a DNA encoder.</a:t>
            </a:r>
            <a:endParaRPr lang="en-US" sz="1400" dirty="0"/>
          </a:p>
          <a:p>
            <a:pPr indent="0" marL="0">
              <a:spcAft>
                <a:spcPts val="700"/>
              </a:spcAft>
              <a:buNone/>
            </a:pPr>
            <a:r>
              <a:rPr lang="en-US" sz="1400" b="1" dirty="0">
                <a:solidFill>
                  <a:srgbClr val="1E2A20"/>
                </a:solidFill>
                <a:latin typeface="Calibri" pitchFamily="34" charset="0"/>
                <a:ea typeface="Calibri" pitchFamily="34" charset="-122"/>
                <a:cs typeface="Calibri" pitchFamily="34" charset="-120"/>
              </a:rPr>
              <a:t>Few pairs survive. </a:t>
            </a:r>
            <a:r>
              <a:rPr lang="en-US" sz="1400" dirty="0">
                <a:solidFill>
                  <a:srgbClr val="46524A"/>
                </a:solidFill>
                <a:latin typeface="Calibri" pitchFamily="34" charset="0"/>
                <a:ea typeface="Calibri" pitchFamily="34" charset="-122"/>
                <a:cs typeface="Calibri" pitchFamily="34" charset="-120"/>
              </a:rPr>
              <a:t>ESM-2 models, RNA-FM with RiNALMo, and CaLM with protein, which still finds its protein partner 58% to 69% of the time (chance 0.3%).</a:t>
            </a:r>
            <a:endParaRPr lang="en-US" sz="1400" dirty="0"/>
          </a:p>
          <a:p>
            <a:pPr indent="0" marL="0">
              <a:buNone/>
            </a:pPr>
            <a:r>
              <a:rPr lang="en-US" sz="1400" b="1" dirty="0">
                <a:solidFill>
                  <a:srgbClr val="1E2A20"/>
                </a:solidFill>
                <a:latin typeface="Calibri" pitchFamily="34" charset="0"/>
                <a:ea typeface="Calibri" pitchFamily="34" charset="-122"/>
                <a:cs typeface="Calibri" pitchFamily="34" charset="-120"/>
              </a:rPr>
              <a:t>Not usefulness. </a:t>
            </a:r>
            <a:r>
              <a:rPr lang="en-US" sz="1400" dirty="0">
                <a:solidFill>
                  <a:srgbClr val="46524A"/>
                </a:solidFill>
                <a:latin typeface="Calibri" pitchFamily="34" charset="0"/>
                <a:ea typeface="Calibri" pitchFamily="34" charset="-122"/>
                <a:cs typeface="Calibri" pitchFamily="34" charset="-120"/>
              </a:rPr>
              <a:t>Alignment never tracks prediction error (66 pairs, both datasets), and some of the best pairings barely align.</a:t>
            </a:r>
            <a:endParaRPr lang="en-US" sz="1400" dirty="0"/>
          </a:p>
        </p:txBody>
      </p:sp>
      <p:sp>
        <p:nvSpPr>
          <p:cNvPr id="10" name="Definition"/>
          <p:cNvSpPr txBox="1"/>
          <p:nvPr/>
        </p:nvSpPr>
        <p:spPr>
          <a:xfrm>
            <a:off x="685800" y="5394960"/>
            <a:ext cx="10817352" cy="457200"/>
          </a:xfrm>
          <a:prstGeom prst="rect">
            <a:avLst/>
          </a:prstGeom>
          <a:noFill/>
          <a:ln/>
        </p:spPr>
        <p:txBody>
          <a:bodyPr wrap="square" lIns="0" tIns="0" rIns="0" bIns="0" rtlCol="0" anchor="ctr"/>
          <a:lstStyle/>
          <a:p>
            <a:pPr indent="0" marL="0">
              <a:buNone/>
            </a:pPr>
            <a:r>
              <a:rPr lang="en-US" sz="1300" i="1" dirty="0">
                <a:solidFill>
                  <a:srgbClr val="46524A"/>
                </a:solidFill>
                <a:latin typeface="Calibri" pitchFamily="34" charset="0"/>
                <a:ea typeface="Calibri" pitchFamily="34" charset="-122"/>
                <a:cs typeface="Calibri" pitchFamily="34" charset="-120"/>
              </a:rPr>
              <a:t>For this project, two encoders are aligned to the extent that their representations agree on held-out sequences after the composition control: a measurement we report, not a goal we train toward.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multimodal-bio-fusion: Stage 1 progress update</dc:title>
  <dc:subject>PptxGenJS Presentation</dc:subject>
  <dc:creator>Julian McKinley and Chase Di Maria Breisinger</dc:creator>
  <cp:lastModifiedBy>Julian McKinley and Chase Di Maria Breisinger</cp:lastModifiedBy>
  <cp:revision>1</cp:revision>
  <dcterms:created xsi:type="dcterms:W3CDTF">2026-10-03T07:41:42Z</dcterms:created>
  <dcterms:modified xsi:type="dcterms:W3CDTF">2026-10-03T07:41:42Z</dcterms:modified>
</cp:coreProperties>
</file>