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0000"/>
                </a:solidFill>
              </a:defRPr>
            </a:pPr>
            <a:r>
              <a:t>MULTIMODAL BIO-FUSION</a:t>
            </a:r>
          </a:p>
          <a:p>
            <a:pPr>
              <a:spcAft>
                <a:spcPts val="1400"/>
              </a:spcAft>
              <a:defRPr sz="3600" b="1">
                <a:solidFill>
                  <a:srgbClr val="000000"/>
                </a:solidFill>
              </a:defRPr>
            </a:pPr>
            <a:r>
              <a:t>Stage 1 Findings, Stage 2 Alignment, &amp; Stage 3 Priorities</a:t>
            </a:r>
          </a:p>
          <a:p>
            <a:pPr>
              <a:spcAft>
                <a:spcPts val="3000"/>
              </a:spcAft>
              <a:defRPr sz="1800">
                <a:solidFill>
                  <a:srgbClr val="000000"/>
                </a:solidFill>
              </a:defRPr>
            </a:pPr>
            <a:r>
              <a:t>A systematic framework for evaluating, aligning, and fusing DNA, RNA, and protein foundation models.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Julian McKinley &amp; Chase Di Maria Breisinger   |   Advisor Meeting with Mina Basirat   |   October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0000"/>
                </a:solidFill>
              </a:defRPr>
            </a:pPr>
            <a:r>
              <a:t>STAGE 1 · TRACK A FINDINGS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Decodability &amp; Predictive Synergy Across Modalities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0000"/>
                </a:solidFill>
              </a:defRPr>
            </a:pPr>
            <a:r>
              <a:t>Codon &amp; Protein Signals Dominate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mRNA Stability Target: </a:t>
            </a:r>
            <a:r>
              <a:rPr b="0" sz="1200">
                <a:solidFill>
                  <a:srgbClr val="282C34"/>
                </a:solidFill>
              </a:rPr>
              <a:t>Protein encoders (ESM-2, ProtBERT) and codon-level RNA encoders (mRNA-FM, CaLM) yield R² ≈ 0.11–0.14.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Letter-Level Encoders: </a:t>
            </a:r>
            <a:r>
              <a:rPr b="0" sz="1200">
                <a:solidFill>
                  <a:srgbClr val="282C34"/>
                </a:solidFill>
              </a:rPr>
              <a:t>Encoders that read single nucleotides, 6-mers, or byte-pair tokens (the four DNA encoders, RNA-FM, RiNALMo) reach only R² ≈ 0.03–0.08.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Likely Basis: </a:t>
            </a:r>
            <a:r>
              <a:rPr b="0" sz="1200">
                <a:solidFill>
                  <a:srgbClr val="282C34"/>
                </a:solidFill>
              </a:rPr>
              <a:t>Each codon token fixes an amino acid as well as the synonymous codon, a consistent explanation for matching the protein encoders, not a tested mechanism.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63040"/>
            <a:ext cx="3328416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0000"/>
                </a:solidFill>
              </a:defRPr>
            </a:pPr>
            <a:r>
              <a:t>Synonymous Codons vs Translation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GC3 Codon Bias: </a:t>
            </a:r>
            <a:r>
              <a:rPr b="0" sz="1200">
                <a:solidFill>
                  <a:srgbClr val="282C34"/>
                </a:solidFill>
              </a:rPr>
              <a:t>Nucleotide encoders strongly retain synonymous codon choice (GC3 R² ≈ 0.90–0.98).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Information Loss in Translation: </a:t>
            </a:r>
            <a:r>
              <a:rPr b="0" sz="1200">
                <a:solidFill>
                  <a:srgbClr val="282C34"/>
                </a:solidFill>
              </a:rPr>
              <a:t>Protein models drop to GC3 R² ≈ 0.38–0.44 because translation maps synonymous codons to the same residue.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Distinct Signal: </a:t>
            </a:r>
            <a:r>
              <a:rPr b="0" sz="1200">
                <a:solidFill>
                  <a:srgbClr val="282C34"/>
                </a:solidFill>
              </a:rPr>
              <a:t>Nucleotide models keep synonymous codon choice, which translation erases and protein encoders cannot see.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63040"/>
            <a:ext cx="3328416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0000"/>
                </a:solidFill>
              </a:defRPr>
            </a:pPr>
            <a:r>
              <a:t>Complementarity &amp; GTEx Baselines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Codon-RNA + Protein Gain: </a:t>
            </a:r>
            <a:r>
              <a:rPr b="0" sz="1200">
                <a:solidFill>
                  <a:srgbClr val="282C34"/>
                </a:solidFill>
              </a:rPr>
              <a:t>All 8 pairings of codon-level RNA with protein improve R² under all 10 fold assignments (+0.008 to +0.022).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GTEx Length Baseline: </a:t>
            </a:r>
            <a:r>
              <a:rPr b="0" sz="1200">
                <a:solidFill>
                  <a:srgbClr val="282C34"/>
                </a:solidFill>
              </a:rPr>
              <a:t>On GTEx transcript expression, 4 simple transcript-length features achieve R² = 0.242, beating every single encoder.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Baseline Requirement: </a:t>
            </a:r>
            <a:r>
              <a:rPr b="0" sz="1200">
                <a:solidFill>
                  <a:srgbClr val="282C34"/>
                </a:solidFill>
              </a:rPr>
              <a:t>Any fusion gain on GTEx must be evaluated against this simple length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0000"/>
                </a:solidFill>
              </a:defRPr>
            </a:pPr>
            <a:r>
              <a:t>STAGE 1 · TRACK B &amp; C FINDINGS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Geometry, Composition Controls, &amp; Alignment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0000"/>
                </a:solidFill>
              </a:defRPr>
            </a:pPr>
            <a:r>
              <a:t>Tokenization &gt; Modality Label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Cross-Modal Clustering: </a:t>
            </a:r>
            <a:r>
              <a:rPr b="0" sz="1200">
                <a:solidFill>
                  <a:srgbClr val="282C34"/>
                </a:solidFill>
              </a:rPr>
              <a:t>Agreement follows token granularity and pretraining corpus far more than nominal biological labels.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Nucleotide-Level Agreement: </a:t>
            </a:r>
            <a:r>
              <a:rPr b="0" sz="1200">
                <a:solidFill>
                  <a:srgbClr val="282C34"/>
                </a:solidFill>
              </a:rPr>
              <a:t>RNA-FM and RiNALMo agree most (CKA = 0.809) and agree with the DNA encoders at CKA 0.17–0.61.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Codon-Protein Bridge: </a:t>
            </a:r>
            <a:r>
              <a:rPr b="0" sz="1200">
                <a:solidFill>
                  <a:srgbClr val="282C34"/>
                </a:solidFill>
              </a:rPr>
              <a:t>After the composition control, CaLM (codon-level RNA) still finds its protein partner 58–69% of the time (Recall@1, about 170–200× chance). Meanwhile, mRNA-FM agrees globally with almost nothing.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63040"/>
            <a:ext cx="3328416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0000"/>
                </a:solidFill>
              </a:defRPr>
            </a:pPr>
            <a:r>
              <a:t>Most Raw Agreement is Composition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The Composition Trap: </a:t>
            </a:r>
            <a:r>
              <a:rPr b="0" sz="1200">
                <a:solidFill>
                  <a:srgbClr val="282C34"/>
                </a:solidFill>
              </a:rPr>
              <a:t>Removing GC content, GC3, and codon/amino-acid frequencies cuts CKA by 52%–90% for DNA pairs.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Few Invariant Pairs: </a:t>
            </a:r>
            <a:r>
              <a:rPr b="0" sz="1200">
                <a:solidFill>
                  <a:srgbClr val="282C34"/>
                </a:solidFill>
              </a:rPr>
              <a:t>Only protein-protein, RNA-FM/RiNALMo, and CaLM-protein maintain strong agreement beyond frequency counts.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Evaluation Hazard: </a:t>
            </a:r>
            <a:r>
              <a:rPr b="0" sz="1200">
                <a:solidFill>
                  <a:srgbClr val="282C34"/>
                </a:solidFill>
              </a:rPr>
              <a:t>Without a composition control, an alignment objective would mostly reward matching letter, codon, and amino-acid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63040"/>
            <a:ext cx="3328416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4592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0000"/>
                </a:solidFill>
              </a:defRPr>
            </a:pPr>
            <a:r>
              <a:t>Alignment Diagnostics &amp; Motifs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Alignment ≠ Prediction: </a:t>
            </a:r>
            <a:r>
              <a:rPr b="0" sz="1200">
                <a:solidFill>
                  <a:srgbClr val="282C34"/>
                </a:solidFill>
              </a:rPr>
              <a:t>Per-sequence alignment does not track prediction error (Spearman ρ from −0.13 to +0.12 for all 66 pairs on both datasets; none survives correction).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Motif Null Controls: </a:t>
            </a:r>
            <a:r>
              <a:rPr b="0" sz="1200">
                <a:solidFill>
                  <a:srgbClr val="282C34"/>
                </a:solidFill>
              </a:rPr>
              <a:t>Most attention gaps on ARE and DRACH motifs vanish under a codon-and-frame null, so they reflect codon context. CaLM's ARE-pentamer gap survives both nulls (41 sequences), an exploratory lead that cannot pass a correction.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Key Takeaway: </a:t>
            </a:r>
            <a:r>
              <a:rPr b="0" sz="1200">
                <a:solidFill>
                  <a:srgbClr val="282C34"/>
                </a:solidFill>
              </a:rPr>
              <a:t>Alignment is a measurement to report beside each result, not a proxy for which pairs predict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0000"/>
                </a:solidFill>
              </a:defRPr>
            </a:pPr>
            <a:r>
              <a:t>STAGE 2 DECISION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What Alignment Means for DNA, RNA, &amp; Protein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48463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</a:defRPr>
            </a:pPr>
            <a:r>
              <a:t>1. Positional Alignment (Given by Biology)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Definition: </a:t>
            </a:r>
            <a:r>
              <a:rPr b="0" sz="1200"/>
              <a:t>Aligning sequence coordinates so step t in all modalities refers to the exact same biological position (1 codon = 1 amino acid = 3 nt).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Nature: </a:t>
            </a:r>
            <a:r>
              <a:rPr b="0" sz="1200"/>
              <a:t>A fixed structural mapping; NO learned parameters, no embedding distortion.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On Stability Data: </a:t>
            </a:r>
            <a:r>
              <a:rPr b="0" sz="1200"/>
              <a:t>Exact 1:1 mapping on coding sequences. Nucleotide streams resample onto the codon grid via pooling/upsampling. Essential for Coupled Mamba's step recurrence.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On GTEx Data: </a:t>
            </a:r>
            <a:r>
              <a:rPr b="0" sz="1200"/>
              <a:t>No position-by-position correspondence exists between 6 kb promoter DNA, UTRs, and protein. Fusion must use cross-attention or pooled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166360" cy="48463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164592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</a:defRPr>
            </a:pPr>
            <a:r>
              <a:t>2. Representational Alignment (A Diagnostic Metric)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Definition: </a:t>
            </a:r>
            <a:r>
              <a:rPr b="0" sz="1200"/>
              <a:t>Agreement between two encoders on held-out sequences after the composition control (CKA, CCA retrieval).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No Alignment Loss by Default: </a:t>
            </a:r>
            <a:r>
              <a:rPr b="0" sz="1200"/>
              <a:t>The first fusion models train on the prediction loss alone, with no alignment penalty (e.g. InfoNCE/cosine loss); one ablation tests adding it.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Why Not Align by Default: </a:t>
            </a:r>
            <a:r>
              <a:rPr b="0" sz="1200"/>
              <a:t>An alignment term would mostly pull encoders toward shared composition, and it could suppress what only one modality carries, such as synonymous codon choice. The ablation tests this.</a:t>
            </a:r>
          </a:p>
          <a:p>
            <a:pPr>
              <a:spcAft>
                <a:spcPts val="800"/>
              </a:spcAft>
              <a:defRPr b="1" sz="1300">
                <a:solidFill>
                  <a:srgbClr val="282C34"/>
                </a:solidFill>
              </a:defRPr>
            </a:pPr>
            <a:r>
              <a:t>• Complementarity Is Separate: </a:t>
            </a:r>
            <a:r>
              <a:rPr b="0" sz="1200"/>
              <a:t>The largest stability gain (mRNA-FM + ESM-2 35M, +0.022) comes from a nearly unaligned pair, but CaLM + protein also gains while staying aligned, so alignment does not predict gain on the stability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0000"/>
                </a:solidFill>
              </a:defRPr>
            </a:pPr>
            <a:r>
              <a:t>STAGE 3 &amp; 4 RESEARCH DIRECTION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Architectures, Priority Pairings, &amp; Discussion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</a:defRPr>
            </a:pPr>
            <a:r>
              <a:t>Stage 3 Architecture &amp; Fusion Plan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Priority 1 Architecture: </a:t>
            </a:r>
            <a:r>
              <a:rPr b="0" sz="1200"/>
              <a:t>Coupled Mamba: Linear-time state-space recurrence across modalities on the shared codon grid; avoids attention's O(L²) memory cost.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Priority 2 Architecture: </a:t>
            </a:r>
            <a:r>
              <a:rPr b="0" sz="1200"/>
              <a:t>IsoFormer Cross-Attention: Dedicated cross-attention layers, especially suited for unaligned GTEx inputs.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Reference Baselines: </a:t>
            </a:r>
            <a:r>
              <a:rPr b="0" sz="1200"/>
              <a:t>Every fusion model must outperform: (1) Best single frozen encoder, (2) Concatenation + MLP, and (3) GTEx length baseline.</a:t>
            </a:r>
          </a:p>
          <a:p>
            <a:pPr>
              <a:spcAft>
                <a:spcPts val="1000"/>
              </a:spcAft>
              <a:defRPr b="1" sz="1300">
                <a:solidFill>
                  <a:srgbClr val="282C34"/>
                </a:solidFill>
              </a:defRPr>
            </a:pPr>
            <a:r>
              <a:t>• Selected Encoders: </a:t>
            </a:r>
            <a:r>
              <a:rPr b="0" sz="1200"/>
              <a:t>Avoid intra-family redundancy. Pair codon-level RNA (mRNA-FM or CaLM) with protein (ESM-2 150M or ProtBERT).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16636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164592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</a:defRPr>
            </a:pPr>
            <a:r>
              <a:t>Key Questions for Advisor Discussion</a:t>
            </a:r>
          </a:p>
          <a:p>
            <a:pPr>
              <a:spcAft>
                <a:spcPts val="1000"/>
              </a:spcAft>
              <a:defRPr b="1" sz="1300">
                <a:solidFill>
                  <a:srgbClr val="000000"/>
                </a:solidFill>
              </a:defRPr>
            </a:pPr>
            <a:r>
              <a:t>Q1: Alignment Definition Endorsement. </a:t>
            </a:r>
            <a:r>
              <a:rPr b="0" sz="1200"/>
              <a:t>Does the lab agree with treating positional alignment as a biological grid and representational alignment as an observational metric (omitting explicit alignment loss)?</a:t>
            </a:r>
          </a:p>
          <a:p>
            <a:pPr>
              <a:spcAft>
                <a:spcPts val="1000"/>
              </a:spcAft>
              <a:defRPr b="1" sz="1300">
                <a:solidFill>
                  <a:srgbClr val="000000"/>
                </a:solidFill>
              </a:defRPr>
            </a:pPr>
            <a:r>
              <a:t>Q2: CaLM Alignment-Loss Ablation. </a:t>
            </a:r>
            <a:r>
              <a:rPr b="0" sz="1200"/>
              <a:t>CaLM + Protein is the one cross-modal pair surviving composition control (R@1 = 58–69%). Should we run an ablation comparing fusion with vs. without an alignment loss specifically on this pair?</a:t>
            </a:r>
          </a:p>
          <a:p>
            <a:pPr>
              <a:spcAft>
                <a:spcPts val="1000"/>
              </a:spcAft>
              <a:defRPr b="1" sz="1300">
                <a:solidFill>
                  <a:srgbClr val="000000"/>
                </a:solidFill>
              </a:defRPr>
            </a:pPr>
            <a:r>
              <a:t>Q3: GTEx Control Baseline. </a:t>
            </a:r>
            <a:r>
              <a:rPr b="0" sz="1200"/>
              <a:t>Given that 4 transcript-length features beat all single foundation models on GTEx, should length be mandated as an explicit input/control for all GTEx fusion runs?</a:t>
            </a:r>
          </a:p>
          <a:p>
            <a:pPr>
              <a:spcAft>
                <a:spcPts val="1000"/>
              </a:spcAft>
              <a:defRPr b="1" sz="1300">
                <a:solidFill>
                  <a:srgbClr val="000000"/>
                </a:solidFill>
              </a:defRPr>
            </a:pPr>
            <a:r>
              <a:t>Q4: University GPU Deployment. </a:t>
            </a:r>
            <a:r>
              <a:rPr b="0" sz="1200"/>
              <a:t>University GPU access is secured, supporting full-scale training runs across the complete benchmark datasets; focus is on compiling Coupled Mamba's CUDA kernels (mamba-ssm / causal-conv1d) and scaling the multi-GPU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